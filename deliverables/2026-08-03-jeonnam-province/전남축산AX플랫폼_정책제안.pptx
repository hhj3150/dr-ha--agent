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정책제안서 발표. 실무자가 기안·검토에 바로 쓸 수 있는 형태로 전달한다. 첫 장부터 '국가 플랫폼 선정 이후'라는 시점 인식을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장과 마지막 요청 슬라이드만 봐도 전체가 파악되게 설계. 기회-위험-제안-요청의 4단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Ⅰ(골든타임)과 Ⅸ(요청)가 이 발표의 양 끝. Ⅲ·Ⅴ는 질의응답용으로 남겨도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6분. 이 파트가 발표의 승부처. 시점 인식을 공유시킨다.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축하와 인정으로 시작한다. 실무자들이 직접 만들어낸 성과다. 그 위에서 다음 장의 문제 제기가 비판이 아니라 보완 제안으로 들리게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비판이 아니라 '순서의 문제'로 규정하는 것이 중요하다. 담당 실무자를 방어적으로 만들면 안 된다. 시한이 있다는 점을 분명히 하되 압박이 아니라 사실 고지로.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8가지를 다 읽지 말고 2~3개만 짚는다. 특히 '방역'과 '수의학적 판단'은 재배업 플랫폼이 다룰 수 없는 영역임을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실무자에게 '우리가 얻는 것'을 구체적으로 보여준다. 특히 1번(축산 표준은 비어 있다)이 선점 논리의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기안문에 그대로 옮길 수 있는 근거 목록. '새 사업을 만드는 부담'이 아니라 '있는 것을 묶는 일'이라는 인식을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왜 지금 축산에 개입해야 하는지 현장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10개를 다 읽지 않는다. 8·9·10번(데이터 분산·외산 의존·장비 중심 한계)만 짚으면 이 발표의 문제의식이 전달된다.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산업의 규모와 중요성을 인정한다. 그래야 다음 장의 반전이 작동한다.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정책결정권자에게 가장 강력한 숫자. '왜 예산을 쓰는가'가 아니라 '지금 쓰는 예산이 왜 효과가 없는가'의 답이 된다. 보조금 vs 원가절감의 프레임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'가격이 좋은데 왜 위기냐'는 반문이 반드시 나온다. 송아지 가격 강세 = 공급 부족 = 붕괴 신호라는 논리를 먼저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정책 설계의 방향을 바꾼다 — 소득 보전이 아니라 노동 대체가 답이라는 논리. 실무자에게 '왜 기존 지원이 효과가 없었는가'의 답이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낙농 중심으로 설계된 기존 스마트축산 정책이 한우에 잘 안 맞았던 이유이기도 하다. 한우가 더 뒤처진 것이 아니라 더 큰 기회라는 프레임.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실무자들이 가장 공감하는 장. 예산을 써서 장비를 보급했는데 성과 측정이 안 되는 문제를 정확히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25분 발표에서는 2장만 보여주고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슬라이드. 길게 말하지 않는다. 핵심은 '세계도 두수가 아니라 생산성으로 간다'는 한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논리를 회피하지 않고 정면으로 다룬다. 정책결정권자에게 '왜 축산에 예산을 쓰는가'의 답을 준다 — 배출 감축의 실행 수단이라는 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위험이 낮다는 것을 자본시장 근거로 보여준다. '검증 안 된 기술에 예산을 쓰는가'라는 우려에 대한 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명분의 핵심 장. '우리만 하는 실험'이 아니라 '앞선 나라들이 이미 간 길'이라는 안전감을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냉정한 장. 뒤처졌다는 사실을 인정하되, 그래서 '보급'이 아니라 '통합'으로 가야 한다는 전략 전환으로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6분. 제안의 실체. 국가 플랫폼과의 역할 구분을 먼저 못 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먼저 나올 우려가 '중복 아니냐'다. 여기서 미리 답한다. 왼쪽은 공통 인프라, 오른쪽은 전문 실행계층 — 층이 다르다는 점을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나열이 많으므로 항목을 읽지 말고 '4개 층'만 말한다. 핵심은 ④ 행동·실행계층 — 대부분의 플랫폼이 ③에서 끝난다는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실무자에게 가장 구체적으로 다가온다. 알림 문구를 하나씩 읽어주면 '이런 것이구나'가 바로 전달된다.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농가 반발과 수의계 반발을 동시에 막는 장. '감시 시스템'으로 인식되면 사업 자체가 무너진다는 점을 실무자와 공유한다.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가장 걱정하는 두 가지 — 특정 업체 종속과 AI 오진 책임. 두 카드로 미리 답한다. 기술 설명은 여기서 끝내고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73만 건이라는 숫자를 천천히 말한다. 파일럿이 아니라 운영 중인 시스템이라는 것이 이 제안의 가장 큰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25분 발표에서는 1장만 보여주고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자화자찬을 피한다. 약점을 먼저 말하는 것이 정책결정권자에게는 오히려 신뢰의 근거가 된다. 그리고 '좁고 확실한 승부처'를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과제를 먼저 드러내되 각각에 대응책을 붙인다. 특히 1번은 '그래서 이 사업이 필요하다'는 논리로 되돌아온다.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회사 성장 이야기로 들리지 않게 주의. '전남이 얻는 것'을 중심에 두고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6분. 실무자가 기안에 옮길 수 있는 형태로 전달한다.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전체를 결정하라는 요구로 들리면 안 된다. 1단계(타당성조사 3~5억)만 결정하면 된다는 점을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3~5억은 실무자가 부담 없이 검토할 수 있는 규모다. 본사업 금액을 지금 제시하지 않는 것이 오히려 신뢰를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기초선 확보가 착수 시점을 앞당겨야 하는 이유. 그리고 '효과 없으면 중단'이라는 출구를 명시해 승인 부담을 낮춘다.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수의사회를 승인 주체로, 대학·연구기관을 검증 주체로 명시하는 것이 중요하다. 특정 기업 특혜 우려를 구조로 차단한다.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행정 성과 열이 실무자에게 가장 중요하다 — '정책사업 성과측정률'은 매년 겪는 고충이다.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반대 논거를 먼저 꺼낸다.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축 중 하나를 일부러 '조건부'로 뒀다. 전부 '높음'인 제안서는 신뢰를 잃는다.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부풀린 B/C를 제시하면 실무자가 바로 알아본다. 오히려 '확정하지 않는다'는 태도가 신뢰를 만든다. 회수 항목의 구조만 명확히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상급자 보고 시 받을 질문들이다. 미리 답을 손에 쥐여주는 것이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정책결정에서 가장 설득력 있는 논거는 '안 했을 때의 비용'이다. 특히 2번(데이터는 소급 불가)이 시급성의 논리적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여기서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7개를 다 요구하지 않는다. 앞 3개(강조 표시)만 오늘의 요청이라고 명확히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실무자가 도지사·부지사께 보고할 때 그대로 쓸 수 있는 문장이다. 이 장은 인쇄해서 드리는 것이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목록이 다음 회의의 안건표가 된다. 이 장을 그대로 회의 자료로 쓸 수 있게 만들었다.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천천히. 요청은 이미 앞에서 했으므로 여기서는 비전으로 닫는다.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 스킵. 질의응답에서 필요 시 열람.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4160520"/>
            <a:ext cx="2926080" cy="292608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3385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전라남도 축산업 인공지능 대전환을 위한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8686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「전남 축산 AX 플랫폼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구축사업」 정책제안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529584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플랫폼과 연계한 카우톡 기반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전남형 축산 인공지능 전환 선도모델 구축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4572000"/>
            <a:ext cx="5760720" cy="1143000"/>
          </a:xfrm>
          <a:prstGeom prst="roundRect">
            <a:avLst>
              <a:gd name="adj" fmla="val 8000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㈜D2O  대표 하현제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· 국내 최초 반추위 센서 도입(2013) · 산자부 축산로봇 과제 연구책임자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8. 3.(월)  |  전라남도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1060704"/>
          </a:xfrm>
          <a:prstGeom prst="roundRect">
            <a:avLst>
              <a:gd name="adj" fmla="val 862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188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325880"/>
            <a:ext cx="9189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국가 농업 AX 플랫폼 사업지역으로 최종 선정됐습니다.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2026~2030년 총사업비 2,546억원, 연내 SPC 설립 예정.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4600"/>
            <a:ext cx="11064240" cy="1060704"/>
          </a:xfrm>
          <a:prstGeom prst="roundRect">
            <a:avLst>
              <a:gd name="adj" fmla="val 8621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1188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48840" y="2514600"/>
            <a:ext cx="9189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사업의 골자는 기상·토양·생육 데이터와 파종·방제·수확입니다.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축산이 명시되어 있지 않습니다 — 전남의 핵심 산업이 빠질 수 있습니다.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11064240" cy="1060704"/>
          </a:xfrm>
          <a:prstGeom prst="roundRect">
            <a:avLst>
              <a:gd name="adj" fmla="val 8621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1188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3703320"/>
            <a:ext cx="9189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 위에 「전남 축산 AX 플랫폼(CowTalk Jeonnam)」을 축산 전문영역으로 탑재.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플랫폼이 아니라 국가 플랫폼의 축산 기능을 완성하는 구조입니다.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892040"/>
            <a:ext cx="11064240" cy="1060704"/>
          </a:xfrm>
          <a:prstGeom prst="roundRect">
            <a:avLst>
              <a:gd name="adj" fmla="val 8621"/>
            </a:avLst>
          </a:prstGeom>
          <a:solidFill>
            <a:srgbClr val="8A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1188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48840" y="4892040"/>
            <a:ext cx="9189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축산 전문영역 공식 반영 ② 실무협의체 구성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기본계획 및 타당성 조사 용역 추진 — 6개월, 3~5억원 규모(안)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6144768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말씀드릴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0759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골든타임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 선정 이후, 축산의 자리를 확보해야 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562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8105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축산의 현실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181051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문제, 수익 구조, 번식 기반, '장비의 섬'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35915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4048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359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좌표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9160" y="235915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정밀축산 시장·국가 플랫폼 선례·한국의 위치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290779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95351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29077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 것인가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09160" y="290779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Jeonnam — 4계층 구조와 이용자별 서비스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45643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50215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4564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냉정한 자기평가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09160" y="345643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대비 강점과 약점, 과제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00507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05079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0050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추진모델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09160" y="400507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— 타당성조사 · 축우 실증 · 다축종 확산 · 국가/해외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55371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59943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45537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추진체계 · 성과지표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709160" y="455371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추진위원회, 역할분담, 4군 KPI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510235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514807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80160" y="51023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타당성과 우려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709160" y="510235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5축 타당성, 예상 우려 5개와 대응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65099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C8DDA9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" y="5696712"/>
            <a:ext cx="384048" cy="384048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80160" y="56509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709160" y="5650992"/>
            <a:ext cx="6720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추진 7과제와 의사결정 요청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 발표 시 Ⅲ·Ⅴ는 요약하고 Ⅰ·Ⅳ·Ⅵ·Ⅸ에 시간을 배분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지금이 골든타임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WINDOW IS OPEN — AND IT IS NARROW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지금이 골든타임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국가 농업 AX 플랫폼을 가져왔습니다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2,546억원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총사업비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~ 2030년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2026. 7. 27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민간참여자 최종 선정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실시협약 체결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무안군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해제면 일원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구축 부지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연내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특수목적법인(SPC)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 예정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1868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83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선정된 컨소시엄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전남광주통합특별시 · 무안군 · 대동 · 대동애그테크 · LG CNS · 아트팜 영농조합법인 · 대영GS 등 7개 기업·지방정부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지원 최대 1,400억원 규모, 민간 지분 51% 이상 구조로 추진됩니다.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8006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330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006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전남 농업 정책 역사상 가장 큰 규모의 데이터·AI 인프라 사업입니다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그리고 다음 장이 오늘 말씀드리려는 문제입니다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보도자료(2026. 7. 27) · 국가 농업AX플랫폼 SPC 설립 공모지침서(2026. 2) · 관련 언론 보도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지금이 골든타임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이 사업의 골자에 축산이 없습니다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발표된 사업 내용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"농업 현장에서 생산되는 기상·토양·생육 데이터를 AI가 분석해 최적의 재배 방법을 제시하고,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농기계와 로봇으로 파종·방제·수확 등을 지원하는 플랫폼을 구축"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880360"/>
            <a:ext cx="3547872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03580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· 토양 · 생육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49300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 환경 데이터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2880360"/>
            <a:ext cx="3547872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303580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파종 · 방제 · 수확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349300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농작업 자동화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5008" y="2880360"/>
            <a:ext cx="3547872" cy="1280160"/>
          </a:xfrm>
          <a:prstGeom prst="roundRect">
            <a:avLst>
              <a:gd name="adj" fmla="val 7143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303580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 생체 · 번식 · 방역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349300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명시되어 있지 않습니다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7083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354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이것은 누구의 잘못도 아닙니다 — 순서의 문제입니다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9011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플랫폼은 재배업 기반으로 설계가 시작됐습니다. 지금 SPC를 설립하고 세부 사업계획을 조율하는 단계입니다.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단계에서 축산 전문영역을 넣지 않으면, 이후에는 사업 구조를 바꾸기 어렵습니다.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축산업 생산액이 큰 지역입니다. 우리 지역의 핵심 산업이 우리가 유치한 플랫폼에서 빠지는 결과가 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925312"/>
            <a:ext cx="11064240" cy="384048"/>
          </a:xfrm>
          <a:prstGeom prst="roundRect">
            <a:avLst>
              <a:gd name="adj" fmla="val 23810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2531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SPC 사업계획이 확정되기 전이 유일한 반영 시점입니다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지금이 골든타임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축산은 재배업과 근본적으로 다릅니다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농작물은 계절 단위로 관리하지만, 가축은 살아 있는 개체를 24시간 관리합니다. 데이터의 성격 자체가 다릅니다.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EEF4E9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7465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5024" y="16276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생체정보가 24시간 지속 발생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27632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6510528" y="17465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77456" y="16276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질병과 감염병의 전파 가능성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414016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EEF4E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" y="253288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5024" y="24140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· 임신 · 분만 관리 필요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414016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F3F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0528" y="253288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77456" y="24140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동물복지와 수의학적 판단 필요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20040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EEF4E9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096" y="3319272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35024" y="32004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환경과 가축 상태의 상호작용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20040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F3F6F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10528" y="3319272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77456" y="32004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 · 악취 · 온실가스 발생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3986784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EEF4E9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" y="4105656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35024" y="3986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 간 가축 이동과 국가방역 연계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3986784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F3F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10528" y="4105656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5" name="Text 33"/>
          <p:cNvSpPr/>
          <p:nvPr/>
        </p:nvSpPr>
        <p:spPr>
          <a:xfrm>
            <a:off x="651052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77456" y="39867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축산물 안전성과 생산이력 관리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6928" y="4956048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3301F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12064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필요한 것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54864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공통 플랫폼과 연결되면서도, 축산의 생체·수의·방역 특성을 전문적으로 처리하는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특화 AX 실행 플랫폼 — 이것이 오늘 제안의 핵심입니다.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지금이 골든타임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축산을 넣으면 전남이 얻는 지위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965960"/>
          </a:xfrm>
          <a:prstGeom prst="roundRect">
            <a:avLst>
              <a:gd name="adj" fmla="val 4651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25880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축산 AX 표준모델 선도지역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6384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낙농·재배 표준은 다른 지역이 만들고 있습니다.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AX 표준은 아직 비어 있습니다.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47872" cy="1965960"/>
          </a:xfrm>
          <a:prstGeom prst="roundRect">
            <a:avLst>
              <a:gd name="adj" fmla="val 4651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325880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축산 데이터 실증지역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35424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전남의 다양한 축종과 농가 기반은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축산 AI 학습데이터 구축에 최적입니다.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47872" cy="1965960"/>
          </a:xfrm>
          <a:prstGeom prst="roundRect">
            <a:avLst>
              <a:gd name="adj" fmla="val 4651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325880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AI 알고리즘 검증지역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84464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국립축산과학원 축산자원개발부 이전과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지역대학·연구소를 검증체계로 결합할 수 있습니다.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474720"/>
            <a:ext cx="3547872" cy="1965960"/>
          </a:xfrm>
          <a:prstGeom prst="roundRect">
            <a:avLst>
              <a:gd name="adj" fmla="val 4651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47472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74720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· 동물복지 · 방역 통합모델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" y="43891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데이터가 있어야 저탄소 인증도,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동물복지 인증도, 방역 조기경보도 가능합니다.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474720"/>
            <a:ext cx="3547872" cy="1965960"/>
          </a:xfrm>
          <a:prstGeom prst="roundRect">
            <a:avLst>
              <a:gd name="adj" fmla="val 4651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347472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22" name="Text 20"/>
          <p:cNvSpPr/>
          <p:nvPr/>
        </p:nvSpPr>
        <p:spPr>
          <a:xfrm>
            <a:off x="4498848" y="3474720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K-축산 AX 해외수출 거점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35424" y="43891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레퍼런스를 가진 지역이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 모델의 원본이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3474720"/>
            <a:ext cx="3547872" cy="1965960"/>
          </a:xfrm>
          <a:prstGeom prst="roundRect">
            <a:avLst>
              <a:gd name="adj" fmla="val 4651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47472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8247888" y="3474720"/>
            <a:ext cx="31821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산업과 축산업을 잇는 대표 융합사업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84464" y="43891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연구·컴퓨팅 역량과 전남의 현장 데이터를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실질적으로 결합하는 지역상생 모델입니다.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7150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3301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7150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 선정은 끝이 아니라 시작입니다 — 그 안에 무엇이 들어가느냐가 실질적 효과를 결정합니다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지금이 골든타임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레일은 이미 깔려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명분을 만들 필요가 없습니다. 이미 발표된 국가·도 정책과 그대로 연결됩니다.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828800"/>
                <a:gridCol w="5303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· 사업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농업·농촌 인공지능 대전환 전략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생산성 혁신 · AX 생태계 기반 조성에 축산 포함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 농업 AX 플랫폼 (2,546억)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7 협약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축산 전문영역을 SPC 사업계획에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농업·농촌 AX 데이터 전략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축산 데이터 표준화·품질관리·AI 학습데이터 구축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범정부 AX-Sprint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축산 AI 응용서비스의 실증·조기 상용화 연계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축산 융복합밸리 조성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전남도 추진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밸리의 데이터·AI 운영체계로 직접 연결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국립축산과학원 축산자원개발부 이전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전남도 지원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 검증·수의축산학적 타당성 검증 파트너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스마트축산 ICT · 저탄소 · 동물복지 · 방역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계속사업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사업의 데이터를 한 체계로 통합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B8733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44068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사업은 새 정책을 만드는 것이 아니라, 분산 추진 중인 사업들을 하나의 데이터·AI 체계로 묶는 것입니다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정책 발표자료 · 전라남도 도정 자료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축산의 현실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STRUCTURAL PROBLEMS ON THE GROUND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축산이 안고 있는 구조적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371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29844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축산농가 고령화와 후계인력 부족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298448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3F6F1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371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29844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사료비 · 인건비 · 에너지비 상승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1956816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EEF4E9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02996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195681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간 생산성 격차 확대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956816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3F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02996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195681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가축질병과 방역비용 증가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2615184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EEF4E9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268833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98448" y="26151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폭염 · 한파 등 기후재난 증가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2615184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268833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61518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가축분뇨 · 악취 · 탄소배출 문제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3273552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EEF4E9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3346704"/>
            <a:ext cx="402336" cy="402336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98448" y="327355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수의사와 전문인력 부족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09360" y="3273552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3F6F1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2240" y="3346704"/>
            <a:ext cx="402336" cy="402336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27355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데이터의 기관 · 기업별 분산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393192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EEF4E9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" y="4005072"/>
            <a:ext cx="402336" cy="402336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98448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외산 센서와 플랫폼에 대한 데이터 의존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309360" y="3931920"/>
            <a:ext cx="5468112" cy="548640"/>
          </a:xfrm>
          <a:prstGeom prst="roundRect">
            <a:avLst>
              <a:gd name="adj" fmla="val 16667"/>
            </a:avLst>
          </a:prstGeom>
          <a:solidFill>
            <a:srgbClr val="F3F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6492240" y="4005072"/>
            <a:ext cx="402336" cy="402336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0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· 장비 중심 스마트축산 사업의 한계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66928" y="475488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13301F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" y="49194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열 가지의 공통점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8680" y="52852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농가의 노력이나 단일 센서·장비 보급만으로는 해결되지 않습니다.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 생체정보 · 사양관리 · 번식 · 질병 · 환경 · 분뇨 · 방역 · 생산 · 유통 데이터를 통합하고,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이를 분석해 농가 · 수의사 · 지자체 · 정부의 행동으로 연결하는 체계가 있어야 풀립니다.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축산은 커졌습니다 — 농업의 40.9%입니다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24.2조원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 생산액 (2023)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생산액의 40.9%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 8.1조원 대비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23년간 성장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363만두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사육두수 (2026. 4)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 −3.2%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50%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한우 농장 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번식농장 비중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숫자만 보면 성공한 산업입니다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23년 만에 생산액이 3배가 되었고, 이제 농업 생산액의 40%를 넘습니다.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식량안보·지역경제·고용에서 축산이 차지하는 비중은 계속 커져 왔습니다.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7548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1330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다음 장의 숫자를 보시면, 이 성장이 무엇을 남겼는지 다시 생각하게 됩니다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농림어업조사 · 농식품부 · 축산물이력제 데이터(2026. 4) · 한국농촌경제연구원 관련 보도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한우는 지금 기르면 기를수록 손해입니다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72768"/>
            <a:ext cx="5468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−86.1만원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3957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번식우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46811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72768"/>
            <a:ext cx="5468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−99.9만원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28816" y="23957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비육우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마리당 순손실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364992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95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숫자가 뜻하는 것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91363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생산액이 늘어도 농가에 남는 돈은 없습니다 — 사료비·인건비·금융비용이 증가분을 흡수했습니다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구조에서는 재투자가 일어나지 않습니다. 시설도 후계도 멈춥니다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번식우 손실이 더 오래 누적되면 가임암소가 먼저 사라집니다 — 지금 벌어지고 있는 일입니다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38928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38928"/>
            <a:ext cx="10515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보조금으로 손실을 메우는 방식은 지속되지 않습니다 — 두당 원가와 손실 요인을 줄이는 것 외에 길이 없습니다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통계청 2025년 축산물생산비조사 (순손실 = 총수입 − 생산비, 자가노동비 등 포함 기준)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무너지는 것은 사육두수가 아니라 번식 기반입니다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−3,689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사육 농장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새 감소 (−4.8%)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−10만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새 감소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1세 미만 한·육우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42.4두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농장당 사육두수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(2000년 5.5두)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015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숫자들이 다른 이유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673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사육두수 감소는 수급 조절로 회복됩니다. 그러나 가임암소와 번식농가의 소멸은 회복되지 않습니다.</a:t>
            </a:r>
            <a:endParaRPr lang="en-US" sz="14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송아지 가격 강세는 호황 신호가 아니라 생산기반 붕괴의 경고입니다.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8463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전국 한우 출하의 15.4%를 담당하는 2위 산지입니다 — 번식 기반이 무너지면 전남 비육농가가 먼저 타격을 받습니다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국가데이터처 가축동향(2026. 6. 1 기준) · 축산신문(2026. 5) 번식기반 약화 분석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번식농가가 그만두는 이유는 돈이 아니라 노동입니다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96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번식농가가 감당하지 못하는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관찰 — 한우는 발현이 미약하고 야간 발정이 다수입니다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감시 — 밤샘 대기, 난산 대응 시점 판단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 발견 — 증상이 보이는 시점엔 이미 늦습니다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변동성까지 겹치면 폐업으로 직결됩니다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32588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996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발생하는 손실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1회 미발견 = 공태 21일 연장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분만간격 지연 → 평생 산차 감소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횟수 증가 → 정액·수정료 누적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번식장애 조기 발견 실패 → 도태 지연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560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모두 '24시간 관찰'의 문제입니다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34009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더 노력해서 풀 수 없고, 보조금으로도 풀리지 않습니다.</a:t>
            </a:r>
            <a:endParaRPr lang="en-US" sz="14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자체를 기계가 대신해야 풀립니다.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한우는 낙농과 달리 매일의 데이터가 없습니다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낙농 (젖소)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일일 접점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착유 2회 — 유량·유성분·체세포 자동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없음. 사료 급이 외 접점 부재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감지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유량 저하로 즉시 포착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외관 증상 발현까지 미포착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도체 성적 — 30개월 뒤 단 1회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의사결정 주기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단위 교정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교정 기회 없이 결과만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4805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3301F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663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농가는 30개월을 계기판 없이 운행합니다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5084064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한우야말로 센서와 AI의 한계효용이 가장 큰 축종입니다.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낙농에서 10을 얻는 기술이 한우에서는 30을 얻습니다 — 비교 대상이 '아무것도 없음'이기 때문입니다.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전남 축산의 현실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스마트축산은 '장비의 섬'으로 분절되어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자동급이기·환기장치·착유로봇·발정탐지기·위내센서·악취측정기·CCTV 등이 보급됐습니다. 그러나 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EEF4E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63677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60020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장비마다 별도 프로그램과 데이터 형식을 사용해 농가는 여러 앱을 동시에 확인해야 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167128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20370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1671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알람은 많은데 무엇을 먼저 해야 하는지 알려주지 않습니다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734056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EEF4E9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77063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27340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이상과 실제 질병을 구분하기 어렵습니다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300984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33756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33009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수의사에게 데이터가 자동으로 전달되지 않습니다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67912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EEF4E9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390448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98448" y="386791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지자체는 농장별 위험을 실시간으로 파악할 수 없습니다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434840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F3F6F1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47141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471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98448" y="443484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정책사업의 실제 효과를 객관적으로 측정하기 어렵습니다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001768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EEF4E9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503834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038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98448" y="500176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장비업체를 바꾸면 과거 데이터를 활용하기 어렵습니다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B87333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AX의 핵심은 장비를 더 설치하는 것이 아니라, 이미 있는 장비와 데이터를 하나의 의사결정 체계로 연결하는 것입니다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좌표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LANDSCAPE — WHERE KOREA STANDS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글로벌 좌표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축산은 농업의 절반이고, 인류 단백질의 중심입니다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농업 GDP 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축산이 차지하는 비중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+16.6%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0740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10년 축산물 생산 증가 전망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육류 · 유제품 · 계란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15644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기간 사육두수 증가 전망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· 양 · 돼지 · 가금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1012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숫자의 간격이 오늘 제안의 출발점입니다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38587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두수는 7% 느는데 생산은 16.6% 늘어납니다. 차이 9.6%p는 '더 많이 기르는 것'이 아니라</a:t>
            </a: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'같은 소에서 더 많이 얻는 것' — 즉 생산성 향상으로 채워야 하는 몫입니다.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864608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6460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축산의 성장분 대부분이 '생산성'에서 나옵니다 — 그 생산성을 만드는 도구가 데이터와 AI입니다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FAO · OECD-FAO Agricultural Outlook 2025–2034 (2025. 7)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글로벌 좌표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축산은 동시에 최대 환경 부담원입니다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온실가스 배출 중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부문 비중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4787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인위적 메탄 배출 중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유래 비중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8251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배출 중 소(육우·낙농)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3.8 GtCO2e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53619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7152" y="226771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배출 중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장내발효(반추) 비중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18688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83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나오는 두 가지 주장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7856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축산을 줄여야 한다 — 네덜란드는 국가가 재정을 투입해 감축 중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축산을 더 정밀하게 해야 한다 — 두당 배출을 낮추는 길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①만으로는 늘어나는 세계 단백질 수요를 감당할 수 없습니다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218688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383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배출을 낮추는 실행 경로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785616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사육기간 단축 — 같은 고기를 더 짧게 길러 배출을 줄입니다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효율 개선 — 공태 단축이 곧 사육일수 단축입니다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손실 감소 — 폐사·도태는 배출만 남기고 생산은 없습니다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셋은 모두 개체 단위 데이터 없이는 실행되지 않습니다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C402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축산을 없앨 수 없다면 남는 답은 '정밀하게 하는 것' 하나뿐입니다 — 이것이 AX의 명분입니다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FAO 축산 배출 통계 · FAO 장내메탄 저감 프로그램 자료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글로벌 좌표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정밀축산은 이미 산업이 되었습니다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79.4억$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세계 정밀축산 시장 규모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121.3억$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9300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2030년 전망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성장률 (2025~2030)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904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아시아·태평양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62288" y="2167128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빠르게 성장하는 권역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90672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55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글로벌 사업자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639312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Allflex Livestock Intelligence (MSD Animal Health)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Nedap · DeLaval · GEA · Lely · CowManager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Afimilk (이스라엘) · Connecterra (네덜란드)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smaXtec (오스트리아) · Halter (뉴질랜드)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3090672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55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자본시장이 이미 검증했습니다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3639312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Halter(뉴질랜드) — 2025년 1억 달러 투자 유치, 기업가치 10억 달러 진입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Nofence(노르웨이) — 3,500만 달러 유치, 미국·유럽 확장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웨어러블 — 배터리 5년·다중지표 측정으로 세대 교체 진행 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46811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3301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681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분야는 '될까 안 될까'를 논하는 단계를 지났습니다 — 누가 먼저 국가 단위로 묶느냐의 단계입니다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MarketsandMarkets, Precision Livestock Farming Market (2025) · 업계 투자 공시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글로벌 좌표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나라들은 이미 '국가 단위 데이터'로 갔습니다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99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1998 ~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8096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아일랜드 — ICBF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249424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단위 소 육종 데이터베이스(비영리).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10만 곳 이상, 약 700만 두 데이터.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최대 육우 유전체 DB, 낙농은 세계 2위.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한 번만 입력하고 모두가 쓴다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(single point of entry, no duplication).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325880"/>
            <a:ext cx="3547872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399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2012 ~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17136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뉴질랜드 — NAIT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5424" y="2249424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가축 개체식별·추적을 법으로 의무화.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 태그 부착과 국가 DB 등록이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사육자의 법적 의무.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방역과 이력 추적의 국가 기반이 되었고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적색육 수출 신뢰도의 근거가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325880"/>
            <a:ext cx="3547872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325880"/>
            <a:ext cx="3547872" cy="786384"/>
          </a:xfrm>
          <a:prstGeom prst="roundRect">
            <a:avLst>
              <a:gd name="adj" fmla="val 11628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3990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66176" y="16459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— 국가등록부 · IACS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84464" y="2249424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가축 개체식별을 규정으로 의무화하고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가축등록부를 통합관리체계(IACS)에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 보조금 체계와 정밀축산 인센티브를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연동하는 방향으로 진행 중입니다.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919472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840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셋 다 '장비 보급'이 아니라 '국가 데이터 인프라'로 접근했습니다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8680" y="544982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장비는 농가가 쓰고, 데이터는 국가가 모읍니다. 그 데이터가 육종·방역·보조금·수출 증명의 공통 기반이 됩니다.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 장비 보급 예산은 있지만, 그 데이터를 행정이 모으는 구조가 아직 없습니다.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ICBF 공개 자료 · 뉴질랜드 NAIT Act(2012) · EU 가축 식별 규정 및 IACS 관련 자료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글로벌 좌표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냉정하게 — 한국은 지금 어디에 있습니까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3931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한국의 현재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2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개체식별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이력제·전자태그로 개체를 특정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— 소 이력제 전국 시행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장비 보급 (DX)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센서·환경제어 장비를 농가에 지원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C8DDA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— 보급 속도가 느립니다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데이터 통합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장비·공공·행정 데이터를 한 곳으로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9C7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미비 — 장비사별 사일로 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판단 (AX)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조치를 제시하고 전문가가 승인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9C7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부재 — 광역·국가 단위 사례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정책 연동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육종·방역·보조금·탄소 산정에 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9C7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4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02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5720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7365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2026년 축산 ICT 패키지 보급 규모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5102352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주도형 21개 모델 + 지역 맞춤형 2개 모델, 총 81개 농가 보급(전년 대비 +5.2%).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한우 농가 규모를 생각하면 이 속도로는 산업 전체의 데이터가 모이기까지 수십 년이 걸립니다.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보급 속도를 올리는 것보다, 이미 보급된 장비의 데이터를 묶는 편이 훨씬 빠르고 저렴합니다.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축산신문(2026) 축산분야 ICT 융복합확산사업 보급 현황 · 농식품부 제1차 스마트농업 육성 기본계획(2025~2029)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 것인가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JEONNAM — ARCHITECTURE &amp; SERVICES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플랫폼과 경쟁하지 않습니다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플랫폼을 새로 만들자는 제안이 아닙니다. 역할을 이렇게 나눕니다.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0020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전반의 공통 데이터 인프라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AI 서비스 유통체계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농업인 인증과 서비스 접근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클라우드 · 보안 · 데이터 거버넌스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농기계 · 시설원예 · 유통 등 범농업 서비스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AI 생태계와 해외진출 기반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16002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00200"/>
            <a:ext cx="5440680" cy="658368"/>
          </a:xfrm>
          <a:prstGeom prst="roundRect">
            <a:avLst>
              <a:gd name="adj" fmla="val 13889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AX 플랫폼 (CowTalk Jeonnam)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2395728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생체 · 수의 · 방역 전문 데이터 처리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축종별 AI 알고리즘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작업과 수의진료 지원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축산재난 · 분뇨 · 탄소 · 동물복지 관리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단위 축산 관제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플랫폼에 축산 데이터를 공급하는 실행계층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5074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30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5595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카우톡은 국가 플랫폼 위에 탑재되는 축산 전문 버티컬 AX 플랫폼입니다.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중복이 아니라, 국가 플랫폼의 축산 기능을 완성하는 구조입니다.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Jeonnam — 4계층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C4028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98448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데이터 연결계층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0128" y="1298448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 · 귀표/목걸이 센서 · 카메라 · 음향센서 · 착유로봇 · 자동급이기 · 축사 온습도 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사료급여 · 유량/유성분 · 번식/수정/임신 기록 · 수의진료/투약 · 유전체 · 축산물이력제 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기상/재난/방역 공공데이터 · 분뇨/악취/에너지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C402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505456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505456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축산 데이터 플랫폼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2505456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ID 통합 · 데이터 표준화 · 실시간 수집 · 품질관리 · 농가별 접근권한 관리 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익명화와 공공활용 · AI 학습데이터 구축 · 외부 장비 API 연계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712464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C4028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712464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 축산 AI 분석계층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712464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조기위험 · 발정/수정 적기 · 임신 가능성 · 분만시점과 난산위험 · 열 스트레스 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 · 생산량/품질 예측 · 폐사/도태 위험 · 경영위험 · 분뇨/탄소배출 · 지역 질병·재난 위험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919472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1C4028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919472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919472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 행동과 실행계층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10128" y="4919472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오늘의 작업목록 · 수의사 진료 우선순위 · 지자체 축산 상황판 · 도 정책 대시보드 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자동환기/급이/착유장비 연계 · 재난/질병 현장지원 대상 선정 · 정책사업 성과분석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6144768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농가에게는 그래프가 아니라 '할 일'을 드립니다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813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작업목록 — 실제 알림 예시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1901952"/>
            <a:ext cx="10469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0195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127번 소 — 체온 상승과 반추 감소가 동시에 나타남. 오전 중 임상검진 필요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322576"/>
            <a:ext cx="10469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2257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84번 소 — 발정 가능성 높음. 금일 오후 수정 권고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104698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74320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35번 소 — 12시간 이내 분만 가능성. 분만사 이동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163824"/>
            <a:ext cx="10469880" cy="347472"/>
          </a:xfrm>
          <a:prstGeom prst="roundRect">
            <a:avLst>
              <a:gd name="adj" fmla="val 15789"/>
            </a:avLst>
          </a:prstGeom>
          <a:solidFill>
            <a:srgbClr val="EE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16382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2번 우군 — 열 스트레스 위험 상승. 환기·급수 상태 점검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584448"/>
            <a:ext cx="10469880" cy="347472"/>
          </a:xfrm>
          <a:prstGeom prst="roundRect">
            <a:avLst>
              <a:gd name="adj" fmla="val 15789"/>
            </a:avLst>
          </a:prstGeom>
          <a:solidFill>
            <a:srgbClr val="EEF4E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58444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최근 7일 사료효율 하락 — TMR 수분과 조사료 품질 점검 필요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1596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7731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언제, 어떤 순서로 해야 하는지를 제시합니다.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이상을 알리는 것에서 끝나지 않습니다.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431596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EF4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 대응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77316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사용을 전제하지 않습니다. 문자·음성 안내,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AI, 수의사 연결까지 함께 설계합니다.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742432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3301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아니라 농가의 실제 업무 흐름을 중심으로 설계합니다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이용자별 서비스 — 같은 데이터, 다른 화면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3337560"/>
          </a:xfrm>
          <a:prstGeom prst="roundRect">
            <a:avLst>
              <a:gd name="adj" fmla="val 2740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3547872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258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084832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이상개체 우선 선별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전 농장·개체 데이터 확인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모니터링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 전후 생체변화 분석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항생제 사용·치료결과 관리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농장별 질병 패턴 비교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예방수의 컨설팅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47872" cy="3337560"/>
          </a:xfrm>
          <a:prstGeom prst="roundRect">
            <a:avLst>
              <a:gd name="adj" fmla="val 2740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325880"/>
            <a:ext cx="3547872" cy="640080"/>
          </a:xfrm>
          <a:prstGeom prst="roundRect">
            <a:avLst>
              <a:gd name="adj" fmla="val 14286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3258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· 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35424" y="2084832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시군별 가축질병 이상징후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폭염·한파 취약농가 지도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농가별 생존·경영 위험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악취·분뇨 위험지역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축종별 생산량 변화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스마트축산 사업 성과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민원 대응자료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47872" cy="3337560"/>
          </a:xfrm>
          <a:prstGeom prst="roundRect">
            <a:avLst>
              <a:gd name="adj" fmla="val 2740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25880"/>
            <a:ext cx="3547872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3258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 · 정부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84464" y="2084832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축산물 생산량·공급 전망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질병위험 조기경보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방역자원 배치 우선순위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축산 MRV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 효과분석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보조금·지원사업 정밀화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축산 AI 모델 개발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864608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292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권한 설계 — 이것이 신뢰의 전제입니다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3949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행정기관이 개별 농가의 원시데이터를 직접 열람하는 방식이 아닙니다.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소유권은 원칙적으로 농가에 두고, 행정에는 농가 동의 아래 위험등급과 정책지표만 익명화하여 제공합니다.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진단·처방을 대체하지 않습니다 — 최종 진단과 처방은 수의사가 수행하고, AI는 판단근거·정확도·한계를 함께 표시합니다.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번식과 비육, 두 개의 엔진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4447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데이터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6384" y="177393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센서 · 활동량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체온 · 사료 급이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5420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데이터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87121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환경 · 분뇨 · 기상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56616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3931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데이터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96849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이력제 · 혈통 · KPN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도체성적 · 방역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9392" y="137160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</a:t>
            </a:r>
            <a:endParaRPr lang="en-US" sz="24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HUB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7939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ENGINES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79392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7 실시간 가동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86784" y="26974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776" y="26974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99248" y="13716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7918704" y="1444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엔진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18704" y="177393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탐지 · 분만 예측 · 공태 단축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99248" y="24688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7918704" y="25420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비육 엔진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18704" y="287121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증체 예측 · 출하 시점 · 도체 등급 예측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99248" y="356616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7918704" y="3639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 · 행정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18704" y="396849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이상징후 조기경보 · 지역 모니터링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플랫폼 원칙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526694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장비·사업자 종속을 배제하고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API로 연동합니다.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설치된 장비도 그대로 붙습니다.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0488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C8DDA9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9194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승인 게이트 (HITL)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526694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AI 판단에 수의사 승인이 의무 적용됩니다.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진단하지 않습니다 — AI는 볼 것을 골라주고,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판단과 책임은 수의사에게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무엇을 만들 것인가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구상이 아닙니다. 이미 작동하고 있습니다.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농가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10,886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4787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두수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10,843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8251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센서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0848" y="1417320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645920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730,907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1715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AI 판단 이벤트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383280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83280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383280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최초 반추위 센서 도입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75320" y="338328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13년간의 현장 데이터 축적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279392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939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14600" y="4279392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한–우즈베키스탄 양자 합의 · 정부 실증 시연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4279392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현장 작동 검증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175504"/>
            <a:ext cx="11064240" cy="786384"/>
          </a:xfrm>
          <a:prstGeom prst="roundRect">
            <a:avLst>
              <a:gd name="adj" fmla="val 11628"/>
            </a:avLst>
          </a:prstGeom>
          <a:solidFill>
            <a:srgbClr val="1C402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7550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14600" y="5175504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한국소임상수의사회(KABP) 학술 발표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5175504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임상 학술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6월 기준 운영 대시보드 실측치. 6개 AI 엔진 24/7 실시간 가동.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냉정한 자기평가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HONEST SELF-ASSESSMENT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냉정한 자기평가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냉정하게 — 글로벌 경쟁자 대비 CowTalk의 위치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C8DDA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앞선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8366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특화 — 글로벌 사업자는 대부분 낙농 중심입니다. 한우 번식·비육 데이터는 국내에서만 쌓입니다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반추위(체내) 센서 — 목걸이·발목형과 달리 체내 지표를 직접 측정합니다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13년 현장 데이터 — 국내 사양·기후·품종 조건에서 축적된 데이터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 임상 결합 — 센서 회사가 아니라 수의사가 운영하는 구조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32588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813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뒤진 것 — 인정해야 할 부분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88366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규모 — Halter는 단일 라운드로 1억 달러를 조달했습니다. 우리는 그 규모가 아닙니다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양 — ICBF는 700만 두, 우리는 1만 두 수준입니다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유통망 — Allflex·Nedap은 수십 개국 판매망을 가집니다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표준·인증 — 국제 상호운용 표준 참여 실적이 아직 없습니다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315968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3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805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우리가 이길 수 있는 자리는 좁고 분명합니다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낙농 시장에서 Allflex와 정면으로 싸우는 것이 아닙니다.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'한우'라는, 글로벌 사업자가 데이터를 가질 수 없는 영역에서 국가 단위 표준을 먼저 만드는 것입니다.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5779008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779008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데이터는 한국에서만 만들어집니다 — 이것이 우리에게 남은 유일하고 확실한 해자입니다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냉정한 자기평가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CowTalk이 안고 있는 과제 — 숨기지 않겠습니다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1848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6464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규모의 한계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26464" y="171907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 두 수준의 데이터로는 예측 정확도에 한계가 있습니다.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비육·도체 예측은 라벨 데이터가 절대적으로 부족합니다.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1298448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단위 실증으로 데이터 규모를 늘리는 것 외에 방법이 없습니다. 이것이 이 제안의 실질적 이유이기도 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825496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25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모델의 취약성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26464" y="292608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매출은 농가 부담에 의존합니다.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구조의 농가가 월 구독료를 계속 낼 수 있는가는 검증되지 않았습니다.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505456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사업으로 초기 도입 부담을 낮추고, 효과가 소득으로 확인된 뒤 농가 부담으로 전환하는 단계 설계가 필요합니다.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12464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EEF4E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325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인력과 조직 규모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26464" y="413308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경쟁사 대비 개발·운영 인력이 적습니다.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전역 확산 시 현장 대응 인력 확보가 병목입니다.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3712464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시군 단위 설치·AS 인력을 지역에서 육성하는 구조로 설계합니다. 지역 일자리 효과와도 연결됩니다.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919472"/>
            <a:ext cx="11064240" cy="1078992"/>
          </a:xfrm>
          <a:prstGeom prst="roundRect">
            <a:avLst>
              <a:gd name="adj" fmla="val 8475"/>
            </a:avLst>
          </a:prstGeom>
          <a:solidFill>
            <a:srgbClr val="F3F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239512"/>
            <a:ext cx="438912" cy="438912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39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26464" y="4974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표준 대응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26464" y="534009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확장 시 데이터 상호운용·인증 요구를 충족해야 합니다.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준비 단계입니다.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4919472"/>
            <a:ext cx="5760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실증 레퍼런스가 있으면 표준 논의 참여 자격이 생깁니다. 수출은 그 다음 단계입니다.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621792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Ⅴ 냉정한 자기평가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CowTalk의 경로 — 지역에서 국가로, 국가에서 수출로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199농가 · 1만 두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구독 서비스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55264" y="24505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2026~2028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광역 실증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한우 AX 실증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데이터 표준 확보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24505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620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B8733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2029~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표준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AX 국가 표준 모델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시도 확산 · 정책 연동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24544" y="24505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0848" y="1463040"/>
            <a:ext cx="2633472" cy="2148840"/>
          </a:xfrm>
          <a:prstGeom prst="roundRect">
            <a:avLst>
              <a:gd name="adj" fmla="val 4255"/>
            </a:avLst>
          </a:prstGeom>
          <a:solidFill>
            <a:srgbClr val="8A5A22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591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2030~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35440" y="1865376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395728"/>
            <a:ext cx="2304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중앙아·동남아 축산 디지털 전환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레퍼런스 기반 수출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8862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0507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경로에서 전남의 위치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2단계(광역 실증)가 없으면 3·4단계는 열리지 않습니다 — 국가 표준도 수출도 레퍼런스에서 시작합니다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이 단계를 맡으면, 이후 만들어지는 한우 AX 표준의 원본 데이터가 전남에서 나옵니다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수출 단계에서도 '전남 모델'이라는 이름이 남습니다 — 이미 우즈베키스탄 정부 시연 경험이 있습니다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7424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기업의 성장 계획이 아니라, 한우 산업이 데이터를 갖게 되는 경로입니다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추진모델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FOUR-STAGE IMPLEMENTATION MODEL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추진모델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추진모델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5468112" cy="731520"/>
          </a:xfrm>
          <a:prstGeom prst="roundRect">
            <a:avLst>
              <a:gd name="adj" fmla="val 12500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99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1636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정책설계 · 타당성 조사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85416"/>
            <a:ext cx="4956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· 3~5억원 규모(안)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수립, 국가 플랫폼 연계구조 설계,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 기준 수립, 실증농가 선정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25880"/>
            <a:ext cx="5468112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1399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8816" y="1636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축우 중심 실증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2185416"/>
            <a:ext cx="4956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· 3~5개 시군 · 30~50농가 · 2,000~5,000두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· 젖소 · 송아지 육성농가 · 공공 실증목장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질병·번식·열스트레스·사료효율·관제 실증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538728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538728"/>
            <a:ext cx="5468112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611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" y="3849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다축종 · 시군 확산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398264"/>
            <a:ext cx="4956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· 젖소 · 돼지 · 산란계 · 육계 · 오리 · 염소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행동분석, 음향 호흡기 분석, 가금 환경분석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질병 조기경보 · 저탄소 인증 연계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538728"/>
            <a:ext cx="5468112" cy="2011680"/>
          </a:xfrm>
          <a:prstGeom prst="roundRect">
            <a:avLst>
              <a:gd name="adj" fmla="val 454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538728"/>
            <a:ext cx="5468112" cy="731520"/>
          </a:xfrm>
          <a:prstGeom prst="roundRect">
            <a:avLst>
              <a:gd name="adj" fmla="val 12500"/>
            </a:avLst>
          </a:prstGeom>
          <a:solidFill>
            <a:srgbClr val="8A5A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611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8816" y="3849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· 해외 확산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398264"/>
            <a:ext cx="4956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플랫폼의 축산 표준모델로 확산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시도 SaaS 공급 · 중앙아/동남아 실증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K-축산 AX 운영센터 구축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77900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3301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779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결정이 필요한 것은 1단계뿐입니다 — 타당성 조사가 나머지 3단계의 판단 근거를 만듭니다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추진모델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— 기본계획 및 타당성 조사 (6개월)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1872" y="1325880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AX 기본계획 수립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F3F6F1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4173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10912" y="1325880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축종별 · 시군별 현황조사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EEF4E9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4173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59952" y="1325880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장비와 데이터 보유현황 조사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020824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F3F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11226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1872" y="2020824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 연계구조 설계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2020824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EEF4E9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211226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10912" y="2020824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소유권과 활용기준 수립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65008" y="2020824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211226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59952" y="2020824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· 방역 · 보안 검토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2715768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EEF4E9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280720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61872" y="2715768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실증농가와 참여기관 선정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15968" y="2715768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F3F6F1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0" y="280720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10912" y="2715768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경제성 · 정책성 · 기술성 분석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65008" y="2715768"/>
            <a:ext cx="3547872" cy="585216"/>
          </a:xfrm>
          <a:prstGeom prst="roundRect">
            <a:avLst>
              <a:gd name="adj" fmla="val 15625"/>
            </a:avLst>
          </a:prstGeom>
          <a:solidFill>
            <a:srgbClr val="EEF4E9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280720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59952" y="2715768"/>
            <a:ext cx="2761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예산과 재원조달계획 수립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35204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C8DDA9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예산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68680" y="400507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정책기획 · 타당성 조사비 3억 ~ 5억원 규모(안)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금액은 과업범위와 국가 플랫폼 SPC의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역할분담에 따라 확정합니다.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90488" y="35204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타당성 조사가 먼저인가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92240" y="40050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SPC 사업계획 조율이 진행 중입니다.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전문영역의 범위·예산·역할분담을 근거 있게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제시하려면 조사 결과가 필요합니다.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착수해야 반영 시점에 맞출 수 있습니다.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6928" y="5138928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3301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52852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— 인접 사례의 규모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" y="5614416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경기도는 AI 축산행정 플랫폼을 5개년 총 102.3억원 규모로 추진 중이며, 예산의 약 47%를 시범운영·확산에 배정했습니다.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AX 플랫폼의 본사업 규모는 타당성 조사에서 축종 구성과 실증 규모에 따라 산정합니다.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Ⅵ 추진모델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— 축우 중심 실증 (2년)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813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21579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시 · 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813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30~50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47872" y="21579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농가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813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2,000~5,000두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82512" y="21579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대상 두수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70848" y="1325880"/>
            <a:ext cx="2633472" cy="1417320"/>
          </a:xfrm>
          <a:prstGeom prst="roundRect">
            <a:avLst>
              <a:gd name="adj" fmla="val 6452"/>
            </a:avLst>
          </a:prstGeom>
          <a:solidFill>
            <a:srgbClr val="1C4028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81328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17152" y="21579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기간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944368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090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실증과제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419856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조기탐지 · 발정/임신/분만 예측 · 열 스트레스 대응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사료효율과 생산성 분석 · 수의사 원격지원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작업관리 · 지자체 관제 · 정책성과 측정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2944368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B8733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090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성과검증 — 실증 전 1년과 비교합니다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419856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발견시점 · 치료비 · 폐사율/도태율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번식간격/공태일수 · 수정횟수 · 분만사고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사료비 · 산유량/증체량 · 노동시간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항생제 사용량 · 농가소득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8463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C402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01091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설계의 핵심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3583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전 1년치 기초선 데이터를 먼저 확보합니다. 기초선이 없으면 어떤 효과도 증명할 수 없습니다.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참여 농가와 비참여 농가를 함께 측정합니다 — 이것이 2단계 이후 예산의 근거가 됩니다.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 확인되지 않으면 다음 단계로 넘어가지 않는 것이 정상적인 설계입니다.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추진체계 · 성과지표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 &amp; KPI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 추진체계 · 성과지표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추진체계 — 새 조직을 만들지 않습니다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447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 축산 AX 추진위원회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위원장 — 행정부지사 또는 경제부지사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축산정책과 · 동물방역과 · 농업정책과 ·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스마트정보담당관 · 환경/에너지 부서 ·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투자유치·기업육성 부서 ·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전남농업기술원 · 전남축산연구소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0488" y="1298448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447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실무추진단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1810512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 · 시군 · 국가 농업 AX 플랫폼 SPC ·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 운영기관 · 축협과 생산자단체 ·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수의사회 · 대학/연구기관 ·</a:t>
            </a:r>
            <a:endParaRPr lang="en-US" sz="11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센서·로봇·사료기업 · AI·클라우드·보안기업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3F6F1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70332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3703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총괄 · 실증지역 선정 · 행정/예산 지원 · 중앙정부 협의 · 데이터 거버넌스 · 시군 확산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233672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4233672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233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AX 플랫폼 SPC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42336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인프라 연계 · 클라우드/AI 서비스 유통 · 국가 데이터정책 연계 · 민간투자와 사업화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764024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3F6F1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764024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764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54680" y="476402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데이터 통합 · 축산 AI 모델 개발 · 농가/수의사/행정 서비스 · 실증운영 · 효과분석 · API 제공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294376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294376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294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· 연구기관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154680" y="529437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검증 · 수의축산학적 타당성 검증 · 데이터 표준화 · 윤리/보안/통계 검증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82472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F3F6F1"/>
          </a:solidFill>
          <a:ln w="12700">
            <a:solidFill>
              <a:srgbClr val="E8E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5824728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824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· 축협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154680" y="58247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실증 · 데이터 제공과 검증 · 서비스 사용성 평가 · 확산모델 개발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Ⅶ 추진체계 · 성과지표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성과지표 — 네 개 군으로 측정합니다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성과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04825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조기발견 시간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폐사율 감소 · 치료비 절감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항생제 사용량 감소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단축 · 수정횟수 감소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분만사고 감소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 · 두당 생산성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노동시간 감소 · 농가소득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3258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32588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258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성과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02736" y="204825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 취약농가 사전발굴률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이상징후 대응시간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현장점검 효율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정책사업 중복 감소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보조사업 성과측정률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정책사업 비율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축산민원 대응시간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3258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32588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258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성과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204825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축산물 단위당 온실가스 감축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분뇨처리 이력관리율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 민원 감소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사료효율 개선 자원절감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폐사·생산손실 감소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인증농가 증가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0848" y="13258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70848" y="132588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32588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성과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72016" y="2048256"/>
            <a:ext cx="224942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AI 기업 수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고용 · 청년 창업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데이터셋 구축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모델과 특허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플랫폼 공급</a:t>
            </a:r>
            <a:endParaRPr lang="en-US" sz="11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실증과 수출액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13301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023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원칙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544982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사업 시작 전 기초선을 먼저 확보합니다  ② 참여 농가와 비참여 농가를 함께 측정합니다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결과는 실패 항목까지 포함해 공개합니다  ④ 최종 산출물은 보고서가 아니라 다음 사업의 설계 근거입니다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타당성과 우려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FEASIBILITY &amp; CONCERNS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 타당성과 우려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관점에서 검토했습니다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98448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98448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정책적 타당성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88920" y="1298448"/>
            <a:ext cx="1097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298448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농업·농촌 AX 전략, 국가 농업 AX 플랫폼, AX 데이터 전략, AX-Sprint,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스마트축산·저탄소·동물복지, 전남 AI 축산 융복합밸리, 축산자원개발부 이전과 모두 연계됩니다.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267712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267712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67712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산업적 타당성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267712"/>
            <a:ext cx="1097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267712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전남의 다양한 축종과 농가 기반, 높은 데이터 수요,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센서·로봇·수의·사료·보험 산업의 확장 가능성, 타 시도·해외 확산 가능성.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236976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EEF4E9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236976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36976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타당성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3236976"/>
            <a:ext cx="1097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0" y="3236976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상용화된 생체센서와 기존 축산 ICT 장비 API 연계 가능.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클라우드·AI 기술 활용 가능. 단계별 실증으로 위험을 관리합니다.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206240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206240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경제적 타당성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88920" y="4206240"/>
            <a:ext cx="1097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4206240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매출만으로 평가할 수 없습니다. 질병·폐사 감소, 번식효율, 사료비·노동시간 절감,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재난피해·방역비용 감소, 정책집행 효율, 탄소비용 감소, 고용·수출을 종합해야 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17550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EEF4E9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175504"/>
            <a:ext cx="2103120" cy="859536"/>
          </a:xfrm>
          <a:prstGeom prst="roundRect">
            <a:avLst>
              <a:gd name="adj" fmla="val 10638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75504"/>
            <a:ext cx="1783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공공적 타당성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88920" y="5175504"/>
            <a:ext cx="1097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23360" y="5175504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식량안보, 가축질병 예방, 축산 데이터 주권, 농가 고령화 대응,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농촌 삶의 질, 환경과 주민수용성, 소비자 신뢰.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17220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경제적 타당성을 '조건부'로 표기한 것은 의도적입니다 — 축산 데이터로 검증되지 않은 것을 검증되었다고 말하지 않습니다. 그 검증이 실증사업의 목적입니다.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 타당성과 우려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경제성 — 무엇을 얼마나 회수해야 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경제성은 플랫폼 매출이 아니라 회피되는 손실의 총합으로 평가해야 합니다.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실증사업에서 다음 항목을 두당 금액으로 환산해 확정합니다.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  <a:gridCol w="30175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회수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논리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공태일수 단축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발정 1회 미발견 = 공태 21일 연장.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조기 발견으로 연간 공태일수를 줄입니다.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번식농가 손실의 최대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폐사 · 도태 회피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질병 조기 발견으로 회피되는 폐사 1두는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송아지·비육우 가액 전체를 지킵니다.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1두 회피로도 다수 두 투입분 상쇄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비용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횟수 감소 — 정액·수정료·재발정 대기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비용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노동 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 관찰·분만 대기 시간의 대체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 농가에서 체감 효과 최대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사육기간 단축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개체별 출하 예측으로 26개월 이하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Phase 3에서 검증 — 1년차 제외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1663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3301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3218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정직하게 — 여기서 금액을 단정하지 않는 이유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565099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 데이터로 산출된 회수액을 한우에 그대로 옮기면 과대 추정이 됩니다. 한우는 산차 간격·출하 주기가 다릅니다.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회수액의 확정은 이 시범사업의 산출물이지, 전제가 아닙니다. 그것이 비교군 설계를 두는 이유입니다.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 타당성과 우려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예상되는 우려와 대응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298448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“기존 국가 농업 AX 플랫폼과 중복 아닌가”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83480" y="1298448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플랫폼은 범농업 공통 기반이고, 카우톡은 축산 생체·수의·방역 데이터를 처리하는 전문 실행 플랫폼입니다. 중복이 아니라 국가 플랫폼의 축산 기능을 완성하는 구조입니다.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267712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67712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“특정 기업에 대한 특혜가 될 수 있지 않은가”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83480" y="2267712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제품 구매사업으로 추진하지 않습니다. 전남도가 기능·성과·데이터 표준을 정하고, 카우톡은 실증과 기술검증을 수행합니다. 개방형 API와 멀티벤더 구조를 의무화합니다.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236976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236976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“농가 데이터가 행정기관에 과도하게 노출되지 않는가”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3236976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소유권은 원칙적으로 농가에 있습니다. 행정에는 농가 동의 아래 정책지표와 익명화된 위험정보만 제공합니다. 원시데이터·상업활용·연구활용·공공활용 권한을 구분합니다.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206240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206240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“AI의 오진이나 오경보 책임은 누가 지는가”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4206240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진단·처방이 아니라 위험 선별과 의사결정 지원을 담당합니다. 최종 진단과 처방은 수의사가 수행하며, AI 판단근거와 정확도, 한계를 화면에 표시합니다.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517550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175504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“농가가 실제로 사용할 것인가”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5175504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대시보드가 아니라 오늘의 작업목록, 음성 안내, 대화형 AI, 모바일 알림, 위험도와 조치방법, 수의사 연결, 농가별 경제효과 표시로 설계합니다.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617220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Ⅷ 타당성과 우려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않았을 때의 비용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2588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기반은 계속 줄어듭니다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가임암소 감소는 3~4년 뒤 송아지 공급 부족으로 나타납니다.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시점에는 전남 비육농가가 도내에서 입식할 송아지를 구하지 못합니다.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2588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32588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공백은 소급되지 않습니다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47104" y="213055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놓친 개체 데이터는 내년에 만들 수 없습니다.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기준선이 없으면 어떤 정책 효과도 증명할 수 없습니다.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42900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42900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4290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AX 표준을 다른 지역이 가져갑니다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4672" y="423367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 표준은 이미 경기도가 만들고 있습니다.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AX 표준을 먼저 만든 지역이 이후 국가 사업의 기준이 됩니다.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468112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42900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4290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저탄소·수출 요건에 대응할 수 없습니다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47104" y="423367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저탄소 인증도, 향후 수출 시 요구될 이력 증명도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단위 사육 데이터를 전제로 합니다. 없으면 자격 자체가 없습니다.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330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 조사 비용은 3~5억원이지만, 하지 않는 비용은 금액으로 청구되지 않을 뿐 더 큽니다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요청사항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ASK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전남도가 즉시 추진해야 할 7과제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C8DDA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380744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380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53312" y="13258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국가 농업 AX 플랫폼 사업계획에 '축산 AX 전문영역'을 공식 반영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947672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C8DDA9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2002536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94767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축산정책과 · 농업정책과 · SPC 준비조직 · 카우톡이 참여하는 실무협의회 구성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69464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C8DDA9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624328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256946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「전남 축산 AX 플랫폼 기본계획 및 타당성 조사」 용역 추진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191256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3F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324612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53312" y="319125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한우 · 젖소 중심의 1차 실증농가와 시군 선정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13048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4E9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" y="386791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53312" y="381304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전남형 축산 데이터 표준과 농가 데이터 권리원칙 수립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43484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4897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53312" y="44348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국립축산과학원 축산자원개발부 · 전남축산연구소 · 지역대학 공동 검증체계 구축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056632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4E9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" y="5111496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53312" y="505663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농식품부 AX-Sprint · 스마트축산 · 저탄소 · 동물복지 · 가축방역 · 지역혁신 사업 연계 국비사업 확장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742432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3301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7424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제1~3과제만 결정되면 나머지는 순차로 진행됩니다 — 오늘 필요한 것은 그 세 가지입니다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도지사 보고용 핵심 메시지 다섯 문장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45336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45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325880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전남은 이미 국가 농업 AX 플랫폼의 최종 사업지역으로 선정됐다. 이제 중요한 것은 그 안에서 전남의 핵심 산업인 축산업이 실질적인 중심사업으로 자리 잡도록 하는 것이다.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295144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51460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44752" y="2295144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축산은 일반 농업과 달리 생체·질병·방역·번식·환경 데이터를 동시에 다뤄야 하므로 축산 전문 AX 플랫폼이 반드시 필요하다.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64408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48386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44752" y="3264408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카우톡은 특정 센서 판매사업이 아니라 다양한 축산 데이터를 연결하고 농가·수의사·지자체·정부의 의사결정을 지원하는 축산 전문 AI 운영체계다.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233672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5312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44752" y="4233672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사업은 농가 생산성 향상뿐 아니라 가축질병·폭염·탄소·분뇨·악취·농촌 고령화·데이터 주권 문제를 함께 해결하는 도정 종합사업이다.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202936"/>
            <a:ext cx="11064240" cy="859536"/>
          </a:xfrm>
          <a:prstGeom prst="roundRect">
            <a:avLst>
              <a:gd name="adj" fmla="val 10638"/>
            </a:avLst>
          </a:prstGeom>
          <a:solidFill>
            <a:srgbClr val="1C402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42239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44752" y="5202936"/>
            <a:ext cx="9921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전남이 지금 축산 AX 모델을 선점하면 대한민국의 표준이 될 수 있고, 다른 지역과 해외에 수출하는 K-축산 플랫폼으로 성장시킬 수 있다.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617220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13301F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Ⅸ 요청사항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요청사항과 1차 회의 합의사항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40680" cy="4069080"/>
          </a:xfrm>
          <a:prstGeom prst="roundRect">
            <a:avLst>
              <a:gd name="adj" fmla="val 2247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1 — 의사결정 요청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1883664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 축산 AX 플랫폼을 도 전략사업으로 검토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 SPC 사업계획에 축산 전문영역 반영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 관련 부서 합동 실무협의체 구성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및 타당성 조사 추진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실증 시군 · 농가 선정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농식품부 국비사업 연계 협의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 기술 · 현장 검증 착수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0488" y="1298448"/>
            <a:ext cx="5440680" cy="4069080"/>
          </a:xfrm>
          <a:prstGeom prst="roundRect">
            <a:avLst>
              <a:gd name="adj" fmla="val 2247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63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별첨 2 — 1차 회의에서 합의할 사항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1883664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농업 AX 플랫폼에서 축산의 현재 비중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분야 사업예산과 담당조직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SPC와 전남도의 역할분담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카우톡 실증 참여방식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축종과 실증지역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소유권과 연계방식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국립축산과학원 및 지역대학 참여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용역의 발주 주체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본예산 또는 추경 반영 가능성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농림축산식품부 협의 일정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59612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59612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결정하실 것은 사업 추진이 아니라, 검토를 시작해도 좋다는 판단입니다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5120640" cy="512064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560320" cy="256032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 선정이라는 기회를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축산업의 구조적 전환으로</a:t>
            </a:r>
            <a:endParaRPr lang="en-US" sz="2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연결해야 합니다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391363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농가에는 AI 농장장, 수의사에게는 임상 의사결정 지원체계, 시군에는 축산 관제센터,</a:t>
            </a:r>
            <a:endParaRPr lang="en-US" sz="13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전남도에는 정책 AIP, 국가에는 축산 데이터 인프라, 해외시장에는 K-축산 운영체제.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498348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질의응답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20840" y="5074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농업회사법인 ㈜D2O  대표 하현제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hhj3150@hanmail.net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질의 대비 — 백업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98448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52144" y="12984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플랫폼과 중복 아닙니까?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92040" y="1298448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플랫폼은 범농업 공통 기반, 카우톡은 축산 전문 실행계층입니다. 층이 다릅니다.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3F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" y="19202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지금입니까?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SPC 사업계획 조율 중입니다. 확정 후에는 구조 변경이 어렵습니다.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542032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54203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" y="25420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업체 특혜 아닙니까?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542032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도가 기능·성과·데이터 표준을 정하고 개방형 API·멀티벤더를 의무화합니다.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3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63824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" y="316382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데이터 노출 우려는?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163824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소유권은 농가. 행정에는 동의 아래 익명화된 위험등급·정책지표만 제공합니다.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85616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4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85616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" y="37856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오진 책임은?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3785616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위험 선별만. 최종 진단·처방은 수의사가 수행하며 판단근거·한계를 표시합니다.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407408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3F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07408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2144" y="440740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농가가 쓸 수 있습니까?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4407408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전제 아님. 문자·음성·대화형 AI와 수의사 대행 서비스로 설계합니다.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02920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EEF4E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2920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2144" y="50292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예산은 얼마입니까?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5029200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타당성 조사 3~5억원(안). 본사업 규모는 조사 결과로 산정합니다.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650992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3F6F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65099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2144" y="565099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 없으면?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5650992"/>
            <a:ext cx="6537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기초선과 비교군을 두고 측정합니다. 확인되지 않으면 다음 단계로 넘어가지 않습니다.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발표용이 아닌 준비용 백업 슬라이드입니다.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전남 축산 AX 플랫폼 구축사업 정책제안</dc:title>
  <dc:subject>PptxGenJS Presentation</dc:subject>
  <dc:creator>농업회사법인 ㈜D2O 하현제</dc:creator>
  <cp:lastModifiedBy>농업회사법인 ㈜D2O 하현제</cp:lastModifiedBy>
  <cp:revision>1</cp:revision>
  <dcterms:created xsi:type="dcterms:W3CDTF">2026-07-31T02:43:03Z</dcterms:created>
  <dcterms:modified xsi:type="dcterms:W3CDTF">2026-07-31T02:43:03Z</dcterms:modified>
</cp:coreProperties>
</file>
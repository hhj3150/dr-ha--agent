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 대상. 비전이 아니라 '무엇을 언제 얼마로 시작하는가'를 남긴다. 첫 문장은 위협이 아니라 시한 고지 — 3년이라는 숫자가 행동을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장과 마지막 요청 슬라이드만 봐도 전체가 파악되게 설계. 시간이 부족하면 여기서 바로 Phase 로드맵으로 점프.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01·02는 배경이므로 빠르게. 03~05로 문제와 해법을 잇고, 07(타당성)과 08~09(실행·요청)에 시간을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배경. 25분 발표에서는 압축해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슬라이드. 길게 말하지 않는다. 핵심은 '세계도 두수가 아니라 생산성으로 간다'는 한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논리를 회피하지 않고 정면으로 다룬다. 정책결정권자에게 '왜 축산에 예산을 쓰는가'의 답을 준다 — 배출 감축의 실행 수단이라는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 한국이 어디쯤 서 있는지 냉정하게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위험이 낮다는 것을 자본시장 근거로 보여준다. '검증 안 된 기술에 예산을 쓰는가'라는 우려에 대한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명분의 핵심 장. '우리만 하는 실험'이 아니라 '앞선 나라들이 이미 간 길'이라는 안전감을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냉정한 장. 뒤처졌다는 사실을 인정하되, 그래서 '보급'이 아니라 '통합'으로 가야 한다는 전략 전환으로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6분. 규모는 커졌으나 수익은 사라진 구조, 그리고 번식기반 붕괴.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산업의 규모와 중요성을 인정한다. 그래야 다음 장의 반전이 작동한다.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정책결정권자에게 가장 강력한 숫자. '왜 예산을 쓰는가'가 아니라 '지금 쓰는 예산이 왜 효과가 없는가'의 답이 된다. 보조금 vs 원가절감의 프레임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'가격이 좋은데 왜 위기냐'는 반문이 반드시 나온다. 송아지 가격 강세 = 공급 부족 = 붕괴 신호라는 논리를 먼저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정책 설계의 방향을 바꾼다 — 소득 보전이 아니라 노동 대체가 답이라는 논리. 실무자에게 '왜 기존 지원이 효과가 없었는가'의 답이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 왜 지금까지 안 됐는지. 실무자의 '스마트축산 해봤는데'라는 회의를 정면으로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낙농 중심으로 설계된 기존 스마트축산 정책이 한우에 잘 안 맞았던 이유이기도 하다. 한우가 더 뒤처진 것이 아니라 더 큰 기회라는 프레임.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'또 장비 사달라는 얘기냐'고 생각하는 순간 끝난다. 신규 투자 최소화·기존 인프라 활용을 여기서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기술 설명은 짧게. 강점과 한계를 함께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가장 걱정하는 두 가지 — 특정 업체 종속과 AI 오진 책임. 두 카드로 미리 답한다. 기술 설명은 여기서 끝내고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73만 건이라는 숫자를 천천히 말한다. 파일럿이 아니라 운영 중인 시스템이라는 것이 이 제안의 가장 큰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자화자찬을 피한다. 약점을 먼저 말하는 것이 정책결정권자에게는 오히려 신뢰의 근거가 된다. 그리고 '좁고 확실한 승부처'를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과제를 먼저 드러내되 각각에 대응책을 붙인다. 특히 1번은 '그래서 이 사업이 필요하다'는 논리로 되돌아온다.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회사 성장 이야기로 들리지 않게 주의. '전남이 얻는 것'을 중심에 두고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 전남이 선택되어야 하는 이유와 국가 정책 정합성.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약점을 먼저 인정하고 그것을 선정 이유로 뒤집는 구조. 실무자는 '우리 지역이 여건이 나쁜데'라는 생각을 늘 하므로 이 반전이 잘 먹힌다.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실무자에게 가장 실용적인 장. 상급기관 정책과 우리 제안이 일치한다는 것 = 기안 명분. '정책은 있는데 도구가 없다'가 핵심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6분. 정책결정권자 관점의 검증. 반대 논거까지 정면으로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축 중 하나를 일부러 '조건부'로 뒀다. 전부 '높음'인 제안은 신뢰를 잃는다. 그리고 그 조건부 항목이 곧 이 사업의 목적이라는 논리로 되돌린다.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부풀린 B/C를 제시하면 실무자가 바로 알아본다. 오히려 '확정하지 않는다'는 태도가 신뢰를 만든다. 회수 항목의 구조만 명확히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상급자에게 보고할 때 받을 질문들이다. 미리 답을 손에 쥐여주는 것이 이 장의 목적. 4번(효과 없으면 중단)이 특히 중요 — 출구 전략이 있는 사업은 승인받기 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정책결정에서 가장 설득력 있는 논거는 '안 했을 때의 비용'이다. 특히 2번(데이터는 소급 불가)이 시급성의 논리적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8분. 실무자가 기안에 쓸 수 있는 형태로 전달한다.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실무자는 '전부 하자'는 제안을 부담스러워한다. Phase 1만 결정하면 된다는 점을 반복해서 낮춰준다.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구체적으로 제시하되 '안'임을 명확히 한다. 실무자가 이 표를 그대로 기안 초안에 옮길 수 있게 하는 것이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앞의 두 줄(5.5억·4.8억)은 공개 단가로 실제 계산된 값이라 검증 가능하다는 점을 말한다. 나머지는 안이라고 분명히 밝힌다. 국비 매칭 가능성을 언급해 도비 부담 우려를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수의사회를 승인 주체로 명시하는 것이 중요하다 — 지역 수의계의 반발을 막고 오히려 우군으로 만든다. 신규 조직 불필요를 강조해 행정 부담 우려를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매년 겪는 '성과 증명' 문제를 이 사업이 구조적으로 해결해준다는 점을 강조. 기초선 확보는 사업 시작 전에 해야 하므로 지금 결정이 필요하다는 논리로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정직한 리스크 고지 후 요청. 여기서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리스크를 먼저 꺼내는 것이 신뢰를 만든다. 특히 4번(감시 프레임)은 실무자가 농가 민원으로 직접 겪을 문제라 대응책이 있다는 것만으로 안심시킨다.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주고받는 관계를 분명히 한다. 마지막 문장은 천천히. '관리 시스템'이 아니라 '기반 시설'이라는 규정이 예산 성격을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부담 없이 '예'라고 할 수 있는 최소 단위를 요청한다. 큰 결정을 요구하면 '검토하겠습니다'로 끝나고 아무 일도 안 일어난다.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천천히. 압박이 아니라 사실 고지의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 스킵. 질의응답에서 필요 시 열람.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4160520"/>
            <a:ext cx="2926080" cy="292608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 한우 AX 국가 실증 거점 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뒤, 전남 비육농가가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입식할 송아지가 부족해집니다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 번식농가의 눈과 손을 대신하는 산업 기반 시설 — CowTalk AX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52628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6634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국내 최초 반추위 센서 도입(2013) · 산자부 축산로봇 과제 연구책임자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3.(월)  |  전라남도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ONE-PAGE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한우의 번식 기반이 무너지고 있습니다.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가격이 아니라 24시간 관찰 노동입니다.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42032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94560" y="2542032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관찰을 기계가 대신합니다.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센서(DX)가 아니라 판단(AX) — AI가 조치를 정하고 수의사가 승인합니다.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712464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12464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94560" y="3712464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아닙니다. 199농가 · 10,886두 · 73만 건의 AI 판단이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24시간 가동 중입니다.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882896"/>
            <a:ext cx="11064240" cy="1042416"/>
          </a:xfrm>
          <a:prstGeom prst="roundRect">
            <a:avLst>
              <a:gd name="adj" fmla="val 8772"/>
            </a:avLst>
          </a:prstGeom>
          <a:solidFill>
            <a:srgbClr val="8A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82896"/>
            <a:ext cx="1234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94560" y="4882896"/>
            <a:ext cx="9144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전남을 한우 AX 국가 실증 거점으로.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위에 판단 계층을 얹는 것부터 시작합니다.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6108192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말씀드릴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075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축산업의 위치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인류 식량체계에서 축산 — 필수 산업, 최대 환경 부담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562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810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AX 현황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181051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정밀축산 시장·주요 기업·국가 단위 플랫폼 사례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35915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4048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359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축산의 현실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235915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24조 산업, 그러나 두당 순손실 — 번식 기반 붕괴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95351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29077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데이터가 없다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290779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낙농과의 결정적 차이, DX가 실패한 이유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45643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5021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456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CowTalk의 위치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345643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실적 · 글로벌 대비 강점과 한계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00507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0507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0050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전남인가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09160" y="400507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2위 산지 · 고흥 ICT 단지 · 정책 정합성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5537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5994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45537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타당성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709160" y="455371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5축 검증 · 경제성 · 반대 논거 · 미시행 비용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10235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1480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80160" y="51023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709160" y="510235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· 시범사업 설계(안) · 예산 구조(안)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65099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C8DDA9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" y="5696712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80160" y="56509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709160" y="565099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선결 과제와 실무자께서 하실 수 있는 일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 발표 시 01·02는 요약, 07~09에 시간의 절반을 배분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축산업의 위치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LIVESTOCK IN THE HUMAN FOOD SYSTEM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축산업의 위치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축산은 농업의 절반이고, 인류 단백질의 중심입니다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농업 GDP 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축산이 차지하는 비중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+16.6%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0740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10년 축산물 생산 증가 전망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육류 · 유제품 · 계란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5644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기간 사육두수 증가 전망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· 양 · 돼지 · 가금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1012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숫자의 간격이 오늘 제안의 출발점입니다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8587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두수는 7% 느는데 생산은 16.6% 늘어납니다. 차이 9.6%p는 '더 많이 기르는 것'이 아니라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'같은 소에서 더 많이 얻는 것' — 즉 생산성 향상으로 채워야 하는 몫입니다.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864608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6460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축산의 성장분 대부분이 '생산성'에서 나옵니다 — 그 생산성을 만드는 도구가 데이터와 AI입니다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FAO · OECD-FAO Agricultural Outlook 2025–2034 (2025. 7)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축산업의 위치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축산은 동시에 최대 환경 부담원입니다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온실가스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부문 비중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인위적 메탄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유래 비중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배출 중 소(육우·낙농)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3.8 GtCO2e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715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장내발효(반추) 비중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18688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83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나오는 두 가지 주장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축산을 줄여야 한다 — 네덜란드는 국가가 재정을 투입해 감축 중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축산을 더 정밀하게 해야 한다 — 두당 배출을 낮추는 길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①만으로는 늘어나는 세계 단백질 수요를 감당할 수 없습니다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218688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83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배출을 낮추는 실행 경로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7856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사육기간 단축 — 같은 고기를 더 짧게 길러 배출을 줄입니다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효율 개선 — 공태 단축이 곧 사육일수 단축입니다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손실 감소 — 폐사·도태는 배출만 남기고 생산은 없습니다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셋은 모두 개체 단위 데이터 없이는 실행되지 않습니다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C4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축산을 없앨 수 없다면 남는 답은 '정밀하게 하는 것' 하나뿐입니다 — 이것이 AX의 명분입니다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FAO 축산 배출 통계 · FAO 장내메탄 저감 프로그램 자료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AX 현황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LANDSCAPE — PRECISION LIVESTOCK &amp; NATIONAL PLATFORMS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글로벌 AX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정밀축산은 이미 산업이 되었습니다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79.4억$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세계 정밀축산 시장 규모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121.3억$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2030년 전망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성장률 (2025~2030)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아시아·태평양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빠르게 성장하는 권역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글로벌 사업자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639312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Allflex Livestock Intelligence (MSD Animal Health)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Nedap · DeLaval · GEA · Lely · CowManager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Afimilk (이스라엘) · Connecterra (네덜란드)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smaXtec (오스트리아) · Halter (뉴질랜드)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09067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자본시장이 이미 검증했습니다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639312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Halter(뉴질랜드) — 2025년 1억 달러 투자 유치, 기업가치 10억 달러 진입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Nofence(노르웨이) — 3,500만 달러 유치, 미국·유럽 확장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웨어러블 — 배터리 5년·다중지표 측정으로 세대 교체 진행 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46811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3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681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분야는 '될까 안 될까'를 논하는 단계를 지났습니다 — 누가 먼저 국가 단위로 묶느냐의 단계입니다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MarketsandMarkets, Precision Livestock Farming Market (2025) · 업계 투자 공시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글로벌 AX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나라들은 이미 '국가 단위 데이터'로 갔습니다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1998 ~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아일랜드 — ICBF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단위 소 육종 데이터베이스(비영리).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10만 곳 이상, 약 700만 두 데이터.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최대 육우 유전체 DB, 낙농은 세계 2위.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한 번만 입력하고 모두가 쓴다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(single point of entry, no duplication).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2012 ~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1713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뉴질랜드 — NAIT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542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가축 개체식별·추적을 법으로 의무화.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 태그 부착과 국가 DB 등록이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사육자의 법적 의무.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방역과 이력 추적의 국가 기반이 되었고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적색육 수출 신뢰도의 근거가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6617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— 국가등록부 · IACS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8446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 개체식별을 규정으로 의무화하고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가축등록부를 통합관리체계(IACS)에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 보조금 체계와 정밀축산 인센티브를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연동하는 방향으로 진행 중입니다.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919472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840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셋 다 '장비 보급'이 아니라 '국가 데이터 인프라'로 접근했습니다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544982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장비는 농가가 쓰고, 데이터는 국가가 모읍니다. 그 데이터가 육종·방역·보조금·수출 증명의 공통 기반이 됩니다.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장비 보급 예산은 있지만, 그 데이터를 행정이 모으는 구조가 아직 없습니다.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ICBF 공개 자료 · 뉴질랜드 NAIT Act(2012) · EU 가축 식별 규정 및 IACS 관련 자료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글로벌 AX 현황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냉정하게 — 한국은 지금 어디에 있습니까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3931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한국의 현재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개체식별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이력제·전자태그로 개체를 특정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— 소 이력제 전국 시행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장비 보급 (DX)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센서·환경제어 장비를 농가에 지원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— 보급 속도가 느립니다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데이터 통합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장비·공공·행정 데이터를 한 곳으로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미비 — 장비사별 사일로 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판단 (AX)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조치를 제시하고 전문가가 승인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부재 — 광역·국가 단위 사례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정책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육종·방역·보조금·탄소 산정에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5720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7365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2026년 축산 ICT 패키지 보급 규모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510235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주도형 21개 모델 + 지역 맞춤형 2개 모델, 총 81개 농가 보급(전년 대비 +5.2%).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농가 규모를 생각하면 이 속도로는 산업 전체의 데이터가 모이기까지 수십 년이 걸립니다.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보급 속도를 올리는 것보다, 이미 보급된 장비의 데이터를 묶는 편이 훨씬 빠르고 저렴합니다.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축산신문(2026) 축산분야 ICT 융복합확산사업 보급 현황 · 농식품부 제1차 스마트농업 육성 기본계획(2025~2029)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축산의 현실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— SCALE WITHOUT MARGIN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대한민국 축산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축산은 커졌습니다 — 농업의 40.9%입니다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24.2조원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 생산액 (2023)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생산액의 40.9%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 8.1조원 대비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23년간 성장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363만두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사육두수 (2026. 4)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−3.2%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한우 농장 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번식농장 비중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보면 성공한 산업입니다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 만에 생산액이 3배가 되었고, 이제 농업 생산액의 40%를 넘습니다.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식량안보·지역경제·고용에서 축산이 차지하는 비중은 계속 커져 왔습니다.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33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다음 장의 숫자를 보시면, 이 성장이 무엇을 남겼는지 다시 생각하게 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농림어업조사 · 농식품부 · 축산물이력제 데이터(2026. 4) · 한국농촌경제연구원 관련 보도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대한민국 축산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한우는 지금 기르면 기를수록 손해입니다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72768"/>
            <a:ext cx="5468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−86.1만원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3957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번식우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72768"/>
            <a:ext cx="5468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−99.9만원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28816" y="23957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비육우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364992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95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숫자가 뜻하는 것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생산액이 늘어도 농가에 남는 돈은 없습니다 — 사료비·인건비·금융비용이 증가분을 흡수했습니다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구조에서는 재투자가 일어나지 않습니다. 시설도 후계도 멈춥니다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번식우 손실이 더 오래 누적되면 가임암소가 먼저 사라집니다 — 지금 벌어지고 있는 일입니다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38928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38928"/>
            <a:ext cx="10515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보조금으로 손실을 메우는 방식은 지속되지 않습니다 — 두당 원가와 손실 요인을 줄이는 것 외에 길이 없습니다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2025년 축산물생산비조사 (순손실 = 총수입 − 생산비, 자가노동비 등 포함 기준)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대한민국 축산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무너지는 것은 사육두수가 아니라 번식 기반입니다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−3,689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 농장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새 감소 (−4.8%)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새 감소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 미만 한·육우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42.4두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사육두수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(2000년 5.5두)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숫자들이 다른 이유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사육두수 감소는 수급 조절로 회복됩니다. 그러나 가임암소와 번식농가의 소멸은 회복되지 않습니다.</a:t>
            </a:r>
            <a:endParaRPr lang="en-US" sz="14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가격 강세는 호황 신호가 아니라 생산기반 붕괴의 경고입니다.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전국 한우 출하의 15.4%를 담당하는 2위 산지입니다 — 번식 기반이 무너지면 전남 비육농가가 먼저 타격을 받습니다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국가데이터처 가축동향(2026. 6. 1 기준) · 축산신문(2026. 5) 번식기반 약화 분석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대한민국 축산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번식농가가 그만두는 이유는 돈이 아니라 노동입니다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번식농가가 감당하지 못하는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관찰 — 한우는 발현이 미약하고 야간 발정이 다수입니다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감시 — 밤샘 대기, 난산 대응 시점 판단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발견 — 증상이 보이는 시점엔 이미 늦습니다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변동성까지 겹치면 폐업으로 직결됩니다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발생하는 손실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1회 미발견 = 공태 21일 연장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분만간격 지연 → 평생 산차 감소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횟수 증가 → 정액·수정료 누적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번식장애 조기 발견 실패 → 도태 지연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560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'24시간 관찰'의 문제입니다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400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더 노력해서 풀 수 없고, 보조금으로도 풀리지 않습니다.</a:t>
            </a:r>
            <a:endParaRPr lang="en-US" sz="14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자체를 기계가 대신해야 풀립니다.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데이터가 없다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HANWOO IS DATA-BLIND — AND WHY DX UNDERDELIVERED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한우는 데이터가 없다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낙농과 달리 매일의 데이터가 없습니다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낙농 (젖소)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일일 접점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착유 2회 — 유량·유성분·체세포 자동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없음. 사료 급이 외 접점 부재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유량 저하로 즉시 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외관 증상 발현까지 미포착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도체 성적 — 30개월 뒤 단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 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단위 교정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교정 기회 없이 결과만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농가는 30개월을 계기판 없이 운행합니다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508406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한우야말로 센서와 AI의 한계효용이 가장 큰 축종입니다.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낙농에서 10을 얻는 기술이 한우에서는 30을 얻습니다 — 비교 대상이 '아무것도 없음'이기 때문입니다.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한우는 데이터가 없다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센서는 이상을 알려줄 뿐, 조치를 정해주지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스마트축산이 기대만큼 성과를 내지 못한 이유입니다. 문제는 장비가 아니라 그 다음 단계가 비어 있었다는 것입니다.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26280"/>
                <a:gridCol w="4526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DX — 지금까지의 스마트축산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AX — 판단하는 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데이터와 알람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의사결정과 실행 지시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책임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 농가에게 남습니다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시스템이 수행, 수의사가 승인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장비별 사일로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이력제·KPN·도체성적·방역 융합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 발생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시점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축적에 따라 체증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 활용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보급률 통계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산지 계기판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B8733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2303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이미 하드웨어에 투자했습니다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스마트축산 ICT 시범단지(2023~2027)가 조성 중입니다. 새로 짓자는 제안이 아닙니다.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깔린 하드웨어 위에 '판단 계층(AX)'을 얹는 것 — 그것이 다음 단계입니다.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CowTalk의 위치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— ARCHITECTURE, TRACTION, LIMITS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CowTalk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번식과 비육, 두 개의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데이터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177393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센서 · 활동량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체온 · 사료 급이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420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환경 · 분뇨 · 기상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데이터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96849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이력제 · 혈통 · KPN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도체성적 · 방역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9392" y="137160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HUB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7939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ENGINES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9392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7 실시간 가동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86784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99248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918704" y="1444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엔진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18704" y="177393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탐지 · 분만 예측 · 공태 단축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9248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918704" y="25420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비육 엔진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18704" y="28712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증체 예측 · 출하 시점 · 도체 등급 예측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99248" y="35661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7918704" y="3639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· 행정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18704" y="396849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조기경보 · 지역 모니터링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플랫폼 원칙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장비·사업자 종속을 배제하고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API로 연동합니다.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설치된 장비도 그대로 붙습니다.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 게이트 (HITL)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AI 판단에 수의사 승인이 의무 적용됩니다.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진단하지 않습니다 — AI는 볼 것을 골라주고,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판단과 책임은 수의사에게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CowTalk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아닙니다. 이미 작동하고 있습니다.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농가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10,886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4787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두수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10,843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8251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센서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084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730,907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1715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AI 판단 이벤트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8328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383280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최초 반추위 센서 도입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338328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13년간의 현장 데이터 축적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79392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93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14600" y="4279392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한–우즈베키스탄 양자 합의 · 정부 실증 시연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4279392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현장 작동 검증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7550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5175504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한국소임상수의사회(KABP) 학술 발표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5175504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임상 학술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6월 기준 운영 대시보드 실측치. 6개 AI 엔진 24/7 실시간 가동.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CowTalk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냉정하게 — 글로벌 경쟁자 대비 CowTalk의 위치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C8DDA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앞선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8366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특화 — 글로벌 사업자는 대부분 낙농 중심입니다. 한우 번식·비육 데이터는 국내에서만 쌓입니다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반추위(체내) 센서 — 목걸이·발목형과 달리 체내 지표를 직접 측정합니다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 현장 데이터 — 국내 사양·기후·품종 조건에서 축적된 데이터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 임상 결합 — 센서 회사가 아니라 수의사가 운영하는 구조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813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뒤진 것 — 인정해야 할 부분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88366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규모 — Halter는 단일 라운드로 1억 달러를 조달했습니다. 우리는 그 규모가 아닙니다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양 — ICBF는 700만 두, 우리는 1만 두 수준입니다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유통망 — Allflex·Nedap은 수십 개국 판매망을 가집니다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표준·인증 — 국제 상호운용 표준 참여 실적이 아직 없습니다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31596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805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우리가 이길 수 있는 자리는 좁고 분명합니다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낙농 시장에서 Allflex와 정면으로 싸우는 것이 아닙니다.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'한우'라는, 글로벌 사업자가 데이터를 가질 수 없는 영역에서 국가 단위 표준을 먼저 만드는 것입니다.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77900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7900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데이터는 한국에서만 만들어집니다 — 이것이 우리에게 남은 유일하고 확실한 해자입니다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CowTalk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CowTalk이 안고 있는 과제 — 숨기지 않겠습니다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1848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규모의 한계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6464" y="171907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 두 수준의 데이터로는 예측 정확도에 한계가 있습니다.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비육·도체 예측은 라벨 데이터가 절대적으로 부족합니다.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1298448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단위 실증으로 데이터 규모를 늘리는 것 외에 방법이 없습니다. 이것이 이 제안의 실질적 이유이기도 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모델의 취약성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26464" y="29260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매출은 농가 부담에 의존합니다.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구조의 농가가 월 구독료를 계속 낼 수 있는가는 검증되지 않았습니다.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505456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사업으로 초기 도입 부담을 낮추고, 효과가 소득으로 확인된 뒤 농가 부담으로 전환하는 단계 설계가 필요합니다.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325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인력과 조직 규모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26464" y="413308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경쟁사 대비 개발·운영 인력이 적습니다.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전역 확산 시 현장 대응 인력 확보가 병목입니다.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3712464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단위 설치·AS 인력을 지역에서 육성하는 구조로 설계합니다. 지역 일자리 효과와도 연결됩니다.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919472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239512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26464" y="4974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표준 대응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26464" y="534009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확장 시 데이터 상호운용·인증 요구를 충족해야 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준비 단계입니다.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4919472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실증 레퍼런스가 있으면 표준 논의 참여 자격이 생깁니다. 수출은 그 다음 단계입니다.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2179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CowTalk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CowTalk의 경로 — 지역에서 국가로, 국가에서 수출로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199농가 · 1만 두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구독 서비스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5526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2026~2028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실증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 AX 실증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 표준 확보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620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2029~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표준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AX 국가 표준 모델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시도 확산 · 정책 연동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2454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084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8A5A22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2030~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3544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중앙아·동남아 축산 디지털 전환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레퍼런스 기반 수출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862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0507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경로에서 전남의 위치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2단계(광역 실증)가 없으면 3·4단계는 열리지 않습니다 — 국가 표준도 수출도 레퍼런스에서 시작합니다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이 단계를 맡으면, 이후 만들어지는 한우 AX 표준의 원본 데이터가 전남에서 나옵니다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단계에서도 '전남 모델'이라는 이름이 남습니다 — 이미 우즈베키스탄 정부 시연 경험이 있습니다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기업의 성장 계획이 아니라, 한우 산업이 데이터를 갖게 되는 경로입니다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전남인가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JEONNAM FIRST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왜 전남인가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실증에 가장 적합한 산지입니다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15.4%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출하 비중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경북 다음 2위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16.1두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0740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평균 출하 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(전국)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547872" cy="1645920"/>
          </a:xfrm>
          <a:prstGeom prst="roundRect">
            <a:avLst>
              <a:gd name="adj" fmla="val 5556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2023–27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56448" y="216712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스마트축산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 시범단지 조성 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82112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C8DDA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28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전남의 강점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출하 규모 2위 — 실증 표본의 통계적 대표성 확보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조사료 생산 기반(간척지·논) — 사육기간 단축 실행 여건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청정 이미지 — 저탄소 인증 브랜드화에 유리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— 하드웨어 인프라 선투자 완료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88" y="3182112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328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안고 있는 과제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71246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소규모·고령 번식농가 비중이 높아 이탈에 취약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단위 한우 브랜드 파편화 — 통합 품질 관리 부재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프리미엄이 데이터로 증명되지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62356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33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과제가 곧 실증 가치입니다 — 가장 취약한 지역에서 작동하면, 어디서든 작동합니다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왜 전남인가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사육기간 단축은 국가 정책입니다 — 실행 수단이 없을 뿐입니다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사육기간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두당 온실가스 배출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두당 사육비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30개월 (현행)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관행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−10%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−8.9%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 로드맵 목표선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−32%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−25%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강원대 연구팀 분석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· 호주 관행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062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3708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왜 현장은 30개월을 고수합니까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473659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감(感)으로는 사육기간을 줄일 수 없기 때문입니다. 조기 출하는 등급 하락 위험을 동반하고, 농가는 그 위험을 감당할 수 없습니다.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증체·근내지방 예측 없이는 이 정책이 현장에서 실행되지 않습니다 — 정책은 있는데 도구가 없는 상태입니다.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축산물 인증(축평원, 유효기간 3년) 확산도 개체 단위 사육 이력 데이터를 전제로 합니다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출처: 농림축산식품부 보도자료 · 축산부문 2030 온실가스 감축 로드맵. 지표 정의는 원자료 기준 — 발표 전 확인 권장.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타당성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FEASIBILITY — POLICY · TECHNOLOGY · ECONOMICS · RISK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 타당성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축으로 검증했습니다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98448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타당성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788920" y="1298448"/>
            <a:ext cx="1143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69080" y="1298448"/>
            <a:ext cx="7360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온실가스 감축 로드맵, 저탄소 축산물 인증, 데이터기반행정법,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스마트농업 육성 기본계획과 모두 정합합니다. 새 명분을 만들 필요가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267712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67712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타당성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88920" y="2267712"/>
            <a:ext cx="1143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69080" y="2267712"/>
            <a:ext cx="7360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시장 121억 달러(2030) 규모로 성숙한 기술군이며,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국내에서도 199농가·73만 건 판단으로 이미 가동 중입니다. 기술 위험은 낮습니다.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36976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36976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타당성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88920" y="3236976"/>
            <a:ext cx="1143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69080" y="3236976"/>
            <a:ext cx="7360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손실 회피액이 투입을 상회할 것으로 추정되나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데이터로 검증된 바 없습니다. 그 검증이 이 사업의 목적입니다.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206240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타당성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88920" y="4206240"/>
            <a:ext cx="1143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69080" y="4206240"/>
            <a:ext cx="7360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번식농가의 노동 부담 경감, 지역 설치·AS 일자리,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공공가치. 수혜자가 가장 취약한 계층입니다.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175504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8A5A2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75504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시급성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88920" y="5175504"/>
            <a:ext cx="1143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높음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069080" y="5175504"/>
            <a:ext cx="7360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가임암소는 한 번 사라지면 회복에 최소 3~4년이 걸립니다.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기초선 데이터도 사업 착수 전에 확보해야 합니다.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617220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경제 타당성을 '조건부'로 표기한 것은 의도적입니다 — 한우 데이터로 검증되지 않은 것을 검증되었다고 말하지 않습니다.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 타당성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경제성 — 무엇을 얼마나 회수해야 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투입 16.3억원, 대상 3,300두 기준. 두당 연간 약 49만원이 투입됩니다.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금액이 회수되려면 두당 연 49만원 이상의 손실을 줄이면 됩니다.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  <a:gridCol w="30175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논리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공태일수 단축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발정 1회 미발견 = 공태 21일 연장.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조기 발견으로 연간 공태일수를 줄입니다.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번식농가 손실의 최대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폐사 · 도태 회피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 조기 발견으로 회피되는 폐사 1두는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송아지·비육우 가액 전체를 지킵니다.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1두 회피로도 다수 두 투입분 상쇄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비용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횟수 감소 — 정액·수정료·재발정 대기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비용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노동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관찰·분만 대기 시간의 대체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 농가에서 체감 효과 최대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사육기간 단축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개체별 출하 예측으로 26개월 이하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3에서 검증 — 1년차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1663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3301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3218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여기서 금액을 단정하지 않는 이유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565099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 데이터로 산출된 회수액을 한우에 그대로 옮기면 과대 추정이 됩니다. 한우는 산차 간격·출하 주기가 다릅니다.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회수액의 확정은 이 시범사업의 산출물이지, 전제가 아닙니다. 그것이 비교군 설계를 두는 이유입니다.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 타당성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논거 — 나올 수 있는 질문을 먼저 꺼냅니다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298448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"스마트축산에 이미 예산을 썼는데 성과가 없었다"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0" y="1298448"/>
            <a:ext cx="6217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맞습니다. 장비만 보급하고 판단 계층이 없었기 때문입니다. 이 제안은 신규 장비 보급이 아니라 기존 장비의 데이터를 묶는 사업입니다.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26771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67712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"특정 업체를 밀어주는 것 아닌가"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2267712"/>
            <a:ext cx="6217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표준 API로 설계하고, 데이터 소유권 약정을 시범단계에서 표준화합니다. 감리를 독립 편성하고 결과를 공개합니다.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23697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236976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"고령 농가가 못 쓸 것이다"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3236976"/>
            <a:ext cx="6217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위험입니다. 그래서 앱 사용을 전제하지 않고 문자·전화 알림과 수의사 대행 서비스로 설계합니다. 그래도 이탈률은 KPI로 관리해야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20624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06240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"효과가 안 나오면 어떻게 하나"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6217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규모를 3,300두로 제한한 이유입니다. 비교군 대조로 효과가 확인되지 않으면 2년차를 중단하는 것이 정상 설계입니다.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17550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175504"/>
            <a:ext cx="4160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"도비 부담이 부담스럽다"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5175504"/>
            <a:ext cx="6217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국비 매칭과 기존 스마트축산 사업 연계를 전제로 설계할 수 있습니다. 다년도 분할도 가능합니다.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617220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 타당성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않았을 때의 비용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2588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기반은 계속 줄어듭니다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감소는 3~4년 뒤 송아지 공급 부족으로 나타납니다.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시점에는 전남 비육농가가 도내에서 입식할 송아지를 구하지 못합니다.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2588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32588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공백은 소급되지 않습니다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47104" y="213055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놓친 개체 데이터는 내년에 만들 수 없습니다.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기준선이 없으면 어떤 정책 효과도 증명할 수 없습니다.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2900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4290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4290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표준을 다른 지역이 가져갑니다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4672" y="423367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 표준은 이미 경기도가 만들고 있습니다.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표준을 먼저 만든 지역이 이후 국가 사업의 기준이 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4290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4290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저탄소·수출 요건에 대응할 수 없습니다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47104" y="423367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인증도, 향후 수출 시 요구될 이력 증명도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단위 사육 데이터를 전제로 합니다. 없으면 자격 자체가 없습니다.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사업의 비용은 16.3억원이지만, 하지 않는 비용은 금액으로 청구되지 않을 뿐 더 큽니다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PILOT DESIGN · BUDGET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로드맵 — 가장 시급한 곳부터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번식농가 우선 실증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 대상 발정·분만 AI 우선 적용.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시급하고 ROI가 즉시 확인되는 지점입니다.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25880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8816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단지 연계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225856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하드웨어 인프라 위에 판단 계층 탑재.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투자를 최소화합니다.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538728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단기비육 · 저탄소 인증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471416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출하 시점 예측으로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26개월 이하 사육 모델을 위험 없이 실행합니다.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538728"/>
            <a:ext cx="5468112" cy="786384"/>
          </a:xfrm>
          <a:prstGeom prst="roundRect">
            <a:avLst>
              <a:gd name="adj" fmla="val 11628"/>
            </a:avLst>
          </a:prstGeom>
          <a:solidFill>
            <a:srgbClr val="8A5A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통합 브랜드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471416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증명되는 저탄소·고품질 남도 한우.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패키지화까지 연결합니다.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8064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3301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1을 성공시키면 나머지는 같은 데이터 위에서 순차로 열립니다 — 처음부터 전부 할 필요가 없습니다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시범사업 설계 (안)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시·군 참여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편중 배제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5농가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시군당 번식농가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110농가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농가당 대상 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3,300두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실증 기간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확산 판단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기준 (안)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602736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보유 번식·일관 농가 우선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경영주 60세 이상 — 노동 대체 효과가 가장 큰 구간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환경 사전 점검 통과 농가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제공·공개에 동의한 농가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063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18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검증 설계 — 비교군을 반드시 둡니다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602736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농가만 보면 '좋아졌다'는 말밖에 못 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비선정 농가의 이력제·검정 데이터를 함께 확보해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'무엇이 얼마나 좋아졌는가'를 숫자로 증명합니다.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2년차 예산의 근거가 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64240" cy="1207008"/>
          </a:xfrm>
          <a:prstGeom prst="roundRect">
            <a:avLst>
              <a:gd name="adj" fmla="val 7576"/>
            </a:avLst>
          </a:prstGeom>
          <a:solidFill>
            <a:srgbClr val="13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486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진행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55778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0~3개월  농가 선정 · 센서 설치 · 데이터 수신 검증 · 농가 및 수의사 교육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4~9개월  6개 엔진 가동 · 경보 운영 · 수의사 승인 체계 정착 · 행정 대시보드 연동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10~12개월  효과 분석(비교군 대조) · 확산 설계 · 2년차 사업계획 수립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규모·기준은 제안(안)이며 전라남도 여건에 따라 조정 가능합니다.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예산 구조 (안)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금액(억원)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공급 · 설치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110농가 × 목장당 500만원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AI 구독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3,300두 × 두당 월 12,000원 × 12개월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엔진 연계 · 행정 대시보드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 엔진 연동, 도·시군 대시보드 구축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실증 운영 · 교육 · 수의 승인 체계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농가 교육, 수의사 HITL 운영, 현장 지원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분석 · 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비교군 대조 분석, 독립 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DA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46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EEF4E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992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 조건 (공개 기준)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53218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목장당 설치비 500만원 (기반 설비 포함)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두당 월 관리·구독료 12,000원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센서 4년 유지 — 기간 내 고장 시 무상 교체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90488" y="4846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9926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경기도 사례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53218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경기도는 5개년 총 102.3억원 규모로 추진 중이며,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예산의 약 47%를 시범운영·확산에 배정했습니다.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단년도 부담을 나누는 다년도 설계가 가능합니다.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금액은 제안(안)이며 확정 견적이 아닙니다. 국비 매칭·기존 스마트축산 ICT 사업 연계 시 도비 부담은 낮아질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체계 — 누가 무엇을 맡는가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총괄 · 예산 편성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관리 · 확산 결정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9" name="Text 7"/>
          <p:cNvSpPr/>
          <p:nvPr/>
        </p:nvSpPr>
        <p:spPr>
          <a:xfrm>
            <a:off x="451713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1713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· 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1713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· 추천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민원 대응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3716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4996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접점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66176" y="17739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· 축협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66176" y="224942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모집 · 설명회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사업과의 연계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임상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수의사회 · 공수의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809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판단 승인(HITL)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검증 · 처치 연계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1713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1713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축평원 · 이력제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1713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· 혈통 · KPN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도체성적 연계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33756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266176" y="346557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66176" y="373989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㈜D2O · CowTalk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66176" y="4215384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공급·설치·운영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· 실증 · 교육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440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B8733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도가 새 조직을 만들 필요가 없습니다 — 기존 축산 행정 체계에 판단 계층만 붙이는 구조입니다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어떻게 시작하나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성공을 판단할 것인가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성과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발견율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수태율 · 수정 횟수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· 분만간격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분만사고 발생률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· 방역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273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발견 건수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소요 기간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 · 도태율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경보 정확도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효율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인지 ~ 대응 소요시간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방문 우선순위 적중률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수신율 · 완결성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업무시간 변화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70848" y="137160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0848" y="1371600"/>
            <a:ext cx="2633472" cy="621792"/>
          </a:xfrm>
          <a:prstGeom prst="roundRect">
            <a:avLst>
              <a:gd name="adj" fmla="val 14706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37160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지속성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72016" y="2121408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관찰 노동시간 변화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실사용률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중도 이탈률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 · 재참여 의향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C8DDA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731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10235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시범 농가와 비선정 농가를 함께 측정합니다  ② 사업 시작 전 기초선(baseline)을 먼저 확보합니다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결과는 실패 항목까지 포함해 공개합니다  ④ 최종 산출물은 보고서가 아니라 다음 사업의 설계 근거입니다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9893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PRECONDITIONS &amp; THE ASK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먼저 풀어야 할 네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1848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 법제 미비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77393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플랫폼사 · 도 사이의 데이터 귀속 기준이 없습니다.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32120" y="1298448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시범사업 단계에서 3자 데이터 이용 약정을 표준안으로 만들어 둡니다. 이것 자체가 성과물입니다.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44752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 수용성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4752" y="298094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UI를 아무리 쉽게 만들어도 고령 농가는 앱을 열지 않습니다.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32120" y="2505456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화면이 아니라 대행 서비스 모델로 설계합니다. 문자·전화 알림과 수의사·지도사 방문이 인터페이스입니다.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325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3785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 예측 정확도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4752" y="41879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라벨 데이터 확보가 최대 병목입니다. 도체 성적은 30개월 뒤에야 나옵니다.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32120" y="3712464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Phase 1은 번식(발정·분만)에 집중합니다. 비육 예측은 데이터가 쌓인 뒤 Phase 3에서 검증합니다.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919472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239512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44752" y="49926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'감시' 프레임 반발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44752" y="5394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자신을 관리 대상으로 인식하는 순간 참여율이 무너집니다.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32120" y="4919472"/>
            <a:ext cx="5852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경로를 분리합니다. 개체 정보는 농가와 수의사에게, 행정에는 집계·익명 통계만 전달합니다.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62179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전라남도를 한우 AX 국가 실증 거점으로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제공하는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 축적된 반추위 센서 데이터와 6개 AI 엔진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199농가 · 10,886두에서 이미 검증된 운영 체계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공급 · 설치 · 운영 · AS 일괄 수행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승인(HITL) 체계 설계와 교육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실증 경험 — 우즈베키스탄 정부 시연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사례를 포함한 결과 공개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353312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전라남도께 요청드리는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956816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시범사업의 검토 착수 결정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고흥 ICT 시범단지와의 연계 검토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· 농협 · 수의사회 협의 창구 지정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이력제 · 도체성적 등 공공데이터 연계 협조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국비 매칭 및 기존 스마트축산 사업 연계 검토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전남 이름으로 공개 · 확산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74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AX는 데이터 관리 시스템이 아니라,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 번식농가의 눈과 손을 대신하는 산업 기반 시설입니다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30일 — 지금 하실 수 있는 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축산과 내 검토 · 고흥 ICT 단지 담당 부서와 사전 협의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저희가 실무 설명 자료를 추가 제공합니다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40156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확인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중인 농가 현장과 대시보드를 직접 확인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원하시는 시군에서 시연 가능합니다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협의체 구성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· 농협 · 전남 수의사회 협의 창구 지정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농가 선정 기준 초안 합의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24544" y="281635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1417320"/>
            <a:ext cx="2633472" cy="301752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70848" y="1417320"/>
            <a:ext cx="26334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53728" y="1755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 초안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2359152"/>
            <a:ext cx="22311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· 예산 · 일정 확정안 작성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국비 매칭 및 연계 가능 사업 확인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C8DDA9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828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결정하실 것은 하나입니다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68680" y="517550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사업을 하겠다는 결정이 아니라, 검토를 시작해도 좋다는 판단입니다.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저희가 자료로 만들어 오겠습니다.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9893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560320" cy="256032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맺으며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503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가임암소는 한 번 사라지면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돌아오지 않습니다.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시간은 3년입니다.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준비되지 않아서 못 한 것이 아닙니다. 이미 199농가에서 작동하고 있습니다.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것은 전남이 이것을 언제 시작하느냐입니다.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98348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20840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hhj3150@hanmail.net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질의 대비 — 백업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9844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2984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스마트축산 사업과 중복 아닙니까?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47488" y="1298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보급 사업(DX)이고 저희는 그 위의 판단 계층(AX)입니다. 고흥 단지 장비를 그대로 활용합니다.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0116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업체 종속 우려는 없습니까?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47488" y="201168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표준 API 구조로 타 장비도 연동됩니다. 데이터 소유권 약정을 시범단계에서 표준화합니다.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2491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7249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오진 책임은 누가 집니까?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47488" y="272491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진단하지 않습니다. 볼 대상을 골라주고 최종 판단·처치는 수의사가 승인합니다(HITL).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43814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농가가 쓸 수 있습니까?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343814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사용을 전제하지 않습니다. 문자·전화 알림과 수의사·지도사 대행 서비스가 인터페이스입니다.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151376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5137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1513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도비 부담이 얼마나 됩니까?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415137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 16.3억 규모(안). 국비 매칭·기존 사업 연계 시 도비 부담은 낮아집니다. 다년도 분할 설계 가능.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86460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3F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6460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48646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어떻게 증명합니까?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47488" y="486460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선정·비선정 농가를 함께 측정합니다. 기초선을 사업 전에 확보해야 하므로 착수 시점이 중요합니다.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57784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EF4E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7784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0432" y="55778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낙농이 아니라 한우입니까?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47488" y="557784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일일 데이터가 전무해 센서·AI의 한계효용이 가장 큽니다. 낙농 표준은 경기도가 만들고 있습니다.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발표용이 아닌 준비용 백업 슬라이드입니다.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전남 한우 AX — 국가 실증 거점 제안</dc:title>
  <dc:subject>PptxGenJS Presentation</dc:subject>
  <dc:creator>농업회사법인 ㈜D2O 하현제</dc:creator>
  <cp:lastModifiedBy>농업회사법인 ㈜D2O 하현제</cp:lastModifiedBy>
  <cp:revision>1</cp:revision>
  <dcterms:created xsi:type="dcterms:W3CDTF">2026-07-31T02:11:13Z</dcterms:created>
  <dcterms:modified xsi:type="dcterms:W3CDTF">2026-07-31T02:11:13Z</dcterms:modified>
</cp:coreProperties>
</file>
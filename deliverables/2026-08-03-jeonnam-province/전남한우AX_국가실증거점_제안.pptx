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 대상. 비전이 아니라 '무엇을 언제 얼마로 시작하는가'를 남긴다. 첫 문장은 위협이 아니라 시한 고지 — 3년이라는 숫자가 행동을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장과 마지막 요청 슬라이드만 봐도 전체가 파악되게 설계. 시간이 부족하면 여기서 바로 Phase 로드맵으로 점프.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01~05는 빠르게, 06(시작 방법)과 07(요청)에 시간의 절반을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5분. 문제 정의. 숫자로 시한을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'가격이 좋은데 왜 위기냐'는 반문이 반드시 나온다. 송아지 가격 강세 = 공급 부족 = 붕괴 신호라는 논리를 먼저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정책 설계의 방향을 바꾼다 — 소득 보전이 아니라 노동 대체가 답이라는 논리. 실무자에게 '왜 기존 지원이 효과가 없었는가'의 답이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4분. 왜 지금까지 안 됐는지 설명. 실무자가 가진 '스마트축산 해봤는데'라는 회의를 정면으로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낙농 중심으로 설계된 기존 스마트축산 정책이 한우에 잘 안 맞았던 이유이기도 하다. 한우가 더 뒤처진 것이 아니라 더 큰 기회라는 프레임.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'또 장비 사달라는 얘기냐'고 생각하는 순간 끝난다. 신규 투자 최소화·기존 인프라 활용을 여기서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3분. 기술 설명은 짧게. 실무자는 구조보다 책임 소재와 종속 여부를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가장 걱정하는 두 가지 — 특정 업체 종속과 AI 오진 책임. 두 카드로 미리 답한다. 기술 설명은 여기서 끝내고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3분. 여기서 신뢰가 결정된다. 구상이 아니라 실측치라는 점을 반복한다.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73만 건이라는 숫자를 천천히 말한다. 파일럿이 아니라 운영 중인 시스템이라는 것이 이 제안의 가장 큰 차별점.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4분. 전남이 선택되어야 하는 이유와 국가 정책 정합성.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약점을 먼저 인정하고 그것을 선정 이유로 뒤집는 구조. 실무자는 '우리 지역이 여건이 나쁜데'라는 생각을 늘 하므로 이 반전이 잘 먹힌다.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실무자에게 가장 실용적인 장. 상급기관 정책과 우리 제안이 일치한다는 것 = 기안 명분. '정책은 있는데 도구가 없다'가 핵심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8분. 오늘 발표의 본론. 실무자가 기안에 쓸 수 있는 형태로 전달한다.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실무자는 '전부 하자'는 제안을 부담스러워한다. Phase 1만 결정하면 된다는 점을 반복해서 낮춰준다.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구체적으로 제시하되 '안'임을 명확히 한다. 실무자가 이 표를 그대로 기안 초안에 옮길 수 있게 하는 것이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앞의 두 줄(5.5억·4.8억)은 공개 단가로 실제 계산된 값이라 검증 가능하다는 점을 말한다. 나머지는 안이라고 분명히 밝힌다. 국비 매칭 가능성을 언급해 도비 부담 우려를 낮춘다.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수의사회를 승인 주체로 명시하는 것이 중요하다 — 지역 수의계의 반발을 막고 오히려 우군으로 만든다. 신규 조직 불필요를 강조해 행정 부담 우려를 없앤다.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매년 겪는 '성과 증명' 문제를 이 사업이 구조적으로 해결해준다는 점을 강조. 기초선 확보는 사업 시작 전에 해야 하므로 지금 결정이 필요하다는 논리로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5분. 정직한 리스크 고지 후 요청. 여기서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리스크를 먼저 꺼내는 것이 신뢰를 만든다. 특히 4번(감시 프레임)은 실무자가 농가 민원으로 직접 겪을 문제라 대응책이 있다는 것만으로 안심시킨다.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주고받는 관계를 분명히 한다. 마지막 문장은 천천히. '관리 시스템'이 아니라 '기반 시설'이라는 규정이 예산 성격을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부담 없이 '예'라고 할 수 있는 최소 단위를 요청한다. 큰 결정을 요구하면 '검토하겠습니다'로 끝나고 아무 일도 안 일어난다.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문장은 천천히. 압박이 아니라 사실 고지의 톤으로.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 스킵. 질의응답에서 필요 시 열람.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1C4028"/>
          </a:solidFill>
          <a:ln/>
        </p:spPr>
      </p:sp>
      <p:sp>
        <p:nvSpPr>
          <p:cNvPr id="3" name="Shape 1"/>
          <p:cNvSpPr/>
          <p:nvPr/>
        </p:nvSpPr>
        <p:spPr>
          <a:xfrm>
            <a:off x="10104120" y="4160520"/>
            <a:ext cx="2926080" cy="2926080"/>
          </a:xfrm>
          <a:prstGeom prst="ellipse">
            <a:avLst/>
          </a:prstGeom>
          <a:solidFill>
            <a:srgbClr val="1E442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전라남도 한우 AX 국가 실증 거점 제안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뒤, 전남 비육농가가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입식할 송아지가 부족해집니다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67588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사라지는 번식농가의 눈과 손을 대신하는 산업 기반 시설 — CowTalk AX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4526280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6634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농업회사법인 ㈜D2O  대표 하현제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· 국내 최초 반추위 센서 도입(2013) · 산자부 축산로봇 과제 연구책임자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8. 3.(월)  |  전라남도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ONE-PAGE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1042416"/>
          </a:xfrm>
          <a:prstGeom prst="roundRect">
            <a:avLst>
              <a:gd name="adj" fmla="val 8772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94560" y="1371600"/>
            <a:ext cx="9144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한우의 번식 기반이 무너지고 있습니다.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원인은 가격이 아니라 24시간 관찰 노동입니다.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11064240" cy="1042416"/>
          </a:xfrm>
          <a:prstGeom prst="roundRect">
            <a:avLst>
              <a:gd name="adj" fmla="val 8772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42032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194560" y="2542032"/>
            <a:ext cx="9144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관찰을 기계가 대신합니다.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센서(DX)가 아니라 판단(AX) — AI가 조치를 정하고 수의사가 승인합니다.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712464"/>
            <a:ext cx="11064240" cy="1042416"/>
          </a:xfrm>
          <a:prstGeom prst="roundRect">
            <a:avLst>
              <a:gd name="adj" fmla="val 8772"/>
            </a:avLst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12464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94560" y="3712464"/>
            <a:ext cx="9144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구상이 아닙니다. 199농가 · 10,886두 · 73만 건의 AI 판단이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24시간 가동 중입니다.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882896"/>
            <a:ext cx="11064240" cy="1042416"/>
          </a:xfrm>
          <a:prstGeom prst="roundRect">
            <a:avLst>
              <a:gd name="adj" fmla="val 8772"/>
            </a:avLst>
          </a:prstGeom>
          <a:solidFill>
            <a:srgbClr val="8A5A2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82896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94560" y="4882896"/>
            <a:ext cx="9144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전남을 한우 AX 국가 실증 거점으로.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ICT 단지 위에 판단 계층을 얹는 것부터 시작합니다.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6108192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13301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말씀드릴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1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399032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399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29844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무너지는 번식 기반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54880" y="129844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 −10만, 번식농가가 왜 그만두는가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93392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209397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53312" y="19933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한우는 데이터가 없다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54880" y="199339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낙농과의 결정적 차이, 그리고 DX가 실패한 이유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688336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" y="278892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53312" y="268833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 AX 구조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54880" y="2688336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엔진 · 개방형 플랫폼 · 수의사 승인 게이트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383280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" y="348386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53312" y="338328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작동 중입니다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54880" y="338328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199농가 · 10,886두 · 13년 축적과 검증 이력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078224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417880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53312" y="407822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전남인가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754880" y="407822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출하 2위 산지 · 고흥 ICT 단지 · 국가 정책 정합성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773168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3F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" y="4873752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53312" y="477316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시작하나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754880" y="477316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로드맵 · 시범사업 설계(안) · 예산 구조(안)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5468112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C8DDA9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" y="5568696"/>
            <a:ext cx="402336" cy="402336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5568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53312" y="546811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요청사항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4754880" y="546811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선결 과제와 실무자께서 지금 하실 수 있는 일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25분 · 질의응답 별도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무너지는 번식 기반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BREEDING BASE IS COLLAPSING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무너지는 번식 기반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무너지는 것은 사육두수가 아니라 번식 기반입니다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−3,689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사육 농장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새 감소 (−4.8%)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−10만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새 감소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−6.7%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1세 미만 한·육우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42.4두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6228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농장당 사육두수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(2000년 5.5두)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01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0156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숫자들이 다른 이유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76732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사육두수 감소는 수급 조절로 회복됩니다. 그러나 가임암소와 번식농가의 소멸은 회복되지 않습니다.</a:t>
            </a:r>
            <a:endParaRPr lang="en-US" sz="14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송아지 가격 강세는 호황 신호가 아니라 생산기반 붕괴의 경고입니다.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48463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C8DDA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전국 한우 출하의 15.4%를 담당하는 2위 산지입니다 — 번식 기반이 무너지면 전남 비육농가가 먼저 타격을 받습니다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국가데이터처 가축동향(2026. 6. 1 기준) · 축산신문(2026. 5) 번식기반 약화 분석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무너지는 번식 기반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번식농가가 그만두는 이유는 돈이 아니라 노동입니다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996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번식농가가 감당하지 못하는 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관찰 — 한우는 발현이 미약하고 야간 발정이 다수입니다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감시 — 밤샘 대기, 난산 대응 시점 판단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 발견 — 증상이 보이는 시점엔 이미 늦습니다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변동성까지 겹치면 폐업으로 직결됩니다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0488" y="132588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4996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발생하는 손실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1회 미발견 = 공태 21일 연장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분만간격 지연 → 평생 산차 감소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횟수 증가 → 정액·수정료 누적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번식장애 조기 발견 실패 → 도태 지연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01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560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모두 '24시간 관찰'의 문제입니다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34009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더 노력해서 풀 수 없고, 보조금으로도 풀리지 않습니다.</a:t>
            </a:r>
            <a:endParaRPr lang="en-US" sz="14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자체를 기계가 대신해야 풀립니다.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한우는 데이터가 없다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HANWOO IS DATA-BLIND — AND WHY DX UNDERDELIVERED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한우는 데이터가 없다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한우는 낙농과 달리 매일의 데이터가 없습니다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34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낙농 (젖소)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일일 접점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착유 2회 — 유량·유성분·체세포 자동 기록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없음. 사료 급이 외 접점 부재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감지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유량 저하로 즉시 포착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외관 증상 발현까지 미포착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도체 성적 — 30개월 뒤 단 1회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의사결정 주기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단위 교정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교정 기회 없이 결과만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805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13301F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663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농가는 30개월을 계기판 없이 운행합니다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5084064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한우야말로 센서와 AI의 한계효용이 가장 큰 축종입니다.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낙농에서 10을 얻는 기술이 한우에서는 30을 얻습니다 — 비교 대상이 '아무것도 없음'이기 때문입니다.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한우는 데이터가 없다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센서는 이상을 알려줄 뿐, 조치를 정해주지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스마트축산이 기대만큼 성과를 내지 못한 이유입니다. 문제는 장비가 아니라 그 다음 단계가 비어 있었다는 것입니다.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26280"/>
                <a:gridCol w="4526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DX — 지금까지의 스마트축산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AX — 판단하는 AI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데이터와 알람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의사결정과 실행 지시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 책임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고령 농가에게 남습니다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시스템이 수행, 수의사가 승인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장비별 사일로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이력제·KPN·도체성적·방역 융합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 발생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시점 1회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축적에 따라 체증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 활용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보급률 통계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산지 계기판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0749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B8733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23036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이미 하드웨어에 투자했습니다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55778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스마트축산 ICT 시범단지(2023~2027)가 조성 중입니다. 새로 짓자는 제안이 아닙니다.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깔린 하드웨어 위에 '판단 계층(AX)'을 얹는 것 — 그것이 다음 단계입니다.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 AX 구조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PLATFORM ARCHITECTURE — 6 ENGINES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CowTalk AX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번식과 비육, 두 개의 엔진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4447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데이터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6384" y="177393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반추위 센서 · 활동량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체온 · 사료 급이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420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데이터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287121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환경 · 분뇨 · 기상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56616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6393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데이터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" y="396849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 이력제 · 혈통 · KPN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도체성적 · 방역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9392" y="1371600"/>
            <a:ext cx="3017520" cy="3154680"/>
          </a:xfrm>
          <a:prstGeom prst="roundRect">
            <a:avLst>
              <a:gd name="adj" fmla="val 3030"/>
            </a:avLst>
          </a:prstGeom>
          <a:solidFill>
            <a:srgbClr val="13301F"/>
          </a:solidFill>
          <a:ln/>
        </p:spPr>
      </p:sp>
      <p:sp>
        <p:nvSpPr>
          <p:cNvPr id="14" name="Text 12"/>
          <p:cNvSpPr/>
          <p:nvPr/>
        </p:nvSpPr>
        <p:spPr>
          <a:xfrm>
            <a:off x="4279392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HUB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79392" y="3017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ENGINES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79392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7 실시간 가동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86784" y="269748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51776" y="269748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7699248" y="137160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7918704" y="14447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엔진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18704" y="177393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탐지 · 분만 예측 · 공태 단축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99248" y="246888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918704" y="25420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비육 엔진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18704" y="287121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증체 예측 · 출하 시점 · 도체 등급 예측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99248" y="356616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7918704" y="3639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 · 행정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18704" y="396849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이상징후 조기경보 · 지역 모니터링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7548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3F6F1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9194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플랫폼 원칙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526694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장비·사업자 종속을 배제하고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API로 연동합니다.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설치된 장비도 그대로 붙습니다.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0488" y="47548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C8DDA9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9194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승인 게이트 (HITL)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526694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AI 판단에 수의사 승인이 의무 적용됩니다.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진단하지 않습니다 — AI는 볼 것을 골라주고,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판단과 책임은 수의사에게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작동 중입니다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ALREADY OPERATING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이미 작동 중입니다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구상이 아닙니다. 이미 작동하고 있습니다.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농가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10,886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4787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두수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10,843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8251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센서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084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730,907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1715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AI 판단 이벤트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383280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1C402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8328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3383280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최초 반추위 센서 도입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5320" y="3383280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13년간의 현장 데이터 축적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279392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1C402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7939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14600" y="4279392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한–우즈베키스탄 양자 합의 · 정부 실증 시연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75320" y="4279392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현장 작동 검증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175504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1C402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7550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14600" y="5175504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한국소임상수의사회(KABP) 학술 발표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75320" y="5175504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임상 학술 검증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6월 기준 운영 대시보드 실측치. 6개 AI 엔진 24/7 실시간 가동.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전남인가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JEONNAM FIRST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왜 전남인가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실증에 가장 적합한 산지입니다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1645920"/>
          </a:xfrm>
          <a:prstGeom prst="roundRect">
            <a:avLst>
              <a:gd name="adj" fmla="val 5556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15.4%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한우 출하 비중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경북 다음 2위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25880"/>
            <a:ext cx="3547872" cy="1645920"/>
          </a:xfrm>
          <a:prstGeom prst="roundRect">
            <a:avLst>
              <a:gd name="adj" fmla="val 5556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16.1두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07408" y="2167128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농장당 평균 출하 두수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(전국)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325880"/>
            <a:ext cx="3547872" cy="1645920"/>
          </a:xfrm>
          <a:prstGeom prst="roundRect">
            <a:avLst>
              <a:gd name="adj" fmla="val 5556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806500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2023–27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56448" y="2167128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스마트축산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ICT 시범단지 조성 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182112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C8DDA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284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전남의 강점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71246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출하 규모 2위 — 실증 표본의 통계적 대표성 확보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조사료 생산 기반(간척지·논) — 사육기간 단축 실행 여건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이미지 — 저탄소 인증 브랜드화에 유리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ICT 단지 — 하드웨어 인프라 선투자 완료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0488" y="3182112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284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안고 있는 과제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71246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소규모·고령 번식농가 비중이 높아 이탈에 취약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단위 한우 브랜드 파편화 — 통합 품질 관리 부재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프리미엄이 데이터로 증명되지 않음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62356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3301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6235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과제가 곧 실증 가치입니다 — 가장 취약한 지역에서 작동하면, 어디서든 작동합니다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왜 전남인가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사육기간 단축은 국가 정책입니다 — 실행 수단이 없을 뿐입니다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  <a:gridCol w="283464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사육기간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두당 온실가스 배출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두당 사육비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30개월 (현행)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관행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26개월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−10%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−8.9%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2030 로드맵 목표선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24개월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−32%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−25%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강원대 연구팀 분석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18개월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· 호주 관행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062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01F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3708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왜 현장은 30개월을 고수합니까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473659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감(感)으로는 사육기간을 줄일 수 없기 때문입니다. 조기 출하는 등급 하락 위험을 동반하고, 농가는 그 위험을 감당할 수 없습니다.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개체별 증체·근내지방 예측 없이는 이 정책이 현장에서 실행되지 않습니다 — 정책은 있는데 도구가 없는 상태입니다.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5742432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B873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7424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 축산물 인증(축평원, 유효기간 3년) 확산도 개체 단위 사육 이력 데이터를 전제로 합니다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출처: 농림축산식품부 보도자료 · 축산부문 2030 온실가스 감축 로드맵. 지표 정의는 원자료 기준 — 발표 전 확인 권장.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시작하나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· PILOT DESIGN · BUDGET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어떻게 시작하나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로드맵 — 가장 시급한 곳부터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5468112" cy="786384"/>
          </a:xfrm>
          <a:prstGeom prst="roundRect">
            <a:avLst>
              <a:gd name="adj" fmla="val 11628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1673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번식농가 우선 실증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번식농가 대상 발정·분만 AI 우선 적용.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시급하고 ROI가 즉시 확인되는 지점입니다.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325880"/>
            <a:ext cx="5468112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28816" y="1673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ICT 단지 연계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5392" y="225856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하드웨어 인프라 위에 판단 계층 탑재.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투자를 최소화합니다.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538728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538728"/>
            <a:ext cx="5468112" cy="786384"/>
          </a:xfrm>
          <a:prstGeom prst="roundRect">
            <a:avLst>
              <a:gd name="adj" fmla="val 11628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630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단기비육 · 저탄소 인증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471416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개체별 출하 시점 예측으로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26개월 이하 사육 모델을 위험 없이 실행합니다.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538728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538728"/>
            <a:ext cx="5468112" cy="786384"/>
          </a:xfrm>
          <a:prstGeom prst="roundRect">
            <a:avLst>
              <a:gd name="adj" fmla="val 11628"/>
            </a:avLst>
          </a:prstGeom>
          <a:solidFill>
            <a:srgbClr val="8A5A22"/>
          </a:solidFill>
          <a:ln/>
        </p:spPr>
      </p:sp>
      <p:sp>
        <p:nvSpPr>
          <p:cNvPr id="21" name="Text 19"/>
          <p:cNvSpPr/>
          <p:nvPr/>
        </p:nvSpPr>
        <p:spPr>
          <a:xfrm>
            <a:off x="6528816" y="3630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28816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통합 브랜드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392" y="4471416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증명되는 저탄소·고품질 남도 한우.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수출 패키지화까지 연결합니다.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80644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3301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1을 성공시키면 나머지는 같은 데이터 위에서 순차로 열립니다 — 처음부터 전부 할 필요가 없습니다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어떻게 시작하나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시범사업 설계 (안)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시·군 참여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편중 배제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5농가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9300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시군당 번식농가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110농가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2764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농가당 대상 두수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3,300두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6228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 실증 기간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확산 판단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0632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C8DDA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18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농가 선정 기준 (안)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602736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 보유 번식·일관 농가 우선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경영주 60세 이상 — 노동 대체 효과가 가장 큰 구간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환경 사전 점검 통과 농가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제공·공개에 동의한 농가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30632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218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검증 설계 — 비교군을 반드시 둡니다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3602736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농가만 보면 '좋아졌다'는 말밖에 못 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비선정 농가의 이력제·검정 데이터를 함께 확보해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'무엇이 얼마나 좋아졌는가'를 숫자로 증명합니다.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2년차 예산의 근거가 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64240" cy="1207008"/>
          </a:xfrm>
          <a:prstGeom prst="roundRect">
            <a:avLst>
              <a:gd name="adj" fmla="val 7576"/>
            </a:avLst>
          </a:prstGeom>
          <a:solidFill>
            <a:srgbClr val="13301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4865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진행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868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0~3개월  농가 선정 · 센서 설치 · 데이터 수신 검증 · 농가 및 수의사 교육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4~9개월  6개 엔진 가동 · 경보 운영 · 수의사 승인 체계 정착 · 행정 대시보드 연동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10~12개월  효과 분석(비교군 대조) · 확산 설계 · 2년차 사업계획 수립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규모·기준은 제안(안)이며 전라남도 여건에 따라 조정 가능합니다.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어떻게 시작하나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 예산 구조 (안)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512064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근거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금액(억원)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센서 공급 · 설치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110농가 × 목장당 500만원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· AI 구독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3,300두 × 두당 월 12,000원 × 12개월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엔진 연계 · 행정 대시보드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 엔진 연동, 도·시군 대시보드 구축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실증 운영 · 교육 · 수의 승인 체계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농가 교육, 수의사 HITL 운영, 현장 지원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분석 · 감리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비교군 대조 분석, 독립 감리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A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A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A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4632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EEF4E9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9926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공급 조건 (공개 기준)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" y="53218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목장당 설치비 500만원 (기반 설비 포함)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두당 월 관리·구독료 12,000원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센서 4년 유지 — 기간 내 고장 시 무상 교체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90488" y="484632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49926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— 경기도 사례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2240" y="53218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경기도는 5개년 총 102.3억원 규모로 추진 중이며,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예산의 약 47%를 시범운영·확산에 배정했습니다.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전남도 단년도 부담을 나누는 다년도 설계가 가능합니다.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금액은 제안(안)이며 확정 견적이 아닙니다. 국비 매칭·기존 스마트축산 ICT 사업 연계 시 도비 부담은 낮아질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어떻게 시작하나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체계 — 누가 무엇을 맡는가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996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" y="17739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전라남도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24942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총괄 · 예산 편성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관리 · 확산 결정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37160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9" name="Text 7"/>
          <p:cNvSpPr/>
          <p:nvPr/>
        </p:nvSpPr>
        <p:spPr>
          <a:xfrm>
            <a:off x="4517136" y="14996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17136" y="17739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 · 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17136" y="224942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농가 선정 · 추천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민원 대응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37160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13" name="Text 11"/>
          <p:cNvSpPr/>
          <p:nvPr/>
        </p:nvSpPr>
        <p:spPr>
          <a:xfrm>
            <a:off x="8266176" y="14996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접점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66176" y="17739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 · 축협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66176" y="224942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모집 · 설명회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사업과의 연계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33756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4655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· 임상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" y="373989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수의사회 · 공수의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68096" y="421538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 승인(HITL)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검증 · 처치 연계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333756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17136" y="34655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17136" y="373989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축평원 · 이력제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17136" y="421538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· 혈통 · KPN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도체성적 연계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333756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8266176" y="34655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66176" y="373989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㈜D2O · CowTalk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66176" y="421538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공급·설치·운영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 · 실증 · 교육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4406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B8733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도가 새 조직을 만들 필요가 없습니다 — 기존 축산 행정 체계에 판단 계층만 붙이는 구조입니다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어떻게 시작하나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성공을 판단할 것인가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71600"/>
            <a:ext cx="2633472" cy="621792"/>
          </a:xfrm>
          <a:prstGeom prst="roundRect">
            <a:avLst>
              <a:gd name="adj" fmla="val 14706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성과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121408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발견율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수태율 · 수정 횟수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공태일수 · 분만간격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분만사고 발생률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37160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1371600"/>
            <a:ext cx="2633472" cy="621792"/>
          </a:xfrm>
          <a:prstGeom prst="roundRect">
            <a:avLst>
              <a:gd name="adj" fmla="val 14706"/>
            </a:avLst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7160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· 방역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02736" y="2121408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 발견 건수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소요 기간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폐사 · 도태율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이상징후 경보 정확도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137160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1371600"/>
            <a:ext cx="2633472" cy="621792"/>
          </a:xfrm>
          <a:prstGeom prst="roundRect">
            <a:avLst>
              <a:gd name="adj" fmla="val 14706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7160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효율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37376" y="2121408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인지 ~ 대응 소요시간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방문 우선순위 적중률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수신율 · 완결성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업무시간 변화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70848" y="137160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70848" y="1371600"/>
            <a:ext cx="2633472" cy="621792"/>
          </a:xfrm>
          <a:prstGeom prst="roundRect">
            <a:avLst>
              <a:gd name="adj" fmla="val 14706"/>
            </a:avLst>
          </a:prstGeom>
          <a:solidFill>
            <a:srgbClr val="8A5A22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37160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· 지속성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72016" y="2121408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관찰 노동시간 변화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실사용률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중도 이탈률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만족도 · 재참여 의향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6177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C8DDA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731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원칙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510235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시범 농가와 비선정 농가를 함께 측정합니다  ② 사업 시작 전 기초선(baseline)을 먼저 확보합니다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결과는 실패 항목까지 포함해 공개합니다  ④ 최종 산출물은 보고서가 아니라 다음 사업의 설계 근거입니다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98932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요청사항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PRECONDITIONS &amp; THE ASK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요청사항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정직하게 — 먼저 풀어야 할 네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1848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44752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소유권 법제 미비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4752" y="177393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· 플랫폼사 · 도 사이의 데이터 귀속 기준이 없습니다.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32120" y="1298448"/>
            <a:ext cx="5852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시범사업 단계에서 3자 데이터 이용 약정을 표준안으로 만들어 둡니다. 이것 자체가 성과물입니다.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F3F6F1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825496"/>
            <a:ext cx="438912" cy="438912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25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44752" y="2578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농가 수용성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4752" y="298094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UI를 아무리 쉽게 만들어도 고령 농가는 앱을 열지 않습니다.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32120" y="2505456"/>
            <a:ext cx="5852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화면이 아니라 대행 서비스 모델로 설계합니다. 문자·전화 알림과 수의사·지도사 방문이 인터페이스입니다.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712464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EEF4E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032504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44752" y="37856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도체 예측 정확도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44752" y="41879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라벨 데이터 확보가 최대 병목입니다. 도체 성적은 30개월 뒤에야 나옵니다.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32120" y="3712464"/>
            <a:ext cx="5852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Phase 1은 번식(발정·분만)에 집중합니다. 비육 예측은 데이터가 쌓인 뒤 Phase 3에서 검증합니다.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919472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F3F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5239512"/>
            <a:ext cx="438912" cy="438912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239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44752" y="49926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'감시' 프레임 반발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44752" y="53949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농가가 자신을 관리 대상으로 인식하는 순간 참여율이 무너집니다.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32120" y="4919472"/>
            <a:ext cx="5852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 경로를 분리합니다. 개체 정보는 농가와 수의사에게, 행정에는 집계·익명 통계만 전달합니다.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621792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요청사항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전라남도를 한우 AX 국가 실증 거점으로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5440680" cy="3520440"/>
          </a:xfrm>
          <a:prstGeom prst="roundRect">
            <a:avLst>
              <a:gd name="adj" fmla="val 2597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179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제공하는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56816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13년간 축적된 반추위 센서 데이터와 6개 AI 엔진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199농가 · 10,886두에서 이미 검증된 운영 체계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공급 · 설치 · 운영 · AS 일괄 수행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승인(HITL) 체계 설계와 교육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실증 경험 — 우즈베키스탄 정부 시연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사례를 포함한 결과 공개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0488" y="1353312"/>
            <a:ext cx="5440680" cy="3520440"/>
          </a:xfrm>
          <a:prstGeom prst="roundRect">
            <a:avLst>
              <a:gd name="adj" fmla="val 2597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5179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전라남도께 요청드리는 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956816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시범사업의 검토 착수 결정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ICT 시범단지와의 연계 검토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· 농협 · 수의사회 협의 창구 지정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이력제 · 도체성적 등 공공데이터 연계 협조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국비 매칭 및 기존 스마트축산 사업 연계 검토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전남 이름으로 공개 · 확산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5074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0749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AX는 데이터 관리 시스템이 아니라,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사라지는 번식농가의 눈과 손을 대신하는 산업 기반 시설입니다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요청사항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30일 — 지금 하실 수 있는 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17320"/>
            <a:ext cx="2633472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9047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검토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35915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축산과 내 검토 · 고흥 ICT 단지 담당 부서와 사전 협의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저희가 실무 설명 자료를 추가 제공합니다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55264" y="281635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3401568" y="141732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1417320"/>
            <a:ext cx="2633472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149047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84448" y="17556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확인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2736" y="235915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중인 농가 현장과 대시보드를 직접 확인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원하시는 시군에서 시연 가능합니다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904" y="281635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6208" y="141732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417320"/>
            <a:ext cx="2633472" cy="786384"/>
          </a:xfrm>
          <a:prstGeom prst="roundRect">
            <a:avLst>
              <a:gd name="adj" fmla="val 11628"/>
            </a:avLst>
          </a:prstGeom>
          <a:solidFill>
            <a:srgbClr val="B873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149047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19088" y="17556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협의체 구성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235915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· 농협 · 전남 수의사회 협의 창구 지정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농가 선정 기준 초안 합의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24544" y="281635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9070848" y="141732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70848" y="1417320"/>
            <a:ext cx="2633472" cy="786384"/>
          </a:xfrm>
          <a:prstGeom prst="roundRect">
            <a:avLst>
              <a:gd name="adj" fmla="val 11628"/>
            </a:avLst>
          </a:prstGeom>
          <a:solidFill>
            <a:srgbClr val="B87333"/>
          </a:solidFill>
          <a:ln/>
        </p:spPr>
      </p:sp>
      <p:sp>
        <p:nvSpPr>
          <p:cNvPr id="24" name="Text 22"/>
          <p:cNvSpPr/>
          <p:nvPr/>
        </p:nvSpPr>
        <p:spPr>
          <a:xfrm>
            <a:off x="9253728" y="149047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53728" y="17556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사업계획 초안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72016" y="235915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· 예산 · 일정 확정안 작성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국비 매칭 및 연계 가능 사업 확인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6634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C8DDA9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828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결정하실 것은 하나입니다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68680" y="517550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사업을 하겠다는 결정이 아니라, 검토를 시작해도 좋다는 판단입니다.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저희가 자료로 만들어 오겠습니다.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598932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737360"/>
            <a:ext cx="5120640" cy="5120640"/>
          </a:xfrm>
          <a:prstGeom prst="ellipse">
            <a:avLst/>
          </a:prstGeom>
          <a:solidFill>
            <a:srgbClr val="1C402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2560320" cy="2560320"/>
          </a:xfrm>
          <a:prstGeom prst="ellipse">
            <a:avLst/>
          </a:prstGeom>
          <a:solidFill>
            <a:srgbClr val="1E442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맺으며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8503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가임암소는 한 번 사라지면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돌아오지 않습니다.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시간은 3년입니다.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931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준비되지 않아서 못 한 것이 아닙니다. 이미 199농가에서 작동하고 있습니다.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것은 전남이 이것을 언제 시작하느냐입니다.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98348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9834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  질의응답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20840" y="50749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농업회사법인 ㈜D2O  대표 하현제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hhj3150@hanmail.net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질의 대비 — 백업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98448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2984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스마트축산 사업과 중복 아닙니까?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47488" y="129844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보급 사업(DX)이고 저희는 그 위의 판단 계층(AX)입니다. 고흥 단지 장비를 그대로 활용합니다.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3F6F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0116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업체 종속 우려는 없습니까?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47488" y="201168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표준 API 구조로 타 장비도 연동됩니다. 데이터 소유권 약정을 시범단계에서 표준화합니다.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724912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EF4E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24912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72491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오진 책임은 누가 집니까?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47488" y="27249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진단하지 않습니다. 볼 대상을 골라주고 최종 판단·처치는 수의사가 승인합니다(HITL).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3F6F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38144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43814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농가가 쓸 수 있습니까?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3438144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사용을 전제하지 않습니다. 문자·전화 알림과 수의사·지도사 대행 서비스가 인터페이스입니다.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151376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EF4E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51376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15137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도비 부담이 얼마나 됩니까?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47488" y="415137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 16.3억 규모(안). 국비 매칭·기존 사업 연계 시 도비 부담은 낮아집니다. 다년도 분할 설계 가능.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864608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3F6F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64608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70432" y="48646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효과를 어떻게 증명합니까?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47488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선정·비선정 농가를 함께 측정합니다. 기초선을 사업 전에 확보해야 하므로 착수 시점이 중요합니다.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577840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EF4E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57784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70432" y="55778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낙농이 아니라 한우입니까?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47488" y="557784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한우는 일일 데이터가 전무해 센서·AI의 한계효용이 가장 큽니다. 낙농 표준은 경기도가 만들고 있습니다.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발표용이 아닌 준비용 백업 슬라이드입니다.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전남 한우 AX — 국가 실증 거점 제안</dc:title>
  <dc:subject>PptxGenJS Presentation</dc:subject>
  <dc:creator>농업회사법인 ㈜D2O 하현제</dc:creator>
  <cp:lastModifiedBy>농업회사법인 ㈜D2O 하현제</cp:lastModifiedBy>
  <cp:revision>1</cp:revision>
  <dcterms:created xsi:type="dcterms:W3CDTF">2026-07-31T01:58:44Z</dcterms:created>
  <dcterms:modified xsi:type="dcterms:W3CDTF">2026-07-31T01:58:44Z</dcterms:modified>
</cp:coreProperties>
</file>
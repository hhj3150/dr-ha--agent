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3.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4.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A1F"/>
                </a:solidFill>
                <a:latin typeface="Calibri"/>
              </a:defRPr>
            </a:pPr>
            <a:r>
              <a:rPr sz="1300" b="0" i="0" u="none" strike="noStrike">
                <a:solidFill>
                  <a:srgbClr val="1F2A1F"/>
                </a:solidFill>
                <a:latin typeface="Calibri"/>
              </a:rPr>
              <a:t>Korea — average milk yield per cow (kg / year, approximate)</a:t>
            </a:r>
          </a:p>
        </c:rich>
      </c:tx>
      <c:layout/>
      <c:overlay val="0"/>
    </c:title>
    <c:autoTitleDeleted val="0"/>
    <c:plotArea>
      <c:layout/>
      <c:barChart>
        <c:barDir val="col"/>
        <c:grouping val="clustered"/>
        <c:varyColors val="0"/>
        <c:ser>
          <c:idx val="0"/>
          <c:order val="0"/>
          <c:tx>
            <c:strRef>
              <c:f>Sheet1!$B$1</c:f>
              <c:strCache>
                <c:ptCount val="1"/>
                <c:pt idx="0">
                  <c:v>Milk yield per cow (kg/yr, approx.)</c:v>
                </c:pt>
              </c:strCache>
            </c:strRef>
          </c:tx>
          <c:spPr>
            <a:solidFill>
              <a:srgbClr val="2C5F2D"/>
            </a:solidFill>
            <a:effectLst/>
          </c:spPr>
          <c:invertIfNegative val="0"/>
          <c:dLbls>
            <c:numFmt formatCode="#,##0" sourceLinked="0"/>
            <c:txPr>
              <a:bodyPr/>
              <a:lstStyle/>
              <a:p>
                <a:pPr>
                  <a:defRPr b="0" i="0" strike="noStrike" sz="1100" u="none">
                    <a:solidFill>
                      <a:srgbClr val="1F2A1F"/>
                    </a:solidFill>
                    <a:latin typeface="Arial"/>
                  </a:defRPr>
                </a:pPr>
              </a:p>
            </c:txPr>
            <c:showLegendKey val="0"/>
            <c:showVal val="1"/>
            <c:showCatName val="0"/>
            <c:showSerName val="0"/>
            <c:showPercent val="0"/>
            <c:showBubbleSize val="0"/>
            <c:showLeaderLines val="0"/>
          </c:dLbls>
          <c:cat>
            <c:multiLvlStrRef>
              <c:f>Sheet1!$A$2:$A$7</c:f>
              <c:multiLvlStrCache>
                <c:ptCount val="6"/>
                <c:lvl>
                  <c:pt idx="0">
                    <c:v>1970</c:v>
                  </c:pt>
                  <c:pt idx="1">
                    <c:v>1980</c:v>
                  </c:pt>
                  <c:pt idx="2">
                    <c:v>1990</c:v>
                  </c:pt>
                  <c:pt idx="3">
                    <c:v>2000</c:v>
                  </c:pt>
                  <c:pt idx="4">
                    <c:v>2010</c:v>
                  </c:pt>
                  <c:pt idx="5">
                    <c:v>2023</c:v>
                  </c:pt>
                </c:lvl>
              </c:multiLvlStrCache>
            </c:multiLvlStrRef>
          </c:cat>
          <c:val>
            <c:numRef>
              <c:f>Sheet1!$B$2:$B$7</c:f>
              <c:numCache>
                <c:formatCode>General</c:formatCode>
                <c:ptCount val="6"/>
                <c:pt idx="0">
                  <c:v>3000</c:v>
                </c:pt>
                <c:pt idx="1">
                  <c:v>4300</c:v>
                </c:pt>
                <c:pt idx="2">
                  <c:v>5500</c:v>
                </c:pt>
                <c:pt idx="3">
                  <c:v>7800</c:v>
                </c:pt>
                <c:pt idx="4">
                  <c:v>9600</c:v>
                </c:pt>
                <c:pt idx="5">
                  <c:v>10500</c:v>
                </c:pt>
              </c:numCache>
            </c:numRef>
          </c:val>
        </c:ser>
        <c:dLbls>
          <c:numFmt formatCode="#,##0" sourceLinked="0"/>
          <c:txPr>
            <a:bodyPr/>
            <a:lstStyle/>
            <a:p>
              <a:pPr>
                <a:defRPr b="0" i="0" strike="noStrike" sz="1100" u="none">
                  <a:solidFill>
                    <a:srgbClr val="1F2A1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5B"/>
                </a:solidFill>
                <a:latin typeface="Calibri"/>
              </a:defRPr>
            </a:pPr>
            <a:endParaRPr lang="en-US"/>
          </a:p>
        </c:txPr>
        <c:crossAx val="2094734552"/>
        <c:crosses val="autoZero"/>
        <c:auto val="1"/>
        <c:lblAlgn val="ctr"/>
        <c:noMultiLvlLbl val="1"/>
      </c:catAx>
      <c:valAx>
        <c:axId val="2094734552"/>
        <c:scaling>
          <c:orientation val="minMax"/>
          <c:max val="12000"/>
        </c:scaling>
        <c:delete val="0"/>
        <c:axPos val="l"/>
        <c:majorGridlines>
          <c:spPr>
            <a:ln w="6350" cap="flat">
              <a:solidFill>
                <a:srgbClr val="E5EB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5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A1F"/>
                </a:solidFill>
                <a:latin typeface="Calibri"/>
              </a:defRPr>
            </a:pPr>
            <a:r>
              <a:rPr sz="1200" b="0" i="0" u="none" strike="noStrike">
                <a:solidFill>
                  <a:srgbClr val="1F2A1F"/>
                </a:solidFill>
                <a:latin typeface="Calibri"/>
              </a:rPr>
              <a:t>Illustrative 48-hour trace of one cow: activity up, rumination down = heat</a:t>
            </a:r>
          </a:p>
        </c:rich>
      </c:tx>
      <c:layout/>
      <c:overlay val="0"/>
    </c:title>
    <c:autoTitleDeleted val="0"/>
    <c:plotArea>
      <c:layout/>
      <c:lineChart>
        <c:varyColors val="0"/>
        <c:ser>
          <c:idx val="0"/>
          <c:order val="0"/>
          <c:tx>
            <c:strRef>
              <c:f>Sheet1!$B$1</c:f>
              <c:strCache>
                <c:ptCount val="1"/>
                <c:pt idx="0">
                  <c:v>Activity index</c:v>
                </c:pt>
              </c:strCache>
            </c:strRef>
          </c:tx>
          <c:spPr>
            <a:solidFill>
              <a:srgbClr val="2C5F2D"/>
            </a:solidFill>
            <a:ln w="31750" cap="flat">
              <a:solidFill>
                <a:srgbClr val="2C5F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C5F2D"/>
              </a:solidFill>
              <a:ln w="9525" cap="flat">
                <a:solidFill>
                  <a:srgbClr val="2C5F2D"/>
                </a:solidFill>
                <a:prstDash val="solid"/>
                <a:round/>
              </a:ln>
              <a:effectLst/>
            </c:spPr>
          </c:marker>
          <c:cat>
            <c:multiLvlStrRef>
              <c:f>Sheet1!$A$2:$A$25</c:f>
              <c:multiLvlStrCache>
                <c:ptCount val="24"/>
                <c:lvl>
                  <c:pt idx="0">
                    <c:v>0h</c:v>
                  </c:pt>
                  <c:pt idx="1">
                    <c:v/>
                  </c:pt>
                  <c:pt idx="2">
                    <c:v/>
                  </c:pt>
                  <c:pt idx="3">
                    <c:v/>
                  </c:pt>
                  <c:pt idx="4">
                    <c:v/>
                  </c:pt>
                  <c:pt idx="5">
                    <c:v/>
                  </c:pt>
                  <c:pt idx="6">
                    <c:v>12h</c:v>
                  </c:pt>
                  <c:pt idx="7">
                    <c:v/>
                  </c:pt>
                  <c:pt idx="8">
                    <c:v/>
                  </c:pt>
                  <c:pt idx="9">
                    <c:v/>
                  </c:pt>
                  <c:pt idx="10">
                    <c:v/>
                  </c:pt>
                  <c:pt idx="11">
                    <c:v/>
                  </c:pt>
                  <c:pt idx="12">
                    <c:v>24h</c:v>
                  </c:pt>
                  <c:pt idx="13">
                    <c:v/>
                  </c:pt>
                  <c:pt idx="14">
                    <c:v/>
                  </c:pt>
                  <c:pt idx="15">
                    <c:v/>
                  </c:pt>
                  <c:pt idx="16">
                    <c:v/>
                  </c:pt>
                  <c:pt idx="17">
                    <c:v/>
                  </c:pt>
                  <c:pt idx="18">
                    <c:v>36h</c:v>
                  </c:pt>
                  <c:pt idx="19">
                    <c:v/>
                  </c:pt>
                  <c:pt idx="20">
                    <c:v/>
                  </c:pt>
                  <c:pt idx="21">
                    <c:v/>
                  </c:pt>
                  <c:pt idx="22">
                    <c:v/>
                  </c:pt>
                  <c:pt idx="23">
                    <c:v/>
                  </c:pt>
                </c:lvl>
              </c:multiLvlStrCache>
            </c:multiLvlStrRef>
          </c:cat>
          <c:val>
            <c:numRef>
              <c:f>Sheet1!$B$2:$B$25</c:f>
              <c:numCache>
                <c:formatCode>General</c:formatCode>
                <c:ptCount val="24"/>
                <c:pt idx="0">
                  <c:v>40</c:v>
                </c:pt>
                <c:pt idx="1">
                  <c:v>45</c:v>
                </c:pt>
                <c:pt idx="2">
                  <c:v>48</c:v>
                </c:pt>
                <c:pt idx="3">
                  <c:v>47</c:v>
                </c:pt>
                <c:pt idx="4">
                  <c:v>44</c:v>
                </c:pt>
                <c:pt idx="5">
                  <c:v>38</c:v>
                </c:pt>
                <c:pt idx="6">
                  <c:v>34</c:v>
                </c:pt>
                <c:pt idx="7">
                  <c:v>32</c:v>
                </c:pt>
                <c:pt idx="8">
                  <c:v>33</c:v>
                </c:pt>
                <c:pt idx="9">
                  <c:v>38</c:v>
                </c:pt>
                <c:pt idx="10">
                  <c:v>49</c:v>
                </c:pt>
                <c:pt idx="11">
                  <c:v>67</c:v>
                </c:pt>
                <c:pt idx="12">
                  <c:v>91</c:v>
                </c:pt>
                <c:pt idx="13">
                  <c:v>101</c:v>
                </c:pt>
                <c:pt idx="14">
                  <c:v>84</c:v>
                </c:pt>
                <c:pt idx="15">
                  <c:v>56</c:v>
                </c:pt>
                <c:pt idx="16">
                  <c:v>38</c:v>
                </c:pt>
                <c:pt idx="17">
                  <c:v>32</c:v>
                </c:pt>
                <c:pt idx="18">
                  <c:v>36</c:v>
                </c:pt>
                <c:pt idx="19">
                  <c:v>41</c:v>
                </c:pt>
                <c:pt idx="20">
                  <c:v>46</c:v>
                </c:pt>
                <c:pt idx="21">
                  <c:v>48</c:v>
                </c:pt>
                <c:pt idx="22">
                  <c:v>47</c:v>
                </c:pt>
                <c:pt idx="23">
                  <c:v>43</c:v>
                </c:pt>
              </c:numCache>
            </c:numRef>
          </c:val>
          <c:smooth val="0"/>
        </c:ser>
        <c:ser>
          <c:idx val="1"/>
          <c:order val="1"/>
          <c:tx>
            <c:strRef>
              <c:f>Sheet1!$C$1</c:f>
              <c:strCache>
                <c:ptCount val="1"/>
                <c:pt idx="0">
                  <c:v>Rumination (min/day, right)</c:v>
                </c:pt>
              </c:strCache>
            </c:strRef>
          </c:tx>
          <c:spPr>
            <a:solidFill>
              <a:srgbClr val="D9A441"/>
            </a:solidFill>
            <a:ln w="31750" cap="flat">
              <a:solidFill>
                <a:srgbClr val="D9A4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A441"/>
              </a:solidFill>
              <a:ln w="9525" cap="flat">
                <a:solidFill>
                  <a:srgbClr val="D9A441"/>
                </a:solidFill>
                <a:prstDash val="solid"/>
                <a:round/>
              </a:ln>
              <a:effectLst/>
            </c:spPr>
          </c:marker>
          <c:cat>
            <c:multiLvlStrRef>
              <c:f>Sheet1!$A$2:$A$25</c:f>
              <c:multiLvlStrCache>
                <c:ptCount val="24"/>
                <c:lvl>
                  <c:pt idx="0">
                    <c:v>0h</c:v>
                  </c:pt>
                  <c:pt idx="1">
                    <c:v/>
                  </c:pt>
                  <c:pt idx="2">
                    <c:v/>
                  </c:pt>
                  <c:pt idx="3">
                    <c:v/>
                  </c:pt>
                  <c:pt idx="4">
                    <c:v/>
                  </c:pt>
                  <c:pt idx="5">
                    <c:v/>
                  </c:pt>
                  <c:pt idx="6">
                    <c:v>12h</c:v>
                  </c:pt>
                  <c:pt idx="7">
                    <c:v/>
                  </c:pt>
                  <c:pt idx="8">
                    <c:v/>
                  </c:pt>
                  <c:pt idx="9">
                    <c:v/>
                  </c:pt>
                  <c:pt idx="10">
                    <c:v/>
                  </c:pt>
                  <c:pt idx="11">
                    <c:v/>
                  </c:pt>
                  <c:pt idx="12">
                    <c:v>24h</c:v>
                  </c:pt>
                  <c:pt idx="13">
                    <c:v/>
                  </c:pt>
                  <c:pt idx="14">
                    <c:v/>
                  </c:pt>
                  <c:pt idx="15">
                    <c:v/>
                  </c:pt>
                  <c:pt idx="16">
                    <c:v/>
                  </c:pt>
                  <c:pt idx="17">
                    <c:v/>
                  </c:pt>
                  <c:pt idx="18">
                    <c:v>36h</c:v>
                  </c:pt>
                  <c:pt idx="19">
                    <c:v/>
                  </c:pt>
                  <c:pt idx="20">
                    <c:v/>
                  </c:pt>
                  <c:pt idx="21">
                    <c:v/>
                  </c:pt>
                  <c:pt idx="22">
                    <c:v/>
                  </c:pt>
                  <c:pt idx="23">
                    <c:v/>
                  </c:pt>
                </c:lvl>
              </c:multiLvlStrCache>
            </c:multiLvlStrRef>
          </c:cat>
          <c:val>
            <c:numRef>
              <c:f>Sheet1!$C$2:$C$25</c:f>
              <c:numCache>
                <c:formatCode>General</c:formatCode>
                <c:ptCount val="24"/>
                <c:pt idx="0">
                  <c:v>490</c:v>
                </c:pt>
                <c:pt idx="1">
                  <c:v>489</c:v>
                </c:pt>
                <c:pt idx="2">
                  <c:v>485</c:v>
                </c:pt>
                <c:pt idx="3">
                  <c:v>481</c:v>
                </c:pt>
                <c:pt idx="4">
                  <c:v>476</c:v>
                </c:pt>
                <c:pt idx="5">
                  <c:v>472</c:v>
                </c:pt>
                <c:pt idx="6">
                  <c:v>470</c:v>
                </c:pt>
                <c:pt idx="7">
                  <c:v>471</c:v>
                </c:pt>
                <c:pt idx="8">
                  <c:v>473</c:v>
                </c:pt>
                <c:pt idx="9">
                  <c:v>478</c:v>
                </c:pt>
                <c:pt idx="10">
                  <c:v>467</c:v>
                </c:pt>
                <c:pt idx="11">
                  <c:v>432</c:v>
                </c:pt>
                <c:pt idx="12">
                  <c:v>373</c:v>
                </c:pt>
                <c:pt idx="13">
                  <c:v>340</c:v>
                </c:pt>
                <c:pt idx="14">
                  <c:v>371</c:v>
                </c:pt>
                <c:pt idx="15">
                  <c:v>428</c:v>
                </c:pt>
                <c:pt idx="16">
                  <c:v>463</c:v>
                </c:pt>
                <c:pt idx="17">
                  <c:v>474</c:v>
                </c:pt>
                <c:pt idx="18">
                  <c:v>471</c:v>
                </c:pt>
                <c:pt idx="19">
                  <c:v>470</c:v>
                </c:pt>
                <c:pt idx="20">
                  <c:v>472</c:v>
                </c:pt>
                <c:pt idx="21">
                  <c:v>475</c:v>
                </c:pt>
                <c:pt idx="22">
                  <c:v>480</c:v>
                </c:pt>
                <c:pt idx="23">
                  <c:v>485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5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B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5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A1F"/>
                </a:solidFill>
                <a:latin typeface="Calibri"/>
              </a:defRPr>
            </a:pPr>
            <a:r>
              <a:rPr sz="1200" b="0" i="0" u="none" strike="noStrike">
                <a:solidFill>
                  <a:srgbClr val="1F2A1F"/>
                </a:solidFill>
                <a:latin typeface="Calibri"/>
              </a:rPr>
              <a:t>Illustrative: temperature drop before calving (0 h), then a fever rising from +48 h (metritis)</a:t>
            </a:r>
          </a:p>
        </c:rich>
      </c:tx>
      <c:layout/>
      <c:overlay val="0"/>
    </c:title>
    <c:autoTitleDeleted val="0"/>
    <c:plotArea>
      <c:layout/>
      <c:lineChart>
        <c:varyColors val="0"/>
        <c:ser>
          <c:idx val="0"/>
          <c:order val="0"/>
          <c:tx>
            <c:strRef>
              <c:f>Sheet1!$B$1</c:f>
              <c:strCache>
                <c:ptCount val="1"/>
                <c:pt idx="0">
                  <c:v>Core temperature °C</c:v>
                </c:pt>
              </c:strCache>
            </c:strRef>
          </c:tx>
          <c:spPr>
            <a:solidFill>
              <a:srgbClr val="B85042"/>
            </a:solidFill>
            <a:ln w="31750" cap="flat">
              <a:solidFill>
                <a:srgbClr val="B850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85042"/>
              </a:solidFill>
              <a:ln w="9525" cap="flat">
                <a:solidFill>
                  <a:srgbClr val="B85042"/>
                </a:solidFill>
                <a:prstDash val="solid"/>
                <a:round/>
              </a:ln>
              <a:effectLst/>
            </c:spPr>
          </c:marker>
          <c:cat>
            <c:multiLvlStrRef>
              <c:f>Sheet1!$A$2:$A$26</c:f>
              <c:multiLvlStrCache>
                <c:ptCount val="25"/>
                <c:lvl>
                  <c:pt idx="0">
                    <c:v>-72h</c:v>
                  </c:pt>
                  <c:pt idx="1">
                    <c:v/>
                  </c:pt>
                  <c:pt idx="2">
                    <c:v/>
                  </c:pt>
                  <c:pt idx="3">
                    <c:v/>
                  </c:pt>
                  <c:pt idx="4">
                    <c:v>-48h</c:v>
                  </c:pt>
                  <c:pt idx="5">
                    <c:v/>
                  </c:pt>
                  <c:pt idx="6">
                    <c:v/>
                  </c:pt>
                  <c:pt idx="7">
                    <c:v/>
                  </c:pt>
                  <c:pt idx="8">
                    <c:v>-24h</c:v>
                  </c:pt>
                  <c:pt idx="9">
                    <c:v/>
                  </c:pt>
                  <c:pt idx="10">
                    <c:v/>
                  </c:pt>
                  <c:pt idx="11">
                    <c:v/>
                  </c:pt>
                  <c:pt idx="12">
                    <c:v>0h</c:v>
                  </c:pt>
                  <c:pt idx="13">
                    <c:v/>
                  </c:pt>
                  <c:pt idx="14">
                    <c:v/>
                  </c:pt>
                  <c:pt idx="15">
                    <c:v/>
                  </c:pt>
                  <c:pt idx="16">
                    <c:v>24h</c:v>
                  </c:pt>
                  <c:pt idx="17">
                    <c:v/>
                  </c:pt>
                  <c:pt idx="18">
                    <c:v/>
                  </c:pt>
                  <c:pt idx="19">
                    <c:v/>
                  </c:pt>
                  <c:pt idx="20">
                    <c:v>48h</c:v>
                  </c:pt>
                  <c:pt idx="21">
                    <c:v/>
                  </c:pt>
                  <c:pt idx="22">
                    <c:v/>
                  </c:pt>
                  <c:pt idx="23">
                    <c:v/>
                  </c:pt>
                  <c:pt idx="24">
                    <c:v>72h</c:v>
                  </c:pt>
                </c:lvl>
              </c:multiLvlStrCache>
            </c:multiLvlStrRef>
          </c:cat>
          <c:val>
            <c:numRef>
              <c:f>Sheet1!$B$2:$B$26</c:f>
              <c:numCache>
                <c:formatCode>General</c:formatCode>
                <c:ptCount val="25"/>
                <c:pt idx="0">
                  <c:v>38.62</c:v>
                </c:pt>
                <c:pt idx="1">
                  <c:v>38.65</c:v>
                </c:pt>
                <c:pt idx="2">
                  <c:v>38.74</c:v>
                </c:pt>
                <c:pt idx="3">
                  <c:v>38.78</c:v>
                </c:pt>
                <c:pt idx="4">
                  <c:v>38.71</c:v>
                </c:pt>
                <c:pt idx="5">
                  <c:v>38.63</c:v>
                </c:pt>
                <c:pt idx="6">
                  <c:v>38.64</c:v>
                </c:pt>
                <c:pt idx="7">
                  <c:v>38.29</c:v>
                </c:pt>
                <c:pt idx="8">
                  <c:v>38.37</c:v>
                </c:pt>
                <c:pt idx="9">
                  <c:v>38.36</c:v>
                </c:pt>
                <c:pt idx="10">
                  <c:v>38.33</c:v>
                </c:pt>
                <c:pt idx="11">
                  <c:v>38.42</c:v>
                </c:pt>
                <c:pt idx="12">
                  <c:v>38.7</c:v>
                </c:pt>
                <c:pt idx="13">
                  <c:v>38.92</c:v>
                </c:pt>
                <c:pt idx="14">
                  <c:v>38.9</c:v>
                </c:pt>
                <c:pt idx="15">
                  <c:v>38.81</c:v>
                </c:pt>
                <c:pt idx="16">
                  <c:v>38.62</c:v>
                </c:pt>
                <c:pt idx="17">
                  <c:v>38.68</c:v>
                </c:pt>
                <c:pt idx="18">
                  <c:v>38.76</c:v>
                </c:pt>
                <c:pt idx="19">
                  <c:v>38.77</c:v>
                </c:pt>
                <c:pt idx="20">
                  <c:v>39.29</c:v>
                </c:pt>
                <c:pt idx="21">
                  <c:v>39.22</c:v>
                </c:pt>
                <c:pt idx="22">
                  <c:v>39.26</c:v>
                </c:pt>
                <c:pt idx="23">
                  <c:v>39.35</c:v>
                </c:pt>
                <c:pt idx="24">
                  <c:v>39.38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5B"/>
                </a:solidFill>
                <a:latin typeface="Calibri"/>
              </a:defRPr>
            </a:pPr>
            <a:endParaRPr lang="en-US"/>
          </a:p>
        </c:txPr>
        <c:crossAx val="2094734552"/>
        <c:crosses val="autoZero"/>
        <c:auto val="1"/>
        <c:lblAlgn val="ctr"/>
        <c:noMultiLvlLbl val="1"/>
      </c:catAx>
      <c:valAx>
        <c:axId val="2094734552"/>
        <c:scaling>
          <c:orientation val="minMax"/>
          <c:max val="39.8"/>
          <c:min val="37.8"/>
        </c:scaling>
        <c:delete val="0"/>
        <c:axPos val="l"/>
        <c:majorGridlines>
          <c:spPr>
            <a:ln w="6350" cap="flat">
              <a:solidFill>
                <a:srgbClr val="E5EB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5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A1F"/>
                </a:solidFill>
                <a:latin typeface="Calibri"/>
              </a:defRPr>
            </a:pPr>
            <a:r>
              <a:rPr sz="1200" b="0" i="0" u="none" strike="noStrike">
                <a:solidFill>
                  <a:srgbClr val="1F2A1F"/>
                </a:solidFill>
                <a:latin typeface="Calibri"/>
              </a:rPr>
              <a:t>Illustrative milk yield (kg/day) after calving — the earlier the treatment, the smaller the loss</a:t>
            </a:r>
          </a:p>
        </c:rich>
      </c:tx>
      <c:layout/>
      <c:overlay val="0"/>
    </c:title>
    <c:autoTitleDeleted val="0"/>
    <c:plotArea>
      <c:layout/>
      <c:lineChart>
        <c:varyColors val="0"/>
        <c:ser>
          <c:idx val="0"/>
          <c:order val="0"/>
          <c:tx>
            <c:strRef>
              <c:f>Sheet1!$B$1</c:f>
              <c:strCache>
                <c:ptCount val="1"/>
                <c:pt idx="0">
                  <c:v>Healthy cow</c:v>
                </c:pt>
              </c:strCache>
            </c:strRef>
          </c:tx>
          <c:spPr>
            <a:solidFill>
              <a:srgbClr val="2C5F2D"/>
            </a:solidFill>
            <a:ln w="31750" cap="flat">
              <a:solidFill>
                <a:srgbClr val="2C5F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C5F2D"/>
              </a:solidFill>
              <a:ln w="9525" cap="flat">
                <a:solidFill>
                  <a:srgbClr val="2C5F2D"/>
                </a:solidFill>
                <a:prstDash val="solid"/>
                <a:round/>
              </a:ln>
              <a:effectLst/>
            </c:spPr>
          </c:marker>
          <c:cat>
            <c:multiLvlStrRef>
              <c:f>Sheet1!$A$2:$A$21</c:f>
              <c:multiLvlStrCache>
                <c:ptCount val="20"/>
                <c:lvl>
                  <c:pt idx="0">
                    <c:v>wk 1</c:v>
                  </c:pt>
                  <c:pt idx="1">
                    <c:v>wk 2</c:v>
                  </c:pt>
                  <c:pt idx="2">
                    <c:v>wk 3</c:v>
                  </c:pt>
                  <c:pt idx="3">
                    <c:v>wk 4</c:v>
                  </c:pt>
                  <c:pt idx="4">
                    <c:v>wk 5</c:v>
                  </c:pt>
                  <c:pt idx="5">
                    <c:v>wk 6</c:v>
                  </c:pt>
                  <c:pt idx="6">
                    <c:v>wk 7</c:v>
                  </c:pt>
                  <c:pt idx="7">
                    <c:v>wk 8</c:v>
                  </c:pt>
                  <c:pt idx="8">
                    <c:v>wk 9</c:v>
                  </c:pt>
                  <c:pt idx="9">
                    <c:v>wk 10</c:v>
                  </c:pt>
                  <c:pt idx="10">
                    <c:v>wk 11</c:v>
                  </c:pt>
                  <c:pt idx="11">
                    <c:v>wk 12</c:v>
                  </c:pt>
                  <c:pt idx="12">
                    <c:v>wk 13</c:v>
                  </c:pt>
                  <c:pt idx="13">
                    <c:v>wk 14</c:v>
                  </c:pt>
                  <c:pt idx="14">
                    <c:v>wk 15</c:v>
                  </c:pt>
                  <c:pt idx="15">
                    <c:v>wk 16</c:v>
                  </c:pt>
                  <c:pt idx="16">
                    <c:v>wk 17</c:v>
                  </c:pt>
                  <c:pt idx="17">
                    <c:v>wk 18</c:v>
                  </c:pt>
                  <c:pt idx="18">
                    <c:v>wk 19</c:v>
                  </c:pt>
                  <c:pt idx="19">
                    <c:v>wk 20</c:v>
                  </c:pt>
                </c:lvl>
              </c:multiLvlStrCache>
            </c:multiLvlStrRef>
          </c:cat>
          <c:val>
            <c:numRef>
              <c:f>Sheet1!$B$2:$B$21</c:f>
              <c:numCache>
                <c:formatCode>General</c:formatCode>
                <c:ptCount val="20"/>
                <c:pt idx="0">
                  <c:v>31</c:v>
                </c:pt>
                <c:pt idx="1">
                  <c:v>32</c:v>
                </c:pt>
                <c:pt idx="2">
                  <c:v>33</c:v>
                </c:pt>
                <c:pt idx="3">
                  <c:v>33</c:v>
                </c:pt>
                <c:pt idx="4">
                  <c:v>34</c:v>
                </c:pt>
                <c:pt idx="5">
                  <c:v>35</c:v>
                </c:pt>
                <c:pt idx="6">
                  <c:v>35</c:v>
                </c:pt>
                <c:pt idx="7">
                  <c:v>34</c:v>
                </c:pt>
                <c:pt idx="8">
                  <c:v>33</c:v>
                </c:pt>
                <c:pt idx="9">
                  <c:v>32</c:v>
                </c:pt>
                <c:pt idx="10">
                  <c:v>31</c:v>
                </c:pt>
                <c:pt idx="11">
                  <c:v>29</c:v>
                </c:pt>
                <c:pt idx="12">
                  <c:v>28</c:v>
                </c:pt>
                <c:pt idx="13">
                  <c:v>27</c:v>
                </c:pt>
                <c:pt idx="14">
                  <c:v>26</c:v>
                </c:pt>
                <c:pt idx="15">
                  <c:v>25</c:v>
                </c:pt>
                <c:pt idx="16">
                  <c:v>24</c:v>
                </c:pt>
                <c:pt idx="17">
                  <c:v>24</c:v>
                </c:pt>
                <c:pt idx="18">
                  <c:v>24</c:v>
                </c:pt>
                <c:pt idx="19">
                  <c:v>23</c:v>
                </c:pt>
              </c:numCache>
            </c:numRef>
          </c:val>
          <c:smooth val="0"/>
        </c:ser>
        <c:ser>
          <c:idx val="1"/>
          <c:order val="1"/>
          <c:tx>
            <c:strRef>
              <c:f>Sheet1!$C$1</c:f>
              <c:strCache>
                <c:ptCount val="1"/>
                <c:pt idx="0">
                  <c:v>Mastitis found early by sensor alert (wk 5)</c:v>
                </c:pt>
              </c:strCache>
            </c:strRef>
          </c:tx>
          <c:spPr>
            <a:solidFill>
              <a:srgbClr val="D9A441"/>
            </a:solidFill>
            <a:ln w="31750" cap="flat">
              <a:solidFill>
                <a:srgbClr val="D9A4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A441"/>
              </a:solidFill>
              <a:ln w="9525" cap="flat">
                <a:solidFill>
                  <a:srgbClr val="D9A441"/>
                </a:solidFill>
                <a:prstDash val="solid"/>
                <a:round/>
              </a:ln>
              <a:effectLst/>
            </c:spPr>
          </c:marker>
          <c:cat>
            <c:multiLvlStrRef>
              <c:f>Sheet1!$A$2:$A$21</c:f>
              <c:multiLvlStrCache>
                <c:ptCount val="20"/>
                <c:lvl>
                  <c:pt idx="0">
                    <c:v>wk 1</c:v>
                  </c:pt>
                  <c:pt idx="1">
                    <c:v>wk 2</c:v>
                  </c:pt>
                  <c:pt idx="2">
                    <c:v>wk 3</c:v>
                  </c:pt>
                  <c:pt idx="3">
                    <c:v>wk 4</c:v>
                  </c:pt>
                  <c:pt idx="4">
                    <c:v>wk 5</c:v>
                  </c:pt>
                  <c:pt idx="5">
                    <c:v>wk 6</c:v>
                  </c:pt>
                  <c:pt idx="6">
                    <c:v>wk 7</c:v>
                  </c:pt>
                  <c:pt idx="7">
                    <c:v>wk 8</c:v>
                  </c:pt>
                  <c:pt idx="8">
                    <c:v>wk 9</c:v>
                  </c:pt>
                  <c:pt idx="9">
                    <c:v>wk 10</c:v>
                  </c:pt>
                  <c:pt idx="10">
                    <c:v>wk 11</c:v>
                  </c:pt>
                  <c:pt idx="11">
                    <c:v>wk 12</c:v>
                  </c:pt>
                  <c:pt idx="12">
                    <c:v>wk 13</c:v>
                  </c:pt>
                  <c:pt idx="13">
                    <c:v>wk 14</c:v>
                  </c:pt>
                  <c:pt idx="14">
                    <c:v>wk 15</c:v>
                  </c:pt>
                  <c:pt idx="15">
                    <c:v>wk 16</c:v>
                  </c:pt>
                  <c:pt idx="16">
                    <c:v>wk 17</c:v>
                  </c:pt>
                  <c:pt idx="17">
                    <c:v>wk 18</c:v>
                  </c:pt>
                  <c:pt idx="18">
                    <c:v>wk 19</c:v>
                  </c:pt>
                  <c:pt idx="19">
                    <c:v>wk 20</c:v>
                  </c:pt>
                </c:lvl>
              </c:multiLvlStrCache>
            </c:multiLvlStrRef>
          </c:cat>
          <c:val>
            <c:numRef>
              <c:f>Sheet1!$C$2:$C$21</c:f>
              <c:numCache>
                <c:formatCode>General</c:formatCode>
                <c:ptCount val="20"/>
                <c:pt idx="0">
                  <c:v>30</c:v>
                </c:pt>
                <c:pt idx="1">
                  <c:v>31</c:v>
                </c:pt>
                <c:pt idx="2">
                  <c:v>32</c:v>
                </c:pt>
                <c:pt idx="3">
                  <c:v>32</c:v>
                </c:pt>
                <c:pt idx="4">
                  <c:v>31</c:v>
                </c:pt>
                <c:pt idx="5">
                  <c:v>30</c:v>
                </c:pt>
                <c:pt idx="6">
                  <c:v>32</c:v>
                </c:pt>
                <c:pt idx="7">
                  <c:v>31</c:v>
                </c:pt>
                <c:pt idx="8">
                  <c:v>32</c:v>
                </c:pt>
                <c:pt idx="9">
                  <c:v>31</c:v>
                </c:pt>
                <c:pt idx="10">
                  <c:v>30</c:v>
                </c:pt>
                <c:pt idx="11">
                  <c:v>28</c:v>
                </c:pt>
                <c:pt idx="12">
                  <c:v>27</c:v>
                </c:pt>
                <c:pt idx="13">
                  <c:v>26</c:v>
                </c:pt>
                <c:pt idx="14">
                  <c:v>25</c:v>
                </c:pt>
                <c:pt idx="15">
                  <c:v>24</c:v>
                </c:pt>
                <c:pt idx="16">
                  <c:v>23</c:v>
                </c:pt>
                <c:pt idx="17">
                  <c:v>23</c:v>
                </c:pt>
                <c:pt idx="18">
                  <c:v>23</c:v>
                </c:pt>
                <c:pt idx="19">
                  <c:v>22</c:v>
                </c:pt>
              </c:numCache>
            </c:numRef>
          </c:val>
          <c:smooth val="0"/>
        </c:ser>
        <c:ser>
          <c:idx val="2"/>
          <c:order val="2"/>
          <c:tx>
            <c:strRef>
              <c:f>Sheet1!$D$1</c:f>
              <c:strCache>
                <c:ptCount val="1"/>
                <c:pt idx="0">
                  <c:v>Mastitis found late by milk changes (wk 6–7)</c:v>
                </c:pt>
              </c:strCache>
            </c:strRef>
          </c:tx>
          <c:spPr>
            <a:solidFill>
              <a:srgbClr val="B85042"/>
            </a:solidFill>
            <a:ln w="31750" cap="flat">
              <a:solidFill>
                <a:srgbClr val="B850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85042"/>
              </a:solidFill>
              <a:ln w="9525" cap="flat">
                <a:solidFill>
                  <a:srgbClr val="B85042"/>
                </a:solidFill>
                <a:prstDash val="solid"/>
                <a:round/>
              </a:ln>
              <a:effectLst/>
            </c:spPr>
          </c:marker>
          <c:cat>
            <c:multiLvlStrRef>
              <c:f>Sheet1!$A$2:$A$21</c:f>
              <c:multiLvlStrCache>
                <c:ptCount val="20"/>
                <c:lvl>
                  <c:pt idx="0">
                    <c:v>wk 1</c:v>
                  </c:pt>
                  <c:pt idx="1">
                    <c:v>wk 2</c:v>
                  </c:pt>
                  <c:pt idx="2">
                    <c:v>wk 3</c:v>
                  </c:pt>
                  <c:pt idx="3">
                    <c:v>wk 4</c:v>
                  </c:pt>
                  <c:pt idx="4">
                    <c:v>wk 5</c:v>
                  </c:pt>
                  <c:pt idx="5">
                    <c:v>wk 6</c:v>
                  </c:pt>
                  <c:pt idx="6">
                    <c:v>wk 7</c:v>
                  </c:pt>
                  <c:pt idx="7">
                    <c:v>wk 8</c:v>
                  </c:pt>
                  <c:pt idx="8">
                    <c:v>wk 9</c:v>
                  </c:pt>
                  <c:pt idx="9">
                    <c:v>wk 10</c:v>
                  </c:pt>
                  <c:pt idx="10">
                    <c:v>wk 11</c:v>
                  </c:pt>
                  <c:pt idx="11">
                    <c:v>wk 12</c:v>
                  </c:pt>
                  <c:pt idx="12">
                    <c:v>wk 13</c:v>
                  </c:pt>
                  <c:pt idx="13">
                    <c:v>wk 14</c:v>
                  </c:pt>
                  <c:pt idx="14">
                    <c:v>wk 15</c:v>
                  </c:pt>
                  <c:pt idx="15">
                    <c:v>wk 16</c:v>
                  </c:pt>
                  <c:pt idx="16">
                    <c:v>wk 17</c:v>
                  </c:pt>
                  <c:pt idx="17">
                    <c:v>wk 18</c:v>
                  </c:pt>
                  <c:pt idx="18">
                    <c:v>wk 19</c:v>
                  </c:pt>
                  <c:pt idx="19">
                    <c:v>wk 20</c:v>
                  </c:pt>
                </c:lvl>
              </c:multiLvlStrCache>
            </c:multiLvlStrRef>
          </c:cat>
          <c:val>
            <c:numRef>
              <c:f>Sheet1!$D$2:$D$21</c:f>
              <c:numCache>
                <c:formatCode>General</c:formatCode>
                <c:ptCount val="20"/>
                <c:pt idx="0">
                  <c:v>31</c:v>
                </c:pt>
                <c:pt idx="1">
                  <c:v>32</c:v>
                </c:pt>
                <c:pt idx="2">
                  <c:v>33</c:v>
                </c:pt>
                <c:pt idx="3">
                  <c:v>33</c:v>
                </c:pt>
                <c:pt idx="4">
                  <c:v>24</c:v>
                </c:pt>
                <c:pt idx="5">
                  <c:v>25</c:v>
                </c:pt>
                <c:pt idx="6">
                  <c:v>25</c:v>
                </c:pt>
                <c:pt idx="7">
                  <c:v>24</c:v>
                </c:pt>
                <c:pt idx="8">
                  <c:v>23</c:v>
                </c:pt>
                <c:pt idx="9">
                  <c:v>25</c:v>
                </c:pt>
                <c:pt idx="10">
                  <c:v>24</c:v>
                </c:pt>
                <c:pt idx="11">
                  <c:v>22</c:v>
                </c:pt>
                <c:pt idx="12">
                  <c:v>21</c:v>
                </c:pt>
                <c:pt idx="13">
                  <c:v>20</c:v>
                </c:pt>
                <c:pt idx="14">
                  <c:v>19</c:v>
                </c:pt>
                <c:pt idx="15">
                  <c:v>18</c:v>
                </c:pt>
                <c:pt idx="16">
                  <c:v>17</c:v>
                </c:pt>
                <c:pt idx="17">
                  <c:v>17</c:v>
                </c:pt>
                <c:pt idx="18">
                  <c:v>17</c:v>
                </c:pt>
                <c:pt idx="19">
                  <c:v>16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5B"/>
                </a:solidFill>
                <a:latin typeface="Calibri"/>
              </a:defRPr>
            </a:pPr>
            <a:endParaRPr lang="en-US"/>
          </a:p>
        </c:txPr>
        <c:crossAx val="2094734552"/>
        <c:crosses val="autoZero"/>
        <c:auto val="1"/>
        <c:lblAlgn val="ctr"/>
        <c:noMultiLvlLbl val="1"/>
      </c:catAx>
      <c:valAx>
        <c:axId val="2094734552"/>
        <c:scaling>
          <c:orientation val="minMax"/>
          <c:min val="10"/>
        </c:scaling>
        <c:delete val="0"/>
        <c:axPos val="l"/>
        <c:majorGridlines>
          <c:spPr>
            <a:ln w="6350" cap="flat">
              <a:solidFill>
                <a:srgbClr val="E5EB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5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인사 및 강의 목적: 번식·건강·기록을 센서 데이터로 연결하는 것이 오늘의 주제. 한국 현장 경험 기반.
Welcome. Today we connect three things every dairy technician handles daily — reproduction, health, and records — and show how sensor data makes each one faster and more accurate. Everything I show comes from farms I manage in Korea; the Philippine numbers are your own to build through the NDHIP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강사 소개 + 송영신목장 = 현장 검증 테스트베드.
I am a veterinarian first, a farmer second, and a company CEO third. Every technique in this lecture I have used with my own hands on my own cows. Song Young Shin Farm is a 120-head Jersey/Holstein farm one hour south of Seoul. It runs robots, sensors and a compost-bedded barn, and was the first farm in Korea certified for both animal welfare and low-carbon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오전 강의 4모듈 + 오후 실습. 모듈1·2는 기존 KOICA 커리큘럼, 모듈3이 NDHIS 연결 디지털 파트.
Four lecture modules in the morning and early afternoon, then hands-on stations. Modules 1 and 2 follow the KOICA dairy-farmer curriculum I teach in Korea; Module 3 is the digital layer that connects everything to the National Dairy Herd Improvement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1969 한독목장 = 한국판 PCC. 사람→기술→기록 순서. NDHIP도 동일 경로.
The Anseong demonstration farm — where my own farm now buys its forage — was Korea’s PCC of its day: a place where farmers learned, technicians trained, and imported genetics were adapted. Its model was: train people first, bring technology second, build records third. NDHIP is doing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한국 두당 산유량 3배 증가 — 유전 + 번식·건강·기록관리의 결과. 청중 농장 현황 질문.
Yield per cow in Korea more than tripled. Genetics alone did not do this: the big jumps came when reproduction management, mastitis control and DHI record-keeping were adopted farm by farm. Ask the audience where their farms sit today and what their yield target is for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순서가 중요: 개체식별→기록→번식·건강 관리→센서.
Order matters. Sensors on a herd without IDs and records produce noise. NDHIS gives you the IDs and records; this training gives you the reproduction and health decisions; the bolus pilot gives you the sensors. Keep that sequence in mind for the whole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번식 = 경영의 엔진. 사슬에서 가장 약한 고리 = 발정 발견.
Ask: how many of your farms know their calving interval? Most losses are silent — the cow that was in heat at 2 a.m. and nobody saw. Everything in this module attacks one link of this chain; Module 3 shows how sensors attack the weakest link, heat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발정주기 21일 시계. 관리 규칙 전부 여기서 도출. 물소는 미약·야간·계절성.
Keep the physiology short: one 21-day clock, heat at day 0, ovulation about a day later, then two weeks of progesterone. Every management rule — waiting period, observation times, pregnancy-check date — is derived from this clock. For buffalo emphasise weaker, nocturnal, seasonal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승가허용이 유일한 확정 징후. 물소는 야간·짧음 → 보조도구/센서 필요.
Standing heat is the only definitive sign; everything else is a hint. In buffalo the standing phase is short and often at night, so mucus and tail paint become your main tools — until the bolus does it for you. Introduce synchronisation as the fallback when detection is structurally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AI 적기 8–16h. 정액 취급 = 생명체. 센서는 발정 시작 시각을 알려줘 타이밍을 정확히.
Two messages: the window is 8–16 hours after onset, and semen is alive — treat it like a patient. Timed-AI programmes exist, but for smallholders the AM/PM rule plus a reliable heat signal is the most cost-effective route. Note that sensor alerts report the onset time, which is what makes the timing precise.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임신진단의 가치 = 공태우를 30일 빨리 발견. 초음파 28–30일 루틴화.
The value of pregnancy diagnosis is not the pregnant cow — it is the open cow found 30 days earlier. Ultrasound at day 28–30 should become a routine technician skill; we will practise it this afternoon. Buffalo: same principle, gentler palpation.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분만: 너무 늦은 개입이 송아지 손실, 너무 이른/잘못된 견인이 어미 손상. 시간 기준 제시.
Most calf losses come from waiting too long, and most damage to cows from pulling too early or wrongly. Give the audience the clock: 30 minutes without progress after the water bag means examine; two hours of stage 2 means help. Buffalo tend to calve at night — again an argument for calving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초유 4Q. Brix 굴절계로 수치화. 물소 송아지는 양 축소, 시간은 동일.
The 4 Qs of colostrum are the cheapest technology in dairy. A Brix refractometer costs almost nothing and turns “I think it was good colostrum” into a number. For buffalo calves, scale the volume down but keep the timing. Every calf treatment goes into iHealth.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유전 도구 = 관리의 승수. 홀스타인 성감별 수정란 수출 패키지 언급 가능 (한우 제외).
Genetics is a multiplier, not a substitute for management: sexed semen and embryos only pay when heat detection, AI timing and recipient health are in place. Korea has exported sexed Holstein embryos to Central Asia with the Rural Development Administration; the same package — embryos plus technician training plus digital follow-up — is possible for Philippine dairy cattle. Do not discuss Hanwoo genetics; it is not exportable.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번식 KPI 7개. NDHIS 입력만 되면 자동 계산. 발정발견율부터 개선.
These seven numbers are the reproduction dashboard. NDHIS can compute all of them if the events are entered: heat, AI, PD, calving, calf death. Buffalo targets are indicative — establish them from PCC data in year one of the pilot. Repeat: fix heat detection rate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이행기 질병의 뿌리 = 채식 저하. 유열·케토시스 인지. 센서가 며칠 먼저 감지.
Most fresh-cow disease has one root: the cow stopped eating. Show the cascade and then the two metabolic diseases every technician must recognise. Sensors matter here because rumination and temperature fall days before a person notices the cow is off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유방염 = 전염성(착유위생) vs 환경성(깔짚·건유기). 열대 소규모 농가는 환경성 우세.
Split mastitis into two enemies with two strategies. Contagious mastitis is a milking-parlour problem; environmental mastitis is a housing and dry-period problem. Ask the audience which one dominates in their farms — in tropical smallholder conditions it is usually environmental.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CMT 4단계. 치료는 등급별. 휴약기간 강조. 항생제 감소 수치는 제조사 보고로 표기.
CMT is the practicum this afternoon. The treatment table is deliberately conservative: mild cases often need no antibiotic, severe cases need the vet immediately. Emphasise withdrawal periods — milk residues will close a market faster than any disease. The antibiotic-reduction figure is a manufacturer report from smaXtec users; frame it as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착유 루틴 10단계. 가장 자주 생략되는 단계 = 건조·후침지.
Walk through the routine as a demonstration, not a list. The two most skipped steps everywhere in the world are drying the teat and post-dipping. For hand-milked buffalo the routine is shorter but the logic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열스트레스 = 필리핀 상시 조건. 번식이 첫 희생. 그늘→물→송풍→급이시간.
In Korea heat stress is a summer problem; in the Philippines it is the baseline. Fertility is the first casualty, then milk. The practical hierarchy is shade → water → air movement → feeding time. The bolus shows heat stress animal by animal, so mitigation can be targeted and its effect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방역 3축. 백신 프로그램은 DA-BAI/PCC 기준. 센서: 군 전체 체온 상승 = 전염병 조기 신호.
Three boxes: keep it out, keep it in, and the programme. The specific vaccination schedule belongs to DA-BAI and PCC — I show the structure, they own the content. The sensor link: a herd-wide temperature rise across many animals is often the first sign of an infectious outbreak, and it also shows the expected reaction after vaccination.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기록 최소세트 + 약품 사용 7원칙. 모듈3으로 넘어가는 다리.
This slide is the bridge to Module 3. Sensors generate alerts; records turn alerts into a herd history that can be analysed. The drug rules are the same in every country; the withdrawal rule is the one that protects the milk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센서의 질문 = 구조적으로 놓치는 관찰이 무엇인가. 5개 연속 파라미터.
The question is not “sensor or no sensor” but “which observations are we structurally missing?” For smallholder buffalo it is night heat and early illness. Five continuous parameters answer most of it. I run 90 of these sensors on my own cows; my night worker is now a phone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센서 비교. 볼러스 = 체온·반추 직접 측정, 물소 진흙목욕에 영향 없음. 임계값은 현지 보정 필요.
Be fair to the alternatives. Collars and ear tags work and are cheaper; they measure activity well and infer rumination. The bolus is the only device that measures core temperature and rumination directly, and the only one indifferent to mud, water and wallowing — the practical argument for buffalo. Thresholds still need local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볼러스 작동 4단계. 반추 = 제2위 수축 3회 vs 2회 카운트. 사양은 제조사 자료.
Four boxes: bolus, base station, cloud, phone. The physiological trick is the reticulum: three contractions during rumination, two otherwise — the bolus counts them. I will show the applicator and a bolus at the practicum station. Specifications are the manufacturer’s.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알람 3군. 성능 수치는 제조사·사용자 보고, 필리핀 파일럿에서 검증 대상.
Three families of alerts. In practice a technician looks at a short daily list: animals to inseminate, animals to check, animals to move to the calving pen. The disclaimer at the bottom matters — these are reported figures from cattle; buffalo and Philippine conditions need their own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발정 알람 사례. 곡선 읽기: 활동↑ 반추↓. 시작 시각 → AI 타이밍. 물소에 가장 가치 큰 알람.
Read the curve: activity climbs, rumination falls, temperature (not shown) rises slightly. The alert gives the onset time — that is what fixes AI timing. For buffalo this is the single most valuable alert because it catches the night heat nobody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분만 전 체온 하강 알람 + 분만 후 체온 상승 감시. 신선우 관리 대체.
Two uses of one sensor: the temperature drop before calving gives the warning; the temperature rise after calving gives the fresh-cow watch. On my farm the fresh-cow list on the phone replaced the morning walk with a thermometer.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센서는 진단이 아니라 "오늘 CMT할 소"를 알려줌. 경제성은 곡선 안에.
The sensor does not diagnose mastitis; it tells you which cow to CMT this morning. The economics live in the curve: the cow found late never regains her peak. This is also where antibiotic reduction comes from — early cases are treated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개체 알람 = 소 관리, 군 패턴 = 농장·지역 관리. 지역 대시보드 = 방역 조기경보.
Individual alerts manage cows; herd-level patterns manage the farm and — for PCC — the region. A regional dashboard that sees a temperature cluster in one municipality is an early-warning system for animal health authorities. That is the government-scale value of the same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알람→행동→기록 루프. "기록"에서 끊기면 실패. 역할 정의.
Technology fails when the loop breaks at “Record”. In Korea the farms that gained most were not the ones with the best sensors but the ones whose technician closed the loop every day. Define the roles clearly in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NDHIS = 기록 원본. 센서 클라우드는 API로 연결. CowTalk AI 구조 소개.
Do not build a second herd system for the sensors. NDHIS remains the system of record; the sensor cloud feeds it through an API; iHealth receives the health events the alerts trigger. This is how Korea structures it — the platform we call CowTalk AI sits on top of the sensor data and public data, and the same data feeds farmer, vet and government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파일럿 설계 제안(PCC 결정). 핵심 2개: 기준선 기간 + 대조군.
This is a proposal, not a plan — PCC owns the design. Two non-negotiables from Korean experience: a baseline period before acting on alerts, and a comparison group so that the results can be published and used for scale-up decisions. One hundred sensors is enough for a credible pilot if the KPIs are defined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가치 동인 표 + 공식. 현지 숫자로 채우도록. 한국 단가·내부 공급조건 언급 금지.
Give the technicians the formula, not my numbers. Their cost per day open, their mastitis cost, their wage rates. The direction column is what cattle herds report; the pilot must produce the Philippine magnitudes. Do not quote Korean prices or internal supply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3단계 레퍼런스: 농장 → 도(경기도) → 국제(우즈벡). 필리핀이 4번째 사례.
Three scales. My farm proves it works; Gyeonggi Province shows how a government pilots it at scale with a proper study design; Uzbekistan shows it transfers across borders and pairs with genetics. The Philippine NDHIP pilot can be the fourth case — and PCC would own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10개 요점. 각자 2개 선택해 적도록.
Read the ten points slowly; ask each participant to choose the two they will implement on their next farm visit and write them down. That commitment is the real output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실습 6개 스테이션, 5인 1조, 20분 로테이션. 스테이션4(볼러스)·5(NDHIS 입력) 필수.
Six stations, groups of five, 20 minutes each. Station 4 is the one participants have not seen before — make sure every technician handles the applicator and reads at least one alert on the app. Station 5 closes the loop: the events from the other stations are entered into NDHIS.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마무리: Soil to Soul 철학. 질문 유도. 연락은 사업단 경유.
Close with the farm philosophy: soil, grass, cow, milk, people. Invite questions; offer to review any farm’s reproduction records during the practicum. Contact goes through the project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slideLayout" Target="../slideLayouts/slideLayout1.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1.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image" Target="../media/image-35-9.png"/><Relationship Id="rId10" Type="http://schemas.openxmlformats.org/officeDocument/2006/relationships/image" Target="../media/image-35-10.png"/><Relationship Id="rId11" Type="http://schemas.openxmlformats.org/officeDocument/2006/relationships/image" Target="../media/image-35-11.png"/><Relationship Id="rId12" Type="http://schemas.openxmlformats.org/officeDocument/2006/relationships/image" Target="../media/image-35-12.png"/><Relationship Id="rId13" Type="http://schemas.openxmlformats.org/officeDocument/2006/relationships/image" Target="../media/image-35-13.png"/><Relationship Id="rId14" Type="http://schemas.openxmlformats.org/officeDocument/2006/relationships/slideLayout" Target="../slideLayouts/slideLayout1.xml"/><Relationship Id="rId1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386F39"/>
          </a:solidFill>
          <a:ln w="12700">
            <a:solidFill>
              <a:srgbClr val="386F39"/>
            </a:solidFill>
            <a:prstDash val="solid"/>
          </a:ln>
        </p:spPr>
      </p:sp>
      <p:sp>
        <p:nvSpPr>
          <p:cNvPr id="3" name="Shape 1"/>
          <p:cNvSpPr/>
          <p:nvPr/>
        </p:nvSpPr>
        <p:spPr>
          <a:xfrm>
            <a:off x="9692640" y="91440"/>
            <a:ext cx="2926080" cy="2926080"/>
          </a:xfrm>
          <a:prstGeom prst="ellipse">
            <a:avLst/>
          </a:prstGeom>
          <a:solidFill>
            <a:srgbClr val="97BC62"/>
          </a:solidFill>
          <a:ln w="12700">
            <a:solidFill>
              <a:srgbClr val="97BC62"/>
            </a:solidFill>
            <a:prstDash val="solid"/>
          </a:ln>
        </p:spPr>
      </p:sp>
      <p:pic>
        <p:nvPicPr>
          <p:cNvPr id="4" name="Image 0" descr="preencoded.png">    </p:cNvPr>
          <p:cNvPicPr>
            <a:picLocks noChangeAspect="1"/>
          </p:cNvPicPr>
          <p:nvPr/>
        </p:nvPicPr>
        <p:blipFill>
          <a:blip r:embed="rId1"/>
          <a:stretch>
            <a:fillRect/>
          </a:stretch>
        </p:blipFill>
        <p:spPr>
          <a:xfrm>
            <a:off x="10378440" y="777240"/>
            <a:ext cx="1554480" cy="1554480"/>
          </a:xfrm>
          <a:prstGeom prst="rect">
            <a:avLst/>
          </a:prstGeom>
        </p:spPr>
      </p:pic>
      <p:sp>
        <p:nvSpPr>
          <p:cNvPr id="5" name="Text 2"/>
          <p:cNvSpPr txBox="1"/>
          <p:nvPr/>
        </p:nvSpPr>
        <p:spPr>
          <a:xfrm>
            <a:off x="548640" y="914400"/>
            <a:ext cx="8229600" cy="365760"/>
          </a:xfrm>
          <a:prstGeom prst="rect">
            <a:avLst/>
          </a:prstGeom>
          <a:noFill/>
          <a:ln/>
        </p:spPr>
        <p:txBody>
          <a:bodyPr wrap="square" lIns="0" tIns="0" rIns="0" bIns="0" rtlCol="0" anchor="ctr"/>
          <a:lstStyle/>
          <a:p>
            <a:pPr indent="0" marL="0">
              <a:buNone/>
            </a:pPr>
            <a:r>
              <a:rPr lang="en-US" sz="1200" b="1" spc="200" kern="0" dirty="0">
                <a:solidFill>
                  <a:srgbClr val="97BC62"/>
                </a:solidFill>
                <a:latin typeface="Calibri" pitchFamily="34" charset="0"/>
                <a:ea typeface="Calibri" pitchFamily="34" charset="-122"/>
                <a:cs typeface="Calibri" pitchFamily="34" charset="-120"/>
              </a:rPr>
              <a:t>PCC – KOICA  ·  NATIONAL DAIRY HERD IMPROVEMENT PROJECT  ·  LOCAL TRAINING SERIES</a:t>
            </a:r>
            <a:endParaRPr lang="en-US" sz="1200" dirty="0"/>
          </a:p>
        </p:txBody>
      </p:sp>
      <p:sp>
        <p:nvSpPr>
          <p:cNvPr id="6" name="Text 3"/>
          <p:cNvSpPr txBox="1"/>
          <p:nvPr/>
        </p:nvSpPr>
        <p:spPr>
          <a:xfrm>
            <a:off x="548640" y="1463040"/>
            <a:ext cx="841248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Smart Dairy Herd Management</a:t>
            </a:r>
            <a:endParaRPr lang="en-US" sz="4800" dirty="0"/>
          </a:p>
        </p:txBody>
      </p:sp>
      <p:sp>
        <p:nvSpPr>
          <p:cNvPr id="7" name="Text 4"/>
          <p:cNvSpPr txBox="1"/>
          <p:nvPr/>
        </p:nvSpPr>
        <p:spPr>
          <a:xfrm>
            <a:off x="548640" y="2606040"/>
            <a:ext cx="8412480" cy="1097280"/>
          </a:xfrm>
          <a:prstGeom prst="rect">
            <a:avLst/>
          </a:prstGeom>
          <a:noFill/>
          <a:ln/>
        </p:spPr>
        <p:txBody>
          <a:bodyPr wrap="square" lIns="0" tIns="0" rIns="0" bIns="0" rtlCol="0" anchor="ctr"/>
          <a:lstStyle/>
          <a:p>
            <a:pPr indent="0" marL="0">
              <a:buNone/>
            </a:pPr>
            <a:r>
              <a:rPr lang="en-US" sz="2000" dirty="0">
                <a:solidFill>
                  <a:srgbClr val="EEF4E6"/>
                </a:solidFill>
                <a:latin typeface="Calibri" pitchFamily="34" charset="0"/>
                <a:ea typeface="Calibri" pitchFamily="34" charset="-122"/>
                <a:cs typeface="Calibri" pitchFamily="34" charset="-120"/>
              </a:rPr>
              <a:t>Reproduction, Health &amp; Sensor-Based Monitoring</a:t>
            </a:r>
            <a:endParaRPr lang="en-US" sz="2000" dirty="0"/>
          </a:p>
          <a:p>
            <a:pPr indent="0" marL="0">
              <a:buNone/>
            </a:pPr>
            <a:r>
              <a:rPr lang="en-US" sz="2000" dirty="0">
                <a:solidFill>
                  <a:srgbClr val="EEF4E6"/>
                </a:solidFill>
                <a:latin typeface="Calibri" pitchFamily="34" charset="0"/>
                <a:ea typeface="Calibri" pitchFamily="34" charset="-122"/>
                <a:cs typeface="Calibri" pitchFamily="34" charset="-120"/>
              </a:rPr>
              <a:t>Korea’s dairy experience applied to Philippine dairy cattle and buffalo</a:t>
            </a:r>
            <a:endParaRPr lang="en-US" sz="2000" dirty="0"/>
          </a:p>
        </p:txBody>
      </p:sp>
      <p:sp>
        <p:nvSpPr>
          <p:cNvPr id="8" name="Text 5"/>
          <p:cNvSpPr txBox="1"/>
          <p:nvPr/>
        </p:nvSpPr>
        <p:spPr>
          <a:xfrm>
            <a:off x="548640" y="4480560"/>
            <a:ext cx="8229600" cy="1463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Dr. Hyunje Ha, DVM</a:t>
            </a:r>
            <a:endParaRPr lang="en-US" sz="1800" dirty="0"/>
          </a:p>
          <a:p>
            <a:pPr indent="0" marL="0">
              <a:buNone/>
            </a:pPr>
            <a:r>
              <a:rPr lang="en-US" sz="1400" dirty="0">
                <a:solidFill>
                  <a:srgbClr val="EEF4E6"/>
                </a:solidFill>
                <a:latin typeface="Calibri" pitchFamily="34" charset="0"/>
                <a:ea typeface="Calibri" pitchFamily="34" charset="-122"/>
                <a:cs typeface="Calibri" pitchFamily="34" charset="-120"/>
              </a:rPr>
              <a:t>CEO, Genetics Co., Ltd. · D2O Co., Ltd. · Korea Animal Hospital</a:t>
            </a:r>
            <a:endParaRPr lang="en-US" sz="1800" dirty="0"/>
          </a:p>
          <a:p>
            <a:pPr indent="0" marL="0">
              <a:buNone/>
            </a:pPr>
            <a:r>
              <a:rPr lang="en-US" sz="1400" dirty="0">
                <a:solidFill>
                  <a:srgbClr val="EEF4E6"/>
                </a:solidFill>
                <a:latin typeface="Calibri" pitchFamily="34" charset="0"/>
                <a:ea typeface="Calibri" pitchFamily="34" charset="-122"/>
                <a:cs typeface="Calibri" pitchFamily="34" charset="-120"/>
              </a:rPr>
              <a:t>Adjunct Professor, College of Veterinary Medicine, Konkuk University</a:t>
            </a:r>
            <a:endParaRPr lang="en-US" sz="1800" dirty="0"/>
          </a:p>
          <a:p>
            <a:pPr indent="0" marL="0">
              <a:buNone/>
            </a:pPr>
            <a:r>
              <a:rPr lang="en-US" sz="1400" dirty="0">
                <a:solidFill>
                  <a:srgbClr val="97BC62"/>
                </a:solidFill>
                <a:latin typeface="Calibri" pitchFamily="34" charset="0"/>
                <a:ea typeface="Calibri" pitchFamily="34" charset="-122"/>
                <a:cs typeface="Calibri" pitchFamily="34" charset="-120"/>
              </a:rPr>
              <a:t>Science City of Muñoz, Nueva Ecija · 2026</a:t>
            </a:r>
            <a:endParaRPr lang="en-US" sz="1800" dirty="0"/>
          </a:p>
        </p:txBody>
      </p:sp>
      <p:sp>
        <p:nvSpPr>
          <p:cNvPr id="9" name="Text 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7BC62"/>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10" name="Text 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97BC62"/>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Your lecturer and the farm behind this lecture</a:t>
            </a:r>
            <a:endParaRPr lang="en-US" sz="2600" dirty="0"/>
          </a:p>
        </p:txBody>
      </p:sp>
      <p:sp>
        <p:nvSpPr>
          <p:cNvPr id="4" name="Shape 2"/>
          <p:cNvSpPr/>
          <p:nvPr/>
        </p:nvSpPr>
        <p:spPr>
          <a:xfrm>
            <a:off x="548640" y="1463040"/>
            <a:ext cx="5394960" cy="4754880"/>
          </a:xfrm>
          <a:prstGeom prst="roundRect">
            <a:avLst>
              <a:gd name="adj" fmla="val 2308"/>
            </a:avLst>
          </a:prstGeom>
          <a:solidFill>
            <a:srgbClr val="EEF4E6"/>
          </a:solidFill>
          <a:ln w="12700">
            <a:solidFill>
              <a:srgbClr val="EEF4E6"/>
            </a:solidFill>
            <a:prstDash val="solid"/>
          </a:ln>
        </p:spPr>
      </p:sp>
      <p:sp>
        <p:nvSpPr>
          <p:cNvPr id="5" name="Text 3"/>
          <p:cNvSpPr txBox="1"/>
          <p:nvPr/>
        </p:nvSpPr>
        <p:spPr>
          <a:xfrm>
            <a:off x="822960" y="1645920"/>
            <a:ext cx="4846320" cy="411480"/>
          </a:xfrm>
          <a:prstGeom prst="rect">
            <a:avLst/>
          </a:prstGeom>
          <a:noFill/>
          <a:ln/>
        </p:spPr>
        <p:txBody>
          <a:bodyPr wrap="square" lIns="0" tIns="0" rIns="0" bIns="0" rtlCol="0" anchor="ctr"/>
          <a:lstStyle/>
          <a:p>
            <a:pPr indent="0" marL="0">
              <a:buNone/>
            </a:pPr>
            <a:r>
              <a:rPr lang="en-US" sz="2000" b="1" dirty="0">
                <a:solidFill>
                  <a:srgbClr val="2C5F2D"/>
                </a:solidFill>
                <a:latin typeface="Cambria" pitchFamily="34" charset="0"/>
                <a:ea typeface="Cambria" pitchFamily="34" charset="-122"/>
                <a:cs typeface="Cambria" pitchFamily="34" charset="-120"/>
              </a:rPr>
              <a:t>Dr. Hyunje Ha, DVM</a:t>
            </a:r>
            <a:endParaRPr lang="en-US" sz="2000" dirty="0"/>
          </a:p>
        </p:txBody>
      </p:sp>
      <p:sp>
        <p:nvSpPr>
          <p:cNvPr id="6" name="Text 4"/>
          <p:cNvSpPr txBox="1"/>
          <p:nvPr/>
        </p:nvSpPr>
        <p:spPr>
          <a:xfrm>
            <a:off x="822960" y="2148840"/>
            <a:ext cx="4846320" cy="39319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A1F"/>
                </a:solidFill>
                <a:latin typeface="Calibri" pitchFamily="34" charset="0"/>
                <a:ea typeface="Calibri" pitchFamily="34" charset="-122"/>
                <a:cs typeface="Calibri" pitchFamily="34" charset="-120"/>
              </a:rPr>
              <a:t>30+ years large-animal clinical veterinarian</a:t>
            </a:r>
            <a:endParaRPr lang="en-US" sz="1300" dirty="0"/>
          </a:p>
          <a:p>
            <a:pPr marL="177800" indent="-177800">
              <a:spcAft>
                <a:spcPts val="600"/>
              </a:spcAft>
              <a:buSzPct val="100000"/>
              <a:buChar char="•"/>
            </a:pPr>
            <a:r>
              <a:rPr lang="en-US" sz="1300" dirty="0">
                <a:solidFill>
                  <a:srgbClr val="1F2A1F"/>
                </a:solidFill>
                <a:latin typeface="Calibri" pitchFamily="34" charset="0"/>
                <a:ea typeface="Calibri" pitchFamily="34" charset="-122"/>
                <a:cs typeface="Calibri" pitchFamily="34" charset="-120"/>
              </a:rPr>
              <a:t>18+ years embryo transfer / IVF — ~3,000 transfers per year (Genetics Co.)</a:t>
            </a:r>
            <a:endParaRPr lang="en-US" sz="1300" dirty="0"/>
          </a:p>
          <a:p>
            <a:pPr marL="177800" indent="-177800">
              <a:spcAft>
                <a:spcPts val="600"/>
              </a:spcAft>
              <a:buSzPct val="100000"/>
              <a:buChar char="•"/>
            </a:pPr>
            <a:r>
              <a:rPr lang="en-US" sz="1300" dirty="0">
                <a:solidFill>
                  <a:srgbClr val="1F2A1F"/>
                </a:solidFill>
                <a:latin typeface="Calibri" pitchFamily="34" charset="0"/>
                <a:ea typeface="Calibri" pitchFamily="34" charset="-122"/>
                <a:cs typeface="Calibri" pitchFamily="34" charset="-120"/>
              </a:rPr>
              <a:t>Dairy farmer: Song Young Shin Farm, Anseong (founded 2011) — A2 Jersey hay milk</a:t>
            </a:r>
            <a:endParaRPr lang="en-US" sz="1300" dirty="0"/>
          </a:p>
          <a:p>
            <a:pPr marL="177800" indent="-177800">
              <a:spcAft>
                <a:spcPts val="600"/>
              </a:spcAft>
              <a:buSzPct val="100000"/>
              <a:buChar char="•"/>
            </a:pPr>
            <a:r>
              <a:rPr lang="en-US" sz="1300" dirty="0">
                <a:solidFill>
                  <a:srgbClr val="1F2A1F"/>
                </a:solidFill>
                <a:latin typeface="Calibri" pitchFamily="34" charset="0"/>
                <a:ea typeface="Calibri" pitchFamily="34" charset="-122"/>
                <a:cs typeface="Calibri" pitchFamily="34" charset="-120"/>
              </a:rPr>
              <a:t>First in Korea to run smaXtec rumen sensors on a commercial dairy</a:t>
            </a:r>
            <a:endParaRPr lang="en-US" sz="1300" dirty="0"/>
          </a:p>
          <a:p>
            <a:pPr marL="177800" indent="-177800">
              <a:spcAft>
                <a:spcPts val="600"/>
              </a:spcAft>
              <a:buSzPct val="100000"/>
              <a:buChar char="•"/>
            </a:pPr>
            <a:r>
              <a:rPr lang="en-US" sz="1300" dirty="0">
                <a:solidFill>
                  <a:srgbClr val="1F2A1F"/>
                </a:solidFill>
                <a:latin typeface="Calibri" pitchFamily="34" charset="0"/>
                <a:ea typeface="Calibri" pitchFamily="34" charset="-122"/>
                <a:cs typeface="Calibri" pitchFamily="34" charset="-120"/>
              </a:rPr>
              <a:t>Livestock-environment technology (D2O bedding, compost, odor &amp; carbon)</a:t>
            </a:r>
            <a:endParaRPr lang="en-US" sz="1300" dirty="0"/>
          </a:p>
          <a:p>
            <a:pPr marL="177800" indent="-177800">
              <a:spcAft>
                <a:spcPts val="600"/>
              </a:spcAft>
              <a:buSzPct val="100000"/>
              <a:buChar char="•"/>
            </a:pPr>
            <a:r>
              <a:rPr lang="en-US" sz="1300" dirty="0">
                <a:solidFill>
                  <a:srgbClr val="1F2A1F"/>
                </a:solidFill>
                <a:latin typeface="Calibri" pitchFamily="34" charset="0"/>
                <a:ea typeface="Calibri" pitchFamily="34" charset="-122"/>
                <a:cs typeface="Calibri" pitchFamily="34" charset="-120"/>
              </a:rPr>
              <a:t>Lecturer, KOICA dairy-farmer training programs; Konkuk University adjunct professor</a:t>
            </a:r>
            <a:endParaRPr lang="en-US" sz="1300" dirty="0"/>
          </a:p>
        </p:txBody>
      </p:sp>
      <p:sp>
        <p:nvSpPr>
          <p:cNvPr id="7" name="Text 5"/>
          <p:cNvSpPr txBox="1"/>
          <p:nvPr/>
        </p:nvSpPr>
        <p:spPr>
          <a:xfrm>
            <a:off x="6309360" y="1463040"/>
            <a:ext cx="5394960" cy="411480"/>
          </a:xfrm>
          <a:prstGeom prst="rect">
            <a:avLst/>
          </a:prstGeom>
          <a:noFill/>
          <a:ln/>
        </p:spPr>
        <p:txBody>
          <a:bodyPr wrap="square" lIns="0" tIns="0" rIns="0" bIns="0" rtlCol="0" anchor="ctr"/>
          <a:lstStyle/>
          <a:p>
            <a:pPr indent="0" marL="0">
              <a:buNone/>
            </a:pPr>
            <a:r>
              <a:rPr lang="en-US" sz="1800" b="1" dirty="0">
                <a:solidFill>
                  <a:srgbClr val="2C5F2D"/>
                </a:solidFill>
                <a:latin typeface="Cambria" pitchFamily="34" charset="0"/>
                <a:ea typeface="Cambria" pitchFamily="34" charset="-122"/>
                <a:cs typeface="Cambria" pitchFamily="34" charset="-120"/>
              </a:rPr>
              <a:t>Song Young Shin Farm — a working test bed</a:t>
            </a:r>
            <a:endParaRPr lang="en-US" sz="1800" dirty="0"/>
          </a:p>
        </p:txBody>
      </p:sp>
      <p:sp>
        <p:nvSpPr>
          <p:cNvPr id="8" name="Shape 6"/>
          <p:cNvSpPr/>
          <p:nvPr/>
        </p:nvSpPr>
        <p:spPr>
          <a:xfrm>
            <a:off x="6309360" y="2011680"/>
            <a:ext cx="2560320" cy="1188720"/>
          </a:xfrm>
          <a:prstGeom prst="roundRect">
            <a:avLst>
              <a:gd name="adj" fmla="val 9231"/>
            </a:avLst>
          </a:prstGeom>
          <a:solidFill>
            <a:srgbClr val="FFFFFF"/>
          </a:solidFill>
          <a:ln w="12700">
            <a:solidFill>
              <a:srgbClr val="FFFFFF"/>
            </a:solidFill>
            <a:prstDash val="solid"/>
          </a:ln>
        </p:spPr>
      </p:sp>
      <p:sp>
        <p:nvSpPr>
          <p:cNvPr id="9" name="Shape 7"/>
          <p:cNvSpPr/>
          <p:nvPr/>
        </p:nvSpPr>
        <p:spPr>
          <a:xfrm>
            <a:off x="6309360" y="2011680"/>
            <a:ext cx="2560320" cy="1188720"/>
          </a:xfrm>
          <a:prstGeom prst="roundRect">
            <a:avLst>
              <a:gd name="adj" fmla="val 9231"/>
            </a:avLst>
          </a:prstGeom>
          <a:solidFill>
            <a:srgbClr val="FFFFFF">
              <a:alpha val="0"/>
            </a:srgbClr>
          </a:solidFill>
          <a:ln w="9525">
            <a:solidFill>
              <a:srgbClr val="D5DECB"/>
            </a:solidFill>
            <a:prstDash val="solid"/>
          </a:ln>
        </p:spPr>
      </p:sp>
      <p:sp>
        <p:nvSpPr>
          <p:cNvPr id="10" name="Text 8"/>
          <p:cNvSpPr txBox="1"/>
          <p:nvPr/>
        </p:nvSpPr>
        <p:spPr>
          <a:xfrm>
            <a:off x="6492240" y="2121408"/>
            <a:ext cx="2194560" cy="548640"/>
          </a:xfrm>
          <a:prstGeom prst="rect">
            <a:avLst/>
          </a:prstGeom>
          <a:noFill/>
          <a:ln/>
        </p:spPr>
        <p:txBody>
          <a:bodyPr wrap="square" lIns="0" tIns="0" rIns="0" bIns="0" rtlCol="0" anchor="ctr"/>
          <a:lstStyle/>
          <a:p>
            <a:pPr indent="0" marL="0">
              <a:buNone/>
            </a:pPr>
            <a:r>
              <a:rPr lang="en-US" sz="2800" b="1" dirty="0">
                <a:solidFill>
                  <a:srgbClr val="2C5F2D"/>
                </a:solidFill>
                <a:latin typeface="Cambria" pitchFamily="34" charset="0"/>
                <a:ea typeface="Cambria" pitchFamily="34" charset="-122"/>
                <a:cs typeface="Cambria" pitchFamily="34" charset="-120"/>
              </a:rPr>
              <a:t>120</a:t>
            </a:r>
            <a:endParaRPr lang="en-US" sz="2800" dirty="0"/>
          </a:p>
        </p:txBody>
      </p:sp>
      <p:sp>
        <p:nvSpPr>
          <p:cNvPr id="11" name="Text 9"/>
          <p:cNvSpPr txBox="1"/>
          <p:nvPr/>
        </p:nvSpPr>
        <p:spPr>
          <a:xfrm>
            <a:off x="6492240" y="2670048"/>
            <a:ext cx="2194560" cy="457200"/>
          </a:xfrm>
          <a:prstGeom prst="rect">
            <a:avLst/>
          </a:prstGeom>
          <a:noFill/>
          <a:ln/>
        </p:spPr>
        <p:txBody>
          <a:bodyPr wrap="square" lIns="0" tIns="0" rIns="0" bIns="0" rtlCol="0" anchor="ctr"/>
          <a:lstStyle/>
          <a:p>
            <a:pPr indent="0" marL="0">
              <a:buNone/>
            </a:pPr>
            <a:r>
              <a:rPr lang="en-US" sz="1100" dirty="0">
                <a:solidFill>
                  <a:srgbClr val="5B6B5B"/>
                </a:solidFill>
                <a:latin typeface="Calibri" pitchFamily="34" charset="0"/>
                <a:ea typeface="Calibri" pitchFamily="34" charset="-122"/>
                <a:cs typeface="Calibri" pitchFamily="34" charset="-120"/>
              </a:rPr>
              <a:t>head (65 milking + 55 heifers)</a:t>
            </a:r>
            <a:endParaRPr lang="en-US" sz="1100" dirty="0"/>
          </a:p>
        </p:txBody>
      </p:sp>
      <p:sp>
        <p:nvSpPr>
          <p:cNvPr id="12" name="Shape 10"/>
          <p:cNvSpPr/>
          <p:nvPr/>
        </p:nvSpPr>
        <p:spPr>
          <a:xfrm>
            <a:off x="9052560" y="2011680"/>
            <a:ext cx="2560320" cy="1188720"/>
          </a:xfrm>
          <a:prstGeom prst="roundRect">
            <a:avLst>
              <a:gd name="adj" fmla="val 9231"/>
            </a:avLst>
          </a:prstGeom>
          <a:solidFill>
            <a:srgbClr val="FFFFFF"/>
          </a:solidFill>
          <a:ln w="12700">
            <a:solidFill>
              <a:srgbClr val="FFFFFF"/>
            </a:solidFill>
            <a:prstDash val="solid"/>
          </a:ln>
        </p:spPr>
      </p:sp>
      <p:sp>
        <p:nvSpPr>
          <p:cNvPr id="13" name="Shape 11"/>
          <p:cNvSpPr/>
          <p:nvPr/>
        </p:nvSpPr>
        <p:spPr>
          <a:xfrm>
            <a:off x="9052560" y="2011680"/>
            <a:ext cx="2560320" cy="1188720"/>
          </a:xfrm>
          <a:prstGeom prst="roundRect">
            <a:avLst>
              <a:gd name="adj" fmla="val 9231"/>
            </a:avLst>
          </a:prstGeom>
          <a:solidFill>
            <a:srgbClr val="FFFFFF">
              <a:alpha val="0"/>
            </a:srgbClr>
          </a:solidFill>
          <a:ln w="9525">
            <a:solidFill>
              <a:srgbClr val="D5DECB"/>
            </a:solidFill>
            <a:prstDash val="solid"/>
          </a:ln>
        </p:spPr>
      </p:sp>
      <p:sp>
        <p:nvSpPr>
          <p:cNvPr id="14" name="Text 12"/>
          <p:cNvSpPr txBox="1"/>
          <p:nvPr/>
        </p:nvSpPr>
        <p:spPr>
          <a:xfrm>
            <a:off x="9235440" y="2121408"/>
            <a:ext cx="2194560" cy="548640"/>
          </a:xfrm>
          <a:prstGeom prst="rect">
            <a:avLst/>
          </a:prstGeom>
          <a:noFill/>
          <a:ln/>
        </p:spPr>
        <p:txBody>
          <a:bodyPr wrap="square" lIns="0" tIns="0" rIns="0" bIns="0" rtlCol="0" anchor="ctr"/>
          <a:lstStyle/>
          <a:p>
            <a:pPr indent="0" marL="0">
              <a:buNone/>
            </a:pPr>
            <a:r>
              <a:rPr lang="en-US" sz="2800" b="1" dirty="0">
                <a:solidFill>
                  <a:srgbClr val="2C5F2D"/>
                </a:solidFill>
                <a:latin typeface="Cambria" pitchFamily="34" charset="0"/>
                <a:ea typeface="Cambria" pitchFamily="34" charset="-122"/>
                <a:cs typeface="Cambria" pitchFamily="34" charset="-120"/>
              </a:rPr>
              <a:t>2</a:t>
            </a:r>
            <a:endParaRPr lang="en-US" sz="2800" dirty="0"/>
          </a:p>
        </p:txBody>
      </p:sp>
      <p:sp>
        <p:nvSpPr>
          <p:cNvPr id="15" name="Text 13"/>
          <p:cNvSpPr txBox="1"/>
          <p:nvPr/>
        </p:nvSpPr>
        <p:spPr>
          <a:xfrm>
            <a:off x="9235440" y="2670048"/>
            <a:ext cx="2194560" cy="457200"/>
          </a:xfrm>
          <a:prstGeom prst="rect">
            <a:avLst/>
          </a:prstGeom>
          <a:noFill/>
          <a:ln/>
        </p:spPr>
        <p:txBody>
          <a:bodyPr wrap="square" lIns="0" tIns="0" rIns="0" bIns="0" rtlCol="0" anchor="ctr"/>
          <a:lstStyle/>
          <a:p>
            <a:pPr indent="0" marL="0">
              <a:buNone/>
            </a:pPr>
            <a:r>
              <a:rPr lang="en-US" sz="1100" dirty="0">
                <a:solidFill>
                  <a:srgbClr val="5B6B5B"/>
                </a:solidFill>
                <a:latin typeface="Calibri" pitchFamily="34" charset="0"/>
                <a:ea typeface="Calibri" pitchFamily="34" charset="-122"/>
                <a:cs typeface="Calibri" pitchFamily="34" charset="-120"/>
              </a:rPr>
              <a:t>robotic milking units</a:t>
            </a:r>
            <a:endParaRPr lang="en-US" sz="1100" dirty="0"/>
          </a:p>
        </p:txBody>
      </p:sp>
      <p:sp>
        <p:nvSpPr>
          <p:cNvPr id="16" name="Shape 14"/>
          <p:cNvSpPr/>
          <p:nvPr/>
        </p:nvSpPr>
        <p:spPr>
          <a:xfrm>
            <a:off x="6309360" y="3383280"/>
            <a:ext cx="2560320" cy="1188720"/>
          </a:xfrm>
          <a:prstGeom prst="roundRect">
            <a:avLst>
              <a:gd name="adj" fmla="val 9231"/>
            </a:avLst>
          </a:prstGeom>
          <a:solidFill>
            <a:srgbClr val="FFFFFF"/>
          </a:solidFill>
          <a:ln w="12700">
            <a:solidFill>
              <a:srgbClr val="FFFFFF"/>
            </a:solidFill>
            <a:prstDash val="solid"/>
          </a:ln>
        </p:spPr>
      </p:sp>
      <p:sp>
        <p:nvSpPr>
          <p:cNvPr id="17" name="Shape 15"/>
          <p:cNvSpPr/>
          <p:nvPr/>
        </p:nvSpPr>
        <p:spPr>
          <a:xfrm>
            <a:off x="6309360" y="3383280"/>
            <a:ext cx="2560320" cy="1188720"/>
          </a:xfrm>
          <a:prstGeom prst="roundRect">
            <a:avLst>
              <a:gd name="adj" fmla="val 9231"/>
            </a:avLst>
          </a:prstGeom>
          <a:solidFill>
            <a:srgbClr val="FFFFFF">
              <a:alpha val="0"/>
            </a:srgbClr>
          </a:solidFill>
          <a:ln w="9525">
            <a:solidFill>
              <a:srgbClr val="D5DECB"/>
            </a:solidFill>
            <a:prstDash val="solid"/>
          </a:ln>
        </p:spPr>
      </p:sp>
      <p:sp>
        <p:nvSpPr>
          <p:cNvPr id="18" name="Text 16"/>
          <p:cNvSpPr txBox="1"/>
          <p:nvPr/>
        </p:nvSpPr>
        <p:spPr>
          <a:xfrm>
            <a:off x="6492240" y="3493008"/>
            <a:ext cx="2194560" cy="548640"/>
          </a:xfrm>
          <a:prstGeom prst="rect">
            <a:avLst/>
          </a:prstGeom>
          <a:noFill/>
          <a:ln/>
        </p:spPr>
        <p:txBody>
          <a:bodyPr wrap="square" lIns="0" tIns="0" rIns="0" bIns="0" rtlCol="0" anchor="ctr"/>
          <a:lstStyle/>
          <a:p>
            <a:pPr indent="0" marL="0">
              <a:buNone/>
            </a:pPr>
            <a:r>
              <a:rPr lang="en-US" sz="2800" b="1" dirty="0">
                <a:solidFill>
                  <a:srgbClr val="2C5F2D"/>
                </a:solidFill>
                <a:latin typeface="Cambria" pitchFamily="34" charset="0"/>
                <a:ea typeface="Cambria" pitchFamily="34" charset="-122"/>
                <a:cs typeface="Cambria" pitchFamily="34" charset="-120"/>
              </a:rPr>
              <a:t>90</a:t>
            </a:r>
            <a:endParaRPr lang="en-US" sz="2800" dirty="0"/>
          </a:p>
        </p:txBody>
      </p:sp>
      <p:sp>
        <p:nvSpPr>
          <p:cNvPr id="19" name="Text 17"/>
          <p:cNvSpPr txBox="1"/>
          <p:nvPr/>
        </p:nvSpPr>
        <p:spPr>
          <a:xfrm>
            <a:off x="6492240" y="4041648"/>
            <a:ext cx="2194560" cy="457200"/>
          </a:xfrm>
          <a:prstGeom prst="rect">
            <a:avLst/>
          </a:prstGeom>
          <a:noFill/>
          <a:ln/>
        </p:spPr>
        <p:txBody>
          <a:bodyPr wrap="square" lIns="0" tIns="0" rIns="0" bIns="0" rtlCol="0" anchor="ctr"/>
          <a:lstStyle/>
          <a:p>
            <a:pPr indent="0" marL="0">
              <a:buNone/>
            </a:pPr>
            <a:r>
              <a:rPr lang="en-US" sz="1100" dirty="0">
                <a:solidFill>
                  <a:srgbClr val="5B6B5B"/>
                </a:solidFill>
                <a:latin typeface="Calibri" pitchFamily="34" charset="0"/>
                <a:ea typeface="Calibri" pitchFamily="34" charset="-122"/>
                <a:cs typeface="Calibri" pitchFamily="34" charset="-120"/>
              </a:rPr>
              <a:t>rumen bolus sensors in use</a:t>
            </a:r>
            <a:endParaRPr lang="en-US" sz="1100" dirty="0"/>
          </a:p>
        </p:txBody>
      </p:sp>
      <p:sp>
        <p:nvSpPr>
          <p:cNvPr id="20" name="Shape 18"/>
          <p:cNvSpPr/>
          <p:nvPr/>
        </p:nvSpPr>
        <p:spPr>
          <a:xfrm>
            <a:off x="9052560" y="3383280"/>
            <a:ext cx="2560320" cy="1188720"/>
          </a:xfrm>
          <a:prstGeom prst="roundRect">
            <a:avLst>
              <a:gd name="adj" fmla="val 9231"/>
            </a:avLst>
          </a:prstGeom>
          <a:solidFill>
            <a:srgbClr val="FFFFFF"/>
          </a:solidFill>
          <a:ln w="12700">
            <a:solidFill>
              <a:srgbClr val="FFFFFF"/>
            </a:solidFill>
            <a:prstDash val="solid"/>
          </a:ln>
        </p:spPr>
      </p:sp>
      <p:sp>
        <p:nvSpPr>
          <p:cNvPr id="21" name="Shape 19"/>
          <p:cNvSpPr/>
          <p:nvPr/>
        </p:nvSpPr>
        <p:spPr>
          <a:xfrm>
            <a:off x="9052560" y="3383280"/>
            <a:ext cx="2560320" cy="1188720"/>
          </a:xfrm>
          <a:prstGeom prst="roundRect">
            <a:avLst>
              <a:gd name="adj" fmla="val 9231"/>
            </a:avLst>
          </a:prstGeom>
          <a:solidFill>
            <a:srgbClr val="FFFFFF">
              <a:alpha val="0"/>
            </a:srgbClr>
          </a:solidFill>
          <a:ln w="9525">
            <a:solidFill>
              <a:srgbClr val="D5DECB"/>
            </a:solidFill>
            <a:prstDash val="solid"/>
          </a:ln>
        </p:spPr>
      </p:sp>
      <p:sp>
        <p:nvSpPr>
          <p:cNvPr id="22" name="Text 20"/>
          <p:cNvSpPr txBox="1"/>
          <p:nvPr/>
        </p:nvSpPr>
        <p:spPr>
          <a:xfrm>
            <a:off x="9235440" y="3493008"/>
            <a:ext cx="2194560" cy="548640"/>
          </a:xfrm>
          <a:prstGeom prst="rect">
            <a:avLst/>
          </a:prstGeom>
          <a:noFill/>
          <a:ln/>
        </p:spPr>
        <p:txBody>
          <a:bodyPr wrap="square" lIns="0" tIns="0" rIns="0" bIns="0" rtlCol="0" anchor="ctr"/>
          <a:lstStyle/>
          <a:p>
            <a:pPr indent="0" marL="0">
              <a:buNone/>
            </a:pPr>
            <a:r>
              <a:rPr lang="en-US" sz="2800" b="1" dirty="0">
                <a:solidFill>
                  <a:srgbClr val="2C5F2D"/>
                </a:solidFill>
                <a:latin typeface="Cambria" pitchFamily="34" charset="0"/>
                <a:ea typeface="Cambria" pitchFamily="34" charset="-122"/>
                <a:cs typeface="Cambria" pitchFamily="34" charset="-120"/>
              </a:rPr>
              <a:t>3,000 m²</a:t>
            </a:r>
            <a:endParaRPr lang="en-US" sz="2800" dirty="0"/>
          </a:p>
        </p:txBody>
      </p:sp>
      <p:sp>
        <p:nvSpPr>
          <p:cNvPr id="23" name="Text 21"/>
          <p:cNvSpPr txBox="1"/>
          <p:nvPr/>
        </p:nvSpPr>
        <p:spPr>
          <a:xfrm>
            <a:off x="9235440" y="4041648"/>
            <a:ext cx="2194560" cy="457200"/>
          </a:xfrm>
          <a:prstGeom prst="rect">
            <a:avLst/>
          </a:prstGeom>
          <a:noFill/>
          <a:ln/>
        </p:spPr>
        <p:txBody>
          <a:bodyPr wrap="square" lIns="0" tIns="0" rIns="0" bIns="0" rtlCol="0" anchor="ctr"/>
          <a:lstStyle/>
          <a:p>
            <a:pPr indent="0" marL="0">
              <a:buNone/>
            </a:pPr>
            <a:r>
              <a:rPr lang="en-US" sz="1100" dirty="0">
                <a:solidFill>
                  <a:srgbClr val="5B6B5B"/>
                </a:solidFill>
                <a:latin typeface="Calibri" pitchFamily="34" charset="0"/>
                <a:ea typeface="Calibri" pitchFamily="34" charset="-122"/>
                <a:cs typeface="Calibri" pitchFamily="34" charset="-120"/>
              </a:rPr>
              <a:t>humus bedded-pack barn</a:t>
            </a:r>
            <a:endParaRPr lang="en-US" sz="1100" dirty="0"/>
          </a:p>
        </p:txBody>
      </p:sp>
      <p:sp>
        <p:nvSpPr>
          <p:cNvPr id="24" name="Shape 22"/>
          <p:cNvSpPr/>
          <p:nvPr/>
        </p:nvSpPr>
        <p:spPr>
          <a:xfrm>
            <a:off x="6309360" y="4754880"/>
            <a:ext cx="2560320" cy="1188720"/>
          </a:xfrm>
          <a:prstGeom prst="roundRect">
            <a:avLst>
              <a:gd name="adj" fmla="val 9231"/>
            </a:avLst>
          </a:prstGeom>
          <a:solidFill>
            <a:srgbClr val="FFFFFF"/>
          </a:solidFill>
          <a:ln w="12700">
            <a:solidFill>
              <a:srgbClr val="FFFFFF"/>
            </a:solidFill>
            <a:prstDash val="solid"/>
          </a:ln>
        </p:spPr>
      </p:sp>
      <p:sp>
        <p:nvSpPr>
          <p:cNvPr id="25" name="Shape 23"/>
          <p:cNvSpPr/>
          <p:nvPr/>
        </p:nvSpPr>
        <p:spPr>
          <a:xfrm>
            <a:off x="6309360" y="4754880"/>
            <a:ext cx="2560320" cy="1188720"/>
          </a:xfrm>
          <a:prstGeom prst="roundRect">
            <a:avLst>
              <a:gd name="adj" fmla="val 9231"/>
            </a:avLst>
          </a:prstGeom>
          <a:solidFill>
            <a:srgbClr val="FFFFFF">
              <a:alpha val="0"/>
            </a:srgbClr>
          </a:solidFill>
          <a:ln w="9525">
            <a:solidFill>
              <a:srgbClr val="D5DECB"/>
            </a:solidFill>
            <a:prstDash val="solid"/>
          </a:ln>
        </p:spPr>
      </p:sp>
      <p:sp>
        <p:nvSpPr>
          <p:cNvPr id="26" name="Text 24"/>
          <p:cNvSpPr txBox="1"/>
          <p:nvPr/>
        </p:nvSpPr>
        <p:spPr>
          <a:xfrm>
            <a:off x="6492240" y="4864608"/>
            <a:ext cx="2194560" cy="548640"/>
          </a:xfrm>
          <a:prstGeom prst="rect">
            <a:avLst/>
          </a:prstGeom>
          <a:noFill/>
          <a:ln/>
        </p:spPr>
        <p:txBody>
          <a:bodyPr wrap="square" lIns="0" tIns="0" rIns="0" bIns="0" rtlCol="0" anchor="ctr"/>
          <a:lstStyle/>
          <a:p>
            <a:pPr indent="0" marL="0">
              <a:buNone/>
            </a:pPr>
            <a:r>
              <a:rPr lang="en-US" sz="2800" b="1" dirty="0">
                <a:solidFill>
                  <a:srgbClr val="2C5F2D"/>
                </a:solidFill>
                <a:latin typeface="Cambria" pitchFamily="34" charset="0"/>
                <a:ea typeface="Cambria" pitchFamily="34" charset="-122"/>
                <a:cs typeface="Cambria" pitchFamily="34" charset="-120"/>
              </a:rPr>
              <a:t>1st</a:t>
            </a:r>
            <a:endParaRPr lang="en-US" sz="2800" dirty="0"/>
          </a:p>
        </p:txBody>
      </p:sp>
      <p:sp>
        <p:nvSpPr>
          <p:cNvPr id="27" name="Text 25"/>
          <p:cNvSpPr txBox="1"/>
          <p:nvPr/>
        </p:nvSpPr>
        <p:spPr>
          <a:xfrm>
            <a:off x="6492240" y="5413248"/>
            <a:ext cx="2194560" cy="457200"/>
          </a:xfrm>
          <a:prstGeom prst="rect">
            <a:avLst/>
          </a:prstGeom>
          <a:noFill/>
          <a:ln/>
        </p:spPr>
        <p:txBody>
          <a:bodyPr wrap="square" lIns="0" tIns="0" rIns="0" bIns="0" rtlCol="0" anchor="ctr"/>
          <a:lstStyle/>
          <a:p>
            <a:pPr indent="0" marL="0">
              <a:buNone/>
            </a:pPr>
            <a:r>
              <a:rPr lang="en-US" sz="1100" dirty="0">
                <a:solidFill>
                  <a:srgbClr val="5B6B5B"/>
                </a:solidFill>
                <a:latin typeface="Calibri" pitchFamily="34" charset="0"/>
                <a:ea typeface="Calibri" pitchFamily="34" charset="-122"/>
                <a:cs typeface="Calibri" pitchFamily="34" charset="-120"/>
              </a:rPr>
              <a:t>animal-welfare certified dairy in Korea</a:t>
            </a:r>
            <a:endParaRPr lang="en-US" sz="1100" dirty="0"/>
          </a:p>
        </p:txBody>
      </p:sp>
      <p:sp>
        <p:nvSpPr>
          <p:cNvPr id="28" name="Shape 26"/>
          <p:cNvSpPr/>
          <p:nvPr/>
        </p:nvSpPr>
        <p:spPr>
          <a:xfrm>
            <a:off x="9052560" y="4754880"/>
            <a:ext cx="2560320" cy="1188720"/>
          </a:xfrm>
          <a:prstGeom prst="roundRect">
            <a:avLst>
              <a:gd name="adj" fmla="val 9231"/>
            </a:avLst>
          </a:prstGeom>
          <a:solidFill>
            <a:srgbClr val="FFFFFF"/>
          </a:solidFill>
          <a:ln w="12700">
            <a:solidFill>
              <a:srgbClr val="FFFFFF"/>
            </a:solidFill>
            <a:prstDash val="solid"/>
          </a:ln>
        </p:spPr>
      </p:sp>
      <p:sp>
        <p:nvSpPr>
          <p:cNvPr id="29" name="Shape 27"/>
          <p:cNvSpPr/>
          <p:nvPr/>
        </p:nvSpPr>
        <p:spPr>
          <a:xfrm>
            <a:off x="9052560" y="4754880"/>
            <a:ext cx="2560320" cy="1188720"/>
          </a:xfrm>
          <a:prstGeom prst="roundRect">
            <a:avLst>
              <a:gd name="adj" fmla="val 9231"/>
            </a:avLst>
          </a:prstGeom>
          <a:solidFill>
            <a:srgbClr val="FFFFFF">
              <a:alpha val="0"/>
            </a:srgbClr>
          </a:solidFill>
          <a:ln w="9525">
            <a:solidFill>
              <a:srgbClr val="D5DECB"/>
            </a:solidFill>
            <a:prstDash val="solid"/>
          </a:ln>
        </p:spPr>
      </p:sp>
      <p:sp>
        <p:nvSpPr>
          <p:cNvPr id="30" name="Text 28"/>
          <p:cNvSpPr txBox="1"/>
          <p:nvPr/>
        </p:nvSpPr>
        <p:spPr>
          <a:xfrm>
            <a:off x="9235440" y="4864608"/>
            <a:ext cx="2194560" cy="548640"/>
          </a:xfrm>
          <a:prstGeom prst="rect">
            <a:avLst/>
          </a:prstGeom>
          <a:noFill/>
          <a:ln/>
        </p:spPr>
        <p:txBody>
          <a:bodyPr wrap="square" lIns="0" tIns="0" rIns="0" bIns="0" rtlCol="0" anchor="ctr"/>
          <a:lstStyle/>
          <a:p>
            <a:pPr indent="0" marL="0">
              <a:buNone/>
            </a:pPr>
            <a:r>
              <a:rPr lang="en-US" sz="2800" b="1" dirty="0">
                <a:solidFill>
                  <a:srgbClr val="2C5F2D"/>
                </a:solidFill>
                <a:latin typeface="Cambria" pitchFamily="34" charset="0"/>
                <a:ea typeface="Cambria" pitchFamily="34" charset="-122"/>
                <a:cs typeface="Cambria" pitchFamily="34" charset="-120"/>
              </a:rPr>
              <a:t>1st</a:t>
            </a:r>
            <a:endParaRPr lang="en-US" sz="2800" dirty="0"/>
          </a:p>
        </p:txBody>
      </p:sp>
      <p:sp>
        <p:nvSpPr>
          <p:cNvPr id="31" name="Text 29"/>
          <p:cNvSpPr txBox="1"/>
          <p:nvPr/>
        </p:nvSpPr>
        <p:spPr>
          <a:xfrm>
            <a:off x="9235440" y="5413248"/>
            <a:ext cx="2194560" cy="457200"/>
          </a:xfrm>
          <a:prstGeom prst="rect">
            <a:avLst/>
          </a:prstGeom>
          <a:noFill/>
          <a:ln/>
        </p:spPr>
        <p:txBody>
          <a:bodyPr wrap="square" lIns="0" tIns="0" rIns="0" bIns="0" rtlCol="0" anchor="ctr"/>
          <a:lstStyle/>
          <a:p>
            <a:pPr indent="0" marL="0">
              <a:buNone/>
            </a:pPr>
            <a:r>
              <a:rPr lang="en-US" sz="1100" dirty="0">
                <a:solidFill>
                  <a:srgbClr val="5B6B5B"/>
                </a:solidFill>
                <a:latin typeface="Calibri" pitchFamily="34" charset="0"/>
                <a:ea typeface="Calibri" pitchFamily="34" charset="-122"/>
                <a:cs typeface="Calibri" pitchFamily="34" charset="-120"/>
              </a:rPr>
              <a:t>low-carbon certified dairy in Korea</a:t>
            </a:r>
            <a:endParaRPr lang="en-US" sz="1100" dirty="0"/>
          </a:p>
        </p:txBody>
      </p:sp>
      <p:sp>
        <p:nvSpPr>
          <p:cNvPr id="32" name="Text 3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33" name="Text 3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AGENDA</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Today’s programme</a:t>
            </a:r>
            <a:endParaRPr lang="en-US" sz="2600" dirty="0"/>
          </a:p>
        </p:txBody>
      </p:sp>
      <p:sp>
        <p:nvSpPr>
          <p:cNvPr id="4" name="Shape 2"/>
          <p:cNvSpPr/>
          <p:nvPr/>
        </p:nvSpPr>
        <p:spPr>
          <a:xfrm>
            <a:off x="548640" y="1463040"/>
            <a:ext cx="11094415" cy="804672"/>
          </a:xfrm>
          <a:prstGeom prst="roundRect">
            <a:avLst>
              <a:gd name="adj" fmla="val 13636"/>
            </a:avLst>
          </a:prstGeom>
          <a:solidFill>
            <a:srgbClr val="F6F9F2"/>
          </a:solidFill>
          <a:ln w="12700">
            <a:solidFill>
              <a:srgbClr val="F6F9F2"/>
            </a:solidFill>
            <a:prstDash val="solid"/>
          </a:ln>
        </p:spPr>
      </p:sp>
      <p:sp>
        <p:nvSpPr>
          <p:cNvPr id="5" name="Shape 3"/>
          <p:cNvSpPr/>
          <p:nvPr/>
        </p:nvSpPr>
        <p:spPr>
          <a:xfrm>
            <a:off x="685800" y="1572768"/>
            <a:ext cx="585216" cy="585216"/>
          </a:xfrm>
          <a:prstGeom prst="ellipse">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826252" y="1713220"/>
            <a:ext cx="304312" cy="304312"/>
          </a:xfrm>
          <a:prstGeom prst="rect">
            <a:avLst/>
          </a:prstGeom>
        </p:spPr>
      </p:pic>
      <p:sp>
        <p:nvSpPr>
          <p:cNvPr id="7" name="Text 4"/>
          <p:cNvSpPr txBox="1"/>
          <p:nvPr/>
        </p:nvSpPr>
        <p:spPr>
          <a:xfrm>
            <a:off x="1463040" y="1554480"/>
            <a:ext cx="7772400" cy="329184"/>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Module 0  ·  Korea’s dairy journey</a:t>
            </a:r>
            <a:endParaRPr lang="en-US" sz="1600" dirty="0"/>
          </a:p>
        </p:txBody>
      </p:sp>
      <p:sp>
        <p:nvSpPr>
          <p:cNvPr id="8" name="Text 5"/>
          <p:cNvSpPr txBox="1"/>
          <p:nvPr/>
        </p:nvSpPr>
        <p:spPr>
          <a:xfrm>
            <a:off x="1463040" y="1883664"/>
            <a:ext cx="8503920" cy="329184"/>
          </a:xfrm>
          <a:prstGeom prst="rect">
            <a:avLst/>
          </a:prstGeom>
          <a:noFill/>
          <a:ln/>
        </p:spPr>
        <p:txBody>
          <a:bodyPr wrap="square" lIns="0" tIns="0" rIns="0" bIns="0" rtlCol="0" anchor="ctr"/>
          <a:lstStyle/>
          <a:p>
            <a:pPr indent="0" marL="0">
              <a:buNone/>
            </a:pPr>
            <a:r>
              <a:rPr lang="en-US" sz="1200" dirty="0">
                <a:solidFill>
                  <a:srgbClr val="5B6B5B"/>
                </a:solidFill>
                <a:latin typeface="Calibri" pitchFamily="34" charset="0"/>
                <a:ea typeface="Calibri" pitchFamily="34" charset="-122"/>
                <a:cs typeface="Calibri" pitchFamily="34" charset="-120"/>
              </a:rPr>
              <a:t>From a 1969 demonstration farm to 10,000 kg cows — what actually moved the needle</a:t>
            </a:r>
            <a:endParaRPr lang="en-US" sz="1200" dirty="0"/>
          </a:p>
        </p:txBody>
      </p:sp>
      <p:sp>
        <p:nvSpPr>
          <p:cNvPr id="9" name="Text 6"/>
          <p:cNvSpPr txBox="1"/>
          <p:nvPr/>
        </p:nvSpPr>
        <p:spPr>
          <a:xfrm>
            <a:off x="10271455" y="1691640"/>
            <a:ext cx="1188720" cy="365760"/>
          </a:xfrm>
          <a:prstGeom prst="rect">
            <a:avLst/>
          </a:prstGeom>
          <a:noFill/>
          <a:ln/>
        </p:spPr>
        <p:txBody>
          <a:bodyPr wrap="square" lIns="0" tIns="0" rIns="0" bIns="0" rtlCol="0" anchor="ctr"/>
          <a:lstStyle/>
          <a:p>
            <a:pPr algn="r" indent="0" marL="0">
              <a:buNone/>
            </a:pPr>
            <a:r>
              <a:rPr lang="en-US" sz="1600" b="1" dirty="0">
                <a:solidFill>
                  <a:srgbClr val="D9A441"/>
                </a:solidFill>
                <a:latin typeface="Cambria" pitchFamily="34" charset="0"/>
                <a:ea typeface="Cambria" pitchFamily="34" charset="-122"/>
                <a:cs typeface="Cambria" pitchFamily="34" charset="-120"/>
              </a:rPr>
              <a:t>30 min</a:t>
            </a:r>
            <a:endParaRPr lang="en-US" sz="1600" dirty="0"/>
          </a:p>
        </p:txBody>
      </p:sp>
      <p:sp>
        <p:nvSpPr>
          <p:cNvPr id="10" name="Shape 7"/>
          <p:cNvSpPr/>
          <p:nvPr/>
        </p:nvSpPr>
        <p:spPr>
          <a:xfrm>
            <a:off x="548640" y="2395728"/>
            <a:ext cx="11094415" cy="804672"/>
          </a:xfrm>
          <a:prstGeom prst="roundRect">
            <a:avLst>
              <a:gd name="adj" fmla="val 13636"/>
            </a:avLst>
          </a:prstGeom>
          <a:solidFill>
            <a:srgbClr val="F6F9F2"/>
          </a:solidFill>
          <a:ln w="12700">
            <a:solidFill>
              <a:srgbClr val="F6F9F2"/>
            </a:solidFill>
            <a:prstDash val="solid"/>
          </a:ln>
        </p:spPr>
      </p:sp>
      <p:sp>
        <p:nvSpPr>
          <p:cNvPr id="11" name="Shape 8"/>
          <p:cNvSpPr/>
          <p:nvPr/>
        </p:nvSpPr>
        <p:spPr>
          <a:xfrm>
            <a:off x="685800" y="2505456"/>
            <a:ext cx="585216" cy="585216"/>
          </a:xfrm>
          <a:prstGeom prst="ellipse">
            <a:avLst/>
          </a:prstGeom>
          <a:solidFill>
            <a:srgbClr val="2C5F2D"/>
          </a:solidFill>
          <a:ln w="12700">
            <a:solidFill>
              <a:srgbClr val="2C5F2D"/>
            </a:solidFill>
            <a:prstDash val="solid"/>
          </a:ln>
        </p:spPr>
      </p:sp>
      <p:pic>
        <p:nvPicPr>
          <p:cNvPr id="12" name="Image 1" descr="preencoded.png">    </p:cNvPr>
          <p:cNvPicPr>
            <a:picLocks noChangeAspect="1"/>
          </p:cNvPicPr>
          <p:nvPr/>
        </p:nvPicPr>
        <p:blipFill>
          <a:blip r:embed="rId2"/>
          <a:stretch>
            <a:fillRect/>
          </a:stretch>
        </p:blipFill>
        <p:spPr>
          <a:xfrm>
            <a:off x="826252" y="2645908"/>
            <a:ext cx="304312" cy="304312"/>
          </a:xfrm>
          <a:prstGeom prst="rect">
            <a:avLst/>
          </a:prstGeom>
        </p:spPr>
      </p:pic>
      <p:sp>
        <p:nvSpPr>
          <p:cNvPr id="13" name="Text 9"/>
          <p:cNvSpPr txBox="1"/>
          <p:nvPr/>
        </p:nvSpPr>
        <p:spPr>
          <a:xfrm>
            <a:off x="1463040" y="2487168"/>
            <a:ext cx="7772400" cy="329184"/>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Module 1  ·  Reproduction management</a:t>
            </a:r>
            <a:endParaRPr lang="en-US" sz="1600" dirty="0"/>
          </a:p>
        </p:txBody>
      </p:sp>
      <p:sp>
        <p:nvSpPr>
          <p:cNvPr id="14" name="Text 10"/>
          <p:cNvSpPr txBox="1"/>
          <p:nvPr/>
        </p:nvSpPr>
        <p:spPr>
          <a:xfrm>
            <a:off x="1463040" y="2816352"/>
            <a:ext cx="8503920" cy="329184"/>
          </a:xfrm>
          <a:prstGeom prst="rect">
            <a:avLst/>
          </a:prstGeom>
          <a:noFill/>
          <a:ln/>
        </p:spPr>
        <p:txBody>
          <a:bodyPr wrap="square" lIns="0" tIns="0" rIns="0" bIns="0" rtlCol="0" anchor="ctr"/>
          <a:lstStyle/>
          <a:p>
            <a:pPr indent="0" marL="0">
              <a:buNone/>
            </a:pPr>
            <a:r>
              <a:rPr lang="en-US" sz="1200" dirty="0">
                <a:solidFill>
                  <a:srgbClr val="5B6B5B"/>
                </a:solidFill>
                <a:latin typeface="Calibri" pitchFamily="34" charset="0"/>
                <a:ea typeface="Calibri" pitchFamily="34" charset="-122"/>
                <a:cs typeface="Calibri" pitchFamily="34" charset="-120"/>
              </a:rPr>
              <a:t>Estrus, AI timing, pregnancy diagnosis, calving, colostrum, genetics tools, KPIs</a:t>
            </a:r>
            <a:endParaRPr lang="en-US" sz="1200" dirty="0"/>
          </a:p>
        </p:txBody>
      </p:sp>
      <p:sp>
        <p:nvSpPr>
          <p:cNvPr id="15" name="Text 11"/>
          <p:cNvSpPr txBox="1"/>
          <p:nvPr/>
        </p:nvSpPr>
        <p:spPr>
          <a:xfrm>
            <a:off x="10271455" y="2624328"/>
            <a:ext cx="1188720" cy="365760"/>
          </a:xfrm>
          <a:prstGeom prst="rect">
            <a:avLst/>
          </a:prstGeom>
          <a:noFill/>
          <a:ln/>
        </p:spPr>
        <p:txBody>
          <a:bodyPr wrap="square" lIns="0" tIns="0" rIns="0" bIns="0" rtlCol="0" anchor="ctr"/>
          <a:lstStyle/>
          <a:p>
            <a:pPr algn="r" indent="0" marL="0">
              <a:buNone/>
            </a:pPr>
            <a:r>
              <a:rPr lang="en-US" sz="1600" b="1" dirty="0">
                <a:solidFill>
                  <a:srgbClr val="D9A441"/>
                </a:solidFill>
                <a:latin typeface="Cambria" pitchFamily="34" charset="0"/>
                <a:ea typeface="Cambria" pitchFamily="34" charset="-122"/>
                <a:cs typeface="Cambria" pitchFamily="34" charset="-120"/>
              </a:rPr>
              <a:t>90 min</a:t>
            </a:r>
            <a:endParaRPr lang="en-US" sz="1600" dirty="0"/>
          </a:p>
        </p:txBody>
      </p:sp>
      <p:sp>
        <p:nvSpPr>
          <p:cNvPr id="16" name="Shape 12"/>
          <p:cNvSpPr/>
          <p:nvPr/>
        </p:nvSpPr>
        <p:spPr>
          <a:xfrm>
            <a:off x="548640" y="3328416"/>
            <a:ext cx="11094415" cy="804672"/>
          </a:xfrm>
          <a:prstGeom prst="roundRect">
            <a:avLst>
              <a:gd name="adj" fmla="val 13636"/>
            </a:avLst>
          </a:prstGeom>
          <a:solidFill>
            <a:srgbClr val="F6F9F2"/>
          </a:solidFill>
          <a:ln w="12700">
            <a:solidFill>
              <a:srgbClr val="F6F9F2"/>
            </a:solidFill>
            <a:prstDash val="solid"/>
          </a:ln>
        </p:spPr>
      </p:sp>
      <p:sp>
        <p:nvSpPr>
          <p:cNvPr id="17" name="Shape 13"/>
          <p:cNvSpPr/>
          <p:nvPr/>
        </p:nvSpPr>
        <p:spPr>
          <a:xfrm>
            <a:off x="685800" y="3438144"/>
            <a:ext cx="585216" cy="585216"/>
          </a:xfrm>
          <a:prstGeom prst="ellipse">
            <a:avLst/>
          </a:prstGeom>
          <a:solidFill>
            <a:srgbClr val="2C5F2D"/>
          </a:solidFill>
          <a:ln w="12700">
            <a:solidFill>
              <a:srgbClr val="2C5F2D"/>
            </a:solidFill>
            <a:prstDash val="solid"/>
          </a:ln>
        </p:spPr>
      </p:sp>
      <p:pic>
        <p:nvPicPr>
          <p:cNvPr id="18" name="Image 2" descr="preencoded.png">    </p:cNvPr>
          <p:cNvPicPr>
            <a:picLocks noChangeAspect="1"/>
          </p:cNvPicPr>
          <p:nvPr/>
        </p:nvPicPr>
        <p:blipFill>
          <a:blip r:embed="rId3"/>
          <a:stretch>
            <a:fillRect/>
          </a:stretch>
        </p:blipFill>
        <p:spPr>
          <a:xfrm>
            <a:off x="826252" y="3578596"/>
            <a:ext cx="304312" cy="304312"/>
          </a:xfrm>
          <a:prstGeom prst="rect">
            <a:avLst/>
          </a:prstGeom>
        </p:spPr>
      </p:pic>
      <p:sp>
        <p:nvSpPr>
          <p:cNvPr id="19" name="Text 14"/>
          <p:cNvSpPr txBox="1"/>
          <p:nvPr/>
        </p:nvSpPr>
        <p:spPr>
          <a:xfrm>
            <a:off x="1463040" y="3419856"/>
            <a:ext cx="7772400" cy="329184"/>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Module 2  ·  Health, mastitis &amp; biosecurity</a:t>
            </a:r>
            <a:endParaRPr lang="en-US" sz="1600" dirty="0"/>
          </a:p>
        </p:txBody>
      </p:sp>
      <p:sp>
        <p:nvSpPr>
          <p:cNvPr id="20" name="Text 15"/>
          <p:cNvSpPr txBox="1"/>
          <p:nvPr/>
        </p:nvSpPr>
        <p:spPr>
          <a:xfrm>
            <a:off x="1463040" y="3749040"/>
            <a:ext cx="8503920" cy="329184"/>
          </a:xfrm>
          <a:prstGeom prst="rect">
            <a:avLst/>
          </a:prstGeom>
          <a:noFill/>
          <a:ln/>
        </p:spPr>
        <p:txBody>
          <a:bodyPr wrap="square" lIns="0" tIns="0" rIns="0" bIns="0" rtlCol="0" anchor="ctr"/>
          <a:lstStyle/>
          <a:p>
            <a:pPr indent="0" marL="0">
              <a:buNone/>
            </a:pPr>
            <a:r>
              <a:rPr lang="en-US" sz="1200" dirty="0">
                <a:solidFill>
                  <a:srgbClr val="5B6B5B"/>
                </a:solidFill>
                <a:latin typeface="Calibri" pitchFamily="34" charset="0"/>
                <a:ea typeface="Calibri" pitchFamily="34" charset="-122"/>
                <a:cs typeface="Calibri" pitchFamily="34" charset="-120"/>
              </a:rPr>
              <a:t>Transition cows, mastitis detection &amp; treatment, heat stress, records and drug use</a:t>
            </a:r>
            <a:endParaRPr lang="en-US" sz="1200" dirty="0"/>
          </a:p>
        </p:txBody>
      </p:sp>
      <p:sp>
        <p:nvSpPr>
          <p:cNvPr id="21" name="Text 16"/>
          <p:cNvSpPr txBox="1"/>
          <p:nvPr/>
        </p:nvSpPr>
        <p:spPr>
          <a:xfrm>
            <a:off x="10271455" y="3557016"/>
            <a:ext cx="1188720" cy="365760"/>
          </a:xfrm>
          <a:prstGeom prst="rect">
            <a:avLst/>
          </a:prstGeom>
          <a:noFill/>
          <a:ln/>
        </p:spPr>
        <p:txBody>
          <a:bodyPr wrap="square" lIns="0" tIns="0" rIns="0" bIns="0" rtlCol="0" anchor="ctr"/>
          <a:lstStyle/>
          <a:p>
            <a:pPr algn="r" indent="0" marL="0">
              <a:buNone/>
            </a:pPr>
            <a:r>
              <a:rPr lang="en-US" sz="1600" b="1" dirty="0">
                <a:solidFill>
                  <a:srgbClr val="D9A441"/>
                </a:solidFill>
                <a:latin typeface="Cambria" pitchFamily="34" charset="0"/>
                <a:ea typeface="Cambria" pitchFamily="34" charset="-122"/>
                <a:cs typeface="Cambria" pitchFamily="34" charset="-120"/>
              </a:rPr>
              <a:t>90 min</a:t>
            </a:r>
            <a:endParaRPr lang="en-US" sz="1600" dirty="0"/>
          </a:p>
        </p:txBody>
      </p:sp>
      <p:sp>
        <p:nvSpPr>
          <p:cNvPr id="22" name="Shape 17"/>
          <p:cNvSpPr/>
          <p:nvPr/>
        </p:nvSpPr>
        <p:spPr>
          <a:xfrm>
            <a:off x="548640" y="4261104"/>
            <a:ext cx="11094415" cy="804672"/>
          </a:xfrm>
          <a:prstGeom prst="roundRect">
            <a:avLst>
              <a:gd name="adj" fmla="val 13636"/>
            </a:avLst>
          </a:prstGeom>
          <a:solidFill>
            <a:srgbClr val="F6F9F2"/>
          </a:solidFill>
          <a:ln w="12700">
            <a:solidFill>
              <a:srgbClr val="F6F9F2"/>
            </a:solidFill>
            <a:prstDash val="solid"/>
          </a:ln>
        </p:spPr>
      </p:sp>
      <p:sp>
        <p:nvSpPr>
          <p:cNvPr id="23" name="Shape 18"/>
          <p:cNvSpPr/>
          <p:nvPr/>
        </p:nvSpPr>
        <p:spPr>
          <a:xfrm>
            <a:off x="685800" y="4370832"/>
            <a:ext cx="585216" cy="585216"/>
          </a:xfrm>
          <a:prstGeom prst="ellipse">
            <a:avLst/>
          </a:prstGeom>
          <a:solidFill>
            <a:srgbClr val="2C5F2D"/>
          </a:solidFill>
          <a:ln w="12700">
            <a:solidFill>
              <a:srgbClr val="2C5F2D"/>
            </a:solidFill>
            <a:prstDash val="solid"/>
          </a:ln>
        </p:spPr>
      </p:sp>
      <p:pic>
        <p:nvPicPr>
          <p:cNvPr id="24" name="Image 3" descr="preencoded.png">    </p:cNvPr>
          <p:cNvPicPr>
            <a:picLocks noChangeAspect="1"/>
          </p:cNvPicPr>
          <p:nvPr/>
        </p:nvPicPr>
        <p:blipFill>
          <a:blip r:embed="rId4"/>
          <a:stretch>
            <a:fillRect/>
          </a:stretch>
        </p:blipFill>
        <p:spPr>
          <a:xfrm>
            <a:off x="826252" y="4511284"/>
            <a:ext cx="304312" cy="304312"/>
          </a:xfrm>
          <a:prstGeom prst="rect">
            <a:avLst/>
          </a:prstGeom>
        </p:spPr>
      </p:pic>
      <p:sp>
        <p:nvSpPr>
          <p:cNvPr id="25" name="Text 19"/>
          <p:cNvSpPr txBox="1"/>
          <p:nvPr/>
        </p:nvSpPr>
        <p:spPr>
          <a:xfrm>
            <a:off x="1463040" y="4352544"/>
            <a:ext cx="7772400" cy="329184"/>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Module 3  ·  Digital herd monitoring</a:t>
            </a:r>
            <a:endParaRPr lang="en-US" sz="1600" dirty="0"/>
          </a:p>
        </p:txBody>
      </p:sp>
      <p:sp>
        <p:nvSpPr>
          <p:cNvPr id="26" name="Text 20"/>
          <p:cNvSpPr txBox="1"/>
          <p:nvPr/>
        </p:nvSpPr>
        <p:spPr>
          <a:xfrm>
            <a:off x="1463040" y="4681728"/>
            <a:ext cx="8503920" cy="329184"/>
          </a:xfrm>
          <a:prstGeom prst="rect">
            <a:avLst/>
          </a:prstGeom>
          <a:noFill/>
          <a:ln/>
        </p:spPr>
        <p:txBody>
          <a:bodyPr wrap="square" lIns="0" tIns="0" rIns="0" bIns="0" rtlCol="0" anchor="ctr"/>
          <a:lstStyle/>
          <a:p>
            <a:pPr indent="0" marL="0">
              <a:buNone/>
            </a:pPr>
            <a:r>
              <a:rPr lang="en-US" sz="1200" dirty="0">
                <a:solidFill>
                  <a:srgbClr val="5B6B5B"/>
                </a:solidFill>
                <a:latin typeface="Calibri" pitchFamily="34" charset="0"/>
                <a:ea typeface="Calibri" pitchFamily="34" charset="-122"/>
                <a:cs typeface="Calibri" pitchFamily="34" charset="-120"/>
              </a:rPr>
              <a:t>Rumen bolus sensors: how they work, alerts, cases, NDHIS/iHealth integration, pilot design</a:t>
            </a:r>
            <a:endParaRPr lang="en-US" sz="1200" dirty="0"/>
          </a:p>
        </p:txBody>
      </p:sp>
      <p:sp>
        <p:nvSpPr>
          <p:cNvPr id="27" name="Text 21"/>
          <p:cNvSpPr txBox="1"/>
          <p:nvPr/>
        </p:nvSpPr>
        <p:spPr>
          <a:xfrm>
            <a:off x="10271455" y="4489704"/>
            <a:ext cx="1188720" cy="365760"/>
          </a:xfrm>
          <a:prstGeom prst="rect">
            <a:avLst/>
          </a:prstGeom>
          <a:noFill/>
          <a:ln/>
        </p:spPr>
        <p:txBody>
          <a:bodyPr wrap="square" lIns="0" tIns="0" rIns="0" bIns="0" rtlCol="0" anchor="ctr"/>
          <a:lstStyle/>
          <a:p>
            <a:pPr algn="r" indent="0" marL="0">
              <a:buNone/>
            </a:pPr>
            <a:r>
              <a:rPr lang="en-US" sz="1600" b="1" dirty="0">
                <a:solidFill>
                  <a:srgbClr val="D9A441"/>
                </a:solidFill>
                <a:latin typeface="Cambria" pitchFamily="34" charset="0"/>
                <a:ea typeface="Cambria" pitchFamily="34" charset="-122"/>
                <a:cs typeface="Cambria" pitchFamily="34" charset="-120"/>
              </a:rPr>
              <a:t>90 min</a:t>
            </a:r>
            <a:endParaRPr lang="en-US" sz="1600" dirty="0"/>
          </a:p>
        </p:txBody>
      </p:sp>
      <p:sp>
        <p:nvSpPr>
          <p:cNvPr id="28" name="Shape 22"/>
          <p:cNvSpPr/>
          <p:nvPr/>
        </p:nvSpPr>
        <p:spPr>
          <a:xfrm>
            <a:off x="548640" y="5193792"/>
            <a:ext cx="11094415" cy="804672"/>
          </a:xfrm>
          <a:prstGeom prst="roundRect">
            <a:avLst>
              <a:gd name="adj" fmla="val 13636"/>
            </a:avLst>
          </a:prstGeom>
          <a:solidFill>
            <a:srgbClr val="EEF4E6"/>
          </a:solidFill>
          <a:ln w="12700">
            <a:solidFill>
              <a:srgbClr val="EEF4E6"/>
            </a:solidFill>
            <a:prstDash val="solid"/>
          </a:ln>
        </p:spPr>
      </p:sp>
      <p:sp>
        <p:nvSpPr>
          <p:cNvPr id="29" name="Shape 23"/>
          <p:cNvSpPr/>
          <p:nvPr/>
        </p:nvSpPr>
        <p:spPr>
          <a:xfrm>
            <a:off x="685800" y="5303520"/>
            <a:ext cx="585216" cy="585216"/>
          </a:xfrm>
          <a:prstGeom prst="ellipse">
            <a:avLst/>
          </a:prstGeom>
          <a:solidFill>
            <a:srgbClr val="2C5F2D"/>
          </a:solidFill>
          <a:ln w="12700">
            <a:solidFill>
              <a:srgbClr val="2C5F2D"/>
            </a:solidFill>
            <a:prstDash val="solid"/>
          </a:ln>
        </p:spPr>
      </p:sp>
      <p:pic>
        <p:nvPicPr>
          <p:cNvPr id="30" name="Image 4" descr="preencoded.png">    </p:cNvPr>
          <p:cNvPicPr>
            <a:picLocks noChangeAspect="1"/>
          </p:cNvPicPr>
          <p:nvPr/>
        </p:nvPicPr>
        <p:blipFill>
          <a:blip r:embed="rId5"/>
          <a:stretch>
            <a:fillRect/>
          </a:stretch>
        </p:blipFill>
        <p:spPr>
          <a:xfrm>
            <a:off x="826252" y="5443972"/>
            <a:ext cx="304312" cy="304312"/>
          </a:xfrm>
          <a:prstGeom prst="rect">
            <a:avLst/>
          </a:prstGeom>
        </p:spPr>
      </p:pic>
      <p:sp>
        <p:nvSpPr>
          <p:cNvPr id="31" name="Text 24"/>
          <p:cNvSpPr txBox="1"/>
          <p:nvPr/>
        </p:nvSpPr>
        <p:spPr>
          <a:xfrm>
            <a:off x="1463040" y="5285232"/>
            <a:ext cx="7772400" cy="329184"/>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Module ★  ·  Practicum stations</a:t>
            </a:r>
            <a:endParaRPr lang="en-US" sz="1600" dirty="0"/>
          </a:p>
        </p:txBody>
      </p:sp>
      <p:sp>
        <p:nvSpPr>
          <p:cNvPr id="32" name="Text 25"/>
          <p:cNvSpPr txBox="1"/>
          <p:nvPr/>
        </p:nvSpPr>
        <p:spPr>
          <a:xfrm>
            <a:off x="1463040" y="5614416"/>
            <a:ext cx="8503920" cy="329184"/>
          </a:xfrm>
          <a:prstGeom prst="rect">
            <a:avLst/>
          </a:prstGeom>
          <a:noFill/>
          <a:ln/>
        </p:spPr>
        <p:txBody>
          <a:bodyPr wrap="square" lIns="0" tIns="0" rIns="0" bIns="0" rtlCol="0" anchor="ctr"/>
          <a:lstStyle/>
          <a:p>
            <a:pPr indent="0" marL="0">
              <a:buNone/>
            </a:pPr>
            <a:r>
              <a:rPr lang="en-US" sz="1200" dirty="0">
                <a:solidFill>
                  <a:srgbClr val="5B6B5B"/>
                </a:solidFill>
                <a:latin typeface="Calibri" pitchFamily="34" charset="0"/>
                <a:ea typeface="Calibri" pitchFamily="34" charset="-122"/>
                <a:cs typeface="Calibri" pitchFamily="34" charset="-120"/>
              </a:rPr>
              <a:t>Heat detection &amp; AI timing · ultrasound PD · CMT &amp; milking routine · bolus demo &amp; app</a:t>
            </a:r>
            <a:endParaRPr lang="en-US" sz="1200" dirty="0"/>
          </a:p>
        </p:txBody>
      </p:sp>
      <p:sp>
        <p:nvSpPr>
          <p:cNvPr id="33" name="Text 26"/>
          <p:cNvSpPr txBox="1"/>
          <p:nvPr/>
        </p:nvSpPr>
        <p:spPr>
          <a:xfrm>
            <a:off x="10271455" y="5422392"/>
            <a:ext cx="1188720" cy="365760"/>
          </a:xfrm>
          <a:prstGeom prst="rect">
            <a:avLst/>
          </a:prstGeom>
          <a:noFill/>
          <a:ln/>
        </p:spPr>
        <p:txBody>
          <a:bodyPr wrap="square" lIns="0" tIns="0" rIns="0" bIns="0" rtlCol="0" anchor="ctr"/>
          <a:lstStyle/>
          <a:p>
            <a:pPr algn="r" indent="0" marL="0">
              <a:buNone/>
            </a:pPr>
            <a:r>
              <a:rPr lang="en-US" sz="1600" b="1" dirty="0">
                <a:solidFill>
                  <a:srgbClr val="D9A441"/>
                </a:solidFill>
                <a:latin typeface="Cambria" pitchFamily="34" charset="0"/>
                <a:ea typeface="Cambria" pitchFamily="34" charset="-122"/>
                <a:cs typeface="Cambria" pitchFamily="34" charset="-120"/>
              </a:rPr>
              <a:t>120 min</a:t>
            </a:r>
            <a:endParaRPr lang="en-US" sz="1600" dirty="0"/>
          </a:p>
        </p:txBody>
      </p:sp>
      <p:sp>
        <p:nvSpPr>
          <p:cNvPr id="34" name="Text 2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35" name="Text 2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548640" y="2103120"/>
            <a:ext cx="1188720" cy="1188720"/>
          </a:xfrm>
          <a:prstGeom prst="ellipse">
            <a:avLst/>
          </a:prstGeom>
          <a:solidFill>
            <a:srgbClr val="97BC62"/>
          </a:solidFill>
          <a:ln w="12700">
            <a:solidFill>
              <a:srgbClr val="97BC62"/>
            </a:solidFill>
            <a:prstDash val="solid"/>
          </a:ln>
        </p:spPr>
      </p:sp>
      <p:pic>
        <p:nvPicPr>
          <p:cNvPr id="3" name="Image 0" descr="preencoded.png">    </p:cNvPr>
          <p:cNvPicPr>
            <a:picLocks noChangeAspect="1"/>
          </p:cNvPicPr>
          <p:nvPr/>
        </p:nvPicPr>
        <p:blipFill>
          <a:blip r:embed="rId1"/>
          <a:stretch>
            <a:fillRect/>
          </a:stretch>
        </p:blipFill>
        <p:spPr>
          <a:xfrm>
            <a:off x="833933" y="2388413"/>
            <a:ext cx="618134" cy="618134"/>
          </a:xfrm>
          <a:prstGeom prst="rect">
            <a:avLst/>
          </a:prstGeom>
        </p:spPr>
      </p:pic>
      <p:sp>
        <p:nvSpPr>
          <p:cNvPr id="4" name="Text 1"/>
          <p:cNvSpPr txBox="1"/>
          <p:nvPr/>
        </p:nvSpPr>
        <p:spPr>
          <a:xfrm>
            <a:off x="548640" y="3520440"/>
            <a:ext cx="5486400" cy="320040"/>
          </a:xfrm>
          <a:prstGeom prst="rect">
            <a:avLst/>
          </a:prstGeom>
          <a:noFill/>
          <a:ln/>
        </p:spPr>
        <p:txBody>
          <a:bodyPr wrap="square" lIns="0" tIns="0" rIns="0" bIns="0" rtlCol="0" anchor="ctr"/>
          <a:lstStyle/>
          <a:p>
            <a:pPr indent="0" marL="0">
              <a:buNone/>
            </a:pPr>
            <a:r>
              <a:rPr lang="en-US" sz="1300" b="1" spc="300" kern="0" dirty="0">
                <a:solidFill>
                  <a:srgbClr val="97BC62"/>
                </a:solidFill>
                <a:latin typeface="Calibri" pitchFamily="34" charset="0"/>
                <a:ea typeface="Calibri" pitchFamily="34" charset="-122"/>
                <a:cs typeface="Calibri" pitchFamily="34" charset="-120"/>
              </a:rPr>
              <a:t>MODULE 0</a:t>
            </a:r>
            <a:endParaRPr lang="en-US" sz="1300" dirty="0"/>
          </a:p>
        </p:txBody>
      </p:sp>
      <p:sp>
        <p:nvSpPr>
          <p:cNvPr id="5" name="Text 2"/>
          <p:cNvSpPr txBox="1"/>
          <p:nvPr/>
        </p:nvSpPr>
        <p:spPr>
          <a:xfrm>
            <a:off x="548640" y="384048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Korea’s dairy journey</a:t>
            </a:r>
            <a:endParaRPr lang="en-US" sz="4000" dirty="0"/>
          </a:p>
        </p:txBody>
      </p:sp>
      <p:sp>
        <p:nvSpPr>
          <p:cNvPr id="6" name="Text 3"/>
          <p:cNvSpPr txBox="1"/>
          <p:nvPr/>
        </p:nvSpPr>
        <p:spPr>
          <a:xfrm>
            <a:off x="548640" y="4800600"/>
            <a:ext cx="10058400" cy="731520"/>
          </a:xfrm>
          <a:prstGeom prst="rect">
            <a:avLst/>
          </a:prstGeom>
          <a:noFill/>
          <a:ln/>
        </p:spPr>
        <p:txBody>
          <a:bodyPr wrap="square" lIns="0" tIns="0" rIns="0" bIns="0" rtlCol="0" anchor="ctr"/>
          <a:lstStyle/>
          <a:p>
            <a:pPr indent="0" marL="0">
              <a:buNone/>
            </a:pPr>
            <a:r>
              <a:rPr lang="en-US" sz="1600" dirty="0">
                <a:solidFill>
                  <a:srgbClr val="EEF4E6"/>
                </a:solidFill>
                <a:latin typeface="Calibri" pitchFamily="34" charset="0"/>
                <a:ea typeface="Calibri" pitchFamily="34" charset="-122"/>
                <a:cs typeface="Calibri" pitchFamily="34" charset="-120"/>
              </a:rPr>
              <a:t>Fifty years from a demonstration farm to one of the world’s highest-yielding national herds — and why the same playbook fits the Philippines.</a:t>
            </a:r>
            <a:endParaRPr lang="en-US" sz="1600" dirty="0"/>
          </a:p>
        </p:txBody>
      </p:sp>
      <p:sp>
        <p:nvSpPr>
          <p:cNvPr id="7" name="Text 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7BC62"/>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8"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97BC6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0 · KOREA’S DAIRY JOURNEY</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It started with one demonstration farm</a:t>
            </a:r>
            <a:endParaRPr lang="en-US" sz="2600" dirty="0"/>
          </a:p>
        </p:txBody>
      </p:sp>
      <p:sp>
        <p:nvSpPr>
          <p:cNvPr id="4" name="Shape 2"/>
          <p:cNvSpPr/>
          <p:nvPr/>
        </p:nvSpPr>
        <p:spPr>
          <a:xfrm>
            <a:off x="960120" y="1691640"/>
            <a:ext cx="0" cy="4343400"/>
          </a:xfrm>
          <a:prstGeom prst="line">
            <a:avLst/>
          </a:prstGeom>
          <a:noFill/>
          <a:ln w="38100">
            <a:solidFill>
              <a:srgbClr val="97BC62"/>
            </a:solidFill>
            <a:prstDash val="solid"/>
          </a:ln>
        </p:spPr>
      </p:sp>
      <p:sp>
        <p:nvSpPr>
          <p:cNvPr id="5" name="Shape 3"/>
          <p:cNvSpPr/>
          <p:nvPr/>
        </p:nvSpPr>
        <p:spPr>
          <a:xfrm>
            <a:off x="795528" y="1618488"/>
            <a:ext cx="329184" cy="329184"/>
          </a:xfrm>
          <a:prstGeom prst="ellipse">
            <a:avLst/>
          </a:prstGeom>
          <a:solidFill>
            <a:srgbClr val="2C5F2D"/>
          </a:solidFill>
          <a:ln w="25400">
            <a:solidFill>
              <a:srgbClr val="FFFFFF"/>
            </a:solidFill>
            <a:prstDash val="solid"/>
          </a:ln>
        </p:spPr>
      </p:sp>
      <p:sp>
        <p:nvSpPr>
          <p:cNvPr id="6" name="Text 4"/>
          <p:cNvSpPr txBox="1"/>
          <p:nvPr/>
        </p:nvSpPr>
        <p:spPr>
          <a:xfrm>
            <a:off x="1417320" y="1508760"/>
            <a:ext cx="1463040" cy="548640"/>
          </a:xfrm>
          <a:prstGeom prst="rect">
            <a:avLst/>
          </a:prstGeom>
          <a:noFill/>
          <a:ln/>
        </p:spPr>
        <p:txBody>
          <a:bodyPr wrap="square" lIns="0" tIns="0" rIns="0" bIns="0" rtlCol="0" anchor="ctr"/>
          <a:lstStyle/>
          <a:p>
            <a:pPr indent="0" marL="0">
              <a:buNone/>
            </a:pPr>
            <a:r>
              <a:rPr lang="en-US" sz="1800" b="1" dirty="0">
                <a:solidFill>
                  <a:srgbClr val="2C5F2D"/>
                </a:solidFill>
                <a:latin typeface="Cambria" pitchFamily="34" charset="0"/>
                <a:ea typeface="Cambria" pitchFamily="34" charset="-122"/>
                <a:cs typeface="Cambria" pitchFamily="34" charset="-120"/>
              </a:rPr>
              <a:t>1964</a:t>
            </a:r>
            <a:endParaRPr lang="en-US" sz="1800" dirty="0"/>
          </a:p>
        </p:txBody>
      </p:sp>
      <p:sp>
        <p:nvSpPr>
          <p:cNvPr id="7" name="Text 5"/>
          <p:cNvSpPr txBox="1"/>
          <p:nvPr/>
        </p:nvSpPr>
        <p:spPr>
          <a:xfrm>
            <a:off x="2926080" y="1508760"/>
            <a:ext cx="5760720" cy="548640"/>
          </a:xfrm>
          <a:prstGeom prst="rect">
            <a:avLst/>
          </a:prstGeom>
          <a:noFill/>
          <a:ln/>
        </p:spPr>
        <p:txBody>
          <a:bodyPr wrap="square" lIns="0" tIns="0" rIns="0" bIns="0" rtlCol="0" anchor="ctr"/>
          <a:lstStyle/>
          <a:p>
            <a:pPr indent="0" marL="0">
              <a:buNone/>
            </a:pPr>
            <a:r>
              <a:rPr lang="en-US" sz="1400" dirty="0">
                <a:solidFill>
                  <a:srgbClr val="1F2A1F"/>
                </a:solidFill>
                <a:latin typeface="Calibri" pitchFamily="34" charset="0"/>
                <a:ea typeface="Calibri" pitchFamily="34" charset="-122"/>
                <a:cs typeface="Calibri" pitchFamily="34" charset="-120"/>
              </a:rPr>
              <a:t>Korea–West Germany summit: “feed every poor child milk”</a:t>
            </a:r>
            <a:endParaRPr lang="en-US" sz="1400" dirty="0"/>
          </a:p>
        </p:txBody>
      </p:sp>
      <p:sp>
        <p:nvSpPr>
          <p:cNvPr id="8" name="Shape 6"/>
          <p:cNvSpPr/>
          <p:nvPr/>
        </p:nvSpPr>
        <p:spPr>
          <a:xfrm>
            <a:off x="795528" y="2368296"/>
            <a:ext cx="329184" cy="329184"/>
          </a:xfrm>
          <a:prstGeom prst="ellipse">
            <a:avLst/>
          </a:prstGeom>
          <a:solidFill>
            <a:srgbClr val="2C5F2D"/>
          </a:solidFill>
          <a:ln w="25400">
            <a:solidFill>
              <a:srgbClr val="FFFFFF"/>
            </a:solidFill>
            <a:prstDash val="solid"/>
          </a:ln>
        </p:spPr>
      </p:sp>
      <p:sp>
        <p:nvSpPr>
          <p:cNvPr id="9" name="Text 7"/>
          <p:cNvSpPr txBox="1"/>
          <p:nvPr/>
        </p:nvSpPr>
        <p:spPr>
          <a:xfrm>
            <a:off x="1417320" y="2258568"/>
            <a:ext cx="1463040" cy="548640"/>
          </a:xfrm>
          <a:prstGeom prst="rect">
            <a:avLst/>
          </a:prstGeom>
          <a:noFill/>
          <a:ln/>
        </p:spPr>
        <p:txBody>
          <a:bodyPr wrap="square" lIns="0" tIns="0" rIns="0" bIns="0" rtlCol="0" anchor="ctr"/>
          <a:lstStyle/>
          <a:p>
            <a:pPr indent="0" marL="0">
              <a:buNone/>
            </a:pPr>
            <a:r>
              <a:rPr lang="en-US" sz="1800" b="1" dirty="0">
                <a:solidFill>
                  <a:srgbClr val="2C5F2D"/>
                </a:solidFill>
                <a:latin typeface="Cambria" pitchFamily="34" charset="0"/>
                <a:ea typeface="Cambria" pitchFamily="34" charset="-122"/>
                <a:cs typeface="Cambria" pitchFamily="34" charset="-120"/>
              </a:rPr>
              <a:t>1969</a:t>
            </a:r>
            <a:endParaRPr lang="en-US" sz="1800" dirty="0"/>
          </a:p>
        </p:txBody>
      </p:sp>
      <p:sp>
        <p:nvSpPr>
          <p:cNvPr id="10" name="Text 8"/>
          <p:cNvSpPr txBox="1"/>
          <p:nvPr/>
        </p:nvSpPr>
        <p:spPr>
          <a:xfrm>
            <a:off x="2926080" y="2258568"/>
            <a:ext cx="5760720" cy="548640"/>
          </a:xfrm>
          <a:prstGeom prst="rect">
            <a:avLst/>
          </a:prstGeom>
          <a:noFill/>
          <a:ln/>
        </p:spPr>
        <p:txBody>
          <a:bodyPr wrap="square" lIns="0" tIns="0" rIns="0" bIns="0" rtlCol="0" anchor="ctr"/>
          <a:lstStyle/>
          <a:p>
            <a:pPr indent="0" marL="0">
              <a:buNone/>
            </a:pPr>
            <a:r>
              <a:rPr lang="en-US" sz="1400" dirty="0">
                <a:solidFill>
                  <a:srgbClr val="1F2A1F"/>
                </a:solidFill>
                <a:latin typeface="Calibri" pitchFamily="34" charset="0"/>
                <a:ea typeface="Calibri" pitchFamily="34" charset="-122"/>
                <a:cs typeface="Calibri" pitchFamily="34" charset="-120"/>
              </a:rPr>
              <a:t>Korean-German Demonstration Dairy Farm opens in Anseong — training + technology transfer hub</a:t>
            </a:r>
            <a:endParaRPr lang="en-US" sz="1400" dirty="0"/>
          </a:p>
        </p:txBody>
      </p:sp>
      <p:sp>
        <p:nvSpPr>
          <p:cNvPr id="11" name="Shape 9"/>
          <p:cNvSpPr/>
          <p:nvPr/>
        </p:nvSpPr>
        <p:spPr>
          <a:xfrm>
            <a:off x="795528" y="3118104"/>
            <a:ext cx="329184" cy="329184"/>
          </a:xfrm>
          <a:prstGeom prst="ellipse">
            <a:avLst/>
          </a:prstGeom>
          <a:solidFill>
            <a:srgbClr val="2C5F2D"/>
          </a:solidFill>
          <a:ln w="25400">
            <a:solidFill>
              <a:srgbClr val="FFFFFF"/>
            </a:solidFill>
            <a:prstDash val="solid"/>
          </a:ln>
        </p:spPr>
      </p:sp>
      <p:sp>
        <p:nvSpPr>
          <p:cNvPr id="12" name="Text 10"/>
          <p:cNvSpPr txBox="1"/>
          <p:nvPr/>
        </p:nvSpPr>
        <p:spPr>
          <a:xfrm>
            <a:off x="1417320" y="3008376"/>
            <a:ext cx="1463040" cy="548640"/>
          </a:xfrm>
          <a:prstGeom prst="rect">
            <a:avLst/>
          </a:prstGeom>
          <a:noFill/>
          <a:ln/>
        </p:spPr>
        <p:txBody>
          <a:bodyPr wrap="square" lIns="0" tIns="0" rIns="0" bIns="0" rtlCol="0" anchor="ctr"/>
          <a:lstStyle/>
          <a:p>
            <a:pPr indent="0" marL="0">
              <a:buNone/>
            </a:pPr>
            <a:r>
              <a:rPr lang="en-US" sz="1800" b="1" dirty="0">
                <a:solidFill>
                  <a:srgbClr val="2C5F2D"/>
                </a:solidFill>
                <a:latin typeface="Cambria" pitchFamily="34" charset="0"/>
                <a:ea typeface="Cambria" pitchFamily="34" charset="-122"/>
                <a:cs typeface="Cambria" pitchFamily="34" charset="-120"/>
              </a:rPr>
              <a:t>1970s–80s</a:t>
            </a:r>
            <a:endParaRPr lang="en-US" sz="1800" dirty="0"/>
          </a:p>
        </p:txBody>
      </p:sp>
      <p:sp>
        <p:nvSpPr>
          <p:cNvPr id="13" name="Text 11"/>
          <p:cNvSpPr txBox="1"/>
          <p:nvPr/>
        </p:nvSpPr>
        <p:spPr>
          <a:xfrm>
            <a:off x="2926080" y="3008376"/>
            <a:ext cx="5760720" cy="548640"/>
          </a:xfrm>
          <a:prstGeom prst="rect">
            <a:avLst/>
          </a:prstGeom>
          <a:noFill/>
          <a:ln/>
        </p:spPr>
        <p:txBody>
          <a:bodyPr wrap="square" lIns="0" tIns="0" rIns="0" bIns="0" rtlCol="0" anchor="ctr"/>
          <a:lstStyle/>
          <a:p>
            <a:pPr indent="0" marL="0">
              <a:buNone/>
            </a:pPr>
            <a:r>
              <a:rPr lang="en-US" sz="1400" dirty="0">
                <a:solidFill>
                  <a:srgbClr val="1F2A1F"/>
                </a:solidFill>
                <a:latin typeface="Calibri" pitchFamily="34" charset="0"/>
                <a:ea typeface="Calibri" pitchFamily="34" charset="-122"/>
                <a:cs typeface="Calibri" pitchFamily="34" charset="-120"/>
              </a:rPr>
              <a:t>Cooperatives, milk collection, imported Holstein genetics, AI network</a:t>
            </a:r>
            <a:endParaRPr lang="en-US" sz="1400" dirty="0"/>
          </a:p>
        </p:txBody>
      </p:sp>
      <p:sp>
        <p:nvSpPr>
          <p:cNvPr id="14" name="Shape 12"/>
          <p:cNvSpPr/>
          <p:nvPr/>
        </p:nvSpPr>
        <p:spPr>
          <a:xfrm>
            <a:off x="795528" y="3867912"/>
            <a:ext cx="329184" cy="329184"/>
          </a:xfrm>
          <a:prstGeom prst="ellipse">
            <a:avLst/>
          </a:prstGeom>
          <a:solidFill>
            <a:srgbClr val="2C5F2D"/>
          </a:solidFill>
          <a:ln w="25400">
            <a:solidFill>
              <a:srgbClr val="FFFFFF"/>
            </a:solidFill>
            <a:prstDash val="solid"/>
          </a:ln>
        </p:spPr>
      </p:sp>
      <p:sp>
        <p:nvSpPr>
          <p:cNvPr id="15" name="Text 13"/>
          <p:cNvSpPr txBox="1"/>
          <p:nvPr/>
        </p:nvSpPr>
        <p:spPr>
          <a:xfrm>
            <a:off x="1417320" y="3758184"/>
            <a:ext cx="1463040" cy="548640"/>
          </a:xfrm>
          <a:prstGeom prst="rect">
            <a:avLst/>
          </a:prstGeom>
          <a:noFill/>
          <a:ln/>
        </p:spPr>
        <p:txBody>
          <a:bodyPr wrap="square" lIns="0" tIns="0" rIns="0" bIns="0" rtlCol="0" anchor="ctr"/>
          <a:lstStyle/>
          <a:p>
            <a:pPr indent="0" marL="0">
              <a:buNone/>
            </a:pPr>
            <a:r>
              <a:rPr lang="en-US" sz="1800" b="1" dirty="0">
                <a:solidFill>
                  <a:srgbClr val="2C5F2D"/>
                </a:solidFill>
                <a:latin typeface="Cambria" pitchFamily="34" charset="0"/>
                <a:ea typeface="Cambria" pitchFamily="34" charset="-122"/>
                <a:cs typeface="Cambria" pitchFamily="34" charset="-120"/>
              </a:rPr>
              <a:t>1990s</a:t>
            </a:r>
            <a:endParaRPr lang="en-US" sz="1800" dirty="0"/>
          </a:p>
        </p:txBody>
      </p:sp>
      <p:sp>
        <p:nvSpPr>
          <p:cNvPr id="16" name="Text 14"/>
          <p:cNvSpPr txBox="1"/>
          <p:nvPr/>
        </p:nvSpPr>
        <p:spPr>
          <a:xfrm>
            <a:off x="2926080" y="3758184"/>
            <a:ext cx="5760720" cy="548640"/>
          </a:xfrm>
          <a:prstGeom prst="rect">
            <a:avLst/>
          </a:prstGeom>
          <a:noFill/>
          <a:ln/>
        </p:spPr>
        <p:txBody>
          <a:bodyPr wrap="square" lIns="0" tIns="0" rIns="0" bIns="0" rtlCol="0" anchor="ctr"/>
          <a:lstStyle/>
          <a:p>
            <a:pPr indent="0" marL="0">
              <a:buNone/>
            </a:pPr>
            <a:r>
              <a:rPr lang="en-US" sz="1400" dirty="0">
                <a:solidFill>
                  <a:srgbClr val="1F2A1F"/>
                </a:solidFill>
                <a:latin typeface="Calibri" pitchFamily="34" charset="0"/>
                <a:ea typeface="Calibri" pitchFamily="34" charset="-122"/>
                <a:cs typeface="Calibri" pitchFamily="34" charset="-120"/>
              </a:rPr>
              <a:t>Dairy Herd Improvement (DHI) testing, milk-quality grading, veterinary services</a:t>
            </a:r>
            <a:endParaRPr lang="en-US" sz="1400" dirty="0"/>
          </a:p>
        </p:txBody>
      </p:sp>
      <p:sp>
        <p:nvSpPr>
          <p:cNvPr id="17" name="Shape 15"/>
          <p:cNvSpPr/>
          <p:nvPr/>
        </p:nvSpPr>
        <p:spPr>
          <a:xfrm>
            <a:off x="795528" y="4617720"/>
            <a:ext cx="329184" cy="329184"/>
          </a:xfrm>
          <a:prstGeom prst="ellipse">
            <a:avLst/>
          </a:prstGeom>
          <a:solidFill>
            <a:srgbClr val="2C5F2D"/>
          </a:solidFill>
          <a:ln w="25400">
            <a:solidFill>
              <a:srgbClr val="FFFFFF"/>
            </a:solidFill>
            <a:prstDash val="solid"/>
          </a:ln>
        </p:spPr>
      </p:sp>
      <p:sp>
        <p:nvSpPr>
          <p:cNvPr id="18" name="Text 16"/>
          <p:cNvSpPr txBox="1"/>
          <p:nvPr/>
        </p:nvSpPr>
        <p:spPr>
          <a:xfrm>
            <a:off x="1417320" y="4507992"/>
            <a:ext cx="1463040" cy="548640"/>
          </a:xfrm>
          <a:prstGeom prst="rect">
            <a:avLst/>
          </a:prstGeom>
          <a:noFill/>
          <a:ln/>
        </p:spPr>
        <p:txBody>
          <a:bodyPr wrap="square" lIns="0" tIns="0" rIns="0" bIns="0" rtlCol="0" anchor="ctr"/>
          <a:lstStyle/>
          <a:p>
            <a:pPr indent="0" marL="0">
              <a:buNone/>
            </a:pPr>
            <a:r>
              <a:rPr lang="en-US" sz="1800" b="1" dirty="0">
                <a:solidFill>
                  <a:srgbClr val="2C5F2D"/>
                </a:solidFill>
                <a:latin typeface="Cambria" pitchFamily="34" charset="0"/>
                <a:ea typeface="Cambria" pitchFamily="34" charset="-122"/>
                <a:cs typeface="Cambria" pitchFamily="34" charset="-120"/>
              </a:rPr>
              <a:t>2010s</a:t>
            </a:r>
            <a:endParaRPr lang="en-US" sz="1800" dirty="0"/>
          </a:p>
        </p:txBody>
      </p:sp>
      <p:sp>
        <p:nvSpPr>
          <p:cNvPr id="19" name="Text 17"/>
          <p:cNvSpPr txBox="1"/>
          <p:nvPr/>
        </p:nvSpPr>
        <p:spPr>
          <a:xfrm>
            <a:off x="2926080" y="4507992"/>
            <a:ext cx="5760720" cy="548640"/>
          </a:xfrm>
          <a:prstGeom prst="rect">
            <a:avLst/>
          </a:prstGeom>
          <a:noFill/>
          <a:ln/>
        </p:spPr>
        <p:txBody>
          <a:bodyPr wrap="square" lIns="0" tIns="0" rIns="0" bIns="0" rtlCol="0" anchor="ctr"/>
          <a:lstStyle/>
          <a:p>
            <a:pPr indent="0" marL="0">
              <a:buNone/>
            </a:pPr>
            <a:r>
              <a:rPr lang="en-US" sz="1400" dirty="0">
                <a:solidFill>
                  <a:srgbClr val="1F2A1F"/>
                </a:solidFill>
                <a:latin typeface="Calibri" pitchFamily="34" charset="0"/>
                <a:ea typeface="Calibri" pitchFamily="34" charset="-122"/>
                <a:cs typeface="Calibri" pitchFamily="34" charset="-120"/>
              </a:rPr>
              <a:t>Robotic milking, sexed semen, embryo transfer, genomic selection</a:t>
            </a:r>
            <a:endParaRPr lang="en-US" sz="1400" dirty="0"/>
          </a:p>
        </p:txBody>
      </p:sp>
      <p:sp>
        <p:nvSpPr>
          <p:cNvPr id="20" name="Shape 18"/>
          <p:cNvSpPr/>
          <p:nvPr/>
        </p:nvSpPr>
        <p:spPr>
          <a:xfrm>
            <a:off x="795528" y="5367528"/>
            <a:ext cx="329184" cy="329184"/>
          </a:xfrm>
          <a:prstGeom prst="ellipse">
            <a:avLst/>
          </a:prstGeom>
          <a:solidFill>
            <a:srgbClr val="2C5F2D"/>
          </a:solidFill>
          <a:ln w="25400">
            <a:solidFill>
              <a:srgbClr val="FFFFFF"/>
            </a:solidFill>
            <a:prstDash val="solid"/>
          </a:ln>
        </p:spPr>
      </p:sp>
      <p:sp>
        <p:nvSpPr>
          <p:cNvPr id="21" name="Text 19"/>
          <p:cNvSpPr txBox="1"/>
          <p:nvPr/>
        </p:nvSpPr>
        <p:spPr>
          <a:xfrm>
            <a:off x="1417320" y="5257800"/>
            <a:ext cx="1463040" cy="548640"/>
          </a:xfrm>
          <a:prstGeom prst="rect">
            <a:avLst/>
          </a:prstGeom>
          <a:noFill/>
          <a:ln/>
        </p:spPr>
        <p:txBody>
          <a:bodyPr wrap="square" lIns="0" tIns="0" rIns="0" bIns="0" rtlCol="0" anchor="ctr"/>
          <a:lstStyle/>
          <a:p>
            <a:pPr indent="0" marL="0">
              <a:buNone/>
            </a:pPr>
            <a:r>
              <a:rPr lang="en-US" sz="1800" b="1" dirty="0">
                <a:solidFill>
                  <a:srgbClr val="2C5F2D"/>
                </a:solidFill>
                <a:latin typeface="Cambria" pitchFamily="34" charset="0"/>
                <a:ea typeface="Cambria" pitchFamily="34" charset="-122"/>
                <a:cs typeface="Cambria" pitchFamily="34" charset="-120"/>
              </a:rPr>
              <a:t>2020s</a:t>
            </a:r>
            <a:endParaRPr lang="en-US" sz="1800" dirty="0"/>
          </a:p>
        </p:txBody>
      </p:sp>
      <p:sp>
        <p:nvSpPr>
          <p:cNvPr id="22" name="Text 20"/>
          <p:cNvSpPr txBox="1"/>
          <p:nvPr/>
        </p:nvSpPr>
        <p:spPr>
          <a:xfrm>
            <a:off x="2926080" y="5257800"/>
            <a:ext cx="5760720" cy="548640"/>
          </a:xfrm>
          <a:prstGeom prst="rect">
            <a:avLst/>
          </a:prstGeom>
          <a:noFill/>
          <a:ln/>
        </p:spPr>
        <p:txBody>
          <a:bodyPr wrap="square" lIns="0" tIns="0" rIns="0" bIns="0" rtlCol="0" anchor="ctr"/>
          <a:lstStyle/>
          <a:p>
            <a:pPr indent="0" marL="0">
              <a:buNone/>
            </a:pPr>
            <a:r>
              <a:rPr lang="en-US" sz="1400" dirty="0">
                <a:solidFill>
                  <a:srgbClr val="1F2A1F"/>
                </a:solidFill>
                <a:latin typeface="Calibri" pitchFamily="34" charset="0"/>
                <a:ea typeface="Calibri" pitchFamily="34" charset="-122"/>
                <a:cs typeface="Calibri" pitchFamily="34" charset="-120"/>
              </a:rPr>
              <a:t>Rumen sensors, AI platforms, provincial-scale digital herd management</a:t>
            </a:r>
            <a:endParaRPr lang="en-US" sz="1400" dirty="0"/>
          </a:p>
        </p:txBody>
      </p:sp>
      <p:sp>
        <p:nvSpPr>
          <p:cNvPr id="23" name="Shape 21"/>
          <p:cNvSpPr/>
          <p:nvPr/>
        </p:nvSpPr>
        <p:spPr>
          <a:xfrm>
            <a:off x="8778240" y="1554480"/>
            <a:ext cx="2880360" cy="4206240"/>
          </a:xfrm>
          <a:prstGeom prst="roundRect">
            <a:avLst>
              <a:gd name="adj" fmla="val 3810"/>
            </a:avLst>
          </a:prstGeom>
          <a:solidFill>
            <a:srgbClr val="EEF4E6"/>
          </a:solidFill>
          <a:ln w="12700">
            <a:solidFill>
              <a:srgbClr val="EEF4E6"/>
            </a:solidFill>
            <a:prstDash val="solid"/>
          </a:ln>
        </p:spPr>
      </p:sp>
      <p:pic>
        <p:nvPicPr>
          <p:cNvPr id="24" name="Image 0" descr="preencoded.png">    </p:cNvPr>
          <p:cNvPicPr>
            <a:picLocks noChangeAspect="1"/>
          </p:cNvPicPr>
          <p:nvPr/>
        </p:nvPicPr>
        <p:blipFill>
          <a:blip r:embed="rId1"/>
          <a:stretch>
            <a:fillRect/>
          </a:stretch>
        </p:blipFill>
        <p:spPr>
          <a:xfrm>
            <a:off x="9006840" y="1783080"/>
            <a:ext cx="411480" cy="411480"/>
          </a:xfrm>
          <a:prstGeom prst="rect">
            <a:avLst/>
          </a:prstGeom>
        </p:spPr>
      </p:pic>
      <p:sp>
        <p:nvSpPr>
          <p:cNvPr id="25" name="Text 22"/>
          <p:cNvSpPr txBox="1"/>
          <p:nvPr/>
        </p:nvSpPr>
        <p:spPr>
          <a:xfrm>
            <a:off x="9006840" y="2286000"/>
            <a:ext cx="2468880" cy="3291840"/>
          </a:xfrm>
          <a:prstGeom prst="rect">
            <a:avLst/>
          </a:prstGeom>
          <a:noFill/>
          <a:ln/>
        </p:spPr>
        <p:txBody>
          <a:bodyPr wrap="square" lIns="0" tIns="0" rIns="0" bIns="0" rtlCol="0" anchor="t"/>
          <a:lstStyle/>
          <a:p>
            <a:pPr indent="0" marL="0">
              <a:buNone/>
            </a:pPr>
            <a:r>
              <a:rPr lang="en-US" sz="1400" i="1" dirty="0">
                <a:solidFill>
                  <a:srgbClr val="2C5F2D"/>
                </a:solidFill>
                <a:latin typeface="Cambria" pitchFamily="34" charset="0"/>
                <a:ea typeface="Cambria" pitchFamily="34" charset="-122"/>
                <a:cs typeface="Cambria" pitchFamily="34" charset="-120"/>
              </a:rPr>
              <a:t>The Philippines today is where Korea was in 1969: a small herd, imported know-how, and a government that decided dairy matters. The difference now is that data tools exist from day one.</a:t>
            </a:r>
            <a:endParaRPr lang="en-US" sz="1400" dirty="0"/>
          </a:p>
        </p:txBody>
      </p:sp>
      <p:sp>
        <p:nvSpPr>
          <p:cNvPr id="26" name="Text 2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27" name="Text 2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0 · KOREA’S DAIRY JOURNEY</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What five decades of management built</a:t>
            </a:r>
            <a:endParaRPr lang="en-US" sz="2600" dirty="0"/>
          </a:p>
        </p:txBody>
      </p:sp>
      <p:graphicFrame>
        <p:nvGraphicFramePr>
          <p:cNvPr id="4" name="Chart 0" descr=""/>
          <p:cNvGraphicFramePr/>
          <p:nvPr/>
        </p:nvGraphicFramePr>
        <p:xfrm>
          <a:off x="548640" y="137160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371600"/>
            <a:ext cx="3794760" cy="4754880"/>
          </a:xfrm>
          <a:prstGeom prst="roundRect">
            <a:avLst>
              <a:gd name="adj" fmla="val 2892"/>
            </a:avLst>
          </a:prstGeom>
          <a:solidFill>
            <a:srgbClr val="EEF4E6"/>
          </a:solidFill>
          <a:ln w="12700">
            <a:solidFill>
              <a:srgbClr val="EEF4E6"/>
            </a:solidFill>
            <a:prstDash val="solid"/>
          </a:ln>
        </p:spPr>
      </p:sp>
      <p:sp>
        <p:nvSpPr>
          <p:cNvPr id="6" name="Text 3"/>
          <p:cNvSpPr txBox="1"/>
          <p:nvPr/>
        </p:nvSpPr>
        <p:spPr>
          <a:xfrm>
            <a:off x="8092440" y="1554480"/>
            <a:ext cx="3383280" cy="36576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Philippine starting point</a:t>
            </a:r>
            <a:endParaRPr lang="en-US" sz="1700" dirty="0"/>
          </a:p>
        </p:txBody>
      </p:sp>
      <p:sp>
        <p:nvSpPr>
          <p:cNvPr id="7" name="Text 4"/>
          <p:cNvSpPr txBox="1"/>
          <p:nvPr/>
        </p:nvSpPr>
        <p:spPr>
          <a:xfrm>
            <a:off x="8092440" y="2011680"/>
            <a:ext cx="3383280" cy="31089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A1F"/>
                </a:solidFill>
                <a:latin typeface="Calibri" pitchFamily="34" charset="0"/>
                <a:ea typeface="Calibri" pitchFamily="34" charset="-122"/>
                <a:cs typeface="Calibri" pitchFamily="34" charset="-120"/>
              </a:rPr>
              <a:t>Local milk supplies only a small share of national demand (roughly 1–2%) — huge room to grow</a:t>
            </a:r>
            <a:endParaRPr lang="en-US" sz="1250" dirty="0"/>
          </a:p>
          <a:p>
            <a:pPr marL="177800" indent="-177800">
              <a:spcAft>
                <a:spcPts val="600"/>
              </a:spcAft>
              <a:buSzPct val="100000"/>
              <a:buChar char="•"/>
            </a:pPr>
            <a:r>
              <a:rPr lang="en-US" sz="1250" dirty="0">
                <a:solidFill>
                  <a:srgbClr val="1F2A1F"/>
                </a:solidFill>
                <a:latin typeface="Calibri" pitchFamily="34" charset="0"/>
                <a:ea typeface="Calibri" pitchFamily="34" charset="-122"/>
                <a:cs typeface="Calibri" pitchFamily="34" charset="-120"/>
              </a:rPr>
              <a:t>Smallholder dairy buffalo: about 4–8 L/day; improved management and genetics push this up</a:t>
            </a:r>
            <a:endParaRPr lang="en-US" sz="1250" dirty="0"/>
          </a:p>
          <a:p>
            <a:pPr marL="177800" indent="-177800">
              <a:spcAft>
                <a:spcPts val="600"/>
              </a:spcAft>
              <a:buSzPct val="100000"/>
              <a:buChar char="•"/>
            </a:pPr>
            <a:r>
              <a:rPr lang="en-US" sz="1250" dirty="0">
                <a:solidFill>
                  <a:srgbClr val="1F2A1F"/>
                </a:solidFill>
                <a:latin typeface="Calibri" pitchFamily="34" charset="0"/>
                <a:ea typeface="Calibri" pitchFamily="34" charset="-122"/>
                <a:cs typeface="Calibri" pitchFamily="34" charset="-120"/>
              </a:rPr>
              <a:t>Dairy cattle herds in Luzon and Mindanao reach 15–20 L/day with good feeding</a:t>
            </a:r>
            <a:endParaRPr lang="en-US" sz="1250" dirty="0"/>
          </a:p>
          <a:p>
            <a:pPr marL="177800" indent="-177800">
              <a:spcAft>
                <a:spcPts val="600"/>
              </a:spcAft>
              <a:buSzPct val="100000"/>
              <a:buChar char="•"/>
            </a:pPr>
            <a:r>
              <a:rPr lang="en-US" sz="1250" dirty="0">
                <a:solidFill>
                  <a:srgbClr val="1F2A1F"/>
                </a:solidFill>
                <a:latin typeface="Calibri" pitchFamily="34" charset="0"/>
                <a:ea typeface="Calibri" pitchFamily="34" charset="-122"/>
                <a:cs typeface="Calibri" pitchFamily="34" charset="-120"/>
              </a:rPr>
              <a:t>Korea started at ~3,000 kg/cow — yield tripled through genetics, feeding, health and records</a:t>
            </a:r>
            <a:endParaRPr lang="en-US" sz="1250" dirty="0"/>
          </a:p>
        </p:txBody>
      </p:sp>
      <p:sp>
        <p:nvSpPr>
          <p:cNvPr id="8" name="Text 5"/>
          <p:cNvSpPr txBox="1"/>
          <p:nvPr/>
        </p:nvSpPr>
        <p:spPr>
          <a:xfrm>
            <a:off x="8092440" y="5349240"/>
            <a:ext cx="3383280" cy="640080"/>
          </a:xfrm>
          <a:prstGeom prst="rect">
            <a:avLst/>
          </a:prstGeom>
          <a:noFill/>
          <a:ln/>
        </p:spPr>
        <p:txBody>
          <a:bodyPr wrap="square" lIns="0" tIns="0" rIns="0" bIns="0" rtlCol="0" anchor="ctr"/>
          <a:lstStyle/>
          <a:p>
            <a:pPr indent="0" marL="0">
              <a:buNone/>
            </a:pPr>
            <a:r>
              <a:rPr lang="en-US" sz="950" i="1" dirty="0">
                <a:solidFill>
                  <a:srgbClr val="5B6B5B"/>
                </a:solidFill>
                <a:latin typeface="Calibri" pitchFamily="34" charset="0"/>
                <a:ea typeface="Calibri" pitchFamily="34" charset="-122"/>
                <a:cs typeface="Calibri" pitchFamily="34" charset="-120"/>
              </a:rPr>
              <a:t>Korean figures approximate, from national dairy statistics; Philippine figures indicative — confirm with PCC/PSA data.</a:t>
            </a:r>
            <a:endParaRPr lang="en-US" sz="950" dirty="0"/>
          </a:p>
        </p:txBody>
      </p:sp>
      <p:sp>
        <p:nvSpPr>
          <p:cNvPr id="9" name="Text 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10" name="Text 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0 · KOREA’S DAIRY JOURNEY</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Four things that actually moved the needle</a:t>
            </a:r>
            <a:endParaRPr lang="en-US" sz="2600" dirty="0"/>
          </a:p>
        </p:txBody>
      </p:sp>
      <p:sp>
        <p:nvSpPr>
          <p:cNvPr id="4" name="Shape 2"/>
          <p:cNvSpPr/>
          <p:nvPr/>
        </p:nvSpPr>
        <p:spPr>
          <a:xfrm>
            <a:off x="548640" y="1463040"/>
            <a:ext cx="2651760" cy="3749040"/>
          </a:xfrm>
          <a:prstGeom prst="roundRect">
            <a:avLst>
              <a:gd name="adj" fmla="val 4138"/>
            </a:avLst>
          </a:prstGeom>
          <a:solidFill>
            <a:srgbClr val="F6F9F2"/>
          </a:solidFill>
          <a:ln w="12700">
            <a:solidFill>
              <a:srgbClr val="F6F9F2"/>
            </a:solidFill>
            <a:prstDash val="solid"/>
          </a:ln>
        </p:spPr>
      </p:sp>
      <p:sp>
        <p:nvSpPr>
          <p:cNvPr id="5" name="Shape 3"/>
          <p:cNvSpPr/>
          <p:nvPr/>
        </p:nvSpPr>
        <p:spPr>
          <a:xfrm>
            <a:off x="777240" y="1691640"/>
            <a:ext cx="731520" cy="731520"/>
          </a:xfrm>
          <a:prstGeom prst="ellipse">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952805" y="1867205"/>
            <a:ext cx="380390" cy="380390"/>
          </a:xfrm>
          <a:prstGeom prst="rect">
            <a:avLst/>
          </a:prstGeom>
        </p:spPr>
      </p:pic>
      <p:sp>
        <p:nvSpPr>
          <p:cNvPr id="7" name="Text 4"/>
          <p:cNvSpPr txBox="1"/>
          <p:nvPr/>
        </p:nvSpPr>
        <p:spPr>
          <a:xfrm>
            <a:off x="777240" y="2560320"/>
            <a:ext cx="2194560" cy="6400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Genetics</a:t>
            </a:r>
            <a:endParaRPr lang="en-US" sz="1600" dirty="0"/>
          </a:p>
        </p:txBody>
      </p:sp>
      <p:sp>
        <p:nvSpPr>
          <p:cNvPr id="8" name="Text 5"/>
          <p:cNvSpPr txBox="1"/>
          <p:nvPr/>
        </p:nvSpPr>
        <p:spPr>
          <a:xfrm>
            <a:off x="777240" y="3200400"/>
            <a:ext cx="2194560" cy="1920240"/>
          </a:xfrm>
          <a:prstGeom prst="rect">
            <a:avLst/>
          </a:prstGeom>
          <a:noFill/>
          <a:ln/>
        </p:spPr>
        <p:txBody>
          <a:bodyPr wrap="square" lIns="0" tIns="0" rIns="0" bIns="0" rtlCol="0" anchor="t"/>
          <a:lstStyle/>
          <a:p>
            <a:pPr indent="0" marL="0">
              <a:buNone/>
            </a:pPr>
            <a:r>
              <a:rPr lang="en-US" sz="1250" dirty="0">
                <a:solidFill>
                  <a:srgbClr val="1F2A1F"/>
                </a:solidFill>
                <a:latin typeface="Calibri" pitchFamily="34" charset="0"/>
                <a:ea typeface="Calibri" pitchFamily="34" charset="-122"/>
                <a:cs typeface="Calibri" pitchFamily="34" charset="-120"/>
              </a:rPr>
              <a:t>AI with proven sires, then sexed semen, embryo transfer and genomic selection. Gains compound every generation.</a:t>
            </a:r>
            <a:endParaRPr lang="en-US" sz="1250" dirty="0"/>
          </a:p>
        </p:txBody>
      </p:sp>
      <p:sp>
        <p:nvSpPr>
          <p:cNvPr id="9" name="Shape 6"/>
          <p:cNvSpPr/>
          <p:nvPr/>
        </p:nvSpPr>
        <p:spPr>
          <a:xfrm>
            <a:off x="3364992" y="1463040"/>
            <a:ext cx="2651760" cy="3749040"/>
          </a:xfrm>
          <a:prstGeom prst="roundRect">
            <a:avLst>
              <a:gd name="adj" fmla="val 4138"/>
            </a:avLst>
          </a:prstGeom>
          <a:solidFill>
            <a:srgbClr val="F6F9F2"/>
          </a:solidFill>
          <a:ln w="12700">
            <a:solidFill>
              <a:srgbClr val="F6F9F2"/>
            </a:solidFill>
            <a:prstDash val="solid"/>
          </a:ln>
        </p:spPr>
      </p:sp>
      <p:sp>
        <p:nvSpPr>
          <p:cNvPr id="10" name="Shape 7"/>
          <p:cNvSpPr/>
          <p:nvPr/>
        </p:nvSpPr>
        <p:spPr>
          <a:xfrm>
            <a:off x="3593592" y="1691640"/>
            <a:ext cx="731520" cy="731520"/>
          </a:xfrm>
          <a:prstGeom prst="ellipse">
            <a:avLst/>
          </a:prstGeom>
          <a:solidFill>
            <a:srgbClr val="2C5F2D"/>
          </a:solidFill>
          <a:ln w="12700">
            <a:solidFill>
              <a:srgbClr val="2C5F2D"/>
            </a:solidFill>
            <a:prstDash val="solid"/>
          </a:ln>
        </p:spPr>
      </p:sp>
      <p:pic>
        <p:nvPicPr>
          <p:cNvPr id="11" name="Image 1" descr="preencoded.png">    </p:cNvPr>
          <p:cNvPicPr>
            <a:picLocks noChangeAspect="1"/>
          </p:cNvPicPr>
          <p:nvPr/>
        </p:nvPicPr>
        <p:blipFill>
          <a:blip r:embed="rId2"/>
          <a:stretch>
            <a:fillRect/>
          </a:stretch>
        </p:blipFill>
        <p:spPr>
          <a:xfrm>
            <a:off x="3769157" y="1867205"/>
            <a:ext cx="380390" cy="380390"/>
          </a:xfrm>
          <a:prstGeom prst="rect">
            <a:avLst/>
          </a:prstGeom>
        </p:spPr>
      </p:pic>
      <p:sp>
        <p:nvSpPr>
          <p:cNvPr id="12" name="Text 8"/>
          <p:cNvSpPr txBox="1"/>
          <p:nvPr/>
        </p:nvSpPr>
        <p:spPr>
          <a:xfrm>
            <a:off x="3593592" y="2560320"/>
            <a:ext cx="2194560" cy="6400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Records &amp; herd improvement</a:t>
            </a:r>
            <a:endParaRPr lang="en-US" sz="1600" dirty="0"/>
          </a:p>
        </p:txBody>
      </p:sp>
      <p:sp>
        <p:nvSpPr>
          <p:cNvPr id="13" name="Text 9"/>
          <p:cNvSpPr txBox="1"/>
          <p:nvPr/>
        </p:nvSpPr>
        <p:spPr>
          <a:xfrm>
            <a:off x="3593592" y="3200400"/>
            <a:ext cx="2194560" cy="1920240"/>
          </a:xfrm>
          <a:prstGeom prst="rect">
            <a:avLst/>
          </a:prstGeom>
          <a:noFill/>
          <a:ln/>
        </p:spPr>
        <p:txBody>
          <a:bodyPr wrap="square" lIns="0" tIns="0" rIns="0" bIns="0" rtlCol="0" anchor="t"/>
          <a:lstStyle/>
          <a:p>
            <a:pPr indent="0" marL="0">
              <a:buNone/>
            </a:pPr>
            <a:r>
              <a:rPr lang="en-US" sz="1250" dirty="0">
                <a:solidFill>
                  <a:srgbClr val="1F2A1F"/>
                </a:solidFill>
                <a:latin typeface="Calibri" pitchFamily="34" charset="0"/>
                <a:ea typeface="Calibri" pitchFamily="34" charset="-122"/>
                <a:cs typeface="Calibri" pitchFamily="34" charset="-120"/>
              </a:rPr>
              <a:t>Individual-animal IDs, DHI milk testing, reproduction and health events written down and analysed — the ancestor of NDHIS.</a:t>
            </a:r>
            <a:endParaRPr lang="en-US" sz="1250" dirty="0"/>
          </a:p>
        </p:txBody>
      </p:sp>
      <p:sp>
        <p:nvSpPr>
          <p:cNvPr id="14" name="Shape 10"/>
          <p:cNvSpPr/>
          <p:nvPr/>
        </p:nvSpPr>
        <p:spPr>
          <a:xfrm>
            <a:off x="6181344" y="1463040"/>
            <a:ext cx="2651760" cy="3749040"/>
          </a:xfrm>
          <a:prstGeom prst="roundRect">
            <a:avLst>
              <a:gd name="adj" fmla="val 4138"/>
            </a:avLst>
          </a:prstGeom>
          <a:solidFill>
            <a:srgbClr val="F6F9F2"/>
          </a:solidFill>
          <a:ln w="12700">
            <a:solidFill>
              <a:srgbClr val="F6F9F2"/>
            </a:solidFill>
            <a:prstDash val="solid"/>
          </a:ln>
        </p:spPr>
      </p:sp>
      <p:sp>
        <p:nvSpPr>
          <p:cNvPr id="15" name="Shape 11"/>
          <p:cNvSpPr/>
          <p:nvPr/>
        </p:nvSpPr>
        <p:spPr>
          <a:xfrm>
            <a:off x="6409944" y="1691640"/>
            <a:ext cx="731520" cy="731520"/>
          </a:xfrm>
          <a:prstGeom prst="ellipse">
            <a:avLst/>
          </a:prstGeom>
          <a:solidFill>
            <a:srgbClr val="2C5F2D"/>
          </a:solidFill>
          <a:ln w="12700">
            <a:solidFill>
              <a:srgbClr val="2C5F2D"/>
            </a:solidFill>
            <a:prstDash val="solid"/>
          </a:ln>
        </p:spPr>
      </p:sp>
      <p:pic>
        <p:nvPicPr>
          <p:cNvPr id="16" name="Image 2" descr="preencoded.png">    </p:cNvPr>
          <p:cNvPicPr>
            <a:picLocks noChangeAspect="1"/>
          </p:cNvPicPr>
          <p:nvPr/>
        </p:nvPicPr>
        <p:blipFill>
          <a:blip r:embed="rId3"/>
          <a:stretch>
            <a:fillRect/>
          </a:stretch>
        </p:blipFill>
        <p:spPr>
          <a:xfrm>
            <a:off x="6585509" y="1867205"/>
            <a:ext cx="380390" cy="380390"/>
          </a:xfrm>
          <a:prstGeom prst="rect">
            <a:avLst/>
          </a:prstGeom>
        </p:spPr>
      </p:pic>
      <p:sp>
        <p:nvSpPr>
          <p:cNvPr id="17" name="Text 12"/>
          <p:cNvSpPr txBox="1"/>
          <p:nvPr/>
        </p:nvSpPr>
        <p:spPr>
          <a:xfrm>
            <a:off x="6409944" y="2560320"/>
            <a:ext cx="2194560" cy="6400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Reproduction &amp; health</a:t>
            </a:r>
            <a:endParaRPr lang="en-US" sz="1600" dirty="0"/>
          </a:p>
        </p:txBody>
      </p:sp>
      <p:sp>
        <p:nvSpPr>
          <p:cNvPr id="18" name="Text 13"/>
          <p:cNvSpPr txBox="1"/>
          <p:nvPr/>
        </p:nvSpPr>
        <p:spPr>
          <a:xfrm>
            <a:off x="6409944" y="3200400"/>
            <a:ext cx="2194560" cy="1920240"/>
          </a:xfrm>
          <a:prstGeom prst="rect">
            <a:avLst/>
          </a:prstGeom>
          <a:noFill/>
          <a:ln/>
        </p:spPr>
        <p:txBody>
          <a:bodyPr wrap="square" lIns="0" tIns="0" rIns="0" bIns="0" rtlCol="0" anchor="t"/>
          <a:lstStyle/>
          <a:p>
            <a:pPr indent="0" marL="0">
              <a:buNone/>
            </a:pPr>
            <a:r>
              <a:rPr lang="en-US" sz="1250" dirty="0">
                <a:solidFill>
                  <a:srgbClr val="1F2A1F"/>
                </a:solidFill>
                <a:latin typeface="Calibri" pitchFamily="34" charset="0"/>
                <a:ea typeface="Calibri" pitchFamily="34" charset="-122"/>
                <a:cs typeface="Calibri" pitchFamily="34" charset="-120"/>
              </a:rPr>
              <a:t>A calf a year, mastitis under control, transition cows protected. Technicians and vets working from the same records.</a:t>
            </a:r>
            <a:endParaRPr lang="en-US" sz="1250" dirty="0"/>
          </a:p>
        </p:txBody>
      </p:sp>
      <p:sp>
        <p:nvSpPr>
          <p:cNvPr id="19" name="Shape 14"/>
          <p:cNvSpPr/>
          <p:nvPr/>
        </p:nvSpPr>
        <p:spPr>
          <a:xfrm>
            <a:off x="8997696" y="1463040"/>
            <a:ext cx="2651760" cy="3749040"/>
          </a:xfrm>
          <a:prstGeom prst="roundRect">
            <a:avLst>
              <a:gd name="adj" fmla="val 4138"/>
            </a:avLst>
          </a:prstGeom>
          <a:solidFill>
            <a:srgbClr val="F6F9F2"/>
          </a:solidFill>
          <a:ln w="12700">
            <a:solidFill>
              <a:srgbClr val="F6F9F2"/>
            </a:solidFill>
            <a:prstDash val="solid"/>
          </a:ln>
        </p:spPr>
      </p:sp>
      <p:sp>
        <p:nvSpPr>
          <p:cNvPr id="20" name="Shape 15"/>
          <p:cNvSpPr/>
          <p:nvPr/>
        </p:nvSpPr>
        <p:spPr>
          <a:xfrm>
            <a:off x="9226296" y="1691640"/>
            <a:ext cx="731520" cy="731520"/>
          </a:xfrm>
          <a:prstGeom prst="ellipse">
            <a:avLst/>
          </a:prstGeom>
          <a:solidFill>
            <a:srgbClr val="2C5F2D"/>
          </a:solidFill>
          <a:ln w="12700">
            <a:solidFill>
              <a:srgbClr val="2C5F2D"/>
            </a:solidFill>
            <a:prstDash val="solid"/>
          </a:ln>
        </p:spPr>
      </p:sp>
      <p:pic>
        <p:nvPicPr>
          <p:cNvPr id="21" name="Image 3" descr="preencoded.png">    </p:cNvPr>
          <p:cNvPicPr>
            <a:picLocks noChangeAspect="1"/>
          </p:cNvPicPr>
          <p:nvPr/>
        </p:nvPicPr>
        <p:blipFill>
          <a:blip r:embed="rId4"/>
          <a:stretch>
            <a:fillRect/>
          </a:stretch>
        </p:blipFill>
        <p:spPr>
          <a:xfrm>
            <a:off x="9401861" y="1867205"/>
            <a:ext cx="380390" cy="380390"/>
          </a:xfrm>
          <a:prstGeom prst="rect">
            <a:avLst/>
          </a:prstGeom>
        </p:spPr>
      </p:pic>
      <p:sp>
        <p:nvSpPr>
          <p:cNvPr id="22" name="Text 16"/>
          <p:cNvSpPr txBox="1"/>
          <p:nvPr/>
        </p:nvSpPr>
        <p:spPr>
          <a:xfrm>
            <a:off x="9226296" y="2560320"/>
            <a:ext cx="2194560" cy="6400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Data &amp; sensors</a:t>
            </a:r>
            <a:endParaRPr lang="en-US" sz="1600" dirty="0"/>
          </a:p>
        </p:txBody>
      </p:sp>
      <p:sp>
        <p:nvSpPr>
          <p:cNvPr id="23" name="Text 17"/>
          <p:cNvSpPr txBox="1"/>
          <p:nvPr/>
        </p:nvSpPr>
        <p:spPr>
          <a:xfrm>
            <a:off x="9226296" y="3200400"/>
            <a:ext cx="2194560" cy="1920240"/>
          </a:xfrm>
          <a:prstGeom prst="rect">
            <a:avLst/>
          </a:prstGeom>
          <a:noFill/>
          <a:ln/>
        </p:spPr>
        <p:txBody>
          <a:bodyPr wrap="square" lIns="0" tIns="0" rIns="0" bIns="0" rtlCol="0" anchor="t"/>
          <a:lstStyle/>
          <a:p>
            <a:pPr indent="0" marL="0">
              <a:buNone/>
            </a:pPr>
            <a:r>
              <a:rPr lang="en-US" sz="1250" dirty="0">
                <a:solidFill>
                  <a:srgbClr val="1F2A1F"/>
                </a:solidFill>
                <a:latin typeface="Calibri" pitchFamily="34" charset="0"/>
                <a:ea typeface="Calibri" pitchFamily="34" charset="-122"/>
                <a:cs typeface="Calibri" pitchFamily="34" charset="-120"/>
              </a:rPr>
              <a:t>Rumen bolus sensors, robots and AI turn observation into 24/7 measurement. The last mile, but built on the first three.</a:t>
            </a:r>
            <a:endParaRPr lang="en-US" sz="1250" dirty="0"/>
          </a:p>
        </p:txBody>
      </p:sp>
      <p:sp>
        <p:nvSpPr>
          <p:cNvPr id="24" name="Shape 18"/>
          <p:cNvSpPr/>
          <p:nvPr/>
        </p:nvSpPr>
        <p:spPr>
          <a:xfrm>
            <a:off x="548640" y="5440680"/>
            <a:ext cx="11094415" cy="731520"/>
          </a:xfrm>
          <a:prstGeom prst="roundRect">
            <a:avLst>
              <a:gd name="adj" fmla="val 15000"/>
            </a:avLst>
          </a:prstGeom>
          <a:solidFill>
            <a:srgbClr val="2C5F2D"/>
          </a:solidFill>
          <a:ln w="12700">
            <a:solidFill>
              <a:srgbClr val="2C5F2D"/>
            </a:solidFill>
            <a:prstDash val="solid"/>
          </a:ln>
        </p:spPr>
      </p:sp>
      <p:sp>
        <p:nvSpPr>
          <p:cNvPr id="25" name="Text 19"/>
          <p:cNvSpPr txBox="1"/>
          <p:nvPr/>
        </p:nvSpPr>
        <p:spPr>
          <a:xfrm>
            <a:off x="822960" y="5486400"/>
            <a:ext cx="10545775"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Same playbook for NDHIP: identify every animal → record every event → manage reproduction and health from the records → add sensors to see what eyes cannot.</a:t>
            </a:r>
            <a:endParaRPr lang="en-US" sz="1400" dirty="0"/>
          </a:p>
        </p:txBody>
      </p:sp>
      <p:sp>
        <p:nvSpPr>
          <p:cNvPr id="26" name="Text 2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27" name="Text 2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548640" y="2103120"/>
            <a:ext cx="1188720" cy="1188720"/>
          </a:xfrm>
          <a:prstGeom prst="ellipse">
            <a:avLst/>
          </a:prstGeom>
          <a:solidFill>
            <a:srgbClr val="97BC62"/>
          </a:solidFill>
          <a:ln w="12700">
            <a:solidFill>
              <a:srgbClr val="97BC62"/>
            </a:solidFill>
            <a:prstDash val="solid"/>
          </a:ln>
        </p:spPr>
      </p:sp>
      <p:pic>
        <p:nvPicPr>
          <p:cNvPr id="3" name="Image 0" descr="preencoded.png">    </p:cNvPr>
          <p:cNvPicPr>
            <a:picLocks noChangeAspect="1"/>
          </p:cNvPicPr>
          <p:nvPr/>
        </p:nvPicPr>
        <p:blipFill>
          <a:blip r:embed="rId1"/>
          <a:stretch>
            <a:fillRect/>
          </a:stretch>
        </p:blipFill>
        <p:spPr>
          <a:xfrm>
            <a:off x="833933" y="2388413"/>
            <a:ext cx="618134" cy="618134"/>
          </a:xfrm>
          <a:prstGeom prst="rect">
            <a:avLst/>
          </a:prstGeom>
        </p:spPr>
      </p:pic>
      <p:sp>
        <p:nvSpPr>
          <p:cNvPr id="4" name="Text 1"/>
          <p:cNvSpPr txBox="1"/>
          <p:nvPr/>
        </p:nvSpPr>
        <p:spPr>
          <a:xfrm>
            <a:off x="548640" y="3520440"/>
            <a:ext cx="5486400" cy="320040"/>
          </a:xfrm>
          <a:prstGeom prst="rect">
            <a:avLst/>
          </a:prstGeom>
          <a:noFill/>
          <a:ln/>
        </p:spPr>
        <p:txBody>
          <a:bodyPr wrap="square" lIns="0" tIns="0" rIns="0" bIns="0" rtlCol="0" anchor="ctr"/>
          <a:lstStyle/>
          <a:p>
            <a:pPr indent="0" marL="0">
              <a:buNone/>
            </a:pPr>
            <a:r>
              <a:rPr lang="en-US" sz="1300" b="1" spc="300" kern="0" dirty="0">
                <a:solidFill>
                  <a:srgbClr val="97BC62"/>
                </a:solidFill>
                <a:latin typeface="Calibri" pitchFamily="34" charset="0"/>
                <a:ea typeface="Calibri" pitchFamily="34" charset="-122"/>
                <a:cs typeface="Calibri" pitchFamily="34" charset="-120"/>
              </a:rPr>
              <a:t>MODULE 1</a:t>
            </a:r>
            <a:endParaRPr lang="en-US" sz="1300" dirty="0"/>
          </a:p>
        </p:txBody>
      </p:sp>
      <p:sp>
        <p:nvSpPr>
          <p:cNvPr id="5" name="Text 2"/>
          <p:cNvSpPr txBox="1"/>
          <p:nvPr/>
        </p:nvSpPr>
        <p:spPr>
          <a:xfrm>
            <a:off x="548640" y="384048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Reproduction management</a:t>
            </a:r>
            <a:endParaRPr lang="en-US" sz="4000" dirty="0"/>
          </a:p>
        </p:txBody>
      </p:sp>
      <p:sp>
        <p:nvSpPr>
          <p:cNvPr id="6" name="Text 3"/>
          <p:cNvSpPr txBox="1"/>
          <p:nvPr/>
        </p:nvSpPr>
        <p:spPr>
          <a:xfrm>
            <a:off x="548640" y="4800600"/>
            <a:ext cx="10058400" cy="731520"/>
          </a:xfrm>
          <a:prstGeom prst="rect">
            <a:avLst/>
          </a:prstGeom>
          <a:noFill/>
          <a:ln/>
        </p:spPr>
        <p:txBody>
          <a:bodyPr wrap="square" lIns="0" tIns="0" rIns="0" bIns="0" rtlCol="0" anchor="ctr"/>
          <a:lstStyle/>
          <a:p>
            <a:pPr indent="0" marL="0">
              <a:buNone/>
            </a:pPr>
            <a:r>
              <a:rPr lang="en-US" sz="1600" dirty="0">
                <a:solidFill>
                  <a:srgbClr val="EEF4E6"/>
                </a:solidFill>
                <a:latin typeface="Calibri" pitchFamily="34" charset="0"/>
                <a:ea typeface="Calibri" pitchFamily="34" charset="-122"/>
                <a:cs typeface="Calibri" pitchFamily="34" charset="-120"/>
              </a:rPr>
              <a:t>Heat detection, AI timing, pregnancy diagnosis, calving, colostrum, genetic tools and the KPIs that tell you whether it is working.</a:t>
            </a:r>
            <a:endParaRPr lang="en-US" sz="1600" dirty="0"/>
          </a:p>
        </p:txBody>
      </p:sp>
      <p:sp>
        <p:nvSpPr>
          <p:cNvPr id="7" name="Text 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7BC62"/>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8"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97BC6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1 · REPRODUCTION</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Reproduction is the engine of the dairy business</a:t>
            </a:r>
            <a:endParaRPr lang="en-US" sz="2600" dirty="0"/>
          </a:p>
        </p:txBody>
      </p:sp>
      <p:sp>
        <p:nvSpPr>
          <p:cNvPr id="4" name="Shape 2"/>
          <p:cNvSpPr/>
          <p:nvPr/>
        </p:nvSpPr>
        <p:spPr>
          <a:xfrm>
            <a:off x="548640" y="1463040"/>
            <a:ext cx="2651760" cy="1828800"/>
          </a:xfrm>
          <a:prstGeom prst="roundRect">
            <a:avLst>
              <a:gd name="adj" fmla="val 6000"/>
            </a:avLst>
          </a:prstGeom>
          <a:solidFill>
            <a:srgbClr val="EEF4E6"/>
          </a:solidFill>
          <a:ln w="12700">
            <a:solidFill>
              <a:srgbClr val="EEF4E6"/>
            </a:solidFill>
            <a:prstDash val="solid"/>
          </a:ln>
        </p:spPr>
      </p:sp>
      <p:sp>
        <p:nvSpPr>
          <p:cNvPr id="5" name="Text 3"/>
          <p:cNvSpPr txBox="1"/>
          <p:nvPr/>
        </p:nvSpPr>
        <p:spPr>
          <a:xfrm>
            <a:off x="777240" y="1554480"/>
            <a:ext cx="2286000" cy="731520"/>
          </a:xfrm>
          <a:prstGeom prst="rect">
            <a:avLst/>
          </a:prstGeom>
          <a:noFill/>
          <a:ln/>
        </p:spPr>
        <p:txBody>
          <a:bodyPr wrap="square" lIns="0" tIns="0" rIns="0" bIns="0" rtlCol="0" anchor="ctr"/>
          <a:lstStyle/>
          <a:p>
            <a:pPr indent="0" marL="0">
              <a:buNone/>
            </a:pPr>
            <a:r>
              <a:rPr lang="en-US" sz="3000" b="1" dirty="0">
                <a:solidFill>
                  <a:srgbClr val="2C5F2D"/>
                </a:solidFill>
                <a:latin typeface="Cambria" pitchFamily="34" charset="0"/>
                <a:ea typeface="Cambria" pitchFamily="34" charset="-122"/>
                <a:cs typeface="Cambria" pitchFamily="34" charset="-120"/>
              </a:rPr>
              <a:t>1 calf</a:t>
            </a:r>
            <a:endParaRPr lang="en-US" sz="3000" dirty="0"/>
          </a:p>
        </p:txBody>
      </p:sp>
      <p:sp>
        <p:nvSpPr>
          <p:cNvPr id="6" name="Text 4"/>
          <p:cNvSpPr txBox="1"/>
          <p:nvPr/>
        </p:nvSpPr>
        <p:spPr>
          <a:xfrm>
            <a:off x="777240" y="2286000"/>
            <a:ext cx="2286000" cy="91440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per cow per year is the goal — every lactation starts with a calving</a:t>
            </a:r>
            <a:endParaRPr lang="en-US" sz="1200" dirty="0"/>
          </a:p>
        </p:txBody>
      </p:sp>
      <p:sp>
        <p:nvSpPr>
          <p:cNvPr id="7" name="Shape 5"/>
          <p:cNvSpPr/>
          <p:nvPr/>
        </p:nvSpPr>
        <p:spPr>
          <a:xfrm>
            <a:off x="3364992" y="1463040"/>
            <a:ext cx="2651760" cy="1828800"/>
          </a:xfrm>
          <a:prstGeom prst="roundRect">
            <a:avLst>
              <a:gd name="adj" fmla="val 6000"/>
            </a:avLst>
          </a:prstGeom>
          <a:solidFill>
            <a:srgbClr val="EEF4E6"/>
          </a:solidFill>
          <a:ln w="12700">
            <a:solidFill>
              <a:srgbClr val="EEF4E6"/>
            </a:solidFill>
            <a:prstDash val="solid"/>
          </a:ln>
        </p:spPr>
      </p:sp>
      <p:sp>
        <p:nvSpPr>
          <p:cNvPr id="8" name="Text 6"/>
          <p:cNvSpPr txBox="1"/>
          <p:nvPr/>
        </p:nvSpPr>
        <p:spPr>
          <a:xfrm>
            <a:off x="3593592" y="1554480"/>
            <a:ext cx="2286000" cy="731520"/>
          </a:xfrm>
          <a:prstGeom prst="rect">
            <a:avLst/>
          </a:prstGeom>
          <a:noFill/>
          <a:ln/>
        </p:spPr>
        <p:txBody>
          <a:bodyPr wrap="square" lIns="0" tIns="0" rIns="0" bIns="0" rtlCol="0" anchor="ctr"/>
          <a:lstStyle/>
          <a:p>
            <a:pPr indent="0" marL="0">
              <a:buNone/>
            </a:pPr>
            <a:r>
              <a:rPr lang="en-US" sz="3000" b="1" dirty="0">
                <a:solidFill>
                  <a:srgbClr val="2C5F2D"/>
                </a:solidFill>
                <a:latin typeface="Cambria" pitchFamily="34" charset="0"/>
                <a:ea typeface="Cambria" pitchFamily="34" charset="-122"/>
                <a:cs typeface="Cambria" pitchFamily="34" charset="-120"/>
              </a:rPr>
              <a:t>12–13 mo</a:t>
            </a:r>
            <a:endParaRPr lang="en-US" sz="3000" dirty="0"/>
          </a:p>
        </p:txBody>
      </p:sp>
      <p:sp>
        <p:nvSpPr>
          <p:cNvPr id="9" name="Text 7"/>
          <p:cNvSpPr txBox="1"/>
          <p:nvPr/>
        </p:nvSpPr>
        <p:spPr>
          <a:xfrm>
            <a:off x="3593592" y="2286000"/>
            <a:ext cx="2286000" cy="91440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target calving interval for dairy cattle (buffalo: aim ≤ 15–16 months)</a:t>
            </a:r>
            <a:endParaRPr lang="en-US" sz="1200" dirty="0"/>
          </a:p>
        </p:txBody>
      </p:sp>
      <p:sp>
        <p:nvSpPr>
          <p:cNvPr id="10" name="Shape 8"/>
          <p:cNvSpPr/>
          <p:nvPr/>
        </p:nvSpPr>
        <p:spPr>
          <a:xfrm>
            <a:off x="6181344" y="1463040"/>
            <a:ext cx="2651760" cy="1828800"/>
          </a:xfrm>
          <a:prstGeom prst="roundRect">
            <a:avLst>
              <a:gd name="adj" fmla="val 6000"/>
            </a:avLst>
          </a:prstGeom>
          <a:solidFill>
            <a:srgbClr val="EEF4E6"/>
          </a:solidFill>
          <a:ln w="12700">
            <a:solidFill>
              <a:srgbClr val="EEF4E6"/>
            </a:solidFill>
            <a:prstDash val="solid"/>
          </a:ln>
        </p:spPr>
      </p:sp>
      <p:sp>
        <p:nvSpPr>
          <p:cNvPr id="11" name="Text 9"/>
          <p:cNvSpPr txBox="1"/>
          <p:nvPr/>
        </p:nvSpPr>
        <p:spPr>
          <a:xfrm>
            <a:off x="6409944" y="1554480"/>
            <a:ext cx="2286000" cy="731520"/>
          </a:xfrm>
          <a:prstGeom prst="rect">
            <a:avLst/>
          </a:prstGeom>
          <a:noFill/>
          <a:ln/>
        </p:spPr>
        <p:txBody>
          <a:bodyPr wrap="square" lIns="0" tIns="0" rIns="0" bIns="0" rtlCol="0" anchor="ctr"/>
          <a:lstStyle/>
          <a:p>
            <a:pPr indent="0" marL="0">
              <a:buNone/>
            </a:pPr>
            <a:r>
              <a:rPr lang="en-US" sz="3000" b="1" dirty="0">
                <a:solidFill>
                  <a:srgbClr val="2C5F2D"/>
                </a:solidFill>
                <a:latin typeface="Cambria" pitchFamily="34" charset="0"/>
                <a:ea typeface="Cambria" pitchFamily="34" charset="-122"/>
                <a:cs typeface="Cambria" pitchFamily="34" charset="-120"/>
              </a:rPr>
              <a:t>≤ 120 d</a:t>
            </a:r>
            <a:endParaRPr lang="en-US" sz="3000" dirty="0"/>
          </a:p>
        </p:txBody>
      </p:sp>
      <p:sp>
        <p:nvSpPr>
          <p:cNvPr id="12" name="Text 10"/>
          <p:cNvSpPr txBox="1"/>
          <p:nvPr/>
        </p:nvSpPr>
        <p:spPr>
          <a:xfrm>
            <a:off x="6409944" y="2286000"/>
            <a:ext cx="2286000" cy="91440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target days open (calving to conception) in cattle</a:t>
            </a:r>
            <a:endParaRPr lang="en-US" sz="1200" dirty="0"/>
          </a:p>
        </p:txBody>
      </p:sp>
      <p:sp>
        <p:nvSpPr>
          <p:cNvPr id="13" name="Shape 11"/>
          <p:cNvSpPr/>
          <p:nvPr/>
        </p:nvSpPr>
        <p:spPr>
          <a:xfrm>
            <a:off x="8997696" y="1463040"/>
            <a:ext cx="2651760" cy="1828800"/>
          </a:xfrm>
          <a:prstGeom prst="roundRect">
            <a:avLst>
              <a:gd name="adj" fmla="val 6000"/>
            </a:avLst>
          </a:prstGeom>
          <a:solidFill>
            <a:srgbClr val="EEF4E6"/>
          </a:solidFill>
          <a:ln w="12700">
            <a:solidFill>
              <a:srgbClr val="EEF4E6"/>
            </a:solidFill>
            <a:prstDash val="solid"/>
          </a:ln>
        </p:spPr>
      </p:sp>
      <p:sp>
        <p:nvSpPr>
          <p:cNvPr id="14" name="Text 12"/>
          <p:cNvSpPr txBox="1"/>
          <p:nvPr/>
        </p:nvSpPr>
        <p:spPr>
          <a:xfrm>
            <a:off x="9226296" y="1554480"/>
            <a:ext cx="2286000" cy="731520"/>
          </a:xfrm>
          <a:prstGeom prst="rect">
            <a:avLst/>
          </a:prstGeom>
          <a:noFill/>
          <a:ln/>
        </p:spPr>
        <p:txBody>
          <a:bodyPr wrap="square" lIns="0" tIns="0" rIns="0" bIns="0" rtlCol="0" anchor="ctr"/>
          <a:lstStyle/>
          <a:p>
            <a:pPr indent="0" marL="0">
              <a:buNone/>
            </a:pPr>
            <a:r>
              <a:rPr lang="en-US" sz="3000" b="1" dirty="0">
                <a:solidFill>
                  <a:srgbClr val="2C5F2D"/>
                </a:solidFill>
                <a:latin typeface="Cambria" pitchFamily="34" charset="0"/>
                <a:ea typeface="Cambria" pitchFamily="34" charset="-122"/>
                <a:cs typeface="Cambria" pitchFamily="34" charset="-120"/>
              </a:rPr>
              <a:t>Every day</a:t>
            </a:r>
            <a:endParaRPr lang="en-US" sz="3000" dirty="0"/>
          </a:p>
        </p:txBody>
      </p:sp>
      <p:sp>
        <p:nvSpPr>
          <p:cNvPr id="15" name="Text 13"/>
          <p:cNvSpPr txBox="1"/>
          <p:nvPr/>
        </p:nvSpPr>
        <p:spPr>
          <a:xfrm>
            <a:off x="9226296" y="2286000"/>
            <a:ext cx="2286000" cy="91440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open beyond target costs feed, lost milk and a later calf</a:t>
            </a:r>
            <a:endParaRPr lang="en-US" sz="1200" dirty="0"/>
          </a:p>
        </p:txBody>
      </p:sp>
      <p:sp>
        <p:nvSpPr>
          <p:cNvPr id="16" name="Text 14"/>
          <p:cNvSpPr txBox="1"/>
          <p:nvPr/>
        </p:nvSpPr>
        <p:spPr>
          <a:xfrm>
            <a:off x="548640" y="3566160"/>
            <a:ext cx="9144000" cy="36576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The reproduction chain — and where it usually breaks</a:t>
            </a:r>
            <a:endParaRPr lang="en-US" sz="1700" dirty="0"/>
          </a:p>
        </p:txBody>
      </p:sp>
      <p:sp>
        <p:nvSpPr>
          <p:cNvPr id="17" name="Shape 15"/>
          <p:cNvSpPr/>
          <p:nvPr/>
        </p:nvSpPr>
        <p:spPr>
          <a:xfrm>
            <a:off x="548640" y="4069080"/>
            <a:ext cx="1737360" cy="868680"/>
          </a:xfrm>
          <a:prstGeom prst="roundRect">
            <a:avLst>
              <a:gd name="adj" fmla="val 10526"/>
            </a:avLst>
          </a:prstGeom>
          <a:solidFill>
            <a:srgbClr val="2C5F2D"/>
          </a:solidFill>
          <a:ln w="12700">
            <a:solidFill>
              <a:srgbClr val="2C5F2D"/>
            </a:solidFill>
            <a:prstDash val="solid"/>
          </a:ln>
        </p:spPr>
      </p:sp>
      <p:sp>
        <p:nvSpPr>
          <p:cNvPr id="18" name="Text 16"/>
          <p:cNvSpPr txBox="1"/>
          <p:nvPr/>
        </p:nvSpPr>
        <p:spPr>
          <a:xfrm>
            <a:off x="621792" y="4069080"/>
            <a:ext cx="1591056" cy="8686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Cow cycles after calving</a:t>
            </a:r>
            <a:endParaRPr lang="en-US" sz="1150" dirty="0"/>
          </a:p>
        </p:txBody>
      </p:sp>
      <p:pic>
        <p:nvPicPr>
          <p:cNvPr id="19" name="Image 0" descr="preencoded.png">    </p:cNvPr>
          <p:cNvPicPr>
            <a:picLocks noChangeAspect="1"/>
          </p:cNvPicPr>
          <p:nvPr/>
        </p:nvPicPr>
        <p:blipFill>
          <a:blip r:embed="rId1"/>
          <a:stretch>
            <a:fillRect/>
          </a:stretch>
        </p:blipFill>
        <p:spPr>
          <a:xfrm>
            <a:off x="594360" y="5074920"/>
            <a:ext cx="274320" cy="274320"/>
          </a:xfrm>
          <a:prstGeom prst="rect">
            <a:avLst/>
          </a:prstGeom>
        </p:spPr>
      </p:pic>
      <p:sp>
        <p:nvSpPr>
          <p:cNvPr id="20" name="Text 17"/>
          <p:cNvSpPr txBox="1"/>
          <p:nvPr/>
        </p:nvSpPr>
        <p:spPr>
          <a:xfrm>
            <a:off x="914400" y="5029200"/>
            <a:ext cx="1371600" cy="914400"/>
          </a:xfrm>
          <a:prstGeom prst="rect">
            <a:avLst/>
          </a:prstGeom>
          <a:noFill/>
          <a:ln/>
        </p:spPr>
        <p:txBody>
          <a:bodyPr wrap="square" lIns="0" tIns="0" rIns="0" bIns="0" rtlCol="0" anchor="t"/>
          <a:lstStyle/>
          <a:p>
            <a:pPr indent="0" marL="0">
              <a:buNone/>
            </a:pPr>
            <a:r>
              <a:rPr lang="en-US" sz="1050" dirty="0">
                <a:solidFill>
                  <a:srgbClr val="1F2A1F"/>
                </a:solidFill>
                <a:latin typeface="Calibri" pitchFamily="34" charset="0"/>
                <a:ea typeface="Calibri" pitchFamily="34" charset="-122"/>
                <a:cs typeface="Calibri" pitchFamily="34" charset="-120"/>
              </a:rPr>
              <a:t>Uterine infection, negative energy balance</a:t>
            </a:r>
            <a:endParaRPr lang="en-US" sz="1050" dirty="0"/>
          </a:p>
        </p:txBody>
      </p:sp>
      <p:sp>
        <p:nvSpPr>
          <p:cNvPr id="21" name="Shape 18"/>
          <p:cNvSpPr/>
          <p:nvPr/>
        </p:nvSpPr>
        <p:spPr>
          <a:xfrm>
            <a:off x="2414016" y="4069080"/>
            <a:ext cx="1737360" cy="868680"/>
          </a:xfrm>
          <a:prstGeom prst="roundRect">
            <a:avLst>
              <a:gd name="adj" fmla="val 10526"/>
            </a:avLst>
          </a:prstGeom>
          <a:solidFill>
            <a:srgbClr val="2C5F2D"/>
          </a:solidFill>
          <a:ln w="12700">
            <a:solidFill>
              <a:srgbClr val="2C5F2D"/>
            </a:solidFill>
            <a:prstDash val="solid"/>
          </a:ln>
        </p:spPr>
      </p:sp>
      <p:sp>
        <p:nvSpPr>
          <p:cNvPr id="22" name="Text 19"/>
          <p:cNvSpPr txBox="1"/>
          <p:nvPr/>
        </p:nvSpPr>
        <p:spPr>
          <a:xfrm>
            <a:off x="2487168" y="4069080"/>
            <a:ext cx="1591056" cy="8686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Heat is detected</a:t>
            </a:r>
            <a:endParaRPr lang="en-US" sz="1150" dirty="0"/>
          </a:p>
        </p:txBody>
      </p:sp>
      <p:pic>
        <p:nvPicPr>
          <p:cNvPr id="23" name="Image 1" descr="preencoded.png">    </p:cNvPr>
          <p:cNvPicPr>
            <a:picLocks noChangeAspect="1"/>
          </p:cNvPicPr>
          <p:nvPr/>
        </p:nvPicPr>
        <p:blipFill>
          <a:blip r:embed="rId2"/>
          <a:stretch>
            <a:fillRect/>
          </a:stretch>
        </p:blipFill>
        <p:spPr>
          <a:xfrm>
            <a:off x="2459736" y="5074920"/>
            <a:ext cx="274320" cy="274320"/>
          </a:xfrm>
          <a:prstGeom prst="rect">
            <a:avLst/>
          </a:prstGeom>
        </p:spPr>
      </p:pic>
      <p:sp>
        <p:nvSpPr>
          <p:cNvPr id="24" name="Text 20"/>
          <p:cNvSpPr txBox="1"/>
          <p:nvPr/>
        </p:nvSpPr>
        <p:spPr>
          <a:xfrm>
            <a:off x="2779776" y="5029200"/>
            <a:ext cx="1371600" cy="914400"/>
          </a:xfrm>
          <a:prstGeom prst="rect">
            <a:avLst/>
          </a:prstGeom>
          <a:noFill/>
          <a:ln/>
        </p:spPr>
        <p:txBody>
          <a:bodyPr wrap="square" lIns="0" tIns="0" rIns="0" bIns="0" rtlCol="0" anchor="t"/>
          <a:lstStyle/>
          <a:p>
            <a:pPr indent="0" marL="0">
              <a:buNone/>
            </a:pPr>
            <a:r>
              <a:rPr lang="en-US" sz="1050" dirty="0">
                <a:solidFill>
                  <a:srgbClr val="1F2A1F"/>
                </a:solidFill>
                <a:latin typeface="Calibri" pitchFamily="34" charset="0"/>
                <a:ea typeface="Calibri" pitchFamily="34" charset="-122"/>
                <a:cs typeface="Calibri" pitchFamily="34" charset="-120"/>
              </a:rPr>
              <a:t>Silent / night heats — the #1 loss</a:t>
            </a:r>
            <a:endParaRPr lang="en-US" sz="1050" dirty="0"/>
          </a:p>
        </p:txBody>
      </p:sp>
      <p:sp>
        <p:nvSpPr>
          <p:cNvPr id="25" name="Shape 21"/>
          <p:cNvSpPr/>
          <p:nvPr/>
        </p:nvSpPr>
        <p:spPr>
          <a:xfrm>
            <a:off x="4279392" y="4069080"/>
            <a:ext cx="1737360" cy="868680"/>
          </a:xfrm>
          <a:prstGeom prst="roundRect">
            <a:avLst>
              <a:gd name="adj" fmla="val 10526"/>
            </a:avLst>
          </a:prstGeom>
          <a:solidFill>
            <a:srgbClr val="2C5F2D"/>
          </a:solidFill>
          <a:ln w="12700">
            <a:solidFill>
              <a:srgbClr val="2C5F2D"/>
            </a:solidFill>
            <a:prstDash val="solid"/>
          </a:ln>
        </p:spPr>
      </p:sp>
      <p:sp>
        <p:nvSpPr>
          <p:cNvPr id="26" name="Text 22"/>
          <p:cNvSpPr txBox="1"/>
          <p:nvPr/>
        </p:nvSpPr>
        <p:spPr>
          <a:xfrm>
            <a:off x="4352544" y="4069080"/>
            <a:ext cx="1591056" cy="8686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AI at the right time</a:t>
            </a:r>
            <a:endParaRPr lang="en-US" sz="1150" dirty="0"/>
          </a:p>
        </p:txBody>
      </p:sp>
      <p:pic>
        <p:nvPicPr>
          <p:cNvPr id="27" name="Image 2" descr="preencoded.png">    </p:cNvPr>
          <p:cNvPicPr>
            <a:picLocks noChangeAspect="1"/>
          </p:cNvPicPr>
          <p:nvPr/>
        </p:nvPicPr>
        <p:blipFill>
          <a:blip r:embed="rId3"/>
          <a:stretch>
            <a:fillRect/>
          </a:stretch>
        </p:blipFill>
        <p:spPr>
          <a:xfrm>
            <a:off x="4325112" y="5074920"/>
            <a:ext cx="274320" cy="274320"/>
          </a:xfrm>
          <a:prstGeom prst="rect">
            <a:avLst/>
          </a:prstGeom>
        </p:spPr>
      </p:pic>
      <p:sp>
        <p:nvSpPr>
          <p:cNvPr id="28" name="Text 23"/>
          <p:cNvSpPr txBox="1"/>
          <p:nvPr/>
        </p:nvSpPr>
        <p:spPr>
          <a:xfrm>
            <a:off x="4645152" y="5029200"/>
            <a:ext cx="1371600" cy="914400"/>
          </a:xfrm>
          <a:prstGeom prst="rect">
            <a:avLst/>
          </a:prstGeom>
          <a:noFill/>
          <a:ln/>
        </p:spPr>
        <p:txBody>
          <a:bodyPr wrap="square" lIns="0" tIns="0" rIns="0" bIns="0" rtlCol="0" anchor="t"/>
          <a:lstStyle/>
          <a:p>
            <a:pPr indent="0" marL="0">
              <a:buNone/>
            </a:pPr>
            <a:r>
              <a:rPr lang="en-US" sz="1050" dirty="0">
                <a:solidFill>
                  <a:srgbClr val="1F2A1F"/>
                </a:solidFill>
                <a:latin typeface="Calibri" pitchFamily="34" charset="0"/>
                <a:ea typeface="Calibri" pitchFamily="34" charset="-122"/>
                <a:cs typeface="Calibri" pitchFamily="34" charset="-120"/>
              </a:rPr>
              <a:t>Too early / too late, poor semen handling</a:t>
            </a:r>
            <a:endParaRPr lang="en-US" sz="1050" dirty="0"/>
          </a:p>
        </p:txBody>
      </p:sp>
      <p:sp>
        <p:nvSpPr>
          <p:cNvPr id="29" name="Shape 24"/>
          <p:cNvSpPr/>
          <p:nvPr/>
        </p:nvSpPr>
        <p:spPr>
          <a:xfrm>
            <a:off x="6144768" y="4069080"/>
            <a:ext cx="1737360" cy="868680"/>
          </a:xfrm>
          <a:prstGeom prst="roundRect">
            <a:avLst>
              <a:gd name="adj" fmla="val 10526"/>
            </a:avLst>
          </a:prstGeom>
          <a:solidFill>
            <a:srgbClr val="2C5F2D"/>
          </a:solidFill>
          <a:ln w="12700">
            <a:solidFill>
              <a:srgbClr val="2C5F2D"/>
            </a:solidFill>
            <a:prstDash val="solid"/>
          </a:ln>
        </p:spPr>
      </p:sp>
      <p:sp>
        <p:nvSpPr>
          <p:cNvPr id="30" name="Text 25"/>
          <p:cNvSpPr txBox="1"/>
          <p:nvPr/>
        </p:nvSpPr>
        <p:spPr>
          <a:xfrm>
            <a:off x="6217920" y="4069080"/>
            <a:ext cx="1591056" cy="8686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Conception &amp; pregnancy confirmed</a:t>
            </a:r>
            <a:endParaRPr lang="en-US" sz="1150" dirty="0"/>
          </a:p>
        </p:txBody>
      </p:sp>
      <p:pic>
        <p:nvPicPr>
          <p:cNvPr id="31" name="Image 3" descr="preencoded.png">    </p:cNvPr>
          <p:cNvPicPr>
            <a:picLocks noChangeAspect="1"/>
          </p:cNvPicPr>
          <p:nvPr/>
        </p:nvPicPr>
        <p:blipFill>
          <a:blip r:embed="rId4"/>
          <a:stretch>
            <a:fillRect/>
          </a:stretch>
        </p:blipFill>
        <p:spPr>
          <a:xfrm>
            <a:off x="6190488" y="5074920"/>
            <a:ext cx="274320" cy="274320"/>
          </a:xfrm>
          <a:prstGeom prst="rect">
            <a:avLst/>
          </a:prstGeom>
        </p:spPr>
      </p:pic>
      <p:sp>
        <p:nvSpPr>
          <p:cNvPr id="32" name="Text 26"/>
          <p:cNvSpPr txBox="1"/>
          <p:nvPr/>
        </p:nvSpPr>
        <p:spPr>
          <a:xfrm>
            <a:off x="6510528" y="5029200"/>
            <a:ext cx="1371600" cy="914400"/>
          </a:xfrm>
          <a:prstGeom prst="rect">
            <a:avLst/>
          </a:prstGeom>
          <a:noFill/>
          <a:ln/>
        </p:spPr>
        <p:txBody>
          <a:bodyPr wrap="square" lIns="0" tIns="0" rIns="0" bIns="0" rtlCol="0" anchor="t"/>
          <a:lstStyle/>
          <a:p>
            <a:pPr indent="0" marL="0">
              <a:buNone/>
            </a:pPr>
            <a:r>
              <a:rPr lang="en-US" sz="1050" dirty="0">
                <a:solidFill>
                  <a:srgbClr val="1F2A1F"/>
                </a:solidFill>
                <a:latin typeface="Calibri" pitchFamily="34" charset="0"/>
                <a:ea typeface="Calibri" pitchFamily="34" charset="-122"/>
                <a:cs typeface="Calibri" pitchFamily="34" charset="-120"/>
              </a:rPr>
              <a:t>Open cows found too late</a:t>
            </a:r>
            <a:endParaRPr lang="en-US" sz="1050" dirty="0"/>
          </a:p>
        </p:txBody>
      </p:sp>
      <p:sp>
        <p:nvSpPr>
          <p:cNvPr id="33" name="Shape 27"/>
          <p:cNvSpPr/>
          <p:nvPr/>
        </p:nvSpPr>
        <p:spPr>
          <a:xfrm>
            <a:off x="8010144" y="4069080"/>
            <a:ext cx="1737360" cy="868680"/>
          </a:xfrm>
          <a:prstGeom prst="roundRect">
            <a:avLst>
              <a:gd name="adj" fmla="val 10526"/>
            </a:avLst>
          </a:prstGeom>
          <a:solidFill>
            <a:srgbClr val="2C5F2D"/>
          </a:solidFill>
          <a:ln w="12700">
            <a:solidFill>
              <a:srgbClr val="2C5F2D"/>
            </a:solidFill>
            <a:prstDash val="solid"/>
          </a:ln>
        </p:spPr>
      </p:sp>
      <p:sp>
        <p:nvSpPr>
          <p:cNvPr id="34" name="Text 28"/>
          <p:cNvSpPr txBox="1"/>
          <p:nvPr/>
        </p:nvSpPr>
        <p:spPr>
          <a:xfrm>
            <a:off x="8083296" y="4069080"/>
            <a:ext cx="1591056" cy="8686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Healthy calving</a:t>
            </a:r>
            <a:endParaRPr lang="en-US" sz="1150" dirty="0"/>
          </a:p>
        </p:txBody>
      </p:sp>
      <p:pic>
        <p:nvPicPr>
          <p:cNvPr id="35" name="Image 4" descr="preencoded.png">    </p:cNvPr>
          <p:cNvPicPr>
            <a:picLocks noChangeAspect="1"/>
          </p:cNvPicPr>
          <p:nvPr/>
        </p:nvPicPr>
        <p:blipFill>
          <a:blip r:embed="rId5"/>
          <a:stretch>
            <a:fillRect/>
          </a:stretch>
        </p:blipFill>
        <p:spPr>
          <a:xfrm>
            <a:off x="8055864" y="5074920"/>
            <a:ext cx="274320" cy="274320"/>
          </a:xfrm>
          <a:prstGeom prst="rect">
            <a:avLst/>
          </a:prstGeom>
        </p:spPr>
      </p:pic>
      <p:sp>
        <p:nvSpPr>
          <p:cNvPr id="36" name="Text 29"/>
          <p:cNvSpPr txBox="1"/>
          <p:nvPr/>
        </p:nvSpPr>
        <p:spPr>
          <a:xfrm>
            <a:off x="8375904" y="5029200"/>
            <a:ext cx="1371600" cy="914400"/>
          </a:xfrm>
          <a:prstGeom prst="rect">
            <a:avLst/>
          </a:prstGeom>
          <a:noFill/>
          <a:ln/>
        </p:spPr>
        <p:txBody>
          <a:bodyPr wrap="square" lIns="0" tIns="0" rIns="0" bIns="0" rtlCol="0" anchor="t"/>
          <a:lstStyle/>
          <a:p>
            <a:pPr indent="0" marL="0">
              <a:buNone/>
            </a:pPr>
            <a:r>
              <a:rPr lang="en-US" sz="1050" dirty="0">
                <a:solidFill>
                  <a:srgbClr val="1F2A1F"/>
                </a:solidFill>
                <a:latin typeface="Calibri" pitchFamily="34" charset="0"/>
                <a:ea typeface="Calibri" pitchFamily="34" charset="-122"/>
                <a:cs typeface="Calibri" pitchFamily="34" charset="-120"/>
              </a:rPr>
              <a:t>Dystocia, milk fever</a:t>
            </a:r>
            <a:endParaRPr lang="en-US" sz="1050" dirty="0"/>
          </a:p>
        </p:txBody>
      </p:sp>
      <p:sp>
        <p:nvSpPr>
          <p:cNvPr id="37" name="Shape 30"/>
          <p:cNvSpPr/>
          <p:nvPr/>
        </p:nvSpPr>
        <p:spPr>
          <a:xfrm>
            <a:off x="9875520" y="4069080"/>
            <a:ext cx="1737360" cy="868680"/>
          </a:xfrm>
          <a:prstGeom prst="roundRect">
            <a:avLst>
              <a:gd name="adj" fmla="val 10526"/>
            </a:avLst>
          </a:prstGeom>
          <a:solidFill>
            <a:srgbClr val="2C5F2D"/>
          </a:solidFill>
          <a:ln w="12700">
            <a:solidFill>
              <a:srgbClr val="2C5F2D"/>
            </a:solidFill>
            <a:prstDash val="solid"/>
          </a:ln>
        </p:spPr>
      </p:sp>
      <p:sp>
        <p:nvSpPr>
          <p:cNvPr id="38" name="Text 31"/>
          <p:cNvSpPr txBox="1"/>
          <p:nvPr/>
        </p:nvSpPr>
        <p:spPr>
          <a:xfrm>
            <a:off x="9948672" y="4069080"/>
            <a:ext cx="1591056" cy="8686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Calf survives</a:t>
            </a:r>
            <a:endParaRPr lang="en-US" sz="1150" dirty="0"/>
          </a:p>
        </p:txBody>
      </p:sp>
      <p:pic>
        <p:nvPicPr>
          <p:cNvPr id="39" name="Image 5" descr="preencoded.png">    </p:cNvPr>
          <p:cNvPicPr>
            <a:picLocks noChangeAspect="1"/>
          </p:cNvPicPr>
          <p:nvPr/>
        </p:nvPicPr>
        <p:blipFill>
          <a:blip r:embed="rId6"/>
          <a:stretch>
            <a:fillRect/>
          </a:stretch>
        </p:blipFill>
        <p:spPr>
          <a:xfrm>
            <a:off x="9921240" y="5074920"/>
            <a:ext cx="274320" cy="274320"/>
          </a:xfrm>
          <a:prstGeom prst="rect">
            <a:avLst/>
          </a:prstGeom>
        </p:spPr>
      </p:pic>
      <p:sp>
        <p:nvSpPr>
          <p:cNvPr id="40" name="Text 32"/>
          <p:cNvSpPr txBox="1"/>
          <p:nvPr/>
        </p:nvSpPr>
        <p:spPr>
          <a:xfrm>
            <a:off x="10241280" y="5029200"/>
            <a:ext cx="1371600" cy="914400"/>
          </a:xfrm>
          <a:prstGeom prst="rect">
            <a:avLst/>
          </a:prstGeom>
          <a:noFill/>
          <a:ln/>
        </p:spPr>
        <p:txBody>
          <a:bodyPr wrap="square" lIns="0" tIns="0" rIns="0" bIns="0" rtlCol="0" anchor="t"/>
          <a:lstStyle/>
          <a:p>
            <a:pPr indent="0" marL="0">
              <a:buNone/>
            </a:pPr>
            <a:r>
              <a:rPr lang="en-US" sz="1050" dirty="0">
                <a:solidFill>
                  <a:srgbClr val="1F2A1F"/>
                </a:solidFill>
                <a:latin typeface="Calibri" pitchFamily="34" charset="0"/>
                <a:ea typeface="Calibri" pitchFamily="34" charset="-122"/>
                <a:cs typeface="Calibri" pitchFamily="34" charset="-120"/>
              </a:rPr>
              <a:t>No colostrum, scours</a:t>
            </a:r>
            <a:endParaRPr lang="en-US" sz="1050" dirty="0"/>
          </a:p>
        </p:txBody>
      </p:sp>
      <p:sp>
        <p:nvSpPr>
          <p:cNvPr id="41" name="Text 3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42" name="Text 3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1 · REPRODUCTION</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The estrous cycle — the clock you are working with</a:t>
            </a:r>
            <a:endParaRPr lang="en-US" sz="2600" dirty="0"/>
          </a:p>
        </p:txBody>
      </p:sp>
      <p:sp>
        <p:nvSpPr>
          <p:cNvPr id="4" name="Shape 2"/>
          <p:cNvSpPr/>
          <p:nvPr/>
        </p:nvSpPr>
        <p:spPr>
          <a:xfrm>
            <a:off x="2331720" y="2331720"/>
            <a:ext cx="3017520" cy="3017520"/>
          </a:xfrm>
          <a:prstGeom prst="ellipse">
            <a:avLst/>
          </a:prstGeom>
          <a:solidFill>
            <a:srgbClr val="EEF4E6"/>
          </a:solidFill>
          <a:ln w="76200">
            <a:solidFill>
              <a:srgbClr val="97BC62"/>
            </a:solidFill>
            <a:prstDash val="solid"/>
          </a:ln>
        </p:spPr>
      </p:sp>
      <p:sp>
        <p:nvSpPr>
          <p:cNvPr id="5" name="Text 3"/>
          <p:cNvSpPr txBox="1"/>
          <p:nvPr/>
        </p:nvSpPr>
        <p:spPr>
          <a:xfrm>
            <a:off x="2560320" y="3383280"/>
            <a:ext cx="2560320" cy="914400"/>
          </a:xfrm>
          <a:prstGeom prst="rect">
            <a:avLst/>
          </a:prstGeom>
          <a:noFill/>
          <a:ln/>
        </p:spPr>
        <p:txBody>
          <a:bodyPr wrap="square" lIns="0" tIns="0" rIns="0" bIns="0"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21 days</a:t>
            </a:r>
            <a:endParaRPr lang="en-US" sz="1500" dirty="0"/>
          </a:p>
          <a:p>
            <a:pPr algn="ctr" indent="0" marL="0">
              <a:buNone/>
            </a:pPr>
            <a:r>
              <a:rPr lang="en-US" sz="1500" b="1" dirty="0">
                <a:solidFill>
                  <a:srgbClr val="2C5F2D"/>
                </a:solidFill>
                <a:latin typeface="Cambria" pitchFamily="34" charset="0"/>
                <a:ea typeface="Cambria" pitchFamily="34" charset="-122"/>
                <a:cs typeface="Cambria" pitchFamily="34" charset="-120"/>
              </a:rPr>
              <a:t>(cattle 18–24 · buffalo 21–24)</a:t>
            </a:r>
            <a:endParaRPr lang="en-US" sz="1500" dirty="0"/>
          </a:p>
        </p:txBody>
      </p:sp>
      <p:sp>
        <p:nvSpPr>
          <p:cNvPr id="6" name="Text 4"/>
          <p:cNvSpPr txBox="1"/>
          <p:nvPr/>
        </p:nvSpPr>
        <p:spPr>
          <a:xfrm>
            <a:off x="2926080" y="1463040"/>
            <a:ext cx="2286000" cy="777240"/>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Day 0  </a:t>
            </a:r>
            <a:pPr indent="0" marL="0">
              <a:buNone/>
            </a:pPr>
            <a:r>
              <a:rPr lang="en-US" sz="1150" dirty="0">
                <a:solidFill>
                  <a:srgbClr val="1F2A1F"/>
                </a:solidFill>
                <a:latin typeface="Calibri" pitchFamily="34" charset="0"/>
                <a:ea typeface="Calibri" pitchFamily="34" charset="-122"/>
                <a:cs typeface="Calibri" pitchFamily="34" charset="-120"/>
              </a:rPr>
              <a:t>Estrus (heat)</a:t>
            </a:r>
            <a:endParaRPr lang="en-US" sz="1150" dirty="0"/>
          </a:p>
          <a:p>
            <a:pPr indent="0" marL="0">
              <a:buNone/>
            </a:pPr>
            <a:r>
              <a:rPr lang="en-US" sz="1150" dirty="0">
                <a:solidFill>
                  <a:srgbClr val="1F2A1F"/>
                </a:solidFill>
                <a:latin typeface="Calibri" pitchFamily="34" charset="0"/>
                <a:ea typeface="Calibri" pitchFamily="34" charset="-122"/>
                <a:cs typeface="Calibri" pitchFamily="34" charset="-120"/>
              </a:rPr>
              <a:t>12–18 h cattle · shorter, often at night in buffalo</a:t>
            </a:r>
            <a:endParaRPr lang="en-US" sz="1150" dirty="0"/>
          </a:p>
        </p:txBody>
      </p:sp>
      <p:sp>
        <p:nvSpPr>
          <p:cNvPr id="7" name="Text 5"/>
          <p:cNvSpPr txBox="1"/>
          <p:nvPr/>
        </p:nvSpPr>
        <p:spPr>
          <a:xfrm>
            <a:off x="5440680" y="3429000"/>
            <a:ext cx="1280160" cy="777240"/>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Day 1  </a:t>
            </a:r>
            <a:pPr indent="0" marL="0">
              <a:buNone/>
            </a:pPr>
            <a:r>
              <a:rPr lang="en-US" sz="1150" dirty="0">
                <a:solidFill>
                  <a:srgbClr val="1F2A1F"/>
                </a:solidFill>
                <a:latin typeface="Calibri" pitchFamily="34" charset="0"/>
                <a:ea typeface="Calibri" pitchFamily="34" charset="-122"/>
                <a:cs typeface="Calibri" pitchFamily="34" charset="-120"/>
              </a:rPr>
              <a:t>Ovulation ≈ 24–30 h after heat begins</a:t>
            </a:r>
            <a:endParaRPr lang="en-US" sz="1150" dirty="0"/>
          </a:p>
        </p:txBody>
      </p:sp>
      <p:sp>
        <p:nvSpPr>
          <p:cNvPr id="8" name="Text 6"/>
          <p:cNvSpPr txBox="1"/>
          <p:nvPr/>
        </p:nvSpPr>
        <p:spPr>
          <a:xfrm>
            <a:off x="2926080" y="5440680"/>
            <a:ext cx="2286000" cy="777240"/>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Day 5–16  </a:t>
            </a:r>
            <a:pPr indent="0" marL="0">
              <a:buNone/>
            </a:pPr>
            <a:r>
              <a:rPr lang="en-US" sz="1150" dirty="0">
                <a:solidFill>
                  <a:srgbClr val="1F2A1F"/>
                </a:solidFill>
                <a:latin typeface="Calibri" pitchFamily="34" charset="0"/>
                <a:ea typeface="Calibri" pitchFamily="34" charset="-122"/>
                <a:cs typeface="Calibri" pitchFamily="34" charset="-120"/>
              </a:rPr>
              <a:t>Corpus luteum · progesterone high · no heat</a:t>
            </a:r>
            <a:endParaRPr lang="en-US" sz="1150" dirty="0"/>
          </a:p>
        </p:txBody>
      </p:sp>
      <p:sp>
        <p:nvSpPr>
          <p:cNvPr id="9" name="Text 7"/>
          <p:cNvSpPr txBox="1"/>
          <p:nvPr/>
        </p:nvSpPr>
        <p:spPr>
          <a:xfrm>
            <a:off x="548640" y="3429000"/>
            <a:ext cx="1691640" cy="777240"/>
          </a:xfrm>
          <a:prstGeom prst="rect">
            <a:avLst/>
          </a:prstGeom>
          <a:noFill/>
          <a:ln/>
        </p:spPr>
        <p:txBody>
          <a:bodyPr wrap="square" lIns="0" tIns="0" rIns="0" bIns="0" rtlCol="0" anchor="ctr"/>
          <a:lstStyle/>
          <a:p>
            <a:pPr indent="0" marL="0">
              <a:buNone/>
            </a:pPr>
            <a:r>
              <a:rPr lang="en-US" sz="1150" b="1" dirty="0">
                <a:solidFill>
                  <a:srgbClr val="2C5F2D"/>
                </a:solidFill>
                <a:latin typeface="Calibri" pitchFamily="34" charset="0"/>
                <a:ea typeface="Calibri" pitchFamily="34" charset="-122"/>
                <a:cs typeface="Calibri" pitchFamily="34" charset="-120"/>
              </a:rPr>
              <a:t>Day 17–20  </a:t>
            </a:r>
            <a:pPr indent="0" marL="0">
              <a:buNone/>
            </a:pPr>
            <a:r>
              <a:rPr lang="en-US" sz="1150" dirty="0">
                <a:solidFill>
                  <a:srgbClr val="1F2A1F"/>
                </a:solidFill>
                <a:latin typeface="Calibri" pitchFamily="34" charset="0"/>
                <a:ea typeface="Calibri" pitchFamily="34" charset="-122"/>
                <a:cs typeface="Calibri" pitchFamily="34" charset="-120"/>
              </a:rPr>
              <a:t>CL regresses · follicle grows · estrogen rises</a:t>
            </a:r>
            <a:endParaRPr lang="en-US" sz="1150" dirty="0"/>
          </a:p>
        </p:txBody>
      </p:sp>
      <p:sp>
        <p:nvSpPr>
          <p:cNvPr id="10" name="Shape 8"/>
          <p:cNvSpPr/>
          <p:nvPr/>
        </p:nvSpPr>
        <p:spPr>
          <a:xfrm>
            <a:off x="6903720" y="1463040"/>
            <a:ext cx="4754880" cy="4709160"/>
          </a:xfrm>
          <a:prstGeom prst="roundRect">
            <a:avLst>
              <a:gd name="adj" fmla="val 2330"/>
            </a:avLst>
          </a:prstGeom>
          <a:solidFill>
            <a:srgbClr val="F6F9F2"/>
          </a:solidFill>
          <a:ln w="12700">
            <a:solidFill>
              <a:srgbClr val="F6F9F2"/>
            </a:solidFill>
            <a:prstDash val="solid"/>
          </a:ln>
        </p:spPr>
      </p:sp>
      <p:sp>
        <p:nvSpPr>
          <p:cNvPr id="11" name="Text 9"/>
          <p:cNvSpPr txBox="1"/>
          <p:nvPr/>
        </p:nvSpPr>
        <p:spPr>
          <a:xfrm>
            <a:off x="7132320" y="1600200"/>
            <a:ext cx="4389120" cy="36576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Practical rules that follow from the clock</a:t>
            </a:r>
            <a:endParaRPr lang="en-US" sz="1600" dirty="0"/>
          </a:p>
        </p:txBody>
      </p:sp>
      <p:sp>
        <p:nvSpPr>
          <p:cNvPr id="12" name="Text 10"/>
          <p:cNvSpPr txBox="1"/>
          <p:nvPr/>
        </p:nvSpPr>
        <p:spPr>
          <a:xfrm>
            <a:off x="7132320" y="2103120"/>
            <a:ext cx="4343400" cy="39319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A1F"/>
                </a:solidFill>
                <a:latin typeface="Calibri" pitchFamily="34" charset="0"/>
                <a:ea typeface="Calibri" pitchFamily="34" charset="-122"/>
                <a:cs typeface="Calibri" pitchFamily="34" charset="-120"/>
              </a:rPr>
              <a:t>First heat after calving: cattle 2–4 weeks, but wait until ≥ 45–60 days (voluntary waiting period) before breeding</a:t>
            </a:r>
            <a:endParaRPr lang="en-US" sz="1250" dirty="0"/>
          </a:p>
          <a:p>
            <a:pPr marL="177800" indent="-177800">
              <a:spcAft>
                <a:spcPts val="600"/>
              </a:spcAft>
              <a:buSzPct val="100000"/>
              <a:buChar char="•"/>
            </a:pPr>
            <a:r>
              <a:rPr lang="en-US" sz="1250" dirty="0">
                <a:solidFill>
                  <a:srgbClr val="1F2A1F"/>
                </a:solidFill>
                <a:latin typeface="Calibri" pitchFamily="34" charset="0"/>
                <a:ea typeface="Calibri" pitchFamily="34" charset="-122"/>
                <a:cs typeface="Calibri" pitchFamily="34" charset="-120"/>
              </a:rPr>
              <a:t>A cow not seen in heat by 60 days post-calving needs a check: ovaries, uterus, body condition</a:t>
            </a:r>
            <a:endParaRPr lang="en-US" sz="1250" dirty="0"/>
          </a:p>
          <a:p>
            <a:pPr marL="177800" indent="-177800">
              <a:spcAft>
                <a:spcPts val="600"/>
              </a:spcAft>
              <a:buSzPct val="100000"/>
              <a:buChar char="•"/>
            </a:pPr>
            <a:r>
              <a:rPr lang="en-US" sz="1250" dirty="0">
                <a:solidFill>
                  <a:srgbClr val="1F2A1F"/>
                </a:solidFill>
                <a:latin typeface="Calibri" pitchFamily="34" charset="0"/>
                <a:ea typeface="Calibri" pitchFamily="34" charset="-122"/>
                <a:cs typeface="Calibri" pitchFamily="34" charset="-120"/>
              </a:rPr>
              <a:t>Buffalo: seasonal tendency (more cycling in cooler months), weaker outward signs — plan for aids, not eyes alone</a:t>
            </a:r>
            <a:endParaRPr lang="en-US" sz="1250" dirty="0"/>
          </a:p>
          <a:p>
            <a:pPr marL="177800" indent="-177800">
              <a:spcAft>
                <a:spcPts val="600"/>
              </a:spcAft>
              <a:buSzPct val="100000"/>
              <a:buChar char="•"/>
            </a:pPr>
            <a:r>
              <a:rPr lang="en-US" sz="1250" dirty="0">
                <a:solidFill>
                  <a:srgbClr val="1F2A1F"/>
                </a:solidFill>
                <a:latin typeface="Calibri" pitchFamily="34" charset="0"/>
                <a:ea typeface="Calibri" pitchFamily="34" charset="-122"/>
                <a:cs typeface="Calibri" pitchFamily="34" charset="-120"/>
              </a:rPr>
              <a:t>Heat signs last hours, not days — observation 3× daily (early morning, evening, night) or continuous sensing</a:t>
            </a:r>
            <a:endParaRPr lang="en-US" sz="1250" dirty="0"/>
          </a:p>
          <a:p>
            <a:pPr marL="177800" indent="-177800">
              <a:spcAft>
                <a:spcPts val="600"/>
              </a:spcAft>
              <a:buSzPct val="100000"/>
              <a:buChar char="•"/>
            </a:pPr>
            <a:r>
              <a:rPr lang="en-US" sz="1250" dirty="0">
                <a:solidFill>
                  <a:srgbClr val="1F2A1F"/>
                </a:solidFill>
                <a:latin typeface="Calibri" pitchFamily="34" charset="0"/>
                <a:ea typeface="Calibri" pitchFamily="34" charset="-122"/>
                <a:cs typeface="Calibri" pitchFamily="34" charset="-120"/>
              </a:rPr>
              <a:t>If you know the heat date, you know the next heat date (+21 d) and the pregnancy-check date</a:t>
            </a:r>
            <a:endParaRPr lang="en-US" sz="1250" dirty="0"/>
          </a:p>
        </p:txBody>
      </p:sp>
      <p:sp>
        <p:nvSpPr>
          <p:cNvPr id="13" name="Text 1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14" name="Text 1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1 · REPRODUCTION</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Heat detection — the number one leak in the bucket</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914400"/>
        </p:xfrm>
        <a:graphic>
          <a:graphicData uri="http://schemas.openxmlformats.org/drawingml/2006/table">
            <a:tbl>
              <a:tblPr/>
              <a:tblGrid>
                <a:gridCol w="2651760"/>
                <a:gridCol w="1554480"/>
                <a:gridCol w="274320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Sign</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Reliability</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r>
              <a:tr h="45720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Standing to be mounted</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Primary (definitive)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Cattle: lasts 8–18 h · Buffalo: brief, often at night</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Mounting other animals, restlessness, bellowing</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Secondary</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Occurs before and during standing heat</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45720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Clear stringy vulvar mucus, swollen vulva</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Secondary</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Buffalo: mucus is often the most visible sign</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Drop in milk yield and feed intake, rise in activity</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Secondary</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Exactly what sensors measure automatically</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45720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Chin resting, sniffing, rubbed tailhead</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Supportive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Use tail paint / chalk to read overnight mounting</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bl>
          </a:graphicData>
        </a:graphic>
      </p:graphicFrame>
      <p:sp>
        <p:nvSpPr>
          <p:cNvPr id="5" name="Shape 2"/>
          <p:cNvSpPr/>
          <p:nvPr/>
        </p:nvSpPr>
        <p:spPr>
          <a:xfrm>
            <a:off x="7863840" y="1463040"/>
            <a:ext cx="3794760" cy="4709160"/>
          </a:xfrm>
          <a:prstGeom prst="roundRect">
            <a:avLst>
              <a:gd name="adj" fmla="val 2892"/>
            </a:avLst>
          </a:prstGeom>
          <a:solidFill>
            <a:srgbClr val="EEF4E6"/>
          </a:solidFill>
          <a:ln w="12700">
            <a:solidFill>
              <a:srgbClr val="EEF4E6"/>
            </a:solidFill>
            <a:prstDash val="solid"/>
          </a:ln>
        </p:spPr>
      </p:sp>
      <p:sp>
        <p:nvSpPr>
          <p:cNvPr id="6" name="Text 3"/>
          <p:cNvSpPr txBox="1"/>
          <p:nvPr/>
        </p:nvSpPr>
        <p:spPr>
          <a:xfrm>
            <a:off x="8092440" y="1600200"/>
            <a:ext cx="3383280" cy="5486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Detection aids — from cheap to continuous</a:t>
            </a:r>
            <a:endParaRPr lang="en-US" sz="1500" dirty="0"/>
          </a:p>
        </p:txBody>
      </p:sp>
      <p:sp>
        <p:nvSpPr>
          <p:cNvPr id="7" name="Shape 4"/>
          <p:cNvSpPr/>
          <p:nvPr/>
        </p:nvSpPr>
        <p:spPr>
          <a:xfrm>
            <a:off x="8092440" y="2240280"/>
            <a:ext cx="457200" cy="457200"/>
          </a:xfrm>
          <a:prstGeom prst="ellipse">
            <a:avLst/>
          </a:prstGeom>
          <a:solidFill>
            <a:srgbClr val="2C5F2D"/>
          </a:solidFill>
          <a:ln w="12700">
            <a:solidFill>
              <a:srgbClr val="2C5F2D"/>
            </a:solidFill>
            <a:prstDash val="solid"/>
          </a:ln>
        </p:spPr>
      </p:sp>
      <p:pic>
        <p:nvPicPr>
          <p:cNvPr id="8" name="Image 0" descr="preencoded.png">    </p:cNvPr>
          <p:cNvPicPr>
            <a:picLocks noChangeAspect="1"/>
          </p:cNvPicPr>
          <p:nvPr/>
        </p:nvPicPr>
        <p:blipFill>
          <a:blip r:embed="rId1"/>
          <a:stretch>
            <a:fillRect/>
          </a:stretch>
        </p:blipFill>
        <p:spPr>
          <a:xfrm>
            <a:off x="8202168" y="2350008"/>
            <a:ext cx="237744" cy="237744"/>
          </a:xfrm>
          <a:prstGeom prst="rect">
            <a:avLst/>
          </a:prstGeom>
        </p:spPr>
      </p:pic>
      <p:sp>
        <p:nvSpPr>
          <p:cNvPr id="9" name="Text 5"/>
          <p:cNvSpPr txBox="1"/>
          <p:nvPr/>
        </p:nvSpPr>
        <p:spPr>
          <a:xfrm>
            <a:off x="8686800" y="2194560"/>
            <a:ext cx="2834640" cy="566928"/>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Tail paint / chalk — reads mounting you did not see</a:t>
            </a:r>
            <a:endParaRPr lang="en-US" sz="1150" dirty="0"/>
          </a:p>
        </p:txBody>
      </p:sp>
      <p:sp>
        <p:nvSpPr>
          <p:cNvPr id="10" name="Shape 6"/>
          <p:cNvSpPr/>
          <p:nvPr/>
        </p:nvSpPr>
        <p:spPr>
          <a:xfrm>
            <a:off x="8092440" y="3017520"/>
            <a:ext cx="457200" cy="457200"/>
          </a:xfrm>
          <a:prstGeom prst="ellipse">
            <a:avLst/>
          </a:prstGeom>
          <a:solidFill>
            <a:srgbClr val="2C5F2D"/>
          </a:solidFill>
          <a:ln w="12700">
            <a:solidFill>
              <a:srgbClr val="2C5F2D"/>
            </a:solidFill>
            <a:prstDash val="solid"/>
          </a:ln>
        </p:spPr>
      </p:sp>
      <p:pic>
        <p:nvPicPr>
          <p:cNvPr id="11" name="Image 1" descr="preencoded.png">    </p:cNvPr>
          <p:cNvPicPr>
            <a:picLocks noChangeAspect="1"/>
          </p:cNvPicPr>
          <p:nvPr/>
        </p:nvPicPr>
        <p:blipFill>
          <a:blip r:embed="rId2"/>
          <a:stretch>
            <a:fillRect/>
          </a:stretch>
        </p:blipFill>
        <p:spPr>
          <a:xfrm>
            <a:off x="8202168" y="3127248"/>
            <a:ext cx="237744" cy="237744"/>
          </a:xfrm>
          <a:prstGeom prst="rect">
            <a:avLst/>
          </a:prstGeom>
        </p:spPr>
      </p:pic>
      <p:sp>
        <p:nvSpPr>
          <p:cNvPr id="12" name="Text 7"/>
          <p:cNvSpPr txBox="1"/>
          <p:nvPr/>
        </p:nvSpPr>
        <p:spPr>
          <a:xfrm>
            <a:off x="8686800" y="2971800"/>
            <a:ext cx="2834640" cy="566928"/>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3 × 30 min observation, incl. night — free, but labour-bound</a:t>
            </a:r>
            <a:endParaRPr lang="en-US" sz="1150" dirty="0"/>
          </a:p>
        </p:txBody>
      </p:sp>
      <p:sp>
        <p:nvSpPr>
          <p:cNvPr id="13" name="Shape 8"/>
          <p:cNvSpPr/>
          <p:nvPr/>
        </p:nvSpPr>
        <p:spPr>
          <a:xfrm>
            <a:off x="8092440" y="3794760"/>
            <a:ext cx="457200" cy="457200"/>
          </a:xfrm>
          <a:prstGeom prst="ellipse">
            <a:avLst/>
          </a:prstGeom>
          <a:solidFill>
            <a:srgbClr val="2C5F2D"/>
          </a:solidFill>
          <a:ln w="12700">
            <a:solidFill>
              <a:srgbClr val="2C5F2D"/>
            </a:solidFill>
            <a:prstDash val="solid"/>
          </a:ln>
        </p:spPr>
      </p:sp>
      <p:pic>
        <p:nvPicPr>
          <p:cNvPr id="14" name="Image 2" descr="preencoded.png">    </p:cNvPr>
          <p:cNvPicPr>
            <a:picLocks noChangeAspect="1"/>
          </p:cNvPicPr>
          <p:nvPr/>
        </p:nvPicPr>
        <p:blipFill>
          <a:blip r:embed="rId3"/>
          <a:stretch>
            <a:fillRect/>
          </a:stretch>
        </p:blipFill>
        <p:spPr>
          <a:xfrm>
            <a:off x="8202168" y="3904488"/>
            <a:ext cx="237744" cy="237744"/>
          </a:xfrm>
          <a:prstGeom prst="rect">
            <a:avLst/>
          </a:prstGeom>
        </p:spPr>
      </p:pic>
      <p:sp>
        <p:nvSpPr>
          <p:cNvPr id="15" name="Text 9"/>
          <p:cNvSpPr txBox="1"/>
          <p:nvPr/>
        </p:nvSpPr>
        <p:spPr>
          <a:xfrm>
            <a:off x="8686800" y="3749040"/>
            <a:ext cx="2834640" cy="566928"/>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Pedometers / collars — activity only, loss risk</a:t>
            </a:r>
            <a:endParaRPr lang="en-US" sz="1150" dirty="0"/>
          </a:p>
        </p:txBody>
      </p:sp>
      <p:sp>
        <p:nvSpPr>
          <p:cNvPr id="16" name="Shape 10"/>
          <p:cNvSpPr/>
          <p:nvPr/>
        </p:nvSpPr>
        <p:spPr>
          <a:xfrm>
            <a:off x="8092440" y="4572000"/>
            <a:ext cx="457200" cy="457200"/>
          </a:xfrm>
          <a:prstGeom prst="ellipse">
            <a:avLst/>
          </a:prstGeom>
          <a:solidFill>
            <a:srgbClr val="2C5F2D"/>
          </a:solidFill>
          <a:ln w="12700">
            <a:solidFill>
              <a:srgbClr val="2C5F2D"/>
            </a:solidFill>
            <a:prstDash val="solid"/>
          </a:ln>
        </p:spPr>
      </p:sp>
      <p:pic>
        <p:nvPicPr>
          <p:cNvPr id="17" name="Image 3" descr="preencoded.png">    </p:cNvPr>
          <p:cNvPicPr>
            <a:picLocks noChangeAspect="1"/>
          </p:cNvPicPr>
          <p:nvPr/>
        </p:nvPicPr>
        <p:blipFill>
          <a:blip r:embed="rId4"/>
          <a:stretch>
            <a:fillRect/>
          </a:stretch>
        </p:blipFill>
        <p:spPr>
          <a:xfrm>
            <a:off x="8202168" y="4681728"/>
            <a:ext cx="237744" cy="237744"/>
          </a:xfrm>
          <a:prstGeom prst="rect">
            <a:avLst/>
          </a:prstGeom>
        </p:spPr>
      </p:pic>
      <p:sp>
        <p:nvSpPr>
          <p:cNvPr id="18" name="Text 11"/>
          <p:cNvSpPr txBox="1"/>
          <p:nvPr/>
        </p:nvSpPr>
        <p:spPr>
          <a:xfrm>
            <a:off x="8686800" y="4526280"/>
            <a:ext cx="2834640" cy="566928"/>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Rumen bolus — activity + temperature + rumination, inside the animal</a:t>
            </a:r>
            <a:endParaRPr lang="en-US" sz="1150" dirty="0"/>
          </a:p>
        </p:txBody>
      </p:sp>
      <p:sp>
        <p:nvSpPr>
          <p:cNvPr id="19" name="Shape 12"/>
          <p:cNvSpPr/>
          <p:nvPr/>
        </p:nvSpPr>
        <p:spPr>
          <a:xfrm>
            <a:off x="8092440" y="5349240"/>
            <a:ext cx="457200" cy="457200"/>
          </a:xfrm>
          <a:prstGeom prst="ellipse">
            <a:avLst/>
          </a:prstGeom>
          <a:solidFill>
            <a:srgbClr val="2C5F2D"/>
          </a:solidFill>
          <a:ln w="12700">
            <a:solidFill>
              <a:srgbClr val="2C5F2D"/>
            </a:solidFill>
            <a:prstDash val="solid"/>
          </a:ln>
        </p:spPr>
      </p:sp>
      <p:pic>
        <p:nvPicPr>
          <p:cNvPr id="20" name="Image 4" descr="preencoded.png">    </p:cNvPr>
          <p:cNvPicPr>
            <a:picLocks noChangeAspect="1"/>
          </p:cNvPicPr>
          <p:nvPr/>
        </p:nvPicPr>
        <p:blipFill>
          <a:blip r:embed="rId5"/>
          <a:stretch>
            <a:fillRect/>
          </a:stretch>
        </p:blipFill>
        <p:spPr>
          <a:xfrm>
            <a:off x="8202168" y="5458968"/>
            <a:ext cx="237744" cy="237744"/>
          </a:xfrm>
          <a:prstGeom prst="rect">
            <a:avLst/>
          </a:prstGeom>
        </p:spPr>
      </p:pic>
      <p:sp>
        <p:nvSpPr>
          <p:cNvPr id="21" name="Text 13"/>
          <p:cNvSpPr txBox="1"/>
          <p:nvPr/>
        </p:nvSpPr>
        <p:spPr>
          <a:xfrm>
            <a:off x="8686800" y="5303520"/>
            <a:ext cx="2834640" cy="566928"/>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Synchronisation (Ovsynch, PGF) — timed AI when detection is weak</a:t>
            </a:r>
            <a:endParaRPr lang="en-US" sz="1150" dirty="0"/>
          </a:p>
        </p:txBody>
      </p:sp>
      <p:sp>
        <p:nvSpPr>
          <p:cNvPr id="22" name="Text 14"/>
          <p:cNvSpPr txBox="1"/>
          <p:nvPr/>
        </p:nvSpPr>
        <p:spPr>
          <a:xfrm>
            <a:off x="548640" y="4480560"/>
            <a:ext cx="6949440" cy="7315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Target: heat detection rate above 60% of eligible animals per 21 days. Below 40%, no AI programme can succeed.</a:t>
            </a:r>
            <a:endParaRPr lang="en-US" sz="1300" dirty="0"/>
          </a:p>
        </p:txBody>
      </p:sp>
      <p:sp>
        <p:nvSpPr>
          <p:cNvPr id="23" name="Text 15"/>
          <p:cNvSpPr txBox="1"/>
          <p:nvPr/>
        </p:nvSpPr>
        <p:spPr>
          <a:xfrm>
            <a:off x="548640" y="5212080"/>
            <a:ext cx="6949440" cy="914400"/>
          </a:xfrm>
          <a:prstGeom prst="rect">
            <a:avLst/>
          </a:prstGeom>
          <a:noFill/>
          <a:ln/>
        </p:spPr>
        <p:txBody>
          <a:bodyPr wrap="square" lIns="0" tIns="0" rIns="0" bIns="0" rtlCol="0" anchor="ctr"/>
          <a:lstStyle/>
          <a:p>
            <a:pPr indent="0" marL="0">
              <a:buNone/>
            </a:pPr>
            <a:r>
              <a:rPr lang="en-US" sz="1200" i="1" dirty="0">
                <a:solidFill>
                  <a:srgbClr val="5B6B5B"/>
                </a:solidFill>
                <a:latin typeface="Calibri" pitchFamily="34" charset="0"/>
                <a:ea typeface="Calibri" pitchFamily="34" charset="-122"/>
                <a:cs typeface="Calibri" pitchFamily="34" charset="-120"/>
              </a:rPr>
              <a:t>Silent heat: a normal ovulation with no visible signs. Reported in a large share of buffalo and of high-yielding cows — which is why Korea moved to sensors.</a:t>
            </a:r>
            <a:endParaRPr lang="en-US" sz="1200" dirty="0"/>
          </a:p>
        </p:txBody>
      </p:sp>
      <p:sp>
        <p:nvSpPr>
          <p:cNvPr id="24" name="Text 1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25" name="Text 1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1 · REPRODUCTION</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AI timing and semen handling</a:t>
            </a:r>
            <a:endParaRPr lang="en-US" sz="2600" dirty="0"/>
          </a:p>
        </p:txBody>
      </p:sp>
      <p:sp>
        <p:nvSpPr>
          <p:cNvPr id="4" name="Shape 2"/>
          <p:cNvSpPr/>
          <p:nvPr/>
        </p:nvSpPr>
        <p:spPr>
          <a:xfrm>
            <a:off x="548640" y="2011680"/>
            <a:ext cx="6949440" cy="457200"/>
          </a:xfrm>
          <a:prstGeom prst="rect">
            <a:avLst/>
          </a:prstGeom>
          <a:solidFill>
            <a:srgbClr val="EEF4E6"/>
          </a:solidFill>
          <a:ln w="12700">
            <a:solidFill>
              <a:srgbClr val="EEF4E6"/>
            </a:solidFill>
            <a:prstDash val="solid"/>
          </a:ln>
        </p:spPr>
      </p:sp>
      <p:sp>
        <p:nvSpPr>
          <p:cNvPr id="5" name="Shape 3"/>
          <p:cNvSpPr/>
          <p:nvPr/>
        </p:nvSpPr>
        <p:spPr>
          <a:xfrm>
            <a:off x="2841955" y="2011680"/>
            <a:ext cx="2362810" cy="457200"/>
          </a:xfrm>
          <a:prstGeom prst="rect">
            <a:avLst/>
          </a:prstGeom>
          <a:solidFill>
            <a:srgbClr val="97BC62"/>
          </a:solidFill>
          <a:ln w="12700">
            <a:solidFill>
              <a:srgbClr val="97BC62"/>
            </a:solidFill>
            <a:prstDash val="solid"/>
          </a:ln>
        </p:spPr>
      </p:sp>
      <p:sp>
        <p:nvSpPr>
          <p:cNvPr id="6" name="Shape 4"/>
          <p:cNvSpPr/>
          <p:nvPr/>
        </p:nvSpPr>
        <p:spPr>
          <a:xfrm>
            <a:off x="548640" y="1874520"/>
            <a:ext cx="0" cy="731520"/>
          </a:xfrm>
          <a:prstGeom prst="line">
            <a:avLst/>
          </a:prstGeom>
          <a:noFill/>
          <a:ln w="25400">
            <a:solidFill>
              <a:srgbClr val="2C5F2D"/>
            </a:solidFill>
            <a:prstDash val="solid"/>
          </a:ln>
        </p:spPr>
      </p:sp>
      <p:sp>
        <p:nvSpPr>
          <p:cNvPr id="7" name="Text 5"/>
          <p:cNvSpPr txBox="1"/>
          <p:nvPr/>
        </p:nvSpPr>
        <p:spPr>
          <a:xfrm>
            <a:off x="-182880" y="2697480"/>
            <a:ext cx="1463040" cy="640080"/>
          </a:xfrm>
          <a:prstGeom prst="rect">
            <a:avLst/>
          </a:prstGeom>
          <a:noFill/>
          <a:ln/>
        </p:spPr>
        <p:txBody>
          <a:bodyPr wrap="square" lIns="0" tIns="0" rIns="0" bIns="0" rtlCol="0" anchor="ctr"/>
          <a:lstStyle/>
          <a:p>
            <a:pPr algn="ctr" indent="0" marL="0">
              <a:buNone/>
            </a:pPr>
            <a:r>
              <a:rPr lang="en-US" sz="1100" dirty="0">
                <a:solidFill>
                  <a:srgbClr val="1F2A1F"/>
                </a:solidFill>
                <a:latin typeface="Calibri" pitchFamily="34" charset="0"/>
                <a:ea typeface="Calibri" pitchFamily="34" charset="-122"/>
                <a:cs typeface="Calibri" pitchFamily="34" charset="-120"/>
              </a:rPr>
              <a:t>Heat begins</a:t>
            </a:r>
            <a:endParaRPr lang="en-US" sz="1100" dirty="0"/>
          </a:p>
          <a:p>
            <a:pPr algn="ctr" indent="0" marL="0">
              <a:buNone/>
            </a:pPr>
            <a:r>
              <a:rPr lang="en-US" sz="1100" dirty="0">
                <a:solidFill>
                  <a:srgbClr val="1F2A1F"/>
                </a:solidFill>
                <a:latin typeface="Calibri" pitchFamily="34" charset="0"/>
                <a:ea typeface="Calibri" pitchFamily="34" charset="-122"/>
                <a:cs typeface="Calibri" pitchFamily="34" charset="-120"/>
              </a:rPr>
              <a:t>(first standing)</a:t>
            </a:r>
            <a:endParaRPr lang="en-US" sz="1100" dirty="0"/>
          </a:p>
        </p:txBody>
      </p:sp>
      <p:sp>
        <p:nvSpPr>
          <p:cNvPr id="8" name="Shape 6"/>
          <p:cNvSpPr/>
          <p:nvPr/>
        </p:nvSpPr>
        <p:spPr>
          <a:xfrm>
            <a:off x="2841955" y="1874520"/>
            <a:ext cx="0" cy="731520"/>
          </a:xfrm>
          <a:prstGeom prst="line">
            <a:avLst/>
          </a:prstGeom>
          <a:noFill/>
          <a:ln w="25400">
            <a:solidFill>
              <a:srgbClr val="2C5F2D"/>
            </a:solidFill>
            <a:prstDash val="solid"/>
          </a:ln>
        </p:spPr>
      </p:sp>
      <p:sp>
        <p:nvSpPr>
          <p:cNvPr id="9" name="Text 7"/>
          <p:cNvSpPr txBox="1"/>
          <p:nvPr/>
        </p:nvSpPr>
        <p:spPr>
          <a:xfrm>
            <a:off x="2110435" y="2697480"/>
            <a:ext cx="1463040" cy="640080"/>
          </a:xfrm>
          <a:prstGeom prst="rect">
            <a:avLst/>
          </a:prstGeom>
          <a:noFill/>
          <a:ln/>
        </p:spPr>
        <p:txBody>
          <a:bodyPr wrap="square" lIns="0" tIns="0" rIns="0" bIns="0" rtlCol="0" anchor="ctr"/>
          <a:lstStyle/>
          <a:p>
            <a:pPr algn="ctr" indent="0" marL="0">
              <a:buNone/>
            </a:pPr>
            <a:r>
              <a:rPr lang="en-US" sz="1100" dirty="0">
                <a:solidFill>
                  <a:srgbClr val="1F2A1F"/>
                </a:solidFill>
                <a:latin typeface="Calibri" pitchFamily="34" charset="0"/>
                <a:ea typeface="Calibri" pitchFamily="34" charset="-122"/>
                <a:cs typeface="Calibri" pitchFamily="34" charset="-120"/>
              </a:rPr>
              <a:t>+ 8 h</a:t>
            </a:r>
            <a:endParaRPr lang="en-US" sz="1100" dirty="0"/>
          </a:p>
        </p:txBody>
      </p:sp>
      <p:sp>
        <p:nvSpPr>
          <p:cNvPr id="10" name="Shape 8"/>
          <p:cNvSpPr/>
          <p:nvPr/>
        </p:nvSpPr>
        <p:spPr>
          <a:xfrm>
            <a:off x="5204765" y="1874520"/>
            <a:ext cx="0" cy="731520"/>
          </a:xfrm>
          <a:prstGeom prst="line">
            <a:avLst/>
          </a:prstGeom>
          <a:noFill/>
          <a:ln w="25400">
            <a:solidFill>
              <a:srgbClr val="2C5F2D"/>
            </a:solidFill>
            <a:prstDash val="solid"/>
          </a:ln>
        </p:spPr>
      </p:sp>
      <p:sp>
        <p:nvSpPr>
          <p:cNvPr id="11" name="Text 9"/>
          <p:cNvSpPr txBox="1"/>
          <p:nvPr/>
        </p:nvSpPr>
        <p:spPr>
          <a:xfrm>
            <a:off x="4473245" y="2697480"/>
            <a:ext cx="1463040" cy="640080"/>
          </a:xfrm>
          <a:prstGeom prst="rect">
            <a:avLst/>
          </a:prstGeom>
          <a:noFill/>
          <a:ln/>
        </p:spPr>
        <p:txBody>
          <a:bodyPr wrap="square" lIns="0" tIns="0" rIns="0" bIns="0" rtlCol="0" anchor="ctr"/>
          <a:lstStyle/>
          <a:p>
            <a:pPr algn="ctr" indent="0" marL="0">
              <a:buNone/>
            </a:pPr>
            <a:r>
              <a:rPr lang="en-US" sz="1100" dirty="0">
                <a:solidFill>
                  <a:srgbClr val="1F2A1F"/>
                </a:solidFill>
                <a:latin typeface="Calibri" pitchFamily="34" charset="0"/>
                <a:ea typeface="Calibri" pitchFamily="34" charset="-122"/>
                <a:cs typeface="Calibri" pitchFamily="34" charset="-120"/>
              </a:rPr>
              <a:t>+ 16 h</a:t>
            </a:r>
            <a:endParaRPr lang="en-US" sz="1100" dirty="0"/>
          </a:p>
        </p:txBody>
      </p:sp>
      <p:sp>
        <p:nvSpPr>
          <p:cNvPr id="12" name="Shape 10"/>
          <p:cNvSpPr/>
          <p:nvPr/>
        </p:nvSpPr>
        <p:spPr>
          <a:xfrm>
            <a:off x="6803136" y="1874520"/>
            <a:ext cx="0" cy="731520"/>
          </a:xfrm>
          <a:prstGeom prst="line">
            <a:avLst/>
          </a:prstGeom>
          <a:noFill/>
          <a:ln w="25400">
            <a:solidFill>
              <a:srgbClr val="2C5F2D"/>
            </a:solidFill>
            <a:prstDash val="solid"/>
          </a:ln>
        </p:spPr>
      </p:sp>
      <p:sp>
        <p:nvSpPr>
          <p:cNvPr id="13" name="Text 11"/>
          <p:cNvSpPr txBox="1"/>
          <p:nvPr/>
        </p:nvSpPr>
        <p:spPr>
          <a:xfrm>
            <a:off x="6071616" y="2697480"/>
            <a:ext cx="1463040" cy="640080"/>
          </a:xfrm>
          <a:prstGeom prst="rect">
            <a:avLst/>
          </a:prstGeom>
          <a:noFill/>
          <a:ln/>
        </p:spPr>
        <p:txBody>
          <a:bodyPr wrap="square" lIns="0" tIns="0" rIns="0" bIns="0" rtlCol="0" anchor="ctr"/>
          <a:lstStyle/>
          <a:p>
            <a:pPr algn="ctr" indent="0" marL="0">
              <a:buNone/>
            </a:pPr>
            <a:r>
              <a:rPr lang="en-US" sz="1100" dirty="0">
                <a:solidFill>
                  <a:srgbClr val="1F2A1F"/>
                </a:solidFill>
                <a:latin typeface="Calibri" pitchFamily="34" charset="0"/>
                <a:ea typeface="Calibri" pitchFamily="34" charset="-122"/>
                <a:cs typeface="Calibri" pitchFamily="34" charset="-120"/>
              </a:rPr>
              <a:t>+ 24–30 h</a:t>
            </a:r>
            <a:endParaRPr lang="en-US" sz="1100" dirty="0"/>
          </a:p>
          <a:p>
            <a:pPr algn="ctr" indent="0" marL="0">
              <a:buNone/>
            </a:pPr>
            <a:r>
              <a:rPr lang="en-US" sz="1100" dirty="0">
                <a:solidFill>
                  <a:srgbClr val="1F2A1F"/>
                </a:solidFill>
                <a:latin typeface="Calibri" pitchFamily="34" charset="0"/>
                <a:ea typeface="Calibri" pitchFamily="34" charset="-122"/>
                <a:cs typeface="Calibri" pitchFamily="34" charset="-120"/>
              </a:rPr>
              <a:t>Ovulation</a:t>
            </a:r>
            <a:endParaRPr lang="en-US" sz="1100" dirty="0"/>
          </a:p>
        </p:txBody>
      </p:sp>
      <p:sp>
        <p:nvSpPr>
          <p:cNvPr id="14" name="Text 12"/>
          <p:cNvSpPr txBox="1"/>
          <p:nvPr/>
        </p:nvSpPr>
        <p:spPr>
          <a:xfrm>
            <a:off x="2841955" y="1508760"/>
            <a:ext cx="2362810" cy="365760"/>
          </a:xfrm>
          <a:prstGeom prst="rect">
            <a:avLst/>
          </a:prstGeom>
          <a:noFill/>
          <a:ln/>
        </p:spPr>
        <p:txBody>
          <a:bodyPr wrap="square" lIns="0" tIns="0" rIns="0" bIns="0"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Best AI window: 8–16 h after heat onset</a:t>
            </a:r>
            <a:endParaRPr lang="en-US" sz="1200" dirty="0"/>
          </a:p>
        </p:txBody>
      </p:sp>
      <p:sp>
        <p:nvSpPr>
          <p:cNvPr id="15" name="Shape 13"/>
          <p:cNvSpPr/>
          <p:nvPr/>
        </p:nvSpPr>
        <p:spPr>
          <a:xfrm>
            <a:off x="548640" y="3200400"/>
            <a:ext cx="3383280" cy="2926080"/>
          </a:xfrm>
          <a:prstGeom prst="roundRect">
            <a:avLst>
              <a:gd name="adj" fmla="val 3750"/>
            </a:avLst>
          </a:prstGeom>
          <a:solidFill>
            <a:srgbClr val="F6F9F2"/>
          </a:solidFill>
          <a:ln w="12700">
            <a:solidFill>
              <a:srgbClr val="F6F9F2"/>
            </a:solidFill>
            <a:prstDash val="solid"/>
          </a:ln>
        </p:spPr>
      </p:sp>
      <p:sp>
        <p:nvSpPr>
          <p:cNvPr id="16" name="Text 14"/>
          <p:cNvSpPr txBox="1"/>
          <p:nvPr/>
        </p:nvSpPr>
        <p:spPr>
          <a:xfrm>
            <a:off x="777240" y="3337560"/>
            <a:ext cx="2926080" cy="36576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AM / PM rule</a:t>
            </a:r>
            <a:endParaRPr lang="en-US" sz="1600" dirty="0"/>
          </a:p>
        </p:txBody>
      </p:sp>
      <p:sp>
        <p:nvSpPr>
          <p:cNvPr id="17" name="Text 15"/>
          <p:cNvSpPr txBox="1"/>
          <p:nvPr/>
        </p:nvSpPr>
        <p:spPr>
          <a:xfrm>
            <a:off x="777240" y="3749040"/>
            <a:ext cx="2926080" cy="228600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Seen in heat in the morning → inseminate that evening</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Seen in the evening → inseminate next morning</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Once-a-day AI: inseminate all animals seen in heat that day (works well in practice)</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Sensor heat alert: it gives the onset time and an “optimal insemination window”</a:t>
            </a:r>
            <a:endParaRPr lang="en-US" sz="1150" dirty="0"/>
          </a:p>
        </p:txBody>
      </p:sp>
      <p:sp>
        <p:nvSpPr>
          <p:cNvPr id="18" name="Shape 16"/>
          <p:cNvSpPr/>
          <p:nvPr/>
        </p:nvSpPr>
        <p:spPr>
          <a:xfrm>
            <a:off x="4114800" y="3200400"/>
            <a:ext cx="3383280" cy="2926080"/>
          </a:xfrm>
          <a:prstGeom prst="roundRect">
            <a:avLst>
              <a:gd name="adj" fmla="val 3750"/>
            </a:avLst>
          </a:prstGeom>
          <a:solidFill>
            <a:srgbClr val="F6F9F2"/>
          </a:solidFill>
          <a:ln w="12700">
            <a:solidFill>
              <a:srgbClr val="F6F9F2"/>
            </a:solidFill>
            <a:prstDash val="solid"/>
          </a:ln>
        </p:spPr>
      </p:sp>
      <p:sp>
        <p:nvSpPr>
          <p:cNvPr id="19" name="Text 17"/>
          <p:cNvSpPr txBox="1"/>
          <p:nvPr/>
        </p:nvSpPr>
        <p:spPr>
          <a:xfrm>
            <a:off x="4343400" y="3337560"/>
            <a:ext cx="2926080" cy="36576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Semen handling</a:t>
            </a:r>
            <a:endParaRPr lang="en-US" sz="1600" dirty="0"/>
          </a:p>
        </p:txBody>
      </p:sp>
      <p:sp>
        <p:nvSpPr>
          <p:cNvPr id="20" name="Text 18"/>
          <p:cNvSpPr txBox="1"/>
          <p:nvPr/>
        </p:nvSpPr>
        <p:spPr>
          <a:xfrm>
            <a:off x="4343400" y="3749040"/>
            <a:ext cx="2926080" cy="228600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Keep straws below the frost line; lift canister ≤ 10 s</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Thaw at 35–37 °C for 30–45 s, dry the straw</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Protect from cold shock and sunlight; use within 15 min</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Deposit in the uterine body, gentle, clean sheath and gun</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Sexed semen: thaw exactly as instructed, inseminate closer to ovulation</a:t>
            </a:r>
            <a:endParaRPr lang="en-US" sz="1150" dirty="0"/>
          </a:p>
        </p:txBody>
      </p:sp>
      <p:sp>
        <p:nvSpPr>
          <p:cNvPr id="21" name="Shape 19"/>
          <p:cNvSpPr/>
          <p:nvPr/>
        </p:nvSpPr>
        <p:spPr>
          <a:xfrm>
            <a:off x="7863840" y="1463040"/>
            <a:ext cx="3794760" cy="4663440"/>
          </a:xfrm>
          <a:prstGeom prst="roundRect">
            <a:avLst>
              <a:gd name="adj" fmla="val 2892"/>
            </a:avLst>
          </a:prstGeom>
          <a:solidFill>
            <a:srgbClr val="EEF4E6"/>
          </a:solidFill>
          <a:ln w="12700">
            <a:solidFill>
              <a:srgbClr val="EEF4E6"/>
            </a:solidFill>
            <a:prstDash val="solid"/>
          </a:ln>
        </p:spPr>
      </p:sp>
      <p:sp>
        <p:nvSpPr>
          <p:cNvPr id="22" name="Text 20"/>
          <p:cNvSpPr txBox="1"/>
          <p:nvPr/>
        </p:nvSpPr>
        <p:spPr>
          <a:xfrm>
            <a:off x="8092440" y="1600200"/>
            <a:ext cx="338328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Common reasons for AI failure</a:t>
            </a:r>
            <a:endParaRPr lang="en-US" sz="1500" dirty="0"/>
          </a:p>
        </p:txBody>
      </p:sp>
      <p:sp>
        <p:nvSpPr>
          <p:cNvPr id="23" name="Text 21"/>
          <p:cNvSpPr txBox="1"/>
          <p:nvPr/>
        </p:nvSpPr>
        <p:spPr>
          <a:xfrm>
            <a:off x="8092440" y="2057400"/>
            <a:ext cx="3383280" cy="39319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Inseminating a cow that was not truly in heat (≈ 10–20% of AIs in weak-detection herds)</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Timing too early (first sign) or too late (next day)</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Semen damaged by poor thawing or repeated exposure</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Uterine infection not cleared before breeding</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Heat stress (THI &gt; 72) — embryo loss in the first week</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Poor body condition, negative energy balance</a:t>
            </a:r>
            <a:endParaRPr lang="en-US" sz="1200" dirty="0"/>
          </a:p>
        </p:txBody>
      </p:sp>
      <p:sp>
        <p:nvSpPr>
          <p:cNvPr id="24" name="Text 2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25" name="Text 2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1 · REPRODUCTION</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Pregnancy diagnosis — find the open cow early</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286000"/>
                <a:gridCol w="1371600"/>
                <a:gridCol w="2468880"/>
                <a:gridCol w="4965192"/>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Earliest</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Practical notes</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r>
              <a:tr h="475488">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Non-return to heat</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Day 18–24</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Low (misses silent heats)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Free, but only a screen; sensors improve it</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Ultrasound (rectal)</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Day 28–30</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High; sees embryo &amp; heartbeat</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Also detects twins, uterine fluid, ovarian cysts — the technician’s best tool</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475488">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Rectal palpation</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Day 35–45</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High in trained hands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No equipment; buffalo rectum is narrower — gentle technique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PAG blood / milk test</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Day 28+</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Lab or cow-side kit; good where ultrasound is scarce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475488">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Milk progesterone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Day 21</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High for “open”, weaker for “pregnant”</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Best used to confirm an open animal quickly</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617720"/>
            <a:ext cx="3611880" cy="1508760"/>
          </a:xfrm>
          <a:prstGeom prst="roundRect">
            <a:avLst>
              <a:gd name="adj" fmla="val 7273"/>
            </a:avLst>
          </a:prstGeom>
          <a:solidFill>
            <a:srgbClr val="EEF4E6"/>
          </a:solidFill>
          <a:ln w="12700">
            <a:solidFill>
              <a:srgbClr val="EEF4E6"/>
            </a:solidFill>
            <a:prstDash val="solid"/>
          </a:ln>
        </p:spPr>
      </p:sp>
      <p:sp>
        <p:nvSpPr>
          <p:cNvPr id="6" name="Shape 3"/>
          <p:cNvSpPr/>
          <p:nvPr/>
        </p:nvSpPr>
        <p:spPr>
          <a:xfrm>
            <a:off x="731520" y="4846320"/>
            <a:ext cx="548640" cy="548640"/>
          </a:xfrm>
          <a:prstGeom prst="ellipse">
            <a:avLst/>
          </a:prstGeom>
          <a:solidFill>
            <a:srgbClr val="2C5F2D"/>
          </a:solidFill>
          <a:ln w="12700">
            <a:solidFill>
              <a:srgbClr val="2C5F2D"/>
            </a:solidFill>
            <a:prstDash val="solid"/>
          </a:ln>
        </p:spPr>
      </p:sp>
      <p:pic>
        <p:nvPicPr>
          <p:cNvPr id="7" name="Image 0" descr="preencoded.png">    </p:cNvPr>
          <p:cNvPicPr>
            <a:picLocks noChangeAspect="1"/>
          </p:cNvPicPr>
          <p:nvPr/>
        </p:nvPicPr>
        <p:blipFill>
          <a:blip r:embed="rId1"/>
          <a:stretch>
            <a:fillRect/>
          </a:stretch>
        </p:blipFill>
        <p:spPr>
          <a:xfrm>
            <a:off x="863194" y="4977994"/>
            <a:ext cx="285293" cy="285293"/>
          </a:xfrm>
          <a:prstGeom prst="rect">
            <a:avLst/>
          </a:prstGeom>
        </p:spPr>
      </p:pic>
      <p:sp>
        <p:nvSpPr>
          <p:cNvPr id="8" name="Text 4"/>
          <p:cNvSpPr txBox="1"/>
          <p:nvPr/>
        </p:nvSpPr>
        <p:spPr>
          <a:xfrm>
            <a:off x="1417320" y="4709160"/>
            <a:ext cx="2606040" cy="132588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Check at day 28–35 with ultrasound, re-check at day 60–90 to catch embryo loss</a:t>
            </a:r>
            <a:endParaRPr lang="en-US" sz="1150" dirty="0"/>
          </a:p>
        </p:txBody>
      </p:sp>
      <p:sp>
        <p:nvSpPr>
          <p:cNvPr id="9" name="Shape 5"/>
          <p:cNvSpPr/>
          <p:nvPr/>
        </p:nvSpPr>
        <p:spPr>
          <a:xfrm>
            <a:off x="4297680" y="4617720"/>
            <a:ext cx="3611880" cy="1508760"/>
          </a:xfrm>
          <a:prstGeom prst="roundRect">
            <a:avLst>
              <a:gd name="adj" fmla="val 7273"/>
            </a:avLst>
          </a:prstGeom>
          <a:solidFill>
            <a:srgbClr val="EEF4E6"/>
          </a:solidFill>
          <a:ln w="12700">
            <a:solidFill>
              <a:srgbClr val="EEF4E6"/>
            </a:solidFill>
            <a:prstDash val="solid"/>
          </a:ln>
        </p:spPr>
      </p:sp>
      <p:sp>
        <p:nvSpPr>
          <p:cNvPr id="10" name="Shape 6"/>
          <p:cNvSpPr/>
          <p:nvPr/>
        </p:nvSpPr>
        <p:spPr>
          <a:xfrm>
            <a:off x="4480560" y="4846320"/>
            <a:ext cx="548640" cy="548640"/>
          </a:xfrm>
          <a:prstGeom prst="ellipse">
            <a:avLst/>
          </a:prstGeom>
          <a:solidFill>
            <a:srgbClr val="2C5F2D"/>
          </a:solidFill>
          <a:ln w="12700">
            <a:solidFill>
              <a:srgbClr val="2C5F2D"/>
            </a:solidFill>
            <a:prstDash val="solid"/>
          </a:ln>
        </p:spPr>
      </p:sp>
      <p:pic>
        <p:nvPicPr>
          <p:cNvPr id="11" name="Image 1" descr="preencoded.png">    </p:cNvPr>
          <p:cNvPicPr>
            <a:picLocks noChangeAspect="1"/>
          </p:cNvPicPr>
          <p:nvPr/>
        </p:nvPicPr>
        <p:blipFill>
          <a:blip r:embed="rId2"/>
          <a:stretch>
            <a:fillRect/>
          </a:stretch>
        </p:blipFill>
        <p:spPr>
          <a:xfrm>
            <a:off x="4612234" y="4977994"/>
            <a:ext cx="285293" cy="285293"/>
          </a:xfrm>
          <a:prstGeom prst="rect">
            <a:avLst/>
          </a:prstGeom>
        </p:spPr>
      </p:pic>
      <p:sp>
        <p:nvSpPr>
          <p:cNvPr id="12" name="Text 7"/>
          <p:cNvSpPr txBox="1"/>
          <p:nvPr/>
        </p:nvSpPr>
        <p:spPr>
          <a:xfrm>
            <a:off x="5166360" y="4709160"/>
            <a:ext cx="2606040" cy="132588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Open animal → re-enrol immediately: observe / synchronise, do not wait for “natural” heat</a:t>
            </a:r>
            <a:endParaRPr lang="en-US" sz="1150" dirty="0"/>
          </a:p>
        </p:txBody>
      </p:sp>
      <p:sp>
        <p:nvSpPr>
          <p:cNvPr id="13" name="Shape 8"/>
          <p:cNvSpPr/>
          <p:nvPr/>
        </p:nvSpPr>
        <p:spPr>
          <a:xfrm>
            <a:off x="8046720" y="4617720"/>
            <a:ext cx="3611880" cy="1508760"/>
          </a:xfrm>
          <a:prstGeom prst="roundRect">
            <a:avLst>
              <a:gd name="adj" fmla="val 7273"/>
            </a:avLst>
          </a:prstGeom>
          <a:solidFill>
            <a:srgbClr val="EEF4E6"/>
          </a:solidFill>
          <a:ln w="12700">
            <a:solidFill>
              <a:srgbClr val="EEF4E6"/>
            </a:solidFill>
            <a:prstDash val="solid"/>
          </a:ln>
        </p:spPr>
      </p:sp>
      <p:sp>
        <p:nvSpPr>
          <p:cNvPr id="14" name="Shape 9"/>
          <p:cNvSpPr/>
          <p:nvPr/>
        </p:nvSpPr>
        <p:spPr>
          <a:xfrm>
            <a:off x="8229600" y="4846320"/>
            <a:ext cx="548640" cy="548640"/>
          </a:xfrm>
          <a:prstGeom prst="ellipse">
            <a:avLst/>
          </a:prstGeom>
          <a:solidFill>
            <a:srgbClr val="2C5F2D"/>
          </a:solidFill>
          <a:ln w="12700">
            <a:solidFill>
              <a:srgbClr val="2C5F2D"/>
            </a:solidFill>
            <a:prstDash val="solid"/>
          </a:ln>
        </p:spPr>
      </p:sp>
      <p:pic>
        <p:nvPicPr>
          <p:cNvPr id="15" name="Image 2" descr="preencoded.png">    </p:cNvPr>
          <p:cNvPicPr>
            <a:picLocks noChangeAspect="1"/>
          </p:cNvPicPr>
          <p:nvPr/>
        </p:nvPicPr>
        <p:blipFill>
          <a:blip r:embed="rId3"/>
          <a:stretch>
            <a:fillRect/>
          </a:stretch>
        </p:blipFill>
        <p:spPr>
          <a:xfrm>
            <a:off x="8361274" y="4977994"/>
            <a:ext cx="285293" cy="285293"/>
          </a:xfrm>
          <a:prstGeom prst="rect">
            <a:avLst/>
          </a:prstGeom>
        </p:spPr>
      </p:pic>
      <p:sp>
        <p:nvSpPr>
          <p:cNvPr id="16" name="Text 10"/>
          <p:cNvSpPr txBox="1"/>
          <p:nvPr/>
        </p:nvSpPr>
        <p:spPr>
          <a:xfrm>
            <a:off x="8915400" y="4709160"/>
            <a:ext cx="2606040" cy="132588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Enter every result in NDHIS — pregnancy rate is the KPI the whole system is built on</a:t>
            </a:r>
            <a:endParaRPr lang="en-US" sz="1150" dirty="0"/>
          </a:p>
        </p:txBody>
      </p:sp>
      <p:sp>
        <p:nvSpPr>
          <p:cNvPr id="17" name="Text 1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18" name="Text 1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1 · REPRODUCTION</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Calving — prepare, watch, intervene at the right time</a:t>
            </a:r>
            <a:endParaRPr lang="en-US" sz="2600" dirty="0"/>
          </a:p>
        </p:txBody>
      </p:sp>
      <p:sp>
        <p:nvSpPr>
          <p:cNvPr id="4" name="Shape 2"/>
          <p:cNvSpPr/>
          <p:nvPr/>
        </p:nvSpPr>
        <p:spPr>
          <a:xfrm>
            <a:off x="548640" y="1463040"/>
            <a:ext cx="3657600" cy="4663440"/>
          </a:xfrm>
          <a:prstGeom prst="roundRect">
            <a:avLst>
              <a:gd name="adj" fmla="val 3000"/>
            </a:avLst>
          </a:prstGeom>
          <a:solidFill>
            <a:srgbClr val="F6F9F2"/>
          </a:solidFill>
          <a:ln w="12700">
            <a:solidFill>
              <a:srgbClr val="F6F9F2"/>
            </a:solidFill>
            <a:prstDash val="solid"/>
          </a:ln>
        </p:spPr>
      </p:sp>
      <p:sp>
        <p:nvSpPr>
          <p:cNvPr id="5" name="Text 3"/>
          <p:cNvSpPr txBox="1"/>
          <p:nvPr/>
        </p:nvSpPr>
        <p:spPr>
          <a:xfrm>
            <a:off x="777240" y="1600200"/>
            <a:ext cx="3200400" cy="36576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Signs calving is near</a:t>
            </a:r>
            <a:endParaRPr lang="en-US" sz="1600" dirty="0"/>
          </a:p>
        </p:txBody>
      </p:sp>
      <p:sp>
        <p:nvSpPr>
          <p:cNvPr id="6" name="Text 4"/>
          <p:cNvSpPr txBox="1"/>
          <p:nvPr/>
        </p:nvSpPr>
        <p:spPr>
          <a:xfrm>
            <a:off x="777240" y="2057400"/>
            <a:ext cx="3200400" cy="39319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Udder fills, teats waxy (days)</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Pelvic ligaments relax, tailhead sinks (24–48 h)</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Restlessness, isolation, reduced feed intake</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Vulva swollen, mucus plug passes</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Body temperature drops ≈ 0.3–0.5 °C in the last 24 h — what the bolus detects</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Move to a clean, dry calving pen with water</a:t>
            </a:r>
            <a:endParaRPr lang="en-US" sz="1200" dirty="0"/>
          </a:p>
        </p:txBody>
      </p:sp>
      <p:sp>
        <p:nvSpPr>
          <p:cNvPr id="7" name="Shape 5"/>
          <p:cNvSpPr/>
          <p:nvPr/>
        </p:nvSpPr>
        <p:spPr>
          <a:xfrm>
            <a:off x="4389120" y="1463040"/>
            <a:ext cx="3657600" cy="4663440"/>
          </a:xfrm>
          <a:prstGeom prst="roundRect">
            <a:avLst>
              <a:gd name="adj" fmla="val 3000"/>
            </a:avLst>
          </a:prstGeom>
          <a:solidFill>
            <a:srgbClr val="F6F9F2"/>
          </a:solidFill>
          <a:ln w="12700">
            <a:solidFill>
              <a:srgbClr val="F6F9F2"/>
            </a:solidFill>
            <a:prstDash val="solid"/>
          </a:ln>
        </p:spPr>
      </p:sp>
      <p:sp>
        <p:nvSpPr>
          <p:cNvPr id="8" name="Text 6"/>
          <p:cNvSpPr txBox="1"/>
          <p:nvPr/>
        </p:nvSpPr>
        <p:spPr>
          <a:xfrm>
            <a:off x="4617720" y="1600200"/>
            <a:ext cx="3200400" cy="36576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Stages of labour &amp; time limits</a:t>
            </a:r>
            <a:endParaRPr lang="en-US" sz="1600" dirty="0"/>
          </a:p>
        </p:txBody>
      </p:sp>
      <p:sp>
        <p:nvSpPr>
          <p:cNvPr id="9" name="Text 7"/>
          <p:cNvSpPr txBox="1"/>
          <p:nvPr/>
        </p:nvSpPr>
        <p:spPr>
          <a:xfrm>
            <a:off x="4617720" y="2103120"/>
            <a:ext cx="320040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Stage 1</a:t>
            </a:r>
            <a:endParaRPr lang="en-US" sz="1300" dirty="0"/>
          </a:p>
        </p:txBody>
      </p:sp>
      <p:sp>
        <p:nvSpPr>
          <p:cNvPr id="10" name="Text 8"/>
          <p:cNvSpPr txBox="1"/>
          <p:nvPr/>
        </p:nvSpPr>
        <p:spPr>
          <a:xfrm>
            <a:off x="4617720" y="2377440"/>
            <a:ext cx="3200400" cy="274320"/>
          </a:xfrm>
          <a:prstGeom prst="rect">
            <a:avLst/>
          </a:prstGeom>
          <a:noFill/>
          <a:ln/>
        </p:spPr>
        <p:txBody>
          <a:bodyPr wrap="square" lIns="0" tIns="0" rIns="0" bIns="0" rtlCol="0" anchor="ctr"/>
          <a:lstStyle/>
          <a:p>
            <a:pPr indent="0" marL="0">
              <a:buNone/>
            </a:pPr>
            <a:r>
              <a:rPr lang="en-US" sz="1200" b="1" dirty="0">
                <a:solidFill>
                  <a:srgbClr val="D9A441"/>
                </a:solidFill>
                <a:latin typeface="Calibri" pitchFamily="34" charset="0"/>
                <a:ea typeface="Calibri" pitchFamily="34" charset="-122"/>
                <a:cs typeface="Calibri" pitchFamily="34" charset="-120"/>
              </a:rPr>
              <a:t>2–6 h (heifers up to 12 h)</a:t>
            </a:r>
            <a:endParaRPr lang="en-US" sz="1200" dirty="0"/>
          </a:p>
        </p:txBody>
      </p:sp>
      <p:sp>
        <p:nvSpPr>
          <p:cNvPr id="11" name="Text 9"/>
          <p:cNvSpPr txBox="1"/>
          <p:nvPr/>
        </p:nvSpPr>
        <p:spPr>
          <a:xfrm>
            <a:off x="4617720" y="2651760"/>
            <a:ext cx="3200400" cy="68580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Cervix dilates, restlessness. Do not disturb.</a:t>
            </a:r>
            <a:endParaRPr lang="en-US" sz="1150" dirty="0"/>
          </a:p>
        </p:txBody>
      </p:sp>
      <p:sp>
        <p:nvSpPr>
          <p:cNvPr id="12" name="Text 10"/>
          <p:cNvSpPr txBox="1"/>
          <p:nvPr/>
        </p:nvSpPr>
        <p:spPr>
          <a:xfrm>
            <a:off x="4617720" y="3383280"/>
            <a:ext cx="320040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Stage 2</a:t>
            </a:r>
            <a:endParaRPr lang="en-US" sz="1300" dirty="0"/>
          </a:p>
        </p:txBody>
      </p:sp>
      <p:sp>
        <p:nvSpPr>
          <p:cNvPr id="13" name="Text 11"/>
          <p:cNvSpPr txBox="1"/>
          <p:nvPr/>
        </p:nvSpPr>
        <p:spPr>
          <a:xfrm>
            <a:off x="4617720" y="3657600"/>
            <a:ext cx="3200400" cy="274320"/>
          </a:xfrm>
          <a:prstGeom prst="rect">
            <a:avLst/>
          </a:prstGeom>
          <a:noFill/>
          <a:ln/>
        </p:spPr>
        <p:txBody>
          <a:bodyPr wrap="square" lIns="0" tIns="0" rIns="0" bIns="0" rtlCol="0" anchor="ctr"/>
          <a:lstStyle/>
          <a:p>
            <a:pPr indent="0" marL="0">
              <a:buNone/>
            </a:pPr>
            <a:r>
              <a:rPr lang="en-US" sz="1200" b="1" dirty="0">
                <a:solidFill>
                  <a:srgbClr val="D9A441"/>
                </a:solidFill>
                <a:latin typeface="Calibri" pitchFamily="34" charset="0"/>
                <a:ea typeface="Calibri" pitchFamily="34" charset="-122"/>
                <a:cs typeface="Calibri" pitchFamily="34" charset="-120"/>
              </a:rPr>
              <a:t>Cow ≤ 2 h · heifer ≤ 3 h</a:t>
            </a:r>
            <a:endParaRPr lang="en-US" sz="1200" dirty="0"/>
          </a:p>
        </p:txBody>
      </p:sp>
      <p:sp>
        <p:nvSpPr>
          <p:cNvPr id="14" name="Text 12"/>
          <p:cNvSpPr txBox="1"/>
          <p:nvPr/>
        </p:nvSpPr>
        <p:spPr>
          <a:xfrm>
            <a:off x="4617720" y="3931920"/>
            <a:ext cx="3200400" cy="68580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Water bag → feet → calf. No progress for 30 min after water bag = examine.</a:t>
            </a:r>
            <a:endParaRPr lang="en-US" sz="1150" dirty="0"/>
          </a:p>
        </p:txBody>
      </p:sp>
      <p:sp>
        <p:nvSpPr>
          <p:cNvPr id="15" name="Text 13"/>
          <p:cNvSpPr txBox="1"/>
          <p:nvPr/>
        </p:nvSpPr>
        <p:spPr>
          <a:xfrm>
            <a:off x="4617720" y="4663440"/>
            <a:ext cx="3200400" cy="27432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Stage 3</a:t>
            </a:r>
            <a:endParaRPr lang="en-US" sz="1300" dirty="0"/>
          </a:p>
        </p:txBody>
      </p:sp>
      <p:sp>
        <p:nvSpPr>
          <p:cNvPr id="16" name="Text 14"/>
          <p:cNvSpPr txBox="1"/>
          <p:nvPr/>
        </p:nvSpPr>
        <p:spPr>
          <a:xfrm>
            <a:off x="4617720" y="4937760"/>
            <a:ext cx="3200400" cy="274320"/>
          </a:xfrm>
          <a:prstGeom prst="rect">
            <a:avLst/>
          </a:prstGeom>
          <a:noFill/>
          <a:ln/>
        </p:spPr>
        <p:txBody>
          <a:bodyPr wrap="square" lIns="0" tIns="0" rIns="0" bIns="0" rtlCol="0" anchor="ctr"/>
          <a:lstStyle/>
          <a:p>
            <a:pPr indent="0" marL="0">
              <a:buNone/>
            </a:pPr>
            <a:r>
              <a:rPr lang="en-US" sz="1200" b="1" dirty="0">
                <a:solidFill>
                  <a:srgbClr val="D9A441"/>
                </a:solidFill>
                <a:latin typeface="Calibri" pitchFamily="34" charset="0"/>
                <a:ea typeface="Calibri" pitchFamily="34" charset="-122"/>
                <a:cs typeface="Calibri" pitchFamily="34" charset="-120"/>
              </a:rPr>
              <a:t>Placenta within 12 h</a:t>
            </a:r>
            <a:endParaRPr lang="en-US" sz="1200" dirty="0"/>
          </a:p>
        </p:txBody>
      </p:sp>
      <p:sp>
        <p:nvSpPr>
          <p:cNvPr id="17" name="Text 15"/>
          <p:cNvSpPr txBox="1"/>
          <p:nvPr/>
        </p:nvSpPr>
        <p:spPr>
          <a:xfrm>
            <a:off x="4617720" y="5212080"/>
            <a:ext cx="3200400" cy="68580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Retained &gt; 24 h = retained placenta, watch for metritis.</a:t>
            </a:r>
            <a:endParaRPr lang="en-US" sz="1150" dirty="0"/>
          </a:p>
        </p:txBody>
      </p:sp>
      <p:sp>
        <p:nvSpPr>
          <p:cNvPr id="18" name="Shape 16"/>
          <p:cNvSpPr/>
          <p:nvPr/>
        </p:nvSpPr>
        <p:spPr>
          <a:xfrm>
            <a:off x="8778240" y="1463040"/>
            <a:ext cx="2880360" cy="4663440"/>
          </a:xfrm>
          <a:prstGeom prst="roundRect">
            <a:avLst>
              <a:gd name="adj" fmla="val 3810"/>
            </a:avLst>
          </a:prstGeom>
          <a:solidFill>
            <a:srgbClr val="B85042"/>
          </a:solidFill>
          <a:ln w="12700">
            <a:solidFill>
              <a:srgbClr val="B85042"/>
            </a:solidFill>
            <a:prstDash val="solid"/>
          </a:ln>
        </p:spPr>
      </p:sp>
      <p:pic>
        <p:nvPicPr>
          <p:cNvPr id="19" name="Image 0" descr="preencoded.png">    </p:cNvPr>
          <p:cNvPicPr>
            <a:picLocks noChangeAspect="1"/>
          </p:cNvPicPr>
          <p:nvPr/>
        </p:nvPicPr>
        <p:blipFill>
          <a:blip r:embed="rId1"/>
          <a:stretch>
            <a:fillRect/>
          </a:stretch>
        </p:blipFill>
        <p:spPr>
          <a:xfrm>
            <a:off x="9006840" y="1691640"/>
            <a:ext cx="502920" cy="502920"/>
          </a:xfrm>
          <a:prstGeom prst="rect">
            <a:avLst/>
          </a:prstGeom>
        </p:spPr>
      </p:pic>
      <p:sp>
        <p:nvSpPr>
          <p:cNvPr id="20" name="Text 17"/>
          <p:cNvSpPr txBox="1"/>
          <p:nvPr/>
        </p:nvSpPr>
        <p:spPr>
          <a:xfrm>
            <a:off x="9006840" y="228600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Call the vet when</a:t>
            </a:r>
            <a:endParaRPr lang="en-US" sz="1600" dirty="0"/>
          </a:p>
        </p:txBody>
      </p:sp>
      <p:sp>
        <p:nvSpPr>
          <p:cNvPr id="21" name="Text 18"/>
          <p:cNvSpPr txBox="1"/>
          <p:nvPr/>
        </p:nvSpPr>
        <p:spPr>
          <a:xfrm>
            <a:off x="9006840" y="2743200"/>
            <a:ext cx="2468880" cy="3200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Only head or only one leg, or tail first</a:t>
            </a:r>
            <a:endParaRPr lang="en-US" sz="1200" dirty="0"/>
          </a:p>
          <a:p>
            <a:pPr marL="177800" indent="-1778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Calf too large, no progress after 20–30 min of traction</a:t>
            </a:r>
            <a:endParaRPr lang="en-US" sz="1200" dirty="0"/>
          </a:p>
          <a:p>
            <a:pPr marL="177800" indent="-1778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Uterine torsion (no water bag, twisted vagina)</a:t>
            </a:r>
            <a:endParaRPr lang="en-US" sz="1200" dirty="0"/>
          </a:p>
          <a:p>
            <a:pPr marL="177800" indent="-1778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Cow down before or after calving (milk fever)</a:t>
            </a:r>
            <a:endParaRPr lang="en-US" sz="1200" dirty="0"/>
          </a:p>
          <a:p>
            <a:pPr marL="177800" indent="-1778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Bleeding, prolapse, foul discharge</a:t>
            </a:r>
            <a:endParaRPr lang="en-US" sz="1200" dirty="0"/>
          </a:p>
        </p:txBody>
      </p:sp>
      <p:sp>
        <p:nvSpPr>
          <p:cNvPr id="22" name="Text 1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23" name="Text 20"/>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1 · REPRODUCTION</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Colostrum and the first week decide next year’s herd</a:t>
            </a:r>
            <a:endParaRPr lang="en-US" sz="2600" dirty="0"/>
          </a:p>
        </p:txBody>
      </p:sp>
      <p:sp>
        <p:nvSpPr>
          <p:cNvPr id="4" name="Shape 2"/>
          <p:cNvSpPr/>
          <p:nvPr/>
        </p:nvSpPr>
        <p:spPr>
          <a:xfrm>
            <a:off x="548640" y="1463040"/>
            <a:ext cx="2651760" cy="2240280"/>
          </a:xfrm>
          <a:prstGeom prst="roundRect">
            <a:avLst>
              <a:gd name="adj" fmla="val 4898"/>
            </a:avLst>
          </a:prstGeom>
          <a:solidFill>
            <a:srgbClr val="EEF4E6"/>
          </a:solidFill>
          <a:ln w="12700">
            <a:solidFill>
              <a:srgbClr val="EEF4E6"/>
            </a:solidFill>
            <a:prstDash val="solid"/>
          </a:ln>
        </p:spPr>
      </p:sp>
      <p:sp>
        <p:nvSpPr>
          <p:cNvPr id="5" name="Text 3"/>
          <p:cNvSpPr txBox="1"/>
          <p:nvPr/>
        </p:nvSpPr>
        <p:spPr>
          <a:xfrm>
            <a:off x="731520" y="1508760"/>
            <a:ext cx="822960" cy="822960"/>
          </a:xfrm>
          <a:prstGeom prst="rect">
            <a:avLst/>
          </a:prstGeom>
          <a:noFill/>
          <a:ln/>
        </p:spPr>
        <p:txBody>
          <a:bodyPr wrap="square" lIns="0" tIns="0" rIns="0" bIns="0" rtlCol="0" anchor="ctr"/>
          <a:lstStyle/>
          <a:p>
            <a:pPr indent="0" marL="0">
              <a:buNone/>
            </a:pPr>
            <a:r>
              <a:rPr lang="en-US" sz="4400" b="1" dirty="0">
                <a:solidFill>
                  <a:srgbClr val="97BC62"/>
                </a:solidFill>
                <a:latin typeface="Cambria" pitchFamily="34" charset="0"/>
                <a:ea typeface="Cambria" pitchFamily="34" charset="-122"/>
                <a:cs typeface="Cambria" pitchFamily="34" charset="-120"/>
              </a:rPr>
              <a:t>Q</a:t>
            </a:r>
            <a:endParaRPr lang="en-US" sz="4400" dirty="0"/>
          </a:p>
        </p:txBody>
      </p:sp>
      <p:sp>
        <p:nvSpPr>
          <p:cNvPr id="6" name="Text 4"/>
          <p:cNvSpPr txBox="1"/>
          <p:nvPr/>
        </p:nvSpPr>
        <p:spPr>
          <a:xfrm>
            <a:off x="1508760" y="1691640"/>
            <a:ext cx="1645920" cy="45720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Quality</a:t>
            </a:r>
            <a:endParaRPr lang="en-US" sz="1700" dirty="0"/>
          </a:p>
        </p:txBody>
      </p:sp>
      <p:sp>
        <p:nvSpPr>
          <p:cNvPr id="7" name="Text 5"/>
          <p:cNvSpPr txBox="1"/>
          <p:nvPr/>
        </p:nvSpPr>
        <p:spPr>
          <a:xfrm>
            <a:off x="731520" y="2377440"/>
            <a:ext cx="2286000" cy="128016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IgG &gt; 50 g/L — Brix refractometer ≥ 22%. Discard bloody or mastitic colostrum.</a:t>
            </a:r>
            <a:endParaRPr lang="en-US" sz="1150" dirty="0"/>
          </a:p>
        </p:txBody>
      </p:sp>
      <p:sp>
        <p:nvSpPr>
          <p:cNvPr id="8" name="Shape 6"/>
          <p:cNvSpPr/>
          <p:nvPr/>
        </p:nvSpPr>
        <p:spPr>
          <a:xfrm>
            <a:off x="3364992" y="1463040"/>
            <a:ext cx="2651760" cy="2240280"/>
          </a:xfrm>
          <a:prstGeom prst="roundRect">
            <a:avLst>
              <a:gd name="adj" fmla="val 4898"/>
            </a:avLst>
          </a:prstGeom>
          <a:solidFill>
            <a:srgbClr val="EEF4E6"/>
          </a:solidFill>
          <a:ln w="12700">
            <a:solidFill>
              <a:srgbClr val="EEF4E6"/>
            </a:solidFill>
            <a:prstDash val="solid"/>
          </a:ln>
        </p:spPr>
      </p:sp>
      <p:sp>
        <p:nvSpPr>
          <p:cNvPr id="9" name="Text 7"/>
          <p:cNvSpPr txBox="1"/>
          <p:nvPr/>
        </p:nvSpPr>
        <p:spPr>
          <a:xfrm>
            <a:off x="3547872" y="1508760"/>
            <a:ext cx="822960" cy="822960"/>
          </a:xfrm>
          <a:prstGeom prst="rect">
            <a:avLst/>
          </a:prstGeom>
          <a:noFill/>
          <a:ln/>
        </p:spPr>
        <p:txBody>
          <a:bodyPr wrap="square" lIns="0" tIns="0" rIns="0" bIns="0" rtlCol="0" anchor="ctr"/>
          <a:lstStyle/>
          <a:p>
            <a:pPr indent="0" marL="0">
              <a:buNone/>
            </a:pPr>
            <a:r>
              <a:rPr lang="en-US" sz="4400" b="1" dirty="0">
                <a:solidFill>
                  <a:srgbClr val="97BC62"/>
                </a:solidFill>
                <a:latin typeface="Cambria" pitchFamily="34" charset="0"/>
                <a:ea typeface="Cambria" pitchFamily="34" charset="-122"/>
                <a:cs typeface="Cambria" pitchFamily="34" charset="-120"/>
              </a:rPr>
              <a:t>Q</a:t>
            </a:r>
            <a:endParaRPr lang="en-US" sz="4400" dirty="0"/>
          </a:p>
        </p:txBody>
      </p:sp>
      <p:sp>
        <p:nvSpPr>
          <p:cNvPr id="10" name="Text 8"/>
          <p:cNvSpPr txBox="1"/>
          <p:nvPr/>
        </p:nvSpPr>
        <p:spPr>
          <a:xfrm>
            <a:off x="4325112" y="1691640"/>
            <a:ext cx="1645920" cy="45720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Quantity</a:t>
            </a:r>
            <a:endParaRPr lang="en-US" sz="1700" dirty="0"/>
          </a:p>
        </p:txBody>
      </p:sp>
      <p:sp>
        <p:nvSpPr>
          <p:cNvPr id="11" name="Text 9"/>
          <p:cNvSpPr txBox="1"/>
          <p:nvPr/>
        </p:nvSpPr>
        <p:spPr>
          <a:xfrm>
            <a:off x="3547872" y="2377440"/>
            <a:ext cx="2286000" cy="128016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10% of body weight in the first day: 3–4 L for a 35–40 kg calf, 2–3 L for a buffalo calf.</a:t>
            </a:r>
            <a:endParaRPr lang="en-US" sz="1150" dirty="0"/>
          </a:p>
        </p:txBody>
      </p:sp>
      <p:sp>
        <p:nvSpPr>
          <p:cNvPr id="12" name="Shape 10"/>
          <p:cNvSpPr/>
          <p:nvPr/>
        </p:nvSpPr>
        <p:spPr>
          <a:xfrm>
            <a:off x="6181344" y="1463040"/>
            <a:ext cx="2651760" cy="2240280"/>
          </a:xfrm>
          <a:prstGeom prst="roundRect">
            <a:avLst>
              <a:gd name="adj" fmla="val 4898"/>
            </a:avLst>
          </a:prstGeom>
          <a:solidFill>
            <a:srgbClr val="EEF4E6"/>
          </a:solidFill>
          <a:ln w="12700">
            <a:solidFill>
              <a:srgbClr val="EEF4E6"/>
            </a:solidFill>
            <a:prstDash val="solid"/>
          </a:ln>
        </p:spPr>
      </p:sp>
      <p:sp>
        <p:nvSpPr>
          <p:cNvPr id="13" name="Text 11"/>
          <p:cNvSpPr txBox="1"/>
          <p:nvPr/>
        </p:nvSpPr>
        <p:spPr>
          <a:xfrm>
            <a:off x="6364224" y="1508760"/>
            <a:ext cx="822960" cy="822960"/>
          </a:xfrm>
          <a:prstGeom prst="rect">
            <a:avLst/>
          </a:prstGeom>
          <a:noFill/>
          <a:ln/>
        </p:spPr>
        <p:txBody>
          <a:bodyPr wrap="square" lIns="0" tIns="0" rIns="0" bIns="0" rtlCol="0" anchor="ctr"/>
          <a:lstStyle/>
          <a:p>
            <a:pPr indent="0" marL="0">
              <a:buNone/>
            </a:pPr>
            <a:r>
              <a:rPr lang="en-US" sz="4400" b="1" dirty="0">
                <a:solidFill>
                  <a:srgbClr val="97BC62"/>
                </a:solidFill>
                <a:latin typeface="Cambria" pitchFamily="34" charset="0"/>
                <a:ea typeface="Cambria" pitchFamily="34" charset="-122"/>
                <a:cs typeface="Cambria" pitchFamily="34" charset="-120"/>
              </a:rPr>
              <a:t>Q</a:t>
            </a:r>
            <a:endParaRPr lang="en-US" sz="4400" dirty="0"/>
          </a:p>
        </p:txBody>
      </p:sp>
      <p:sp>
        <p:nvSpPr>
          <p:cNvPr id="14" name="Text 12"/>
          <p:cNvSpPr txBox="1"/>
          <p:nvPr/>
        </p:nvSpPr>
        <p:spPr>
          <a:xfrm>
            <a:off x="7141464" y="1691640"/>
            <a:ext cx="1645920" cy="45720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Quickly</a:t>
            </a:r>
            <a:endParaRPr lang="en-US" sz="1700" dirty="0"/>
          </a:p>
        </p:txBody>
      </p:sp>
      <p:sp>
        <p:nvSpPr>
          <p:cNvPr id="15" name="Text 13"/>
          <p:cNvSpPr txBox="1"/>
          <p:nvPr/>
        </p:nvSpPr>
        <p:spPr>
          <a:xfrm>
            <a:off x="6364224" y="2377440"/>
            <a:ext cx="2286000" cy="128016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First feed within 2 h of birth, second by 6–8 h. Gut absorption falls sharply after 12 h.</a:t>
            </a:r>
            <a:endParaRPr lang="en-US" sz="1150" dirty="0"/>
          </a:p>
        </p:txBody>
      </p:sp>
      <p:sp>
        <p:nvSpPr>
          <p:cNvPr id="16" name="Shape 14"/>
          <p:cNvSpPr/>
          <p:nvPr/>
        </p:nvSpPr>
        <p:spPr>
          <a:xfrm>
            <a:off x="8997696" y="1463040"/>
            <a:ext cx="2651760" cy="2240280"/>
          </a:xfrm>
          <a:prstGeom prst="roundRect">
            <a:avLst>
              <a:gd name="adj" fmla="val 4898"/>
            </a:avLst>
          </a:prstGeom>
          <a:solidFill>
            <a:srgbClr val="EEF4E6"/>
          </a:solidFill>
          <a:ln w="12700">
            <a:solidFill>
              <a:srgbClr val="EEF4E6"/>
            </a:solidFill>
            <a:prstDash val="solid"/>
          </a:ln>
        </p:spPr>
      </p:sp>
      <p:sp>
        <p:nvSpPr>
          <p:cNvPr id="17" name="Text 15"/>
          <p:cNvSpPr txBox="1"/>
          <p:nvPr/>
        </p:nvSpPr>
        <p:spPr>
          <a:xfrm>
            <a:off x="9180576" y="1508760"/>
            <a:ext cx="822960" cy="822960"/>
          </a:xfrm>
          <a:prstGeom prst="rect">
            <a:avLst/>
          </a:prstGeom>
          <a:noFill/>
          <a:ln/>
        </p:spPr>
        <p:txBody>
          <a:bodyPr wrap="square" lIns="0" tIns="0" rIns="0" bIns="0" rtlCol="0" anchor="ctr"/>
          <a:lstStyle/>
          <a:p>
            <a:pPr indent="0" marL="0">
              <a:buNone/>
            </a:pPr>
            <a:r>
              <a:rPr lang="en-US" sz="4400" b="1" dirty="0">
                <a:solidFill>
                  <a:srgbClr val="97BC62"/>
                </a:solidFill>
                <a:latin typeface="Cambria" pitchFamily="34" charset="0"/>
                <a:ea typeface="Cambria" pitchFamily="34" charset="-122"/>
                <a:cs typeface="Cambria" pitchFamily="34" charset="-120"/>
              </a:rPr>
              <a:t>s</a:t>
            </a:r>
            <a:endParaRPr lang="en-US" sz="4400" dirty="0"/>
          </a:p>
        </p:txBody>
      </p:sp>
      <p:sp>
        <p:nvSpPr>
          <p:cNvPr id="18" name="Text 16"/>
          <p:cNvSpPr txBox="1"/>
          <p:nvPr/>
        </p:nvSpPr>
        <p:spPr>
          <a:xfrm>
            <a:off x="9957816" y="1691640"/>
            <a:ext cx="1645920" cy="45720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sQueaky clean</a:t>
            </a:r>
            <a:endParaRPr lang="en-US" sz="1700" dirty="0"/>
          </a:p>
        </p:txBody>
      </p:sp>
      <p:sp>
        <p:nvSpPr>
          <p:cNvPr id="19" name="Text 17"/>
          <p:cNvSpPr txBox="1"/>
          <p:nvPr/>
        </p:nvSpPr>
        <p:spPr>
          <a:xfrm>
            <a:off x="9180576" y="2377440"/>
            <a:ext cx="2286000" cy="128016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Clean udder, clean bottle or tube, refrigerate ≤ 24 h or freeze. Bacteria block IgG uptake.</a:t>
            </a:r>
            <a:endParaRPr lang="en-US" sz="1150" dirty="0"/>
          </a:p>
        </p:txBody>
      </p:sp>
      <p:sp>
        <p:nvSpPr>
          <p:cNvPr id="20" name="Shape 18"/>
          <p:cNvSpPr/>
          <p:nvPr/>
        </p:nvSpPr>
        <p:spPr>
          <a:xfrm>
            <a:off x="548640" y="3977640"/>
            <a:ext cx="548640" cy="548640"/>
          </a:xfrm>
          <a:prstGeom prst="ellipse">
            <a:avLst/>
          </a:prstGeom>
          <a:solidFill>
            <a:srgbClr val="2C5F2D"/>
          </a:solidFill>
          <a:ln w="12700">
            <a:solidFill>
              <a:srgbClr val="2C5F2D"/>
            </a:solidFill>
            <a:prstDash val="solid"/>
          </a:ln>
        </p:spPr>
      </p:sp>
      <p:pic>
        <p:nvPicPr>
          <p:cNvPr id="21" name="Image 0" descr="preencoded.png">    </p:cNvPr>
          <p:cNvPicPr>
            <a:picLocks noChangeAspect="1"/>
          </p:cNvPicPr>
          <p:nvPr/>
        </p:nvPicPr>
        <p:blipFill>
          <a:blip r:embed="rId1"/>
          <a:stretch>
            <a:fillRect/>
          </a:stretch>
        </p:blipFill>
        <p:spPr>
          <a:xfrm>
            <a:off x="680314" y="4109314"/>
            <a:ext cx="285293" cy="285293"/>
          </a:xfrm>
          <a:prstGeom prst="rect">
            <a:avLst/>
          </a:prstGeom>
        </p:spPr>
      </p:pic>
      <p:sp>
        <p:nvSpPr>
          <p:cNvPr id="22" name="Text 19"/>
          <p:cNvSpPr txBox="1"/>
          <p:nvPr/>
        </p:nvSpPr>
        <p:spPr>
          <a:xfrm>
            <a:off x="1234440" y="3977640"/>
            <a:ext cx="1920240" cy="5486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Navel</a:t>
            </a:r>
            <a:endParaRPr lang="en-US" sz="1500" dirty="0"/>
          </a:p>
        </p:txBody>
      </p:sp>
      <p:sp>
        <p:nvSpPr>
          <p:cNvPr id="23" name="Text 20"/>
          <p:cNvSpPr txBox="1"/>
          <p:nvPr/>
        </p:nvSpPr>
        <p:spPr>
          <a:xfrm>
            <a:off x="548640" y="4617720"/>
            <a:ext cx="2651760" cy="146304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Dip in 7% iodine or chlorhexidine at birth and again at 12 h</a:t>
            </a:r>
            <a:endParaRPr lang="en-US" sz="1150" dirty="0"/>
          </a:p>
        </p:txBody>
      </p:sp>
      <p:sp>
        <p:nvSpPr>
          <p:cNvPr id="24" name="Shape 21"/>
          <p:cNvSpPr/>
          <p:nvPr/>
        </p:nvSpPr>
        <p:spPr>
          <a:xfrm>
            <a:off x="3364992" y="3977640"/>
            <a:ext cx="548640" cy="548640"/>
          </a:xfrm>
          <a:prstGeom prst="ellipse">
            <a:avLst/>
          </a:prstGeom>
          <a:solidFill>
            <a:srgbClr val="2C5F2D"/>
          </a:solidFill>
          <a:ln w="12700">
            <a:solidFill>
              <a:srgbClr val="2C5F2D"/>
            </a:solidFill>
            <a:prstDash val="solid"/>
          </a:ln>
        </p:spPr>
      </p:sp>
      <p:pic>
        <p:nvPicPr>
          <p:cNvPr id="25" name="Image 1" descr="preencoded.png">    </p:cNvPr>
          <p:cNvPicPr>
            <a:picLocks noChangeAspect="1"/>
          </p:cNvPicPr>
          <p:nvPr/>
        </p:nvPicPr>
        <p:blipFill>
          <a:blip r:embed="rId2"/>
          <a:stretch>
            <a:fillRect/>
          </a:stretch>
        </p:blipFill>
        <p:spPr>
          <a:xfrm>
            <a:off x="3496666" y="4109314"/>
            <a:ext cx="285293" cy="285293"/>
          </a:xfrm>
          <a:prstGeom prst="rect">
            <a:avLst/>
          </a:prstGeom>
        </p:spPr>
      </p:pic>
      <p:sp>
        <p:nvSpPr>
          <p:cNvPr id="26" name="Text 22"/>
          <p:cNvSpPr txBox="1"/>
          <p:nvPr/>
        </p:nvSpPr>
        <p:spPr>
          <a:xfrm>
            <a:off x="4050792" y="3977640"/>
            <a:ext cx="1920240" cy="5486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Housing</a:t>
            </a:r>
            <a:endParaRPr lang="en-US" sz="1500" dirty="0"/>
          </a:p>
        </p:txBody>
      </p:sp>
      <p:sp>
        <p:nvSpPr>
          <p:cNvPr id="27" name="Text 23"/>
          <p:cNvSpPr txBox="1"/>
          <p:nvPr/>
        </p:nvSpPr>
        <p:spPr>
          <a:xfrm>
            <a:off x="3364992" y="4617720"/>
            <a:ext cx="2651760" cy="146304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Dry bedding, shade, ventilation without draughts; individual or small groups</a:t>
            </a:r>
            <a:endParaRPr lang="en-US" sz="1150" dirty="0"/>
          </a:p>
        </p:txBody>
      </p:sp>
      <p:sp>
        <p:nvSpPr>
          <p:cNvPr id="28" name="Shape 24"/>
          <p:cNvSpPr/>
          <p:nvPr/>
        </p:nvSpPr>
        <p:spPr>
          <a:xfrm>
            <a:off x="6181344" y="3977640"/>
            <a:ext cx="548640" cy="548640"/>
          </a:xfrm>
          <a:prstGeom prst="ellipse">
            <a:avLst/>
          </a:prstGeom>
          <a:solidFill>
            <a:srgbClr val="2C5F2D"/>
          </a:solidFill>
          <a:ln w="12700">
            <a:solidFill>
              <a:srgbClr val="2C5F2D"/>
            </a:solidFill>
            <a:prstDash val="solid"/>
          </a:ln>
        </p:spPr>
      </p:sp>
      <p:pic>
        <p:nvPicPr>
          <p:cNvPr id="29" name="Image 2" descr="preencoded.png">    </p:cNvPr>
          <p:cNvPicPr>
            <a:picLocks noChangeAspect="1"/>
          </p:cNvPicPr>
          <p:nvPr/>
        </p:nvPicPr>
        <p:blipFill>
          <a:blip r:embed="rId3"/>
          <a:stretch>
            <a:fillRect/>
          </a:stretch>
        </p:blipFill>
        <p:spPr>
          <a:xfrm>
            <a:off x="6313018" y="4109314"/>
            <a:ext cx="285293" cy="285293"/>
          </a:xfrm>
          <a:prstGeom prst="rect">
            <a:avLst/>
          </a:prstGeom>
        </p:spPr>
      </p:pic>
      <p:sp>
        <p:nvSpPr>
          <p:cNvPr id="30" name="Text 25"/>
          <p:cNvSpPr txBox="1"/>
          <p:nvPr/>
        </p:nvSpPr>
        <p:spPr>
          <a:xfrm>
            <a:off x="6867144" y="3977640"/>
            <a:ext cx="1920240" cy="5486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Scours</a:t>
            </a:r>
            <a:endParaRPr lang="en-US" sz="1500" dirty="0"/>
          </a:p>
        </p:txBody>
      </p:sp>
      <p:sp>
        <p:nvSpPr>
          <p:cNvPr id="31" name="Text 26"/>
          <p:cNvSpPr txBox="1"/>
          <p:nvPr/>
        </p:nvSpPr>
        <p:spPr>
          <a:xfrm>
            <a:off x="6181344" y="4617720"/>
            <a:ext cx="2651760" cy="146304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Fluids first (oral electrolytes 2–4 L/day), keep feeding milk, isolate; antibiotics only for systemic signs</a:t>
            </a:r>
            <a:endParaRPr lang="en-US" sz="1150" dirty="0"/>
          </a:p>
        </p:txBody>
      </p:sp>
      <p:sp>
        <p:nvSpPr>
          <p:cNvPr id="32" name="Shape 27"/>
          <p:cNvSpPr/>
          <p:nvPr/>
        </p:nvSpPr>
        <p:spPr>
          <a:xfrm>
            <a:off x="8997696" y="3977640"/>
            <a:ext cx="548640" cy="548640"/>
          </a:xfrm>
          <a:prstGeom prst="ellipse">
            <a:avLst/>
          </a:prstGeom>
          <a:solidFill>
            <a:srgbClr val="2C5F2D"/>
          </a:solidFill>
          <a:ln w="12700">
            <a:solidFill>
              <a:srgbClr val="2C5F2D"/>
            </a:solidFill>
            <a:prstDash val="solid"/>
          </a:ln>
        </p:spPr>
      </p:sp>
      <p:pic>
        <p:nvPicPr>
          <p:cNvPr id="33" name="Image 3" descr="preencoded.png">    </p:cNvPr>
          <p:cNvPicPr>
            <a:picLocks noChangeAspect="1"/>
          </p:cNvPicPr>
          <p:nvPr/>
        </p:nvPicPr>
        <p:blipFill>
          <a:blip r:embed="rId4"/>
          <a:stretch>
            <a:fillRect/>
          </a:stretch>
        </p:blipFill>
        <p:spPr>
          <a:xfrm>
            <a:off x="9129370" y="4109314"/>
            <a:ext cx="285293" cy="285293"/>
          </a:xfrm>
          <a:prstGeom prst="rect">
            <a:avLst/>
          </a:prstGeom>
        </p:spPr>
      </p:pic>
      <p:sp>
        <p:nvSpPr>
          <p:cNvPr id="34" name="Text 28"/>
          <p:cNvSpPr txBox="1"/>
          <p:nvPr/>
        </p:nvSpPr>
        <p:spPr>
          <a:xfrm>
            <a:off x="9683496" y="3977640"/>
            <a:ext cx="1920240" cy="54864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Targets</a:t>
            </a:r>
            <a:endParaRPr lang="en-US" sz="1500" dirty="0"/>
          </a:p>
        </p:txBody>
      </p:sp>
      <p:sp>
        <p:nvSpPr>
          <p:cNvPr id="35" name="Text 29"/>
          <p:cNvSpPr txBox="1"/>
          <p:nvPr/>
        </p:nvSpPr>
        <p:spPr>
          <a:xfrm>
            <a:off x="8997696" y="4617720"/>
            <a:ext cx="2651760" cy="146304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Pre-weaning mortality &lt; 5%; double birth weight by weaning; record every treatment</a:t>
            </a:r>
            <a:endParaRPr lang="en-US" sz="1150" dirty="0"/>
          </a:p>
        </p:txBody>
      </p:sp>
      <p:sp>
        <p:nvSpPr>
          <p:cNvPr id="36" name="Text 3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37" name="Text 3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1 · REPRODUCTION</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Genetic tools: AI, sexed semen, embryos, genomics</a:t>
            </a:r>
            <a:endParaRPr lang="en-US" sz="2600" dirty="0"/>
          </a:p>
        </p:txBody>
      </p:sp>
      <p:sp>
        <p:nvSpPr>
          <p:cNvPr id="4" name="Shape 2"/>
          <p:cNvSpPr/>
          <p:nvPr/>
        </p:nvSpPr>
        <p:spPr>
          <a:xfrm>
            <a:off x="548640" y="1463040"/>
            <a:ext cx="2651760" cy="3108960"/>
          </a:xfrm>
          <a:prstGeom prst="roundRect">
            <a:avLst>
              <a:gd name="adj" fmla="val 4138"/>
            </a:avLst>
          </a:prstGeom>
          <a:solidFill>
            <a:srgbClr val="F6F9F2"/>
          </a:solidFill>
          <a:ln w="12700">
            <a:solidFill>
              <a:srgbClr val="F6F9F2"/>
            </a:solidFill>
            <a:prstDash val="solid"/>
          </a:ln>
        </p:spPr>
      </p:sp>
      <p:sp>
        <p:nvSpPr>
          <p:cNvPr id="5" name="Shape 3"/>
          <p:cNvSpPr/>
          <p:nvPr/>
        </p:nvSpPr>
        <p:spPr>
          <a:xfrm>
            <a:off x="777240" y="1691640"/>
            <a:ext cx="640080" cy="640080"/>
          </a:xfrm>
          <a:prstGeom prst="ellipse">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930859" y="1845259"/>
            <a:ext cx="332842" cy="332842"/>
          </a:xfrm>
          <a:prstGeom prst="rect">
            <a:avLst/>
          </a:prstGeom>
        </p:spPr>
      </p:pic>
      <p:sp>
        <p:nvSpPr>
          <p:cNvPr id="7" name="Text 4"/>
          <p:cNvSpPr txBox="1"/>
          <p:nvPr/>
        </p:nvSpPr>
        <p:spPr>
          <a:xfrm>
            <a:off x="777240" y="2468880"/>
            <a:ext cx="2240280" cy="502920"/>
          </a:xfrm>
          <a:prstGeom prst="rect">
            <a:avLst/>
          </a:prstGeom>
          <a:noFill/>
          <a:ln/>
        </p:spPr>
        <p:txBody>
          <a:bodyPr wrap="square" lIns="0" tIns="0" rIns="0" bIns="0" rtlCol="0" anchor="ctr"/>
          <a:lstStyle/>
          <a:p>
            <a:pPr indent="0" marL="0">
              <a:buNone/>
            </a:pPr>
            <a:r>
              <a:rPr lang="en-US" sz="1450" b="1" dirty="0">
                <a:solidFill>
                  <a:srgbClr val="2C5F2D"/>
                </a:solidFill>
                <a:latin typeface="Cambria" pitchFamily="34" charset="0"/>
                <a:ea typeface="Cambria" pitchFamily="34" charset="-122"/>
                <a:cs typeface="Cambria" pitchFamily="34" charset="-120"/>
              </a:rPr>
              <a:t>Artificial insemination</a:t>
            </a:r>
            <a:endParaRPr lang="en-US" sz="1450" dirty="0"/>
          </a:p>
        </p:txBody>
      </p:sp>
      <p:sp>
        <p:nvSpPr>
          <p:cNvPr id="8" name="Text 5"/>
          <p:cNvSpPr txBox="1"/>
          <p:nvPr/>
        </p:nvSpPr>
        <p:spPr>
          <a:xfrm>
            <a:off x="777240" y="2971800"/>
            <a:ext cx="2240280" cy="155448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Proven sires, standardised handling. The foundation — 100% of Korean dairy replacements come from AI or ET.</a:t>
            </a:r>
            <a:endParaRPr lang="en-US" sz="1150" dirty="0"/>
          </a:p>
        </p:txBody>
      </p:sp>
      <p:sp>
        <p:nvSpPr>
          <p:cNvPr id="9" name="Shape 6"/>
          <p:cNvSpPr/>
          <p:nvPr/>
        </p:nvSpPr>
        <p:spPr>
          <a:xfrm>
            <a:off x="3364992" y="1463040"/>
            <a:ext cx="2651760" cy="3108960"/>
          </a:xfrm>
          <a:prstGeom prst="roundRect">
            <a:avLst>
              <a:gd name="adj" fmla="val 4138"/>
            </a:avLst>
          </a:prstGeom>
          <a:solidFill>
            <a:srgbClr val="F6F9F2"/>
          </a:solidFill>
          <a:ln w="12700">
            <a:solidFill>
              <a:srgbClr val="F6F9F2"/>
            </a:solidFill>
            <a:prstDash val="solid"/>
          </a:ln>
        </p:spPr>
      </p:sp>
      <p:sp>
        <p:nvSpPr>
          <p:cNvPr id="10" name="Shape 7"/>
          <p:cNvSpPr/>
          <p:nvPr/>
        </p:nvSpPr>
        <p:spPr>
          <a:xfrm>
            <a:off x="3593592" y="1691640"/>
            <a:ext cx="640080" cy="640080"/>
          </a:xfrm>
          <a:prstGeom prst="ellipse">
            <a:avLst/>
          </a:prstGeom>
          <a:solidFill>
            <a:srgbClr val="2C5F2D"/>
          </a:solidFill>
          <a:ln w="12700">
            <a:solidFill>
              <a:srgbClr val="2C5F2D"/>
            </a:solidFill>
            <a:prstDash val="solid"/>
          </a:ln>
        </p:spPr>
      </p:sp>
      <p:pic>
        <p:nvPicPr>
          <p:cNvPr id="11" name="Image 1" descr="preencoded.png">    </p:cNvPr>
          <p:cNvPicPr>
            <a:picLocks noChangeAspect="1"/>
          </p:cNvPicPr>
          <p:nvPr/>
        </p:nvPicPr>
        <p:blipFill>
          <a:blip r:embed="rId2"/>
          <a:stretch>
            <a:fillRect/>
          </a:stretch>
        </p:blipFill>
        <p:spPr>
          <a:xfrm>
            <a:off x="3747211" y="1845259"/>
            <a:ext cx="332842" cy="332842"/>
          </a:xfrm>
          <a:prstGeom prst="rect">
            <a:avLst/>
          </a:prstGeom>
        </p:spPr>
      </p:pic>
      <p:sp>
        <p:nvSpPr>
          <p:cNvPr id="12" name="Text 8"/>
          <p:cNvSpPr txBox="1"/>
          <p:nvPr/>
        </p:nvSpPr>
        <p:spPr>
          <a:xfrm>
            <a:off x="3593592" y="2468880"/>
            <a:ext cx="2240280" cy="502920"/>
          </a:xfrm>
          <a:prstGeom prst="rect">
            <a:avLst/>
          </a:prstGeom>
          <a:noFill/>
          <a:ln/>
        </p:spPr>
        <p:txBody>
          <a:bodyPr wrap="square" lIns="0" tIns="0" rIns="0" bIns="0" rtlCol="0" anchor="ctr"/>
          <a:lstStyle/>
          <a:p>
            <a:pPr indent="0" marL="0">
              <a:buNone/>
            </a:pPr>
            <a:r>
              <a:rPr lang="en-US" sz="1450" b="1" dirty="0">
                <a:solidFill>
                  <a:srgbClr val="2C5F2D"/>
                </a:solidFill>
                <a:latin typeface="Cambria" pitchFamily="34" charset="0"/>
                <a:ea typeface="Cambria" pitchFamily="34" charset="-122"/>
                <a:cs typeface="Cambria" pitchFamily="34" charset="-120"/>
              </a:rPr>
              <a:t>Sexed semen</a:t>
            </a:r>
            <a:endParaRPr lang="en-US" sz="1450" dirty="0"/>
          </a:p>
        </p:txBody>
      </p:sp>
      <p:sp>
        <p:nvSpPr>
          <p:cNvPr id="13" name="Text 9"/>
          <p:cNvSpPr txBox="1"/>
          <p:nvPr/>
        </p:nvSpPr>
        <p:spPr>
          <a:xfrm>
            <a:off x="3593592" y="2971800"/>
            <a:ext cx="2240280" cy="155448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 90% female calves. Use on heifers and best cows, inseminate slightly later; expect somewhat lower conception than conventional.</a:t>
            </a:r>
            <a:endParaRPr lang="en-US" sz="1150" dirty="0"/>
          </a:p>
        </p:txBody>
      </p:sp>
      <p:sp>
        <p:nvSpPr>
          <p:cNvPr id="14" name="Shape 10"/>
          <p:cNvSpPr/>
          <p:nvPr/>
        </p:nvSpPr>
        <p:spPr>
          <a:xfrm>
            <a:off x="6181344" y="1463040"/>
            <a:ext cx="2651760" cy="3108960"/>
          </a:xfrm>
          <a:prstGeom prst="roundRect">
            <a:avLst>
              <a:gd name="adj" fmla="val 4138"/>
            </a:avLst>
          </a:prstGeom>
          <a:solidFill>
            <a:srgbClr val="F6F9F2"/>
          </a:solidFill>
          <a:ln w="12700">
            <a:solidFill>
              <a:srgbClr val="F6F9F2"/>
            </a:solidFill>
            <a:prstDash val="solid"/>
          </a:ln>
        </p:spPr>
      </p:sp>
      <p:sp>
        <p:nvSpPr>
          <p:cNvPr id="15" name="Shape 11"/>
          <p:cNvSpPr/>
          <p:nvPr/>
        </p:nvSpPr>
        <p:spPr>
          <a:xfrm>
            <a:off x="6409944" y="1691640"/>
            <a:ext cx="640080" cy="640080"/>
          </a:xfrm>
          <a:prstGeom prst="ellipse">
            <a:avLst/>
          </a:prstGeom>
          <a:solidFill>
            <a:srgbClr val="2C5F2D"/>
          </a:solidFill>
          <a:ln w="12700">
            <a:solidFill>
              <a:srgbClr val="2C5F2D"/>
            </a:solidFill>
            <a:prstDash val="solid"/>
          </a:ln>
        </p:spPr>
      </p:sp>
      <p:pic>
        <p:nvPicPr>
          <p:cNvPr id="16" name="Image 2" descr="preencoded.png">    </p:cNvPr>
          <p:cNvPicPr>
            <a:picLocks noChangeAspect="1"/>
          </p:cNvPicPr>
          <p:nvPr/>
        </p:nvPicPr>
        <p:blipFill>
          <a:blip r:embed="rId3"/>
          <a:stretch>
            <a:fillRect/>
          </a:stretch>
        </p:blipFill>
        <p:spPr>
          <a:xfrm>
            <a:off x="6563563" y="1845259"/>
            <a:ext cx="332842" cy="332842"/>
          </a:xfrm>
          <a:prstGeom prst="rect">
            <a:avLst/>
          </a:prstGeom>
        </p:spPr>
      </p:pic>
      <p:sp>
        <p:nvSpPr>
          <p:cNvPr id="17" name="Text 12"/>
          <p:cNvSpPr txBox="1"/>
          <p:nvPr/>
        </p:nvSpPr>
        <p:spPr>
          <a:xfrm>
            <a:off x="6409944" y="2468880"/>
            <a:ext cx="2240280" cy="502920"/>
          </a:xfrm>
          <a:prstGeom prst="rect">
            <a:avLst/>
          </a:prstGeom>
          <a:noFill/>
          <a:ln/>
        </p:spPr>
        <p:txBody>
          <a:bodyPr wrap="square" lIns="0" tIns="0" rIns="0" bIns="0" rtlCol="0" anchor="ctr"/>
          <a:lstStyle/>
          <a:p>
            <a:pPr indent="0" marL="0">
              <a:buNone/>
            </a:pPr>
            <a:r>
              <a:rPr lang="en-US" sz="1450" b="1" dirty="0">
                <a:solidFill>
                  <a:srgbClr val="2C5F2D"/>
                </a:solidFill>
                <a:latin typeface="Cambria" pitchFamily="34" charset="0"/>
                <a:ea typeface="Cambria" pitchFamily="34" charset="-122"/>
                <a:cs typeface="Cambria" pitchFamily="34" charset="-120"/>
              </a:rPr>
              <a:t>Embryo transfer (IVF / OPU)</a:t>
            </a:r>
            <a:endParaRPr lang="en-US" sz="1450" dirty="0"/>
          </a:p>
        </p:txBody>
      </p:sp>
      <p:sp>
        <p:nvSpPr>
          <p:cNvPr id="18" name="Text 13"/>
          <p:cNvSpPr txBox="1"/>
          <p:nvPr/>
        </p:nvSpPr>
        <p:spPr>
          <a:xfrm>
            <a:off x="6409944" y="2971800"/>
            <a:ext cx="2240280" cy="155448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One elite donor → many calves. Genetics Co.: ~3,000 transfers/yr, ~60% conception in recipients with good management.</a:t>
            </a:r>
            <a:endParaRPr lang="en-US" sz="1150" dirty="0"/>
          </a:p>
        </p:txBody>
      </p:sp>
      <p:sp>
        <p:nvSpPr>
          <p:cNvPr id="19" name="Shape 14"/>
          <p:cNvSpPr/>
          <p:nvPr/>
        </p:nvSpPr>
        <p:spPr>
          <a:xfrm>
            <a:off x="8997696" y="1463040"/>
            <a:ext cx="2651760" cy="3108960"/>
          </a:xfrm>
          <a:prstGeom prst="roundRect">
            <a:avLst>
              <a:gd name="adj" fmla="val 4138"/>
            </a:avLst>
          </a:prstGeom>
          <a:solidFill>
            <a:srgbClr val="F6F9F2"/>
          </a:solidFill>
          <a:ln w="12700">
            <a:solidFill>
              <a:srgbClr val="F6F9F2"/>
            </a:solidFill>
            <a:prstDash val="solid"/>
          </a:ln>
        </p:spPr>
      </p:sp>
      <p:sp>
        <p:nvSpPr>
          <p:cNvPr id="20" name="Shape 15"/>
          <p:cNvSpPr/>
          <p:nvPr/>
        </p:nvSpPr>
        <p:spPr>
          <a:xfrm>
            <a:off x="9226296" y="1691640"/>
            <a:ext cx="640080" cy="640080"/>
          </a:xfrm>
          <a:prstGeom prst="ellipse">
            <a:avLst/>
          </a:prstGeom>
          <a:solidFill>
            <a:srgbClr val="2C5F2D"/>
          </a:solidFill>
          <a:ln w="12700">
            <a:solidFill>
              <a:srgbClr val="2C5F2D"/>
            </a:solidFill>
            <a:prstDash val="solid"/>
          </a:ln>
        </p:spPr>
      </p:sp>
      <p:pic>
        <p:nvPicPr>
          <p:cNvPr id="21" name="Image 3" descr="preencoded.png">    </p:cNvPr>
          <p:cNvPicPr>
            <a:picLocks noChangeAspect="1"/>
          </p:cNvPicPr>
          <p:nvPr/>
        </p:nvPicPr>
        <p:blipFill>
          <a:blip r:embed="rId4"/>
          <a:stretch>
            <a:fillRect/>
          </a:stretch>
        </p:blipFill>
        <p:spPr>
          <a:xfrm>
            <a:off x="9379915" y="1845259"/>
            <a:ext cx="332842" cy="332842"/>
          </a:xfrm>
          <a:prstGeom prst="rect">
            <a:avLst/>
          </a:prstGeom>
        </p:spPr>
      </p:pic>
      <p:sp>
        <p:nvSpPr>
          <p:cNvPr id="22" name="Text 16"/>
          <p:cNvSpPr txBox="1"/>
          <p:nvPr/>
        </p:nvSpPr>
        <p:spPr>
          <a:xfrm>
            <a:off x="9226296" y="2468880"/>
            <a:ext cx="2240280" cy="502920"/>
          </a:xfrm>
          <a:prstGeom prst="rect">
            <a:avLst/>
          </a:prstGeom>
          <a:noFill/>
          <a:ln/>
        </p:spPr>
        <p:txBody>
          <a:bodyPr wrap="square" lIns="0" tIns="0" rIns="0" bIns="0" rtlCol="0" anchor="ctr"/>
          <a:lstStyle/>
          <a:p>
            <a:pPr indent="0" marL="0">
              <a:buNone/>
            </a:pPr>
            <a:r>
              <a:rPr lang="en-US" sz="1450" b="1" dirty="0">
                <a:solidFill>
                  <a:srgbClr val="2C5F2D"/>
                </a:solidFill>
                <a:latin typeface="Cambria" pitchFamily="34" charset="0"/>
                <a:ea typeface="Cambria" pitchFamily="34" charset="-122"/>
                <a:cs typeface="Cambria" pitchFamily="34" charset="-120"/>
              </a:rPr>
              <a:t>Genomic selection</a:t>
            </a:r>
            <a:endParaRPr lang="en-US" sz="1450" dirty="0"/>
          </a:p>
        </p:txBody>
      </p:sp>
      <p:sp>
        <p:nvSpPr>
          <p:cNvPr id="23" name="Text 17"/>
          <p:cNvSpPr txBox="1"/>
          <p:nvPr/>
        </p:nvSpPr>
        <p:spPr>
          <a:xfrm>
            <a:off x="9226296" y="2971800"/>
            <a:ext cx="2240280" cy="155448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DNA test of heifer calves predicts merit before first calving. Select replacements early, cull low-merit animals sooner.</a:t>
            </a:r>
            <a:endParaRPr lang="en-US" sz="1150" dirty="0"/>
          </a:p>
        </p:txBody>
      </p:sp>
      <p:sp>
        <p:nvSpPr>
          <p:cNvPr id="24" name="Shape 18"/>
          <p:cNvSpPr/>
          <p:nvPr/>
        </p:nvSpPr>
        <p:spPr>
          <a:xfrm>
            <a:off x="548640" y="4800600"/>
            <a:ext cx="11094415" cy="1325880"/>
          </a:xfrm>
          <a:prstGeom prst="roundRect">
            <a:avLst>
              <a:gd name="adj" fmla="val 8276"/>
            </a:avLst>
          </a:prstGeom>
          <a:solidFill>
            <a:srgbClr val="EEF4E6"/>
          </a:solidFill>
          <a:ln w="12700">
            <a:solidFill>
              <a:srgbClr val="EEF4E6"/>
            </a:solidFill>
            <a:prstDash val="solid"/>
          </a:ln>
        </p:spPr>
      </p:sp>
      <p:sp>
        <p:nvSpPr>
          <p:cNvPr id="25" name="Text 19"/>
          <p:cNvSpPr txBox="1"/>
          <p:nvPr/>
        </p:nvSpPr>
        <p:spPr>
          <a:xfrm>
            <a:off x="822960" y="4892040"/>
            <a:ext cx="3657600" cy="32004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Relevance for the Philippines</a:t>
            </a:r>
            <a:endParaRPr lang="en-US" sz="1400" dirty="0"/>
          </a:p>
        </p:txBody>
      </p:sp>
      <p:sp>
        <p:nvSpPr>
          <p:cNvPr id="26" name="Text 20"/>
          <p:cNvSpPr txBox="1"/>
          <p:nvPr/>
        </p:nvSpPr>
        <p:spPr>
          <a:xfrm>
            <a:off x="822960" y="5212080"/>
            <a:ext cx="10545775" cy="91440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1F2A1F"/>
                </a:solidFill>
                <a:latin typeface="Calibri" pitchFamily="34" charset="0"/>
                <a:ea typeface="Calibri" pitchFamily="34" charset="-122"/>
                <a:cs typeface="Calibri" pitchFamily="34" charset="-120"/>
              </a:rPr>
              <a:t>Dairy cattle: imported sexed Holstein embryos in local recipient cows are a proven route to build a high-merit herd without importing live animals (Korea–Uzbekistan programme with RDA as reference).</a:t>
            </a:r>
            <a:endParaRPr lang="en-US" sz="1150" dirty="0"/>
          </a:p>
          <a:p>
            <a:pPr marL="177800" indent="-177800">
              <a:spcAft>
                <a:spcPts val="300"/>
              </a:spcAft>
              <a:buSzPct val="100000"/>
              <a:buChar char="•"/>
            </a:pPr>
            <a:r>
              <a:rPr lang="en-US" sz="1150" dirty="0">
                <a:solidFill>
                  <a:srgbClr val="1F2A1F"/>
                </a:solidFill>
                <a:latin typeface="Calibri" pitchFamily="34" charset="0"/>
                <a:ea typeface="Calibri" pitchFamily="34" charset="-122"/>
                <a:cs typeface="Calibri" pitchFamily="34" charset="-120"/>
              </a:rPr>
              <a:t>Dairy buffalo: PCC’s own AI, ET and genomic programmes apply — sensors add the heat-detection precision these tools depend on.</a:t>
            </a:r>
            <a:endParaRPr lang="en-US" sz="1150" dirty="0"/>
          </a:p>
        </p:txBody>
      </p:sp>
      <p:sp>
        <p:nvSpPr>
          <p:cNvPr id="27" name="Text 2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28" name="Text 2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1 · REPRODUCTION</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Reproduction KPIs — what NDHIS should show monthly</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194560"/>
                <a:gridCol w="2743200"/>
                <a:gridCol w="1737360"/>
                <a:gridCol w="1737360"/>
                <a:gridCol w="2679192"/>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KPI</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Target (dairy cattle)</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Buffalo (indicative)</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it comes from</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r>
              <a:tr h="45720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Heat detection rate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Eligible animals bred ÷ eligible in 21 d</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&gt; 60%</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&gt; 50%</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Heat &amp; AI records (or sensor alerts)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Conception rate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Pregnant ÷ inseminated</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&gt; 40%</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&gt; 45%</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AI + pregnancy diagnosis records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45720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21-day pregnancy rate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Detection rate × conception rate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&gt; 20%</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&gt; 18%</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Calculated in NDHIS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Calving-to-first-service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Days from calving to first AI</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&lt; 75 d</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&lt; 90 d</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Calving + AI records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45720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Days open</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Calving to conception</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&lt; 120 d</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&lt; 150 d</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Calving + PD records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Calving interval</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Calving to next calving</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&lt; 400 d</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&lt; 480 d</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Calving records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45720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Calf mortality (pre-weaning)</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Deaths ÷ born alive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&lt; 5%</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&lt; 5%</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Calf &amp; iHealth records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440680"/>
            <a:ext cx="11094415" cy="685800"/>
          </a:xfrm>
          <a:prstGeom prst="rect">
            <a:avLst/>
          </a:prstGeom>
          <a:noFill/>
          <a:ln/>
        </p:spPr>
        <p:txBody>
          <a:bodyPr wrap="square" lIns="0" tIns="0" rIns="0" bIns="0" rtlCol="0" anchor="ctr"/>
          <a:lstStyle/>
          <a:p>
            <a:pPr indent="0" marL="0">
              <a:buNone/>
            </a:pPr>
            <a:r>
              <a:rPr lang="en-US" sz="1250" i="1" dirty="0">
                <a:solidFill>
                  <a:srgbClr val="5B6B5B"/>
                </a:solidFill>
                <a:latin typeface="Calibri" pitchFamily="34" charset="0"/>
                <a:ea typeface="Calibri" pitchFamily="34" charset="-122"/>
                <a:cs typeface="Calibri" pitchFamily="34" charset="-120"/>
              </a:rPr>
              <a:t>Targets are management goals for well-run herds, not averages. Set each farm’s baseline first, then improve one KPI at a time — usually heat detection rate first, because it moves everything else.</a:t>
            </a:r>
            <a:endParaRPr lang="en-US" sz="1250" dirty="0"/>
          </a:p>
        </p:txBody>
      </p:sp>
      <p:sp>
        <p:nvSpPr>
          <p:cNvPr id="6" name="Text 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548640" y="2103120"/>
            <a:ext cx="1188720" cy="1188720"/>
          </a:xfrm>
          <a:prstGeom prst="ellipse">
            <a:avLst/>
          </a:prstGeom>
          <a:solidFill>
            <a:srgbClr val="97BC62"/>
          </a:solidFill>
          <a:ln w="12700">
            <a:solidFill>
              <a:srgbClr val="97BC62"/>
            </a:solidFill>
            <a:prstDash val="solid"/>
          </a:ln>
        </p:spPr>
      </p:sp>
      <p:pic>
        <p:nvPicPr>
          <p:cNvPr id="3" name="Image 0" descr="preencoded.png">    </p:cNvPr>
          <p:cNvPicPr>
            <a:picLocks noChangeAspect="1"/>
          </p:cNvPicPr>
          <p:nvPr/>
        </p:nvPicPr>
        <p:blipFill>
          <a:blip r:embed="rId1"/>
          <a:stretch>
            <a:fillRect/>
          </a:stretch>
        </p:blipFill>
        <p:spPr>
          <a:xfrm>
            <a:off x="833933" y="2388413"/>
            <a:ext cx="618134" cy="618134"/>
          </a:xfrm>
          <a:prstGeom prst="rect">
            <a:avLst/>
          </a:prstGeom>
        </p:spPr>
      </p:pic>
      <p:sp>
        <p:nvSpPr>
          <p:cNvPr id="4" name="Text 1"/>
          <p:cNvSpPr txBox="1"/>
          <p:nvPr/>
        </p:nvSpPr>
        <p:spPr>
          <a:xfrm>
            <a:off x="548640" y="3520440"/>
            <a:ext cx="5486400" cy="320040"/>
          </a:xfrm>
          <a:prstGeom prst="rect">
            <a:avLst/>
          </a:prstGeom>
          <a:noFill/>
          <a:ln/>
        </p:spPr>
        <p:txBody>
          <a:bodyPr wrap="square" lIns="0" tIns="0" rIns="0" bIns="0" rtlCol="0" anchor="ctr"/>
          <a:lstStyle/>
          <a:p>
            <a:pPr indent="0" marL="0">
              <a:buNone/>
            </a:pPr>
            <a:r>
              <a:rPr lang="en-US" sz="1300" b="1" spc="300" kern="0" dirty="0">
                <a:solidFill>
                  <a:srgbClr val="97BC62"/>
                </a:solidFill>
                <a:latin typeface="Calibri" pitchFamily="34" charset="0"/>
                <a:ea typeface="Calibri" pitchFamily="34" charset="-122"/>
                <a:cs typeface="Calibri" pitchFamily="34" charset="-120"/>
              </a:rPr>
              <a:t>MODULE 2</a:t>
            </a:r>
            <a:endParaRPr lang="en-US" sz="1300" dirty="0"/>
          </a:p>
        </p:txBody>
      </p:sp>
      <p:sp>
        <p:nvSpPr>
          <p:cNvPr id="5" name="Text 2"/>
          <p:cNvSpPr txBox="1"/>
          <p:nvPr/>
        </p:nvSpPr>
        <p:spPr>
          <a:xfrm>
            <a:off x="548640" y="384048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Health, mastitis &amp; biosecurity</a:t>
            </a:r>
            <a:endParaRPr lang="en-US" sz="4000" dirty="0"/>
          </a:p>
        </p:txBody>
      </p:sp>
      <p:sp>
        <p:nvSpPr>
          <p:cNvPr id="6" name="Text 3"/>
          <p:cNvSpPr txBox="1"/>
          <p:nvPr/>
        </p:nvSpPr>
        <p:spPr>
          <a:xfrm>
            <a:off x="548640" y="4800600"/>
            <a:ext cx="10058400" cy="731520"/>
          </a:xfrm>
          <a:prstGeom prst="rect">
            <a:avLst/>
          </a:prstGeom>
          <a:noFill/>
          <a:ln/>
        </p:spPr>
        <p:txBody>
          <a:bodyPr wrap="square" lIns="0" tIns="0" rIns="0" bIns="0" rtlCol="0" anchor="ctr"/>
          <a:lstStyle/>
          <a:p>
            <a:pPr indent="0" marL="0">
              <a:buNone/>
            </a:pPr>
            <a:r>
              <a:rPr lang="en-US" sz="1600" dirty="0">
                <a:solidFill>
                  <a:srgbClr val="EEF4E6"/>
                </a:solidFill>
                <a:latin typeface="Calibri" pitchFamily="34" charset="0"/>
                <a:ea typeface="Calibri" pitchFamily="34" charset="-122"/>
                <a:cs typeface="Calibri" pitchFamily="34" charset="-120"/>
              </a:rPr>
              <a:t>The transition period, metabolic disease, mastitis detection and treatment, heat stress in the tropics, biosecurity, records and responsible drug use.</a:t>
            </a:r>
            <a:endParaRPr lang="en-US" sz="1600" dirty="0"/>
          </a:p>
        </p:txBody>
      </p:sp>
      <p:sp>
        <p:nvSpPr>
          <p:cNvPr id="7" name="Text 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7BC62"/>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8"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97BC6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2 · HEALTH</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The transition period — the fresh-cow danger zone</a:t>
            </a:r>
            <a:endParaRPr lang="en-US" sz="2600" dirty="0"/>
          </a:p>
        </p:txBody>
      </p:sp>
      <p:sp>
        <p:nvSpPr>
          <p:cNvPr id="4" name="Shape 2"/>
          <p:cNvSpPr/>
          <p:nvPr/>
        </p:nvSpPr>
        <p:spPr>
          <a:xfrm>
            <a:off x="548640" y="1508760"/>
            <a:ext cx="1737360" cy="1143000"/>
          </a:xfrm>
          <a:prstGeom prst="roundRect">
            <a:avLst>
              <a:gd name="adj" fmla="val 8000"/>
            </a:avLst>
          </a:prstGeom>
          <a:solidFill>
            <a:srgbClr val="97BC62"/>
          </a:solidFill>
          <a:ln w="12700">
            <a:solidFill>
              <a:srgbClr val="FFFFFF"/>
            </a:solidFill>
            <a:prstDash val="solid"/>
          </a:ln>
        </p:spPr>
      </p:sp>
      <p:sp>
        <p:nvSpPr>
          <p:cNvPr id="5" name="Text 3"/>
          <p:cNvSpPr txBox="1"/>
          <p:nvPr/>
        </p:nvSpPr>
        <p:spPr>
          <a:xfrm>
            <a:off x="640080" y="1508760"/>
            <a:ext cx="1554480" cy="11430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Dry matter intake falls</a:t>
            </a:r>
            <a:endParaRPr lang="en-US" sz="1200" dirty="0"/>
          </a:p>
          <a:p>
            <a:pPr algn="ctr" indent="0" marL="0">
              <a:buNone/>
            </a:pPr>
            <a:r>
              <a:rPr lang="en-US" sz="1050" dirty="0">
                <a:solidFill>
                  <a:srgbClr val="FFFFFF"/>
                </a:solidFill>
                <a:latin typeface="Calibri" pitchFamily="34" charset="0"/>
                <a:ea typeface="Calibri" pitchFamily="34" charset="-122"/>
                <a:cs typeface="Calibri" pitchFamily="34" charset="-120"/>
              </a:rPr>
              <a:t>late pregnancy, heat, crowding</a:t>
            </a:r>
            <a:endParaRPr lang="en-US" sz="1200" dirty="0"/>
          </a:p>
        </p:txBody>
      </p:sp>
      <p:pic>
        <p:nvPicPr>
          <p:cNvPr id="6" name="Image 0" descr="preencoded.png">    </p:cNvPr>
          <p:cNvPicPr>
            <a:picLocks noChangeAspect="1"/>
          </p:cNvPicPr>
          <p:nvPr/>
        </p:nvPicPr>
        <p:blipFill>
          <a:blip r:embed="rId1"/>
          <a:stretch>
            <a:fillRect/>
          </a:stretch>
        </p:blipFill>
        <p:spPr>
          <a:xfrm>
            <a:off x="2267712" y="1965960"/>
            <a:ext cx="201168" cy="201168"/>
          </a:xfrm>
          <a:prstGeom prst="rect">
            <a:avLst/>
          </a:prstGeom>
        </p:spPr>
      </p:pic>
      <p:sp>
        <p:nvSpPr>
          <p:cNvPr id="7" name="Shape 4"/>
          <p:cNvSpPr/>
          <p:nvPr/>
        </p:nvSpPr>
        <p:spPr>
          <a:xfrm>
            <a:off x="2414016" y="1508760"/>
            <a:ext cx="1737360" cy="1143000"/>
          </a:xfrm>
          <a:prstGeom prst="roundRect">
            <a:avLst>
              <a:gd name="adj" fmla="val 8000"/>
            </a:avLst>
          </a:prstGeom>
          <a:solidFill>
            <a:srgbClr val="97BC62"/>
          </a:solidFill>
          <a:ln w="12700">
            <a:solidFill>
              <a:srgbClr val="FFFFFF"/>
            </a:solidFill>
            <a:prstDash val="solid"/>
          </a:ln>
        </p:spPr>
      </p:sp>
      <p:sp>
        <p:nvSpPr>
          <p:cNvPr id="8" name="Text 5"/>
          <p:cNvSpPr txBox="1"/>
          <p:nvPr/>
        </p:nvSpPr>
        <p:spPr>
          <a:xfrm>
            <a:off x="2505456" y="1508760"/>
            <a:ext cx="1554480" cy="11430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Negative energy balance</a:t>
            </a:r>
            <a:endParaRPr lang="en-US" sz="1200" dirty="0"/>
          </a:p>
          <a:p>
            <a:pPr algn="ctr" indent="0" marL="0">
              <a:buNone/>
            </a:pPr>
            <a:r>
              <a:rPr lang="en-US" sz="1050" dirty="0">
                <a:solidFill>
                  <a:srgbClr val="FFFFFF"/>
                </a:solidFill>
                <a:latin typeface="Calibri" pitchFamily="34" charset="0"/>
                <a:ea typeface="Calibri" pitchFamily="34" charset="-122"/>
                <a:cs typeface="Calibri" pitchFamily="34" charset="-120"/>
              </a:rPr>
              <a:t>fat mobilised → ketones</a:t>
            </a:r>
            <a:endParaRPr lang="en-US" sz="1200" dirty="0"/>
          </a:p>
        </p:txBody>
      </p:sp>
      <p:pic>
        <p:nvPicPr>
          <p:cNvPr id="9" name="Image 1" descr="preencoded.png">    </p:cNvPr>
          <p:cNvPicPr>
            <a:picLocks noChangeAspect="1"/>
          </p:cNvPicPr>
          <p:nvPr/>
        </p:nvPicPr>
        <p:blipFill>
          <a:blip r:embed="rId2"/>
          <a:stretch>
            <a:fillRect/>
          </a:stretch>
        </p:blipFill>
        <p:spPr>
          <a:xfrm>
            <a:off x="4133088" y="1965960"/>
            <a:ext cx="201168" cy="201168"/>
          </a:xfrm>
          <a:prstGeom prst="rect">
            <a:avLst/>
          </a:prstGeom>
        </p:spPr>
      </p:pic>
      <p:sp>
        <p:nvSpPr>
          <p:cNvPr id="10" name="Shape 6"/>
          <p:cNvSpPr/>
          <p:nvPr/>
        </p:nvSpPr>
        <p:spPr>
          <a:xfrm>
            <a:off x="4279392" y="1508760"/>
            <a:ext cx="1737360" cy="1143000"/>
          </a:xfrm>
          <a:prstGeom prst="roundRect">
            <a:avLst>
              <a:gd name="adj" fmla="val 8000"/>
            </a:avLst>
          </a:prstGeom>
          <a:solidFill>
            <a:srgbClr val="D9A441"/>
          </a:solidFill>
          <a:ln w="12700">
            <a:solidFill>
              <a:srgbClr val="FFFFFF"/>
            </a:solidFill>
            <a:prstDash val="solid"/>
          </a:ln>
        </p:spPr>
      </p:sp>
      <p:sp>
        <p:nvSpPr>
          <p:cNvPr id="11" name="Text 7"/>
          <p:cNvSpPr txBox="1"/>
          <p:nvPr/>
        </p:nvSpPr>
        <p:spPr>
          <a:xfrm>
            <a:off x="4370832" y="1508760"/>
            <a:ext cx="1554480" cy="11430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Ketosis · fatty liver</a:t>
            </a:r>
            <a:endParaRPr lang="en-US" sz="1200" dirty="0"/>
          </a:p>
          <a:p>
            <a:pPr algn="ctr" indent="0" marL="0">
              <a:buNone/>
            </a:pPr>
            <a:r>
              <a:rPr lang="en-US" sz="1050" dirty="0">
                <a:solidFill>
                  <a:srgbClr val="FFFFFF"/>
                </a:solidFill>
                <a:latin typeface="Calibri" pitchFamily="34" charset="0"/>
                <a:ea typeface="Calibri" pitchFamily="34" charset="-122"/>
                <a:cs typeface="Calibri" pitchFamily="34" charset="-120"/>
              </a:rPr>
              <a:t>BHBA &gt; 1.2 mmol/L</a:t>
            </a:r>
            <a:endParaRPr lang="en-US" sz="1200" dirty="0"/>
          </a:p>
        </p:txBody>
      </p:sp>
      <p:pic>
        <p:nvPicPr>
          <p:cNvPr id="12" name="Image 2" descr="preencoded.png">    </p:cNvPr>
          <p:cNvPicPr>
            <a:picLocks noChangeAspect="1"/>
          </p:cNvPicPr>
          <p:nvPr/>
        </p:nvPicPr>
        <p:blipFill>
          <a:blip r:embed="rId3"/>
          <a:stretch>
            <a:fillRect/>
          </a:stretch>
        </p:blipFill>
        <p:spPr>
          <a:xfrm>
            <a:off x="5998464" y="1965960"/>
            <a:ext cx="201168" cy="201168"/>
          </a:xfrm>
          <a:prstGeom prst="rect">
            <a:avLst/>
          </a:prstGeom>
        </p:spPr>
      </p:pic>
      <p:sp>
        <p:nvSpPr>
          <p:cNvPr id="13" name="Shape 8"/>
          <p:cNvSpPr/>
          <p:nvPr/>
        </p:nvSpPr>
        <p:spPr>
          <a:xfrm>
            <a:off x="6144768" y="1508760"/>
            <a:ext cx="1737360" cy="1143000"/>
          </a:xfrm>
          <a:prstGeom prst="roundRect">
            <a:avLst>
              <a:gd name="adj" fmla="val 8000"/>
            </a:avLst>
          </a:prstGeom>
          <a:solidFill>
            <a:srgbClr val="D9A441"/>
          </a:solidFill>
          <a:ln w="12700">
            <a:solidFill>
              <a:srgbClr val="FFFFFF"/>
            </a:solidFill>
            <a:prstDash val="solid"/>
          </a:ln>
        </p:spPr>
      </p:sp>
      <p:sp>
        <p:nvSpPr>
          <p:cNvPr id="14" name="Text 9"/>
          <p:cNvSpPr txBox="1"/>
          <p:nvPr/>
        </p:nvSpPr>
        <p:spPr>
          <a:xfrm>
            <a:off x="6236208" y="1508760"/>
            <a:ext cx="1554480" cy="11430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Immune suppression</a:t>
            </a:r>
            <a:endParaRPr lang="en-US" sz="1200" dirty="0"/>
          </a:p>
          <a:p>
            <a:pPr algn="ctr" indent="0" marL="0">
              <a:buNone/>
            </a:pPr>
            <a:r>
              <a:rPr lang="en-US" sz="1050" dirty="0">
                <a:solidFill>
                  <a:srgbClr val="FFFFFF"/>
                </a:solidFill>
                <a:latin typeface="Calibri" pitchFamily="34" charset="0"/>
                <a:ea typeface="Calibri" pitchFamily="34" charset="-122"/>
                <a:cs typeface="Calibri" pitchFamily="34" charset="-120"/>
              </a:rPr>
              <a:t>metritis, mastitis, RP</a:t>
            </a:r>
            <a:endParaRPr lang="en-US" sz="1200" dirty="0"/>
          </a:p>
        </p:txBody>
      </p:sp>
      <p:pic>
        <p:nvPicPr>
          <p:cNvPr id="15" name="Image 3" descr="preencoded.png">    </p:cNvPr>
          <p:cNvPicPr>
            <a:picLocks noChangeAspect="1"/>
          </p:cNvPicPr>
          <p:nvPr/>
        </p:nvPicPr>
        <p:blipFill>
          <a:blip r:embed="rId4"/>
          <a:stretch>
            <a:fillRect/>
          </a:stretch>
        </p:blipFill>
        <p:spPr>
          <a:xfrm>
            <a:off x="7863840" y="1965960"/>
            <a:ext cx="201168" cy="201168"/>
          </a:xfrm>
          <a:prstGeom prst="rect">
            <a:avLst/>
          </a:prstGeom>
        </p:spPr>
      </p:pic>
      <p:sp>
        <p:nvSpPr>
          <p:cNvPr id="16" name="Shape 10"/>
          <p:cNvSpPr/>
          <p:nvPr/>
        </p:nvSpPr>
        <p:spPr>
          <a:xfrm>
            <a:off x="8010144" y="1508760"/>
            <a:ext cx="1737360" cy="1143000"/>
          </a:xfrm>
          <a:prstGeom prst="roundRect">
            <a:avLst>
              <a:gd name="adj" fmla="val 8000"/>
            </a:avLst>
          </a:prstGeom>
          <a:solidFill>
            <a:srgbClr val="B85042"/>
          </a:solidFill>
          <a:ln w="12700">
            <a:solidFill>
              <a:srgbClr val="FFFFFF"/>
            </a:solidFill>
            <a:prstDash val="solid"/>
          </a:ln>
        </p:spPr>
      </p:sp>
      <p:sp>
        <p:nvSpPr>
          <p:cNvPr id="17" name="Text 11"/>
          <p:cNvSpPr txBox="1"/>
          <p:nvPr/>
        </p:nvSpPr>
        <p:spPr>
          <a:xfrm>
            <a:off x="8101584" y="1508760"/>
            <a:ext cx="1554480" cy="11430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Displaced abomasum</a:t>
            </a:r>
            <a:endParaRPr lang="en-US" sz="1200" dirty="0"/>
          </a:p>
          <a:p>
            <a:pPr algn="ctr" indent="0" marL="0">
              <a:buNone/>
            </a:pPr>
            <a:r>
              <a:rPr lang="en-US" sz="1050" dirty="0">
                <a:solidFill>
                  <a:srgbClr val="FFFFFF"/>
                </a:solidFill>
                <a:latin typeface="Calibri" pitchFamily="34" charset="0"/>
                <a:ea typeface="Calibri" pitchFamily="34" charset="-122"/>
                <a:cs typeface="Calibri" pitchFamily="34" charset="-120"/>
              </a:rPr>
              <a:t>surgery, culling</a:t>
            </a:r>
            <a:endParaRPr lang="en-US" sz="1200" dirty="0"/>
          </a:p>
        </p:txBody>
      </p:sp>
      <p:pic>
        <p:nvPicPr>
          <p:cNvPr id="18" name="Image 4" descr="preencoded.png">    </p:cNvPr>
          <p:cNvPicPr>
            <a:picLocks noChangeAspect="1"/>
          </p:cNvPicPr>
          <p:nvPr/>
        </p:nvPicPr>
        <p:blipFill>
          <a:blip r:embed="rId5"/>
          <a:stretch>
            <a:fillRect/>
          </a:stretch>
        </p:blipFill>
        <p:spPr>
          <a:xfrm>
            <a:off x="9729216" y="1965960"/>
            <a:ext cx="201168" cy="201168"/>
          </a:xfrm>
          <a:prstGeom prst="rect">
            <a:avLst/>
          </a:prstGeom>
        </p:spPr>
      </p:pic>
      <p:sp>
        <p:nvSpPr>
          <p:cNvPr id="19" name="Shape 12"/>
          <p:cNvSpPr/>
          <p:nvPr/>
        </p:nvSpPr>
        <p:spPr>
          <a:xfrm>
            <a:off x="9875520" y="1508760"/>
            <a:ext cx="1737360" cy="1143000"/>
          </a:xfrm>
          <a:prstGeom prst="roundRect">
            <a:avLst>
              <a:gd name="adj" fmla="val 8000"/>
            </a:avLst>
          </a:prstGeom>
          <a:solidFill>
            <a:srgbClr val="B85042"/>
          </a:solidFill>
          <a:ln w="12700">
            <a:solidFill>
              <a:srgbClr val="FFFFFF"/>
            </a:solidFill>
            <a:prstDash val="solid"/>
          </a:ln>
        </p:spPr>
      </p:sp>
      <p:sp>
        <p:nvSpPr>
          <p:cNvPr id="20" name="Text 13"/>
          <p:cNvSpPr txBox="1"/>
          <p:nvPr/>
        </p:nvSpPr>
        <p:spPr>
          <a:xfrm>
            <a:off x="9966960" y="1508760"/>
            <a:ext cx="1554480" cy="11430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Lost milk &amp; delayed breeding</a:t>
            </a:r>
            <a:endParaRPr lang="en-US" sz="1200" dirty="0"/>
          </a:p>
          <a:p>
            <a:pPr algn="ctr" indent="0" marL="0">
              <a:buNone/>
            </a:pPr>
            <a:r>
              <a:rPr lang="en-US" sz="1050" dirty="0">
                <a:solidFill>
                  <a:srgbClr val="FFFFFF"/>
                </a:solidFill>
                <a:latin typeface="Calibri" pitchFamily="34" charset="0"/>
                <a:ea typeface="Calibri" pitchFamily="34" charset="-122"/>
                <a:cs typeface="Calibri" pitchFamily="34" charset="-120"/>
              </a:rPr>
              <a:t>the cost shows up months later</a:t>
            </a:r>
            <a:endParaRPr lang="en-US" sz="1200" dirty="0"/>
          </a:p>
        </p:txBody>
      </p:sp>
      <p:sp>
        <p:nvSpPr>
          <p:cNvPr id="21" name="Shape 14"/>
          <p:cNvSpPr/>
          <p:nvPr/>
        </p:nvSpPr>
        <p:spPr>
          <a:xfrm>
            <a:off x="548640" y="2926080"/>
            <a:ext cx="5486400" cy="3200400"/>
          </a:xfrm>
          <a:prstGeom prst="roundRect">
            <a:avLst>
              <a:gd name="adj" fmla="val 3429"/>
            </a:avLst>
          </a:prstGeom>
          <a:solidFill>
            <a:srgbClr val="F6F9F2"/>
          </a:solidFill>
          <a:ln w="12700">
            <a:solidFill>
              <a:srgbClr val="F6F9F2"/>
            </a:solidFill>
            <a:prstDash val="solid"/>
          </a:ln>
        </p:spPr>
      </p:sp>
      <p:sp>
        <p:nvSpPr>
          <p:cNvPr id="22" name="Text 15"/>
          <p:cNvSpPr txBox="1"/>
          <p:nvPr/>
        </p:nvSpPr>
        <p:spPr>
          <a:xfrm>
            <a:off x="777240" y="3063240"/>
            <a:ext cx="502920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Milk fever (hypocalcaemia)</a:t>
            </a:r>
            <a:endParaRPr lang="en-US" sz="1500" dirty="0"/>
          </a:p>
        </p:txBody>
      </p:sp>
      <p:sp>
        <p:nvSpPr>
          <p:cNvPr id="23" name="Text 16"/>
          <p:cNvSpPr txBox="1"/>
          <p:nvPr/>
        </p:nvSpPr>
        <p:spPr>
          <a:xfrm>
            <a:off x="777240" y="3520440"/>
            <a:ext cx="5029200" cy="25603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Signs: cold ears, muscle tremor, S-shaped neck, down within 72 h of calving; subclinical cases are 5× more common</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Treatment: IV calcium slowly (monitor heart), oral calcium bolus for standing cows</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Prevention: low-calcium or anionic (DCAD) dry-cow ration, avoid over-fat dry cows (BCS 3.0–3.5), oral calcium at calving for older cows</a:t>
            </a:r>
            <a:endParaRPr lang="en-US" sz="1150" dirty="0"/>
          </a:p>
        </p:txBody>
      </p:sp>
      <p:sp>
        <p:nvSpPr>
          <p:cNvPr id="24" name="Shape 17"/>
          <p:cNvSpPr/>
          <p:nvPr/>
        </p:nvSpPr>
        <p:spPr>
          <a:xfrm>
            <a:off x="6263640" y="2926080"/>
            <a:ext cx="5394960" cy="3200400"/>
          </a:xfrm>
          <a:prstGeom prst="roundRect">
            <a:avLst>
              <a:gd name="adj" fmla="val 3429"/>
            </a:avLst>
          </a:prstGeom>
          <a:solidFill>
            <a:srgbClr val="F6F9F2"/>
          </a:solidFill>
          <a:ln w="12700">
            <a:solidFill>
              <a:srgbClr val="F6F9F2"/>
            </a:solidFill>
            <a:prstDash val="solid"/>
          </a:ln>
        </p:spPr>
      </p:sp>
      <p:sp>
        <p:nvSpPr>
          <p:cNvPr id="25" name="Text 18"/>
          <p:cNvSpPr txBox="1"/>
          <p:nvPr/>
        </p:nvSpPr>
        <p:spPr>
          <a:xfrm>
            <a:off x="6492240" y="3063240"/>
            <a:ext cx="493776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Ketosis</a:t>
            </a:r>
            <a:endParaRPr lang="en-US" sz="1500" dirty="0"/>
          </a:p>
        </p:txBody>
      </p:sp>
      <p:sp>
        <p:nvSpPr>
          <p:cNvPr id="26" name="Text 19"/>
          <p:cNvSpPr txBox="1"/>
          <p:nvPr/>
        </p:nvSpPr>
        <p:spPr>
          <a:xfrm>
            <a:off x="6492240" y="3520440"/>
            <a:ext cx="4937760" cy="25603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Signs: reduced appetite (grain first), rapid weight loss, sweet breath, milk drop in week 1–4; often silent</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Cow-side test: blood BHBA ≥ 1.2 mmol/L (subclinical), ≥ 3.0 (clinical); milk/urine ketone strips</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Treatment: oral propylene glycol 300 mL/day for 3–5 days, IV glucose for clinical cases, treat the cause (feed access, other disease)</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Prevention: maximise DMI in the last 3 weeks, fresh feed and water, low stocking density, monitor rumination</a:t>
            </a:r>
            <a:endParaRPr lang="en-US" sz="1150" dirty="0"/>
          </a:p>
        </p:txBody>
      </p:sp>
      <p:sp>
        <p:nvSpPr>
          <p:cNvPr id="27" name="Text 2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28" name="Text 21"/>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2 · HEALTH</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Mastitis — the most expensive disease on a dairy farm</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914400"/>
        </p:xfrm>
        <a:graphic>
          <a:graphicData uri="http://schemas.openxmlformats.org/drawingml/2006/table">
            <a:tbl>
              <a:tblPr/>
              <a:tblGrid>
                <a:gridCol w="1645920"/>
                <a:gridCol w="2834640"/>
                <a:gridCol w="2834640"/>
              </a:tblGrid>
              <a:tr h="566928">
                <a:tc>
                  <a:txBody>
                    <a:bodyPr/>
                    <a:lstStyle/>
                    <a:p>
                      <a:pPr indent="0" marL="0">
                        <a:buNone/>
                      </a:pP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Contagious mastitis</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Environmental mastitis</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r>
              <a:tr h="566928">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Main pathogens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Staph. aureus, Strep. agalactiae, Mycoplasma</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E. coli, Strep. uberis, Klebsiella, environmental staph</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Infected udders → spread at milking (hands, liners, cloths)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Bedding, mud, manure, water; between milkings and in the dry period</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566928">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Typical picture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Chronic, subclinical, high SCC, low cure rate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Acute clinical cases, sometimes severe (E. coli), fresh cows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Control focus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Milking hygiene, post-dip, segregation, cull chronic cows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Clean dry bedding, pre-dip, dry-cow therapy, teat sealants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bl>
          </a:graphicData>
        </a:graphic>
      </p:graphicFrame>
      <p:sp>
        <p:nvSpPr>
          <p:cNvPr id="5" name="Shape 2"/>
          <p:cNvSpPr/>
          <p:nvPr/>
        </p:nvSpPr>
        <p:spPr>
          <a:xfrm>
            <a:off x="8229600" y="1463040"/>
            <a:ext cx="3429000" cy="4663440"/>
          </a:xfrm>
          <a:prstGeom prst="roundRect">
            <a:avLst>
              <a:gd name="adj" fmla="val 3200"/>
            </a:avLst>
          </a:prstGeom>
          <a:solidFill>
            <a:srgbClr val="EEF4E6"/>
          </a:solidFill>
          <a:ln w="12700">
            <a:solidFill>
              <a:srgbClr val="EEF4E6"/>
            </a:solidFill>
            <a:prstDash val="solid"/>
          </a:ln>
        </p:spPr>
      </p:sp>
      <p:sp>
        <p:nvSpPr>
          <p:cNvPr id="6" name="Text 3"/>
          <p:cNvSpPr txBox="1"/>
          <p:nvPr/>
        </p:nvSpPr>
        <p:spPr>
          <a:xfrm>
            <a:off x="8458200" y="1600200"/>
            <a:ext cx="301752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Numbers to know</a:t>
            </a:r>
            <a:endParaRPr lang="en-US" sz="1500" dirty="0"/>
          </a:p>
        </p:txBody>
      </p:sp>
      <p:sp>
        <p:nvSpPr>
          <p:cNvPr id="7" name="Text 4"/>
          <p:cNvSpPr txBox="1"/>
          <p:nvPr/>
        </p:nvSpPr>
        <p:spPr>
          <a:xfrm>
            <a:off x="8458200" y="2103120"/>
            <a:ext cx="3017520" cy="411480"/>
          </a:xfrm>
          <a:prstGeom prst="rect">
            <a:avLst/>
          </a:prstGeom>
          <a:noFill/>
          <a:ln/>
        </p:spPr>
        <p:txBody>
          <a:bodyPr wrap="square" lIns="0" tIns="0" rIns="0" bIns="0" rtlCol="0" anchor="ctr"/>
          <a:lstStyle/>
          <a:p>
            <a:pPr indent="0" marL="0">
              <a:buNone/>
            </a:pPr>
            <a:r>
              <a:rPr lang="en-US" sz="2200" b="1" dirty="0">
                <a:solidFill>
                  <a:srgbClr val="2C5F2D"/>
                </a:solidFill>
                <a:latin typeface="Cambria" pitchFamily="34" charset="0"/>
                <a:ea typeface="Cambria" pitchFamily="34" charset="-122"/>
                <a:cs typeface="Cambria" pitchFamily="34" charset="-120"/>
              </a:rPr>
              <a:t>&lt; 200,000</a:t>
            </a:r>
            <a:endParaRPr lang="en-US" sz="2200" dirty="0"/>
          </a:p>
        </p:txBody>
      </p:sp>
      <p:sp>
        <p:nvSpPr>
          <p:cNvPr id="8" name="Text 5"/>
          <p:cNvSpPr txBox="1"/>
          <p:nvPr/>
        </p:nvSpPr>
        <p:spPr>
          <a:xfrm>
            <a:off x="8458200" y="2514600"/>
            <a:ext cx="3017520" cy="457200"/>
          </a:xfrm>
          <a:prstGeom prst="rect">
            <a:avLst/>
          </a:prstGeom>
          <a:noFill/>
          <a:ln/>
        </p:spPr>
        <p:txBody>
          <a:bodyPr wrap="square" lIns="0" tIns="0" rIns="0" bIns="0" rtlCol="0" anchor="ctr"/>
          <a:lstStyle/>
          <a:p>
            <a:pPr indent="0" marL="0">
              <a:buNone/>
            </a:pPr>
            <a:r>
              <a:rPr lang="en-US" sz="1100" dirty="0">
                <a:solidFill>
                  <a:srgbClr val="5B6B5B"/>
                </a:solidFill>
                <a:latin typeface="Calibri" pitchFamily="34" charset="0"/>
                <a:ea typeface="Calibri" pitchFamily="34" charset="-122"/>
                <a:cs typeface="Calibri" pitchFamily="34" charset="-120"/>
              </a:rPr>
              <a:t>cells/mL — bulk tank target</a:t>
            </a:r>
            <a:endParaRPr lang="en-US" sz="1100" dirty="0"/>
          </a:p>
        </p:txBody>
      </p:sp>
      <p:sp>
        <p:nvSpPr>
          <p:cNvPr id="9" name="Text 6"/>
          <p:cNvSpPr txBox="1"/>
          <p:nvPr/>
        </p:nvSpPr>
        <p:spPr>
          <a:xfrm>
            <a:off x="8458200" y="3063240"/>
            <a:ext cx="3017520" cy="411480"/>
          </a:xfrm>
          <a:prstGeom prst="rect">
            <a:avLst/>
          </a:prstGeom>
          <a:noFill/>
          <a:ln/>
        </p:spPr>
        <p:txBody>
          <a:bodyPr wrap="square" lIns="0" tIns="0" rIns="0" bIns="0" rtlCol="0" anchor="ctr"/>
          <a:lstStyle/>
          <a:p>
            <a:pPr indent="0" marL="0">
              <a:buNone/>
            </a:pPr>
            <a:r>
              <a:rPr lang="en-US" sz="2200" b="1" dirty="0">
                <a:solidFill>
                  <a:srgbClr val="2C5F2D"/>
                </a:solidFill>
                <a:latin typeface="Cambria" pitchFamily="34" charset="0"/>
                <a:ea typeface="Cambria" pitchFamily="34" charset="-122"/>
                <a:cs typeface="Cambria" pitchFamily="34" charset="-120"/>
              </a:rPr>
              <a:t>&gt; 200,000</a:t>
            </a:r>
            <a:endParaRPr lang="en-US" sz="2200" dirty="0"/>
          </a:p>
        </p:txBody>
      </p:sp>
      <p:sp>
        <p:nvSpPr>
          <p:cNvPr id="10" name="Text 7"/>
          <p:cNvSpPr txBox="1"/>
          <p:nvPr/>
        </p:nvSpPr>
        <p:spPr>
          <a:xfrm>
            <a:off x="8458200" y="3474720"/>
            <a:ext cx="3017520" cy="457200"/>
          </a:xfrm>
          <a:prstGeom prst="rect">
            <a:avLst/>
          </a:prstGeom>
          <a:noFill/>
          <a:ln/>
        </p:spPr>
        <p:txBody>
          <a:bodyPr wrap="square" lIns="0" tIns="0" rIns="0" bIns="0" rtlCol="0" anchor="ctr"/>
          <a:lstStyle/>
          <a:p>
            <a:pPr indent="0" marL="0">
              <a:buNone/>
            </a:pPr>
            <a:r>
              <a:rPr lang="en-US" sz="1100" dirty="0">
                <a:solidFill>
                  <a:srgbClr val="5B6B5B"/>
                </a:solidFill>
                <a:latin typeface="Calibri" pitchFamily="34" charset="0"/>
                <a:ea typeface="Calibri" pitchFamily="34" charset="-122"/>
                <a:cs typeface="Calibri" pitchFamily="34" charset="-120"/>
              </a:rPr>
              <a:t>cells/mL in a cow = subclinical infection</a:t>
            </a:r>
            <a:endParaRPr lang="en-US" sz="1100" dirty="0"/>
          </a:p>
        </p:txBody>
      </p:sp>
      <p:sp>
        <p:nvSpPr>
          <p:cNvPr id="11" name="Text 8"/>
          <p:cNvSpPr txBox="1"/>
          <p:nvPr/>
        </p:nvSpPr>
        <p:spPr>
          <a:xfrm>
            <a:off x="8458200" y="4023360"/>
            <a:ext cx="3017520" cy="411480"/>
          </a:xfrm>
          <a:prstGeom prst="rect">
            <a:avLst/>
          </a:prstGeom>
          <a:noFill/>
          <a:ln/>
        </p:spPr>
        <p:txBody>
          <a:bodyPr wrap="square" lIns="0" tIns="0" rIns="0" bIns="0" rtlCol="0" anchor="ctr"/>
          <a:lstStyle/>
          <a:p>
            <a:pPr indent="0" marL="0">
              <a:buNone/>
            </a:pPr>
            <a:r>
              <a:rPr lang="en-US" sz="2200" b="1" dirty="0">
                <a:solidFill>
                  <a:srgbClr val="2C5F2D"/>
                </a:solidFill>
                <a:latin typeface="Cambria" pitchFamily="34" charset="0"/>
                <a:ea typeface="Cambria" pitchFamily="34" charset="-122"/>
                <a:cs typeface="Cambria" pitchFamily="34" charset="-120"/>
              </a:rPr>
              <a:t>≈ 5–10%</a:t>
            </a:r>
            <a:endParaRPr lang="en-US" sz="2200" dirty="0"/>
          </a:p>
        </p:txBody>
      </p:sp>
      <p:sp>
        <p:nvSpPr>
          <p:cNvPr id="12" name="Text 9"/>
          <p:cNvSpPr txBox="1"/>
          <p:nvPr/>
        </p:nvSpPr>
        <p:spPr>
          <a:xfrm>
            <a:off x="8458200" y="4434840"/>
            <a:ext cx="3017520" cy="457200"/>
          </a:xfrm>
          <a:prstGeom prst="rect">
            <a:avLst/>
          </a:prstGeom>
          <a:noFill/>
          <a:ln/>
        </p:spPr>
        <p:txBody>
          <a:bodyPr wrap="square" lIns="0" tIns="0" rIns="0" bIns="0" rtlCol="0" anchor="ctr"/>
          <a:lstStyle/>
          <a:p>
            <a:pPr indent="0" marL="0">
              <a:buNone/>
            </a:pPr>
            <a:r>
              <a:rPr lang="en-US" sz="1100" dirty="0">
                <a:solidFill>
                  <a:srgbClr val="5B6B5B"/>
                </a:solidFill>
                <a:latin typeface="Calibri" pitchFamily="34" charset="0"/>
                <a:ea typeface="Calibri" pitchFamily="34" charset="-122"/>
                <a:cs typeface="Calibri" pitchFamily="34" charset="-120"/>
              </a:rPr>
              <a:t>of yield lost per doubling of SCC above 100k</a:t>
            </a:r>
            <a:endParaRPr lang="en-US" sz="1100" dirty="0"/>
          </a:p>
        </p:txBody>
      </p:sp>
      <p:sp>
        <p:nvSpPr>
          <p:cNvPr id="13" name="Text 10"/>
          <p:cNvSpPr txBox="1"/>
          <p:nvPr/>
        </p:nvSpPr>
        <p:spPr>
          <a:xfrm>
            <a:off x="8458200" y="4983480"/>
            <a:ext cx="3017520" cy="411480"/>
          </a:xfrm>
          <a:prstGeom prst="rect">
            <a:avLst/>
          </a:prstGeom>
          <a:noFill/>
          <a:ln/>
        </p:spPr>
        <p:txBody>
          <a:bodyPr wrap="square" lIns="0" tIns="0" rIns="0" bIns="0" rtlCol="0" anchor="ctr"/>
          <a:lstStyle/>
          <a:p>
            <a:pPr indent="0" marL="0">
              <a:buNone/>
            </a:pPr>
            <a:r>
              <a:rPr lang="en-US" sz="2200" b="1" dirty="0">
                <a:solidFill>
                  <a:srgbClr val="2C5F2D"/>
                </a:solidFill>
                <a:latin typeface="Cambria" pitchFamily="34" charset="0"/>
                <a:ea typeface="Cambria" pitchFamily="34" charset="-122"/>
                <a:cs typeface="Cambria" pitchFamily="34" charset="-120"/>
              </a:rPr>
              <a:t>30–50%</a:t>
            </a:r>
            <a:endParaRPr lang="en-US" sz="2200" dirty="0"/>
          </a:p>
        </p:txBody>
      </p:sp>
      <p:sp>
        <p:nvSpPr>
          <p:cNvPr id="14" name="Text 11"/>
          <p:cNvSpPr txBox="1"/>
          <p:nvPr/>
        </p:nvSpPr>
        <p:spPr>
          <a:xfrm>
            <a:off x="8458200" y="5394960"/>
            <a:ext cx="3017520" cy="457200"/>
          </a:xfrm>
          <a:prstGeom prst="rect">
            <a:avLst/>
          </a:prstGeom>
          <a:noFill/>
          <a:ln/>
        </p:spPr>
        <p:txBody>
          <a:bodyPr wrap="square" lIns="0" tIns="0" rIns="0" bIns="0" rtlCol="0" anchor="ctr"/>
          <a:lstStyle/>
          <a:p>
            <a:pPr indent="0" marL="0">
              <a:buNone/>
            </a:pPr>
            <a:r>
              <a:rPr lang="en-US" sz="1100" dirty="0">
                <a:solidFill>
                  <a:srgbClr val="5B6B5B"/>
                </a:solidFill>
                <a:latin typeface="Calibri" pitchFamily="34" charset="0"/>
                <a:ea typeface="Calibri" pitchFamily="34" charset="-122"/>
                <a:cs typeface="Calibri" pitchFamily="34" charset="-120"/>
              </a:rPr>
              <a:t>of the cost is discarded milk + lost yield; treatment is the smaller part</a:t>
            </a:r>
            <a:endParaRPr lang="en-US" sz="1100" dirty="0"/>
          </a:p>
        </p:txBody>
      </p:sp>
      <p:sp>
        <p:nvSpPr>
          <p:cNvPr id="15" name="Text 12"/>
          <p:cNvSpPr txBox="1"/>
          <p:nvPr/>
        </p:nvSpPr>
        <p:spPr>
          <a:xfrm>
            <a:off x="548640" y="5120640"/>
            <a:ext cx="7315200" cy="914400"/>
          </a:xfrm>
          <a:prstGeom prst="rect">
            <a:avLst/>
          </a:prstGeom>
          <a:noFill/>
          <a:ln/>
        </p:spPr>
        <p:txBody>
          <a:bodyPr wrap="square" lIns="0" tIns="0" rIns="0" bIns="0" rtlCol="0" anchor="ctr"/>
          <a:lstStyle/>
          <a:p>
            <a:pPr indent="0" marL="0">
              <a:buNone/>
            </a:pPr>
            <a:r>
              <a:rPr lang="en-US" sz="1200" i="1" dirty="0">
                <a:solidFill>
                  <a:srgbClr val="5B6B5B"/>
                </a:solidFill>
                <a:latin typeface="Calibri" pitchFamily="34" charset="0"/>
                <a:ea typeface="Calibri" pitchFamily="34" charset="-122"/>
                <a:cs typeface="Calibri" pitchFamily="34" charset="-120"/>
              </a:rPr>
              <a:t>Buffalo milk: high fat and SCC baseline differ from cattle — use CMT trends within the animal rather than cattle cut-offs.</a:t>
            </a:r>
            <a:endParaRPr lang="en-US" sz="1200" dirty="0"/>
          </a:p>
        </p:txBody>
      </p:sp>
      <p:sp>
        <p:nvSpPr>
          <p:cNvPr id="16" name="Text 1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17" name="Text 1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2 · HEALTH</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Detect early, treat correctly, record everything</a:t>
            </a:r>
            <a:endParaRPr lang="en-US" sz="2600" dirty="0"/>
          </a:p>
        </p:txBody>
      </p:sp>
      <p:sp>
        <p:nvSpPr>
          <p:cNvPr id="4" name="Text 2"/>
          <p:cNvSpPr txBox="1"/>
          <p:nvPr/>
        </p:nvSpPr>
        <p:spPr>
          <a:xfrm>
            <a:off x="548640" y="1417320"/>
            <a:ext cx="548640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California Mastitis Test (CMT) — 4 steps</a:t>
            </a:r>
            <a:endParaRPr lang="en-US" sz="1500" dirty="0"/>
          </a:p>
        </p:txBody>
      </p:sp>
      <p:sp>
        <p:nvSpPr>
          <p:cNvPr id="5" name="Shape 3"/>
          <p:cNvSpPr/>
          <p:nvPr/>
        </p:nvSpPr>
        <p:spPr>
          <a:xfrm>
            <a:off x="548640" y="1874520"/>
            <a:ext cx="411480" cy="411480"/>
          </a:xfrm>
          <a:prstGeom prst="ellipse">
            <a:avLst/>
          </a:prstGeom>
          <a:solidFill>
            <a:srgbClr val="97BC62"/>
          </a:solidFill>
          <a:ln w="12700">
            <a:solidFill>
              <a:srgbClr val="97BC62"/>
            </a:solidFill>
            <a:prstDash val="solid"/>
          </a:ln>
        </p:spPr>
      </p:sp>
      <p:sp>
        <p:nvSpPr>
          <p:cNvPr id="6" name="Text 4"/>
          <p:cNvSpPr txBox="1"/>
          <p:nvPr/>
        </p:nvSpPr>
        <p:spPr>
          <a:xfrm>
            <a:off x="548640" y="1874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097280" y="1874520"/>
            <a:ext cx="4937760" cy="41148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Strip 2–3 squirts, then 2 mL milk per cup</a:t>
            </a:r>
            <a:endParaRPr lang="en-US" sz="1200" dirty="0"/>
          </a:p>
        </p:txBody>
      </p:sp>
      <p:sp>
        <p:nvSpPr>
          <p:cNvPr id="8" name="Shape 6"/>
          <p:cNvSpPr/>
          <p:nvPr/>
        </p:nvSpPr>
        <p:spPr>
          <a:xfrm>
            <a:off x="548640" y="2423160"/>
            <a:ext cx="411480" cy="411480"/>
          </a:xfrm>
          <a:prstGeom prst="ellipse">
            <a:avLst/>
          </a:prstGeom>
          <a:solidFill>
            <a:srgbClr val="97BC62"/>
          </a:solidFill>
          <a:ln w="12700">
            <a:solidFill>
              <a:srgbClr val="97BC62"/>
            </a:solidFill>
            <a:prstDash val="solid"/>
          </a:ln>
        </p:spPr>
      </p:sp>
      <p:sp>
        <p:nvSpPr>
          <p:cNvPr id="9" name="Text 7"/>
          <p:cNvSpPr txBox="1"/>
          <p:nvPr/>
        </p:nvSpPr>
        <p:spPr>
          <a:xfrm>
            <a:off x="548640" y="2423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txBox="1"/>
          <p:nvPr/>
        </p:nvSpPr>
        <p:spPr>
          <a:xfrm>
            <a:off x="1097280" y="2423160"/>
            <a:ext cx="4937760" cy="41148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Add equal volume of CMT reagent</a:t>
            </a:r>
            <a:endParaRPr lang="en-US" sz="1200" dirty="0"/>
          </a:p>
        </p:txBody>
      </p:sp>
      <p:sp>
        <p:nvSpPr>
          <p:cNvPr id="11" name="Shape 9"/>
          <p:cNvSpPr/>
          <p:nvPr/>
        </p:nvSpPr>
        <p:spPr>
          <a:xfrm>
            <a:off x="548640" y="2971800"/>
            <a:ext cx="411480" cy="411480"/>
          </a:xfrm>
          <a:prstGeom prst="ellipse">
            <a:avLst/>
          </a:prstGeom>
          <a:solidFill>
            <a:srgbClr val="97BC62"/>
          </a:solidFill>
          <a:ln w="12700">
            <a:solidFill>
              <a:srgbClr val="97BC62"/>
            </a:solidFill>
            <a:prstDash val="solid"/>
          </a:ln>
        </p:spPr>
      </p:sp>
      <p:sp>
        <p:nvSpPr>
          <p:cNvPr id="12" name="Text 10"/>
          <p:cNvSpPr txBox="1"/>
          <p:nvPr/>
        </p:nvSpPr>
        <p:spPr>
          <a:xfrm>
            <a:off x="548640" y="29718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3" name="Text 11"/>
          <p:cNvSpPr txBox="1"/>
          <p:nvPr/>
        </p:nvSpPr>
        <p:spPr>
          <a:xfrm>
            <a:off x="1097280" y="2971800"/>
            <a:ext cx="4937760" cy="41148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Swirl 10 s, hold horizontal</a:t>
            </a:r>
            <a:endParaRPr lang="en-US" sz="1200" dirty="0"/>
          </a:p>
        </p:txBody>
      </p:sp>
      <p:sp>
        <p:nvSpPr>
          <p:cNvPr id="14" name="Shape 12"/>
          <p:cNvSpPr/>
          <p:nvPr/>
        </p:nvSpPr>
        <p:spPr>
          <a:xfrm>
            <a:off x="548640" y="3520440"/>
            <a:ext cx="411480" cy="411480"/>
          </a:xfrm>
          <a:prstGeom prst="ellipse">
            <a:avLst/>
          </a:prstGeom>
          <a:solidFill>
            <a:srgbClr val="97BC62"/>
          </a:solidFill>
          <a:ln w="12700">
            <a:solidFill>
              <a:srgbClr val="97BC62"/>
            </a:solidFill>
            <a:prstDash val="solid"/>
          </a:ln>
        </p:spPr>
      </p:sp>
      <p:sp>
        <p:nvSpPr>
          <p:cNvPr id="15" name="Text 13"/>
          <p:cNvSpPr txBox="1"/>
          <p:nvPr/>
        </p:nvSpPr>
        <p:spPr>
          <a:xfrm>
            <a:off x="548640" y="3520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4"/>
          <p:cNvSpPr txBox="1"/>
          <p:nvPr/>
        </p:nvSpPr>
        <p:spPr>
          <a:xfrm>
            <a:off x="1097280" y="3520440"/>
            <a:ext cx="4937760" cy="41148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Read: no gel = negative · slight gel = trace · thick gel = 2–3 (infected)</a:t>
            </a:r>
            <a:endParaRPr lang="en-US" sz="1200" dirty="0"/>
          </a:p>
        </p:txBody>
      </p:sp>
      <p:sp>
        <p:nvSpPr>
          <p:cNvPr id="17" name="Text 15"/>
          <p:cNvSpPr txBox="1"/>
          <p:nvPr/>
        </p:nvSpPr>
        <p:spPr>
          <a:xfrm>
            <a:off x="548640" y="4206240"/>
            <a:ext cx="548640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Clinical grades</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4572000"/>
          <a:ext cx="5852160" cy="914400"/>
        </p:xfrm>
        <a:graphic>
          <a:graphicData uri="http://schemas.openxmlformats.org/drawingml/2006/table">
            <a:tbl>
              <a:tblPr/>
              <a:tblGrid>
                <a:gridCol w="1097280"/>
                <a:gridCol w="1828800"/>
                <a:gridCol w="292608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Grade</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Signs</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r>
              <a:tr h="365760">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1 Mild</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Abnormal milk only</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Strip out, monitor, culture if possible, NSAID; antibiotic only per protocol</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2 Moderate</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Milk + swollen, hot quarter</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Intramammary antibiotic per vet protocol + NSAID, frequent stripping</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365760">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3 Severe</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Sick cow: fever, off feed, down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Vet now — systemic antibiotics, fluids (E. coli), anti-inflammatory</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bl>
          </a:graphicData>
        </a:graphic>
      </p:graphicFrame>
      <p:sp>
        <p:nvSpPr>
          <p:cNvPr id="19" name="Shape 16"/>
          <p:cNvSpPr/>
          <p:nvPr/>
        </p:nvSpPr>
        <p:spPr>
          <a:xfrm>
            <a:off x="6766560" y="1417320"/>
            <a:ext cx="4892040" cy="4709160"/>
          </a:xfrm>
          <a:prstGeom prst="roundRect">
            <a:avLst>
              <a:gd name="adj" fmla="val 2330"/>
            </a:avLst>
          </a:prstGeom>
          <a:solidFill>
            <a:srgbClr val="EEF4E6"/>
          </a:solidFill>
          <a:ln w="12700">
            <a:solidFill>
              <a:srgbClr val="EEF4E6"/>
            </a:solidFill>
            <a:prstDash val="solid"/>
          </a:ln>
        </p:spPr>
      </p:sp>
      <p:sp>
        <p:nvSpPr>
          <p:cNvPr id="20" name="Text 17"/>
          <p:cNvSpPr txBox="1"/>
          <p:nvPr/>
        </p:nvSpPr>
        <p:spPr>
          <a:xfrm>
            <a:off x="6995160" y="1554480"/>
            <a:ext cx="448056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Responsible antimicrobial use</a:t>
            </a:r>
            <a:endParaRPr lang="en-US" sz="1500" dirty="0"/>
          </a:p>
        </p:txBody>
      </p:sp>
      <p:sp>
        <p:nvSpPr>
          <p:cNvPr id="21" name="Text 18"/>
          <p:cNvSpPr txBox="1"/>
          <p:nvPr/>
        </p:nvSpPr>
        <p:spPr>
          <a:xfrm>
            <a:off x="6995160" y="2057400"/>
            <a:ext cx="4480560" cy="402336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Diagnose before treating: CMT, then culture where a lab exists — many E. coli cases self-cure without antibiotics</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Use the farm’s written treatment protocol signed by the veterinarian</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Full course, correct dose by body weight, correct route; never “one tube and stop”</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Respect milk and meat withdrawal periods — mark the cow, milk her last, record dates</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Dry-cow therapy: selective, based on SCC/CMT history; teat sealant for the rest</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Korea’s experience: early detection by rumination and temperature alerts reduced antibiotic use markedly (manufacturer reports up to 70%)</a:t>
            </a:r>
            <a:endParaRPr lang="en-US" sz="1150" dirty="0"/>
          </a:p>
        </p:txBody>
      </p:sp>
      <p:sp>
        <p:nvSpPr>
          <p:cNvPr id="22" name="Text 1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23" name="Text 20"/>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2 · HEALTH</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A ten-step milking routine prevents mastitis</a:t>
            </a:r>
            <a:endParaRPr lang="en-US" sz="2600" dirty="0"/>
          </a:p>
        </p:txBody>
      </p:sp>
      <p:sp>
        <p:nvSpPr>
          <p:cNvPr id="4" name="Shape 2"/>
          <p:cNvSpPr/>
          <p:nvPr/>
        </p:nvSpPr>
        <p:spPr>
          <a:xfrm>
            <a:off x="548640" y="1508760"/>
            <a:ext cx="2103120" cy="2011680"/>
          </a:xfrm>
          <a:prstGeom prst="roundRect">
            <a:avLst>
              <a:gd name="adj" fmla="val 5455"/>
            </a:avLst>
          </a:prstGeom>
          <a:solidFill>
            <a:srgbClr val="F6F9F2"/>
          </a:solidFill>
          <a:ln w="12700">
            <a:solidFill>
              <a:srgbClr val="F6F9F2"/>
            </a:solidFill>
            <a:prstDash val="solid"/>
          </a:ln>
        </p:spPr>
      </p:sp>
      <p:sp>
        <p:nvSpPr>
          <p:cNvPr id="5" name="Shape 3"/>
          <p:cNvSpPr/>
          <p:nvPr/>
        </p:nvSpPr>
        <p:spPr>
          <a:xfrm>
            <a:off x="731520" y="1691640"/>
            <a:ext cx="640080" cy="640080"/>
          </a:xfrm>
          <a:prstGeom prst="ellipse">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885139" y="1845259"/>
            <a:ext cx="332842" cy="332842"/>
          </a:xfrm>
          <a:prstGeom prst="rect">
            <a:avLst/>
          </a:prstGeom>
        </p:spPr>
      </p:pic>
      <p:sp>
        <p:nvSpPr>
          <p:cNvPr id="7" name="Text 4"/>
          <p:cNvSpPr txBox="1"/>
          <p:nvPr/>
        </p:nvSpPr>
        <p:spPr>
          <a:xfrm>
            <a:off x="1645920" y="1691640"/>
            <a:ext cx="822960" cy="640080"/>
          </a:xfrm>
          <a:prstGeom prst="rect">
            <a:avLst/>
          </a:prstGeom>
          <a:noFill/>
          <a:ln/>
        </p:spPr>
        <p:txBody>
          <a:bodyPr wrap="square" lIns="0" tIns="0" rIns="0" bIns="0" rtlCol="0" anchor="ctr"/>
          <a:lstStyle/>
          <a:p>
            <a:pPr algn="r" indent="0" marL="0">
              <a:buNone/>
            </a:pPr>
            <a:r>
              <a:rPr lang="en-US" sz="2600" b="1" dirty="0">
                <a:solidFill>
                  <a:srgbClr val="97BC62"/>
                </a:solidFill>
                <a:latin typeface="Cambria" pitchFamily="34" charset="0"/>
                <a:ea typeface="Cambria" pitchFamily="34" charset="-122"/>
                <a:cs typeface="Cambria" pitchFamily="34" charset="-120"/>
              </a:rPr>
              <a:t>1</a:t>
            </a:r>
            <a:endParaRPr lang="en-US" sz="2600" dirty="0"/>
          </a:p>
        </p:txBody>
      </p:sp>
      <p:sp>
        <p:nvSpPr>
          <p:cNvPr id="8" name="Text 5"/>
          <p:cNvSpPr txBox="1"/>
          <p:nvPr/>
        </p:nvSpPr>
        <p:spPr>
          <a:xfrm>
            <a:off x="731520" y="2423160"/>
            <a:ext cx="1783080" cy="100584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Clean hands, gloves</a:t>
            </a:r>
            <a:endParaRPr lang="en-US" sz="1200" dirty="0"/>
          </a:p>
        </p:txBody>
      </p:sp>
      <p:sp>
        <p:nvSpPr>
          <p:cNvPr id="9" name="Shape 6"/>
          <p:cNvSpPr/>
          <p:nvPr/>
        </p:nvSpPr>
        <p:spPr>
          <a:xfrm>
            <a:off x="2788920" y="1508760"/>
            <a:ext cx="2103120" cy="2011680"/>
          </a:xfrm>
          <a:prstGeom prst="roundRect">
            <a:avLst>
              <a:gd name="adj" fmla="val 5455"/>
            </a:avLst>
          </a:prstGeom>
          <a:solidFill>
            <a:srgbClr val="F6F9F2"/>
          </a:solidFill>
          <a:ln w="12700">
            <a:solidFill>
              <a:srgbClr val="F6F9F2"/>
            </a:solidFill>
            <a:prstDash val="solid"/>
          </a:ln>
        </p:spPr>
      </p:sp>
      <p:sp>
        <p:nvSpPr>
          <p:cNvPr id="10" name="Shape 7"/>
          <p:cNvSpPr/>
          <p:nvPr/>
        </p:nvSpPr>
        <p:spPr>
          <a:xfrm>
            <a:off x="2971800" y="1691640"/>
            <a:ext cx="640080" cy="640080"/>
          </a:xfrm>
          <a:prstGeom prst="ellipse">
            <a:avLst/>
          </a:prstGeom>
          <a:solidFill>
            <a:srgbClr val="2C5F2D"/>
          </a:solidFill>
          <a:ln w="12700">
            <a:solidFill>
              <a:srgbClr val="2C5F2D"/>
            </a:solidFill>
            <a:prstDash val="solid"/>
          </a:ln>
        </p:spPr>
      </p:sp>
      <p:pic>
        <p:nvPicPr>
          <p:cNvPr id="11" name="Image 1" descr="preencoded.png">    </p:cNvPr>
          <p:cNvPicPr>
            <a:picLocks noChangeAspect="1"/>
          </p:cNvPicPr>
          <p:nvPr/>
        </p:nvPicPr>
        <p:blipFill>
          <a:blip r:embed="rId2"/>
          <a:stretch>
            <a:fillRect/>
          </a:stretch>
        </p:blipFill>
        <p:spPr>
          <a:xfrm>
            <a:off x="3125419" y="1845259"/>
            <a:ext cx="332842" cy="332842"/>
          </a:xfrm>
          <a:prstGeom prst="rect">
            <a:avLst/>
          </a:prstGeom>
        </p:spPr>
      </p:pic>
      <p:sp>
        <p:nvSpPr>
          <p:cNvPr id="12" name="Text 8"/>
          <p:cNvSpPr txBox="1"/>
          <p:nvPr/>
        </p:nvSpPr>
        <p:spPr>
          <a:xfrm>
            <a:off x="3886200" y="1691640"/>
            <a:ext cx="822960" cy="640080"/>
          </a:xfrm>
          <a:prstGeom prst="rect">
            <a:avLst/>
          </a:prstGeom>
          <a:noFill/>
          <a:ln/>
        </p:spPr>
        <p:txBody>
          <a:bodyPr wrap="square" lIns="0" tIns="0" rIns="0" bIns="0" rtlCol="0" anchor="ctr"/>
          <a:lstStyle/>
          <a:p>
            <a:pPr algn="r" indent="0" marL="0">
              <a:buNone/>
            </a:pPr>
            <a:r>
              <a:rPr lang="en-US" sz="2600" b="1" dirty="0">
                <a:solidFill>
                  <a:srgbClr val="97BC62"/>
                </a:solidFill>
                <a:latin typeface="Cambria" pitchFamily="34" charset="0"/>
                <a:ea typeface="Cambria" pitchFamily="34" charset="-122"/>
                <a:cs typeface="Cambria" pitchFamily="34" charset="-120"/>
              </a:rPr>
              <a:t>2</a:t>
            </a:r>
            <a:endParaRPr lang="en-US" sz="2600" dirty="0"/>
          </a:p>
        </p:txBody>
      </p:sp>
      <p:sp>
        <p:nvSpPr>
          <p:cNvPr id="13" name="Text 9"/>
          <p:cNvSpPr txBox="1"/>
          <p:nvPr/>
        </p:nvSpPr>
        <p:spPr>
          <a:xfrm>
            <a:off x="2971800" y="2423160"/>
            <a:ext cx="1783080" cy="100584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Check udder, strip 2–3 squirts into a cup</a:t>
            </a:r>
            <a:endParaRPr lang="en-US" sz="1200" dirty="0"/>
          </a:p>
        </p:txBody>
      </p:sp>
      <p:sp>
        <p:nvSpPr>
          <p:cNvPr id="14" name="Shape 10"/>
          <p:cNvSpPr/>
          <p:nvPr/>
        </p:nvSpPr>
        <p:spPr>
          <a:xfrm>
            <a:off x="5029200" y="1508760"/>
            <a:ext cx="2103120" cy="2011680"/>
          </a:xfrm>
          <a:prstGeom prst="roundRect">
            <a:avLst>
              <a:gd name="adj" fmla="val 5455"/>
            </a:avLst>
          </a:prstGeom>
          <a:solidFill>
            <a:srgbClr val="F6F9F2"/>
          </a:solidFill>
          <a:ln w="12700">
            <a:solidFill>
              <a:srgbClr val="F6F9F2"/>
            </a:solidFill>
            <a:prstDash val="solid"/>
          </a:ln>
        </p:spPr>
      </p:sp>
      <p:sp>
        <p:nvSpPr>
          <p:cNvPr id="15" name="Shape 11"/>
          <p:cNvSpPr/>
          <p:nvPr/>
        </p:nvSpPr>
        <p:spPr>
          <a:xfrm>
            <a:off x="5212080" y="1691640"/>
            <a:ext cx="640080" cy="640080"/>
          </a:xfrm>
          <a:prstGeom prst="ellipse">
            <a:avLst/>
          </a:prstGeom>
          <a:solidFill>
            <a:srgbClr val="2C5F2D"/>
          </a:solidFill>
          <a:ln w="12700">
            <a:solidFill>
              <a:srgbClr val="2C5F2D"/>
            </a:solidFill>
            <a:prstDash val="solid"/>
          </a:ln>
        </p:spPr>
      </p:sp>
      <p:pic>
        <p:nvPicPr>
          <p:cNvPr id="16" name="Image 2" descr="preencoded.png">    </p:cNvPr>
          <p:cNvPicPr>
            <a:picLocks noChangeAspect="1"/>
          </p:cNvPicPr>
          <p:nvPr/>
        </p:nvPicPr>
        <p:blipFill>
          <a:blip r:embed="rId3"/>
          <a:stretch>
            <a:fillRect/>
          </a:stretch>
        </p:blipFill>
        <p:spPr>
          <a:xfrm>
            <a:off x="5365699" y="1845259"/>
            <a:ext cx="332842" cy="332842"/>
          </a:xfrm>
          <a:prstGeom prst="rect">
            <a:avLst/>
          </a:prstGeom>
        </p:spPr>
      </p:pic>
      <p:sp>
        <p:nvSpPr>
          <p:cNvPr id="17" name="Text 12"/>
          <p:cNvSpPr txBox="1"/>
          <p:nvPr/>
        </p:nvSpPr>
        <p:spPr>
          <a:xfrm>
            <a:off x="6126480" y="1691640"/>
            <a:ext cx="822960" cy="640080"/>
          </a:xfrm>
          <a:prstGeom prst="rect">
            <a:avLst/>
          </a:prstGeom>
          <a:noFill/>
          <a:ln/>
        </p:spPr>
        <p:txBody>
          <a:bodyPr wrap="square" lIns="0" tIns="0" rIns="0" bIns="0" rtlCol="0" anchor="ctr"/>
          <a:lstStyle/>
          <a:p>
            <a:pPr algn="r" indent="0" marL="0">
              <a:buNone/>
            </a:pPr>
            <a:r>
              <a:rPr lang="en-US" sz="2600" b="1" dirty="0">
                <a:solidFill>
                  <a:srgbClr val="97BC62"/>
                </a:solidFill>
                <a:latin typeface="Cambria" pitchFamily="34" charset="0"/>
                <a:ea typeface="Cambria" pitchFamily="34" charset="-122"/>
                <a:cs typeface="Cambria" pitchFamily="34" charset="-120"/>
              </a:rPr>
              <a:t>3</a:t>
            </a:r>
            <a:endParaRPr lang="en-US" sz="2600" dirty="0"/>
          </a:p>
        </p:txBody>
      </p:sp>
      <p:sp>
        <p:nvSpPr>
          <p:cNvPr id="18" name="Text 13"/>
          <p:cNvSpPr txBox="1"/>
          <p:nvPr/>
        </p:nvSpPr>
        <p:spPr>
          <a:xfrm>
            <a:off x="5212080" y="2423160"/>
            <a:ext cx="1783080" cy="100584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Pre-dip 30 s</a:t>
            </a:r>
            <a:endParaRPr lang="en-US" sz="1200" dirty="0"/>
          </a:p>
        </p:txBody>
      </p:sp>
      <p:sp>
        <p:nvSpPr>
          <p:cNvPr id="19" name="Shape 14"/>
          <p:cNvSpPr/>
          <p:nvPr/>
        </p:nvSpPr>
        <p:spPr>
          <a:xfrm>
            <a:off x="7269480" y="1508760"/>
            <a:ext cx="2103120" cy="2011680"/>
          </a:xfrm>
          <a:prstGeom prst="roundRect">
            <a:avLst>
              <a:gd name="adj" fmla="val 5455"/>
            </a:avLst>
          </a:prstGeom>
          <a:solidFill>
            <a:srgbClr val="F6F9F2"/>
          </a:solidFill>
          <a:ln w="12700">
            <a:solidFill>
              <a:srgbClr val="F6F9F2"/>
            </a:solidFill>
            <a:prstDash val="solid"/>
          </a:ln>
        </p:spPr>
      </p:sp>
      <p:sp>
        <p:nvSpPr>
          <p:cNvPr id="20" name="Shape 15"/>
          <p:cNvSpPr/>
          <p:nvPr/>
        </p:nvSpPr>
        <p:spPr>
          <a:xfrm>
            <a:off x="7452360" y="1691640"/>
            <a:ext cx="640080" cy="640080"/>
          </a:xfrm>
          <a:prstGeom prst="ellipse">
            <a:avLst/>
          </a:prstGeom>
          <a:solidFill>
            <a:srgbClr val="2C5F2D"/>
          </a:solidFill>
          <a:ln w="12700">
            <a:solidFill>
              <a:srgbClr val="2C5F2D"/>
            </a:solidFill>
            <a:prstDash val="solid"/>
          </a:ln>
        </p:spPr>
      </p:sp>
      <p:pic>
        <p:nvPicPr>
          <p:cNvPr id="21" name="Image 3" descr="preencoded.png">    </p:cNvPr>
          <p:cNvPicPr>
            <a:picLocks noChangeAspect="1"/>
          </p:cNvPicPr>
          <p:nvPr/>
        </p:nvPicPr>
        <p:blipFill>
          <a:blip r:embed="rId4"/>
          <a:stretch>
            <a:fillRect/>
          </a:stretch>
        </p:blipFill>
        <p:spPr>
          <a:xfrm>
            <a:off x="7605979" y="1845259"/>
            <a:ext cx="332842" cy="332842"/>
          </a:xfrm>
          <a:prstGeom prst="rect">
            <a:avLst/>
          </a:prstGeom>
        </p:spPr>
      </p:pic>
      <p:sp>
        <p:nvSpPr>
          <p:cNvPr id="22" name="Text 16"/>
          <p:cNvSpPr txBox="1"/>
          <p:nvPr/>
        </p:nvSpPr>
        <p:spPr>
          <a:xfrm>
            <a:off x="8366760" y="1691640"/>
            <a:ext cx="822960" cy="640080"/>
          </a:xfrm>
          <a:prstGeom prst="rect">
            <a:avLst/>
          </a:prstGeom>
          <a:noFill/>
          <a:ln/>
        </p:spPr>
        <p:txBody>
          <a:bodyPr wrap="square" lIns="0" tIns="0" rIns="0" bIns="0" rtlCol="0" anchor="ctr"/>
          <a:lstStyle/>
          <a:p>
            <a:pPr algn="r" indent="0" marL="0">
              <a:buNone/>
            </a:pPr>
            <a:r>
              <a:rPr lang="en-US" sz="2600" b="1" dirty="0">
                <a:solidFill>
                  <a:srgbClr val="97BC62"/>
                </a:solidFill>
                <a:latin typeface="Cambria" pitchFamily="34" charset="0"/>
                <a:ea typeface="Cambria" pitchFamily="34" charset="-122"/>
                <a:cs typeface="Cambria" pitchFamily="34" charset="-120"/>
              </a:rPr>
              <a:t>4</a:t>
            </a:r>
            <a:endParaRPr lang="en-US" sz="2600" dirty="0"/>
          </a:p>
        </p:txBody>
      </p:sp>
      <p:sp>
        <p:nvSpPr>
          <p:cNvPr id="23" name="Text 17"/>
          <p:cNvSpPr txBox="1"/>
          <p:nvPr/>
        </p:nvSpPr>
        <p:spPr>
          <a:xfrm>
            <a:off x="7452360" y="2423160"/>
            <a:ext cx="1783080" cy="100584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Wipe dry — one towel per cow</a:t>
            </a:r>
            <a:endParaRPr lang="en-US" sz="1200" dirty="0"/>
          </a:p>
        </p:txBody>
      </p:sp>
      <p:sp>
        <p:nvSpPr>
          <p:cNvPr id="24" name="Shape 18"/>
          <p:cNvSpPr/>
          <p:nvPr/>
        </p:nvSpPr>
        <p:spPr>
          <a:xfrm>
            <a:off x="9509760" y="1508760"/>
            <a:ext cx="2103120" cy="2011680"/>
          </a:xfrm>
          <a:prstGeom prst="roundRect">
            <a:avLst>
              <a:gd name="adj" fmla="val 5455"/>
            </a:avLst>
          </a:prstGeom>
          <a:solidFill>
            <a:srgbClr val="F6F9F2"/>
          </a:solidFill>
          <a:ln w="12700">
            <a:solidFill>
              <a:srgbClr val="F6F9F2"/>
            </a:solidFill>
            <a:prstDash val="solid"/>
          </a:ln>
        </p:spPr>
      </p:sp>
      <p:sp>
        <p:nvSpPr>
          <p:cNvPr id="25" name="Shape 19"/>
          <p:cNvSpPr/>
          <p:nvPr/>
        </p:nvSpPr>
        <p:spPr>
          <a:xfrm>
            <a:off x="9692640" y="1691640"/>
            <a:ext cx="640080" cy="640080"/>
          </a:xfrm>
          <a:prstGeom prst="ellipse">
            <a:avLst/>
          </a:prstGeom>
          <a:solidFill>
            <a:srgbClr val="2C5F2D"/>
          </a:solidFill>
          <a:ln w="12700">
            <a:solidFill>
              <a:srgbClr val="2C5F2D"/>
            </a:solidFill>
            <a:prstDash val="solid"/>
          </a:ln>
        </p:spPr>
      </p:sp>
      <p:pic>
        <p:nvPicPr>
          <p:cNvPr id="26" name="Image 4" descr="preencoded.png">    </p:cNvPr>
          <p:cNvPicPr>
            <a:picLocks noChangeAspect="1"/>
          </p:cNvPicPr>
          <p:nvPr/>
        </p:nvPicPr>
        <p:blipFill>
          <a:blip r:embed="rId5"/>
          <a:stretch>
            <a:fillRect/>
          </a:stretch>
        </p:blipFill>
        <p:spPr>
          <a:xfrm>
            <a:off x="9846259" y="1845259"/>
            <a:ext cx="332842" cy="332842"/>
          </a:xfrm>
          <a:prstGeom prst="rect">
            <a:avLst/>
          </a:prstGeom>
        </p:spPr>
      </p:pic>
      <p:sp>
        <p:nvSpPr>
          <p:cNvPr id="27" name="Text 20"/>
          <p:cNvSpPr txBox="1"/>
          <p:nvPr/>
        </p:nvSpPr>
        <p:spPr>
          <a:xfrm>
            <a:off x="10607040" y="1691640"/>
            <a:ext cx="822960" cy="640080"/>
          </a:xfrm>
          <a:prstGeom prst="rect">
            <a:avLst/>
          </a:prstGeom>
          <a:noFill/>
          <a:ln/>
        </p:spPr>
        <p:txBody>
          <a:bodyPr wrap="square" lIns="0" tIns="0" rIns="0" bIns="0" rtlCol="0" anchor="ctr"/>
          <a:lstStyle/>
          <a:p>
            <a:pPr algn="r" indent="0" marL="0">
              <a:buNone/>
            </a:pPr>
            <a:r>
              <a:rPr lang="en-US" sz="2600" b="1" dirty="0">
                <a:solidFill>
                  <a:srgbClr val="97BC62"/>
                </a:solidFill>
                <a:latin typeface="Cambria" pitchFamily="34" charset="0"/>
                <a:ea typeface="Cambria" pitchFamily="34" charset="-122"/>
                <a:cs typeface="Cambria" pitchFamily="34" charset="-120"/>
              </a:rPr>
              <a:t>5</a:t>
            </a:r>
            <a:endParaRPr lang="en-US" sz="2600" dirty="0"/>
          </a:p>
        </p:txBody>
      </p:sp>
      <p:sp>
        <p:nvSpPr>
          <p:cNvPr id="28" name="Text 21"/>
          <p:cNvSpPr txBox="1"/>
          <p:nvPr/>
        </p:nvSpPr>
        <p:spPr>
          <a:xfrm>
            <a:off x="9692640" y="2423160"/>
            <a:ext cx="1783080" cy="100584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Attach within 60–90 s of stimulation</a:t>
            </a:r>
            <a:endParaRPr lang="en-US" sz="1200" dirty="0"/>
          </a:p>
        </p:txBody>
      </p:sp>
      <p:sp>
        <p:nvSpPr>
          <p:cNvPr id="29" name="Shape 22"/>
          <p:cNvSpPr/>
          <p:nvPr/>
        </p:nvSpPr>
        <p:spPr>
          <a:xfrm>
            <a:off x="548640" y="3703320"/>
            <a:ext cx="2103120" cy="2011680"/>
          </a:xfrm>
          <a:prstGeom prst="roundRect">
            <a:avLst>
              <a:gd name="adj" fmla="val 5455"/>
            </a:avLst>
          </a:prstGeom>
          <a:solidFill>
            <a:srgbClr val="F6F9F2"/>
          </a:solidFill>
          <a:ln w="12700">
            <a:solidFill>
              <a:srgbClr val="F6F9F2"/>
            </a:solidFill>
            <a:prstDash val="solid"/>
          </a:ln>
        </p:spPr>
      </p:sp>
      <p:sp>
        <p:nvSpPr>
          <p:cNvPr id="30" name="Shape 23"/>
          <p:cNvSpPr/>
          <p:nvPr/>
        </p:nvSpPr>
        <p:spPr>
          <a:xfrm>
            <a:off x="731520" y="3886200"/>
            <a:ext cx="640080" cy="640080"/>
          </a:xfrm>
          <a:prstGeom prst="ellipse">
            <a:avLst/>
          </a:prstGeom>
          <a:solidFill>
            <a:srgbClr val="2C5F2D"/>
          </a:solidFill>
          <a:ln w="12700">
            <a:solidFill>
              <a:srgbClr val="2C5F2D"/>
            </a:solidFill>
            <a:prstDash val="solid"/>
          </a:ln>
        </p:spPr>
      </p:sp>
      <p:pic>
        <p:nvPicPr>
          <p:cNvPr id="31" name="Image 5" descr="preencoded.png">    </p:cNvPr>
          <p:cNvPicPr>
            <a:picLocks noChangeAspect="1"/>
          </p:cNvPicPr>
          <p:nvPr/>
        </p:nvPicPr>
        <p:blipFill>
          <a:blip r:embed="rId6"/>
          <a:stretch>
            <a:fillRect/>
          </a:stretch>
        </p:blipFill>
        <p:spPr>
          <a:xfrm>
            <a:off x="885139" y="4039819"/>
            <a:ext cx="332842" cy="332842"/>
          </a:xfrm>
          <a:prstGeom prst="rect">
            <a:avLst/>
          </a:prstGeom>
        </p:spPr>
      </p:pic>
      <p:sp>
        <p:nvSpPr>
          <p:cNvPr id="32" name="Text 24"/>
          <p:cNvSpPr txBox="1"/>
          <p:nvPr/>
        </p:nvSpPr>
        <p:spPr>
          <a:xfrm>
            <a:off x="1645920" y="3886200"/>
            <a:ext cx="822960" cy="640080"/>
          </a:xfrm>
          <a:prstGeom prst="rect">
            <a:avLst/>
          </a:prstGeom>
          <a:noFill/>
          <a:ln/>
        </p:spPr>
        <p:txBody>
          <a:bodyPr wrap="square" lIns="0" tIns="0" rIns="0" bIns="0" rtlCol="0" anchor="ctr"/>
          <a:lstStyle/>
          <a:p>
            <a:pPr algn="r" indent="0" marL="0">
              <a:buNone/>
            </a:pPr>
            <a:r>
              <a:rPr lang="en-US" sz="2600" b="1" dirty="0">
                <a:solidFill>
                  <a:srgbClr val="97BC62"/>
                </a:solidFill>
                <a:latin typeface="Cambria" pitchFamily="34" charset="0"/>
                <a:ea typeface="Cambria" pitchFamily="34" charset="-122"/>
                <a:cs typeface="Cambria" pitchFamily="34" charset="-120"/>
              </a:rPr>
              <a:t>6</a:t>
            </a:r>
            <a:endParaRPr lang="en-US" sz="2600" dirty="0"/>
          </a:p>
        </p:txBody>
      </p:sp>
      <p:sp>
        <p:nvSpPr>
          <p:cNvPr id="33" name="Text 25"/>
          <p:cNvSpPr txBox="1"/>
          <p:nvPr/>
        </p:nvSpPr>
        <p:spPr>
          <a:xfrm>
            <a:off x="731520" y="4617720"/>
            <a:ext cx="1783080" cy="100584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Adjust cluster; no air leaks</a:t>
            </a:r>
            <a:endParaRPr lang="en-US" sz="1200" dirty="0"/>
          </a:p>
        </p:txBody>
      </p:sp>
      <p:sp>
        <p:nvSpPr>
          <p:cNvPr id="34" name="Shape 26"/>
          <p:cNvSpPr/>
          <p:nvPr/>
        </p:nvSpPr>
        <p:spPr>
          <a:xfrm>
            <a:off x="2788920" y="3703320"/>
            <a:ext cx="2103120" cy="2011680"/>
          </a:xfrm>
          <a:prstGeom prst="roundRect">
            <a:avLst>
              <a:gd name="adj" fmla="val 5455"/>
            </a:avLst>
          </a:prstGeom>
          <a:solidFill>
            <a:srgbClr val="F6F9F2"/>
          </a:solidFill>
          <a:ln w="12700">
            <a:solidFill>
              <a:srgbClr val="F6F9F2"/>
            </a:solidFill>
            <a:prstDash val="solid"/>
          </a:ln>
        </p:spPr>
      </p:sp>
      <p:sp>
        <p:nvSpPr>
          <p:cNvPr id="35" name="Shape 27"/>
          <p:cNvSpPr/>
          <p:nvPr/>
        </p:nvSpPr>
        <p:spPr>
          <a:xfrm>
            <a:off x="2971800" y="3886200"/>
            <a:ext cx="640080" cy="640080"/>
          </a:xfrm>
          <a:prstGeom prst="ellipse">
            <a:avLst/>
          </a:prstGeom>
          <a:solidFill>
            <a:srgbClr val="2C5F2D"/>
          </a:solidFill>
          <a:ln w="12700">
            <a:solidFill>
              <a:srgbClr val="2C5F2D"/>
            </a:solidFill>
            <a:prstDash val="solid"/>
          </a:ln>
        </p:spPr>
      </p:sp>
      <p:pic>
        <p:nvPicPr>
          <p:cNvPr id="36" name="Image 6" descr="preencoded.png">    </p:cNvPr>
          <p:cNvPicPr>
            <a:picLocks noChangeAspect="1"/>
          </p:cNvPicPr>
          <p:nvPr/>
        </p:nvPicPr>
        <p:blipFill>
          <a:blip r:embed="rId7"/>
          <a:stretch>
            <a:fillRect/>
          </a:stretch>
        </p:blipFill>
        <p:spPr>
          <a:xfrm>
            <a:off x="3125419" y="4039819"/>
            <a:ext cx="332842" cy="332842"/>
          </a:xfrm>
          <a:prstGeom prst="rect">
            <a:avLst/>
          </a:prstGeom>
        </p:spPr>
      </p:pic>
      <p:sp>
        <p:nvSpPr>
          <p:cNvPr id="37" name="Text 28"/>
          <p:cNvSpPr txBox="1"/>
          <p:nvPr/>
        </p:nvSpPr>
        <p:spPr>
          <a:xfrm>
            <a:off x="3886200" y="3886200"/>
            <a:ext cx="822960" cy="640080"/>
          </a:xfrm>
          <a:prstGeom prst="rect">
            <a:avLst/>
          </a:prstGeom>
          <a:noFill/>
          <a:ln/>
        </p:spPr>
        <p:txBody>
          <a:bodyPr wrap="square" lIns="0" tIns="0" rIns="0" bIns="0" rtlCol="0" anchor="ctr"/>
          <a:lstStyle/>
          <a:p>
            <a:pPr algn="r" indent="0" marL="0">
              <a:buNone/>
            </a:pPr>
            <a:r>
              <a:rPr lang="en-US" sz="2600" b="1" dirty="0">
                <a:solidFill>
                  <a:srgbClr val="97BC62"/>
                </a:solidFill>
                <a:latin typeface="Cambria" pitchFamily="34" charset="0"/>
                <a:ea typeface="Cambria" pitchFamily="34" charset="-122"/>
                <a:cs typeface="Cambria" pitchFamily="34" charset="-120"/>
              </a:rPr>
              <a:t>7</a:t>
            </a:r>
            <a:endParaRPr lang="en-US" sz="2600" dirty="0"/>
          </a:p>
        </p:txBody>
      </p:sp>
      <p:sp>
        <p:nvSpPr>
          <p:cNvPr id="38" name="Text 29"/>
          <p:cNvSpPr txBox="1"/>
          <p:nvPr/>
        </p:nvSpPr>
        <p:spPr>
          <a:xfrm>
            <a:off x="2971800" y="4617720"/>
            <a:ext cx="1783080" cy="100584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Detach when flow drops — avoid over-milking</a:t>
            </a:r>
            <a:endParaRPr lang="en-US" sz="1200" dirty="0"/>
          </a:p>
        </p:txBody>
      </p:sp>
      <p:sp>
        <p:nvSpPr>
          <p:cNvPr id="39" name="Shape 30"/>
          <p:cNvSpPr/>
          <p:nvPr/>
        </p:nvSpPr>
        <p:spPr>
          <a:xfrm>
            <a:off x="5029200" y="3703320"/>
            <a:ext cx="2103120" cy="2011680"/>
          </a:xfrm>
          <a:prstGeom prst="roundRect">
            <a:avLst>
              <a:gd name="adj" fmla="val 5455"/>
            </a:avLst>
          </a:prstGeom>
          <a:solidFill>
            <a:srgbClr val="F6F9F2"/>
          </a:solidFill>
          <a:ln w="12700">
            <a:solidFill>
              <a:srgbClr val="F6F9F2"/>
            </a:solidFill>
            <a:prstDash val="solid"/>
          </a:ln>
        </p:spPr>
      </p:sp>
      <p:sp>
        <p:nvSpPr>
          <p:cNvPr id="40" name="Shape 31"/>
          <p:cNvSpPr/>
          <p:nvPr/>
        </p:nvSpPr>
        <p:spPr>
          <a:xfrm>
            <a:off x="5212080" y="3886200"/>
            <a:ext cx="640080" cy="640080"/>
          </a:xfrm>
          <a:prstGeom prst="ellipse">
            <a:avLst/>
          </a:prstGeom>
          <a:solidFill>
            <a:srgbClr val="2C5F2D"/>
          </a:solidFill>
          <a:ln w="12700">
            <a:solidFill>
              <a:srgbClr val="2C5F2D"/>
            </a:solidFill>
            <a:prstDash val="solid"/>
          </a:ln>
        </p:spPr>
      </p:sp>
      <p:pic>
        <p:nvPicPr>
          <p:cNvPr id="41" name="Image 7" descr="preencoded.png">    </p:cNvPr>
          <p:cNvPicPr>
            <a:picLocks noChangeAspect="1"/>
          </p:cNvPicPr>
          <p:nvPr/>
        </p:nvPicPr>
        <p:blipFill>
          <a:blip r:embed="rId8"/>
          <a:stretch>
            <a:fillRect/>
          </a:stretch>
        </p:blipFill>
        <p:spPr>
          <a:xfrm>
            <a:off x="5365699" y="4039819"/>
            <a:ext cx="332842" cy="332842"/>
          </a:xfrm>
          <a:prstGeom prst="rect">
            <a:avLst/>
          </a:prstGeom>
        </p:spPr>
      </p:pic>
      <p:sp>
        <p:nvSpPr>
          <p:cNvPr id="42" name="Text 32"/>
          <p:cNvSpPr txBox="1"/>
          <p:nvPr/>
        </p:nvSpPr>
        <p:spPr>
          <a:xfrm>
            <a:off x="6126480" y="3886200"/>
            <a:ext cx="822960" cy="640080"/>
          </a:xfrm>
          <a:prstGeom prst="rect">
            <a:avLst/>
          </a:prstGeom>
          <a:noFill/>
          <a:ln/>
        </p:spPr>
        <p:txBody>
          <a:bodyPr wrap="square" lIns="0" tIns="0" rIns="0" bIns="0" rtlCol="0" anchor="ctr"/>
          <a:lstStyle/>
          <a:p>
            <a:pPr algn="r" indent="0" marL="0">
              <a:buNone/>
            </a:pPr>
            <a:r>
              <a:rPr lang="en-US" sz="2600" b="1" dirty="0">
                <a:solidFill>
                  <a:srgbClr val="97BC62"/>
                </a:solidFill>
                <a:latin typeface="Cambria" pitchFamily="34" charset="0"/>
                <a:ea typeface="Cambria" pitchFamily="34" charset="-122"/>
                <a:cs typeface="Cambria" pitchFamily="34" charset="-120"/>
              </a:rPr>
              <a:t>8</a:t>
            </a:r>
            <a:endParaRPr lang="en-US" sz="2600" dirty="0"/>
          </a:p>
        </p:txBody>
      </p:sp>
      <p:sp>
        <p:nvSpPr>
          <p:cNvPr id="43" name="Text 33"/>
          <p:cNvSpPr txBox="1"/>
          <p:nvPr/>
        </p:nvSpPr>
        <p:spPr>
          <a:xfrm>
            <a:off x="5212080" y="4617720"/>
            <a:ext cx="1783080" cy="100584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Post-dip every teat, full coverage</a:t>
            </a:r>
            <a:endParaRPr lang="en-US" sz="1200" dirty="0"/>
          </a:p>
        </p:txBody>
      </p:sp>
      <p:sp>
        <p:nvSpPr>
          <p:cNvPr id="44" name="Shape 34"/>
          <p:cNvSpPr/>
          <p:nvPr/>
        </p:nvSpPr>
        <p:spPr>
          <a:xfrm>
            <a:off x="7269480" y="3703320"/>
            <a:ext cx="2103120" cy="2011680"/>
          </a:xfrm>
          <a:prstGeom prst="roundRect">
            <a:avLst>
              <a:gd name="adj" fmla="val 5455"/>
            </a:avLst>
          </a:prstGeom>
          <a:solidFill>
            <a:srgbClr val="F6F9F2"/>
          </a:solidFill>
          <a:ln w="12700">
            <a:solidFill>
              <a:srgbClr val="F6F9F2"/>
            </a:solidFill>
            <a:prstDash val="solid"/>
          </a:ln>
        </p:spPr>
      </p:sp>
      <p:sp>
        <p:nvSpPr>
          <p:cNvPr id="45" name="Shape 35"/>
          <p:cNvSpPr/>
          <p:nvPr/>
        </p:nvSpPr>
        <p:spPr>
          <a:xfrm>
            <a:off x="7452360" y="3886200"/>
            <a:ext cx="640080" cy="640080"/>
          </a:xfrm>
          <a:prstGeom prst="ellipse">
            <a:avLst/>
          </a:prstGeom>
          <a:solidFill>
            <a:srgbClr val="2C5F2D"/>
          </a:solidFill>
          <a:ln w="12700">
            <a:solidFill>
              <a:srgbClr val="2C5F2D"/>
            </a:solidFill>
            <a:prstDash val="solid"/>
          </a:ln>
        </p:spPr>
      </p:sp>
      <p:pic>
        <p:nvPicPr>
          <p:cNvPr id="46" name="Image 8" descr="preencoded.png">    </p:cNvPr>
          <p:cNvPicPr>
            <a:picLocks noChangeAspect="1"/>
          </p:cNvPicPr>
          <p:nvPr/>
        </p:nvPicPr>
        <p:blipFill>
          <a:blip r:embed="rId9"/>
          <a:stretch>
            <a:fillRect/>
          </a:stretch>
        </p:blipFill>
        <p:spPr>
          <a:xfrm>
            <a:off x="7605979" y="4039819"/>
            <a:ext cx="332842" cy="332842"/>
          </a:xfrm>
          <a:prstGeom prst="rect">
            <a:avLst/>
          </a:prstGeom>
        </p:spPr>
      </p:pic>
      <p:sp>
        <p:nvSpPr>
          <p:cNvPr id="47" name="Text 36"/>
          <p:cNvSpPr txBox="1"/>
          <p:nvPr/>
        </p:nvSpPr>
        <p:spPr>
          <a:xfrm>
            <a:off x="8366760" y="3886200"/>
            <a:ext cx="822960" cy="640080"/>
          </a:xfrm>
          <a:prstGeom prst="rect">
            <a:avLst/>
          </a:prstGeom>
          <a:noFill/>
          <a:ln/>
        </p:spPr>
        <p:txBody>
          <a:bodyPr wrap="square" lIns="0" tIns="0" rIns="0" bIns="0" rtlCol="0" anchor="ctr"/>
          <a:lstStyle/>
          <a:p>
            <a:pPr algn="r" indent="0" marL="0">
              <a:buNone/>
            </a:pPr>
            <a:r>
              <a:rPr lang="en-US" sz="2600" b="1" dirty="0">
                <a:solidFill>
                  <a:srgbClr val="97BC62"/>
                </a:solidFill>
                <a:latin typeface="Cambria" pitchFamily="34" charset="0"/>
                <a:ea typeface="Cambria" pitchFamily="34" charset="-122"/>
                <a:cs typeface="Cambria" pitchFamily="34" charset="-120"/>
              </a:rPr>
              <a:t>9</a:t>
            </a:r>
            <a:endParaRPr lang="en-US" sz="2600" dirty="0"/>
          </a:p>
        </p:txBody>
      </p:sp>
      <p:sp>
        <p:nvSpPr>
          <p:cNvPr id="48" name="Text 37"/>
          <p:cNvSpPr txBox="1"/>
          <p:nvPr/>
        </p:nvSpPr>
        <p:spPr>
          <a:xfrm>
            <a:off x="7452360" y="4617720"/>
            <a:ext cx="1783080" cy="100584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Milking order: fresh &amp; healthy → high-SCC → treated last</a:t>
            </a:r>
            <a:endParaRPr lang="en-US" sz="1200" dirty="0"/>
          </a:p>
        </p:txBody>
      </p:sp>
      <p:sp>
        <p:nvSpPr>
          <p:cNvPr id="49" name="Shape 38"/>
          <p:cNvSpPr/>
          <p:nvPr/>
        </p:nvSpPr>
        <p:spPr>
          <a:xfrm>
            <a:off x="9509760" y="3703320"/>
            <a:ext cx="2103120" cy="2011680"/>
          </a:xfrm>
          <a:prstGeom prst="roundRect">
            <a:avLst>
              <a:gd name="adj" fmla="val 5455"/>
            </a:avLst>
          </a:prstGeom>
          <a:solidFill>
            <a:srgbClr val="F6F9F2"/>
          </a:solidFill>
          <a:ln w="12700">
            <a:solidFill>
              <a:srgbClr val="F6F9F2"/>
            </a:solidFill>
            <a:prstDash val="solid"/>
          </a:ln>
        </p:spPr>
      </p:sp>
      <p:sp>
        <p:nvSpPr>
          <p:cNvPr id="50" name="Shape 39"/>
          <p:cNvSpPr/>
          <p:nvPr/>
        </p:nvSpPr>
        <p:spPr>
          <a:xfrm>
            <a:off x="9692640" y="3886200"/>
            <a:ext cx="640080" cy="640080"/>
          </a:xfrm>
          <a:prstGeom prst="ellipse">
            <a:avLst/>
          </a:prstGeom>
          <a:solidFill>
            <a:srgbClr val="2C5F2D"/>
          </a:solidFill>
          <a:ln w="12700">
            <a:solidFill>
              <a:srgbClr val="2C5F2D"/>
            </a:solidFill>
            <a:prstDash val="solid"/>
          </a:ln>
        </p:spPr>
      </p:sp>
      <p:pic>
        <p:nvPicPr>
          <p:cNvPr id="51" name="Image 9" descr="preencoded.png">    </p:cNvPr>
          <p:cNvPicPr>
            <a:picLocks noChangeAspect="1"/>
          </p:cNvPicPr>
          <p:nvPr/>
        </p:nvPicPr>
        <p:blipFill>
          <a:blip r:embed="rId10"/>
          <a:stretch>
            <a:fillRect/>
          </a:stretch>
        </p:blipFill>
        <p:spPr>
          <a:xfrm>
            <a:off x="9846259" y="4039819"/>
            <a:ext cx="332842" cy="332842"/>
          </a:xfrm>
          <a:prstGeom prst="rect">
            <a:avLst/>
          </a:prstGeom>
        </p:spPr>
      </p:pic>
      <p:sp>
        <p:nvSpPr>
          <p:cNvPr id="52" name="Text 40"/>
          <p:cNvSpPr txBox="1"/>
          <p:nvPr/>
        </p:nvSpPr>
        <p:spPr>
          <a:xfrm>
            <a:off x="10607040" y="3886200"/>
            <a:ext cx="822960" cy="640080"/>
          </a:xfrm>
          <a:prstGeom prst="rect">
            <a:avLst/>
          </a:prstGeom>
          <a:noFill/>
          <a:ln/>
        </p:spPr>
        <p:txBody>
          <a:bodyPr wrap="square" lIns="0" tIns="0" rIns="0" bIns="0" rtlCol="0" anchor="ctr"/>
          <a:lstStyle/>
          <a:p>
            <a:pPr algn="r" indent="0" marL="0">
              <a:buNone/>
            </a:pPr>
            <a:r>
              <a:rPr lang="en-US" sz="2600" b="1" dirty="0">
                <a:solidFill>
                  <a:srgbClr val="97BC62"/>
                </a:solidFill>
                <a:latin typeface="Cambria" pitchFamily="34" charset="0"/>
                <a:ea typeface="Cambria" pitchFamily="34" charset="-122"/>
                <a:cs typeface="Cambria" pitchFamily="34" charset="-120"/>
              </a:rPr>
              <a:t>10</a:t>
            </a:r>
            <a:endParaRPr lang="en-US" sz="2600" dirty="0"/>
          </a:p>
        </p:txBody>
      </p:sp>
      <p:sp>
        <p:nvSpPr>
          <p:cNvPr id="53" name="Text 41"/>
          <p:cNvSpPr txBox="1"/>
          <p:nvPr/>
        </p:nvSpPr>
        <p:spPr>
          <a:xfrm>
            <a:off x="9692640" y="4617720"/>
            <a:ext cx="1783080" cy="100584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Rinse, wash (hot + detergent), acid rinse, dry equipment</a:t>
            </a:r>
            <a:endParaRPr lang="en-US" sz="1200" dirty="0"/>
          </a:p>
        </p:txBody>
      </p:sp>
      <p:sp>
        <p:nvSpPr>
          <p:cNvPr id="54" name="Text 42"/>
          <p:cNvSpPr txBox="1"/>
          <p:nvPr/>
        </p:nvSpPr>
        <p:spPr>
          <a:xfrm>
            <a:off x="548640" y="5943600"/>
            <a:ext cx="11094415" cy="320040"/>
          </a:xfrm>
          <a:prstGeom prst="rect">
            <a:avLst/>
          </a:prstGeom>
          <a:noFill/>
          <a:ln/>
        </p:spPr>
        <p:txBody>
          <a:bodyPr wrap="square" lIns="0" tIns="0" rIns="0" bIns="0" rtlCol="0" anchor="ctr"/>
          <a:lstStyle/>
          <a:p>
            <a:pPr indent="0" marL="0">
              <a:buNone/>
            </a:pPr>
            <a:r>
              <a:rPr lang="en-US" sz="1150" i="1" dirty="0">
                <a:solidFill>
                  <a:srgbClr val="5B6B5B"/>
                </a:solidFill>
                <a:latin typeface="Calibri" pitchFamily="34" charset="0"/>
                <a:ea typeface="Calibri" pitchFamily="34" charset="-122"/>
                <a:cs typeface="Calibri" pitchFamily="34" charset="-120"/>
              </a:rPr>
              <a:t>Hand milking (smallholder buffalo): same principles — clean hands, dry teats, full milking, post-dip, milk sick animals last.</a:t>
            </a:r>
            <a:endParaRPr lang="en-US" sz="1150" dirty="0"/>
          </a:p>
        </p:txBody>
      </p:sp>
      <p:sp>
        <p:nvSpPr>
          <p:cNvPr id="55" name="Text 4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56" name="Text 4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2 · HEALTH</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Heat stress — the tropical dairy’s permanent challenge</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943600" cy="914400"/>
        </p:xfrm>
        <a:graphic>
          <a:graphicData uri="http://schemas.openxmlformats.org/drawingml/2006/table">
            <a:tbl>
              <a:tblPr/>
              <a:tblGrid>
                <a:gridCol w="914400"/>
                <a:gridCol w="1280160"/>
                <a:gridCol w="374904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THI</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Stress level</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happens to the animal</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r>
              <a:tr h="50292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&lt; 68</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Comfort</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Normal intake, rumination and fertility</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50292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68–71</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Mild</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Breathing &gt; 60/min, seeks shade, intake begins to fall</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50292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72–79</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Milk −10 to −25%, conception rate falls sharply, early embryo loss</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502920">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80–89</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Severe</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50" dirty="0">
                          <a:solidFill>
                            <a:srgbClr val="1F2A1F"/>
                          </a:solidFill>
                          <a:latin typeface="Calibri" pitchFamily="34" charset="0"/>
                          <a:ea typeface="Calibri" pitchFamily="34" charset="-122"/>
                          <a:cs typeface="Calibri" pitchFamily="34" charset="-120"/>
                        </a:rPr>
                        <a:t>Panting, drooling, standing, rumination stops; risk to life above 90</a:t>
                      </a:r>
                      <a:endParaRPr lang="en-US" sz="11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bl>
          </a:graphicData>
        </a:graphic>
      </p:graphicFrame>
      <p:sp>
        <p:nvSpPr>
          <p:cNvPr id="5" name="Text 2"/>
          <p:cNvSpPr txBox="1"/>
          <p:nvPr/>
        </p:nvSpPr>
        <p:spPr>
          <a:xfrm>
            <a:off x="548640" y="4069080"/>
            <a:ext cx="5943600" cy="548640"/>
          </a:xfrm>
          <a:prstGeom prst="rect">
            <a:avLst/>
          </a:prstGeom>
          <a:noFill/>
          <a:ln/>
        </p:spPr>
        <p:txBody>
          <a:bodyPr wrap="square" lIns="0" tIns="0" rIns="0" bIns="0" rtlCol="0" anchor="ctr"/>
          <a:lstStyle/>
          <a:p>
            <a:pPr indent="0" marL="0">
              <a:buNone/>
            </a:pPr>
            <a:r>
              <a:rPr lang="en-US" sz="1150" i="1" dirty="0">
                <a:solidFill>
                  <a:srgbClr val="5B6B5B"/>
                </a:solidFill>
                <a:latin typeface="Calibri" pitchFamily="34" charset="0"/>
                <a:ea typeface="Calibri" pitchFamily="34" charset="-122"/>
                <a:cs typeface="Calibri" pitchFamily="34" charset="-120"/>
              </a:rPr>
              <a:t>THI = temperature-humidity index. At 30 °C and 80% RH the THI is ≈ 84 — a normal afternoon in Nueva Ecija.</a:t>
            </a:r>
            <a:endParaRPr lang="en-US" sz="1150" dirty="0"/>
          </a:p>
        </p:txBody>
      </p:sp>
      <p:sp>
        <p:nvSpPr>
          <p:cNvPr id="6" name="Shape 3"/>
          <p:cNvSpPr/>
          <p:nvPr/>
        </p:nvSpPr>
        <p:spPr>
          <a:xfrm>
            <a:off x="548640" y="4617720"/>
            <a:ext cx="5943600" cy="1508760"/>
          </a:xfrm>
          <a:prstGeom prst="roundRect">
            <a:avLst>
              <a:gd name="adj" fmla="val 7273"/>
            </a:avLst>
          </a:prstGeom>
          <a:solidFill>
            <a:srgbClr val="EEF4E6"/>
          </a:solidFill>
          <a:ln w="12700">
            <a:solidFill>
              <a:srgbClr val="EEF4E6"/>
            </a:solidFill>
            <a:prstDash val="solid"/>
          </a:ln>
        </p:spPr>
      </p:sp>
      <p:sp>
        <p:nvSpPr>
          <p:cNvPr id="7" name="Text 4"/>
          <p:cNvSpPr txBox="1"/>
          <p:nvPr/>
        </p:nvSpPr>
        <p:spPr>
          <a:xfrm>
            <a:off x="777240" y="4709160"/>
            <a:ext cx="5486400" cy="32004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What the bolus adds</a:t>
            </a:r>
            <a:endParaRPr lang="en-US" sz="1400" dirty="0"/>
          </a:p>
        </p:txBody>
      </p:sp>
      <p:sp>
        <p:nvSpPr>
          <p:cNvPr id="8" name="Text 5"/>
          <p:cNvSpPr txBox="1"/>
          <p:nvPr/>
        </p:nvSpPr>
        <p:spPr>
          <a:xfrm>
            <a:off x="777240" y="5029200"/>
            <a:ext cx="5486400" cy="10515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1F2A1F"/>
                </a:solidFill>
                <a:latin typeface="Calibri" pitchFamily="34" charset="0"/>
                <a:ea typeface="Calibri" pitchFamily="34" charset="-122"/>
                <a:cs typeface="Calibri" pitchFamily="34" charset="-120"/>
              </a:rPr>
              <a:t>Core body temperature per animal, not just barn THI — shows which animals are actually suffering</a:t>
            </a:r>
            <a:endParaRPr lang="en-US" sz="1150" dirty="0"/>
          </a:p>
          <a:p>
            <a:pPr marL="177800" indent="-177800">
              <a:spcAft>
                <a:spcPts val="300"/>
              </a:spcAft>
              <a:buSzPct val="100000"/>
              <a:buChar char="•"/>
            </a:pPr>
            <a:r>
              <a:rPr lang="en-US" sz="1150" dirty="0">
                <a:solidFill>
                  <a:srgbClr val="1F2A1F"/>
                </a:solidFill>
                <a:latin typeface="Calibri" pitchFamily="34" charset="0"/>
                <a:ea typeface="Calibri" pitchFamily="34" charset="-122"/>
                <a:cs typeface="Calibri" pitchFamily="34" charset="-120"/>
              </a:rPr>
              <a:t>Water-intake events and rumination drop — the earliest signs; heat-stress alert per animal and per barn</a:t>
            </a:r>
            <a:endParaRPr lang="en-US" sz="1150" dirty="0"/>
          </a:p>
        </p:txBody>
      </p:sp>
      <p:sp>
        <p:nvSpPr>
          <p:cNvPr id="9" name="Shape 6"/>
          <p:cNvSpPr/>
          <p:nvPr/>
        </p:nvSpPr>
        <p:spPr>
          <a:xfrm>
            <a:off x="6766560" y="1463040"/>
            <a:ext cx="4892040" cy="4663440"/>
          </a:xfrm>
          <a:prstGeom prst="roundRect">
            <a:avLst>
              <a:gd name="adj" fmla="val 2353"/>
            </a:avLst>
          </a:prstGeom>
          <a:solidFill>
            <a:srgbClr val="F6F9F2"/>
          </a:solidFill>
          <a:ln w="12700">
            <a:solidFill>
              <a:srgbClr val="F6F9F2"/>
            </a:solidFill>
            <a:prstDash val="solid"/>
          </a:ln>
        </p:spPr>
      </p:sp>
      <p:sp>
        <p:nvSpPr>
          <p:cNvPr id="10" name="Text 7"/>
          <p:cNvSpPr txBox="1"/>
          <p:nvPr/>
        </p:nvSpPr>
        <p:spPr>
          <a:xfrm>
            <a:off x="6995160" y="1600200"/>
            <a:ext cx="448056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Mitigation — cheapest first</a:t>
            </a:r>
            <a:endParaRPr lang="en-US" sz="1500" dirty="0"/>
          </a:p>
        </p:txBody>
      </p:sp>
      <p:sp>
        <p:nvSpPr>
          <p:cNvPr id="11" name="Shape 8"/>
          <p:cNvSpPr/>
          <p:nvPr/>
        </p:nvSpPr>
        <p:spPr>
          <a:xfrm>
            <a:off x="6995160" y="2103120"/>
            <a:ext cx="457200" cy="457200"/>
          </a:xfrm>
          <a:prstGeom prst="ellipse">
            <a:avLst/>
          </a:prstGeom>
          <a:solidFill>
            <a:srgbClr val="2C5F2D"/>
          </a:solidFill>
          <a:ln w="12700">
            <a:solidFill>
              <a:srgbClr val="2C5F2D"/>
            </a:solidFill>
            <a:prstDash val="solid"/>
          </a:ln>
        </p:spPr>
      </p:sp>
      <p:pic>
        <p:nvPicPr>
          <p:cNvPr id="12" name="Image 0" descr="preencoded.png">    </p:cNvPr>
          <p:cNvPicPr>
            <a:picLocks noChangeAspect="1"/>
          </p:cNvPicPr>
          <p:nvPr/>
        </p:nvPicPr>
        <p:blipFill>
          <a:blip r:embed="rId1"/>
          <a:stretch>
            <a:fillRect/>
          </a:stretch>
        </p:blipFill>
        <p:spPr>
          <a:xfrm>
            <a:off x="7104888" y="2212848"/>
            <a:ext cx="237744" cy="237744"/>
          </a:xfrm>
          <a:prstGeom prst="rect">
            <a:avLst/>
          </a:prstGeom>
        </p:spPr>
      </p:pic>
      <p:sp>
        <p:nvSpPr>
          <p:cNvPr id="13" name="Text 9"/>
          <p:cNvSpPr txBox="1"/>
          <p:nvPr/>
        </p:nvSpPr>
        <p:spPr>
          <a:xfrm>
            <a:off x="7589520" y="2029968"/>
            <a:ext cx="3931920" cy="64008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Shade: 3.5–4.5 m² per adult, roof height ≥ 4 m, open sides</a:t>
            </a:r>
            <a:endParaRPr lang="en-US" sz="1150" dirty="0"/>
          </a:p>
        </p:txBody>
      </p:sp>
      <p:sp>
        <p:nvSpPr>
          <p:cNvPr id="14" name="Shape 10"/>
          <p:cNvSpPr/>
          <p:nvPr/>
        </p:nvSpPr>
        <p:spPr>
          <a:xfrm>
            <a:off x="6995160" y="2880360"/>
            <a:ext cx="457200" cy="457200"/>
          </a:xfrm>
          <a:prstGeom prst="ellipse">
            <a:avLst/>
          </a:prstGeom>
          <a:solidFill>
            <a:srgbClr val="2C5F2D"/>
          </a:solidFill>
          <a:ln w="12700">
            <a:solidFill>
              <a:srgbClr val="2C5F2D"/>
            </a:solidFill>
            <a:prstDash val="solid"/>
          </a:ln>
        </p:spPr>
      </p:sp>
      <p:pic>
        <p:nvPicPr>
          <p:cNvPr id="15" name="Image 1" descr="preencoded.png">    </p:cNvPr>
          <p:cNvPicPr>
            <a:picLocks noChangeAspect="1"/>
          </p:cNvPicPr>
          <p:nvPr/>
        </p:nvPicPr>
        <p:blipFill>
          <a:blip r:embed="rId2"/>
          <a:stretch>
            <a:fillRect/>
          </a:stretch>
        </p:blipFill>
        <p:spPr>
          <a:xfrm>
            <a:off x="7104888" y="2990088"/>
            <a:ext cx="237744" cy="237744"/>
          </a:xfrm>
          <a:prstGeom prst="rect">
            <a:avLst/>
          </a:prstGeom>
        </p:spPr>
      </p:pic>
      <p:sp>
        <p:nvSpPr>
          <p:cNvPr id="16" name="Text 11"/>
          <p:cNvSpPr txBox="1"/>
          <p:nvPr/>
        </p:nvSpPr>
        <p:spPr>
          <a:xfrm>
            <a:off x="7589520" y="2807208"/>
            <a:ext cx="3931920" cy="64008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Water: unlimited, cool, ≥ 10 cm trough per animal; buffalo wallow or sprinkler</a:t>
            </a:r>
            <a:endParaRPr lang="en-US" sz="1150" dirty="0"/>
          </a:p>
        </p:txBody>
      </p:sp>
      <p:sp>
        <p:nvSpPr>
          <p:cNvPr id="17" name="Shape 12"/>
          <p:cNvSpPr/>
          <p:nvPr/>
        </p:nvSpPr>
        <p:spPr>
          <a:xfrm>
            <a:off x="6995160" y="3657600"/>
            <a:ext cx="457200" cy="457200"/>
          </a:xfrm>
          <a:prstGeom prst="ellipse">
            <a:avLst/>
          </a:prstGeom>
          <a:solidFill>
            <a:srgbClr val="2C5F2D"/>
          </a:solidFill>
          <a:ln w="12700">
            <a:solidFill>
              <a:srgbClr val="2C5F2D"/>
            </a:solidFill>
            <a:prstDash val="solid"/>
          </a:ln>
        </p:spPr>
      </p:sp>
      <p:pic>
        <p:nvPicPr>
          <p:cNvPr id="18" name="Image 2" descr="preencoded.png">    </p:cNvPr>
          <p:cNvPicPr>
            <a:picLocks noChangeAspect="1"/>
          </p:cNvPicPr>
          <p:nvPr/>
        </p:nvPicPr>
        <p:blipFill>
          <a:blip r:embed="rId3"/>
          <a:stretch>
            <a:fillRect/>
          </a:stretch>
        </p:blipFill>
        <p:spPr>
          <a:xfrm>
            <a:off x="7104888" y="3767328"/>
            <a:ext cx="237744" cy="237744"/>
          </a:xfrm>
          <a:prstGeom prst="rect">
            <a:avLst/>
          </a:prstGeom>
        </p:spPr>
      </p:pic>
      <p:sp>
        <p:nvSpPr>
          <p:cNvPr id="19" name="Text 13"/>
          <p:cNvSpPr txBox="1"/>
          <p:nvPr/>
        </p:nvSpPr>
        <p:spPr>
          <a:xfrm>
            <a:off x="7589520" y="3584448"/>
            <a:ext cx="3931920" cy="64008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Fans + soaking cycles at feed line and holding area when THI &gt; 72</a:t>
            </a:r>
            <a:endParaRPr lang="en-US" sz="1150" dirty="0"/>
          </a:p>
        </p:txBody>
      </p:sp>
      <p:sp>
        <p:nvSpPr>
          <p:cNvPr id="20" name="Shape 14"/>
          <p:cNvSpPr/>
          <p:nvPr/>
        </p:nvSpPr>
        <p:spPr>
          <a:xfrm>
            <a:off x="6995160" y="4434840"/>
            <a:ext cx="457200" cy="457200"/>
          </a:xfrm>
          <a:prstGeom prst="ellipse">
            <a:avLst/>
          </a:prstGeom>
          <a:solidFill>
            <a:srgbClr val="2C5F2D"/>
          </a:solidFill>
          <a:ln w="12700">
            <a:solidFill>
              <a:srgbClr val="2C5F2D"/>
            </a:solidFill>
            <a:prstDash val="solid"/>
          </a:ln>
        </p:spPr>
      </p:sp>
      <p:pic>
        <p:nvPicPr>
          <p:cNvPr id="21" name="Image 3" descr="preencoded.png">    </p:cNvPr>
          <p:cNvPicPr>
            <a:picLocks noChangeAspect="1"/>
          </p:cNvPicPr>
          <p:nvPr/>
        </p:nvPicPr>
        <p:blipFill>
          <a:blip r:embed="rId4"/>
          <a:stretch>
            <a:fillRect/>
          </a:stretch>
        </p:blipFill>
        <p:spPr>
          <a:xfrm>
            <a:off x="7104888" y="4544568"/>
            <a:ext cx="237744" cy="237744"/>
          </a:xfrm>
          <a:prstGeom prst="rect">
            <a:avLst/>
          </a:prstGeom>
        </p:spPr>
      </p:pic>
      <p:sp>
        <p:nvSpPr>
          <p:cNvPr id="22" name="Text 15"/>
          <p:cNvSpPr txBox="1"/>
          <p:nvPr/>
        </p:nvSpPr>
        <p:spPr>
          <a:xfrm>
            <a:off x="7589520" y="4361688"/>
            <a:ext cx="3931920" cy="64008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Feed 60–70% of the ration in the evening/night; fresh feed, more forage quality, less heat of fermentation</a:t>
            </a:r>
            <a:endParaRPr lang="en-US" sz="1150" dirty="0"/>
          </a:p>
        </p:txBody>
      </p:sp>
      <p:sp>
        <p:nvSpPr>
          <p:cNvPr id="23" name="Shape 16"/>
          <p:cNvSpPr/>
          <p:nvPr/>
        </p:nvSpPr>
        <p:spPr>
          <a:xfrm>
            <a:off x="6995160" y="5212080"/>
            <a:ext cx="457200" cy="457200"/>
          </a:xfrm>
          <a:prstGeom prst="ellipse">
            <a:avLst/>
          </a:prstGeom>
          <a:solidFill>
            <a:srgbClr val="2C5F2D"/>
          </a:solidFill>
          <a:ln w="12700">
            <a:solidFill>
              <a:srgbClr val="2C5F2D"/>
            </a:solidFill>
            <a:prstDash val="solid"/>
          </a:ln>
        </p:spPr>
      </p:sp>
      <p:pic>
        <p:nvPicPr>
          <p:cNvPr id="24" name="Image 4" descr="preencoded.png">    </p:cNvPr>
          <p:cNvPicPr>
            <a:picLocks noChangeAspect="1"/>
          </p:cNvPicPr>
          <p:nvPr/>
        </p:nvPicPr>
        <p:blipFill>
          <a:blip r:embed="rId5"/>
          <a:stretch>
            <a:fillRect/>
          </a:stretch>
        </p:blipFill>
        <p:spPr>
          <a:xfrm>
            <a:off x="7104888" y="5321808"/>
            <a:ext cx="237744" cy="237744"/>
          </a:xfrm>
          <a:prstGeom prst="rect">
            <a:avLst/>
          </a:prstGeom>
        </p:spPr>
      </p:pic>
      <p:sp>
        <p:nvSpPr>
          <p:cNvPr id="25" name="Text 17"/>
          <p:cNvSpPr txBox="1"/>
          <p:nvPr/>
        </p:nvSpPr>
        <p:spPr>
          <a:xfrm>
            <a:off x="7589520" y="5138928"/>
            <a:ext cx="3931920" cy="64008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Breed in the cooler months where possible; use timed AI; expect lower conception in peak heat</a:t>
            </a:r>
            <a:endParaRPr lang="en-US" sz="1150" dirty="0"/>
          </a:p>
        </p:txBody>
      </p:sp>
      <p:sp>
        <p:nvSpPr>
          <p:cNvPr id="26" name="Text 18"/>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27" name="Text 1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2 · HEALTH</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Biosecurity — keep it out, keep it in, keep records</a:t>
            </a:r>
            <a:endParaRPr lang="en-US" sz="2600" dirty="0"/>
          </a:p>
        </p:txBody>
      </p:sp>
      <p:sp>
        <p:nvSpPr>
          <p:cNvPr id="4" name="Shape 2"/>
          <p:cNvSpPr/>
          <p:nvPr/>
        </p:nvSpPr>
        <p:spPr>
          <a:xfrm>
            <a:off x="548640" y="1463040"/>
            <a:ext cx="3611880" cy="4663440"/>
          </a:xfrm>
          <a:prstGeom prst="roundRect">
            <a:avLst>
              <a:gd name="adj" fmla="val 3038"/>
            </a:avLst>
          </a:prstGeom>
          <a:solidFill>
            <a:srgbClr val="F6F9F2"/>
          </a:solidFill>
          <a:ln w="12700">
            <a:solidFill>
              <a:srgbClr val="F6F9F2"/>
            </a:solidFill>
            <a:prstDash val="solid"/>
          </a:ln>
        </p:spPr>
      </p:sp>
      <p:sp>
        <p:nvSpPr>
          <p:cNvPr id="5" name="Shape 3"/>
          <p:cNvSpPr/>
          <p:nvPr/>
        </p:nvSpPr>
        <p:spPr>
          <a:xfrm>
            <a:off x="777240" y="1691640"/>
            <a:ext cx="640080" cy="640080"/>
          </a:xfrm>
          <a:prstGeom prst="ellipse">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930859" y="1845259"/>
            <a:ext cx="332842" cy="332842"/>
          </a:xfrm>
          <a:prstGeom prst="rect">
            <a:avLst/>
          </a:prstGeom>
        </p:spPr>
      </p:pic>
      <p:sp>
        <p:nvSpPr>
          <p:cNvPr id="7" name="Text 4"/>
          <p:cNvSpPr txBox="1"/>
          <p:nvPr/>
        </p:nvSpPr>
        <p:spPr>
          <a:xfrm>
            <a:off x="1554480" y="1691640"/>
            <a:ext cx="2468880" cy="6400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Keep it out</a:t>
            </a:r>
            <a:endParaRPr lang="en-US" sz="1600" dirty="0"/>
          </a:p>
        </p:txBody>
      </p:sp>
      <p:sp>
        <p:nvSpPr>
          <p:cNvPr id="8" name="Text 5"/>
          <p:cNvSpPr txBox="1"/>
          <p:nvPr/>
        </p:nvSpPr>
        <p:spPr>
          <a:xfrm>
            <a:off x="777240" y="2514600"/>
            <a:ext cx="3154680" cy="356616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Single controlled entry; visitors and vehicles disinfected</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Quarantine new animals 30 days, test before mixing</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Buy from known herds; check vaccination and test papers</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Feed and bedding from clean sources; rodent and bird control</a:t>
            </a:r>
            <a:endParaRPr lang="en-US" sz="1150" dirty="0"/>
          </a:p>
        </p:txBody>
      </p:sp>
      <p:sp>
        <p:nvSpPr>
          <p:cNvPr id="9" name="Shape 6"/>
          <p:cNvSpPr/>
          <p:nvPr/>
        </p:nvSpPr>
        <p:spPr>
          <a:xfrm>
            <a:off x="4297680" y="1463040"/>
            <a:ext cx="3611880" cy="4663440"/>
          </a:xfrm>
          <a:prstGeom prst="roundRect">
            <a:avLst>
              <a:gd name="adj" fmla="val 3038"/>
            </a:avLst>
          </a:prstGeom>
          <a:solidFill>
            <a:srgbClr val="F6F9F2"/>
          </a:solidFill>
          <a:ln w="12700">
            <a:solidFill>
              <a:srgbClr val="F6F9F2"/>
            </a:solidFill>
            <a:prstDash val="solid"/>
          </a:ln>
        </p:spPr>
      </p:sp>
      <p:sp>
        <p:nvSpPr>
          <p:cNvPr id="10" name="Shape 7"/>
          <p:cNvSpPr/>
          <p:nvPr/>
        </p:nvSpPr>
        <p:spPr>
          <a:xfrm>
            <a:off x="4526280" y="1691640"/>
            <a:ext cx="640080" cy="640080"/>
          </a:xfrm>
          <a:prstGeom prst="ellipse">
            <a:avLst/>
          </a:prstGeom>
          <a:solidFill>
            <a:srgbClr val="2C5F2D"/>
          </a:solidFill>
          <a:ln w="12700">
            <a:solidFill>
              <a:srgbClr val="2C5F2D"/>
            </a:solidFill>
            <a:prstDash val="solid"/>
          </a:ln>
        </p:spPr>
      </p:sp>
      <p:pic>
        <p:nvPicPr>
          <p:cNvPr id="11" name="Image 1" descr="preencoded.png">    </p:cNvPr>
          <p:cNvPicPr>
            <a:picLocks noChangeAspect="1"/>
          </p:cNvPicPr>
          <p:nvPr/>
        </p:nvPicPr>
        <p:blipFill>
          <a:blip r:embed="rId2"/>
          <a:stretch>
            <a:fillRect/>
          </a:stretch>
        </p:blipFill>
        <p:spPr>
          <a:xfrm>
            <a:off x="4679899" y="1845259"/>
            <a:ext cx="332842" cy="332842"/>
          </a:xfrm>
          <a:prstGeom prst="rect">
            <a:avLst/>
          </a:prstGeom>
        </p:spPr>
      </p:pic>
      <p:sp>
        <p:nvSpPr>
          <p:cNvPr id="12" name="Text 8"/>
          <p:cNvSpPr txBox="1"/>
          <p:nvPr/>
        </p:nvSpPr>
        <p:spPr>
          <a:xfrm>
            <a:off x="5303520" y="1691640"/>
            <a:ext cx="2468880" cy="6400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Keep it in (contain)</a:t>
            </a:r>
            <a:endParaRPr lang="en-US" sz="1600" dirty="0"/>
          </a:p>
        </p:txBody>
      </p:sp>
      <p:sp>
        <p:nvSpPr>
          <p:cNvPr id="13" name="Text 9"/>
          <p:cNvSpPr txBox="1"/>
          <p:nvPr/>
        </p:nvSpPr>
        <p:spPr>
          <a:xfrm>
            <a:off x="4526280" y="2514600"/>
            <a:ext cx="3154680" cy="356616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Isolate sick animals; treat and milk them last</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Footbaths and separate tools for the sick pen</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Safe carcass disposal; never sell sick animals into the market</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Report notifiable diseases (FMD, HS, anthrax, brucellosis, TB) immediately</a:t>
            </a:r>
            <a:endParaRPr lang="en-US" sz="1150" dirty="0"/>
          </a:p>
        </p:txBody>
      </p:sp>
      <p:sp>
        <p:nvSpPr>
          <p:cNvPr id="14" name="Shape 10"/>
          <p:cNvSpPr/>
          <p:nvPr/>
        </p:nvSpPr>
        <p:spPr>
          <a:xfrm>
            <a:off x="8046720" y="1463040"/>
            <a:ext cx="3611880" cy="4663440"/>
          </a:xfrm>
          <a:prstGeom prst="roundRect">
            <a:avLst>
              <a:gd name="adj" fmla="val 3038"/>
            </a:avLst>
          </a:prstGeom>
          <a:solidFill>
            <a:srgbClr val="F6F9F2"/>
          </a:solidFill>
          <a:ln w="12700">
            <a:solidFill>
              <a:srgbClr val="F6F9F2"/>
            </a:solidFill>
            <a:prstDash val="solid"/>
          </a:ln>
        </p:spPr>
      </p:sp>
      <p:sp>
        <p:nvSpPr>
          <p:cNvPr id="15" name="Shape 11"/>
          <p:cNvSpPr/>
          <p:nvPr/>
        </p:nvSpPr>
        <p:spPr>
          <a:xfrm>
            <a:off x="8275320" y="1691640"/>
            <a:ext cx="640080" cy="640080"/>
          </a:xfrm>
          <a:prstGeom prst="ellipse">
            <a:avLst/>
          </a:prstGeom>
          <a:solidFill>
            <a:srgbClr val="2C5F2D"/>
          </a:solidFill>
          <a:ln w="12700">
            <a:solidFill>
              <a:srgbClr val="2C5F2D"/>
            </a:solidFill>
            <a:prstDash val="solid"/>
          </a:ln>
        </p:spPr>
      </p:sp>
      <p:pic>
        <p:nvPicPr>
          <p:cNvPr id="16" name="Image 2" descr="preencoded.png">    </p:cNvPr>
          <p:cNvPicPr>
            <a:picLocks noChangeAspect="1"/>
          </p:cNvPicPr>
          <p:nvPr/>
        </p:nvPicPr>
        <p:blipFill>
          <a:blip r:embed="rId3"/>
          <a:stretch>
            <a:fillRect/>
          </a:stretch>
        </p:blipFill>
        <p:spPr>
          <a:xfrm>
            <a:off x="8428939" y="1845259"/>
            <a:ext cx="332842" cy="332842"/>
          </a:xfrm>
          <a:prstGeom prst="rect">
            <a:avLst/>
          </a:prstGeom>
        </p:spPr>
      </p:pic>
      <p:sp>
        <p:nvSpPr>
          <p:cNvPr id="17" name="Text 12"/>
          <p:cNvSpPr txBox="1"/>
          <p:nvPr/>
        </p:nvSpPr>
        <p:spPr>
          <a:xfrm>
            <a:off x="9052560" y="1691640"/>
            <a:ext cx="2468880" cy="6400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Programme</a:t>
            </a:r>
            <a:endParaRPr lang="en-US" sz="1600" dirty="0"/>
          </a:p>
        </p:txBody>
      </p:sp>
      <p:sp>
        <p:nvSpPr>
          <p:cNvPr id="18" name="Text 13"/>
          <p:cNvSpPr txBox="1"/>
          <p:nvPr/>
        </p:nvSpPr>
        <p:spPr>
          <a:xfrm>
            <a:off x="8275320" y="2514600"/>
            <a:ext cx="3154680" cy="356616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Vaccination per DA-BAI / PCC schedule: FMD, haemorrhagic septicaemia, others as advised</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Strategic deworming and tick/fly control; monitor with faecal counts</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Brucellosis and TB testing where the programme applies</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Every vaccination, test and treatment entered in iHealth</a:t>
            </a:r>
            <a:endParaRPr lang="en-US" sz="1150" dirty="0"/>
          </a:p>
        </p:txBody>
      </p:sp>
      <p:sp>
        <p:nvSpPr>
          <p:cNvPr id="19" name="Text 1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20" name="Text 1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2 · HEALTH</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Records and responsible drug use make data useful</a:t>
            </a:r>
            <a:endParaRPr lang="en-US" sz="2600" dirty="0"/>
          </a:p>
        </p:txBody>
      </p:sp>
      <p:sp>
        <p:nvSpPr>
          <p:cNvPr id="4" name="Shape 2"/>
          <p:cNvSpPr/>
          <p:nvPr/>
        </p:nvSpPr>
        <p:spPr>
          <a:xfrm>
            <a:off x="548640" y="1463040"/>
            <a:ext cx="5486400" cy="4663440"/>
          </a:xfrm>
          <a:prstGeom prst="roundRect">
            <a:avLst>
              <a:gd name="adj" fmla="val 2353"/>
            </a:avLst>
          </a:prstGeom>
          <a:solidFill>
            <a:srgbClr val="EEF4E6"/>
          </a:solidFill>
          <a:ln w="12700">
            <a:solidFill>
              <a:srgbClr val="EEF4E6"/>
            </a:solidFill>
            <a:prstDash val="solid"/>
          </a:ln>
        </p:spPr>
      </p:sp>
      <p:sp>
        <p:nvSpPr>
          <p:cNvPr id="5" name="Text 3"/>
          <p:cNvSpPr txBox="1"/>
          <p:nvPr/>
        </p:nvSpPr>
        <p:spPr>
          <a:xfrm>
            <a:off x="777240" y="1600200"/>
            <a:ext cx="502920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Minimum record set per animal (NDHIS / iHealth)</a:t>
            </a:r>
            <a:endParaRPr lang="en-US" sz="1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77240" y="2057400"/>
          <a:ext cx="5029200" cy="914400"/>
        </p:xfrm>
        <a:graphic>
          <a:graphicData uri="http://schemas.openxmlformats.org/drawingml/2006/table">
            <a:tbl>
              <a:tblPr/>
              <a:tblGrid>
                <a:gridCol w="1280160"/>
                <a:gridCol w="374904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Event</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Fields</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r>
              <a:tr h="384048">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Identification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ID / ear tag, breed, birth date, dam, sire</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Reproduction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Heat date, AI date + sire + technician, PD result + date, calving date + ease + calf ID</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384048">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Health</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Diagnosis, treatment, product, dose, route, dates, withdrawal end date, outcome</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Production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Milk yield per test day, SCC/CMT, body condition, weight</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384048">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Movements</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Purchase, sale, death with reason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777240" y="5394960"/>
            <a:ext cx="5029200" cy="640080"/>
          </a:xfrm>
          <a:prstGeom prst="rect">
            <a:avLst/>
          </a:prstGeom>
          <a:noFill/>
          <a:ln/>
        </p:spPr>
        <p:txBody>
          <a:bodyPr wrap="square" lIns="0" tIns="0" rIns="0" bIns="0" rtlCol="0" anchor="ctr"/>
          <a:lstStyle/>
          <a:p>
            <a:pPr indent="0" marL="0">
              <a:buNone/>
            </a:pPr>
            <a:r>
              <a:rPr lang="en-US" sz="1200" i="1" dirty="0">
                <a:solidFill>
                  <a:srgbClr val="2C5F2D"/>
                </a:solidFill>
                <a:latin typeface="Calibri" pitchFamily="34" charset="0"/>
                <a:ea typeface="Calibri" pitchFamily="34" charset="-122"/>
                <a:cs typeface="Calibri" pitchFamily="34" charset="-120"/>
              </a:rPr>
              <a:t>A record you cannot find in one minute does not exist. Enter on the day, on the phone.</a:t>
            </a:r>
            <a:endParaRPr lang="en-US" sz="1200" dirty="0"/>
          </a:p>
        </p:txBody>
      </p:sp>
      <p:sp>
        <p:nvSpPr>
          <p:cNvPr id="8" name="Shape 5"/>
          <p:cNvSpPr/>
          <p:nvPr/>
        </p:nvSpPr>
        <p:spPr>
          <a:xfrm>
            <a:off x="6263640" y="1463040"/>
            <a:ext cx="5394960" cy="4663440"/>
          </a:xfrm>
          <a:prstGeom prst="roundRect">
            <a:avLst>
              <a:gd name="adj" fmla="val 2353"/>
            </a:avLst>
          </a:prstGeom>
          <a:solidFill>
            <a:srgbClr val="F6F9F2"/>
          </a:solidFill>
          <a:ln w="12700">
            <a:solidFill>
              <a:srgbClr val="F6F9F2"/>
            </a:solidFill>
            <a:prstDash val="solid"/>
          </a:ln>
        </p:spPr>
      </p:sp>
      <p:sp>
        <p:nvSpPr>
          <p:cNvPr id="9" name="Text 6"/>
          <p:cNvSpPr txBox="1"/>
          <p:nvPr/>
        </p:nvSpPr>
        <p:spPr>
          <a:xfrm>
            <a:off x="6492240" y="1600200"/>
            <a:ext cx="493776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Golden rules for veterinary drugs</a:t>
            </a:r>
            <a:endParaRPr lang="en-US" sz="1500" dirty="0"/>
          </a:p>
        </p:txBody>
      </p:sp>
      <p:pic>
        <p:nvPicPr>
          <p:cNvPr id="10" name="Image 0" descr="preencoded.png">    </p:cNvPr>
          <p:cNvPicPr>
            <a:picLocks noChangeAspect="1"/>
          </p:cNvPicPr>
          <p:nvPr/>
        </p:nvPicPr>
        <p:blipFill>
          <a:blip r:embed="rId1"/>
          <a:stretch>
            <a:fillRect/>
          </a:stretch>
        </p:blipFill>
        <p:spPr>
          <a:xfrm>
            <a:off x="6492240" y="2176272"/>
            <a:ext cx="292608" cy="292608"/>
          </a:xfrm>
          <a:prstGeom prst="rect">
            <a:avLst/>
          </a:prstGeom>
        </p:spPr>
      </p:pic>
      <p:sp>
        <p:nvSpPr>
          <p:cNvPr id="11" name="Text 7"/>
          <p:cNvSpPr txBox="1"/>
          <p:nvPr/>
        </p:nvSpPr>
        <p:spPr>
          <a:xfrm>
            <a:off x="6903720" y="2103120"/>
            <a:ext cx="4526280" cy="45720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Diagnosis first — a thermometer and CMT before a syringe</a:t>
            </a:r>
            <a:endParaRPr lang="en-US" sz="1150" dirty="0"/>
          </a:p>
        </p:txBody>
      </p:sp>
      <p:pic>
        <p:nvPicPr>
          <p:cNvPr id="12" name="Image 1" descr="preencoded.png">    </p:cNvPr>
          <p:cNvPicPr>
            <a:picLocks noChangeAspect="1"/>
          </p:cNvPicPr>
          <p:nvPr/>
        </p:nvPicPr>
        <p:blipFill>
          <a:blip r:embed="rId2"/>
          <a:stretch>
            <a:fillRect/>
          </a:stretch>
        </p:blipFill>
        <p:spPr>
          <a:xfrm>
            <a:off x="6492240" y="2724912"/>
            <a:ext cx="292608" cy="292608"/>
          </a:xfrm>
          <a:prstGeom prst="rect">
            <a:avLst/>
          </a:prstGeom>
        </p:spPr>
      </p:pic>
      <p:sp>
        <p:nvSpPr>
          <p:cNvPr id="13" name="Text 8"/>
          <p:cNvSpPr txBox="1"/>
          <p:nvPr/>
        </p:nvSpPr>
        <p:spPr>
          <a:xfrm>
            <a:off x="6903720" y="2651760"/>
            <a:ext cx="4526280" cy="45720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Only products registered for the species; prescription products only under the veterinarian</a:t>
            </a:r>
            <a:endParaRPr lang="en-US" sz="1150" dirty="0"/>
          </a:p>
        </p:txBody>
      </p:sp>
      <p:pic>
        <p:nvPicPr>
          <p:cNvPr id="14" name="Image 2" descr="preencoded.png">    </p:cNvPr>
          <p:cNvPicPr>
            <a:picLocks noChangeAspect="1"/>
          </p:cNvPicPr>
          <p:nvPr/>
        </p:nvPicPr>
        <p:blipFill>
          <a:blip r:embed="rId3"/>
          <a:stretch>
            <a:fillRect/>
          </a:stretch>
        </p:blipFill>
        <p:spPr>
          <a:xfrm>
            <a:off x="6492240" y="3273552"/>
            <a:ext cx="292608" cy="292608"/>
          </a:xfrm>
          <a:prstGeom prst="rect">
            <a:avLst/>
          </a:prstGeom>
        </p:spPr>
      </p:pic>
      <p:sp>
        <p:nvSpPr>
          <p:cNvPr id="15" name="Text 9"/>
          <p:cNvSpPr txBox="1"/>
          <p:nvPr/>
        </p:nvSpPr>
        <p:spPr>
          <a:xfrm>
            <a:off x="6903720" y="3200400"/>
            <a:ext cx="4526280" cy="45720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Dose by body weight (weigh tape), correct route (IM / SC / IV / IMM), full course</a:t>
            </a:r>
            <a:endParaRPr lang="en-US" sz="1150" dirty="0"/>
          </a:p>
        </p:txBody>
      </p:sp>
      <p:pic>
        <p:nvPicPr>
          <p:cNvPr id="16" name="Image 3" descr="preencoded.png">    </p:cNvPr>
          <p:cNvPicPr>
            <a:picLocks noChangeAspect="1"/>
          </p:cNvPicPr>
          <p:nvPr/>
        </p:nvPicPr>
        <p:blipFill>
          <a:blip r:embed="rId4"/>
          <a:stretch>
            <a:fillRect/>
          </a:stretch>
        </p:blipFill>
        <p:spPr>
          <a:xfrm>
            <a:off x="6492240" y="3822192"/>
            <a:ext cx="292608" cy="292608"/>
          </a:xfrm>
          <a:prstGeom prst="rect">
            <a:avLst/>
          </a:prstGeom>
        </p:spPr>
      </p:pic>
      <p:sp>
        <p:nvSpPr>
          <p:cNvPr id="17" name="Text 10"/>
          <p:cNvSpPr txBox="1"/>
          <p:nvPr/>
        </p:nvSpPr>
        <p:spPr>
          <a:xfrm>
            <a:off x="6903720" y="3749040"/>
            <a:ext cx="4526280" cy="45720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One sterile needle per animal; clean injection sites; separate IMM tubes</a:t>
            </a:r>
            <a:endParaRPr lang="en-US" sz="1150" dirty="0"/>
          </a:p>
        </p:txBody>
      </p:sp>
      <p:pic>
        <p:nvPicPr>
          <p:cNvPr id="18" name="Image 4" descr="preencoded.png">    </p:cNvPr>
          <p:cNvPicPr>
            <a:picLocks noChangeAspect="1"/>
          </p:cNvPicPr>
          <p:nvPr/>
        </p:nvPicPr>
        <p:blipFill>
          <a:blip r:embed="rId5"/>
          <a:stretch>
            <a:fillRect/>
          </a:stretch>
        </p:blipFill>
        <p:spPr>
          <a:xfrm>
            <a:off x="6492240" y="4370832"/>
            <a:ext cx="292608" cy="292608"/>
          </a:xfrm>
          <a:prstGeom prst="rect">
            <a:avLst/>
          </a:prstGeom>
        </p:spPr>
      </p:pic>
      <p:sp>
        <p:nvSpPr>
          <p:cNvPr id="19" name="Text 11"/>
          <p:cNvSpPr txBox="1"/>
          <p:nvPr/>
        </p:nvSpPr>
        <p:spPr>
          <a:xfrm>
            <a:off x="6903720" y="4297680"/>
            <a:ext cx="4526280" cy="45720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Withdrawal period: mark the animal, record start and end dates, keep milk out of the tank</a:t>
            </a:r>
            <a:endParaRPr lang="en-US" sz="1150" dirty="0"/>
          </a:p>
        </p:txBody>
      </p:sp>
      <p:pic>
        <p:nvPicPr>
          <p:cNvPr id="20" name="Image 5" descr="preencoded.png">    </p:cNvPr>
          <p:cNvPicPr>
            <a:picLocks noChangeAspect="1"/>
          </p:cNvPicPr>
          <p:nvPr/>
        </p:nvPicPr>
        <p:blipFill>
          <a:blip r:embed="rId6"/>
          <a:stretch>
            <a:fillRect/>
          </a:stretch>
        </p:blipFill>
        <p:spPr>
          <a:xfrm>
            <a:off x="6492240" y="4919472"/>
            <a:ext cx="292608" cy="292608"/>
          </a:xfrm>
          <a:prstGeom prst="rect">
            <a:avLst/>
          </a:prstGeom>
        </p:spPr>
      </p:pic>
      <p:sp>
        <p:nvSpPr>
          <p:cNvPr id="21" name="Text 12"/>
          <p:cNvSpPr txBox="1"/>
          <p:nvPr/>
        </p:nvSpPr>
        <p:spPr>
          <a:xfrm>
            <a:off x="6903720" y="4846320"/>
            <a:ext cx="4526280" cy="45720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Store cool, dark, dry; check expiry; never mix products in one syringe</a:t>
            </a:r>
            <a:endParaRPr lang="en-US" sz="1150" dirty="0"/>
          </a:p>
        </p:txBody>
      </p:sp>
      <p:pic>
        <p:nvPicPr>
          <p:cNvPr id="22" name="Image 6" descr="preencoded.png">    </p:cNvPr>
          <p:cNvPicPr>
            <a:picLocks noChangeAspect="1"/>
          </p:cNvPicPr>
          <p:nvPr/>
        </p:nvPicPr>
        <p:blipFill>
          <a:blip r:embed="rId7"/>
          <a:stretch>
            <a:fillRect/>
          </a:stretch>
        </p:blipFill>
        <p:spPr>
          <a:xfrm>
            <a:off x="6492240" y="5468112"/>
            <a:ext cx="292608" cy="292608"/>
          </a:xfrm>
          <a:prstGeom prst="rect">
            <a:avLst/>
          </a:prstGeom>
        </p:spPr>
      </p:pic>
      <p:sp>
        <p:nvSpPr>
          <p:cNvPr id="23" name="Text 13"/>
          <p:cNvSpPr txBox="1"/>
          <p:nvPr/>
        </p:nvSpPr>
        <p:spPr>
          <a:xfrm>
            <a:off x="6903720" y="5394960"/>
            <a:ext cx="4526280" cy="45720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Record every treatment the same day — this is also your legal protection</a:t>
            </a:r>
            <a:endParaRPr lang="en-US" sz="1150" dirty="0"/>
          </a:p>
        </p:txBody>
      </p:sp>
      <p:sp>
        <p:nvSpPr>
          <p:cNvPr id="24" name="Text 1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25" name="Text 1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548640" y="2103120"/>
            <a:ext cx="1188720" cy="1188720"/>
          </a:xfrm>
          <a:prstGeom prst="ellipse">
            <a:avLst/>
          </a:prstGeom>
          <a:solidFill>
            <a:srgbClr val="97BC62"/>
          </a:solidFill>
          <a:ln w="12700">
            <a:solidFill>
              <a:srgbClr val="97BC62"/>
            </a:solidFill>
            <a:prstDash val="solid"/>
          </a:ln>
        </p:spPr>
      </p:sp>
      <p:pic>
        <p:nvPicPr>
          <p:cNvPr id="3" name="Image 0" descr="preencoded.png">    </p:cNvPr>
          <p:cNvPicPr>
            <a:picLocks noChangeAspect="1"/>
          </p:cNvPicPr>
          <p:nvPr/>
        </p:nvPicPr>
        <p:blipFill>
          <a:blip r:embed="rId1"/>
          <a:stretch>
            <a:fillRect/>
          </a:stretch>
        </p:blipFill>
        <p:spPr>
          <a:xfrm>
            <a:off x="833933" y="2388413"/>
            <a:ext cx="618134" cy="618134"/>
          </a:xfrm>
          <a:prstGeom prst="rect">
            <a:avLst/>
          </a:prstGeom>
        </p:spPr>
      </p:pic>
      <p:sp>
        <p:nvSpPr>
          <p:cNvPr id="4" name="Text 1"/>
          <p:cNvSpPr txBox="1"/>
          <p:nvPr/>
        </p:nvSpPr>
        <p:spPr>
          <a:xfrm>
            <a:off x="548640" y="3520440"/>
            <a:ext cx="5486400" cy="320040"/>
          </a:xfrm>
          <a:prstGeom prst="rect">
            <a:avLst/>
          </a:prstGeom>
          <a:noFill/>
          <a:ln/>
        </p:spPr>
        <p:txBody>
          <a:bodyPr wrap="square" lIns="0" tIns="0" rIns="0" bIns="0" rtlCol="0" anchor="ctr"/>
          <a:lstStyle/>
          <a:p>
            <a:pPr indent="0" marL="0">
              <a:buNone/>
            </a:pPr>
            <a:r>
              <a:rPr lang="en-US" sz="1300" b="1" spc="300" kern="0" dirty="0">
                <a:solidFill>
                  <a:srgbClr val="97BC62"/>
                </a:solidFill>
                <a:latin typeface="Calibri" pitchFamily="34" charset="0"/>
                <a:ea typeface="Calibri" pitchFamily="34" charset="-122"/>
                <a:cs typeface="Calibri" pitchFamily="34" charset="-120"/>
              </a:rPr>
              <a:t>MODULE 3</a:t>
            </a:r>
            <a:endParaRPr lang="en-US" sz="1300" dirty="0"/>
          </a:p>
        </p:txBody>
      </p:sp>
      <p:sp>
        <p:nvSpPr>
          <p:cNvPr id="5" name="Text 2"/>
          <p:cNvSpPr txBox="1"/>
          <p:nvPr/>
        </p:nvSpPr>
        <p:spPr>
          <a:xfrm>
            <a:off x="548640" y="384048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Digital herd monitoring</a:t>
            </a:r>
            <a:endParaRPr lang="en-US" sz="4000" dirty="0"/>
          </a:p>
        </p:txBody>
      </p:sp>
      <p:sp>
        <p:nvSpPr>
          <p:cNvPr id="6" name="Text 3"/>
          <p:cNvSpPr txBox="1"/>
          <p:nvPr/>
        </p:nvSpPr>
        <p:spPr>
          <a:xfrm>
            <a:off x="548640" y="4800600"/>
            <a:ext cx="10058400" cy="731520"/>
          </a:xfrm>
          <a:prstGeom prst="rect">
            <a:avLst/>
          </a:prstGeom>
          <a:noFill/>
          <a:ln/>
        </p:spPr>
        <p:txBody>
          <a:bodyPr wrap="square" lIns="0" tIns="0" rIns="0" bIns="0" rtlCol="0" anchor="ctr"/>
          <a:lstStyle/>
          <a:p>
            <a:pPr indent="0" marL="0">
              <a:buNone/>
            </a:pPr>
            <a:r>
              <a:rPr lang="en-US" sz="1600" dirty="0">
                <a:solidFill>
                  <a:srgbClr val="EEF4E6"/>
                </a:solidFill>
                <a:latin typeface="Calibri" pitchFamily="34" charset="0"/>
                <a:ea typeface="Calibri" pitchFamily="34" charset="-122"/>
                <a:cs typeface="Calibri" pitchFamily="34" charset="-120"/>
              </a:rPr>
              <a:t>Rumen bolus sensors: what they measure, the alerts they generate, real cases, integration with NDHIS / iHealth / iFeed, and how to design the Philippine pilot.</a:t>
            </a:r>
            <a:endParaRPr lang="en-US" sz="1600" dirty="0"/>
          </a:p>
        </p:txBody>
      </p:sp>
      <p:sp>
        <p:nvSpPr>
          <p:cNvPr id="7" name="Text 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7BC62"/>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8"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97BC62"/>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3 · DIGITAL MONITORING</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From eyes to data — closing the observation gap</a:t>
            </a:r>
            <a:endParaRPr lang="en-US" sz="2600" dirty="0"/>
          </a:p>
        </p:txBody>
      </p:sp>
      <p:sp>
        <p:nvSpPr>
          <p:cNvPr id="4" name="Shape 2"/>
          <p:cNvSpPr/>
          <p:nvPr/>
        </p:nvSpPr>
        <p:spPr>
          <a:xfrm>
            <a:off x="548640" y="1463040"/>
            <a:ext cx="5303520" cy="4663440"/>
          </a:xfrm>
          <a:prstGeom prst="roundRect">
            <a:avLst>
              <a:gd name="adj" fmla="val 2353"/>
            </a:avLst>
          </a:prstGeom>
          <a:solidFill>
            <a:srgbClr val="EEF4E6"/>
          </a:solidFill>
          <a:ln w="12700">
            <a:solidFill>
              <a:srgbClr val="EEF4E6"/>
            </a:solidFill>
            <a:prstDash val="solid"/>
          </a:ln>
        </p:spPr>
      </p:sp>
      <p:sp>
        <p:nvSpPr>
          <p:cNvPr id="5" name="Text 3"/>
          <p:cNvSpPr txBox="1"/>
          <p:nvPr/>
        </p:nvSpPr>
        <p:spPr>
          <a:xfrm>
            <a:off x="777240" y="1600200"/>
            <a:ext cx="4846320" cy="36576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What a technician cannot see</a:t>
            </a:r>
            <a:endParaRPr lang="en-US" sz="1600" dirty="0"/>
          </a:p>
        </p:txBody>
      </p:sp>
      <p:sp>
        <p:nvSpPr>
          <p:cNvPr id="6" name="Text 4"/>
          <p:cNvSpPr txBox="1"/>
          <p:nvPr/>
        </p:nvSpPr>
        <p:spPr>
          <a:xfrm>
            <a:off x="777240" y="2103120"/>
            <a:ext cx="4846320" cy="39319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A1F"/>
                </a:solidFill>
                <a:latin typeface="Calibri" pitchFamily="34" charset="0"/>
                <a:ea typeface="Calibri" pitchFamily="34" charset="-122"/>
                <a:cs typeface="Calibri" pitchFamily="34" charset="-120"/>
              </a:rPr>
              <a:t>Heat at 2 a.m. in a buffalo that shows almost nothing at 8 a.m.</a:t>
            </a:r>
            <a:endParaRPr lang="en-US" sz="1300" dirty="0"/>
          </a:p>
          <a:p>
            <a:pPr marL="177800" indent="-177800">
              <a:spcAft>
                <a:spcPts val="600"/>
              </a:spcAft>
              <a:buSzPct val="100000"/>
              <a:buChar char="•"/>
            </a:pPr>
            <a:r>
              <a:rPr lang="en-US" sz="1300" dirty="0">
                <a:solidFill>
                  <a:srgbClr val="1F2A1F"/>
                </a:solidFill>
                <a:latin typeface="Calibri" pitchFamily="34" charset="0"/>
                <a:ea typeface="Calibri" pitchFamily="34" charset="-122"/>
                <a:cs typeface="Calibri" pitchFamily="34" charset="-120"/>
              </a:rPr>
              <a:t>A fever that starts 2–4 days before the cow looks sick</a:t>
            </a:r>
            <a:endParaRPr lang="en-US" sz="1300" dirty="0"/>
          </a:p>
          <a:p>
            <a:pPr marL="177800" indent="-177800">
              <a:spcAft>
                <a:spcPts val="600"/>
              </a:spcAft>
              <a:buSzPct val="100000"/>
              <a:buChar char="•"/>
            </a:pPr>
            <a:r>
              <a:rPr lang="en-US" sz="1300" dirty="0">
                <a:solidFill>
                  <a:srgbClr val="1F2A1F"/>
                </a:solidFill>
                <a:latin typeface="Calibri" pitchFamily="34" charset="0"/>
                <a:ea typeface="Calibri" pitchFamily="34" charset="-122"/>
                <a:cs typeface="Calibri" pitchFamily="34" charset="-120"/>
              </a:rPr>
              <a:t>Rumination that stopped this morning — the cow still stands at the feed bunk</a:t>
            </a:r>
            <a:endParaRPr lang="en-US" sz="1300" dirty="0"/>
          </a:p>
          <a:p>
            <a:pPr marL="177800" indent="-177800">
              <a:spcAft>
                <a:spcPts val="600"/>
              </a:spcAft>
              <a:buSzPct val="100000"/>
              <a:buChar char="•"/>
            </a:pPr>
            <a:r>
              <a:rPr lang="en-US" sz="1300" dirty="0">
                <a:solidFill>
                  <a:srgbClr val="1F2A1F"/>
                </a:solidFill>
                <a:latin typeface="Calibri" pitchFamily="34" charset="0"/>
                <a:ea typeface="Calibri" pitchFamily="34" charset="-122"/>
                <a:cs typeface="Calibri" pitchFamily="34" charset="-120"/>
              </a:rPr>
              <a:t>A calving that begins tonight in a pen nobody is watching</a:t>
            </a:r>
            <a:endParaRPr lang="en-US" sz="1300" dirty="0"/>
          </a:p>
          <a:p>
            <a:pPr marL="177800" indent="-177800">
              <a:spcAft>
                <a:spcPts val="600"/>
              </a:spcAft>
              <a:buSzPct val="100000"/>
              <a:buChar char="•"/>
            </a:pPr>
            <a:r>
              <a:rPr lang="en-US" sz="1300" dirty="0">
                <a:solidFill>
                  <a:srgbClr val="1F2A1F"/>
                </a:solidFill>
                <a:latin typeface="Calibri" pitchFamily="34" charset="0"/>
                <a:ea typeface="Calibri" pitchFamily="34" charset="-122"/>
                <a:cs typeface="Calibri" pitchFamily="34" charset="-120"/>
              </a:rPr>
              <a:t>Which of 50 animals is actually suffering from the heat</a:t>
            </a:r>
            <a:endParaRPr lang="en-US" sz="1300" dirty="0"/>
          </a:p>
          <a:p>
            <a:pPr marL="177800" indent="-177800">
              <a:spcAft>
                <a:spcPts val="600"/>
              </a:spcAft>
              <a:buSzPct val="100000"/>
              <a:buChar char="•"/>
            </a:pPr>
            <a:r>
              <a:rPr lang="en-US" sz="1300" dirty="0">
                <a:solidFill>
                  <a:srgbClr val="1F2A1F"/>
                </a:solidFill>
                <a:latin typeface="Calibri" pitchFamily="34" charset="0"/>
                <a:ea typeface="Calibri" pitchFamily="34" charset="-122"/>
                <a:cs typeface="Calibri" pitchFamily="34" charset="-120"/>
              </a:rPr>
              <a:t>A herd-wide temperature rise = infection or vaccine reaction</a:t>
            </a:r>
            <a:endParaRPr lang="en-US" sz="1300" dirty="0"/>
          </a:p>
        </p:txBody>
      </p:sp>
      <p:sp>
        <p:nvSpPr>
          <p:cNvPr id="7" name="Text 5"/>
          <p:cNvSpPr txBox="1"/>
          <p:nvPr/>
        </p:nvSpPr>
        <p:spPr>
          <a:xfrm>
            <a:off x="6309360" y="1463040"/>
            <a:ext cx="5303520" cy="36576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What the animal tells us, continuously</a:t>
            </a:r>
            <a:endParaRPr lang="en-US" sz="1600" dirty="0"/>
          </a:p>
        </p:txBody>
      </p:sp>
      <p:sp>
        <p:nvSpPr>
          <p:cNvPr id="8" name="Shape 6"/>
          <p:cNvSpPr/>
          <p:nvPr/>
        </p:nvSpPr>
        <p:spPr>
          <a:xfrm>
            <a:off x="6309360" y="1965960"/>
            <a:ext cx="566928" cy="566928"/>
          </a:xfrm>
          <a:prstGeom prst="ellipse">
            <a:avLst/>
          </a:prstGeom>
          <a:solidFill>
            <a:srgbClr val="2C5F2D"/>
          </a:solidFill>
          <a:ln w="12700">
            <a:solidFill>
              <a:srgbClr val="2C5F2D"/>
            </a:solidFill>
            <a:prstDash val="solid"/>
          </a:ln>
        </p:spPr>
      </p:sp>
      <p:pic>
        <p:nvPicPr>
          <p:cNvPr id="9" name="Image 0" descr="preencoded.png">    </p:cNvPr>
          <p:cNvPicPr>
            <a:picLocks noChangeAspect="1"/>
          </p:cNvPicPr>
          <p:nvPr/>
        </p:nvPicPr>
        <p:blipFill>
          <a:blip r:embed="rId1"/>
          <a:stretch>
            <a:fillRect/>
          </a:stretch>
        </p:blipFill>
        <p:spPr>
          <a:xfrm>
            <a:off x="6445423" y="2102023"/>
            <a:ext cx="294803" cy="294803"/>
          </a:xfrm>
          <a:prstGeom prst="rect">
            <a:avLst/>
          </a:prstGeom>
        </p:spPr>
      </p:pic>
      <p:sp>
        <p:nvSpPr>
          <p:cNvPr id="10" name="Text 7"/>
          <p:cNvSpPr txBox="1"/>
          <p:nvPr/>
        </p:nvSpPr>
        <p:spPr>
          <a:xfrm>
            <a:off x="7040880" y="1920240"/>
            <a:ext cx="4572000" cy="68580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Core body temperature</a:t>
            </a:r>
            <a:endParaRPr lang="en-US" sz="1300" dirty="0"/>
          </a:p>
          <a:p>
            <a:pPr indent="0" marL="0">
              <a:buNone/>
            </a:pPr>
            <a:r>
              <a:rPr lang="en-US" sz="1100" dirty="0">
                <a:solidFill>
                  <a:srgbClr val="5B6B5B"/>
                </a:solidFill>
                <a:latin typeface="Calibri" pitchFamily="34" charset="0"/>
                <a:ea typeface="Calibri" pitchFamily="34" charset="-122"/>
                <a:cs typeface="Calibri" pitchFamily="34" charset="-120"/>
              </a:rPr>
              <a:t>fever, calving, heat stress, drinking events</a:t>
            </a:r>
            <a:endParaRPr lang="en-US" sz="1300" dirty="0"/>
          </a:p>
        </p:txBody>
      </p:sp>
      <p:sp>
        <p:nvSpPr>
          <p:cNvPr id="11" name="Shape 8"/>
          <p:cNvSpPr/>
          <p:nvPr/>
        </p:nvSpPr>
        <p:spPr>
          <a:xfrm>
            <a:off x="6309360" y="2807208"/>
            <a:ext cx="566928" cy="566928"/>
          </a:xfrm>
          <a:prstGeom prst="ellipse">
            <a:avLst/>
          </a:prstGeom>
          <a:solidFill>
            <a:srgbClr val="2C5F2D"/>
          </a:solidFill>
          <a:ln w="12700">
            <a:solidFill>
              <a:srgbClr val="2C5F2D"/>
            </a:solidFill>
            <a:prstDash val="solid"/>
          </a:ln>
        </p:spPr>
      </p:sp>
      <p:pic>
        <p:nvPicPr>
          <p:cNvPr id="12" name="Image 1" descr="preencoded.png">    </p:cNvPr>
          <p:cNvPicPr>
            <a:picLocks noChangeAspect="1"/>
          </p:cNvPicPr>
          <p:nvPr/>
        </p:nvPicPr>
        <p:blipFill>
          <a:blip r:embed="rId2"/>
          <a:stretch>
            <a:fillRect/>
          </a:stretch>
        </p:blipFill>
        <p:spPr>
          <a:xfrm>
            <a:off x="6445423" y="2943271"/>
            <a:ext cx="294803" cy="294803"/>
          </a:xfrm>
          <a:prstGeom prst="rect">
            <a:avLst/>
          </a:prstGeom>
        </p:spPr>
      </p:pic>
      <p:sp>
        <p:nvSpPr>
          <p:cNvPr id="13" name="Text 9"/>
          <p:cNvSpPr txBox="1"/>
          <p:nvPr/>
        </p:nvSpPr>
        <p:spPr>
          <a:xfrm>
            <a:off x="7040880" y="2761488"/>
            <a:ext cx="4572000" cy="68580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Rumination (reticular contractions)</a:t>
            </a:r>
            <a:endParaRPr lang="en-US" sz="1300" dirty="0"/>
          </a:p>
          <a:p>
            <a:pPr indent="0" marL="0">
              <a:buNone/>
            </a:pPr>
            <a:r>
              <a:rPr lang="en-US" sz="1100" dirty="0">
                <a:solidFill>
                  <a:srgbClr val="5B6B5B"/>
                </a:solidFill>
                <a:latin typeface="Calibri" pitchFamily="34" charset="0"/>
                <a:ea typeface="Calibri" pitchFamily="34" charset="-122"/>
                <a:cs typeface="Calibri" pitchFamily="34" charset="-120"/>
              </a:rPr>
              <a:t>health, feed intake, acidosis, transition</a:t>
            </a:r>
            <a:endParaRPr lang="en-US" sz="1300" dirty="0"/>
          </a:p>
        </p:txBody>
      </p:sp>
      <p:sp>
        <p:nvSpPr>
          <p:cNvPr id="14" name="Shape 10"/>
          <p:cNvSpPr/>
          <p:nvPr/>
        </p:nvSpPr>
        <p:spPr>
          <a:xfrm>
            <a:off x="6309360" y="3648456"/>
            <a:ext cx="566928" cy="566928"/>
          </a:xfrm>
          <a:prstGeom prst="ellipse">
            <a:avLst/>
          </a:prstGeom>
          <a:solidFill>
            <a:srgbClr val="2C5F2D"/>
          </a:solidFill>
          <a:ln w="12700">
            <a:solidFill>
              <a:srgbClr val="2C5F2D"/>
            </a:solidFill>
            <a:prstDash val="solid"/>
          </a:ln>
        </p:spPr>
      </p:sp>
      <p:pic>
        <p:nvPicPr>
          <p:cNvPr id="15" name="Image 2" descr="preencoded.png">    </p:cNvPr>
          <p:cNvPicPr>
            <a:picLocks noChangeAspect="1"/>
          </p:cNvPicPr>
          <p:nvPr/>
        </p:nvPicPr>
        <p:blipFill>
          <a:blip r:embed="rId3"/>
          <a:stretch>
            <a:fillRect/>
          </a:stretch>
        </p:blipFill>
        <p:spPr>
          <a:xfrm>
            <a:off x="6445423" y="3784519"/>
            <a:ext cx="294803" cy="294803"/>
          </a:xfrm>
          <a:prstGeom prst="rect">
            <a:avLst/>
          </a:prstGeom>
        </p:spPr>
      </p:pic>
      <p:sp>
        <p:nvSpPr>
          <p:cNvPr id="16" name="Text 11"/>
          <p:cNvSpPr txBox="1"/>
          <p:nvPr/>
        </p:nvSpPr>
        <p:spPr>
          <a:xfrm>
            <a:off x="7040880" y="3602736"/>
            <a:ext cx="4572000" cy="68580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Activity</a:t>
            </a:r>
            <a:endParaRPr lang="en-US" sz="1300" dirty="0"/>
          </a:p>
          <a:p>
            <a:pPr indent="0" marL="0">
              <a:buNone/>
            </a:pPr>
            <a:r>
              <a:rPr lang="en-US" sz="1100" dirty="0">
                <a:solidFill>
                  <a:srgbClr val="5B6B5B"/>
                </a:solidFill>
                <a:latin typeface="Calibri" pitchFamily="34" charset="0"/>
                <a:ea typeface="Calibri" pitchFamily="34" charset="-122"/>
                <a:cs typeface="Calibri" pitchFamily="34" charset="-120"/>
              </a:rPr>
              <a:t>estrus, lameness, illness</a:t>
            </a:r>
            <a:endParaRPr lang="en-US" sz="1300" dirty="0"/>
          </a:p>
        </p:txBody>
      </p:sp>
      <p:sp>
        <p:nvSpPr>
          <p:cNvPr id="17" name="Shape 12"/>
          <p:cNvSpPr/>
          <p:nvPr/>
        </p:nvSpPr>
        <p:spPr>
          <a:xfrm>
            <a:off x="6309360" y="4489704"/>
            <a:ext cx="566928" cy="566928"/>
          </a:xfrm>
          <a:prstGeom prst="ellipse">
            <a:avLst/>
          </a:prstGeom>
          <a:solidFill>
            <a:srgbClr val="2C5F2D"/>
          </a:solidFill>
          <a:ln w="12700">
            <a:solidFill>
              <a:srgbClr val="2C5F2D"/>
            </a:solidFill>
            <a:prstDash val="solid"/>
          </a:ln>
        </p:spPr>
      </p:sp>
      <p:pic>
        <p:nvPicPr>
          <p:cNvPr id="18" name="Image 3" descr="preencoded.png">    </p:cNvPr>
          <p:cNvPicPr>
            <a:picLocks noChangeAspect="1"/>
          </p:cNvPicPr>
          <p:nvPr/>
        </p:nvPicPr>
        <p:blipFill>
          <a:blip r:embed="rId4"/>
          <a:stretch>
            <a:fillRect/>
          </a:stretch>
        </p:blipFill>
        <p:spPr>
          <a:xfrm>
            <a:off x="6445423" y="4625767"/>
            <a:ext cx="294803" cy="294803"/>
          </a:xfrm>
          <a:prstGeom prst="rect">
            <a:avLst/>
          </a:prstGeom>
        </p:spPr>
      </p:pic>
      <p:sp>
        <p:nvSpPr>
          <p:cNvPr id="19" name="Text 13"/>
          <p:cNvSpPr txBox="1"/>
          <p:nvPr/>
        </p:nvSpPr>
        <p:spPr>
          <a:xfrm>
            <a:off x="7040880" y="4443984"/>
            <a:ext cx="4572000" cy="68580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Water intake events</a:t>
            </a:r>
            <a:endParaRPr lang="en-US" sz="1300" dirty="0"/>
          </a:p>
          <a:p>
            <a:pPr indent="0" marL="0">
              <a:buNone/>
            </a:pPr>
            <a:r>
              <a:rPr lang="en-US" sz="1100" dirty="0">
                <a:solidFill>
                  <a:srgbClr val="5B6B5B"/>
                </a:solidFill>
                <a:latin typeface="Calibri" pitchFamily="34" charset="0"/>
                <a:ea typeface="Calibri" pitchFamily="34" charset="-122"/>
                <a:cs typeface="Calibri" pitchFamily="34" charset="-120"/>
              </a:rPr>
              <a:t>first sign of many diseases</a:t>
            </a:r>
            <a:endParaRPr lang="en-US" sz="1300" dirty="0"/>
          </a:p>
        </p:txBody>
      </p:sp>
      <p:sp>
        <p:nvSpPr>
          <p:cNvPr id="20" name="Shape 14"/>
          <p:cNvSpPr/>
          <p:nvPr/>
        </p:nvSpPr>
        <p:spPr>
          <a:xfrm>
            <a:off x="6309360" y="5330952"/>
            <a:ext cx="566928" cy="566928"/>
          </a:xfrm>
          <a:prstGeom prst="ellipse">
            <a:avLst/>
          </a:prstGeom>
          <a:solidFill>
            <a:srgbClr val="2C5F2D"/>
          </a:solidFill>
          <a:ln w="12700">
            <a:solidFill>
              <a:srgbClr val="2C5F2D"/>
            </a:solidFill>
            <a:prstDash val="solid"/>
          </a:ln>
        </p:spPr>
      </p:sp>
      <p:pic>
        <p:nvPicPr>
          <p:cNvPr id="21" name="Image 4" descr="preencoded.png">    </p:cNvPr>
          <p:cNvPicPr>
            <a:picLocks noChangeAspect="1"/>
          </p:cNvPicPr>
          <p:nvPr/>
        </p:nvPicPr>
        <p:blipFill>
          <a:blip r:embed="rId5"/>
          <a:stretch>
            <a:fillRect/>
          </a:stretch>
        </p:blipFill>
        <p:spPr>
          <a:xfrm>
            <a:off x="6445423" y="5467015"/>
            <a:ext cx="294803" cy="294803"/>
          </a:xfrm>
          <a:prstGeom prst="rect">
            <a:avLst/>
          </a:prstGeom>
        </p:spPr>
      </p:pic>
      <p:sp>
        <p:nvSpPr>
          <p:cNvPr id="22" name="Text 15"/>
          <p:cNvSpPr txBox="1"/>
          <p:nvPr/>
        </p:nvSpPr>
        <p:spPr>
          <a:xfrm>
            <a:off x="7040880" y="5285232"/>
            <a:ext cx="4572000" cy="685800"/>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Rumen pH (optional sensor)</a:t>
            </a:r>
            <a:endParaRPr lang="en-US" sz="1300" dirty="0"/>
          </a:p>
          <a:p>
            <a:pPr indent="0" marL="0">
              <a:buNone/>
            </a:pPr>
            <a:r>
              <a:rPr lang="en-US" sz="1100" dirty="0">
                <a:solidFill>
                  <a:srgbClr val="5B6B5B"/>
                </a:solidFill>
                <a:latin typeface="Calibri" pitchFamily="34" charset="0"/>
                <a:ea typeface="Calibri" pitchFamily="34" charset="-122"/>
                <a:cs typeface="Calibri" pitchFamily="34" charset="-120"/>
              </a:rPr>
              <a:t>acidosis, ration changes</a:t>
            </a:r>
            <a:endParaRPr lang="en-US" sz="1300" dirty="0"/>
          </a:p>
        </p:txBody>
      </p:sp>
      <p:sp>
        <p:nvSpPr>
          <p:cNvPr id="23" name="Text 1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24" name="Text 1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3 · DIGITAL MONITORING</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Sensor technologies — what each can and cannot measure</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737360"/>
                <a:gridCol w="2194560"/>
                <a:gridCol w="2011680"/>
                <a:gridCol w="2194560"/>
                <a:gridCol w="2953512"/>
              </a:tblGrid>
              <a:tr h="566928">
                <a:tc>
                  <a:txBody>
                    <a:bodyPr/>
                    <a:lstStyle/>
                    <a:p>
                      <a:pPr indent="0" marL="0">
                        <a:buNone/>
                      </a:pP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Neck collar</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Leg pedometer</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Ear tag</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Rumen bolus</a:t>
                      </a:r>
                      <a:endParaRPr lang="en-US" sz="12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r>
              <a:tr h="566928">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Measures</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Activity, rumination (by neck movement)</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Activity, lying time</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Activity, ear-surface temp</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Core temperature, rumination (direct), activity, water intake, optional pH</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Temperature</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Indirect (skin, weather-affected)</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Direct, ± 0.05 °C</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566928">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Rumination</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Indirect</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Indirect</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Direct — counts reticular contractions</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Loss / damage</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Strap loss, needs re-fitting as animal grows</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Loss in mud, wallow</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Tears out, loss</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Inside the animal; tamper-proof; no maintenance</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566928">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Battery / life</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2–5 yrs, recharge or replace</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2–5 yrs</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2–3 yrs</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 4 years, no maintenance</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Buffalo suitability</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Wallowing damages straps</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Mud and water</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Ear damage</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100" dirty="0">
                          <a:solidFill>
                            <a:srgbClr val="1F2A1F"/>
                          </a:solidFill>
                          <a:latin typeface="Calibri" pitchFamily="34" charset="0"/>
                          <a:ea typeface="Calibri" pitchFamily="34" charset="-122"/>
                          <a:cs typeface="Calibri" pitchFamily="34" charset="-120"/>
                        </a:rPr>
                        <a:t>Unaffected by wallowing — needs local validation of thresholds</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bl>
          </a:graphicData>
        </a:graphic>
      </p:graphicFrame>
      <p:sp>
        <p:nvSpPr>
          <p:cNvPr id="5" name="Text 2"/>
          <p:cNvSpPr txBox="1"/>
          <p:nvPr/>
        </p:nvSpPr>
        <p:spPr>
          <a:xfrm>
            <a:off x="548640" y="5623560"/>
            <a:ext cx="11094415" cy="548640"/>
          </a:xfrm>
          <a:prstGeom prst="rect">
            <a:avLst/>
          </a:prstGeom>
          <a:noFill/>
          <a:ln/>
        </p:spPr>
        <p:txBody>
          <a:bodyPr wrap="square" lIns="0" tIns="0" rIns="0" bIns="0" rtlCol="0" anchor="ctr"/>
          <a:lstStyle/>
          <a:p>
            <a:pPr indent="0" marL="0">
              <a:buNone/>
            </a:pPr>
            <a:r>
              <a:rPr lang="en-US" sz="1200" i="1" dirty="0">
                <a:solidFill>
                  <a:srgbClr val="5B6B5B"/>
                </a:solidFill>
                <a:latin typeface="Calibri" pitchFamily="34" charset="0"/>
                <a:ea typeface="Calibri" pitchFamily="34" charset="-122"/>
                <a:cs typeface="Calibri" pitchFamily="34" charset="-120"/>
              </a:rPr>
              <a:t>No single device is perfect: collars and tags are cheaper to buy; the bolus measures more, directly, for longer — and is the only option that survives a buffalo wallow.</a:t>
            </a:r>
            <a:endParaRPr lang="en-US" sz="1200" dirty="0"/>
          </a:p>
        </p:txBody>
      </p:sp>
      <p:sp>
        <p:nvSpPr>
          <p:cNvPr id="6" name="Text 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3 · DIGITAL MONITORING</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How a rumen bolus works</a:t>
            </a:r>
            <a:endParaRPr lang="en-US" sz="2600" dirty="0"/>
          </a:p>
        </p:txBody>
      </p:sp>
      <p:sp>
        <p:nvSpPr>
          <p:cNvPr id="4" name="Shape 2"/>
          <p:cNvSpPr/>
          <p:nvPr/>
        </p:nvSpPr>
        <p:spPr>
          <a:xfrm>
            <a:off x="548640" y="1463040"/>
            <a:ext cx="2651760" cy="2286000"/>
          </a:xfrm>
          <a:prstGeom prst="roundRect">
            <a:avLst>
              <a:gd name="adj" fmla="val 4800"/>
            </a:avLst>
          </a:prstGeom>
          <a:solidFill>
            <a:srgbClr val="F6F9F2"/>
          </a:solidFill>
          <a:ln w="12700">
            <a:solidFill>
              <a:srgbClr val="F6F9F2"/>
            </a:solidFill>
            <a:prstDash val="solid"/>
          </a:ln>
        </p:spPr>
      </p:sp>
      <p:sp>
        <p:nvSpPr>
          <p:cNvPr id="5" name="Shape 3"/>
          <p:cNvSpPr/>
          <p:nvPr/>
        </p:nvSpPr>
        <p:spPr>
          <a:xfrm>
            <a:off x="777240" y="1645920"/>
            <a:ext cx="640080" cy="640080"/>
          </a:xfrm>
          <a:prstGeom prst="ellipse">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930859" y="1799539"/>
            <a:ext cx="332842" cy="332842"/>
          </a:xfrm>
          <a:prstGeom prst="rect">
            <a:avLst/>
          </a:prstGeom>
        </p:spPr>
      </p:pic>
      <p:sp>
        <p:nvSpPr>
          <p:cNvPr id="7" name="Text 4"/>
          <p:cNvSpPr txBox="1"/>
          <p:nvPr/>
        </p:nvSpPr>
        <p:spPr>
          <a:xfrm>
            <a:off x="1554480" y="1645920"/>
            <a:ext cx="1600200" cy="64008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1 · Bolus</a:t>
            </a:r>
            <a:endParaRPr lang="en-US" sz="1500" dirty="0"/>
          </a:p>
        </p:txBody>
      </p:sp>
      <p:sp>
        <p:nvSpPr>
          <p:cNvPr id="8" name="Text 5"/>
          <p:cNvSpPr txBox="1"/>
          <p:nvPr/>
        </p:nvSpPr>
        <p:spPr>
          <a:xfrm>
            <a:off x="777240" y="2377440"/>
            <a:ext cx="2240280" cy="128016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Given orally with an applicator; settles in the reticulum for life</a:t>
            </a:r>
            <a:endParaRPr lang="en-US" sz="1150" dirty="0"/>
          </a:p>
        </p:txBody>
      </p:sp>
      <p:pic>
        <p:nvPicPr>
          <p:cNvPr id="9" name="Image 1" descr="preencoded.png">    </p:cNvPr>
          <p:cNvPicPr>
            <a:picLocks noChangeAspect="1"/>
          </p:cNvPicPr>
          <p:nvPr/>
        </p:nvPicPr>
        <p:blipFill>
          <a:blip r:embed="rId2"/>
          <a:stretch>
            <a:fillRect/>
          </a:stretch>
        </p:blipFill>
        <p:spPr>
          <a:xfrm>
            <a:off x="3182112" y="1874520"/>
            <a:ext cx="219456" cy="219456"/>
          </a:xfrm>
          <a:prstGeom prst="rect">
            <a:avLst/>
          </a:prstGeom>
        </p:spPr>
      </p:pic>
      <p:sp>
        <p:nvSpPr>
          <p:cNvPr id="10" name="Shape 6"/>
          <p:cNvSpPr/>
          <p:nvPr/>
        </p:nvSpPr>
        <p:spPr>
          <a:xfrm>
            <a:off x="3364992" y="1463040"/>
            <a:ext cx="2651760" cy="2286000"/>
          </a:xfrm>
          <a:prstGeom prst="roundRect">
            <a:avLst>
              <a:gd name="adj" fmla="val 4800"/>
            </a:avLst>
          </a:prstGeom>
          <a:solidFill>
            <a:srgbClr val="F6F9F2"/>
          </a:solidFill>
          <a:ln w="12700">
            <a:solidFill>
              <a:srgbClr val="F6F9F2"/>
            </a:solidFill>
            <a:prstDash val="solid"/>
          </a:ln>
        </p:spPr>
      </p:sp>
      <p:sp>
        <p:nvSpPr>
          <p:cNvPr id="11" name="Shape 7"/>
          <p:cNvSpPr/>
          <p:nvPr/>
        </p:nvSpPr>
        <p:spPr>
          <a:xfrm>
            <a:off x="3593592" y="1645920"/>
            <a:ext cx="640080" cy="640080"/>
          </a:xfrm>
          <a:prstGeom prst="ellipse">
            <a:avLst/>
          </a:prstGeom>
          <a:solidFill>
            <a:srgbClr val="2C5F2D"/>
          </a:solidFill>
          <a:ln w="12700">
            <a:solidFill>
              <a:srgbClr val="2C5F2D"/>
            </a:solidFill>
            <a:prstDash val="solid"/>
          </a:ln>
        </p:spPr>
      </p:sp>
      <p:pic>
        <p:nvPicPr>
          <p:cNvPr id="12" name="Image 2" descr="preencoded.png">    </p:cNvPr>
          <p:cNvPicPr>
            <a:picLocks noChangeAspect="1"/>
          </p:cNvPicPr>
          <p:nvPr/>
        </p:nvPicPr>
        <p:blipFill>
          <a:blip r:embed="rId3"/>
          <a:stretch>
            <a:fillRect/>
          </a:stretch>
        </p:blipFill>
        <p:spPr>
          <a:xfrm>
            <a:off x="3747211" y="1799539"/>
            <a:ext cx="332842" cy="332842"/>
          </a:xfrm>
          <a:prstGeom prst="rect">
            <a:avLst/>
          </a:prstGeom>
        </p:spPr>
      </p:pic>
      <p:sp>
        <p:nvSpPr>
          <p:cNvPr id="13" name="Text 8"/>
          <p:cNvSpPr txBox="1"/>
          <p:nvPr/>
        </p:nvSpPr>
        <p:spPr>
          <a:xfrm>
            <a:off x="4370832" y="1645920"/>
            <a:ext cx="1600200" cy="64008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2 · Base station</a:t>
            </a:r>
            <a:endParaRPr lang="en-US" sz="1500" dirty="0"/>
          </a:p>
        </p:txBody>
      </p:sp>
      <p:sp>
        <p:nvSpPr>
          <p:cNvPr id="14" name="Text 9"/>
          <p:cNvSpPr txBox="1"/>
          <p:nvPr/>
        </p:nvSpPr>
        <p:spPr>
          <a:xfrm>
            <a:off x="3593592" y="2377440"/>
            <a:ext cx="2240280" cy="128016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Receives radio data in the barn; optional climate (THI) sensor</a:t>
            </a:r>
            <a:endParaRPr lang="en-US" sz="1150" dirty="0"/>
          </a:p>
        </p:txBody>
      </p:sp>
      <p:pic>
        <p:nvPicPr>
          <p:cNvPr id="15" name="Image 3" descr="preencoded.png">    </p:cNvPr>
          <p:cNvPicPr>
            <a:picLocks noChangeAspect="1"/>
          </p:cNvPicPr>
          <p:nvPr/>
        </p:nvPicPr>
        <p:blipFill>
          <a:blip r:embed="rId4"/>
          <a:stretch>
            <a:fillRect/>
          </a:stretch>
        </p:blipFill>
        <p:spPr>
          <a:xfrm>
            <a:off x="5998464" y="1874520"/>
            <a:ext cx="219456" cy="219456"/>
          </a:xfrm>
          <a:prstGeom prst="rect">
            <a:avLst/>
          </a:prstGeom>
        </p:spPr>
      </p:pic>
      <p:sp>
        <p:nvSpPr>
          <p:cNvPr id="16" name="Shape 10"/>
          <p:cNvSpPr/>
          <p:nvPr/>
        </p:nvSpPr>
        <p:spPr>
          <a:xfrm>
            <a:off x="6181344" y="1463040"/>
            <a:ext cx="2651760" cy="2286000"/>
          </a:xfrm>
          <a:prstGeom prst="roundRect">
            <a:avLst>
              <a:gd name="adj" fmla="val 4800"/>
            </a:avLst>
          </a:prstGeom>
          <a:solidFill>
            <a:srgbClr val="F6F9F2"/>
          </a:solidFill>
          <a:ln w="12700">
            <a:solidFill>
              <a:srgbClr val="F6F9F2"/>
            </a:solidFill>
            <a:prstDash val="solid"/>
          </a:ln>
        </p:spPr>
      </p:sp>
      <p:sp>
        <p:nvSpPr>
          <p:cNvPr id="17" name="Shape 11"/>
          <p:cNvSpPr/>
          <p:nvPr/>
        </p:nvSpPr>
        <p:spPr>
          <a:xfrm>
            <a:off x="6409944" y="1645920"/>
            <a:ext cx="640080" cy="640080"/>
          </a:xfrm>
          <a:prstGeom prst="ellipse">
            <a:avLst/>
          </a:prstGeom>
          <a:solidFill>
            <a:srgbClr val="2C5F2D"/>
          </a:solidFill>
          <a:ln w="12700">
            <a:solidFill>
              <a:srgbClr val="2C5F2D"/>
            </a:solidFill>
            <a:prstDash val="solid"/>
          </a:ln>
        </p:spPr>
      </p:sp>
      <p:pic>
        <p:nvPicPr>
          <p:cNvPr id="18" name="Image 4" descr="preencoded.png">    </p:cNvPr>
          <p:cNvPicPr>
            <a:picLocks noChangeAspect="1"/>
          </p:cNvPicPr>
          <p:nvPr/>
        </p:nvPicPr>
        <p:blipFill>
          <a:blip r:embed="rId5"/>
          <a:stretch>
            <a:fillRect/>
          </a:stretch>
        </p:blipFill>
        <p:spPr>
          <a:xfrm>
            <a:off x="6563563" y="1799539"/>
            <a:ext cx="332842" cy="332842"/>
          </a:xfrm>
          <a:prstGeom prst="rect">
            <a:avLst/>
          </a:prstGeom>
        </p:spPr>
      </p:pic>
      <p:sp>
        <p:nvSpPr>
          <p:cNvPr id="19" name="Text 12"/>
          <p:cNvSpPr txBox="1"/>
          <p:nvPr/>
        </p:nvSpPr>
        <p:spPr>
          <a:xfrm>
            <a:off x="7187184" y="1645920"/>
            <a:ext cx="1600200" cy="64008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3 · Cloud &amp; AI</a:t>
            </a:r>
            <a:endParaRPr lang="en-US" sz="1500" dirty="0"/>
          </a:p>
        </p:txBody>
      </p:sp>
      <p:sp>
        <p:nvSpPr>
          <p:cNvPr id="20" name="Text 13"/>
          <p:cNvSpPr txBox="1"/>
          <p:nvPr/>
        </p:nvSpPr>
        <p:spPr>
          <a:xfrm>
            <a:off x="6409944" y="2377440"/>
            <a:ext cx="2240280" cy="128016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Self-learning models per animal; 7-day onboard buffer if offline</a:t>
            </a:r>
            <a:endParaRPr lang="en-US" sz="1150" dirty="0"/>
          </a:p>
        </p:txBody>
      </p:sp>
      <p:pic>
        <p:nvPicPr>
          <p:cNvPr id="21" name="Image 5" descr="preencoded.png">    </p:cNvPr>
          <p:cNvPicPr>
            <a:picLocks noChangeAspect="1"/>
          </p:cNvPicPr>
          <p:nvPr/>
        </p:nvPicPr>
        <p:blipFill>
          <a:blip r:embed="rId6"/>
          <a:stretch>
            <a:fillRect/>
          </a:stretch>
        </p:blipFill>
        <p:spPr>
          <a:xfrm>
            <a:off x="8814816" y="1874520"/>
            <a:ext cx="219456" cy="219456"/>
          </a:xfrm>
          <a:prstGeom prst="rect">
            <a:avLst/>
          </a:prstGeom>
        </p:spPr>
      </p:pic>
      <p:sp>
        <p:nvSpPr>
          <p:cNvPr id="22" name="Shape 14"/>
          <p:cNvSpPr/>
          <p:nvPr/>
        </p:nvSpPr>
        <p:spPr>
          <a:xfrm>
            <a:off x="8997696" y="1463040"/>
            <a:ext cx="2651760" cy="2286000"/>
          </a:xfrm>
          <a:prstGeom prst="roundRect">
            <a:avLst>
              <a:gd name="adj" fmla="val 4800"/>
            </a:avLst>
          </a:prstGeom>
          <a:solidFill>
            <a:srgbClr val="F6F9F2"/>
          </a:solidFill>
          <a:ln w="12700">
            <a:solidFill>
              <a:srgbClr val="F6F9F2"/>
            </a:solidFill>
            <a:prstDash val="solid"/>
          </a:ln>
        </p:spPr>
      </p:sp>
      <p:sp>
        <p:nvSpPr>
          <p:cNvPr id="23" name="Shape 15"/>
          <p:cNvSpPr/>
          <p:nvPr/>
        </p:nvSpPr>
        <p:spPr>
          <a:xfrm>
            <a:off x="9226296" y="1645920"/>
            <a:ext cx="640080" cy="640080"/>
          </a:xfrm>
          <a:prstGeom prst="ellipse">
            <a:avLst/>
          </a:prstGeom>
          <a:solidFill>
            <a:srgbClr val="2C5F2D"/>
          </a:solidFill>
          <a:ln w="12700">
            <a:solidFill>
              <a:srgbClr val="2C5F2D"/>
            </a:solidFill>
            <a:prstDash val="solid"/>
          </a:ln>
        </p:spPr>
      </p:sp>
      <p:pic>
        <p:nvPicPr>
          <p:cNvPr id="24" name="Image 6" descr="preencoded.png">    </p:cNvPr>
          <p:cNvPicPr>
            <a:picLocks noChangeAspect="1"/>
          </p:cNvPicPr>
          <p:nvPr/>
        </p:nvPicPr>
        <p:blipFill>
          <a:blip r:embed="rId7"/>
          <a:stretch>
            <a:fillRect/>
          </a:stretch>
        </p:blipFill>
        <p:spPr>
          <a:xfrm>
            <a:off x="9379915" y="1799539"/>
            <a:ext cx="332842" cy="332842"/>
          </a:xfrm>
          <a:prstGeom prst="rect">
            <a:avLst/>
          </a:prstGeom>
        </p:spPr>
      </p:pic>
      <p:sp>
        <p:nvSpPr>
          <p:cNvPr id="25" name="Text 16"/>
          <p:cNvSpPr txBox="1"/>
          <p:nvPr/>
        </p:nvSpPr>
        <p:spPr>
          <a:xfrm>
            <a:off x="10003536" y="1645920"/>
            <a:ext cx="1600200" cy="64008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4 · App / dashboard</a:t>
            </a:r>
            <a:endParaRPr lang="en-US" sz="1500" dirty="0"/>
          </a:p>
        </p:txBody>
      </p:sp>
      <p:sp>
        <p:nvSpPr>
          <p:cNvPr id="26" name="Text 17"/>
          <p:cNvSpPr txBox="1"/>
          <p:nvPr/>
        </p:nvSpPr>
        <p:spPr>
          <a:xfrm>
            <a:off x="9226296" y="2377440"/>
            <a:ext cx="2240280" cy="128016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Web, iOS, Android — alerts to farmer, technician, veterinarian</a:t>
            </a:r>
            <a:endParaRPr lang="en-US" sz="1150" dirty="0"/>
          </a:p>
        </p:txBody>
      </p:sp>
      <p:sp>
        <p:nvSpPr>
          <p:cNvPr id="27" name="Shape 18"/>
          <p:cNvSpPr/>
          <p:nvPr/>
        </p:nvSpPr>
        <p:spPr>
          <a:xfrm>
            <a:off x="548640" y="3977640"/>
            <a:ext cx="5486400" cy="2148840"/>
          </a:xfrm>
          <a:prstGeom prst="roundRect">
            <a:avLst>
              <a:gd name="adj" fmla="val 5106"/>
            </a:avLst>
          </a:prstGeom>
          <a:solidFill>
            <a:srgbClr val="EEF4E6"/>
          </a:solidFill>
          <a:ln w="12700">
            <a:solidFill>
              <a:srgbClr val="EEF4E6"/>
            </a:solidFill>
            <a:prstDash val="solid"/>
          </a:ln>
        </p:spPr>
      </p:sp>
      <p:sp>
        <p:nvSpPr>
          <p:cNvPr id="28" name="Text 19"/>
          <p:cNvSpPr txBox="1"/>
          <p:nvPr/>
        </p:nvSpPr>
        <p:spPr>
          <a:xfrm>
            <a:off x="777240" y="4069080"/>
            <a:ext cx="502920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How it reads rumination</a:t>
            </a:r>
            <a:endParaRPr lang="en-US" sz="1500" dirty="0"/>
          </a:p>
        </p:txBody>
      </p:sp>
      <p:sp>
        <p:nvSpPr>
          <p:cNvPr id="29" name="Text 20"/>
          <p:cNvSpPr txBox="1"/>
          <p:nvPr/>
        </p:nvSpPr>
        <p:spPr>
          <a:xfrm>
            <a:off x="777240" y="4480560"/>
            <a:ext cx="5029200" cy="155448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The bolus sits in the reticulum and counts its contractions. During rumination the reticulum contracts three times per cycle; while eating or resting, twice. So the sensor knows — directly, not by inference — how many minutes a day the animal ruminates, and alerts when it falls.</a:t>
            </a:r>
            <a:endParaRPr lang="en-US" sz="1200" dirty="0"/>
          </a:p>
        </p:txBody>
      </p:sp>
      <p:sp>
        <p:nvSpPr>
          <p:cNvPr id="30" name="Shape 21"/>
          <p:cNvSpPr/>
          <p:nvPr/>
        </p:nvSpPr>
        <p:spPr>
          <a:xfrm>
            <a:off x="6263640" y="3977640"/>
            <a:ext cx="5394960" cy="2148840"/>
          </a:xfrm>
          <a:prstGeom prst="roundRect">
            <a:avLst>
              <a:gd name="adj" fmla="val 5106"/>
            </a:avLst>
          </a:prstGeom>
          <a:solidFill>
            <a:srgbClr val="EEF4E6"/>
          </a:solidFill>
          <a:ln w="12700">
            <a:solidFill>
              <a:srgbClr val="EEF4E6"/>
            </a:solidFill>
            <a:prstDash val="solid"/>
          </a:ln>
        </p:spPr>
      </p:sp>
      <p:sp>
        <p:nvSpPr>
          <p:cNvPr id="31" name="Text 22"/>
          <p:cNvSpPr txBox="1"/>
          <p:nvPr/>
        </p:nvSpPr>
        <p:spPr>
          <a:xfrm>
            <a:off x="6492240" y="4069080"/>
            <a:ext cx="4937760" cy="365760"/>
          </a:xfrm>
          <a:prstGeom prst="rect">
            <a:avLst/>
          </a:prstGeom>
          <a:noFill/>
          <a:ln/>
        </p:spPr>
        <p:txBody>
          <a:bodyPr wrap="square" lIns="0" tIns="0" rIns="0" bIns="0" rtlCol="0" anchor="ctr">
            <a:normAutofit/>
          </a:bodyPr>
          <a:lstStyle/>
          <a:p>
            <a:pPr indent="0" marL="0">
              <a:buNone/>
            </a:pPr>
            <a:r>
              <a:rPr lang="en-US" sz="1500" b="1" dirty="0">
                <a:solidFill>
                  <a:srgbClr val="2C5F2D"/>
                </a:solidFill>
                <a:latin typeface="Cambria" pitchFamily="34" charset="0"/>
                <a:ea typeface="Cambria" pitchFamily="34" charset="-122"/>
                <a:cs typeface="Cambria" pitchFamily="34" charset="-120"/>
              </a:rPr>
              <a:t>Device facts (smaXtec bolus used in Korea)</a:t>
            </a:r>
            <a:endParaRPr lang="en-US" sz="1500" dirty="0"/>
          </a:p>
        </p:txBody>
      </p:sp>
      <p:sp>
        <p:nvSpPr>
          <p:cNvPr id="32" name="Text 23"/>
          <p:cNvSpPr txBox="1"/>
          <p:nvPr/>
        </p:nvSpPr>
        <p:spPr>
          <a:xfrm>
            <a:off x="6492240" y="4480560"/>
            <a:ext cx="4937760" cy="160020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1F2A1F"/>
                </a:solidFill>
                <a:latin typeface="Calibri" pitchFamily="34" charset="0"/>
                <a:ea typeface="Calibri" pitchFamily="34" charset="-122"/>
                <a:cs typeface="Calibri" pitchFamily="34" charset="-120"/>
              </a:rPr>
              <a:t>Basic: 105 × 35 mm; temperature 0–50 °C, ± 0.05 °C; battery ≥ 4 years; bio-polymer housing</a:t>
            </a:r>
            <a:endParaRPr lang="en-US" sz="1100" dirty="0"/>
          </a:p>
          <a:p>
            <a:pPr marL="177800" indent="-177800">
              <a:spcAft>
                <a:spcPts val="300"/>
              </a:spcAft>
              <a:buSzPct val="100000"/>
              <a:buChar char="•"/>
            </a:pPr>
            <a:r>
              <a:rPr lang="en-US" sz="1100" dirty="0">
                <a:solidFill>
                  <a:srgbClr val="1F2A1F"/>
                </a:solidFill>
                <a:latin typeface="Calibri" pitchFamily="34" charset="0"/>
                <a:ea typeface="Calibri" pitchFamily="34" charset="-122"/>
                <a:cs typeface="Calibri" pitchFamily="34" charset="-120"/>
              </a:rPr>
              <a:t>Premium: 135 × 35 mm, adds rumen pH (3–9) for ~150 days</a:t>
            </a:r>
            <a:endParaRPr lang="en-US" sz="1100" dirty="0"/>
          </a:p>
          <a:p>
            <a:pPr marL="177800" indent="-177800">
              <a:spcAft>
                <a:spcPts val="300"/>
              </a:spcAft>
              <a:buSzPct val="100000"/>
              <a:buChar char="•"/>
            </a:pPr>
            <a:r>
              <a:rPr lang="en-US" sz="1100" dirty="0">
                <a:solidFill>
                  <a:srgbClr val="1F2A1F"/>
                </a:solidFill>
                <a:latin typeface="Calibri" pitchFamily="34" charset="0"/>
                <a:ea typeface="Calibri" pitchFamily="34" charset="-122"/>
                <a:cs typeface="Calibri" pitchFamily="34" charset="-120"/>
              </a:rPr>
              <a:t>No maintenance, no re-fitting, cannot be lost or swapped between animals</a:t>
            </a:r>
            <a:endParaRPr lang="en-US" sz="1100" dirty="0"/>
          </a:p>
          <a:p>
            <a:pPr marL="177800" indent="-177800">
              <a:spcAft>
                <a:spcPts val="300"/>
              </a:spcAft>
              <a:buSzPct val="100000"/>
              <a:buChar char="•"/>
            </a:pPr>
            <a:r>
              <a:rPr lang="en-US" sz="1100" dirty="0">
                <a:solidFill>
                  <a:srgbClr val="1F2A1F"/>
                </a:solidFill>
                <a:latin typeface="Calibri" pitchFamily="34" charset="0"/>
                <a:ea typeface="Calibri" pitchFamily="34" charset="-122"/>
                <a:cs typeface="Calibri" pitchFamily="34" charset="-120"/>
              </a:rPr>
              <a:t>Requires adult animal (≥ ~300 kg) and a trained person with the applicator</a:t>
            </a:r>
            <a:endParaRPr lang="en-US" sz="1100" dirty="0"/>
          </a:p>
        </p:txBody>
      </p:sp>
      <p:sp>
        <p:nvSpPr>
          <p:cNvPr id="33" name="Text 2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34" name="Text 2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3 · DIGITAL MONITORING</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The alerts a technician receives</a:t>
            </a:r>
            <a:endParaRPr lang="en-US" sz="2600" dirty="0"/>
          </a:p>
        </p:txBody>
      </p:sp>
      <p:sp>
        <p:nvSpPr>
          <p:cNvPr id="4" name="Shape 2"/>
          <p:cNvSpPr/>
          <p:nvPr/>
        </p:nvSpPr>
        <p:spPr>
          <a:xfrm>
            <a:off x="548640" y="1463040"/>
            <a:ext cx="3611880" cy="3931920"/>
          </a:xfrm>
          <a:prstGeom prst="roundRect">
            <a:avLst>
              <a:gd name="adj" fmla="val 3038"/>
            </a:avLst>
          </a:prstGeom>
          <a:solidFill>
            <a:srgbClr val="F6F9F2"/>
          </a:solidFill>
          <a:ln w="12700">
            <a:solidFill>
              <a:srgbClr val="F6F9F2"/>
            </a:solidFill>
            <a:prstDash val="solid"/>
          </a:ln>
        </p:spPr>
      </p:sp>
      <p:sp>
        <p:nvSpPr>
          <p:cNvPr id="5" name="Shape 3"/>
          <p:cNvSpPr/>
          <p:nvPr/>
        </p:nvSpPr>
        <p:spPr>
          <a:xfrm>
            <a:off x="777240" y="1691640"/>
            <a:ext cx="640080" cy="640080"/>
          </a:xfrm>
          <a:prstGeom prst="ellipse">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930859" y="1845259"/>
            <a:ext cx="332842" cy="332842"/>
          </a:xfrm>
          <a:prstGeom prst="rect">
            <a:avLst/>
          </a:prstGeom>
        </p:spPr>
      </p:pic>
      <p:sp>
        <p:nvSpPr>
          <p:cNvPr id="7" name="Text 4"/>
          <p:cNvSpPr txBox="1"/>
          <p:nvPr/>
        </p:nvSpPr>
        <p:spPr>
          <a:xfrm>
            <a:off x="1554480" y="1691640"/>
            <a:ext cx="2468880" cy="64008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Reproduction</a:t>
            </a:r>
            <a:endParaRPr lang="en-US" sz="1700" dirty="0"/>
          </a:p>
        </p:txBody>
      </p:sp>
      <p:sp>
        <p:nvSpPr>
          <p:cNvPr id="8" name="Text 5"/>
          <p:cNvSpPr txBox="1"/>
          <p:nvPr/>
        </p:nvSpPr>
        <p:spPr>
          <a:xfrm>
            <a:off x="777240" y="2514600"/>
            <a:ext cx="3154680" cy="28346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F2A1F"/>
                </a:solidFill>
                <a:latin typeface="Calibri" pitchFamily="34" charset="0"/>
                <a:ea typeface="Calibri" pitchFamily="34" charset="-122"/>
                <a:cs typeface="Calibri" pitchFamily="34" charset="-120"/>
              </a:rPr>
              <a:t>Heat detected + optimal insemination window</a:t>
            </a:r>
            <a:endParaRPr lang="en-US" sz="1250" dirty="0"/>
          </a:p>
          <a:p>
            <a:pPr marL="177800" indent="-177800">
              <a:spcAft>
                <a:spcPts val="800"/>
              </a:spcAft>
              <a:buSzPct val="100000"/>
              <a:buChar char="•"/>
            </a:pPr>
            <a:r>
              <a:rPr lang="en-US" sz="1250" dirty="0">
                <a:solidFill>
                  <a:srgbClr val="1F2A1F"/>
                </a:solidFill>
                <a:latin typeface="Calibri" pitchFamily="34" charset="0"/>
                <a:ea typeface="Calibri" pitchFamily="34" charset="-122"/>
                <a:cs typeface="Calibri" pitchFamily="34" charset="-120"/>
              </a:rPr>
              <a:t>Calving imminent (typically 10–20 h ahead)</a:t>
            </a:r>
            <a:endParaRPr lang="en-US" sz="1250" dirty="0"/>
          </a:p>
          <a:p>
            <a:pPr marL="177800" indent="-177800">
              <a:spcAft>
                <a:spcPts val="800"/>
              </a:spcAft>
              <a:buSzPct val="100000"/>
              <a:buChar char="•"/>
            </a:pPr>
            <a:r>
              <a:rPr lang="en-US" sz="1250" dirty="0">
                <a:solidFill>
                  <a:srgbClr val="1F2A1F"/>
                </a:solidFill>
                <a:latin typeface="Calibri" pitchFamily="34" charset="0"/>
                <a:ea typeface="Calibri" pitchFamily="34" charset="-122"/>
                <a:cs typeface="Calibri" pitchFamily="34" charset="-120"/>
              </a:rPr>
              <a:t>Post-calving recovery watch (fever, rumination)</a:t>
            </a:r>
            <a:endParaRPr lang="en-US" sz="1250" dirty="0"/>
          </a:p>
        </p:txBody>
      </p:sp>
      <p:sp>
        <p:nvSpPr>
          <p:cNvPr id="9" name="Shape 6"/>
          <p:cNvSpPr/>
          <p:nvPr/>
        </p:nvSpPr>
        <p:spPr>
          <a:xfrm>
            <a:off x="4297680" y="1463040"/>
            <a:ext cx="3611880" cy="3931920"/>
          </a:xfrm>
          <a:prstGeom prst="roundRect">
            <a:avLst>
              <a:gd name="adj" fmla="val 3038"/>
            </a:avLst>
          </a:prstGeom>
          <a:solidFill>
            <a:srgbClr val="F6F9F2"/>
          </a:solidFill>
          <a:ln w="12700">
            <a:solidFill>
              <a:srgbClr val="F6F9F2"/>
            </a:solidFill>
            <a:prstDash val="solid"/>
          </a:ln>
        </p:spPr>
      </p:sp>
      <p:sp>
        <p:nvSpPr>
          <p:cNvPr id="10" name="Shape 7"/>
          <p:cNvSpPr/>
          <p:nvPr/>
        </p:nvSpPr>
        <p:spPr>
          <a:xfrm>
            <a:off x="4526280" y="1691640"/>
            <a:ext cx="640080" cy="640080"/>
          </a:xfrm>
          <a:prstGeom prst="ellipse">
            <a:avLst/>
          </a:prstGeom>
          <a:solidFill>
            <a:srgbClr val="B85042"/>
          </a:solidFill>
          <a:ln w="12700">
            <a:solidFill>
              <a:srgbClr val="B85042"/>
            </a:solidFill>
            <a:prstDash val="solid"/>
          </a:ln>
        </p:spPr>
      </p:sp>
      <p:pic>
        <p:nvPicPr>
          <p:cNvPr id="11" name="Image 1" descr="preencoded.png">    </p:cNvPr>
          <p:cNvPicPr>
            <a:picLocks noChangeAspect="1"/>
          </p:cNvPicPr>
          <p:nvPr/>
        </p:nvPicPr>
        <p:blipFill>
          <a:blip r:embed="rId2"/>
          <a:stretch>
            <a:fillRect/>
          </a:stretch>
        </p:blipFill>
        <p:spPr>
          <a:xfrm>
            <a:off x="4679899" y="1845259"/>
            <a:ext cx="332842" cy="332842"/>
          </a:xfrm>
          <a:prstGeom prst="rect">
            <a:avLst/>
          </a:prstGeom>
        </p:spPr>
      </p:pic>
      <p:sp>
        <p:nvSpPr>
          <p:cNvPr id="12" name="Text 8"/>
          <p:cNvSpPr txBox="1"/>
          <p:nvPr/>
        </p:nvSpPr>
        <p:spPr>
          <a:xfrm>
            <a:off x="5303520" y="1691640"/>
            <a:ext cx="2468880" cy="64008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Health</a:t>
            </a:r>
            <a:endParaRPr lang="en-US" sz="1700" dirty="0"/>
          </a:p>
        </p:txBody>
      </p:sp>
      <p:sp>
        <p:nvSpPr>
          <p:cNvPr id="13" name="Text 9"/>
          <p:cNvSpPr txBox="1"/>
          <p:nvPr/>
        </p:nvSpPr>
        <p:spPr>
          <a:xfrm>
            <a:off x="4526280" y="2514600"/>
            <a:ext cx="3154680" cy="28346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F2A1F"/>
                </a:solidFill>
                <a:latin typeface="Calibri" pitchFamily="34" charset="0"/>
                <a:ea typeface="Calibri" pitchFamily="34" charset="-122"/>
                <a:cs typeface="Calibri" pitchFamily="34" charset="-120"/>
              </a:rPr>
              <a:t>Temperature rise (fever) — up to ~4 days before clinical signs</a:t>
            </a:r>
            <a:endParaRPr lang="en-US" sz="1250" dirty="0"/>
          </a:p>
          <a:p>
            <a:pPr marL="177800" indent="-177800">
              <a:spcAft>
                <a:spcPts val="800"/>
              </a:spcAft>
              <a:buSzPct val="100000"/>
              <a:buChar char="•"/>
            </a:pPr>
            <a:r>
              <a:rPr lang="en-US" sz="1250" dirty="0">
                <a:solidFill>
                  <a:srgbClr val="1F2A1F"/>
                </a:solidFill>
                <a:latin typeface="Calibri" pitchFamily="34" charset="0"/>
                <a:ea typeface="Calibri" pitchFamily="34" charset="-122"/>
                <a:cs typeface="Calibri" pitchFamily="34" charset="-120"/>
              </a:rPr>
              <a:t>Rumination drop · activity drop</a:t>
            </a:r>
            <a:endParaRPr lang="en-US" sz="1250" dirty="0"/>
          </a:p>
          <a:p>
            <a:pPr marL="177800" indent="-177800">
              <a:spcAft>
                <a:spcPts val="800"/>
              </a:spcAft>
              <a:buSzPct val="100000"/>
              <a:buChar char="•"/>
            </a:pPr>
            <a:r>
              <a:rPr lang="en-US" sz="1250" dirty="0">
                <a:solidFill>
                  <a:srgbClr val="1F2A1F"/>
                </a:solidFill>
                <a:latin typeface="Calibri" pitchFamily="34" charset="0"/>
                <a:ea typeface="Calibri" pitchFamily="34" charset="-122"/>
                <a:cs typeface="Calibri" pitchFamily="34" charset="-120"/>
              </a:rPr>
              <a:t>Suspected ketosis · milk fever · mastitis</a:t>
            </a:r>
            <a:endParaRPr lang="en-US" sz="1250" dirty="0"/>
          </a:p>
          <a:p>
            <a:pPr marL="177800" indent="-177800">
              <a:spcAft>
                <a:spcPts val="800"/>
              </a:spcAft>
              <a:buSzPct val="100000"/>
              <a:buChar char="•"/>
            </a:pPr>
            <a:r>
              <a:rPr lang="en-US" sz="1250" dirty="0">
                <a:solidFill>
                  <a:srgbClr val="1F2A1F"/>
                </a:solidFill>
                <a:latin typeface="Calibri" pitchFamily="34" charset="0"/>
                <a:ea typeface="Calibri" pitchFamily="34" charset="-122"/>
                <a:cs typeface="Calibri" pitchFamily="34" charset="-120"/>
              </a:rPr>
              <a:t>Reduced water intake · reduced feed intake</a:t>
            </a:r>
            <a:endParaRPr lang="en-US" sz="1250" dirty="0"/>
          </a:p>
        </p:txBody>
      </p:sp>
      <p:sp>
        <p:nvSpPr>
          <p:cNvPr id="14" name="Shape 10"/>
          <p:cNvSpPr/>
          <p:nvPr/>
        </p:nvSpPr>
        <p:spPr>
          <a:xfrm>
            <a:off x="8046720" y="1463040"/>
            <a:ext cx="3611880" cy="3931920"/>
          </a:xfrm>
          <a:prstGeom prst="roundRect">
            <a:avLst>
              <a:gd name="adj" fmla="val 3038"/>
            </a:avLst>
          </a:prstGeom>
          <a:solidFill>
            <a:srgbClr val="F6F9F2"/>
          </a:solidFill>
          <a:ln w="12700">
            <a:solidFill>
              <a:srgbClr val="F6F9F2"/>
            </a:solidFill>
            <a:prstDash val="solid"/>
          </a:ln>
        </p:spPr>
      </p:sp>
      <p:sp>
        <p:nvSpPr>
          <p:cNvPr id="15" name="Shape 11"/>
          <p:cNvSpPr/>
          <p:nvPr/>
        </p:nvSpPr>
        <p:spPr>
          <a:xfrm>
            <a:off x="8275320" y="1691640"/>
            <a:ext cx="640080" cy="640080"/>
          </a:xfrm>
          <a:prstGeom prst="ellipse">
            <a:avLst/>
          </a:prstGeom>
          <a:solidFill>
            <a:srgbClr val="D9A441"/>
          </a:solidFill>
          <a:ln w="12700">
            <a:solidFill>
              <a:srgbClr val="D9A441"/>
            </a:solidFill>
            <a:prstDash val="solid"/>
          </a:ln>
        </p:spPr>
      </p:sp>
      <p:pic>
        <p:nvPicPr>
          <p:cNvPr id="16" name="Image 2" descr="preencoded.png">    </p:cNvPr>
          <p:cNvPicPr>
            <a:picLocks noChangeAspect="1"/>
          </p:cNvPicPr>
          <p:nvPr/>
        </p:nvPicPr>
        <p:blipFill>
          <a:blip r:embed="rId3"/>
          <a:stretch>
            <a:fillRect/>
          </a:stretch>
        </p:blipFill>
        <p:spPr>
          <a:xfrm>
            <a:off x="8428939" y="1845259"/>
            <a:ext cx="332842" cy="332842"/>
          </a:xfrm>
          <a:prstGeom prst="rect">
            <a:avLst/>
          </a:prstGeom>
        </p:spPr>
      </p:pic>
      <p:sp>
        <p:nvSpPr>
          <p:cNvPr id="17" name="Text 12"/>
          <p:cNvSpPr txBox="1"/>
          <p:nvPr/>
        </p:nvSpPr>
        <p:spPr>
          <a:xfrm>
            <a:off x="9052560" y="1691640"/>
            <a:ext cx="2468880" cy="64008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Feeding &amp; environment</a:t>
            </a:r>
            <a:endParaRPr lang="en-US" sz="1700" dirty="0"/>
          </a:p>
        </p:txBody>
      </p:sp>
      <p:sp>
        <p:nvSpPr>
          <p:cNvPr id="18" name="Text 13"/>
          <p:cNvSpPr txBox="1"/>
          <p:nvPr/>
        </p:nvSpPr>
        <p:spPr>
          <a:xfrm>
            <a:off x="8275320" y="2514600"/>
            <a:ext cx="3154680" cy="28346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F2A1F"/>
                </a:solidFill>
                <a:latin typeface="Calibri" pitchFamily="34" charset="0"/>
                <a:ea typeface="Calibri" pitchFamily="34" charset="-122"/>
                <a:cs typeface="Calibri" pitchFamily="34" charset="-120"/>
              </a:rPr>
              <a:t>Heat-stress alert per animal and per barn (THI)</a:t>
            </a:r>
            <a:endParaRPr lang="en-US" sz="1250" dirty="0"/>
          </a:p>
          <a:p>
            <a:pPr marL="177800" indent="-177800">
              <a:spcAft>
                <a:spcPts val="800"/>
              </a:spcAft>
              <a:buSzPct val="100000"/>
              <a:buChar char="•"/>
            </a:pPr>
            <a:r>
              <a:rPr lang="en-US" sz="1250" dirty="0">
                <a:solidFill>
                  <a:srgbClr val="1F2A1F"/>
                </a:solidFill>
                <a:latin typeface="Calibri" pitchFamily="34" charset="0"/>
                <a:ea typeface="Calibri" pitchFamily="34" charset="-122"/>
                <a:cs typeface="Calibri" pitchFamily="34" charset="-120"/>
              </a:rPr>
              <a:t>Ration change effects on rumination (and pH with premium bolus)</a:t>
            </a:r>
            <a:endParaRPr lang="en-US" sz="1250" dirty="0"/>
          </a:p>
          <a:p>
            <a:pPr marL="177800" indent="-177800">
              <a:spcAft>
                <a:spcPts val="800"/>
              </a:spcAft>
              <a:buSzPct val="100000"/>
              <a:buChar char="•"/>
            </a:pPr>
            <a:r>
              <a:rPr lang="en-US" sz="1250" dirty="0">
                <a:solidFill>
                  <a:srgbClr val="1F2A1F"/>
                </a:solidFill>
                <a:latin typeface="Calibri" pitchFamily="34" charset="0"/>
                <a:ea typeface="Calibri" pitchFamily="34" charset="-122"/>
                <a:cs typeface="Calibri" pitchFamily="34" charset="-120"/>
              </a:rPr>
              <a:t>Group-level trends for feeding management</a:t>
            </a:r>
            <a:endParaRPr lang="en-US" sz="1250" dirty="0"/>
          </a:p>
        </p:txBody>
      </p:sp>
      <p:sp>
        <p:nvSpPr>
          <p:cNvPr id="19" name="Shape 14"/>
          <p:cNvSpPr/>
          <p:nvPr/>
        </p:nvSpPr>
        <p:spPr>
          <a:xfrm>
            <a:off x="548640" y="5532120"/>
            <a:ext cx="11094415" cy="640080"/>
          </a:xfrm>
          <a:prstGeom prst="roundRect">
            <a:avLst>
              <a:gd name="adj" fmla="val 17143"/>
            </a:avLst>
          </a:prstGeom>
          <a:solidFill>
            <a:srgbClr val="EEF4E6"/>
          </a:solidFill>
          <a:ln w="12700">
            <a:solidFill>
              <a:srgbClr val="EEF4E6"/>
            </a:solidFill>
            <a:prstDash val="solid"/>
          </a:ln>
        </p:spPr>
      </p:sp>
      <p:sp>
        <p:nvSpPr>
          <p:cNvPr id="20" name="Text 15"/>
          <p:cNvSpPr txBox="1"/>
          <p:nvPr/>
        </p:nvSpPr>
        <p:spPr>
          <a:xfrm>
            <a:off x="777240" y="5577840"/>
            <a:ext cx="10637215" cy="548640"/>
          </a:xfrm>
          <a:prstGeom prst="rect">
            <a:avLst/>
          </a:prstGeom>
          <a:noFill/>
          <a:ln/>
        </p:spPr>
        <p:txBody>
          <a:bodyPr wrap="square" lIns="0" tIns="0" rIns="0" bIns="0" rtlCol="0" anchor="ctr"/>
          <a:lstStyle/>
          <a:p>
            <a:pPr indent="0" marL="0">
              <a:buNone/>
            </a:pPr>
            <a:r>
              <a:rPr lang="en-US" sz="1100" i="1" dirty="0">
                <a:solidFill>
                  <a:srgbClr val="5B6B5B"/>
                </a:solidFill>
                <a:latin typeface="Calibri" pitchFamily="34" charset="0"/>
                <a:ea typeface="Calibri" pitchFamily="34" charset="-122"/>
                <a:cs typeface="Calibri" pitchFamily="34" charset="-120"/>
              </a:rPr>
              <a:t>Performance figures (heat detection &gt; 90%, calving detection &gt; 90%, illness alerts days before clinical signs, antibiotic reduction up to 70%) are manufacturer and user reports from cattle herds. They are targets to verify in the Philippine pilot, not guarantees.</a:t>
            </a:r>
            <a:endParaRPr lang="en-US" sz="1100" dirty="0"/>
          </a:p>
        </p:txBody>
      </p:sp>
      <p:sp>
        <p:nvSpPr>
          <p:cNvPr id="21" name="Text 1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22" name="Text 1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3 · DIGITAL MONITORING</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Case 1 · Heat alert — the activity curve tells you when</a:t>
            </a:r>
            <a:endParaRPr lang="en-US" sz="2600" dirty="0"/>
          </a:p>
        </p:txBody>
      </p:sp>
      <p:graphicFrame>
        <p:nvGraphicFramePr>
          <p:cNvPr id="4" name="Chart 0" descr=""/>
          <p:cNvGraphicFramePr/>
          <p:nvPr/>
        </p:nvGraphicFramePr>
        <p:xfrm>
          <a:off x="548640" y="1371600"/>
          <a:ext cx="713232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257800"/>
            <a:ext cx="7132320" cy="365760"/>
          </a:xfrm>
          <a:prstGeom prst="rect">
            <a:avLst/>
          </a:prstGeom>
          <a:noFill/>
          <a:ln/>
        </p:spPr>
        <p:txBody>
          <a:bodyPr wrap="square" lIns="0" tIns="0" rIns="0" bIns="0" rtlCol="0" anchor="ctr"/>
          <a:lstStyle/>
          <a:p>
            <a:pPr indent="0" marL="0">
              <a:buNone/>
            </a:pPr>
            <a:r>
              <a:rPr lang="en-US" sz="1000" i="1" dirty="0">
                <a:solidFill>
                  <a:srgbClr val="5B6B5B"/>
                </a:solidFill>
                <a:latin typeface="Calibri" pitchFamily="34" charset="0"/>
                <a:ea typeface="Calibri" pitchFamily="34" charset="-122"/>
                <a:cs typeface="Calibri" pitchFamily="34" charset="-120"/>
              </a:rPr>
              <a:t>Illustrative curve, not measured data. Real alerts also use temperature and the animal’s own baseline.</a:t>
            </a:r>
            <a:endParaRPr lang="en-US" sz="1000" dirty="0"/>
          </a:p>
        </p:txBody>
      </p:sp>
      <p:sp>
        <p:nvSpPr>
          <p:cNvPr id="6" name="Shape 3"/>
          <p:cNvSpPr/>
          <p:nvPr/>
        </p:nvSpPr>
        <p:spPr>
          <a:xfrm>
            <a:off x="8046720" y="1371600"/>
            <a:ext cx="3611880" cy="4754880"/>
          </a:xfrm>
          <a:prstGeom prst="roundRect">
            <a:avLst>
              <a:gd name="adj" fmla="val 3038"/>
            </a:avLst>
          </a:prstGeom>
          <a:solidFill>
            <a:srgbClr val="EEF4E6"/>
          </a:solidFill>
          <a:ln w="12700">
            <a:solidFill>
              <a:srgbClr val="EEF4E6"/>
            </a:solidFill>
            <a:prstDash val="solid"/>
          </a:ln>
        </p:spPr>
      </p:sp>
      <p:sp>
        <p:nvSpPr>
          <p:cNvPr id="7" name="Text 4"/>
          <p:cNvSpPr txBox="1"/>
          <p:nvPr/>
        </p:nvSpPr>
        <p:spPr>
          <a:xfrm>
            <a:off x="8275320" y="1508760"/>
            <a:ext cx="320040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What the technician does</a:t>
            </a:r>
            <a:endParaRPr lang="en-US" sz="1500" dirty="0"/>
          </a:p>
        </p:txBody>
      </p:sp>
      <p:sp>
        <p:nvSpPr>
          <p:cNvPr id="8" name="Text 5"/>
          <p:cNvSpPr txBox="1"/>
          <p:nvPr/>
        </p:nvSpPr>
        <p:spPr>
          <a:xfrm>
            <a:off x="8275320" y="1965960"/>
            <a:ext cx="3200400" cy="40233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Alert at 20:00 with onset time; app shows the insemination window (next morning)</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Confirm on farm: mucus, tail-paint, standing — or trust the sensor for silent heats</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Inseminate inside the window; record AI + sire in NDHIS</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Next expected heat and pregnancy-check date are generated automatically</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Reported outcomes in cattle herds: fewer missed heats, days open reduced by up to ~25% (user reports)</a:t>
            </a:r>
            <a:endParaRPr lang="en-US" sz="1200" dirty="0"/>
          </a:p>
        </p:txBody>
      </p:sp>
      <p:sp>
        <p:nvSpPr>
          <p:cNvPr id="9" name="Text 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10" name="Text 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3 · DIGITAL MONITORING</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Case 2 · Calving alert and the fresh-cow watch</a:t>
            </a:r>
            <a:endParaRPr lang="en-US" sz="2600" dirty="0"/>
          </a:p>
        </p:txBody>
      </p:sp>
      <p:graphicFrame>
        <p:nvGraphicFramePr>
          <p:cNvPr id="4" name="Chart 0" descr=""/>
          <p:cNvGraphicFramePr/>
          <p:nvPr/>
        </p:nvGraphicFramePr>
        <p:xfrm>
          <a:off x="548640" y="1371600"/>
          <a:ext cx="713232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257800"/>
            <a:ext cx="7132320" cy="548640"/>
          </a:xfrm>
          <a:prstGeom prst="rect">
            <a:avLst/>
          </a:prstGeom>
          <a:noFill/>
          <a:ln/>
        </p:spPr>
        <p:txBody>
          <a:bodyPr wrap="square" lIns="0" tIns="0" rIns="0" bIns="0" rtlCol="0" anchor="ctr"/>
          <a:lstStyle/>
          <a:p>
            <a:pPr indent="0" marL="0">
              <a:buNone/>
            </a:pPr>
            <a:r>
              <a:rPr lang="en-US" sz="1000" i="1" dirty="0">
                <a:solidFill>
                  <a:srgbClr val="5B6B5B"/>
                </a:solidFill>
                <a:latin typeface="Calibri" pitchFamily="34" charset="0"/>
                <a:ea typeface="Calibri" pitchFamily="34" charset="-122"/>
                <a:cs typeface="Calibri" pitchFamily="34" charset="-120"/>
              </a:rPr>
              <a:t>Illustrative curve. A 2017 performance study at Georg-August-University Göttingen reported most calving alerts 10–20 h before calving (manufacturer citation).</a:t>
            </a:r>
            <a:endParaRPr lang="en-US" sz="1000" dirty="0"/>
          </a:p>
        </p:txBody>
      </p:sp>
      <p:sp>
        <p:nvSpPr>
          <p:cNvPr id="6" name="Shape 3"/>
          <p:cNvSpPr/>
          <p:nvPr/>
        </p:nvSpPr>
        <p:spPr>
          <a:xfrm>
            <a:off x="8046720" y="1371600"/>
            <a:ext cx="3611880" cy="4754880"/>
          </a:xfrm>
          <a:prstGeom prst="roundRect">
            <a:avLst>
              <a:gd name="adj" fmla="val 3038"/>
            </a:avLst>
          </a:prstGeom>
          <a:solidFill>
            <a:srgbClr val="EEF4E6"/>
          </a:solidFill>
          <a:ln w="12700">
            <a:solidFill>
              <a:srgbClr val="EEF4E6"/>
            </a:solidFill>
            <a:prstDash val="solid"/>
          </a:ln>
        </p:spPr>
      </p:sp>
      <p:sp>
        <p:nvSpPr>
          <p:cNvPr id="7" name="Text 4"/>
          <p:cNvSpPr txBox="1"/>
          <p:nvPr/>
        </p:nvSpPr>
        <p:spPr>
          <a:xfrm>
            <a:off x="8275320" y="1508760"/>
            <a:ext cx="320040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Action list</a:t>
            </a:r>
            <a:endParaRPr lang="en-US" sz="1500" dirty="0"/>
          </a:p>
        </p:txBody>
      </p:sp>
      <p:sp>
        <p:nvSpPr>
          <p:cNvPr id="8" name="Text 5"/>
          <p:cNvSpPr txBox="1"/>
          <p:nvPr/>
        </p:nvSpPr>
        <p:spPr>
          <a:xfrm>
            <a:off x="8275320" y="1965960"/>
            <a:ext cx="3200400" cy="40233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Calving alert → move to clean pen, prepare colostrum, plan the night check</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No progress alerts? Still apply the 30 min / 2 h rules from Module 1</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Days 1–14: temperature and rumination watch — metritis, ketosis and mastitis show here first</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Fever alert on day 3 → examine, CMT, discharge check → treat per protocol</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Enter calving ease, calf ID and every treatment in NDHIS / iHealth</a:t>
            </a:r>
            <a:endParaRPr lang="en-US" sz="1200" dirty="0"/>
          </a:p>
        </p:txBody>
      </p:sp>
      <p:sp>
        <p:nvSpPr>
          <p:cNvPr id="9" name="Text 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10" name="Text 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3 · DIGITAL MONITORING</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Case 3 · Early mastitis detection saves the lactation</a:t>
            </a:r>
            <a:endParaRPr lang="en-US" sz="2600" dirty="0"/>
          </a:p>
        </p:txBody>
      </p:sp>
      <p:graphicFrame>
        <p:nvGraphicFramePr>
          <p:cNvPr id="4" name="Chart 0" descr=""/>
          <p:cNvGraphicFramePr/>
          <p:nvPr/>
        </p:nvGraphicFramePr>
        <p:xfrm>
          <a:off x="548640" y="1371600"/>
          <a:ext cx="713232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257800"/>
            <a:ext cx="7132320" cy="365760"/>
          </a:xfrm>
          <a:prstGeom prst="rect">
            <a:avLst/>
          </a:prstGeom>
          <a:noFill/>
          <a:ln/>
        </p:spPr>
        <p:txBody>
          <a:bodyPr wrap="square" lIns="0" tIns="0" rIns="0" bIns="0" rtlCol="0" anchor="ctr"/>
          <a:lstStyle/>
          <a:p>
            <a:pPr indent="0" marL="0">
              <a:buNone/>
            </a:pPr>
            <a:r>
              <a:rPr lang="en-US" sz="1000" i="1" dirty="0">
                <a:solidFill>
                  <a:srgbClr val="5B6B5B"/>
                </a:solidFill>
                <a:latin typeface="Calibri" pitchFamily="34" charset="0"/>
                <a:ea typeface="Calibri" pitchFamily="34" charset="-122"/>
                <a:cs typeface="Calibri" pitchFamily="34" charset="-120"/>
              </a:rPr>
              <a:t>Illustrative curves based on the pattern reported by smaXtec users; actual losses vary with pathogen and treatment.</a:t>
            </a:r>
            <a:endParaRPr lang="en-US" sz="1000" dirty="0"/>
          </a:p>
        </p:txBody>
      </p:sp>
      <p:sp>
        <p:nvSpPr>
          <p:cNvPr id="6" name="Shape 3"/>
          <p:cNvSpPr/>
          <p:nvPr/>
        </p:nvSpPr>
        <p:spPr>
          <a:xfrm>
            <a:off x="8046720" y="1371600"/>
            <a:ext cx="3611880" cy="4754880"/>
          </a:xfrm>
          <a:prstGeom prst="roundRect">
            <a:avLst>
              <a:gd name="adj" fmla="val 3038"/>
            </a:avLst>
          </a:prstGeom>
          <a:solidFill>
            <a:srgbClr val="EEF4E6"/>
          </a:solidFill>
          <a:ln w="12700">
            <a:solidFill>
              <a:srgbClr val="EEF4E6"/>
            </a:solidFill>
            <a:prstDash val="solid"/>
          </a:ln>
        </p:spPr>
      </p:sp>
      <p:sp>
        <p:nvSpPr>
          <p:cNvPr id="7" name="Text 4"/>
          <p:cNvSpPr txBox="1"/>
          <p:nvPr/>
        </p:nvSpPr>
        <p:spPr>
          <a:xfrm>
            <a:off x="8275320" y="1508760"/>
            <a:ext cx="320040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Why early matters</a:t>
            </a:r>
            <a:endParaRPr lang="en-US" sz="1500" dirty="0"/>
          </a:p>
        </p:txBody>
      </p:sp>
      <p:sp>
        <p:nvSpPr>
          <p:cNvPr id="8" name="Text 5"/>
          <p:cNvSpPr txBox="1"/>
          <p:nvPr/>
        </p:nvSpPr>
        <p:spPr>
          <a:xfrm>
            <a:off x="8275320" y="1965960"/>
            <a:ext cx="3200400" cy="40233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Temperature and rumination change 1–4 days before milk looks abnormal (reported)</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Early case: often mild → strip, NSAID, monitor; fewer antibiotics, shorter withdrawal</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Late case: acute quarter, systemic signs, permanent tissue damage, lower peak</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Each early case saves discarded milk, drugs and — most of all — the rest of the lactation</a:t>
            </a:r>
            <a:endParaRPr lang="en-US" sz="1200" dirty="0"/>
          </a:p>
          <a:p>
            <a:pPr marL="177800" indent="-177800">
              <a:spcAft>
                <a:spcPts val="600"/>
              </a:spcAft>
              <a:buSzPct val="100000"/>
              <a:buChar char="•"/>
            </a:pPr>
            <a:r>
              <a:rPr lang="en-US" sz="1200" dirty="0">
                <a:solidFill>
                  <a:srgbClr val="1F2A1F"/>
                </a:solidFill>
                <a:latin typeface="Calibri" pitchFamily="34" charset="0"/>
                <a:ea typeface="Calibri" pitchFamily="34" charset="-122"/>
                <a:cs typeface="Calibri" pitchFamily="34" charset="-120"/>
              </a:rPr>
              <a:t>Combine: sensor alert → CMT → decision → record</a:t>
            </a:r>
            <a:endParaRPr lang="en-US" sz="1200" dirty="0"/>
          </a:p>
        </p:txBody>
      </p:sp>
      <p:sp>
        <p:nvSpPr>
          <p:cNvPr id="9" name="Text 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10" name="Text 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3 · DIGITAL MONITORING</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Case 4 · Herd-level signals across the whole farm</a:t>
            </a:r>
            <a:endParaRPr lang="en-US" sz="2600" dirty="0"/>
          </a:p>
        </p:txBody>
      </p:sp>
      <p:sp>
        <p:nvSpPr>
          <p:cNvPr id="4" name="Shape 2"/>
          <p:cNvSpPr/>
          <p:nvPr/>
        </p:nvSpPr>
        <p:spPr>
          <a:xfrm>
            <a:off x="548640" y="1463040"/>
            <a:ext cx="5440680" cy="2148840"/>
          </a:xfrm>
          <a:prstGeom prst="roundRect">
            <a:avLst>
              <a:gd name="adj" fmla="val 5106"/>
            </a:avLst>
          </a:prstGeom>
          <a:solidFill>
            <a:srgbClr val="F6F9F2"/>
          </a:solidFill>
          <a:ln w="12700">
            <a:solidFill>
              <a:srgbClr val="F6F9F2"/>
            </a:solidFill>
            <a:prstDash val="solid"/>
          </a:ln>
        </p:spPr>
      </p:sp>
      <p:sp>
        <p:nvSpPr>
          <p:cNvPr id="5" name="Shape 3"/>
          <p:cNvSpPr/>
          <p:nvPr/>
        </p:nvSpPr>
        <p:spPr>
          <a:xfrm>
            <a:off x="777240" y="1691640"/>
            <a:ext cx="640080" cy="640080"/>
          </a:xfrm>
          <a:prstGeom prst="ellipse">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930859" y="1845259"/>
            <a:ext cx="332842" cy="332842"/>
          </a:xfrm>
          <a:prstGeom prst="rect">
            <a:avLst/>
          </a:prstGeom>
        </p:spPr>
      </p:pic>
      <p:sp>
        <p:nvSpPr>
          <p:cNvPr id="7" name="Text 4"/>
          <p:cNvSpPr txBox="1"/>
          <p:nvPr/>
        </p:nvSpPr>
        <p:spPr>
          <a:xfrm>
            <a:off x="1554480" y="1691640"/>
            <a:ext cx="4206240" cy="6400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Vaccination reaction</a:t>
            </a:r>
            <a:endParaRPr lang="en-US" sz="1600" dirty="0"/>
          </a:p>
        </p:txBody>
      </p:sp>
      <p:sp>
        <p:nvSpPr>
          <p:cNvPr id="8" name="Text 5"/>
          <p:cNvSpPr txBox="1"/>
          <p:nvPr/>
        </p:nvSpPr>
        <p:spPr>
          <a:xfrm>
            <a:off x="777240" y="2423160"/>
            <a:ext cx="4983480" cy="109728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Many animals show a temperature rise 1–2 days after vaccination. Normal — but it tells you the vaccine was given and how the herd responded.</a:t>
            </a:r>
            <a:endParaRPr lang="en-US" sz="1200" dirty="0"/>
          </a:p>
        </p:txBody>
      </p:sp>
      <p:sp>
        <p:nvSpPr>
          <p:cNvPr id="9" name="Shape 6"/>
          <p:cNvSpPr/>
          <p:nvPr/>
        </p:nvSpPr>
        <p:spPr>
          <a:xfrm>
            <a:off x="6172200" y="1463040"/>
            <a:ext cx="5440680" cy="2148840"/>
          </a:xfrm>
          <a:prstGeom prst="roundRect">
            <a:avLst>
              <a:gd name="adj" fmla="val 5106"/>
            </a:avLst>
          </a:prstGeom>
          <a:solidFill>
            <a:srgbClr val="F6F9F2"/>
          </a:solidFill>
          <a:ln w="12700">
            <a:solidFill>
              <a:srgbClr val="F6F9F2"/>
            </a:solidFill>
            <a:prstDash val="solid"/>
          </a:ln>
        </p:spPr>
      </p:sp>
      <p:sp>
        <p:nvSpPr>
          <p:cNvPr id="10" name="Shape 7"/>
          <p:cNvSpPr/>
          <p:nvPr/>
        </p:nvSpPr>
        <p:spPr>
          <a:xfrm>
            <a:off x="6400800" y="1691640"/>
            <a:ext cx="640080" cy="640080"/>
          </a:xfrm>
          <a:prstGeom prst="ellipse">
            <a:avLst/>
          </a:prstGeom>
          <a:solidFill>
            <a:srgbClr val="2C5F2D"/>
          </a:solidFill>
          <a:ln w="12700">
            <a:solidFill>
              <a:srgbClr val="2C5F2D"/>
            </a:solidFill>
            <a:prstDash val="solid"/>
          </a:ln>
        </p:spPr>
      </p:sp>
      <p:pic>
        <p:nvPicPr>
          <p:cNvPr id="11" name="Image 1" descr="preencoded.png">    </p:cNvPr>
          <p:cNvPicPr>
            <a:picLocks noChangeAspect="1"/>
          </p:cNvPicPr>
          <p:nvPr/>
        </p:nvPicPr>
        <p:blipFill>
          <a:blip r:embed="rId2"/>
          <a:stretch>
            <a:fillRect/>
          </a:stretch>
        </p:blipFill>
        <p:spPr>
          <a:xfrm>
            <a:off x="6554419" y="1845259"/>
            <a:ext cx="332842" cy="332842"/>
          </a:xfrm>
          <a:prstGeom prst="rect">
            <a:avLst/>
          </a:prstGeom>
        </p:spPr>
      </p:pic>
      <p:sp>
        <p:nvSpPr>
          <p:cNvPr id="12" name="Text 8"/>
          <p:cNvSpPr txBox="1"/>
          <p:nvPr/>
        </p:nvSpPr>
        <p:spPr>
          <a:xfrm>
            <a:off x="7178040" y="1691640"/>
            <a:ext cx="4206240" cy="6400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Infectious outbreak</a:t>
            </a:r>
            <a:endParaRPr lang="en-US" sz="1600" dirty="0"/>
          </a:p>
        </p:txBody>
      </p:sp>
      <p:sp>
        <p:nvSpPr>
          <p:cNvPr id="13" name="Text 9"/>
          <p:cNvSpPr txBox="1"/>
          <p:nvPr/>
        </p:nvSpPr>
        <p:spPr>
          <a:xfrm>
            <a:off x="6400800" y="2423160"/>
            <a:ext cx="4983480" cy="109728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A temperature rise across many animals with no vaccination = investigate today. Early warning for FMD, HS and respiratory disease.</a:t>
            </a:r>
            <a:endParaRPr lang="en-US" sz="1200" dirty="0"/>
          </a:p>
        </p:txBody>
      </p:sp>
      <p:sp>
        <p:nvSpPr>
          <p:cNvPr id="14" name="Shape 10"/>
          <p:cNvSpPr/>
          <p:nvPr/>
        </p:nvSpPr>
        <p:spPr>
          <a:xfrm>
            <a:off x="548640" y="3794760"/>
            <a:ext cx="5440680" cy="2148840"/>
          </a:xfrm>
          <a:prstGeom prst="roundRect">
            <a:avLst>
              <a:gd name="adj" fmla="val 5106"/>
            </a:avLst>
          </a:prstGeom>
          <a:solidFill>
            <a:srgbClr val="F6F9F2"/>
          </a:solidFill>
          <a:ln w="12700">
            <a:solidFill>
              <a:srgbClr val="F6F9F2"/>
            </a:solidFill>
            <a:prstDash val="solid"/>
          </a:ln>
        </p:spPr>
      </p:sp>
      <p:sp>
        <p:nvSpPr>
          <p:cNvPr id="15" name="Shape 11"/>
          <p:cNvSpPr/>
          <p:nvPr/>
        </p:nvSpPr>
        <p:spPr>
          <a:xfrm>
            <a:off x="777240" y="4023360"/>
            <a:ext cx="640080" cy="640080"/>
          </a:xfrm>
          <a:prstGeom prst="ellipse">
            <a:avLst/>
          </a:prstGeom>
          <a:solidFill>
            <a:srgbClr val="2C5F2D"/>
          </a:solidFill>
          <a:ln w="12700">
            <a:solidFill>
              <a:srgbClr val="2C5F2D"/>
            </a:solidFill>
            <a:prstDash val="solid"/>
          </a:ln>
        </p:spPr>
      </p:sp>
      <p:pic>
        <p:nvPicPr>
          <p:cNvPr id="16" name="Image 2" descr="preencoded.png">    </p:cNvPr>
          <p:cNvPicPr>
            <a:picLocks noChangeAspect="1"/>
          </p:cNvPicPr>
          <p:nvPr/>
        </p:nvPicPr>
        <p:blipFill>
          <a:blip r:embed="rId3"/>
          <a:stretch>
            <a:fillRect/>
          </a:stretch>
        </p:blipFill>
        <p:spPr>
          <a:xfrm>
            <a:off x="930859" y="4176979"/>
            <a:ext cx="332842" cy="332842"/>
          </a:xfrm>
          <a:prstGeom prst="rect">
            <a:avLst/>
          </a:prstGeom>
        </p:spPr>
      </p:pic>
      <p:sp>
        <p:nvSpPr>
          <p:cNvPr id="17" name="Text 12"/>
          <p:cNvSpPr txBox="1"/>
          <p:nvPr/>
        </p:nvSpPr>
        <p:spPr>
          <a:xfrm>
            <a:off x="1554480" y="4023360"/>
            <a:ext cx="4206240" cy="6400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Heat stress day</a:t>
            </a:r>
            <a:endParaRPr lang="en-US" sz="1600" dirty="0"/>
          </a:p>
        </p:txBody>
      </p:sp>
      <p:sp>
        <p:nvSpPr>
          <p:cNvPr id="18" name="Text 13"/>
          <p:cNvSpPr txBox="1"/>
          <p:nvPr/>
        </p:nvSpPr>
        <p:spPr>
          <a:xfrm>
            <a:off x="777240" y="4754880"/>
            <a:ext cx="4983480" cy="109728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Body temperature and water-intake alerts cluster in the afternoon; rumination falls at night. Measure whether fans and sprinklers actually work.</a:t>
            </a:r>
            <a:endParaRPr lang="en-US" sz="1200" dirty="0"/>
          </a:p>
        </p:txBody>
      </p:sp>
      <p:sp>
        <p:nvSpPr>
          <p:cNvPr id="19" name="Shape 14"/>
          <p:cNvSpPr/>
          <p:nvPr/>
        </p:nvSpPr>
        <p:spPr>
          <a:xfrm>
            <a:off x="6172200" y="3794760"/>
            <a:ext cx="5440680" cy="2148840"/>
          </a:xfrm>
          <a:prstGeom prst="roundRect">
            <a:avLst>
              <a:gd name="adj" fmla="val 5106"/>
            </a:avLst>
          </a:prstGeom>
          <a:solidFill>
            <a:srgbClr val="F6F9F2"/>
          </a:solidFill>
          <a:ln w="12700">
            <a:solidFill>
              <a:srgbClr val="F6F9F2"/>
            </a:solidFill>
            <a:prstDash val="solid"/>
          </a:ln>
        </p:spPr>
      </p:sp>
      <p:sp>
        <p:nvSpPr>
          <p:cNvPr id="20" name="Shape 15"/>
          <p:cNvSpPr/>
          <p:nvPr/>
        </p:nvSpPr>
        <p:spPr>
          <a:xfrm>
            <a:off x="6400800" y="4023360"/>
            <a:ext cx="640080" cy="640080"/>
          </a:xfrm>
          <a:prstGeom prst="ellipse">
            <a:avLst/>
          </a:prstGeom>
          <a:solidFill>
            <a:srgbClr val="2C5F2D"/>
          </a:solidFill>
          <a:ln w="12700">
            <a:solidFill>
              <a:srgbClr val="2C5F2D"/>
            </a:solidFill>
            <a:prstDash val="solid"/>
          </a:ln>
        </p:spPr>
      </p:sp>
      <p:pic>
        <p:nvPicPr>
          <p:cNvPr id="21" name="Image 3" descr="preencoded.png">    </p:cNvPr>
          <p:cNvPicPr>
            <a:picLocks noChangeAspect="1"/>
          </p:cNvPicPr>
          <p:nvPr/>
        </p:nvPicPr>
        <p:blipFill>
          <a:blip r:embed="rId4"/>
          <a:stretch>
            <a:fillRect/>
          </a:stretch>
        </p:blipFill>
        <p:spPr>
          <a:xfrm>
            <a:off x="6554419" y="4176979"/>
            <a:ext cx="332842" cy="332842"/>
          </a:xfrm>
          <a:prstGeom prst="rect">
            <a:avLst/>
          </a:prstGeom>
        </p:spPr>
      </p:pic>
      <p:sp>
        <p:nvSpPr>
          <p:cNvPr id="22" name="Text 16"/>
          <p:cNvSpPr txBox="1"/>
          <p:nvPr/>
        </p:nvSpPr>
        <p:spPr>
          <a:xfrm>
            <a:off x="7178040" y="4023360"/>
            <a:ext cx="4206240" cy="64008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Feed change</a:t>
            </a:r>
            <a:endParaRPr lang="en-US" sz="1600" dirty="0"/>
          </a:p>
        </p:txBody>
      </p:sp>
      <p:sp>
        <p:nvSpPr>
          <p:cNvPr id="23" name="Text 17"/>
          <p:cNvSpPr txBox="1"/>
          <p:nvPr/>
        </p:nvSpPr>
        <p:spPr>
          <a:xfrm>
            <a:off x="6400800" y="4754880"/>
            <a:ext cx="4983480" cy="1097280"/>
          </a:xfrm>
          <a:prstGeom prst="rect">
            <a:avLst/>
          </a:prstGeom>
          <a:noFill/>
          <a:ln/>
        </p:spPr>
        <p:txBody>
          <a:bodyPr wrap="square" lIns="0" tIns="0" rIns="0" bIns="0" rtlCol="0" anchor="ctr"/>
          <a:lstStyle/>
          <a:p>
            <a:pPr indent="0" marL="0">
              <a:buNone/>
            </a:pPr>
            <a:r>
              <a:rPr lang="en-US" sz="1200" dirty="0">
                <a:solidFill>
                  <a:srgbClr val="1F2A1F"/>
                </a:solidFill>
                <a:latin typeface="Calibri" pitchFamily="34" charset="0"/>
                <a:ea typeface="Calibri" pitchFamily="34" charset="-122"/>
                <a:cs typeface="Calibri" pitchFamily="34" charset="-120"/>
              </a:rPr>
              <a:t>A ration change shows in rumination within 24 h — and in rumen pH with the premium bolus. Catch acidosis before hooves and milk fat show it.</a:t>
            </a:r>
            <a:endParaRPr lang="en-US" sz="1200" dirty="0"/>
          </a:p>
        </p:txBody>
      </p:sp>
      <p:sp>
        <p:nvSpPr>
          <p:cNvPr id="24" name="Text 18"/>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25" name="Text 1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3 · DIGITAL MONITORING</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From alert to action to record — the daily loop</a:t>
            </a:r>
            <a:endParaRPr lang="en-US" sz="2600" dirty="0"/>
          </a:p>
        </p:txBody>
      </p:sp>
      <p:sp>
        <p:nvSpPr>
          <p:cNvPr id="4" name="Shape 2"/>
          <p:cNvSpPr/>
          <p:nvPr/>
        </p:nvSpPr>
        <p:spPr>
          <a:xfrm>
            <a:off x="914400" y="1554480"/>
            <a:ext cx="777240" cy="777240"/>
          </a:xfrm>
          <a:prstGeom prst="ellipse">
            <a:avLst/>
          </a:prstGeom>
          <a:solidFill>
            <a:srgbClr val="2C5F2D"/>
          </a:solidFill>
          <a:ln w="12700">
            <a:solidFill>
              <a:srgbClr val="2C5F2D"/>
            </a:solidFill>
            <a:prstDash val="solid"/>
          </a:ln>
        </p:spPr>
      </p:sp>
      <p:pic>
        <p:nvPicPr>
          <p:cNvPr id="5" name="Image 0" descr="preencoded.png">    </p:cNvPr>
          <p:cNvPicPr>
            <a:picLocks noChangeAspect="1"/>
          </p:cNvPicPr>
          <p:nvPr/>
        </p:nvPicPr>
        <p:blipFill>
          <a:blip r:embed="rId1"/>
          <a:stretch>
            <a:fillRect/>
          </a:stretch>
        </p:blipFill>
        <p:spPr>
          <a:xfrm>
            <a:off x="1100938" y="1741018"/>
            <a:ext cx="404165" cy="404165"/>
          </a:xfrm>
          <a:prstGeom prst="rect">
            <a:avLst/>
          </a:prstGeom>
        </p:spPr>
      </p:pic>
      <p:sp>
        <p:nvSpPr>
          <p:cNvPr id="6" name="Text 3"/>
          <p:cNvSpPr txBox="1"/>
          <p:nvPr/>
        </p:nvSpPr>
        <p:spPr>
          <a:xfrm>
            <a:off x="548640" y="2423160"/>
            <a:ext cx="1508760" cy="365760"/>
          </a:xfrm>
          <a:prstGeom prst="rect">
            <a:avLst/>
          </a:prstGeom>
          <a:noFill/>
          <a:ln/>
        </p:spPr>
        <p:txBody>
          <a:bodyPr wrap="square" lIns="0" tIns="0" rIns="0" bIns="0"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Sense</a:t>
            </a:r>
            <a:endParaRPr lang="en-US" sz="1500" dirty="0"/>
          </a:p>
        </p:txBody>
      </p:sp>
      <p:sp>
        <p:nvSpPr>
          <p:cNvPr id="7" name="Text 4"/>
          <p:cNvSpPr txBox="1"/>
          <p:nvPr/>
        </p:nvSpPr>
        <p:spPr>
          <a:xfrm>
            <a:off x="548640" y="2788920"/>
            <a:ext cx="1508760" cy="914400"/>
          </a:xfrm>
          <a:prstGeom prst="rect">
            <a:avLst/>
          </a:prstGeom>
          <a:noFill/>
          <a:ln/>
        </p:spPr>
        <p:txBody>
          <a:bodyPr wrap="square" lIns="0" tIns="0" rIns="0" bIns="0" rtlCol="0" anchor="ctr"/>
          <a:lstStyle/>
          <a:p>
            <a:pPr algn="ctr" indent="0" marL="0">
              <a:buNone/>
            </a:pPr>
            <a:r>
              <a:rPr lang="en-US" sz="1050" dirty="0">
                <a:solidFill>
                  <a:srgbClr val="5B6B5B"/>
                </a:solidFill>
                <a:latin typeface="Calibri" pitchFamily="34" charset="0"/>
                <a:ea typeface="Calibri" pitchFamily="34" charset="-122"/>
                <a:cs typeface="Calibri" pitchFamily="34" charset="-120"/>
              </a:rPr>
              <a:t>bolus measures 24/7</a:t>
            </a:r>
            <a:endParaRPr lang="en-US" sz="1050" dirty="0"/>
          </a:p>
        </p:txBody>
      </p:sp>
      <p:pic>
        <p:nvPicPr>
          <p:cNvPr id="8" name="Image 1" descr="preencoded.png">    </p:cNvPr>
          <p:cNvPicPr>
            <a:picLocks noChangeAspect="1"/>
          </p:cNvPicPr>
          <p:nvPr/>
        </p:nvPicPr>
        <p:blipFill>
          <a:blip r:embed="rId2"/>
          <a:stretch>
            <a:fillRect/>
          </a:stretch>
        </p:blipFill>
        <p:spPr>
          <a:xfrm>
            <a:off x="1920240" y="1828800"/>
            <a:ext cx="219456" cy="219456"/>
          </a:xfrm>
          <a:prstGeom prst="rect">
            <a:avLst/>
          </a:prstGeom>
        </p:spPr>
      </p:pic>
      <p:sp>
        <p:nvSpPr>
          <p:cNvPr id="9" name="Shape 5"/>
          <p:cNvSpPr/>
          <p:nvPr/>
        </p:nvSpPr>
        <p:spPr>
          <a:xfrm>
            <a:off x="2523744" y="1554480"/>
            <a:ext cx="777240" cy="777240"/>
          </a:xfrm>
          <a:prstGeom prst="ellipse">
            <a:avLst/>
          </a:prstGeom>
          <a:solidFill>
            <a:srgbClr val="2C5F2D"/>
          </a:solidFill>
          <a:ln w="12700">
            <a:solidFill>
              <a:srgbClr val="2C5F2D"/>
            </a:solidFill>
            <a:prstDash val="solid"/>
          </a:ln>
        </p:spPr>
      </p:sp>
      <p:pic>
        <p:nvPicPr>
          <p:cNvPr id="10" name="Image 2" descr="preencoded.png">    </p:cNvPr>
          <p:cNvPicPr>
            <a:picLocks noChangeAspect="1"/>
          </p:cNvPicPr>
          <p:nvPr/>
        </p:nvPicPr>
        <p:blipFill>
          <a:blip r:embed="rId3"/>
          <a:stretch>
            <a:fillRect/>
          </a:stretch>
        </p:blipFill>
        <p:spPr>
          <a:xfrm>
            <a:off x="2710282" y="1741018"/>
            <a:ext cx="404165" cy="404165"/>
          </a:xfrm>
          <a:prstGeom prst="rect">
            <a:avLst/>
          </a:prstGeom>
        </p:spPr>
      </p:pic>
      <p:sp>
        <p:nvSpPr>
          <p:cNvPr id="11" name="Text 6"/>
          <p:cNvSpPr txBox="1"/>
          <p:nvPr/>
        </p:nvSpPr>
        <p:spPr>
          <a:xfrm>
            <a:off x="2157984" y="2423160"/>
            <a:ext cx="1508760" cy="365760"/>
          </a:xfrm>
          <a:prstGeom prst="rect">
            <a:avLst/>
          </a:prstGeom>
          <a:noFill/>
          <a:ln/>
        </p:spPr>
        <p:txBody>
          <a:bodyPr wrap="square" lIns="0" tIns="0" rIns="0" bIns="0"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Alert</a:t>
            </a:r>
            <a:endParaRPr lang="en-US" sz="1500" dirty="0"/>
          </a:p>
        </p:txBody>
      </p:sp>
      <p:sp>
        <p:nvSpPr>
          <p:cNvPr id="12" name="Text 7"/>
          <p:cNvSpPr txBox="1"/>
          <p:nvPr/>
        </p:nvSpPr>
        <p:spPr>
          <a:xfrm>
            <a:off x="2157984" y="2788920"/>
            <a:ext cx="1508760" cy="914400"/>
          </a:xfrm>
          <a:prstGeom prst="rect">
            <a:avLst/>
          </a:prstGeom>
          <a:noFill/>
          <a:ln/>
        </p:spPr>
        <p:txBody>
          <a:bodyPr wrap="square" lIns="0" tIns="0" rIns="0" bIns="0" rtlCol="0" anchor="ctr"/>
          <a:lstStyle/>
          <a:p>
            <a:pPr algn="ctr" indent="0" marL="0">
              <a:buNone/>
            </a:pPr>
            <a:r>
              <a:rPr lang="en-US" sz="1050" dirty="0">
                <a:solidFill>
                  <a:srgbClr val="5B6B5B"/>
                </a:solidFill>
                <a:latin typeface="Calibri" pitchFamily="34" charset="0"/>
                <a:ea typeface="Calibri" pitchFamily="34" charset="-122"/>
                <a:cs typeface="Calibri" pitchFamily="34" charset="-120"/>
              </a:rPr>
              <a:t>cloud model flags deviation from the animal’s own baseline</a:t>
            </a:r>
            <a:endParaRPr lang="en-US" sz="1050" dirty="0"/>
          </a:p>
        </p:txBody>
      </p:sp>
      <p:pic>
        <p:nvPicPr>
          <p:cNvPr id="13" name="Image 3" descr="preencoded.png">    </p:cNvPr>
          <p:cNvPicPr>
            <a:picLocks noChangeAspect="1"/>
          </p:cNvPicPr>
          <p:nvPr/>
        </p:nvPicPr>
        <p:blipFill>
          <a:blip r:embed="rId4"/>
          <a:stretch>
            <a:fillRect/>
          </a:stretch>
        </p:blipFill>
        <p:spPr>
          <a:xfrm>
            <a:off x="3529584" y="1828800"/>
            <a:ext cx="219456" cy="219456"/>
          </a:xfrm>
          <a:prstGeom prst="rect">
            <a:avLst/>
          </a:prstGeom>
        </p:spPr>
      </p:pic>
      <p:sp>
        <p:nvSpPr>
          <p:cNvPr id="14" name="Shape 8"/>
          <p:cNvSpPr/>
          <p:nvPr/>
        </p:nvSpPr>
        <p:spPr>
          <a:xfrm>
            <a:off x="4133088" y="1554480"/>
            <a:ext cx="777240" cy="777240"/>
          </a:xfrm>
          <a:prstGeom prst="ellipse">
            <a:avLst/>
          </a:prstGeom>
          <a:solidFill>
            <a:srgbClr val="2C5F2D"/>
          </a:solidFill>
          <a:ln w="12700">
            <a:solidFill>
              <a:srgbClr val="2C5F2D"/>
            </a:solidFill>
            <a:prstDash val="solid"/>
          </a:ln>
        </p:spPr>
      </p:sp>
      <p:pic>
        <p:nvPicPr>
          <p:cNvPr id="15" name="Image 4" descr="preencoded.png">    </p:cNvPr>
          <p:cNvPicPr>
            <a:picLocks noChangeAspect="1"/>
          </p:cNvPicPr>
          <p:nvPr/>
        </p:nvPicPr>
        <p:blipFill>
          <a:blip r:embed="rId5"/>
          <a:stretch>
            <a:fillRect/>
          </a:stretch>
        </p:blipFill>
        <p:spPr>
          <a:xfrm>
            <a:off x="4319626" y="1741018"/>
            <a:ext cx="404165" cy="404165"/>
          </a:xfrm>
          <a:prstGeom prst="rect">
            <a:avLst/>
          </a:prstGeom>
        </p:spPr>
      </p:pic>
      <p:sp>
        <p:nvSpPr>
          <p:cNvPr id="16" name="Text 9"/>
          <p:cNvSpPr txBox="1"/>
          <p:nvPr/>
        </p:nvSpPr>
        <p:spPr>
          <a:xfrm>
            <a:off x="3767328" y="2423160"/>
            <a:ext cx="1508760" cy="365760"/>
          </a:xfrm>
          <a:prstGeom prst="rect">
            <a:avLst/>
          </a:prstGeom>
          <a:noFill/>
          <a:ln/>
        </p:spPr>
        <p:txBody>
          <a:bodyPr wrap="square" lIns="0" tIns="0" rIns="0" bIns="0"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Prioritise</a:t>
            </a:r>
            <a:endParaRPr lang="en-US" sz="1500" dirty="0"/>
          </a:p>
        </p:txBody>
      </p:sp>
      <p:sp>
        <p:nvSpPr>
          <p:cNvPr id="17" name="Text 10"/>
          <p:cNvSpPr txBox="1"/>
          <p:nvPr/>
        </p:nvSpPr>
        <p:spPr>
          <a:xfrm>
            <a:off x="3767328" y="2788920"/>
            <a:ext cx="1508760" cy="914400"/>
          </a:xfrm>
          <a:prstGeom prst="rect">
            <a:avLst/>
          </a:prstGeom>
          <a:noFill/>
          <a:ln/>
        </p:spPr>
        <p:txBody>
          <a:bodyPr wrap="square" lIns="0" tIns="0" rIns="0" bIns="0" rtlCol="0" anchor="ctr"/>
          <a:lstStyle/>
          <a:p>
            <a:pPr algn="ctr" indent="0" marL="0">
              <a:buNone/>
            </a:pPr>
            <a:r>
              <a:rPr lang="en-US" sz="1050" dirty="0">
                <a:solidFill>
                  <a:srgbClr val="5B6B5B"/>
                </a:solidFill>
                <a:latin typeface="Calibri" pitchFamily="34" charset="0"/>
                <a:ea typeface="Calibri" pitchFamily="34" charset="-122"/>
                <a:cs typeface="Calibri" pitchFamily="34" charset="-120"/>
              </a:rPr>
              <a:t>technician’s morning list: breed / check / calving pen</a:t>
            </a:r>
            <a:endParaRPr lang="en-US" sz="1050" dirty="0"/>
          </a:p>
        </p:txBody>
      </p:sp>
      <p:pic>
        <p:nvPicPr>
          <p:cNvPr id="18" name="Image 5" descr="preencoded.png">    </p:cNvPr>
          <p:cNvPicPr>
            <a:picLocks noChangeAspect="1"/>
          </p:cNvPicPr>
          <p:nvPr/>
        </p:nvPicPr>
        <p:blipFill>
          <a:blip r:embed="rId6"/>
          <a:stretch>
            <a:fillRect/>
          </a:stretch>
        </p:blipFill>
        <p:spPr>
          <a:xfrm>
            <a:off x="5138928" y="1828800"/>
            <a:ext cx="219456" cy="219456"/>
          </a:xfrm>
          <a:prstGeom prst="rect">
            <a:avLst/>
          </a:prstGeom>
        </p:spPr>
      </p:pic>
      <p:sp>
        <p:nvSpPr>
          <p:cNvPr id="19" name="Shape 11"/>
          <p:cNvSpPr/>
          <p:nvPr/>
        </p:nvSpPr>
        <p:spPr>
          <a:xfrm>
            <a:off x="5742432" y="1554480"/>
            <a:ext cx="777240" cy="777240"/>
          </a:xfrm>
          <a:prstGeom prst="ellipse">
            <a:avLst/>
          </a:prstGeom>
          <a:solidFill>
            <a:srgbClr val="2C5F2D"/>
          </a:solidFill>
          <a:ln w="12700">
            <a:solidFill>
              <a:srgbClr val="2C5F2D"/>
            </a:solidFill>
            <a:prstDash val="solid"/>
          </a:ln>
        </p:spPr>
      </p:sp>
      <p:pic>
        <p:nvPicPr>
          <p:cNvPr id="20" name="Image 6" descr="preencoded.png">    </p:cNvPr>
          <p:cNvPicPr>
            <a:picLocks noChangeAspect="1"/>
          </p:cNvPicPr>
          <p:nvPr/>
        </p:nvPicPr>
        <p:blipFill>
          <a:blip r:embed="rId7"/>
          <a:stretch>
            <a:fillRect/>
          </a:stretch>
        </p:blipFill>
        <p:spPr>
          <a:xfrm>
            <a:off x="5928970" y="1741018"/>
            <a:ext cx="404165" cy="404165"/>
          </a:xfrm>
          <a:prstGeom prst="rect">
            <a:avLst/>
          </a:prstGeom>
        </p:spPr>
      </p:pic>
      <p:sp>
        <p:nvSpPr>
          <p:cNvPr id="21" name="Text 12"/>
          <p:cNvSpPr txBox="1"/>
          <p:nvPr/>
        </p:nvSpPr>
        <p:spPr>
          <a:xfrm>
            <a:off x="5376672" y="2423160"/>
            <a:ext cx="1508760" cy="365760"/>
          </a:xfrm>
          <a:prstGeom prst="rect">
            <a:avLst/>
          </a:prstGeom>
          <a:noFill/>
          <a:ln/>
        </p:spPr>
        <p:txBody>
          <a:bodyPr wrap="square" lIns="0" tIns="0" rIns="0" bIns="0"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Verify</a:t>
            </a:r>
            <a:endParaRPr lang="en-US" sz="1500" dirty="0"/>
          </a:p>
        </p:txBody>
      </p:sp>
      <p:sp>
        <p:nvSpPr>
          <p:cNvPr id="22" name="Text 13"/>
          <p:cNvSpPr txBox="1"/>
          <p:nvPr/>
        </p:nvSpPr>
        <p:spPr>
          <a:xfrm>
            <a:off x="5376672" y="2788920"/>
            <a:ext cx="1508760" cy="914400"/>
          </a:xfrm>
          <a:prstGeom prst="rect">
            <a:avLst/>
          </a:prstGeom>
          <a:noFill/>
          <a:ln/>
        </p:spPr>
        <p:txBody>
          <a:bodyPr wrap="square" lIns="0" tIns="0" rIns="0" bIns="0" rtlCol="0" anchor="ctr"/>
          <a:lstStyle/>
          <a:p>
            <a:pPr algn="ctr" indent="0" marL="0">
              <a:buNone/>
            </a:pPr>
            <a:r>
              <a:rPr lang="en-US" sz="1050" dirty="0">
                <a:solidFill>
                  <a:srgbClr val="5B6B5B"/>
                </a:solidFill>
                <a:latin typeface="Calibri" pitchFamily="34" charset="0"/>
                <a:ea typeface="Calibri" pitchFamily="34" charset="-122"/>
                <a:cs typeface="Calibri" pitchFamily="34" charset="-120"/>
              </a:rPr>
              <a:t>on-farm check: heat signs, temperature, CMT, exam</a:t>
            </a:r>
            <a:endParaRPr lang="en-US" sz="1050" dirty="0"/>
          </a:p>
        </p:txBody>
      </p:sp>
      <p:pic>
        <p:nvPicPr>
          <p:cNvPr id="23" name="Image 7" descr="preencoded.png">    </p:cNvPr>
          <p:cNvPicPr>
            <a:picLocks noChangeAspect="1"/>
          </p:cNvPicPr>
          <p:nvPr/>
        </p:nvPicPr>
        <p:blipFill>
          <a:blip r:embed="rId8"/>
          <a:stretch>
            <a:fillRect/>
          </a:stretch>
        </p:blipFill>
        <p:spPr>
          <a:xfrm>
            <a:off x="6748272" y="1828800"/>
            <a:ext cx="219456" cy="219456"/>
          </a:xfrm>
          <a:prstGeom prst="rect">
            <a:avLst/>
          </a:prstGeom>
        </p:spPr>
      </p:pic>
      <p:sp>
        <p:nvSpPr>
          <p:cNvPr id="24" name="Shape 14"/>
          <p:cNvSpPr/>
          <p:nvPr/>
        </p:nvSpPr>
        <p:spPr>
          <a:xfrm>
            <a:off x="7351776" y="1554480"/>
            <a:ext cx="777240" cy="777240"/>
          </a:xfrm>
          <a:prstGeom prst="ellipse">
            <a:avLst/>
          </a:prstGeom>
          <a:solidFill>
            <a:srgbClr val="2C5F2D"/>
          </a:solidFill>
          <a:ln w="12700">
            <a:solidFill>
              <a:srgbClr val="2C5F2D"/>
            </a:solidFill>
            <a:prstDash val="solid"/>
          </a:ln>
        </p:spPr>
      </p:sp>
      <p:pic>
        <p:nvPicPr>
          <p:cNvPr id="25" name="Image 8" descr="preencoded.png">    </p:cNvPr>
          <p:cNvPicPr>
            <a:picLocks noChangeAspect="1"/>
          </p:cNvPicPr>
          <p:nvPr/>
        </p:nvPicPr>
        <p:blipFill>
          <a:blip r:embed="rId9"/>
          <a:stretch>
            <a:fillRect/>
          </a:stretch>
        </p:blipFill>
        <p:spPr>
          <a:xfrm>
            <a:off x="7538314" y="1741018"/>
            <a:ext cx="404165" cy="404165"/>
          </a:xfrm>
          <a:prstGeom prst="rect">
            <a:avLst/>
          </a:prstGeom>
        </p:spPr>
      </p:pic>
      <p:sp>
        <p:nvSpPr>
          <p:cNvPr id="26" name="Text 15"/>
          <p:cNvSpPr txBox="1"/>
          <p:nvPr/>
        </p:nvSpPr>
        <p:spPr>
          <a:xfrm>
            <a:off x="6986016" y="2423160"/>
            <a:ext cx="1508760" cy="365760"/>
          </a:xfrm>
          <a:prstGeom prst="rect">
            <a:avLst/>
          </a:prstGeom>
          <a:noFill/>
          <a:ln/>
        </p:spPr>
        <p:txBody>
          <a:bodyPr wrap="square" lIns="0" tIns="0" rIns="0" bIns="0"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Act</a:t>
            </a:r>
            <a:endParaRPr lang="en-US" sz="1500" dirty="0"/>
          </a:p>
        </p:txBody>
      </p:sp>
      <p:sp>
        <p:nvSpPr>
          <p:cNvPr id="27" name="Text 16"/>
          <p:cNvSpPr txBox="1"/>
          <p:nvPr/>
        </p:nvSpPr>
        <p:spPr>
          <a:xfrm>
            <a:off x="6986016" y="2788920"/>
            <a:ext cx="1508760" cy="914400"/>
          </a:xfrm>
          <a:prstGeom prst="rect">
            <a:avLst/>
          </a:prstGeom>
          <a:noFill/>
          <a:ln/>
        </p:spPr>
        <p:txBody>
          <a:bodyPr wrap="square" lIns="0" tIns="0" rIns="0" bIns="0" rtlCol="0" anchor="ctr"/>
          <a:lstStyle/>
          <a:p>
            <a:pPr algn="ctr" indent="0" marL="0">
              <a:buNone/>
            </a:pPr>
            <a:r>
              <a:rPr lang="en-US" sz="1050" dirty="0">
                <a:solidFill>
                  <a:srgbClr val="5B6B5B"/>
                </a:solidFill>
                <a:latin typeface="Calibri" pitchFamily="34" charset="0"/>
                <a:ea typeface="Calibri" pitchFamily="34" charset="-122"/>
                <a:cs typeface="Calibri" pitchFamily="34" charset="-120"/>
              </a:rPr>
              <a:t>AI · treatment per protocol · vet call · move animal</a:t>
            </a:r>
            <a:endParaRPr lang="en-US" sz="1050" dirty="0"/>
          </a:p>
        </p:txBody>
      </p:sp>
      <p:pic>
        <p:nvPicPr>
          <p:cNvPr id="28" name="Image 9" descr="preencoded.png">    </p:cNvPr>
          <p:cNvPicPr>
            <a:picLocks noChangeAspect="1"/>
          </p:cNvPicPr>
          <p:nvPr/>
        </p:nvPicPr>
        <p:blipFill>
          <a:blip r:embed="rId10"/>
          <a:stretch>
            <a:fillRect/>
          </a:stretch>
        </p:blipFill>
        <p:spPr>
          <a:xfrm>
            <a:off x="8357616" y="1828800"/>
            <a:ext cx="219456" cy="219456"/>
          </a:xfrm>
          <a:prstGeom prst="rect">
            <a:avLst/>
          </a:prstGeom>
        </p:spPr>
      </p:pic>
      <p:sp>
        <p:nvSpPr>
          <p:cNvPr id="29" name="Shape 17"/>
          <p:cNvSpPr/>
          <p:nvPr/>
        </p:nvSpPr>
        <p:spPr>
          <a:xfrm>
            <a:off x="8961120" y="1554480"/>
            <a:ext cx="777240" cy="777240"/>
          </a:xfrm>
          <a:prstGeom prst="ellipse">
            <a:avLst/>
          </a:prstGeom>
          <a:solidFill>
            <a:srgbClr val="D9A441"/>
          </a:solidFill>
          <a:ln w="12700">
            <a:solidFill>
              <a:srgbClr val="D9A441"/>
            </a:solidFill>
            <a:prstDash val="solid"/>
          </a:ln>
        </p:spPr>
      </p:sp>
      <p:pic>
        <p:nvPicPr>
          <p:cNvPr id="30" name="Image 10" descr="preencoded.png">    </p:cNvPr>
          <p:cNvPicPr>
            <a:picLocks noChangeAspect="1"/>
          </p:cNvPicPr>
          <p:nvPr/>
        </p:nvPicPr>
        <p:blipFill>
          <a:blip r:embed="rId11"/>
          <a:stretch>
            <a:fillRect/>
          </a:stretch>
        </p:blipFill>
        <p:spPr>
          <a:xfrm>
            <a:off x="9147658" y="1741018"/>
            <a:ext cx="404165" cy="404165"/>
          </a:xfrm>
          <a:prstGeom prst="rect">
            <a:avLst/>
          </a:prstGeom>
        </p:spPr>
      </p:pic>
      <p:sp>
        <p:nvSpPr>
          <p:cNvPr id="31" name="Text 18"/>
          <p:cNvSpPr txBox="1"/>
          <p:nvPr/>
        </p:nvSpPr>
        <p:spPr>
          <a:xfrm>
            <a:off x="8595360" y="2423160"/>
            <a:ext cx="1508760" cy="365760"/>
          </a:xfrm>
          <a:prstGeom prst="rect">
            <a:avLst/>
          </a:prstGeom>
          <a:noFill/>
          <a:ln/>
        </p:spPr>
        <p:txBody>
          <a:bodyPr wrap="square" lIns="0" tIns="0" rIns="0" bIns="0"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Record</a:t>
            </a:r>
            <a:endParaRPr lang="en-US" sz="1500" dirty="0"/>
          </a:p>
        </p:txBody>
      </p:sp>
      <p:sp>
        <p:nvSpPr>
          <p:cNvPr id="32" name="Text 19"/>
          <p:cNvSpPr txBox="1"/>
          <p:nvPr/>
        </p:nvSpPr>
        <p:spPr>
          <a:xfrm>
            <a:off x="8595360" y="2788920"/>
            <a:ext cx="1508760" cy="914400"/>
          </a:xfrm>
          <a:prstGeom prst="rect">
            <a:avLst/>
          </a:prstGeom>
          <a:noFill/>
          <a:ln/>
        </p:spPr>
        <p:txBody>
          <a:bodyPr wrap="square" lIns="0" tIns="0" rIns="0" bIns="0" rtlCol="0" anchor="ctr"/>
          <a:lstStyle/>
          <a:p>
            <a:pPr algn="ctr" indent="0" marL="0">
              <a:buNone/>
            </a:pPr>
            <a:r>
              <a:rPr lang="en-US" sz="1050" dirty="0">
                <a:solidFill>
                  <a:srgbClr val="5B6B5B"/>
                </a:solidFill>
                <a:latin typeface="Calibri" pitchFamily="34" charset="0"/>
                <a:ea typeface="Calibri" pitchFamily="34" charset="-122"/>
                <a:cs typeface="Calibri" pitchFamily="34" charset="-120"/>
              </a:rPr>
              <a:t>event into NDHIS / iHealth the same day</a:t>
            </a:r>
            <a:endParaRPr lang="en-US" sz="1050" dirty="0"/>
          </a:p>
        </p:txBody>
      </p:sp>
      <p:pic>
        <p:nvPicPr>
          <p:cNvPr id="33" name="Image 11" descr="preencoded.png">    </p:cNvPr>
          <p:cNvPicPr>
            <a:picLocks noChangeAspect="1"/>
          </p:cNvPicPr>
          <p:nvPr/>
        </p:nvPicPr>
        <p:blipFill>
          <a:blip r:embed="rId12"/>
          <a:stretch>
            <a:fillRect/>
          </a:stretch>
        </p:blipFill>
        <p:spPr>
          <a:xfrm>
            <a:off x="9966960" y="1828800"/>
            <a:ext cx="219456" cy="219456"/>
          </a:xfrm>
          <a:prstGeom prst="rect">
            <a:avLst/>
          </a:prstGeom>
        </p:spPr>
      </p:pic>
      <p:sp>
        <p:nvSpPr>
          <p:cNvPr id="34" name="Shape 20"/>
          <p:cNvSpPr/>
          <p:nvPr/>
        </p:nvSpPr>
        <p:spPr>
          <a:xfrm>
            <a:off x="10570464" y="1554480"/>
            <a:ext cx="777240" cy="777240"/>
          </a:xfrm>
          <a:prstGeom prst="ellipse">
            <a:avLst/>
          </a:prstGeom>
          <a:solidFill>
            <a:srgbClr val="2C5F2D"/>
          </a:solidFill>
          <a:ln w="12700">
            <a:solidFill>
              <a:srgbClr val="2C5F2D"/>
            </a:solidFill>
            <a:prstDash val="solid"/>
          </a:ln>
        </p:spPr>
      </p:sp>
      <p:pic>
        <p:nvPicPr>
          <p:cNvPr id="35" name="Image 12" descr="preencoded.png">    </p:cNvPr>
          <p:cNvPicPr>
            <a:picLocks noChangeAspect="1"/>
          </p:cNvPicPr>
          <p:nvPr/>
        </p:nvPicPr>
        <p:blipFill>
          <a:blip r:embed="rId13"/>
          <a:stretch>
            <a:fillRect/>
          </a:stretch>
        </p:blipFill>
        <p:spPr>
          <a:xfrm>
            <a:off x="10757002" y="1741018"/>
            <a:ext cx="404165" cy="404165"/>
          </a:xfrm>
          <a:prstGeom prst="rect">
            <a:avLst/>
          </a:prstGeom>
        </p:spPr>
      </p:pic>
      <p:sp>
        <p:nvSpPr>
          <p:cNvPr id="36" name="Text 21"/>
          <p:cNvSpPr txBox="1"/>
          <p:nvPr/>
        </p:nvSpPr>
        <p:spPr>
          <a:xfrm>
            <a:off x="10204704" y="2423160"/>
            <a:ext cx="1508760" cy="365760"/>
          </a:xfrm>
          <a:prstGeom prst="rect">
            <a:avLst/>
          </a:prstGeom>
          <a:noFill/>
          <a:ln/>
        </p:spPr>
        <p:txBody>
          <a:bodyPr wrap="square" lIns="0" tIns="0" rIns="0" bIns="0" rtlCol="0" anchor="ctr"/>
          <a:lstStyle/>
          <a:p>
            <a:pPr algn="ctr" indent="0" marL="0">
              <a:buNone/>
            </a:pPr>
            <a:r>
              <a:rPr lang="en-US" sz="1500" b="1" dirty="0">
                <a:solidFill>
                  <a:srgbClr val="2C5F2D"/>
                </a:solidFill>
                <a:latin typeface="Cambria" pitchFamily="34" charset="0"/>
                <a:ea typeface="Cambria" pitchFamily="34" charset="-122"/>
                <a:cs typeface="Cambria" pitchFamily="34" charset="-120"/>
              </a:rPr>
              <a:t>Learn</a:t>
            </a:r>
            <a:endParaRPr lang="en-US" sz="1500" dirty="0"/>
          </a:p>
        </p:txBody>
      </p:sp>
      <p:sp>
        <p:nvSpPr>
          <p:cNvPr id="37" name="Text 22"/>
          <p:cNvSpPr txBox="1"/>
          <p:nvPr/>
        </p:nvSpPr>
        <p:spPr>
          <a:xfrm>
            <a:off x="10204704" y="2788920"/>
            <a:ext cx="1508760" cy="914400"/>
          </a:xfrm>
          <a:prstGeom prst="rect">
            <a:avLst/>
          </a:prstGeom>
          <a:noFill/>
          <a:ln/>
        </p:spPr>
        <p:txBody>
          <a:bodyPr wrap="square" lIns="0" tIns="0" rIns="0" bIns="0" rtlCol="0" anchor="ctr"/>
          <a:lstStyle/>
          <a:p>
            <a:pPr algn="ctr" indent="0" marL="0">
              <a:buNone/>
            </a:pPr>
            <a:r>
              <a:rPr lang="en-US" sz="1050" dirty="0">
                <a:solidFill>
                  <a:srgbClr val="5B6B5B"/>
                </a:solidFill>
                <a:latin typeface="Calibri" pitchFamily="34" charset="0"/>
                <a:ea typeface="Calibri" pitchFamily="34" charset="-122"/>
                <a:cs typeface="Calibri" pitchFamily="34" charset="-120"/>
              </a:rPr>
              <a:t>KPIs improve; models and protocols are tuned</a:t>
            </a:r>
            <a:endParaRPr lang="en-US" sz="1050" dirty="0"/>
          </a:p>
        </p:txBody>
      </p:sp>
      <p:sp>
        <p:nvSpPr>
          <p:cNvPr id="38" name="Shape 23"/>
          <p:cNvSpPr/>
          <p:nvPr/>
        </p:nvSpPr>
        <p:spPr>
          <a:xfrm>
            <a:off x="548640" y="3931920"/>
            <a:ext cx="5486400" cy="2194560"/>
          </a:xfrm>
          <a:prstGeom prst="roundRect">
            <a:avLst>
              <a:gd name="adj" fmla="val 5000"/>
            </a:avLst>
          </a:prstGeom>
          <a:solidFill>
            <a:srgbClr val="EEF4E6"/>
          </a:solidFill>
          <a:ln w="12700">
            <a:solidFill>
              <a:srgbClr val="EEF4E6"/>
            </a:solidFill>
            <a:prstDash val="solid"/>
          </a:ln>
        </p:spPr>
      </p:sp>
      <p:sp>
        <p:nvSpPr>
          <p:cNvPr id="39" name="Text 24"/>
          <p:cNvSpPr txBox="1"/>
          <p:nvPr/>
        </p:nvSpPr>
        <p:spPr>
          <a:xfrm>
            <a:off x="777240" y="4023360"/>
            <a:ext cx="502920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Who does what</a:t>
            </a:r>
            <a:endParaRPr lang="en-US" sz="15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77240" y="4434840"/>
          <a:ext cx="5029200" cy="914400"/>
        </p:xfrm>
        <a:graphic>
          <a:graphicData uri="http://schemas.openxmlformats.org/drawingml/2006/table">
            <a:tbl>
              <a:tblPr/>
              <a:tblGrid>
                <a:gridCol w="1554480"/>
                <a:gridCol w="347472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Daily responsibility</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r>
              <a:tr h="310896">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Farmer</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Sees own animals’ alerts; feeds, moves, calls technician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Livestock technician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Morning list, AI, PD, CMT, first-line treatment, data entry</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310896">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Veterinarian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Protocols, severe cases, herd health review of alert trends</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PCC regional / national</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Dashboards, KPIs, outbreak signals, programme decisions</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bl>
          </a:graphicData>
        </a:graphic>
      </p:graphicFrame>
      <p:sp>
        <p:nvSpPr>
          <p:cNvPr id="41" name="Shape 25"/>
          <p:cNvSpPr/>
          <p:nvPr/>
        </p:nvSpPr>
        <p:spPr>
          <a:xfrm>
            <a:off x="6263640" y="3931920"/>
            <a:ext cx="5394960" cy="2194560"/>
          </a:xfrm>
          <a:prstGeom prst="roundRect">
            <a:avLst>
              <a:gd name="adj" fmla="val 5000"/>
            </a:avLst>
          </a:prstGeom>
          <a:solidFill>
            <a:srgbClr val="F6F9F2"/>
          </a:solidFill>
          <a:ln w="12700">
            <a:solidFill>
              <a:srgbClr val="F6F9F2"/>
            </a:solidFill>
            <a:prstDash val="solid"/>
          </a:ln>
        </p:spPr>
      </p:sp>
      <p:sp>
        <p:nvSpPr>
          <p:cNvPr id="42" name="Text 26"/>
          <p:cNvSpPr txBox="1"/>
          <p:nvPr/>
        </p:nvSpPr>
        <p:spPr>
          <a:xfrm>
            <a:off x="6492240" y="4023360"/>
            <a:ext cx="493776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Rules that keep the loop alive</a:t>
            </a:r>
            <a:endParaRPr lang="en-US" sz="1500" dirty="0"/>
          </a:p>
        </p:txBody>
      </p:sp>
      <p:sp>
        <p:nvSpPr>
          <p:cNvPr id="43" name="Text 27"/>
          <p:cNvSpPr txBox="1"/>
          <p:nvPr/>
        </p:nvSpPr>
        <p:spPr>
          <a:xfrm>
            <a:off x="6492240" y="4434840"/>
            <a:ext cx="4937760" cy="164592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1F2A1F"/>
                </a:solidFill>
                <a:latin typeface="Calibri" pitchFamily="34" charset="0"/>
                <a:ea typeface="Calibri" pitchFamily="34" charset="-122"/>
                <a:cs typeface="Calibri" pitchFamily="34" charset="-120"/>
              </a:rPr>
              <a:t>Every alert gets a response in the app — even “checked, nothing found”</a:t>
            </a:r>
            <a:endParaRPr lang="en-US" sz="1150" dirty="0"/>
          </a:p>
          <a:p>
            <a:pPr marL="177800" indent="-177800">
              <a:spcAft>
                <a:spcPts val="400"/>
              </a:spcAft>
              <a:buSzPct val="100000"/>
              <a:buChar char="•"/>
            </a:pPr>
            <a:r>
              <a:rPr lang="en-US" sz="1150" dirty="0">
                <a:solidFill>
                  <a:srgbClr val="1F2A1F"/>
                </a:solidFill>
                <a:latin typeface="Calibri" pitchFamily="34" charset="0"/>
                <a:ea typeface="Calibri" pitchFamily="34" charset="-122"/>
                <a:cs typeface="Calibri" pitchFamily="34" charset="-120"/>
              </a:rPr>
              <a:t>Record on the day; unrecorded action = lost learning</a:t>
            </a:r>
            <a:endParaRPr lang="en-US" sz="1150" dirty="0"/>
          </a:p>
          <a:p>
            <a:pPr marL="177800" indent="-177800">
              <a:spcAft>
                <a:spcPts val="400"/>
              </a:spcAft>
              <a:buSzPct val="100000"/>
              <a:buChar char="•"/>
            </a:pPr>
            <a:r>
              <a:rPr lang="en-US" sz="1150" dirty="0">
                <a:solidFill>
                  <a:srgbClr val="1F2A1F"/>
                </a:solidFill>
                <a:latin typeface="Calibri" pitchFamily="34" charset="0"/>
                <a:ea typeface="Calibri" pitchFamily="34" charset="-122"/>
                <a:cs typeface="Calibri" pitchFamily="34" charset="-120"/>
              </a:rPr>
              <a:t>Weekly 30-minute review: alerts vs outcomes, per farm</a:t>
            </a:r>
            <a:endParaRPr lang="en-US" sz="1150" dirty="0"/>
          </a:p>
          <a:p>
            <a:pPr marL="177800" indent="-177800">
              <a:spcAft>
                <a:spcPts val="400"/>
              </a:spcAft>
              <a:buSzPct val="100000"/>
              <a:buChar char="•"/>
            </a:pPr>
            <a:r>
              <a:rPr lang="en-US" sz="1150" dirty="0">
                <a:solidFill>
                  <a:srgbClr val="1F2A1F"/>
                </a:solidFill>
                <a:latin typeface="Calibri" pitchFamily="34" charset="0"/>
                <a:ea typeface="Calibri" pitchFamily="34" charset="-122"/>
                <a:cs typeface="Calibri" pitchFamily="34" charset="-120"/>
              </a:rPr>
              <a:t>Adjust thresholds per animal group (buffalo vs cattle, heifers vs cows) with the veterinarian</a:t>
            </a:r>
            <a:endParaRPr lang="en-US" sz="1150" dirty="0"/>
          </a:p>
        </p:txBody>
      </p:sp>
      <p:sp>
        <p:nvSpPr>
          <p:cNvPr id="44" name="Text 28"/>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45" name="Text 2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3 · DIGITAL MONITORING</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Fitting sensors into NDHIS, iHealth and iFeed</a:t>
            </a:r>
            <a:endParaRPr lang="en-US" sz="2600" dirty="0"/>
          </a:p>
        </p:txBody>
      </p:sp>
      <p:sp>
        <p:nvSpPr>
          <p:cNvPr id="4" name="Shape 2"/>
          <p:cNvSpPr/>
          <p:nvPr/>
        </p:nvSpPr>
        <p:spPr>
          <a:xfrm>
            <a:off x="548640" y="1463040"/>
            <a:ext cx="7498080" cy="822960"/>
          </a:xfrm>
          <a:prstGeom prst="roundRect">
            <a:avLst>
              <a:gd name="adj" fmla="val 11111"/>
            </a:avLst>
          </a:prstGeom>
          <a:solidFill>
            <a:srgbClr val="2C5F2D"/>
          </a:solidFill>
          <a:ln w="12700">
            <a:solidFill>
              <a:srgbClr val="2C5F2D"/>
            </a:solidFill>
            <a:prstDash val="solid"/>
          </a:ln>
        </p:spPr>
      </p:sp>
      <p:sp>
        <p:nvSpPr>
          <p:cNvPr id="5" name="Text 3"/>
          <p:cNvSpPr txBox="1"/>
          <p:nvPr/>
        </p:nvSpPr>
        <p:spPr>
          <a:xfrm>
            <a:off x="731520" y="1463040"/>
            <a:ext cx="1737360" cy="8229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Users</a:t>
            </a:r>
            <a:endParaRPr lang="en-US" sz="1300" dirty="0"/>
          </a:p>
        </p:txBody>
      </p:sp>
      <p:sp>
        <p:nvSpPr>
          <p:cNvPr id="6" name="Shape 4"/>
          <p:cNvSpPr/>
          <p:nvPr/>
        </p:nvSpPr>
        <p:spPr>
          <a:xfrm>
            <a:off x="2560320" y="1572768"/>
            <a:ext cx="1280160" cy="603504"/>
          </a:xfrm>
          <a:prstGeom prst="roundRect">
            <a:avLst>
              <a:gd name="adj" fmla="val 12121"/>
            </a:avLst>
          </a:prstGeom>
          <a:solidFill>
            <a:srgbClr val="FFFFFF"/>
          </a:solidFill>
          <a:ln w="12700">
            <a:solidFill>
              <a:srgbClr val="FFFFFF"/>
            </a:solidFill>
            <a:prstDash val="solid"/>
          </a:ln>
        </p:spPr>
      </p:sp>
      <p:sp>
        <p:nvSpPr>
          <p:cNvPr id="7" name="Text 5"/>
          <p:cNvSpPr txBox="1"/>
          <p:nvPr/>
        </p:nvSpPr>
        <p:spPr>
          <a:xfrm>
            <a:off x="2578608" y="1572768"/>
            <a:ext cx="1243584" cy="603504"/>
          </a:xfrm>
          <a:prstGeom prst="rect">
            <a:avLst/>
          </a:prstGeom>
          <a:noFill/>
          <a:ln/>
        </p:spPr>
        <p:txBody>
          <a:bodyPr wrap="square" lIns="0" tIns="0" rIns="0" bIns="0" rtlCol="0" anchor="ctr"/>
          <a:lstStyle/>
          <a:p>
            <a:pPr algn="ctr" indent="0" marL="0">
              <a:buNone/>
            </a:pPr>
            <a:r>
              <a:rPr lang="en-US" sz="950" dirty="0">
                <a:solidFill>
                  <a:srgbClr val="2C5F2D"/>
                </a:solidFill>
                <a:latin typeface="Calibri" pitchFamily="34" charset="0"/>
                <a:ea typeface="Calibri" pitchFamily="34" charset="-122"/>
                <a:cs typeface="Calibri" pitchFamily="34" charset="-120"/>
              </a:rPr>
              <a:t>Farmer app</a:t>
            </a:r>
            <a:endParaRPr lang="en-US" sz="950" dirty="0"/>
          </a:p>
        </p:txBody>
      </p:sp>
      <p:sp>
        <p:nvSpPr>
          <p:cNvPr id="8" name="Shape 6"/>
          <p:cNvSpPr/>
          <p:nvPr/>
        </p:nvSpPr>
        <p:spPr>
          <a:xfrm>
            <a:off x="3931920" y="1572768"/>
            <a:ext cx="1280160" cy="603504"/>
          </a:xfrm>
          <a:prstGeom prst="roundRect">
            <a:avLst>
              <a:gd name="adj" fmla="val 12121"/>
            </a:avLst>
          </a:prstGeom>
          <a:solidFill>
            <a:srgbClr val="FFFFFF"/>
          </a:solidFill>
          <a:ln w="12700">
            <a:solidFill>
              <a:srgbClr val="FFFFFF"/>
            </a:solidFill>
            <a:prstDash val="solid"/>
          </a:ln>
        </p:spPr>
      </p:sp>
      <p:sp>
        <p:nvSpPr>
          <p:cNvPr id="9" name="Text 7"/>
          <p:cNvSpPr txBox="1"/>
          <p:nvPr/>
        </p:nvSpPr>
        <p:spPr>
          <a:xfrm>
            <a:off x="3950208" y="1572768"/>
            <a:ext cx="1243584" cy="603504"/>
          </a:xfrm>
          <a:prstGeom prst="rect">
            <a:avLst/>
          </a:prstGeom>
          <a:noFill/>
          <a:ln/>
        </p:spPr>
        <p:txBody>
          <a:bodyPr wrap="square" lIns="0" tIns="0" rIns="0" bIns="0" rtlCol="0" anchor="ctr"/>
          <a:lstStyle/>
          <a:p>
            <a:pPr algn="ctr" indent="0" marL="0">
              <a:buNone/>
            </a:pPr>
            <a:r>
              <a:rPr lang="en-US" sz="950" dirty="0">
                <a:solidFill>
                  <a:srgbClr val="2C5F2D"/>
                </a:solidFill>
                <a:latin typeface="Calibri" pitchFamily="34" charset="0"/>
                <a:ea typeface="Calibri" pitchFamily="34" charset="-122"/>
                <a:cs typeface="Calibri" pitchFamily="34" charset="-120"/>
              </a:rPr>
              <a:t>Technician app</a:t>
            </a:r>
            <a:endParaRPr lang="en-US" sz="950" dirty="0"/>
          </a:p>
        </p:txBody>
      </p:sp>
      <p:sp>
        <p:nvSpPr>
          <p:cNvPr id="10" name="Shape 8"/>
          <p:cNvSpPr/>
          <p:nvPr/>
        </p:nvSpPr>
        <p:spPr>
          <a:xfrm>
            <a:off x="5303520" y="1572768"/>
            <a:ext cx="1280160" cy="603504"/>
          </a:xfrm>
          <a:prstGeom prst="roundRect">
            <a:avLst>
              <a:gd name="adj" fmla="val 12121"/>
            </a:avLst>
          </a:prstGeom>
          <a:solidFill>
            <a:srgbClr val="FFFFFF"/>
          </a:solidFill>
          <a:ln w="12700">
            <a:solidFill>
              <a:srgbClr val="FFFFFF"/>
            </a:solidFill>
            <a:prstDash val="solid"/>
          </a:ln>
        </p:spPr>
      </p:sp>
      <p:sp>
        <p:nvSpPr>
          <p:cNvPr id="11" name="Text 9"/>
          <p:cNvSpPr txBox="1"/>
          <p:nvPr/>
        </p:nvSpPr>
        <p:spPr>
          <a:xfrm>
            <a:off x="5321808" y="1572768"/>
            <a:ext cx="1243584" cy="603504"/>
          </a:xfrm>
          <a:prstGeom prst="rect">
            <a:avLst/>
          </a:prstGeom>
          <a:noFill/>
          <a:ln/>
        </p:spPr>
        <p:txBody>
          <a:bodyPr wrap="square" lIns="0" tIns="0" rIns="0" bIns="0" rtlCol="0" anchor="ctr"/>
          <a:lstStyle/>
          <a:p>
            <a:pPr algn="ctr" indent="0" marL="0">
              <a:buNone/>
            </a:pPr>
            <a:r>
              <a:rPr lang="en-US" sz="950" dirty="0">
                <a:solidFill>
                  <a:srgbClr val="2C5F2D"/>
                </a:solidFill>
                <a:latin typeface="Calibri" pitchFamily="34" charset="0"/>
                <a:ea typeface="Calibri" pitchFamily="34" charset="-122"/>
                <a:cs typeface="Calibri" pitchFamily="34" charset="-120"/>
              </a:rPr>
              <a:t>Veterinarian view</a:t>
            </a:r>
            <a:endParaRPr lang="en-US" sz="950" dirty="0"/>
          </a:p>
        </p:txBody>
      </p:sp>
      <p:sp>
        <p:nvSpPr>
          <p:cNvPr id="12" name="Shape 10"/>
          <p:cNvSpPr/>
          <p:nvPr/>
        </p:nvSpPr>
        <p:spPr>
          <a:xfrm>
            <a:off x="6675120" y="1572768"/>
            <a:ext cx="1280160" cy="603504"/>
          </a:xfrm>
          <a:prstGeom prst="roundRect">
            <a:avLst>
              <a:gd name="adj" fmla="val 12121"/>
            </a:avLst>
          </a:prstGeom>
          <a:solidFill>
            <a:srgbClr val="FFFFFF"/>
          </a:solidFill>
          <a:ln w="12700">
            <a:solidFill>
              <a:srgbClr val="FFFFFF"/>
            </a:solidFill>
            <a:prstDash val="solid"/>
          </a:ln>
        </p:spPr>
      </p:sp>
      <p:sp>
        <p:nvSpPr>
          <p:cNvPr id="13" name="Text 11"/>
          <p:cNvSpPr txBox="1"/>
          <p:nvPr/>
        </p:nvSpPr>
        <p:spPr>
          <a:xfrm>
            <a:off x="6693408" y="1572768"/>
            <a:ext cx="1243584" cy="603504"/>
          </a:xfrm>
          <a:prstGeom prst="rect">
            <a:avLst/>
          </a:prstGeom>
          <a:noFill/>
          <a:ln/>
        </p:spPr>
        <p:txBody>
          <a:bodyPr wrap="square" lIns="0" tIns="0" rIns="0" bIns="0" rtlCol="0" anchor="ctr"/>
          <a:lstStyle/>
          <a:p>
            <a:pPr algn="ctr" indent="0" marL="0">
              <a:buNone/>
            </a:pPr>
            <a:r>
              <a:rPr lang="en-US" sz="950" dirty="0">
                <a:solidFill>
                  <a:srgbClr val="2C5F2D"/>
                </a:solidFill>
                <a:latin typeface="Calibri" pitchFamily="34" charset="0"/>
                <a:ea typeface="Calibri" pitchFamily="34" charset="-122"/>
                <a:cs typeface="Calibri" pitchFamily="34" charset="-120"/>
              </a:rPr>
              <a:t>PCC regional / national dashboard</a:t>
            </a:r>
            <a:endParaRPr lang="en-US" sz="950" dirty="0"/>
          </a:p>
        </p:txBody>
      </p:sp>
      <p:sp>
        <p:nvSpPr>
          <p:cNvPr id="14" name="Shape 12"/>
          <p:cNvSpPr/>
          <p:nvPr/>
        </p:nvSpPr>
        <p:spPr>
          <a:xfrm>
            <a:off x="548640" y="2423160"/>
            <a:ext cx="7498080" cy="822960"/>
          </a:xfrm>
          <a:prstGeom prst="roundRect">
            <a:avLst>
              <a:gd name="adj" fmla="val 11111"/>
            </a:avLst>
          </a:prstGeom>
          <a:solidFill>
            <a:srgbClr val="97BC62"/>
          </a:solidFill>
          <a:ln w="12700">
            <a:solidFill>
              <a:srgbClr val="97BC62"/>
            </a:solidFill>
            <a:prstDash val="solid"/>
          </a:ln>
        </p:spPr>
      </p:sp>
      <p:sp>
        <p:nvSpPr>
          <p:cNvPr id="15" name="Text 13"/>
          <p:cNvSpPr txBox="1"/>
          <p:nvPr/>
        </p:nvSpPr>
        <p:spPr>
          <a:xfrm>
            <a:off x="731520" y="2423160"/>
            <a:ext cx="1737360" cy="822960"/>
          </a:xfrm>
          <a:prstGeom prst="rect">
            <a:avLst/>
          </a:prstGeom>
          <a:noFill/>
          <a:ln/>
        </p:spPr>
        <p:txBody>
          <a:bodyPr wrap="square" lIns="0" tIns="0" rIns="0" bIns="0" rtlCol="0" anchor="ctr"/>
          <a:lstStyle/>
          <a:p>
            <a:pPr indent="0" marL="0">
              <a:buNone/>
            </a:pPr>
            <a:r>
              <a:rPr lang="en-US" sz="1300" b="1" dirty="0">
                <a:solidFill>
                  <a:srgbClr val="2C5F2D"/>
                </a:solidFill>
                <a:latin typeface="Cambria" pitchFamily="34" charset="0"/>
                <a:ea typeface="Cambria" pitchFamily="34" charset="-122"/>
                <a:cs typeface="Cambria" pitchFamily="34" charset="-120"/>
              </a:rPr>
              <a:t>Applications</a:t>
            </a:r>
            <a:endParaRPr lang="en-US" sz="1300" dirty="0"/>
          </a:p>
        </p:txBody>
      </p:sp>
      <p:sp>
        <p:nvSpPr>
          <p:cNvPr id="16" name="Shape 14"/>
          <p:cNvSpPr/>
          <p:nvPr/>
        </p:nvSpPr>
        <p:spPr>
          <a:xfrm>
            <a:off x="2560320" y="2532888"/>
            <a:ext cx="1737360" cy="603504"/>
          </a:xfrm>
          <a:prstGeom prst="roundRect">
            <a:avLst>
              <a:gd name="adj" fmla="val 12121"/>
            </a:avLst>
          </a:prstGeom>
          <a:solidFill>
            <a:srgbClr val="FFFFFF"/>
          </a:solidFill>
          <a:ln w="12700">
            <a:solidFill>
              <a:srgbClr val="FFFFFF"/>
            </a:solidFill>
            <a:prstDash val="solid"/>
          </a:ln>
        </p:spPr>
      </p:sp>
      <p:sp>
        <p:nvSpPr>
          <p:cNvPr id="17" name="Text 15"/>
          <p:cNvSpPr txBox="1"/>
          <p:nvPr/>
        </p:nvSpPr>
        <p:spPr>
          <a:xfrm>
            <a:off x="2578608" y="2532888"/>
            <a:ext cx="1700784" cy="603504"/>
          </a:xfrm>
          <a:prstGeom prst="rect">
            <a:avLst/>
          </a:prstGeom>
          <a:noFill/>
          <a:ln/>
        </p:spPr>
        <p:txBody>
          <a:bodyPr wrap="square" lIns="0" tIns="0" rIns="0" bIns="0" rtlCol="0" anchor="ctr"/>
          <a:lstStyle/>
          <a:p>
            <a:pPr algn="ctr" indent="0" marL="0">
              <a:buNone/>
            </a:pPr>
            <a:r>
              <a:rPr lang="en-US" sz="900" dirty="0">
                <a:solidFill>
                  <a:srgbClr val="2C5F2D"/>
                </a:solidFill>
                <a:latin typeface="Calibri" pitchFamily="34" charset="0"/>
                <a:ea typeface="Calibri" pitchFamily="34" charset="-122"/>
                <a:cs typeface="Calibri" pitchFamily="34" charset="-120"/>
              </a:rPr>
              <a:t>NDHIS — herd improvement, reproduction &amp; performance records</a:t>
            </a:r>
            <a:endParaRPr lang="en-US" sz="900" dirty="0"/>
          </a:p>
        </p:txBody>
      </p:sp>
      <p:sp>
        <p:nvSpPr>
          <p:cNvPr id="18" name="Shape 16"/>
          <p:cNvSpPr/>
          <p:nvPr/>
        </p:nvSpPr>
        <p:spPr>
          <a:xfrm>
            <a:off x="4389120" y="2532888"/>
            <a:ext cx="1737360" cy="603504"/>
          </a:xfrm>
          <a:prstGeom prst="roundRect">
            <a:avLst>
              <a:gd name="adj" fmla="val 12121"/>
            </a:avLst>
          </a:prstGeom>
          <a:solidFill>
            <a:srgbClr val="FFFFFF"/>
          </a:solidFill>
          <a:ln w="12700">
            <a:solidFill>
              <a:srgbClr val="FFFFFF"/>
            </a:solidFill>
            <a:prstDash val="solid"/>
          </a:ln>
        </p:spPr>
      </p:sp>
      <p:sp>
        <p:nvSpPr>
          <p:cNvPr id="19" name="Text 17"/>
          <p:cNvSpPr txBox="1"/>
          <p:nvPr/>
        </p:nvSpPr>
        <p:spPr>
          <a:xfrm>
            <a:off x="4407408" y="2532888"/>
            <a:ext cx="1700784" cy="603504"/>
          </a:xfrm>
          <a:prstGeom prst="rect">
            <a:avLst/>
          </a:prstGeom>
          <a:noFill/>
          <a:ln/>
        </p:spPr>
        <p:txBody>
          <a:bodyPr wrap="square" lIns="0" tIns="0" rIns="0" bIns="0" rtlCol="0" anchor="ctr"/>
          <a:lstStyle/>
          <a:p>
            <a:pPr algn="ctr" indent="0" marL="0">
              <a:buNone/>
            </a:pPr>
            <a:r>
              <a:rPr lang="en-US" sz="900" dirty="0">
                <a:solidFill>
                  <a:srgbClr val="2C5F2D"/>
                </a:solidFill>
                <a:latin typeface="Calibri" pitchFamily="34" charset="0"/>
                <a:ea typeface="Calibri" pitchFamily="34" charset="-122"/>
                <a:cs typeface="Calibri" pitchFamily="34" charset="-120"/>
              </a:rPr>
              <a:t>iHealth — health events, treatments, withdrawal</a:t>
            </a:r>
            <a:endParaRPr lang="en-US" sz="900" dirty="0"/>
          </a:p>
        </p:txBody>
      </p:sp>
      <p:sp>
        <p:nvSpPr>
          <p:cNvPr id="20" name="Shape 18"/>
          <p:cNvSpPr/>
          <p:nvPr/>
        </p:nvSpPr>
        <p:spPr>
          <a:xfrm>
            <a:off x="6217920" y="2532888"/>
            <a:ext cx="1737360" cy="603504"/>
          </a:xfrm>
          <a:prstGeom prst="roundRect">
            <a:avLst>
              <a:gd name="adj" fmla="val 12121"/>
            </a:avLst>
          </a:prstGeom>
          <a:solidFill>
            <a:srgbClr val="FFFFFF"/>
          </a:solidFill>
          <a:ln w="12700">
            <a:solidFill>
              <a:srgbClr val="FFFFFF"/>
            </a:solidFill>
            <a:prstDash val="solid"/>
          </a:ln>
        </p:spPr>
      </p:sp>
      <p:sp>
        <p:nvSpPr>
          <p:cNvPr id="21" name="Text 19"/>
          <p:cNvSpPr txBox="1"/>
          <p:nvPr/>
        </p:nvSpPr>
        <p:spPr>
          <a:xfrm>
            <a:off x="6236208" y="2532888"/>
            <a:ext cx="1700784" cy="603504"/>
          </a:xfrm>
          <a:prstGeom prst="rect">
            <a:avLst/>
          </a:prstGeom>
          <a:noFill/>
          <a:ln/>
        </p:spPr>
        <p:txBody>
          <a:bodyPr wrap="square" lIns="0" tIns="0" rIns="0" bIns="0" rtlCol="0" anchor="ctr"/>
          <a:lstStyle/>
          <a:p>
            <a:pPr algn="ctr" indent="0" marL="0">
              <a:buNone/>
            </a:pPr>
            <a:r>
              <a:rPr lang="en-US" sz="900" dirty="0">
                <a:solidFill>
                  <a:srgbClr val="2C5F2D"/>
                </a:solidFill>
                <a:latin typeface="Calibri" pitchFamily="34" charset="0"/>
                <a:ea typeface="Calibri" pitchFamily="34" charset="-122"/>
                <a:cs typeface="Calibri" pitchFamily="34" charset="-120"/>
              </a:rPr>
              <a:t>iFeed — rations &amp; feeding frameworks</a:t>
            </a:r>
            <a:endParaRPr lang="en-US" sz="900" dirty="0"/>
          </a:p>
        </p:txBody>
      </p:sp>
      <p:sp>
        <p:nvSpPr>
          <p:cNvPr id="22" name="Shape 20"/>
          <p:cNvSpPr/>
          <p:nvPr/>
        </p:nvSpPr>
        <p:spPr>
          <a:xfrm>
            <a:off x="548640" y="3383280"/>
            <a:ext cx="7498080" cy="822960"/>
          </a:xfrm>
          <a:prstGeom prst="roundRect">
            <a:avLst>
              <a:gd name="adj" fmla="val 11111"/>
            </a:avLst>
          </a:prstGeom>
          <a:solidFill>
            <a:srgbClr val="EEF4E6"/>
          </a:solidFill>
          <a:ln w="12700">
            <a:solidFill>
              <a:srgbClr val="EEF4E6"/>
            </a:solidFill>
            <a:prstDash val="solid"/>
          </a:ln>
        </p:spPr>
      </p:sp>
      <p:sp>
        <p:nvSpPr>
          <p:cNvPr id="23" name="Text 21"/>
          <p:cNvSpPr txBox="1"/>
          <p:nvPr/>
        </p:nvSpPr>
        <p:spPr>
          <a:xfrm>
            <a:off x="731520" y="3383280"/>
            <a:ext cx="1737360" cy="822960"/>
          </a:xfrm>
          <a:prstGeom prst="rect">
            <a:avLst/>
          </a:prstGeom>
          <a:noFill/>
          <a:ln/>
        </p:spPr>
        <p:txBody>
          <a:bodyPr wrap="square" lIns="0" tIns="0" rIns="0" bIns="0" rtlCol="0" anchor="ctr"/>
          <a:lstStyle/>
          <a:p>
            <a:pPr indent="0" marL="0">
              <a:buNone/>
            </a:pPr>
            <a:r>
              <a:rPr lang="en-US" sz="1300" b="1" dirty="0">
                <a:solidFill>
                  <a:srgbClr val="2C5F2D"/>
                </a:solidFill>
                <a:latin typeface="Cambria" pitchFamily="34" charset="0"/>
                <a:ea typeface="Cambria" pitchFamily="34" charset="-122"/>
                <a:cs typeface="Cambria" pitchFamily="34" charset="-120"/>
              </a:rPr>
              <a:t>Data platform</a:t>
            </a:r>
            <a:endParaRPr lang="en-US" sz="1300" dirty="0"/>
          </a:p>
        </p:txBody>
      </p:sp>
      <p:sp>
        <p:nvSpPr>
          <p:cNvPr id="24" name="Text 22"/>
          <p:cNvSpPr txBox="1"/>
          <p:nvPr/>
        </p:nvSpPr>
        <p:spPr>
          <a:xfrm>
            <a:off x="2560320" y="3383280"/>
            <a:ext cx="5394960" cy="822960"/>
          </a:xfrm>
          <a:prstGeom prst="rect">
            <a:avLst/>
          </a:prstGeom>
          <a:noFill/>
          <a:ln/>
        </p:spPr>
        <p:txBody>
          <a:bodyPr wrap="square" lIns="0" tIns="0" rIns="0" bIns="0" rtlCol="0" anchor="ctr"/>
          <a:lstStyle/>
          <a:p>
            <a:pPr indent="0" marL="0">
              <a:buNone/>
            </a:pPr>
            <a:r>
              <a:rPr lang="en-US" sz="1100" dirty="0">
                <a:solidFill>
                  <a:srgbClr val="1F2A1F"/>
                </a:solidFill>
                <a:latin typeface="Calibri" pitchFamily="34" charset="0"/>
                <a:ea typeface="Calibri" pitchFamily="34" charset="-122"/>
                <a:cs typeface="Calibri" pitchFamily="34" charset="-120"/>
              </a:rPr>
              <a:t>Animal ID master  ·  event database  ·  sensor time-series  ·  KPI engine  ·  alert rules  ·  API for sensor cloud</a:t>
            </a:r>
            <a:endParaRPr lang="en-US" sz="1100" dirty="0"/>
          </a:p>
        </p:txBody>
      </p:sp>
      <p:sp>
        <p:nvSpPr>
          <p:cNvPr id="25" name="Shape 23"/>
          <p:cNvSpPr/>
          <p:nvPr/>
        </p:nvSpPr>
        <p:spPr>
          <a:xfrm>
            <a:off x="548640" y="4343400"/>
            <a:ext cx="7498080" cy="822960"/>
          </a:xfrm>
          <a:prstGeom prst="roundRect">
            <a:avLst>
              <a:gd name="adj" fmla="val 11111"/>
            </a:avLst>
          </a:prstGeom>
          <a:solidFill>
            <a:srgbClr val="F6F9F2"/>
          </a:solidFill>
          <a:ln w="12700">
            <a:solidFill>
              <a:srgbClr val="F6F9F2"/>
            </a:solidFill>
            <a:prstDash val="solid"/>
          </a:ln>
        </p:spPr>
      </p:sp>
      <p:sp>
        <p:nvSpPr>
          <p:cNvPr id="26" name="Text 24"/>
          <p:cNvSpPr txBox="1"/>
          <p:nvPr/>
        </p:nvSpPr>
        <p:spPr>
          <a:xfrm>
            <a:off x="731520" y="4343400"/>
            <a:ext cx="1737360" cy="822960"/>
          </a:xfrm>
          <a:prstGeom prst="rect">
            <a:avLst/>
          </a:prstGeom>
          <a:noFill/>
          <a:ln/>
        </p:spPr>
        <p:txBody>
          <a:bodyPr wrap="square" lIns="0" tIns="0" rIns="0" bIns="0" rtlCol="0" anchor="ctr"/>
          <a:lstStyle/>
          <a:p>
            <a:pPr indent="0" marL="0">
              <a:buNone/>
            </a:pPr>
            <a:r>
              <a:rPr lang="en-US" sz="1300" b="1" dirty="0">
                <a:solidFill>
                  <a:srgbClr val="2C5F2D"/>
                </a:solidFill>
                <a:latin typeface="Cambria" pitchFamily="34" charset="0"/>
                <a:ea typeface="Cambria" pitchFamily="34" charset="-122"/>
                <a:cs typeface="Cambria" pitchFamily="34" charset="-120"/>
              </a:rPr>
              <a:t>Data sources</a:t>
            </a:r>
            <a:endParaRPr lang="en-US" sz="1300" dirty="0"/>
          </a:p>
        </p:txBody>
      </p:sp>
      <p:sp>
        <p:nvSpPr>
          <p:cNvPr id="27" name="Shape 25"/>
          <p:cNvSpPr/>
          <p:nvPr/>
        </p:nvSpPr>
        <p:spPr>
          <a:xfrm>
            <a:off x="2560320" y="4453128"/>
            <a:ext cx="1280160" cy="603504"/>
          </a:xfrm>
          <a:prstGeom prst="roundRect">
            <a:avLst>
              <a:gd name="adj" fmla="val 12121"/>
            </a:avLst>
          </a:prstGeom>
          <a:solidFill>
            <a:srgbClr val="FFFFFF"/>
          </a:solidFill>
          <a:ln w="9525">
            <a:solidFill>
              <a:srgbClr val="D5DECB"/>
            </a:solidFill>
            <a:prstDash val="solid"/>
          </a:ln>
        </p:spPr>
      </p:sp>
      <p:sp>
        <p:nvSpPr>
          <p:cNvPr id="28" name="Text 26"/>
          <p:cNvSpPr txBox="1"/>
          <p:nvPr/>
        </p:nvSpPr>
        <p:spPr>
          <a:xfrm>
            <a:off x="2578608" y="4453128"/>
            <a:ext cx="1243584" cy="603504"/>
          </a:xfrm>
          <a:prstGeom prst="rect">
            <a:avLst/>
          </a:prstGeom>
          <a:noFill/>
          <a:ln/>
        </p:spPr>
        <p:txBody>
          <a:bodyPr wrap="square" lIns="0" tIns="0" rIns="0" bIns="0" rtlCol="0" anchor="ctr"/>
          <a:lstStyle/>
          <a:p>
            <a:pPr algn="ctr" indent="0" marL="0">
              <a:buNone/>
            </a:pPr>
            <a:r>
              <a:rPr lang="en-US" sz="950" dirty="0">
                <a:solidFill>
                  <a:srgbClr val="2C5F2D"/>
                </a:solidFill>
                <a:latin typeface="Calibri" pitchFamily="34" charset="0"/>
                <a:ea typeface="Calibri" pitchFamily="34" charset="-122"/>
                <a:cs typeface="Calibri" pitchFamily="34" charset="-120"/>
              </a:rPr>
              <a:t>Rumen bolus cloud (API)</a:t>
            </a:r>
            <a:endParaRPr lang="en-US" sz="950" dirty="0"/>
          </a:p>
        </p:txBody>
      </p:sp>
      <p:sp>
        <p:nvSpPr>
          <p:cNvPr id="29" name="Shape 27"/>
          <p:cNvSpPr/>
          <p:nvPr/>
        </p:nvSpPr>
        <p:spPr>
          <a:xfrm>
            <a:off x="3931920" y="4453128"/>
            <a:ext cx="1280160" cy="603504"/>
          </a:xfrm>
          <a:prstGeom prst="roundRect">
            <a:avLst>
              <a:gd name="adj" fmla="val 12121"/>
            </a:avLst>
          </a:prstGeom>
          <a:solidFill>
            <a:srgbClr val="FFFFFF"/>
          </a:solidFill>
          <a:ln w="9525">
            <a:solidFill>
              <a:srgbClr val="D5DECB"/>
            </a:solidFill>
            <a:prstDash val="solid"/>
          </a:ln>
        </p:spPr>
      </p:sp>
      <p:sp>
        <p:nvSpPr>
          <p:cNvPr id="30" name="Text 28"/>
          <p:cNvSpPr txBox="1"/>
          <p:nvPr/>
        </p:nvSpPr>
        <p:spPr>
          <a:xfrm>
            <a:off x="3950208" y="4453128"/>
            <a:ext cx="1243584" cy="603504"/>
          </a:xfrm>
          <a:prstGeom prst="rect">
            <a:avLst/>
          </a:prstGeom>
          <a:noFill/>
          <a:ln/>
        </p:spPr>
        <p:txBody>
          <a:bodyPr wrap="square" lIns="0" tIns="0" rIns="0" bIns="0" rtlCol="0" anchor="ctr"/>
          <a:lstStyle/>
          <a:p>
            <a:pPr algn="ctr" indent="0" marL="0">
              <a:buNone/>
            </a:pPr>
            <a:r>
              <a:rPr lang="en-US" sz="950" dirty="0">
                <a:solidFill>
                  <a:srgbClr val="2C5F2D"/>
                </a:solidFill>
                <a:latin typeface="Calibri" pitchFamily="34" charset="0"/>
                <a:ea typeface="Calibri" pitchFamily="34" charset="-122"/>
                <a:cs typeface="Calibri" pitchFamily="34" charset="-120"/>
              </a:rPr>
              <a:t>Manual records (phone)</a:t>
            </a:r>
            <a:endParaRPr lang="en-US" sz="950" dirty="0"/>
          </a:p>
        </p:txBody>
      </p:sp>
      <p:sp>
        <p:nvSpPr>
          <p:cNvPr id="31" name="Shape 29"/>
          <p:cNvSpPr/>
          <p:nvPr/>
        </p:nvSpPr>
        <p:spPr>
          <a:xfrm>
            <a:off x="5303520" y="4453128"/>
            <a:ext cx="1280160" cy="603504"/>
          </a:xfrm>
          <a:prstGeom prst="roundRect">
            <a:avLst>
              <a:gd name="adj" fmla="val 12121"/>
            </a:avLst>
          </a:prstGeom>
          <a:solidFill>
            <a:srgbClr val="FFFFFF"/>
          </a:solidFill>
          <a:ln w="9525">
            <a:solidFill>
              <a:srgbClr val="D5DECB"/>
            </a:solidFill>
            <a:prstDash val="solid"/>
          </a:ln>
        </p:spPr>
      </p:sp>
      <p:sp>
        <p:nvSpPr>
          <p:cNvPr id="32" name="Text 30"/>
          <p:cNvSpPr txBox="1"/>
          <p:nvPr/>
        </p:nvSpPr>
        <p:spPr>
          <a:xfrm>
            <a:off x="5321808" y="4453128"/>
            <a:ext cx="1243584" cy="603504"/>
          </a:xfrm>
          <a:prstGeom prst="rect">
            <a:avLst/>
          </a:prstGeom>
          <a:noFill/>
          <a:ln/>
        </p:spPr>
        <p:txBody>
          <a:bodyPr wrap="square" lIns="0" tIns="0" rIns="0" bIns="0" rtlCol="0" anchor="ctr"/>
          <a:lstStyle/>
          <a:p>
            <a:pPr algn="ctr" indent="0" marL="0">
              <a:buNone/>
            </a:pPr>
            <a:r>
              <a:rPr lang="en-US" sz="950" dirty="0">
                <a:solidFill>
                  <a:srgbClr val="2C5F2D"/>
                </a:solidFill>
                <a:latin typeface="Calibri" pitchFamily="34" charset="0"/>
                <a:ea typeface="Calibri" pitchFamily="34" charset="-122"/>
                <a:cs typeface="Calibri" pitchFamily="34" charset="-120"/>
              </a:rPr>
              <a:t>Milk tests / lab</a:t>
            </a:r>
            <a:endParaRPr lang="en-US" sz="950" dirty="0"/>
          </a:p>
        </p:txBody>
      </p:sp>
      <p:sp>
        <p:nvSpPr>
          <p:cNvPr id="33" name="Shape 31"/>
          <p:cNvSpPr/>
          <p:nvPr/>
        </p:nvSpPr>
        <p:spPr>
          <a:xfrm>
            <a:off x="6675120" y="4453128"/>
            <a:ext cx="1280160" cy="603504"/>
          </a:xfrm>
          <a:prstGeom prst="roundRect">
            <a:avLst>
              <a:gd name="adj" fmla="val 12121"/>
            </a:avLst>
          </a:prstGeom>
          <a:solidFill>
            <a:srgbClr val="FFFFFF"/>
          </a:solidFill>
          <a:ln w="9525">
            <a:solidFill>
              <a:srgbClr val="D5DECB"/>
            </a:solidFill>
            <a:prstDash val="solid"/>
          </a:ln>
        </p:spPr>
      </p:sp>
      <p:sp>
        <p:nvSpPr>
          <p:cNvPr id="34" name="Text 32"/>
          <p:cNvSpPr txBox="1"/>
          <p:nvPr/>
        </p:nvSpPr>
        <p:spPr>
          <a:xfrm>
            <a:off x="6693408" y="4453128"/>
            <a:ext cx="1243584" cy="603504"/>
          </a:xfrm>
          <a:prstGeom prst="rect">
            <a:avLst/>
          </a:prstGeom>
          <a:noFill/>
          <a:ln/>
        </p:spPr>
        <p:txBody>
          <a:bodyPr wrap="square" lIns="0" tIns="0" rIns="0" bIns="0" rtlCol="0" anchor="ctr"/>
          <a:lstStyle/>
          <a:p>
            <a:pPr algn="ctr" indent="0" marL="0">
              <a:buNone/>
            </a:pPr>
            <a:r>
              <a:rPr lang="en-US" sz="950" dirty="0">
                <a:solidFill>
                  <a:srgbClr val="2C5F2D"/>
                </a:solidFill>
                <a:latin typeface="Calibri" pitchFamily="34" charset="0"/>
                <a:ea typeface="Calibri" pitchFamily="34" charset="-122"/>
                <a:cs typeface="Calibri" pitchFamily="34" charset="-120"/>
              </a:rPr>
              <a:t>Weather / THI</a:t>
            </a:r>
            <a:endParaRPr lang="en-US" sz="950" dirty="0"/>
          </a:p>
        </p:txBody>
      </p:sp>
      <p:sp>
        <p:nvSpPr>
          <p:cNvPr id="35" name="Shape 33"/>
          <p:cNvSpPr/>
          <p:nvPr/>
        </p:nvSpPr>
        <p:spPr>
          <a:xfrm>
            <a:off x="548640" y="5303520"/>
            <a:ext cx="7498080" cy="822960"/>
          </a:xfrm>
          <a:prstGeom prst="roundRect">
            <a:avLst>
              <a:gd name="adj" fmla="val 11111"/>
            </a:avLst>
          </a:prstGeom>
          <a:solidFill>
            <a:srgbClr val="2C5F2D"/>
          </a:solidFill>
          <a:ln w="12700">
            <a:solidFill>
              <a:srgbClr val="2C5F2D"/>
            </a:solidFill>
            <a:prstDash val="solid"/>
          </a:ln>
        </p:spPr>
      </p:sp>
      <p:sp>
        <p:nvSpPr>
          <p:cNvPr id="36" name="Text 34"/>
          <p:cNvSpPr txBox="1"/>
          <p:nvPr/>
        </p:nvSpPr>
        <p:spPr>
          <a:xfrm>
            <a:off x="731520" y="5303520"/>
            <a:ext cx="1737360" cy="8229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Animals</a:t>
            </a:r>
            <a:endParaRPr lang="en-US" sz="1300" dirty="0"/>
          </a:p>
        </p:txBody>
      </p:sp>
      <p:sp>
        <p:nvSpPr>
          <p:cNvPr id="37" name="Text 35"/>
          <p:cNvSpPr txBox="1"/>
          <p:nvPr/>
        </p:nvSpPr>
        <p:spPr>
          <a:xfrm>
            <a:off x="2560320" y="5303520"/>
            <a:ext cx="5394960" cy="8229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One ear-tag ID per animal — the key that joins every record and every sensor reading</a:t>
            </a:r>
            <a:endParaRPr lang="en-US" sz="1150" dirty="0"/>
          </a:p>
        </p:txBody>
      </p:sp>
      <p:sp>
        <p:nvSpPr>
          <p:cNvPr id="38" name="Shape 36"/>
          <p:cNvSpPr/>
          <p:nvPr/>
        </p:nvSpPr>
        <p:spPr>
          <a:xfrm>
            <a:off x="8412480" y="1463040"/>
            <a:ext cx="3246120" cy="4663440"/>
          </a:xfrm>
          <a:prstGeom prst="roundRect">
            <a:avLst>
              <a:gd name="adj" fmla="val 3380"/>
            </a:avLst>
          </a:prstGeom>
          <a:solidFill>
            <a:srgbClr val="EEF4E6"/>
          </a:solidFill>
          <a:ln w="12700">
            <a:solidFill>
              <a:srgbClr val="EEF4E6"/>
            </a:solidFill>
            <a:prstDash val="solid"/>
          </a:ln>
        </p:spPr>
      </p:sp>
      <p:sp>
        <p:nvSpPr>
          <p:cNvPr id="39" name="Text 37"/>
          <p:cNvSpPr txBox="1"/>
          <p:nvPr/>
        </p:nvSpPr>
        <p:spPr>
          <a:xfrm>
            <a:off x="8641080" y="1600200"/>
            <a:ext cx="2834640" cy="54864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Korea’s approach: “CowTalk AI”</a:t>
            </a:r>
            <a:endParaRPr lang="en-US" sz="1400" dirty="0"/>
          </a:p>
        </p:txBody>
      </p:sp>
      <p:sp>
        <p:nvSpPr>
          <p:cNvPr id="40" name="Text 38"/>
          <p:cNvSpPr txBox="1"/>
          <p:nvPr/>
        </p:nvSpPr>
        <p:spPr>
          <a:xfrm>
            <a:off x="8641080" y="2194560"/>
            <a:ext cx="2834640" cy="384048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1F2A1F"/>
                </a:solidFill>
                <a:latin typeface="Calibri" pitchFamily="34" charset="0"/>
                <a:ea typeface="Calibri" pitchFamily="34" charset="-122"/>
                <a:cs typeface="Calibri" pitchFamily="34" charset="-120"/>
              </a:rPr>
              <a:t>Sensor data + public livestock data + AI models in one platform</a:t>
            </a:r>
            <a:endParaRPr lang="en-US" sz="1150" dirty="0"/>
          </a:p>
          <a:p>
            <a:pPr marL="177800" indent="-177800">
              <a:spcAft>
                <a:spcPts val="500"/>
              </a:spcAft>
              <a:buSzPct val="100000"/>
              <a:buChar char="•"/>
            </a:pPr>
            <a:r>
              <a:rPr lang="en-US" sz="1150" dirty="0">
                <a:solidFill>
                  <a:srgbClr val="1F2A1F"/>
                </a:solidFill>
                <a:latin typeface="Calibri" pitchFamily="34" charset="0"/>
                <a:ea typeface="Calibri" pitchFamily="34" charset="-122"/>
                <a:cs typeface="Calibri" pitchFamily="34" charset="-120"/>
              </a:rPr>
              <a:t>Same data serves farmer, vet, inseminator and government — different views</a:t>
            </a:r>
            <a:endParaRPr lang="en-US" sz="1150" dirty="0"/>
          </a:p>
          <a:p>
            <a:pPr marL="177800" indent="-177800">
              <a:spcAft>
                <a:spcPts val="500"/>
              </a:spcAft>
              <a:buSzPct val="100000"/>
              <a:buChar char="•"/>
            </a:pPr>
            <a:r>
              <a:rPr lang="en-US" sz="1150" dirty="0">
                <a:solidFill>
                  <a:srgbClr val="1F2A1F"/>
                </a:solidFill>
                <a:latin typeface="Calibri" pitchFamily="34" charset="0"/>
                <a:ea typeface="Calibri" pitchFamily="34" charset="-122"/>
                <a:cs typeface="Calibri" pitchFamily="34" charset="-120"/>
              </a:rPr>
              <a:t>Designed as a provincial livestock operating system: farm → province → national</a:t>
            </a:r>
            <a:endParaRPr lang="en-US" sz="1150" dirty="0"/>
          </a:p>
          <a:p>
            <a:pPr marL="177800" indent="-177800">
              <a:spcAft>
                <a:spcPts val="500"/>
              </a:spcAft>
              <a:buSzPct val="100000"/>
              <a:buChar char="•"/>
            </a:pPr>
            <a:r>
              <a:rPr lang="en-US" sz="1150" dirty="0">
                <a:solidFill>
                  <a:srgbClr val="1F2A1F"/>
                </a:solidFill>
                <a:latin typeface="Calibri" pitchFamily="34" charset="0"/>
                <a:ea typeface="Calibri" pitchFamily="34" charset="-122"/>
                <a:cs typeface="Calibri" pitchFamily="34" charset="-120"/>
              </a:rPr>
              <a:t>Sensor cloud connected by API, so NDHIS stays the system of record</a:t>
            </a:r>
            <a:endParaRPr lang="en-US" sz="1150" dirty="0"/>
          </a:p>
        </p:txBody>
      </p:sp>
      <p:sp>
        <p:nvSpPr>
          <p:cNvPr id="41" name="Text 3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42" name="Text 40"/>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3 · DIGITAL MONITORING</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Designing the Philippine pilot with 100 sensors</a:t>
            </a:r>
            <a:endParaRPr lang="en-US" sz="2600" dirty="0"/>
          </a:p>
        </p:txBody>
      </p:sp>
      <p:sp>
        <p:nvSpPr>
          <p:cNvPr id="4" name="Shape 2"/>
          <p:cNvSpPr/>
          <p:nvPr/>
        </p:nvSpPr>
        <p:spPr>
          <a:xfrm>
            <a:off x="548640" y="1463040"/>
            <a:ext cx="3657600" cy="4663440"/>
          </a:xfrm>
          <a:prstGeom prst="roundRect">
            <a:avLst>
              <a:gd name="adj" fmla="val 3000"/>
            </a:avLst>
          </a:prstGeom>
          <a:solidFill>
            <a:srgbClr val="F6F9F2"/>
          </a:solidFill>
          <a:ln w="12700">
            <a:solidFill>
              <a:srgbClr val="F6F9F2"/>
            </a:solidFill>
            <a:prstDash val="solid"/>
          </a:ln>
        </p:spPr>
      </p:sp>
      <p:sp>
        <p:nvSpPr>
          <p:cNvPr id="5" name="Text 3"/>
          <p:cNvSpPr txBox="1"/>
          <p:nvPr/>
        </p:nvSpPr>
        <p:spPr>
          <a:xfrm>
            <a:off x="777240" y="1600200"/>
            <a:ext cx="320040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Buffalo-specific points</a:t>
            </a:r>
            <a:endParaRPr lang="en-US" sz="1500" dirty="0"/>
          </a:p>
        </p:txBody>
      </p:sp>
      <p:sp>
        <p:nvSpPr>
          <p:cNvPr id="6" name="Text 4"/>
          <p:cNvSpPr txBox="1"/>
          <p:nvPr/>
        </p:nvSpPr>
        <p:spPr>
          <a:xfrm>
            <a:off x="777240" y="2057400"/>
            <a:ext cx="3200400" cy="402336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Reticulum anatomy and bolus retention are comparable to cattle — confirm with the first 10 animals (ultrasound / X-ray optional)</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Baseline temperature, rumination minutes and activity differ from Holsteins → collect 4–6 weeks of baseline before trusting alerts</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Wallowing lowers body temperature transiently — models must learn this pattern</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Heat signs weak → the heat alert is the primary target outcome</a:t>
            </a:r>
            <a:endParaRPr lang="en-US" sz="1150" dirty="0"/>
          </a:p>
          <a:p>
            <a:pPr marL="177800" indent="-177800">
              <a:spcAft>
                <a:spcPts val="600"/>
              </a:spcAft>
              <a:buSzPct val="100000"/>
              <a:buChar char="•"/>
            </a:pPr>
            <a:r>
              <a:rPr lang="en-US" sz="1150" dirty="0">
                <a:solidFill>
                  <a:srgbClr val="1F2A1F"/>
                </a:solidFill>
                <a:latin typeface="Calibri" pitchFamily="34" charset="0"/>
                <a:ea typeface="Calibri" pitchFamily="34" charset="-122"/>
                <a:cs typeface="Calibri" pitchFamily="34" charset="-120"/>
              </a:rPr>
              <a:t>Applicator technique and restraint: trained staff only</a:t>
            </a:r>
            <a:endParaRPr lang="en-US" sz="1150" dirty="0"/>
          </a:p>
        </p:txBody>
      </p:sp>
      <p:sp>
        <p:nvSpPr>
          <p:cNvPr id="7" name="Shape 5"/>
          <p:cNvSpPr/>
          <p:nvPr/>
        </p:nvSpPr>
        <p:spPr>
          <a:xfrm>
            <a:off x="4389120" y="1463040"/>
            <a:ext cx="7269480" cy="4663440"/>
          </a:xfrm>
          <a:prstGeom prst="roundRect">
            <a:avLst>
              <a:gd name="adj" fmla="val 2353"/>
            </a:avLst>
          </a:prstGeom>
          <a:solidFill>
            <a:srgbClr val="EEF4E6"/>
          </a:solidFill>
          <a:ln w="12700">
            <a:solidFill>
              <a:srgbClr val="EEF4E6"/>
            </a:solidFill>
            <a:prstDash val="solid"/>
          </a:ln>
        </p:spPr>
      </p:sp>
      <p:sp>
        <p:nvSpPr>
          <p:cNvPr id="8" name="Text 6"/>
          <p:cNvSpPr txBox="1"/>
          <p:nvPr/>
        </p:nvSpPr>
        <p:spPr>
          <a:xfrm>
            <a:off x="4617720" y="1600200"/>
            <a:ext cx="6766560" cy="365760"/>
          </a:xfrm>
          <a:prstGeom prst="rect">
            <a:avLst/>
          </a:prstGeom>
          <a:noFill/>
          <a:ln/>
        </p:spPr>
        <p:txBody>
          <a:bodyPr wrap="square" lIns="0" tIns="0" rIns="0" bIns="0"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Pilot design (proposal for discussion)</a:t>
            </a:r>
            <a:endParaRPr lang="en-US" sz="15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617720" y="2057400"/>
          <a:ext cx="6766560" cy="914400"/>
        </p:xfrm>
        <a:graphic>
          <a:graphicData uri="http://schemas.openxmlformats.org/drawingml/2006/table">
            <a:tbl>
              <a:tblPr/>
              <a:tblGrid>
                <a:gridCol w="1371600"/>
                <a:gridCol w="539496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Element</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Proposal</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r>
              <a:tr h="457200">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Animals</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100 sensors: e.g. 60 dairy buffalo + 40 dairy cattle across 4–6 cooperative or institutional farms; adult animals in production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Comparison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Paired control animals on the same farms without sensors (or before/after per animal) — the Korean Gyeonggi pilot uses this RCT-style design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457200">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Baseline</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Months 1–2: fit sensors, collect baseline, train technicians; no alert-based actions yet</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Intervention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Months 3–12: alert-driven heat detection, fresh-animal monitoring, disease checks; all events in NDHIS / iHealth</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457200">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Primary KPIs</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Heat detection rate · conception rate · days open · calving alerts confirmed · disease detection lead time · antibiotic treatments per 100 animal-months</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Secondary</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Milk yield, calf mortality, technician time per animal, farmer satisfaction, data completeness in NDHIS</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457200">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Deliverable</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Month 12 report: measured effects, buffalo thresholds, cost per animal-month, recommendation for scale-up</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11"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3 · DIGITAL MONITORING</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Where the money comes from — value drivers for the pilot</a:t>
            </a:r>
            <a:endParaRPr lang="en-US" sz="2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377440"/>
                <a:gridCol w="2743200"/>
                <a:gridCol w="3291840"/>
                <a:gridCol w="2679192"/>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Value driver</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Mechanism</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to measure it</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Direction reported in cattle herds</a:t>
                      </a:r>
                      <a:endParaRPr lang="en-US" sz="110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2C5F2D"/>
                    </a:solidFill>
                  </a:tcPr>
                </a:tc>
              </a:tr>
              <a:tr h="475488">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Fewer days open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Heats caught, AI timed correctly</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Days open before vs after; per-day cost of open animal (feed + lost milk)</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Down (up to ~25% reported)</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Fewer clinical mastitis cases, milder cases</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Early temperature / rumination alert → early CMT</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Cases per 100 animal-months; discarded milk; drug cost</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Down; antibiotic use down (up to ~70% reported)</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475488">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Fewer calving losses</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Calving alert → supervised calving</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Stillbirths, dystocia, retained placenta per 100 calvings</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Down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Earlier treatment of metabolic disease</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Fresh-animal watch</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Ketosis / milk fever cases, culls in first 60 days</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Down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r h="475488">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Labour efficiency</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Morning list replaces heat watching and thermometer rounds</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Technician hours per animal per week</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Down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Milk yield</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Sum of the above</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kg per animal per lactation, adjusted for season</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c>
                  <a:txBody>
                    <a:bodyPr/>
                    <a:lstStyle/>
                    <a:p>
                      <a:pPr indent="0" marL="0">
                        <a:buNone/>
                      </a:pPr>
                      <a:r>
                        <a:rPr lang="en-US" sz="1050" dirty="0">
                          <a:solidFill>
                            <a:srgbClr val="1F2A1F"/>
                          </a:solidFill>
                          <a:latin typeface="Calibri" pitchFamily="34" charset="0"/>
                          <a:ea typeface="Calibri" pitchFamily="34" charset="-122"/>
                          <a:cs typeface="Calibri" pitchFamily="34" charset="-120"/>
                        </a:rPr>
                        <a:t>Up (varies)</a:t>
                      </a:r>
                      <a:endParaRPr lang="en-US" sz="1050" dirty="0">
                        <a:latin typeface="Calibri" charset="0"/>
                        <a:ea typeface="Calibri" charset="0"/>
                        <a:cs typeface="Calibri" charset="0"/>
                      </a:endParaRPr>
                    </a:p>
                  </a:txBody>
                  <a:tcPr marL="54864" marR="54864" marT="54864" marB="54864" anchor="ctr">
                    <a:lnL w="6350" cap="flat" cmpd="sng" algn="ctr">
                      <a:solidFill>
                        <a:srgbClr val="D5DECB"/>
                      </a:solidFill>
                      <a:prstDash val="solid"/>
                      <a:round/>
                      <a:headEnd type="none" w="med" len="med"/>
                      <a:tailEnd type="none" w="med" len="med"/>
                    </a:lnL>
                    <a:lnR w="6350" cap="flat" cmpd="sng" algn="ctr">
                      <a:solidFill>
                        <a:srgbClr val="D5DECB"/>
                      </a:solidFill>
                      <a:prstDash val="solid"/>
                      <a:round/>
                      <a:headEnd type="none" w="med" len="med"/>
                      <a:tailEnd type="none" w="med" len="med"/>
                    </a:lnR>
                    <a:lnT w="6350" cap="flat" cmpd="sng" algn="ctr">
                      <a:solidFill>
                        <a:srgbClr val="D5DECB"/>
                      </a:solidFill>
                      <a:prstDash val="solid"/>
                      <a:round/>
                      <a:headEnd type="none" w="med" len="med"/>
                      <a:tailEnd type="none" w="med" len="med"/>
                    </a:lnT>
                    <a:lnB w="6350" cap="flat" cmpd="sng" algn="ctr">
                      <a:solidFill>
                        <a:srgbClr val="D5DECB"/>
                      </a:solidFill>
                      <a:prstDash val="solid"/>
                      <a:round/>
                      <a:headEnd type="none" w="med" len="med"/>
                      <a:tailEnd type="none" w="med" len="med"/>
                    </a:lnB>
                    <a:solidFill>
                      <a:srgbClr val="F6F9F2"/>
                    </a:solidFill>
                  </a:tcPr>
                </a:tc>
              </a:tr>
            </a:tbl>
          </a:graphicData>
        </a:graphic>
      </p:graphicFrame>
      <p:sp>
        <p:nvSpPr>
          <p:cNvPr id="5" name="Shape 2"/>
          <p:cNvSpPr/>
          <p:nvPr/>
        </p:nvSpPr>
        <p:spPr>
          <a:xfrm>
            <a:off x="548640" y="4983480"/>
            <a:ext cx="11094415" cy="1188720"/>
          </a:xfrm>
          <a:prstGeom prst="roundRect">
            <a:avLst>
              <a:gd name="adj" fmla="val 9231"/>
            </a:avLst>
          </a:prstGeom>
          <a:solidFill>
            <a:srgbClr val="EEF4E6"/>
          </a:solidFill>
          <a:ln w="12700">
            <a:solidFill>
              <a:srgbClr val="EEF4E6"/>
            </a:solidFill>
            <a:prstDash val="solid"/>
          </a:ln>
        </p:spPr>
      </p:sp>
      <p:sp>
        <p:nvSpPr>
          <p:cNvPr id="6" name="Text 3"/>
          <p:cNvSpPr txBox="1"/>
          <p:nvPr/>
        </p:nvSpPr>
        <p:spPr>
          <a:xfrm>
            <a:off x="777240" y="5029200"/>
            <a:ext cx="10637215" cy="109728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Simple pilot economics (fill with local numbers):  value per animal-month = Δ days open × cost/day  +  Δ mastitis cases × cost/case  +  Δ calf losses × calf value  +  labour saved × wage.  Compare with sensor cost per animal-month (device amortised over 4 years + platform fee). Korean dairies typically recover the cost from reproduction alone; buffalo economics must be measured, not assumed.</a:t>
            </a:r>
            <a:endParaRPr lang="en-US" sz="1150" dirty="0"/>
          </a:p>
        </p:txBody>
      </p:sp>
      <p:sp>
        <p:nvSpPr>
          <p:cNvPr id="7" name="Text 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8"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MODULE 3 · DIGITAL MONITORING</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Reference cases: farm → province → international</a:t>
            </a:r>
            <a:endParaRPr lang="en-US" sz="2600" dirty="0"/>
          </a:p>
        </p:txBody>
      </p:sp>
      <p:sp>
        <p:nvSpPr>
          <p:cNvPr id="4" name="Shape 2"/>
          <p:cNvSpPr/>
          <p:nvPr/>
        </p:nvSpPr>
        <p:spPr>
          <a:xfrm>
            <a:off x="548640" y="1463040"/>
            <a:ext cx="3611880" cy="3840480"/>
          </a:xfrm>
          <a:prstGeom prst="roundRect">
            <a:avLst>
              <a:gd name="adj" fmla="val 3038"/>
            </a:avLst>
          </a:prstGeom>
          <a:solidFill>
            <a:srgbClr val="F6F9F2"/>
          </a:solidFill>
          <a:ln w="12700">
            <a:solidFill>
              <a:srgbClr val="F6F9F2"/>
            </a:solidFill>
            <a:prstDash val="solid"/>
          </a:ln>
        </p:spPr>
      </p:sp>
      <p:sp>
        <p:nvSpPr>
          <p:cNvPr id="5" name="Shape 3"/>
          <p:cNvSpPr/>
          <p:nvPr/>
        </p:nvSpPr>
        <p:spPr>
          <a:xfrm>
            <a:off x="777240" y="1691640"/>
            <a:ext cx="640080" cy="640080"/>
          </a:xfrm>
          <a:prstGeom prst="ellipse">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930859" y="1845259"/>
            <a:ext cx="332842" cy="332842"/>
          </a:xfrm>
          <a:prstGeom prst="rect">
            <a:avLst/>
          </a:prstGeom>
        </p:spPr>
      </p:pic>
      <p:sp>
        <p:nvSpPr>
          <p:cNvPr id="7" name="Text 4"/>
          <p:cNvSpPr txBox="1"/>
          <p:nvPr/>
        </p:nvSpPr>
        <p:spPr>
          <a:xfrm>
            <a:off x="1554480" y="1645920"/>
            <a:ext cx="2468880" cy="7315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Song Young Shin Farm, Korea</a:t>
            </a:r>
            <a:endParaRPr lang="en-US" sz="1400" dirty="0"/>
          </a:p>
        </p:txBody>
      </p:sp>
      <p:sp>
        <p:nvSpPr>
          <p:cNvPr id="8" name="Text 5"/>
          <p:cNvSpPr txBox="1"/>
          <p:nvPr/>
        </p:nvSpPr>
        <p:spPr>
          <a:xfrm>
            <a:off x="777240" y="2560320"/>
            <a:ext cx="3154680" cy="265176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120 head · 90 bolus sensors · robots · compost-bedded barn. Night heat watching and fresh-cow thermometer rounds replaced by phone alerts; first animal-welfare and low-carbon certified dairy in Korea.</a:t>
            </a:r>
            <a:endParaRPr lang="en-US" sz="1150" dirty="0"/>
          </a:p>
        </p:txBody>
      </p:sp>
      <p:sp>
        <p:nvSpPr>
          <p:cNvPr id="9" name="Shape 6"/>
          <p:cNvSpPr/>
          <p:nvPr/>
        </p:nvSpPr>
        <p:spPr>
          <a:xfrm>
            <a:off x="4297680" y="1463040"/>
            <a:ext cx="3611880" cy="3840480"/>
          </a:xfrm>
          <a:prstGeom prst="roundRect">
            <a:avLst>
              <a:gd name="adj" fmla="val 3038"/>
            </a:avLst>
          </a:prstGeom>
          <a:solidFill>
            <a:srgbClr val="F6F9F2"/>
          </a:solidFill>
          <a:ln w="12700">
            <a:solidFill>
              <a:srgbClr val="F6F9F2"/>
            </a:solidFill>
            <a:prstDash val="solid"/>
          </a:ln>
        </p:spPr>
      </p:sp>
      <p:sp>
        <p:nvSpPr>
          <p:cNvPr id="10" name="Shape 7"/>
          <p:cNvSpPr/>
          <p:nvPr/>
        </p:nvSpPr>
        <p:spPr>
          <a:xfrm>
            <a:off x="4526280" y="1691640"/>
            <a:ext cx="640080" cy="640080"/>
          </a:xfrm>
          <a:prstGeom prst="ellipse">
            <a:avLst/>
          </a:prstGeom>
          <a:solidFill>
            <a:srgbClr val="2C5F2D"/>
          </a:solidFill>
          <a:ln w="12700">
            <a:solidFill>
              <a:srgbClr val="2C5F2D"/>
            </a:solidFill>
            <a:prstDash val="solid"/>
          </a:ln>
        </p:spPr>
      </p:sp>
      <p:pic>
        <p:nvPicPr>
          <p:cNvPr id="11" name="Image 1" descr="preencoded.png">    </p:cNvPr>
          <p:cNvPicPr>
            <a:picLocks noChangeAspect="1"/>
          </p:cNvPicPr>
          <p:nvPr/>
        </p:nvPicPr>
        <p:blipFill>
          <a:blip r:embed="rId2"/>
          <a:stretch>
            <a:fillRect/>
          </a:stretch>
        </p:blipFill>
        <p:spPr>
          <a:xfrm>
            <a:off x="4679899" y="1845259"/>
            <a:ext cx="332842" cy="332842"/>
          </a:xfrm>
          <a:prstGeom prst="rect">
            <a:avLst/>
          </a:prstGeom>
        </p:spPr>
      </p:pic>
      <p:sp>
        <p:nvSpPr>
          <p:cNvPr id="12" name="Text 8"/>
          <p:cNvSpPr txBox="1"/>
          <p:nvPr/>
        </p:nvSpPr>
        <p:spPr>
          <a:xfrm>
            <a:off x="5303520" y="1645920"/>
            <a:ext cx="2468880" cy="7315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Gyeonggi Province AI livestock platform (planned)</a:t>
            </a:r>
            <a:endParaRPr lang="en-US" sz="1400" dirty="0"/>
          </a:p>
        </p:txBody>
      </p:sp>
      <p:sp>
        <p:nvSpPr>
          <p:cNvPr id="13" name="Text 9"/>
          <p:cNvSpPr txBox="1"/>
          <p:nvPr/>
        </p:nvSpPr>
        <p:spPr>
          <a:xfrm>
            <a:off x="4526280" y="2560320"/>
            <a:ext cx="3154680" cy="265176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Five-year provincial programme; dairy ICT pilot designed for 31 municipalities × 5 farms × 50 milking cows (7,750 cows) with randomised comparison; rumen sensors specified as the data source; expansion to beef and pig farms.</a:t>
            </a:r>
            <a:endParaRPr lang="en-US" sz="1150" dirty="0"/>
          </a:p>
        </p:txBody>
      </p:sp>
      <p:sp>
        <p:nvSpPr>
          <p:cNvPr id="14" name="Shape 10"/>
          <p:cNvSpPr/>
          <p:nvPr/>
        </p:nvSpPr>
        <p:spPr>
          <a:xfrm>
            <a:off x="8046720" y="1463040"/>
            <a:ext cx="3611880" cy="3840480"/>
          </a:xfrm>
          <a:prstGeom prst="roundRect">
            <a:avLst>
              <a:gd name="adj" fmla="val 3038"/>
            </a:avLst>
          </a:prstGeom>
          <a:solidFill>
            <a:srgbClr val="F6F9F2"/>
          </a:solidFill>
          <a:ln w="12700">
            <a:solidFill>
              <a:srgbClr val="F6F9F2"/>
            </a:solidFill>
            <a:prstDash val="solid"/>
          </a:ln>
        </p:spPr>
      </p:sp>
      <p:sp>
        <p:nvSpPr>
          <p:cNvPr id="15" name="Shape 11"/>
          <p:cNvSpPr/>
          <p:nvPr/>
        </p:nvSpPr>
        <p:spPr>
          <a:xfrm>
            <a:off x="8275320" y="1691640"/>
            <a:ext cx="640080" cy="640080"/>
          </a:xfrm>
          <a:prstGeom prst="ellipse">
            <a:avLst/>
          </a:prstGeom>
          <a:solidFill>
            <a:srgbClr val="2C5F2D"/>
          </a:solidFill>
          <a:ln w="12700">
            <a:solidFill>
              <a:srgbClr val="2C5F2D"/>
            </a:solidFill>
            <a:prstDash val="solid"/>
          </a:ln>
        </p:spPr>
      </p:sp>
      <p:pic>
        <p:nvPicPr>
          <p:cNvPr id="16" name="Image 2" descr="preencoded.png">    </p:cNvPr>
          <p:cNvPicPr>
            <a:picLocks noChangeAspect="1"/>
          </p:cNvPicPr>
          <p:nvPr/>
        </p:nvPicPr>
        <p:blipFill>
          <a:blip r:embed="rId3"/>
          <a:stretch>
            <a:fillRect/>
          </a:stretch>
        </p:blipFill>
        <p:spPr>
          <a:xfrm>
            <a:off x="8428939" y="1845259"/>
            <a:ext cx="332842" cy="332842"/>
          </a:xfrm>
          <a:prstGeom prst="rect">
            <a:avLst/>
          </a:prstGeom>
        </p:spPr>
      </p:pic>
      <p:sp>
        <p:nvSpPr>
          <p:cNvPr id="17" name="Text 12"/>
          <p:cNvSpPr txBox="1"/>
          <p:nvPr/>
        </p:nvSpPr>
        <p:spPr>
          <a:xfrm>
            <a:off x="9052560" y="1645920"/>
            <a:ext cx="2468880" cy="73152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Uzbekistan pilot (≈ 50 cows)</a:t>
            </a:r>
            <a:endParaRPr lang="en-US" sz="1400" dirty="0"/>
          </a:p>
        </p:txBody>
      </p:sp>
      <p:sp>
        <p:nvSpPr>
          <p:cNvPr id="18" name="Text 13"/>
          <p:cNvSpPr txBox="1"/>
          <p:nvPr/>
        </p:nvSpPr>
        <p:spPr>
          <a:xfrm>
            <a:off x="8275320" y="2560320"/>
            <a:ext cx="3154680" cy="2651760"/>
          </a:xfrm>
          <a:prstGeom prst="rect">
            <a:avLst/>
          </a:prstGeom>
          <a:noFill/>
          <a:ln/>
        </p:spPr>
        <p:txBody>
          <a:bodyPr wrap="square" lIns="0" tIns="0" rIns="0" bIns="0" rtlCol="0" anchor="ctr"/>
          <a:lstStyle/>
          <a:p>
            <a:pPr indent="0" marL="0">
              <a:buNone/>
            </a:pPr>
            <a:r>
              <a:rPr lang="en-US" sz="1150" dirty="0">
                <a:solidFill>
                  <a:srgbClr val="1F2A1F"/>
                </a:solidFill>
                <a:latin typeface="Calibri" pitchFamily="34" charset="0"/>
                <a:ea typeface="Calibri" pitchFamily="34" charset="-122"/>
                <a:cs typeface="Calibri" pitchFamily="34" charset="-120"/>
              </a:rPr>
              <a:t>First international validation: sensor-based monitoring on a dairy herd with government stakeholders; paired with Korean Holstein sexed-embryo programme run with the Rural Development Administration (RDA). Figures being finalised.</a:t>
            </a:r>
            <a:endParaRPr lang="en-US" sz="1150" dirty="0"/>
          </a:p>
        </p:txBody>
      </p:sp>
      <p:sp>
        <p:nvSpPr>
          <p:cNvPr id="19" name="Shape 14"/>
          <p:cNvSpPr/>
          <p:nvPr/>
        </p:nvSpPr>
        <p:spPr>
          <a:xfrm>
            <a:off x="548640" y="5486400"/>
            <a:ext cx="11094415" cy="685800"/>
          </a:xfrm>
          <a:prstGeom prst="roundRect">
            <a:avLst>
              <a:gd name="adj" fmla="val 16000"/>
            </a:avLst>
          </a:prstGeom>
          <a:solidFill>
            <a:srgbClr val="2C5F2D"/>
          </a:solidFill>
          <a:ln w="12700">
            <a:solidFill>
              <a:srgbClr val="2C5F2D"/>
            </a:solidFill>
            <a:prstDash val="solid"/>
          </a:ln>
        </p:spPr>
      </p:sp>
      <p:sp>
        <p:nvSpPr>
          <p:cNvPr id="20" name="Text 15"/>
          <p:cNvSpPr txBox="1"/>
          <p:nvPr/>
        </p:nvSpPr>
        <p:spPr>
          <a:xfrm>
            <a:off x="822960" y="5532120"/>
            <a:ext cx="10545775" cy="5943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lesson: the same sensor data serves the farmer, the veterinarian and the government — design the pilot so it can scale to the region and the nation.</a:t>
            </a:r>
            <a:endParaRPr lang="en-US" sz="1350" dirty="0"/>
          </a:p>
        </p:txBody>
      </p:sp>
      <p:sp>
        <p:nvSpPr>
          <p:cNvPr id="21" name="Text 1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22" name="Text 1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548640" y="2103120"/>
            <a:ext cx="1188720" cy="1188720"/>
          </a:xfrm>
          <a:prstGeom prst="ellipse">
            <a:avLst/>
          </a:prstGeom>
          <a:solidFill>
            <a:srgbClr val="97BC62"/>
          </a:solidFill>
          <a:ln w="12700">
            <a:solidFill>
              <a:srgbClr val="97BC62"/>
            </a:solidFill>
            <a:prstDash val="solid"/>
          </a:ln>
        </p:spPr>
      </p:sp>
      <p:pic>
        <p:nvPicPr>
          <p:cNvPr id="3" name="Image 0" descr="preencoded.png">    </p:cNvPr>
          <p:cNvPicPr>
            <a:picLocks noChangeAspect="1"/>
          </p:cNvPicPr>
          <p:nvPr/>
        </p:nvPicPr>
        <p:blipFill>
          <a:blip r:embed="rId1"/>
          <a:stretch>
            <a:fillRect/>
          </a:stretch>
        </p:blipFill>
        <p:spPr>
          <a:xfrm>
            <a:off x="833933" y="2388413"/>
            <a:ext cx="618134" cy="618134"/>
          </a:xfrm>
          <a:prstGeom prst="rect">
            <a:avLst/>
          </a:prstGeom>
        </p:spPr>
      </p:pic>
      <p:sp>
        <p:nvSpPr>
          <p:cNvPr id="4" name="Text 1"/>
          <p:cNvSpPr txBox="1"/>
          <p:nvPr/>
        </p:nvSpPr>
        <p:spPr>
          <a:xfrm>
            <a:off x="548640" y="3520440"/>
            <a:ext cx="5486400" cy="320040"/>
          </a:xfrm>
          <a:prstGeom prst="rect">
            <a:avLst/>
          </a:prstGeom>
          <a:noFill/>
          <a:ln/>
        </p:spPr>
        <p:txBody>
          <a:bodyPr wrap="square" lIns="0" tIns="0" rIns="0" bIns="0" rtlCol="0" anchor="ctr"/>
          <a:lstStyle/>
          <a:p>
            <a:pPr indent="0" marL="0">
              <a:buNone/>
            </a:pPr>
            <a:r>
              <a:rPr lang="en-US" sz="1300" b="1" spc="300" kern="0" dirty="0">
                <a:solidFill>
                  <a:srgbClr val="97BC62"/>
                </a:solidFill>
                <a:latin typeface="Calibri" pitchFamily="34" charset="0"/>
                <a:ea typeface="Calibri" pitchFamily="34" charset="-122"/>
                <a:cs typeface="Calibri" pitchFamily="34" charset="-120"/>
              </a:rPr>
              <a:t>MODULE ★</a:t>
            </a:r>
            <a:endParaRPr lang="en-US" sz="1300" dirty="0"/>
          </a:p>
        </p:txBody>
      </p:sp>
      <p:sp>
        <p:nvSpPr>
          <p:cNvPr id="5" name="Text 2"/>
          <p:cNvSpPr txBox="1"/>
          <p:nvPr/>
        </p:nvSpPr>
        <p:spPr>
          <a:xfrm>
            <a:off x="548640" y="384048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Wrap-up and practicum</a:t>
            </a:r>
            <a:endParaRPr lang="en-US" sz="4000" dirty="0"/>
          </a:p>
        </p:txBody>
      </p:sp>
      <p:sp>
        <p:nvSpPr>
          <p:cNvPr id="6" name="Text 3"/>
          <p:cNvSpPr txBox="1"/>
          <p:nvPr/>
        </p:nvSpPr>
        <p:spPr>
          <a:xfrm>
            <a:off x="548640" y="4800600"/>
            <a:ext cx="10058400" cy="731520"/>
          </a:xfrm>
          <a:prstGeom prst="rect">
            <a:avLst/>
          </a:prstGeom>
          <a:noFill/>
          <a:ln/>
        </p:spPr>
        <p:txBody>
          <a:bodyPr wrap="square" lIns="0" tIns="0" rIns="0" bIns="0" rtlCol="0" anchor="ctr"/>
          <a:lstStyle/>
          <a:p>
            <a:pPr indent="0" marL="0">
              <a:buNone/>
            </a:pPr>
            <a:r>
              <a:rPr lang="en-US" sz="1600" dirty="0">
                <a:solidFill>
                  <a:srgbClr val="EEF4E6"/>
                </a:solidFill>
                <a:latin typeface="Calibri" pitchFamily="34" charset="0"/>
                <a:ea typeface="Calibri" pitchFamily="34" charset="-122"/>
                <a:cs typeface="Calibri" pitchFamily="34" charset="-120"/>
              </a:rPr>
              <a:t>Ten things to take back to your farms, and this afternoon’s hands-on stations.</a:t>
            </a:r>
            <a:endParaRPr lang="en-US" sz="1600" dirty="0"/>
          </a:p>
        </p:txBody>
      </p:sp>
      <p:sp>
        <p:nvSpPr>
          <p:cNvPr id="7" name="Text 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7BC62"/>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8"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97BC62"/>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WRAP-UP</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Ten things to take back to your farms</a:t>
            </a:r>
            <a:endParaRPr lang="en-US" sz="2600" dirty="0"/>
          </a:p>
        </p:txBody>
      </p:sp>
      <p:sp>
        <p:nvSpPr>
          <p:cNvPr id="4" name="Shape 2"/>
          <p:cNvSpPr/>
          <p:nvPr/>
        </p:nvSpPr>
        <p:spPr>
          <a:xfrm>
            <a:off x="548640" y="1572768"/>
            <a:ext cx="502920" cy="502920"/>
          </a:xfrm>
          <a:prstGeom prst="ellipse">
            <a:avLst/>
          </a:prstGeom>
          <a:solidFill>
            <a:srgbClr val="2C5F2D"/>
          </a:solidFill>
          <a:ln w="12700">
            <a:solidFill>
              <a:srgbClr val="FFFFFF"/>
            </a:solidFill>
            <a:prstDash val="solid"/>
          </a:ln>
        </p:spPr>
      </p:sp>
      <p:sp>
        <p:nvSpPr>
          <p:cNvPr id="5" name="Text 3"/>
          <p:cNvSpPr txBox="1"/>
          <p:nvPr/>
        </p:nvSpPr>
        <p:spPr>
          <a:xfrm>
            <a:off x="548640" y="15727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463040"/>
            <a:ext cx="4754880" cy="731520"/>
          </a:xfrm>
          <a:prstGeom prst="rect">
            <a:avLst/>
          </a:prstGeom>
          <a:noFill/>
          <a:ln/>
        </p:spPr>
        <p:txBody>
          <a:bodyPr wrap="square" lIns="0" tIns="0" rIns="0" bIns="0" rtlCol="0" anchor="ctr"/>
          <a:lstStyle/>
          <a:p>
            <a:pPr indent="0" marL="0">
              <a:buNone/>
            </a:pPr>
            <a:r>
              <a:rPr lang="en-US" sz="1250" dirty="0">
                <a:solidFill>
                  <a:srgbClr val="1F2A1F"/>
                </a:solidFill>
                <a:latin typeface="Calibri" pitchFamily="34" charset="0"/>
                <a:ea typeface="Calibri" pitchFamily="34" charset="-122"/>
                <a:cs typeface="Calibri" pitchFamily="34" charset="-120"/>
              </a:rPr>
              <a:t>Identify every animal and record every event — nothing else works without this</a:t>
            </a:r>
            <a:endParaRPr lang="en-US" sz="1250" dirty="0"/>
          </a:p>
        </p:txBody>
      </p:sp>
      <p:sp>
        <p:nvSpPr>
          <p:cNvPr id="7" name="Shape 5"/>
          <p:cNvSpPr/>
          <p:nvPr/>
        </p:nvSpPr>
        <p:spPr>
          <a:xfrm>
            <a:off x="6172200" y="1572768"/>
            <a:ext cx="502920" cy="502920"/>
          </a:xfrm>
          <a:prstGeom prst="ellipse">
            <a:avLst/>
          </a:prstGeom>
          <a:solidFill>
            <a:srgbClr val="2C5F2D"/>
          </a:solidFill>
          <a:ln w="12700">
            <a:solidFill>
              <a:srgbClr val="FFFFFF"/>
            </a:solidFill>
            <a:prstDash val="solid"/>
          </a:ln>
        </p:spPr>
      </p:sp>
      <p:sp>
        <p:nvSpPr>
          <p:cNvPr id="8" name="Text 6"/>
          <p:cNvSpPr txBox="1"/>
          <p:nvPr/>
        </p:nvSpPr>
        <p:spPr>
          <a:xfrm>
            <a:off x="6172200" y="15727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6858000" y="1463040"/>
            <a:ext cx="4754880" cy="731520"/>
          </a:xfrm>
          <a:prstGeom prst="rect">
            <a:avLst/>
          </a:prstGeom>
          <a:noFill/>
          <a:ln/>
        </p:spPr>
        <p:txBody>
          <a:bodyPr wrap="square" lIns="0" tIns="0" rIns="0" bIns="0" rtlCol="0" anchor="ctr"/>
          <a:lstStyle/>
          <a:p>
            <a:pPr indent="0" marL="0">
              <a:buNone/>
            </a:pPr>
            <a:r>
              <a:rPr lang="en-US" sz="1250" dirty="0">
                <a:solidFill>
                  <a:srgbClr val="1F2A1F"/>
                </a:solidFill>
                <a:latin typeface="Calibri" pitchFamily="34" charset="0"/>
                <a:ea typeface="Calibri" pitchFamily="34" charset="-122"/>
                <a:cs typeface="Calibri" pitchFamily="34" charset="-120"/>
              </a:rPr>
              <a:t>Heat detection rate is the first KPI to fix; silent and night heats are the main loss</a:t>
            </a:r>
            <a:endParaRPr lang="en-US" sz="1250" dirty="0"/>
          </a:p>
        </p:txBody>
      </p:sp>
      <p:sp>
        <p:nvSpPr>
          <p:cNvPr id="10" name="Shape 8"/>
          <p:cNvSpPr/>
          <p:nvPr/>
        </p:nvSpPr>
        <p:spPr>
          <a:xfrm>
            <a:off x="548640" y="2487168"/>
            <a:ext cx="502920" cy="502920"/>
          </a:xfrm>
          <a:prstGeom prst="ellipse">
            <a:avLst/>
          </a:prstGeom>
          <a:solidFill>
            <a:srgbClr val="2C5F2D"/>
          </a:solidFill>
          <a:ln w="12700">
            <a:solidFill>
              <a:srgbClr val="FFFFFF"/>
            </a:solidFill>
            <a:prstDash val="solid"/>
          </a:ln>
        </p:spPr>
      </p:sp>
      <p:sp>
        <p:nvSpPr>
          <p:cNvPr id="11" name="Text 9"/>
          <p:cNvSpPr txBox="1"/>
          <p:nvPr/>
        </p:nvSpPr>
        <p:spPr>
          <a:xfrm>
            <a:off x="548640" y="24871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2377440"/>
            <a:ext cx="4754880" cy="731520"/>
          </a:xfrm>
          <a:prstGeom prst="rect">
            <a:avLst/>
          </a:prstGeom>
          <a:noFill/>
          <a:ln/>
        </p:spPr>
        <p:txBody>
          <a:bodyPr wrap="square" lIns="0" tIns="0" rIns="0" bIns="0" rtlCol="0" anchor="ctr"/>
          <a:lstStyle/>
          <a:p>
            <a:pPr indent="0" marL="0">
              <a:buNone/>
            </a:pPr>
            <a:r>
              <a:rPr lang="en-US" sz="1250" dirty="0">
                <a:solidFill>
                  <a:srgbClr val="1F2A1F"/>
                </a:solidFill>
                <a:latin typeface="Calibri" pitchFamily="34" charset="0"/>
                <a:ea typeface="Calibri" pitchFamily="34" charset="-122"/>
                <a:cs typeface="Calibri" pitchFamily="34" charset="-120"/>
              </a:rPr>
              <a:t>AI 8–16 h after heat onset; treat semen like a patient</a:t>
            </a:r>
            <a:endParaRPr lang="en-US" sz="1250" dirty="0"/>
          </a:p>
        </p:txBody>
      </p:sp>
      <p:sp>
        <p:nvSpPr>
          <p:cNvPr id="13" name="Shape 11"/>
          <p:cNvSpPr/>
          <p:nvPr/>
        </p:nvSpPr>
        <p:spPr>
          <a:xfrm>
            <a:off x="6172200" y="2487168"/>
            <a:ext cx="502920" cy="502920"/>
          </a:xfrm>
          <a:prstGeom prst="ellipse">
            <a:avLst/>
          </a:prstGeom>
          <a:solidFill>
            <a:srgbClr val="2C5F2D"/>
          </a:solidFill>
          <a:ln w="12700">
            <a:solidFill>
              <a:srgbClr val="FFFFFF"/>
            </a:solidFill>
            <a:prstDash val="solid"/>
          </a:ln>
        </p:spPr>
      </p:sp>
      <p:sp>
        <p:nvSpPr>
          <p:cNvPr id="14" name="Text 12"/>
          <p:cNvSpPr txBox="1"/>
          <p:nvPr/>
        </p:nvSpPr>
        <p:spPr>
          <a:xfrm>
            <a:off x="6172200" y="24871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6858000" y="2377440"/>
            <a:ext cx="4754880" cy="731520"/>
          </a:xfrm>
          <a:prstGeom prst="rect">
            <a:avLst/>
          </a:prstGeom>
          <a:noFill/>
          <a:ln/>
        </p:spPr>
        <p:txBody>
          <a:bodyPr wrap="square" lIns="0" tIns="0" rIns="0" bIns="0" rtlCol="0" anchor="ctr"/>
          <a:lstStyle/>
          <a:p>
            <a:pPr indent="0" marL="0">
              <a:buNone/>
            </a:pPr>
            <a:r>
              <a:rPr lang="en-US" sz="1250" dirty="0">
                <a:solidFill>
                  <a:srgbClr val="1F2A1F"/>
                </a:solidFill>
                <a:latin typeface="Calibri" pitchFamily="34" charset="0"/>
                <a:ea typeface="Calibri" pitchFamily="34" charset="-122"/>
                <a:cs typeface="Calibri" pitchFamily="34" charset="-120"/>
              </a:rPr>
              <a:t>Ultrasound pregnancy check at day 28–30; re-enrol open animals the same day</a:t>
            </a:r>
            <a:endParaRPr lang="en-US" sz="1250" dirty="0"/>
          </a:p>
        </p:txBody>
      </p:sp>
      <p:sp>
        <p:nvSpPr>
          <p:cNvPr id="16" name="Shape 14"/>
          <p:cNvSpPr/>
          <p:nvPr/>
        </p:nvSpPr>
        <p:spPr>
          <a:xfrm>
            <a:off x="548640" y="3401568"/>
            <a:ext cx="502920" cy="502920"/>
          </a:xfrm>
          <a:prstGeom prst="ellipse">
            <a:avLst/>
          </a:prstGeom>
          <a:solidFill>
            <a:srgbClr val="2C5F2D"/>
          </a:solidFill>
          <a:ln w="12700">
            <a:solidFill>
              <a:srgbClr val="FFFFFF"/>
            </a:solidFill>
            <a:prstDash val="solid"/>
          </a:ln>
        </p:spPr>
      </p:sp>
      <p:sp>
        <p:nvSpPr>
          <p:cNvPr id="17" name="Text 15"/>
          <p:cNvSpPr txBox="1"/>
          <p:nvPr/>
        </p:nvSpPr>
        <p:spPr>
          <a:xfrm>
            <a:off x="548640" y="34015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8" name="Text 16"/>
          <p:cNvSpPr txBox="1"/>
          <p:nvPr/>
        </p:nvSpPr>
        <p:spPr>
          <a:xfrm>
            <a:off x="1234440" y="3291840"/>
            <a:ext cx="4754880" cy="731520"/>
          </a:xfrm>
          <a:prstGeom prst="rect">
            <a:avLst/>
          </a:prstGeom>
          <a:noFill/>
          <a:ln/>
        </p:spPr>
        <p:txBody>
          <a:bodyPr wrap="square" lIns="0" tIns="0" rIns="0" bIns="0" rtlCol="0" anchor="ctr"/>
          <a:lstStyle/>
          <a:p>
            <a:pPr indent="0" marL="0">
              <a:buNone/>
            </a:pPr>
            <a:r>
              <a:rPr lang="en-US" sz="1250" dirty="0">
                <a:solidFill>
                  <a:srgbClr val="1F2A1F"/>
                </a:solidFill>
                <a:latin typeface="Calibri" pitchFamily="34" charset="0"/>
                <a:ea typeface="Calibri" pitchFamily="34" charset="-122"/>
                <a:cs typeface="Calibri" pitchFamily="34" charset="-120"/>
              </a:rPr>
              <a:t>Calving: 30 min / 2 h rules; colostrum 4 Qs within 2 hours</a:t>
            </a:r>
            <a:endParaRPr lang="en-US" sz="1250" dirty="0"/>
          </a:p>
        </p:txBody>
      </p:sp>
      <p:sp>
        <p:nvSpPr>
          <p:cNvPr id="19" name="Shape 17"/>
          <p:cNvSpPr/>
          <p:nvPr/>
        </p:nvSpPr>
        <p:spPr>
          <a:xfrm>
            <a:off x="6172200" y="3401568"/>
            <a:ext cx="502920" cy="502920"/>
          </a:xfrm>
          <a:prstGeom prst="ellipse">
            <a:avLst/>
          </a:prstGeom>
          <a:solidFill>
            <a:srgbClr val="2C5F2D"/>
          </a:solidFill>
          <a:ln w="12700">
            <a:solidFill>
              <a:srgbClr val="FFFFFF"/>
            </a:solidFill>
            <a:prstDash val="solid"/>
          </a:ln>
        </p:spPr>
      </p:sp>
      <p:sp>
        <p:nvSpPr>
          <p:cNvPr id="20" name="Text 18"/>
          <p:cNvSpPr txBox="1"/>
          <p:nvPr/>
        </p:nvSpPr>
        <p:spPr>
          <a:xfrm>
            <a:off x="6172200" y="34015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1" name="Text 19"/>
          <p:cNvSpPr txBox="1"/>
          <p:nvPr/>
        </p:nvSpPr>
        <p:spPr>
          <a:xfrm>
            <a:off x="6858000" y="3291840"/>
            <a:ext cx="4754880" cy="731520"/>
          </a:xfrm>
          <a:prstGeom prst="rect">
            <a:avLst/>
          </a:prstGeom>
          <a:noFill/>
          <a:ln/>
        </p:spPr>
        <p:txBody>
          <a:bodyPr wrap="square" lIns="0" tIns="0" rIns="0" bIns="0" rtlCol="0" anchor="ctr"/>
          <a:lstStyle/>
          <a:p>
            <a:pPr indent="0" marL="0">
              <a:buNone/>
            </a:pPr>
            <a:r>
              <a:rPr lang="en-US" sz="1250" dirty="0">
                <a:solidFill>
                  <a:srgbClr val="1F2A1F"/>
                </a:solidFill>
                <a:latin typeface="Calibri" pitchFamily="34" charset="0"/>
                <a:ea typeface="Calibri" pitchFamily="34" charset="-122"/>
                <a:cs typeface="Calibri" pitchFamily="34" charset="-120"/>
              </a:rPr>
              <a:t>Transition cows: keep them eating — rumination is the early warning</a:t>
            </a:r>
            <a:endParaRPr lang="en-US" sz="1250" dirty="0"/>
          </a:p>
        </p:txBody>
      </p:sp>
      <p:sp>
        <p:nvSpPr>
          <p:cNvPr id="22" name="Shape 20"/>
          <p:cNvSpPr/>
          <p:nvPr/>
        </p:nvSpPr>
        <p:spPr>
          <a:xfrm>
            <a:off x="548640" y="4315968"/>
            <a:ext cx="502920" cy="502920"/>
          </a:xfrm>
          <a:prstGeom prst="ellipse">
            <a:avLst/>
          </a:prstGeom>
          <a:solidFill>
            <a:srgbClr val="2C5F2D"/>
          </a:solidFill>
          <a:ln w="12700">
            <a:solidFill>
              <a:srgbClr val="FFFFFF"/>
            </a:solidFill>
            <a:prstDash val="solid"/>
          </a:ln>
        </p:spPr>
      </p:sp>
      <p:sp>
        <p:nvSpPr>
          <p:cNvPr id="23" name="Text 21"/>
          <p:cNvSpPr txBox="1"/>
          <p:nvPr/>
        </p:nvSpPr>
        <p:spPr>
          <a:xfrm>
            <a:off x="548640" y="43159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7</a:t>
            </a:r>
            <a:endParaRPr lang="en-US" sz="1500" dirty="0"/>
          </a:p>
        </p:txBody>
      </p:sp>
      <p:sp>
        <p:nvSpPr>
          <p:cNvPr id="24" name="Text 22"/>
          <p:cNvSpPr txBox="1"/>
          <p:nvPr/>
        </p:nvSpPr>
        <p:spPr>
          <a:xfrm>
            <a:off x="1234440" y="4206240"/>
            <a:ext cx="4754880" cy="731520"/>
          </a:xfrm>
          <a:prstGeom prst="rect">
            <a:avLst/>
          </a:prstGeom>
          <a:noFill/>
          <a:ln/>
        </p:spPr>
        <p:txBody>
          <a:bodyPr wrap="square" lIns="0" tIns="0" rIns="0" bIns="0" rtlCol="0" anchor="ctr"/>
          <a:lstStyle/>
          <a:p>
            <a:pPr indent="0" marL="0">
              <a:buNone/>
            </a:pPr>
            <a:r>
              <a:rPr lang="en-US" sz="1250" dirty="0">
                <a:solidFill>
                  <a:srgbClr val="1F2A1F"/>
                </a:solidFill>
                <a:latin typeface="Calibri" pitchFamily="34" charset="0"/>
                <a:ea typeface="Calibri" pitchFamily="34" charset="-122"/>
                <a:cs typeface="Calibri" pitchFamily="34" charset="-120"/>
              </a:rPr>
              <a:t>Mastitis: CMT, treat by grade and protocol, respect withdrawal, post-dip every teat</a:t>
            </a:r>
            <a:endParaRPr lang="en-US" sz="1250" dirty="0"/>
          </a:p>
        </p:txBody>
      </p:sp>
      <p:sp>
        <p:nvSpPr>
          <p:cNvPr id="25" name="Shape 23"/>
          <p:cNvSpPr/>
          <p:nvPr/>
        </p:nvSpPr>
        <p:spPr>
          <a:xfrm>
            <a:off x="6172200" y="4315968"/>
            <a:ext cx="502920" cy="502920"/>
          </a:xfrm>
          <a:prstGeom prst="ellipse">
            <a:avLst/>
          </a:prstGeom>
          <a:solidFill>
            <a:srgbClr val="2C5F2D"/>
          </a:solidFill>
          <a:ln w="12700">
            <a:solidFill>
              <a:srgbClr val="FFFFFF"/>
            </a:solidFill>
            <a:prstDash val="solid"/>
          </a:ln>
        </p:spPr>
      </p:sp>
      <p:sp>
        <p:nvSpPr>
          <p:cNvPr id="26" name="Text 24"/>
          <p:cNvSpPr txBox="1"/>
          <p:nvPr/>
        </p:nvSpPr>
        <p:spPr>
          <a:xfrm>
            <a:off x="6172200" y="43159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8</a:t>
            </a:r>
            <a:endParaRPr lang="en-US" sz="1500" dirty="0"/>
          </a:p>
        </p:txBody>
      </p:sp>
      <p:sp>
        <p:nvSpPr>
          <p:cNvPr id="27" name="Text 25"/>
          <p:cNvSpPr txBox="1"/>
          <p:nvPr/>
        </p:nvSpPr>
        <p:spPr>
          <a:xfrm>
            <a:off x="6858000" y="4206240"/>
            <a:ext cx="4754880" cy="731520"/>
          </a:xfrm>
          <a:prstGeom prst="rect">
            <a:avLst/>
          </a:prstGeom>
          <a:noFill/>
          <a:ln/>
        </p:spPr>
        <p:txBody>
          <a:bodyPr wrap="square" lIns="0" tIns="0" rIns="0" bIns="0" rtlCol="0" anchor="ctr"/>
          <a:lstStyle/>
          <a:p>
            <a:pPr indent="0" marL="0">
              <a:buNone/>
            </a:pPr>
            <a:r>
              <a:rPr lang="en-US" sz="1250" dirty="0">
                <a:solidFill>
                  <a:srgbClr val="1F2A1F"/>
                </a:solidFill>
                <a:latin typeface="Calibri" pitchFamily="34" charset="0"/>
                <a:ea typeface="Calibri" pitchFamily="34" charset="-122"/>
                <a:cs typeface="Calibri" pitchFamily="34" charset="-120"/>
              </a:rPr>
              <a:t>Heat stress: shade, water, air, night feeding — measure it per animal</a:t>
            </a:r>
            <a:endParaRPr lang="en-US" sz="1250" dirty="0"/>
          </a:p>
        </p:txBody>
      </p:sp>
      <p:sp>
        <p:nvSpPr>
          <p:cNvPr id="28" name="Shape 26"/>
          <p:cNvSpPr/>
          <p:nvPr/>
        </p:nvSpPr>
        <p:spPr>
          <a:xfrm>
            <a:off x="548640" y="5230368"/>
            <a:ext cx="502920" cy="502920"/>
          </a:xfrm>
          <a:prstGeom prst="ellipse">
            <a:avLst/>
          </a:prstGeom>
          <a:solidFill>
            <a:srgbClr val="2C5F2D"/>
          </a:solidFill>
          <a:ln w="12700">
            <a:solidFill>
              <a:srgbClr val="FFFFFF"/>
            </a:solidFill>
            <a:prstDash val="solid"/>
          </a:ln>
        </p:spPr>
      </p:sp>
      <p:sp>
        <p:nvSpPr>
          <p:cNvPr id="29" name="Text 27"/>
          <p:cNvSpPr txBox="1"/>
          <p:nvPr/>
        </p:nvSpPr>
        <p:spPr>
          <a:xfrm>
            <a:off x="548640" y="52303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9</a:t>
            </a:r>
            <a:endParaRPr lang="en-US" sz="1500" dirty="0"/>
          </a:p>
        </p:txBody>
      </p:sp>
      <p:sp>
        <p:nvSpPr>
          <p:cNvPr id="30" name="Text 28"/>
          <p:cNvSpPr txBox="1"/>
          <p:nvPr/>
        </p:nvSpPr>
        <p:spPr>
          <a:xfrm>
            <a:off x="1234440" y="5120640"/>
            <a:ext cx="4754880" cy="731520"/>
          </a:xfrm>
          <a:prstGeom prst="rect">
            <a:avLst/>
          </a:prstGeom>
          <a:noFill/>
          <a:ln/>
        </p:spPr>
        <p:txBody>
          <a:bodyPr wrap="square" lIns="0" tIns="0" rIns="0" bIns="0" rtlCol="0" anchor="ctr"/>
          <a:lstStyle/>
          <a:p>
            <a:pPr indent="0" marL="0">
              <a:buNone/>
            </a:pPr>
            <a:r>
              <a:rPr lang="en-US" sz="1250" dirty="0">
                <a:solidFill>
                  <a:srgbClr val="1F2A1F"/>
                </a:solidFill>
                <a:latin typeface="Calibri" pitchFamily="34" charset="0"/>
                <a:ea typeface="Calibri" pitchFamily="34" charset="-122"/>
                <a:cs typeface="Calibri" pitchFamily="34" charset="-120"/>
              </a:rPr>
              <a:t>Sensors close the observation gap: alert → verify → act → record, every day</a:t>
            </a:r>
            <a:endParaRPr lang="en-US" sz="1250" dirty="0"/>
          </a:p>
        </p:txBody>
      </p:sp>
      <p:sp>
        <p:nvSpPr>
          <p:cNvPr id="31" name="Shape 29"/>
          <p:cNvSpPr/>
          <p:nvPr/>
        </p:nvSpPr>
        <p:spPr>
          <a:xfrm>
            <a:off x="6172200" y="5230368"/>
            <a:ext cx="502920" cy="502920"/>
          </a:xfrm>
          <a:prstGeom prst="ellipse">
            <a:avLst/>
          </a:prstGeom>
          <a:solidFill>
            <a:srgbClr val="D9A441"/>
          </a:solidFill>
          <a:ln w="12700">
            <a:solidFill>
              <a:srgbClr val="FFFFFF"/>
            </a:solidFill>
            <a:prstDash val="solid"/>
          </a:ln>
        </p:spPr>
      </p:sp>
      <p:sp>
        <p:nvSpPr>
          <p:cNvPr id="32" name="Text 30"/>
          <p:cNvSpPr txBox="1"/>
          <p:nvPr/>
        </p:nvSpPr>
        <p:spPr>
          <a:xfrm>
            <a:off x="6172200" y="52303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10</a:t>
            </a:r>
            <a:endParaRPr lang="en-US" sz="1500" dirty="0"/>
          </a:p>
        </p:txBody>
      </p:sp>
      <p:sp>
        <p:nvSpPr>
          <p:cNvPr id="33" name="Text 31"/>
          <p:cNvSpPr txBox="1"/>
          <p:nvPr/>
        </p:nvSpPr>
        <p:spPr>
          <a:xfrm>
            <a:off x="6858000" y="5120640"/>
            <a:ext cx="4754880" cy="731520"/>
          </a:xfrm>
          <a:prstGeom prst="rect">
            <a:avLst/>
          </a:prstGeom>
          <a:noFill/>
          <a:ln/>
        </p:spPr>
        <p:txBody>
          <a:bodyPr wrap="square" lIns="0" tIns="0" rIns="0" bIns="0" rtlCol="0" anchor="ctr"/>
          <a:lstStyle/>
          <a:p>
            <a:pPr indent="0" marL="0">
              <a:buNone/>
            </a:pPr>
            <a:r>
              <a:rPr lang="en-US" sz="1250" dirty="0">
                <a:solidFill>
                  <a:srgbClr val="1F2A1F"/>
                </a:solidFill>
                <a:latin typeface="Calibri" pitchFamily="34" charset="0"/>
                <a:ea typeface="Calibri" pitchFamily="34" charset="-122"/>
                <a:cs typeface="Calibri" pitchFamily="34" charset="-120"/>
              </a:rPr>
              <a:t>Pilot with a baseline and a comparison group so the results can drive national scale-up</a:t>
            </a:r>
            <a:endParaRPr lang="en-US" sz="1250" dirty="0"/>
          </a:p>
        </p:txBody>
      </p:sp>
      <p:sp>
        <p:nvSpPr>
          <p:cNvPr id="34" name="Text 3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35" name="Text 3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292608"/>
            <a:ext cx="91440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WRAP-UP</a:t>
            </a:r>
            <a:endParaRPr lang="en-US" sz="1100" dirty="0"/>
          </a:p>
        </p:txBody>
      </p:sp>
      <p:sp>
        <p:nvSpPr>
          <p:cNvPr id="3" name="Text 1"/>
          <p:cNvSpPr txBox="1"/>
          <p:nvPr/>
        </p:nvSpPr>
        <p:spPr>
          <a:xfrm>
            <a:off x="548640" y="530352"/>
            <a:ext cx="11094415" cy="731520"/>
          </a:xfrm>
          <a:prstGeom prst="rect">
            <a:avLst/>
          </a:prstGeom>
          <a:noFill/>
          <a:ln/>
        </p:spPr>
        <p:txBody>
          <a:bodyPr wrap="square" lIns="0" tIns="0" rIns="0" bIns="0" rtlCol="0" anchor="t"/>
          <a:lstStyle/>
          <a:p>
            <a:pPr indent="0" marL="0">
              <a:buNone/>
            </a:pPr>
            <a:r>
              <a:rPr lang="en-US" sz="2600" b="1" dirty="0">
                <a:solidFill>
                  <a:srgbClr val="2C5F2D"/>
                </a:solidFill>
                <a:latin typeface="Cambria" pitchFamily="34" charset="0"/>
                <a:ea typeface="Cambria" pitchFamily="34" charset="-122"/>
                <a:cs typeface="Cambria" pitchFamily="34" charset="-120"/>
              </a:rPr>
              <a:t>Practicum stations — this afternoon</a:t>
            </a:r>
            <a:endParaRPr lang="en-US" sz="2600" dirty="0"/>
          </a:p>
        </p:txBody>
      </p:sp>
      <p:sp>
        <p:nvSpPr>
          <p:cNvPr id="4" name="Shape 2"/>
          <p:cNvSpPr/>
          <p:nvPr/>
        </p:nvSpPr>
        <p:spPr>
          <a:xfrm>
            <a:off x="548640" y="1463040"/>
            <a:ext cx="3611880" cy="2194560"/>
          </a:xfrm>
          <a:prstGeom prst="roundRect">
            <a:avLst>
              <a:gd name="adj" fmla="val 5000"/>
            </a:avLst>
          </a:prstGeom>
          <a:solidFill>
            <a:srgbClr val="F6F9F2"/>
          </a:solidFill>
          <a:ln w="12700">
            <a:solidFill>
              <a:srgbClr val="F6F9F2"/>
            </a:solidFill>
            <a:prstDash val="solid"/>
          </a:ln>
        </p:spPr>
      </p:sp>
      <p:sp>
        <p:nvSpPr>
          <p:cNvPr id="5" name="Shape 3"/>
          <p:cNvSpPr/>
          <p:nvPr/>
        </p:nvSpPr>
        <p:spPr>
          <a:xfrm>
            <a:off x="731520" y="1645920"/>
            <a:ext cx="548640" cy="548640"/>
          </a:xfrm>
          <a:prstGeom prst="ellipse">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863194" y="1777594"/>
            <a:ext cx="285293" cy="285293"/>
          </a:xfrm>
          <a:prstGeom prst="rect">
            <a:avLst/>
          </a:prstGeom>
        </p:spPr>
      </p:pic>
      <p:sp>
        <p:nvSpPr>
          <p:cNvPr id="7" name="Text 4"/>
          <p:cNvSpPr txBox="1"/>
          <p:nvPr/>
        </p:nvSpPr>
        <p:spPr>
          <a:xfrm>
            <a:off x="1417320" y="1600200"/>
            <a:ext cx="2606040" cy="640080"/>
          </a:xfrm>
          <a:prstGeom prst="rect">
            <a:avLst/>
          </a:prstGeom>
          <a:noFill/>
          <a:ln/>
        </p:spPr>
        <p:txBody>
          <a:bodyPr wrap="square" lIns="0" tIns="0" rIns="0" bIns="0" rtlCol="0" anchor="ctr"/>
          <a:lstStyle/>
          <a:p>
            <a:pPr indent="0" marL="0">
              <a:buNone/>
            </a:pPr>
            <a:r>
              <a:rPr lang="en-US" sz="1250" b="1" dirty="0">
                <a:solidFill>
                  <a:srgbClr val="2C5F2D"/>
                </a:solidFill>
                <a:latin typeface="Cambria" pitchFamily="34" charset="0"/>
                <a:ea typeface="Cambria" pitchFamily="34" charset="-122"/>
                <a:cs typeface="Cambria" pitchFamily="34" charset="-120"/>
              </a:rPr>
              <a:t>Station 1 · Heat detection &amp; AI timing</a:t>
            </a:r>
            <a:endParaRPr lang="en-US" sz="1250" dirty="0"/>
          </a:p>
        </p:txBody>
      </p:sp>
      <p:sp>
        <p:nvSpPr>
          <p:cNvPr id="8" name="Text 5"/>
          <p:cNvSpPr txBox="1"/>
          <p:nvPr/>
        </p:nvSpPr>
        <p:spPr>
          <a:xfrm>
            <a:off x="731520" y="2331720"/>
            <a:ext cx="3246120" cy="868680"/>
          </a:xfrm>
          <a:prstGeom prst="rect">
            <a:avLst/>
          </a:prstGeom>
          <a:noFill/>
          <a:ln/>
        </p:spPr>
        <p:txBody>
          <a:bodyPr wrap="square" lIns="0" tIns="0" rIns="0" bIns="0" rtlCol="0" anchor="ctr"/>
          <a:lstStyle/>
          <a:p>
            <a:pPr indent="0" marL="0">
              <a:buNone/>
            </a:pPr>
            <a:r>
              <a:rPr lang="en-US" sz="1050" dirty="0">
                <a:solidFill>
                  <a:srgbClr val="1F2A1F"/>
                </a:solidFill>
                <a:latin typeface="Calibri" pitchFamily="34" charset="0"/>
                <a:ea typeface="Calibri" pitchFamily="34" charset="-122"/>
                <a:cs typeface="Calibri" pitchFamily="34" charset="-120"/>
              </a:rPr>
              <a:t>Tail paint, mucus and standing-heat scoring on live animals; semen thawing and gun loading; AM/PM decision cards</a:t>
            </a:r>
            <a:endParaRPr lang="en-US" sz="1050" dirty="0"/>
          </a:p>
        </p:txBody>
      </p:sp>
      <p:sp>
        <p:nvSpPr>
          <p:cNvPr id="9" name="Text 6"/>
          <p:cNvSpPr txBox="1"/>
          <p:nvPr/>
        </p:nvSpPr>
        <p:spPr>
          <a:xfrm>
            <a:off x="731520" y="3200400"/>
            <a:ext cx="3246120" cy="411480"/>
          </a:xfrm>
          <a:prstGeom prst="rect">
            <a:avLst/>
          </a:prstGeom>
          <a:noFill/>
          <a:ln/>
        </p:spPr>
        <p:txBody>
          <a:bodyPr wrap="square" lIns="0" tIns="0" rIns="0" bIns="0" rtlCol="0" anchor="ctr"/>
          <a:lstStyle/>
          <a:p>
            <a:pPr indent="0" marL="0">
              <a:buNone/>
            </a:pPr>
            <a:r>
              <a:rPr lang="en-US" sz="950" i="1" dirty="0">
                <a:solidFill>
                  <a:srgbClr val="5B6B5B"/>
                </a:solidFill>
                <a:latin typeface="Calibri" pitchFamily="34" charset="0"/>
                <a:ea typeface="Calibri" pitchFamily="34" charset="-122"/>
                <a:cs typeface="Calibri" pitchFamily="34" charset="-120"/>
              </a:rPr>
              <a:t>Kit: Heat detection aids, semen tank, thaw bath, AI kit</a:t>
            </a:r>
            <a:endParaRPr lang="en-US" sz="950" dirty="0"/>
          </a:p>
        </p:txBody>
      </p:sp>
      <p:sp>
        <p:nvSpPr>
          <p:cNvPr id="10" name="Shape 7"/>
          <p:cNvSpPr/>
          <p:nvPr/>
        </p:nvSpPr>
        <p:spPr>
          <a:xfrm>
            <a:off x="4297680" y="1463040"/>
            <a:ext cx="3611880" cy="2194560"/>
          </a:xfrm>
          <a:prstGeom prst="roundRect">
            <a:avLst>
              <a:gd name="adj" fmla="val 5000"/>
            </a:avLst>
          </a:prstGeom>
          <a:solidFill>
            <a:srgbClr val="F6F9F2"/>
          </a:solidFill>
          <a:ln w="12700">
            <a:solidFill>
              <a:srgbClr val="F6F9F2"/>
            </a:solidFill>
            <a:prstDash val="solid"/>
          </a:ln>
        </p:spPr>
      </p:sp>
      <p:sp>
        <p:nvSpPr>
          <p:cNvPr id="11" name="Shape 8"/>
          <p:cNvSpPr/>
          <p:nvPr/>
        </p:nvSpPr>
        <p:spPr>
          <a:xfrm>
            <a:off x="4480560" y="1645920"/>
            <a:ext cx="548640" cy="548640"/>
          </a:xfrm>
          <a:prstGeom prst="ellipse">
            <a:avLst/>
          </a:prstGeom>
          <a:solidFill>
            <a:srgbClr val="2C5F2D"/>
          </a:solidFill>
          <a:ln w="12700">
            <a:solidFill>
              <a:srgbClr val="2C5F2D"/>
            </a:solidFill>
            <a:prstDash val="solid"/>
          </a:ln>
        </p:spPr>
      </p:sp>
      <p:pic>
        <p:nvPicPr>
          <p:cNvPr id="12" name="Image 1" descr="preencoded.png">    </p:cNvPr>
          <p:cNvPicPr>
            <a:picLocks noChangeAspect="1"/>
          </p:cNvPicPr>
          <p:nvPr/>
        </p:nvPicPr>
        <p:blipFill>
          <a:blip r:embed="rId2"/>
          <a:stretch>
            <a:fillRect/>
          </a:stretch>
        </p:blipFill>
        <p:spPr>
          <a:xfrm>
            <a:off x="4612234" y="1777594"/>
            <a:ext cx="285293" cy="285293"/>
          </a:xfrm>
          <a:prstGeom prst="rect">
            <a:avLst/>
          </a:prstGeom>
        </p:spPr>
      </p:pic>
      <p:sp>
        <p:nvSpPr>
          <p:cNvPr id="13" name="Text 9"/>
          <p:cNvSpPr txBox="1"/>
          <p:nvPr/>
        </p:nvSpPr>
        <p:spPr>
          <a:xfrm>
            <a:off x="5166360" y="1600200"/>
            <a:ext cx="2606040" cy="640080"/>
          </a:xfrm>
          <a:prstGeom prst="rect">
            <a:avLst/>
          </a:prstGeom>
          <a:noFill/>
          <a:ln/>
        </p:spPr>
        <p:txBody>
          <a:bodyPr wrap="square" lIns="0" tIns="0" rIns="0" bIns="0" rtlCol="0" anchor="ctr"/>
          <a:lstStyle/>
          <a:p>
            <a:pPr indent="0" marL="0">
              <a:buNone/>
            </a:pPr>
            <a:r>
              <a:rPr lang="en-US" sz="1250" b="1" dirty="0">
                <a:solidFill>
                  <a:srgbClr val="2C5F2D"/>
                </a:solidFill>
                <a:latin typeface="Cambria" pitchFamily="34" charset="0"/>
                <a:ea typeface="Cambria" pitchFamily="34" charset="-122"/>
                <a:cs typeface="Cambria" pitchFamily="34" charset="-120"/>
              </a:rPr>
              <a:t>Station 2 · Pregnancy diagnosis</a:t>
            </a:r>
            <a:endParaRPr lang="en-US" sz="1250" dirty="0"/>
          </a:p>
        </p:txBody>
      </p:sp>
      <p:sp>
        <p:nvSpPr>
          <p:cNvPr id="14" name="Text 10"/>
          <p:cNvSpPr txBox="1"/>
          <p:nvPr/>
        </p:nvSpPr>
        <p:spPr>
          <a:xfrm>
            <a:off x="4480560" y="2331720"/>
            <a:ext cx="3246120" cy="868680"/>
          </a:xfrm>
          <a:prstGeom prst="rect">
            <a:avLst/>
          </a:prstGeom>
          <a:noFill/>
          <a:ln/>
        </p:spPr>
        <p:txBody>
          <a:bodyPr wrap="square" lIns="0" tIns="0" rIns="0" bIns="0" rtlCol="0" anchor="ctr"/>
          <a:lstStyle/>
          <a:p>
            <a:pPr indent="0" marL="0">
              <a:buNone/>
            </a:pPr>
            <a:r>
              <a:rPr lang="en-US" sz="1050" dirty="0">
                <a:solidFill>
                  <a:srgbClr val="1F2A1F"/>
                </a:solidFill>
                <a:latin typeface="Calibri" pitchFamily="34" charset="0"/>
                <a:ea typeface="Calibri" pitchFamily="34" charset="-122"/>
                <a:cs typeface="Calibri" pitchFamily="34" charset="-120"/>
              </a:rPr>
              <a:t>Rectal ultrasound at day 28–60: finding the uterus, embryo, heartbeat; palpation basics on buffalo</a:t>
            </a:r>
            <a:endParaRPr lang="en-US" sz="1050" dirty="0"/>
          </a:p>
        </p:txBody>
      </p:sp>
      <p:sp>
        <p:nvSpPr>
          <p:cNvPr id="15" name="Text 11"/>
          <p:cNvSpPr txBox="1"/>
          <p:nvPr/>
        </p:nvSpPr>
        <p:spPr>
          <a:xfrm>
            <a:off x="4480560" y="3200400"/>
            <a:ext cx="3246120" cy="411480"/>
          </a:xfrm>
          <a:prstGeom prst="rect">
            <a:avLst/>
          </a:prstGeom>
          <a:noFill/>
          <a:ln/>
        </p:spPr>
        <p:txBody>
          <a:bodyPr wrap="square" lIns="0" tIns="0" rIns="0" bIns="0" rtlCol="0" anchor="ctr"/>
          <a:lstStyle/>
          <a:p>
            <a:pPr indent="0" marL="0">
              <a:buNone/>
            </a:pPr>
            <a:r>
              <a:rPr lang="en-US" sz="950" i="1" dirty="0">
                <a:solidFill>
                  <a:srgbClr val="5B6B5B"/>
                </a:solidFill>
                <a:latin typeface="Calibri" pitchFamily="34" charset="0"/>
                <a:ea typeface="Calibri" pitchFamily="34" charset="-122"/>
                <a:cs typeface="Calibri" pitchFamily="34" charset="-120"/>
              </a:rPr>
              <a:t>Kit: Portable ultrasound, gloves, lubricant, restraint chute</a:t>
            </a:r>
            <a:endParaRPr lang="en-US" sz="950" dirty="0"/>
          </a:p>
        </p:txBody>
      </p:sp>
      <p:sp>
        <p:nvSpPr>
          <p:cNvPr id="16" name="Shape 12"/>
          <p:cNvSpPr/>
          <p:nvPr/>
        </p:nvSpPr>
        <p:spPr>
          <a:xfrm>
            <a:off x="8046720" y="1463040"/>
            <a:ext cx="3611880" cy="2194560"/>
          </a:xfrm>
          <a:prstGeom prst="roundRect">
            <a:avLst>
              <a:gd name="adj" fmla="val 5000"/>
            </a:avLst>
          </a:prstGeom>
          <a:solidFill>
            <a:srgbClr val="F6F9F2"/>
          </a:solidFill>
          <a:ln w="12700">
            <a:solidFill>
              <a:srgbClr val="F6F9F2"/>
            </a:solidFill>
            <a:prstDash val="solid"/>
          </a:ln>
        </p:spPr>
      </p:sp>
      <p:sp>
        <p:nvSpPr>
          <p:cNvPr id="17" name="Shape 13"/>
          <p:cNvSpPr/>
          <p:nvPr/>
        </p:nvSpPr>
        <p:spPr>
          <a:xfrm>
            <a:off x="8229600" y="1645920"/>
            <a:ext cx="548640" cy="548640"/>
          </a:xfrm>
          <a:prstGeom prst="ellipse">
            <a:avLst/>
          </a:prstGeom>
          <a:solidFill>
            <a:srgbClr val="2C5F2D"/>
          </a:solidFill>
          <a:ln w="12700">
            <a:solidFill>
              <a:srgbClr val="2C5F2D"/>
            </a:solidFill>
            <a:prstDash val="solid"/>
          </a:ln>
        </p:spPr>
      </p:sp>
      <p:pic>
        <p:nvPicPr>
          <p:cNvPr id="18" name="Image 2" descr="preencoded.png">    </p:cNvPr>
          <p:cNvPicPr>
            <a:picLocks noChangeAspect="1"/>
          </p:cNvPicPr>
          <p:nvPr/>
        </p:nvPicPr>
        <p:blipFill>
          <a:blip r:embed="rId3"/>
          <a:stretch>
            <a:fillRect/>
          </a:stretch>
        </p:blipFill>
        <p:spPr>
          <a:xfrm>
            <a:off x="8361274" y="1777594"/>
            <a:ext cx="285293" cy="285293"/>
          </a:xfrm>
          <a:prstGeom prst="rect">
            <a:avLst/>
          </a:prstGeom>
        </p:spPr>
      </p:pic>
      <p:sp>
        <p:nvSpPr>
          <p:cNvPr id="19" name="Text 14"/>
          <p:cNvSpPr txBox="1"/>
          <p:nvPr/>
        </p:nvSpPr>
        <p:spPr>
          <a:xfrm>
            <a:off x="8915400" y="1600200"/>
            <a:ext cx="2606040" cy="640080"/>
          </a:xfrm>
          <a:prstGeom prst="rect">
            <a:avLst/>
          </a:prstGeom>
          <a:noFill/>
          <a:ln/>
        </p:spPr>
        <p:txBody>
          <a:bodyPr wrap="square" lIns="0" tIns="0" rIns="0" bIns="0" rtlCol="0" anchor="ctr"/>
          <a:lstStyle/>
          <a:p>
            <a:pPr indent="0" marL="0">
              <a:buNone/>
            </a:pPr>
            <a:r>
              <a:rPr lang="en-US" sz="1250" b="1" dirty="0">
                <a:solidFill>
                  <a:srgbClr val="2C5F2D"/>
                </a:solidFill>
                <a:latin typeface="Cambria" pitchFamily="34" charset="0"/>
                <a:ea typeface="Cambria" pitchFamily="34" charset="-122"/>
                <a:cs typeface="Cambria" pitchFamily="34" charset="-120"/>
              </a:rPr>
              <a:t>Station 3 · Mastitis &amp; milking routine</a:t>
            </a:r>
            <a:endParaRPr lang="en-US" sz="1250" dirty="0"/>
          </a:p>
        </p:txBody>
      </p:sp>
      <p:sp>
        <p:nvSpPr>
          <p:cNvPr id="20" name="Text 15"/>
          <p:cNvSpPr txBox="1"/>
          <p:nvPr/>
        </p:nvSpPr>
        <p:spPr>
          <a:xfrm>
            <a:off x="8229600" y="2331720"/>
            <a:ext cx="3246120" cy="868680"/>
          </a:xfrm>
          <a:prstGeom prst="rect">
            <a:avLst/>
          </a:prstGeom>
          <a:noFill/>
          <a:ln/>
        </p:spPr>
        <p:txBody>
          <a:bodyPr wrap="square" lIns="0" tIns="0" rIns="0" bIns="0" rtlCol="0" anchor="ctr"/>
          <a:lstStyle/>
          <a:p>
            <a:pPr indent="0" marL="0">
              <a:buNone/>
            </a:pPr>
            <a:r>
              <a:rPr lang="en-US" sz="1050" dirty="0">
                <a:solidFill>
                  <a:srgbClr val="1F2A1F"/>
                </a:solidFill>
                <a:latin typeface="Calibri" pitchFamily="34" charset="0"/>
                <a:ea typeface="Calibri" pitchFamily="34" charset="-122"/>
                <a:cs typeface="Calibri" pitchFamily="34" charset="-120"/>
              </a:rPr>
              <a:t>CMT on quarters, grading, treatment-decision cards; pre-dip / dry / post-dip demonstration</a:t>
            </a:r>
            <a:endParaRPr lang="en-US" sz="1050" dirty="0"/>
          </a:p>
        </p:txBody>
      </p:sp>
      <p:sp>
        <p:nvSpPr>
          <p:cNvPr id="21" name="Text 16"/>
          <p:cNvSpPr txBox="1"/>
          <p:nvPr/>
        </p:nvSpPr>
        <p:spPr>
          <a:xfrm>
            <a:off x="8229600" y="3200400"/>
            <a:ext cx="3246120" cy="411480"/>
          </a:xfrm>
          <a:prstGeom prst="rect">
            <a:avLst/>
          </a:prstGeom>
          <a:noFill/>
          <a:ln/>
        </p:spPr>
        <p:txBody>
          <a:bodyPr wrap="square" lIns="0" tIns="0" rIns="0" bIns="0" rtlCol="0" anchor="ctr"/>
          <a:lstStyle/>
          <a:p>
            <a:pPr indent="0" marL="0">
              <a:buNone/>
            </a:pPr>
            <a:r>
              <a:rPr lang="en-US" sz="950" i="1" dirty="0">
                <a:solidFill>
                  <a:srgbClr val="5B6B5B"/>
                </a:solidFill>
                <a:latin typeface="Calibri" pitchFamily="34" charset="0"/>
                <a:ea typeface="Calibri" pitchFamily="34" charset="-122"/>
                <a:cs typeface="Calibri" pitchFamily="34" charset="-120"/>
              </a:rPr>
              <a:t>Kit: CMT paddle &amp; reagent, dips, towels, sample tubes</a:t>
            </a:r>
            <a:endParaRPr lang="en-US" sz="950" dirty="0"/>
          </a:p>
        </p:txBody>
      </p:sp>
      <p:sp>
        <p:nvSpPr>
          <p:cNvPr id="22" name="Shape 17"/>
          <p:cNvSpPr/>
          <p:nvPr/>
        </p:nvSpPr>
        <p:spPr>
          <a:xfrm>
            <a:off x="548640" y="3840480"/>
            <a:ext cx="3611880" cy="2194560"/>
          </a:xfrm>
          <a:prstGeom prst="roundRect">
            <a:avLst>
              <a:gd name="adj" fmla="val 5000"/>
            </a:avLst>
          </a:prstGeom>
          <a:solidFill>
            <a:srgbClr val="F6F9F2"/>
          </a:solidFill>
          <a:ln w="12700">
            <a:solidFill>
              <a:srgbClr val="F6F9F2"/>
            </a:solidFill>
            <a:prstDash val="solid"/>
          </a:ln>
        </p:spPr>
      </p:sp>
      <p:sp>
        <p:nvSpPr>
          <p:cNvPr id="23" name="Shape 18"/>
          <p:cNvSpPr/>
          <p:nvPr/>
        </p:nvSpPr>
        <p:spPr>
          <a:xfrm>
            <a:off x="731520" y="4023360"/>
            <a:ext cx="548640" cy="548640"/>
          </a:xfrm>
          <a:prstGeom prst="ellipse">
            <a:avLst/>
          </a:prstGeom>
          <a:solidFill>
            <a:srgbClr val="2C5F2D"/>
          </a:solidFill>
          <a:ln w="12700">
            <a:solidFill>
              <a:srgbClr val="2C5F2D"/>
            </a:solidFill>
            <a:prstDash val="solid"/>
          </a:ln>
        </p:spPr>
      </p:sp>
      <p:pic>
        <p:nvPicPr>
          <p:cNvPr id="24" name="Image 3" descr="preencoded.png">    </p:cNvPr>
          <p:cNvPicPr>
            <a:picLocks noChangeAspect="1"/>
          </p:cNvPicPr>
          <p:nvPr/>
        </p:nvPicPr>
        <p:blipFill>
          <a:blip r:embed="rId4"/>
          <a:stretch>
            <a:fillRect/>
          </a:stretch>
        </p:blipFill>
        <p:spPr>
          <a:xfrm>
            <a:off x="863194" y="4155034"/>
            <a:ext cx="285293" cy="285293"/>
          </a:xfrm>
          <a:prstGeom prst="rect">
            <a:avLst/>
          </a:prstGeom>
        </p:spPr>
      </p:pic>
      <p:sp>
        <p:nvSpPr>
          <p:cNvPr id="25" name="Text 19"/>
          <p:cNvSpPr txBox="1"/>
          <p:nvPr/>
        </p:nvSpPr>
        <p:spPr>
          <a:xfrm>
            <a:off x="1417320" y="3977640"/>
            <a:ext cx="2606040" cy="640080"/>
          </a:xfrm>
          <a:prstGeom prst="rect">
            <a:avLst/>
          </a:prstGeom>
          <a:noFill/>
          <a:ln/>
        </p:spPr>
        <p:txBody>
          <a:bodyPr wrap="square" lIns="0" tIns="0" rIns="0" bIns="0" rtlCol="0" anchor="ctr"/>
          <a:lstStyle/>
          <a:p>
            <a:pPr indent="0" marL="0">
              <a:buNone/>
            </a:pPr>
            <a:r>
              <a:rPr lang="en-US" sz="1250" b="1" dirty="0">
                <a:solidFill>
                  <a:srgbClr val="2C5F2D"/>
                </a:solidFill>
                <a:latin typeface="Cambria" pitchFamily="34" charset="0"/>
                <a:ea typeface="Cambria" pitchFamily="34" charset="-122"/>
                <a:cs typeface="Cambria" pitchFamily="34" charset="-120"/>
              </a:rPr>
              <a:t>Station 4 · Rumen bolus &amp; app</a:t>
            </a:r>
            <a:endParaRPr lang="en-US" sz="1250" dirty="0"/>
          </a:p>
        </p:txBody>
      </p:sp>
      <p:sp>
        <p:nvSpPr>
          <p:cNvPr id="26" name="Text 20"/>
          <p:cNvSpPr txBox="1"/>
          <p:nvPr/>
        </p:nvSpPr>
        <p:spPr>
          <a:xfrm>
            <a:off x="731520" y="4709160"/>
            <a:ext cx="3246120" cy="868680"/>
          </a:xfrm>
          <a:prstGeom prst="rect">
            <a:avLst/>
          </a:prstGeom>
          <a:noFill/>
          <a:ln/>
        </p:spPr>
        <p:txBody>
          <a:bodyPr wrap="square" lIns="0" tIns="0" rIns="0" bIns="0" rtlCol="0" anchor="ctr"/>
          <a:lstStyle/>
          <a:p>
            <a:pPr indent="0" marL="0">
              <a:buNone/>
            </a:pPr>
            <a:r>
              <a:rPr lang="en-US" sz="1050" dirty="0">
                <a:solidFill>
                  <a:srgbClr val="1F2A1F"/>
                </a:solidFill>
                <a:latin typeface="Calibri" pitchFamily="34" charset="0"/>
                <a:ea typeface="Calibri" pitchFamily="34" charset="-122"/>
                <a:cs typeface="Calibri" pitchFamily="34" charset="-120"/>
              </a:rPr>
              <a:t>Bolus and applicator handling, safe administration on an adult animal, base-station check, reading alerts and entering the response</a:t>
            </a:r>
            <a:endParaRPr lang="en-US" sz="1050" dirty="0"/>
          </a:p>
        </p:txBody>
      </p:sp>
      <p:sp>
        <p:nvSpPr>
          <p:cNvPr id="27" name="Text 21"/>
          <p:cNvSpPr txBox="1"/>
          <p:nvPr/>
        </p:nvSpPr>
        <p:spPr>
          <a:xfrm>
            <a:off x="731520" y="5577840"/>
            <a:ext cx="3246120" cy="411480"/>
          </a:xfrm>
          <a:prstGeom prst="rect">
            <a:avLst/>
          </a:prstGeom>
          <a:noFill/>
          <a:ln/>
        </p:spPr>
        <p:txBody>
          <a:bodyPr wrap="square" lIns="0" tIns="0" rIns="0" bIns="0" rtlCol="0" anchor="ctr"/>
          <a:lstStyle/>
          <a:p>
            <a:pPr indent="0" marL="0">
              <a:buNone/>
            </a:pPr>
            <a:r>
              <a:rPr lang="en-US" sz="950" i="1" dirty="0">
                <a:solidFill>
                  <a:srgbClr val="5B6B5B"/>
                </a:solidFill>
                <a:latin typeface="Calibri" pitchFamily="34" charset="0"/>
                <a:ea typeface="Calibri" pitchFamily="34" charset="-122"/>
                <a:cs typeface="Calibri" pitchFamily="34" charset="-120"/>
              </a:rPr>
              <a:t>Kit: Bolus, applicator, base station, phone/tablet with app</a:t>
            </a:r>
            <a:endParaRPr lang="en-US" sz="950" dirty="0"/>
          </a:p>
        </p:txBody>
      </p:sp>
      <p:sp>
        <p:nvSpPr>
          <p:cNvPr id="28" name="Shape 22"/>
          <p:cNvSpPr/>
          <p:nvPr/>
        </p:nvSpPr>
        <p:spPr>
          <a:xfrm>
            <a:off x="4297680" y="3840480"/>
            <a:ext cx="3611880" cy="2194560"/>
          </a:xfrm>
          <a:prstGeom prst="roundRect">
            <a:avLst>
              <a:gd name="adj" fmla="val 5000"/>
            </a:avLst>
          </a:prstGeom>
          <a:solidFill>
            <a:srgbClr val="F6F9F2"/>
          </a:solidFill>
          <a:ln w="12700">
            <a:solidFill>
              <a:srgbClr val="F6F9F2"/>
            </a:solidFill>
            <a:prstDash val="solid"/>
          </a:ln>
        </p:spPr>
      </p:sp>
      <p:sp>
        <p:nvSpPr>
          <p:cNvPr id="29" name="Shape 23"/>
          <p:cNvSpPr/>
          <p:nvPr/>
        </p:nvSpPr>
        <p:spPr>
          <a:xfrm>
            <a:off x="4480560" y="4023360"/>
            <a:ext cx="548640" cy="548640"/>
          </a:xfrm>
          <a:prstGeom prst="ellipse">
            <a:avLst/>
          </a:prstGeom>
          <a:solidFill>
            <a:srgbClr val="2C5F2D"/>
          </a:solidFill>
          <a:ln w="12700">
            <a:solidFill>
              <a:srgbClr val="2C5F2D"/>
            </a:solidFill>
            <a:prstDash val="solid"/>
          </a:ln>
        </p:spPr>
      </p:sp>
      <p:pic>
        <p:nvPicPr>
          <p:cNvPr id="30" name="Image 4" descr="preencoded.png">    </p:cNvPr>
          <p:cNvPicPr>
            <a:picLocks noChangeAspect="1"/>
          </p:cNvPicPr>
          <p:nvPr/>
        </p:nvPicPr>
        <p:blipFill>
          <a:blip r:embed="rId5"/>
          <a:stretch>
            <a:fillRect/>
          </a:stretch>
        </p:blipFill>
        <p:spPr>
          <a:xfrm>
            <a:off x="4612234" y="4155034"/>
            <a:ext cx="285293" cy="285293"/>
          </a:xfrm>
          <a:prstGeom prst="rect">
            <a:avLst/>
          </a:prstGeom>
        </p:spPr>
      </p:pic>
      <p:sp>
        <p:nvSpPr>
          <p:cNvPr id="31" name="Text 24"/>
          <p:cNvSpPr txBox="1"/>
          <p:nvPr/>
        </p:nvSpPr>
        <p:spPr>
          <a:xfrm>
            <a:off x="5166360" y="3977640"/>
            <a:ext cx="2606040" cy="640080"/>
          </a:xfrm>
          <a:prstGeom prst="rect">
            <a:avLst/>
          </a:prstGeom>
          <a:noFill/>
          <a:ln/>
        </p:spPr>
        <p:txBody>
          <a:bodyPr wrap="square" lIns="0" tIns="0" rIns="0" bIns="0" rtlCol="0" anchor="ctr"/>
          <a:lstStyle/>
          <a:p>
            <a:pPr indent="0" marL="0">
              <a:buNone/>
            </a:pPr>
            <a:r>
              <a:rPr lang="en-US" sz="1250" b="1" dirty="0">
                <a:solidFill>
                  <a:srgbClr val="2C5F2D"/>
                </a:solidFill>
                <a:latin typeface="Cambria" pitchFamily="34" charset="0"/>
                <a:ea typeface="Cambria" pitchFamily="34" charset="-122"/>
                <a:cs typeface="Cambria" pitchFamily="34" charset="-120"/>
              </a:rPr>
              <a:t>Station 5 · NDHIS / iHealth data entry</a:t>
            </a:r>
            <a:endParaRPr lang="en-US" sz="1250" dirty="0"/>
          </a:p>
        </p:txBody>
      </p:sp>
      <p:sp>
        <p:nvSpPr>
          <p:cNvPr id="32" name="Text 25"/>
          <p:cNvSpPr txBox="1"/>
          <p:nvPr/>
        </p:nvSpPr>
        <p:spPr>
          <a:xfrm>
            <a:off x="4480560" y="4709160"/>
            <a:ext cx="3246120" cy="868680"/>
          </a:xfrm>
          <a:prstGeom prst="rect">
            <a:avLst/>
          </a:prstGeom>
          <a:noFill/>
          <a:ln/>
        </p:spPr>
        <p:txBody>
          <a:bodyPr wrap="square" lIns="0" tIns="0" rIns="0" bIns="0" rtlCol="0" anchor="ctr"/>
          <a:lstStyle/>
          <a:p>
            <a:pPr indent="0" marL="0">
              <a:buNone/>
            </a:pPr>
            <a:r>
              <a:rPr lang="en-US" sz="1050" dirty="0">
                <a:solidFill>
                  <a:srgbClr val="1F2A1F"/>
                </a:solidFill>
                <a:latin typeface="Calibri" pitchFamily="34" charset="0"/>
                <a:ea typeface="Calibri" pitchFamily="34" charset="-122"/>
                <a:cs typeface="Calibri" pitchFamily="34" charset="-120"/>
              </a:rPr>
              <a:t>Enter the day’s heat, AI, PD, CMT and treatment events; view the KPI screen</a:t>
            </a:r>
            <a:endParaRPr lang="en-US" sz="1050" dirty="0"/>
          </a:p>
        </p:txBody>
      </p:sp>
      <p:sp>
        <p:nvSpPr>
          <p:cNvPr id="33" name="Text 26"/>
          <p:cNvSpPr txBox="1"/>
          <p:nvPr/>
        </p:nvSpPr>
        <p:spPr>
          <a:xfrm>
            <a:off x="4480560" y="5577840"/>
            <a:ext cx="3246120" cy="411480"/>
          </a:xfrm>
          <a:prstGeom prst="rect">
            <a:avLst/>
          </a:prstGeom>
          <a:noFill/>
          <a:ln/>
        </p:spPr>
        <p:txBody>
          <a:bodyPr wrap="square" lIns="0" tIns="0" rIns="0" bIns="0" rtlCol="0" anchor="ctr"/>
          <a:lstStyle/>
          <a:p>
            <a:pPr indent="0" marL="0">
              <a:buNone/>
            </a:pPr>
            <a:r>
              <a:rPr lang="en-US" sz="950" i="1" dirty="0">
                <a:solidFill>
                  <a:srgbClr val="5B6B5B"/>
                </a:solidFill>
                <a:latin typeface="Calibri" pitchFamily="34" charset="0"/>
                <a:ea typeface="Calibri" pitchFamily="34" charset="-122"/>
                <a:cs typeface="Calibri" pitchFamily="34" charset="-120"/>
              </a:rPr>
              <a:t>Kit: Tablets, NDHIS training accounts</a:t>
            </a:r>
            <a:endParaRPr lang="en-US" sz="950" dirty="0"/>
          </a:p>
        </p:txBody>
      </p:sp>
      <p:sp>
        <p:nvSpPr>
          <p:cNvPr id="34" name="Shape 27"/>
          <p:cNvSpPr/>
          <p:nvPr/>
        </p:nvSpPr>
        <p:spPr>
          <a:xfrm>
            <a:off x="8046720" y="3840480"/>
            <a:ext cx="3611880" cy="2194560"/>
          </a:xfrm>
          <a:prstGeom prst="roundRect">
            <a:avLst>
              <a:gd name="adj" fmla="val 5000"/>
            </a:avLst>
          </a:prstGeom>
          <a:solidFill>
            <a:srgbClr val="F6F9F2"/>
          </a:solidFill>
          <a:ln w="12700">
            <a:solidFill>
              <a:srgbClr val="F6F9F2"/>
            </a:solidFill>
            <a:prstDash val="solid"/>
          </a:ln>
        </p:spPr>
      </p:sp>
      <p:sp>
        <p:nvSpPr>
          <p:cNvPr id="35" name="Shape 28"/>
          <p:cNvSpPr/>
          <p:nvPr/>
        </p:nvSpPr>
        <p:spPr>
          <a:xfrm>
            <a:off x="8229600" y="4023360"/>
            <a:ext cx="548640" cy="548640"/>
          </a:xfrm>
          <a:prstGeom prst="ellipse">
            <a:avLst/>
          </a:prstGeom>
          <a:solidFill>
            <a:srgbClr val="2C5F2D"/>
          </a:solidFill>
          <a:ln w="12700">
            <a:solidFill>
              <a:srgbClr val="2C5F2D"/>
            </a:solidFill>
            <a:prstDash val="solid"/>
          </a:ln>
        </p:spPr>
      </p:sp>
      <p:pic>
        <p:nvPicPr>
          <p:cNvPr id="36" name="Image 5" descr="preencoded.png">    </p:cNvPr>
          <p:cNvPicPr>
            <a:picLocks noChangeAspect="1"/>
          </p:cNvPicPr>
          <p:nvPr/>
        </p:nvPicPr>
        <p:blipFill>
          <a:blip r:embed="rId6"/>
          <a:stretch>
            <a:fillRect/>
          </a:stretch>
        </p:blipFill>
        <p:spPr>
          <a:xfrm>
            <a:off x="8361274" y="4155034"/>
            <a:ext cx="285293" cy="285293"/>
          </a:xfrm>
          <a:prstGeom prst="rect">
            <a:avLst/>
          </a:prstGeom>
        </p:spPr>
      </p:pic>
      <p:sp>
        <p:nvSpPr>
          <p:cNvPr id="37" name="Text 29"/>
          <p:cNvSpPr txBox="1"/>
          <p:nvPr/>
        </p:nvSpPr>
        <p:spPr>
          <a:xfrm>
            <a:off x="8915400" y="3977640"/>
            <a:ext cx="2606040" cy="640080"/>
          </a:xfrm>
          <a:prstGeom prst="rect">
            <a:avLst/>
          </a:prstGeom>
          <a:noFill/>
          <a:ln/>
        </p:spPr>
        <p:txBody>
          <a:bodyPr wrap="square" lIns="0" tIns="0" rIns="0" bIns="0" rtlCol="0" anchor="ctr"/>
          <a:lstStyle/>
          <a:p>
            <a:pPr indent="0" marL="0">
              <a:buNone/>
            </a:pPr>
            <a:r>
              <a:rPr lang="en-US" sz="1250" b="1" dirty="0">
                <a:solidFill>
                  <a:srgbClr val="2C5F2D"/>
                </a:solidFill>
                <a:latin typeface="Cambria" pitchFamily="34" charset="0"/>
                <a:ea typeface="Cambria" pitchFamily="34" charset="-122"/>
                <a:cs typeface="Cambria" pitchFamily="34" charset="-120"/>
              </a:rPr>
              <a:t>Station 6 · Fresh-cow &amp; calf check</a:t>
            </a:r>
            <a:endParaRPr lang="en-US" sz="1250" dirty="0"/>
          </a:p>
        </p:txBody>
      </p:sp>
      <p:sp>
        <p:nvSpPr>
          <p:cNvPr id="38" name="Text 30"/>
          <p:cNvSpPr txBox="1"/>
          <p:nvPr/>
        </p:nvSpPr>
        <p:spPr>
          <a:xfrm>
            <a:off x="8229600" y="4709160"/>
            <a:ext cx="3246120" cy="868680"/>
          </a:xfrm>
          <a:prstGeom prst="rect">
            <a:avLst/>
          </a:prstGeom>
          <a:noFill/>
          <a:ln/>
        </p:spPr>
        <p:txBody>
          <a:bodyPr wrap="square" lIns="0" tIns="0" rIns="0" bIns="0" rtlCol="0" anchor="ctr"/>
          <a:lstStyle/>
          <a:p>
            <a:pPr indent="0" marL="0">
              <a:buNone/>
            </a:pPr>
            <a:r>
              <a:rPr lang="en-US" sz="1050" dirty="0">
                <a:solidFill>
                  <a:srgbClr val="1F2A1F"/>
                </a:solidFill>
                <a:latin typeface="Calibri" pitchFamily="34" charset="0"/>
                <a:ea typeface="Calibri" pitchFamily="34" charset="-122"/>
                <a:cs typeface="Calibri" pitchFamily="34" charset="-120"/>
              </a:rPr>
              <a:t>Temperature, rumen fill, BCS, navel and scour assessment; colostrum Brix reading</a:t>
            </a:r>
            <a:endParaRPr lang="en-US" sz="1050" dirty="0"/>
          </a:p>
        </p:txBody>
      </p:sp>
      <p:sp>
        <p:nvSpPr>
          <p:cNvPr id="39" name="Text 31"/>
          <p:cNvSpPr txBox="1"/>
          <p:nvPr/>
        </p:nvSpPr>
        <p:spPr>
          <a:xfrm>
            <a:off x="8229600" y="5577840"/>
            <a:ext cx="3246120" cy="411480"/>
          </a:xfrm>
          <a:prstGeom prst="rect">
            <a:avLst/>
          </a:prstGeom>
          <a:noFill/>
          <a:ln/>
        </p:spPr>
        <p:txBody>
          <a:bodyPr wrap="square" lIns="0" tIns="0" rIns="0" bIns="0" rtlCol="0" anchor="ctr"/>
          <a:lstStyle/>
          <a:p>
            <a:pPr indent="0" marL="0">
              <a:buNone/>
            </a:pPr>
            <a:r>
              <a:rPr lang="en-US" sz="950" i="1" dirty="0">
                <a:solidFill>
                  <a:srgbClr val="5B6B5B"/>
                </a:solidFill>
                <a:latin typeface="Calibri" pitchFamily="34" charset="0"/>
                <a:ea typeface="Calibri" pitchFamily="34" charset="-122"/>
                <a:cs typeface="Calibri" pitchFamily="34" charset="-120"/>
              </a:rPr>
              <a:t>Kit: Thermometer, Brix refractometer, BCS chart, colostrum</a:t>
            </a:r>
            <a:endParaRPr lang="en-US" sz="950" dirty="0"/>
          </a:p>
        </p:txBody>
      </p:sp>
      <p:sp>
        <p:nvSpPr>
          <p:cNvPr id="40" name="Text 3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5B6B5B"/>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41" name="Text 3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5B6B5B"/>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8503920" y="3017520"/>
            <a:ext cx="5029200" cy="5029200"/>
          </a:xfrm>
          <a:prstGeom prst="ellipse">
            <a:avLst/>
          </a:prstGeom>
          <a:solidFill>
            <a:srgbClr val="386F39"/>
          </a:solidFill>
          <a:ln w="12700">
            <a:solidFill>
              <a:srgbClr val="386F39"/>
            </a:solidFill>
            <a:prstDash val="solid"/>
          </a:ln>
        </p:spPr>
      </p:sp>
      <p:pic>
        <p:nvPicPr>
          <p:cNvPr id="3" name="Image 0" descr="preencoded.png">    </p:cNvPr>
          <p:cNvPicPr>
            <a:picLocks noChangeAspect="1"/>
          </p:cNvPicPr>
          <p:nvPr/>
        </p:nvPicPr>
        <p:blipFill>
          <a:blip r:embed="rId1"/>
          <a:stretch>
            <a:fillRect/>
          </a:stretch>
        </p:blipFill>
        <p:spPr>
          <a:xfrm>
            <a:off x="9692640" y="4114800"/>
            <a:ext cx="1463040" cy="1463040"/>
          </a:xfrm>
          <a:prstGeom prst="rect">
            <a:avLst/>
          </a:prstGeom>
        </p:spPr>
      </p:pic>
      <p:sp>
        <p:nvSpPr>
          <p:cNvPr id="4" name="Text 1"/>
          <p:cNvSpPr txBox="1"/>
          <p:nvPr/>
        </p:nvSpPr>
        <p:spPr>
          <a:xfrm>
            <a:off x="548640" y="1463040"/>
            <a:ext cx="8229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Maraming salamat po.</a:t>
            </a:r>
            <a:endParaRPr lang="en-US" sz="4400" dirty="0"/>
          </a:p>
        </p:txBody>
      </p:sp>
      <p:sp>
        <p:nvSpPr>
          <p:cNvPr id="5" name="Text 2"/>
          <p:cNvSpPr txBox="1"/>
          <p:nvPr/>
        </p:nvSpPr>
        <p:spPr>
          <a:xfrm>
            <a:off x="548640" y="2468880"/>
            <a:ext cx="8229600" cy="1097280"/>
          </a:xfrm>
          <a:prstGeom prst="rect">
            <a:avLst/>
          </a:prstGeom>
          <a:noFill/>
          <a:ln/>
        </p:spPr>
        <p:txBody>
          <a:bodyPr wrap="square" lIns="0" tIns="0" rIns="0" bIns="0" rtlCol="0" anchor="ctr"/>
          <a:lstStyle/>
          <a:p>
            <a:pPr indent="0" marL="0">
              <a:buNone/>
            </a:pPr>
            <a:r>
              <a:rPr lang="en-US" sz="1800" dirty="0">
                <a:solidFill>
                  <a:srgbClr val="EEF4E6"/>
                </a:solidFill>
                <a:latin typeface="Calibri" pitchFamily="34" charset="0"/>
                <a:ea typeface="Calibri" pitchFamily="34" charset="-122"/>
                <a:cs typeface="Calibri" pitchFamily="34" charset="-120"/>
              </a:rPr>
              <a:t>Healthy soil → healthy grass → healthy cow → healthy milk → healthy people.</a:t>
            </a:r>
            <a:endParaRPr lang="en-US" sz="1800" dirty="0"/>
          </a:p>
          <a:p>
            <a:pPr indent="0" marL="0">
              <a:buNone/>
            </a:pPr>
            <a:r>
              <a:rPr lang="en-US" sz="1800" dirty="0">
                <a:solidFill>
                  <a:srgbClr val="EEF4E6"/>
                </a:solidFill>
                <a:latin typeface="Calibri" pitchFamily="34" charset="0"/>
                <a:ea typeface="Calibri" pitchFamily="34" charset="-122"/>
                <a:cs typeface="Calibri" pitchFamily="34" charset="-120"/>
              </a:rPr>
              <a:t>The data just helps us see it sooner.</a:t>
            </a:r>
            <a:endParaRPr lang="en-US" sz="1800" dirty="0"/>
          </a:p>
        </p:txBody>
      </p:sp>
      <p:sp>
        <p:nvSpPr>
          <p:cNvPr id="6" name="Text 3"/>
          <p:cNvSpPr txBox="1"/>
          <p:nvPr/>
        </p:nvSpPr>
        <p:spPr>
          <a:xfrm>
            <a:off x="548640" y="4023360"/>
            <a:ext cx="8229600" cy="1463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Dr. Hyunje Ha, DVM</a:t>
            </a:r>
            <a:endParaRPr lang="en-US" sz="1800" dirty="0"/>
          </a:p>
          <a:p>
            <a:pPr indent="0" marL="0">
              <a:buNone/>
            </a:pPr>
            <a:r>
              <a:rPr lang="en-US" sz="1300" dirty="0">
                <a:solidFill>
                  <a:srgbClr val="EEF4E6"/>
                </a:solidFill>
                <a:latin typeface="Calibri" pitchFamily="34" charset="0"/>
                <a:ea typeface="Calibri" pitchFamily="34" charset="-122"/>
                <a:cs typeface="Calibri" pitchFamily="34" charset="-120"/>
              </a:rPr>
              <a:t>Genetics Co., Ltd. · D2O Co., Ltd. · Song Young Shin Farm · Korea Animal Hospital</a:t>
            </a:r>
            <a:endParaRPr lang="en-US" sz="1800" dirty="0"/>
          </a:p>
          <a:p>
            <a:pPr indent="0" marL="0">
              <a:buNone/>
            </a:pPr>
            <a:r>
              <a:rPr lang="en-US" sz="1300" dirty="0">
                <a:solidFill>
                  <a:srgbClr val="EEF4E6"/>
                </a:solidFill>
                <a:latin typeface="Calibri" pitchFamily="34" charset="0"/>
                <a:ea typeface="Calibri" pitchFamily="34" charset="-122"/>
                <a:cs typeface="Calibri" pitchFamily="34" charset="-120"/>
              </a:rPr>
              <a:t>Anseong, Gyeonggi-do, Republic of Korea  ·  Adjunct Professor, Konkuk University</a:t>
            </a:r>
            <a:endParaRPr lang="en-US" sz="1800" dirty="0"/>
          </a:p>
          <a:p>
            <a:pPr indent="0" marL="0">
              <a:buNone/>
            </a:pPr>
            <a:r>
              <a:rPr lang="en-US" sz="1300" dirty="0">
                <a:solidFill>
                  <a:srgbClr val="97BC62"/>
                </a:solidFill>
                <a:latin typeface="Calibri" pitchFamily="34" charset="0"/>
                <a:ea typeface="Calibri" pitchFamily="34" charset="-122"/>
                <a:cs typeface="Calibri" pitchFamily="34" charset="-120"/>
              </a:rPr>
              <a:t>Questions, farm data and pilot design: through the PCC–KOICA NDHIP project office</a:t>
            </a:r>
            <a:endParaRPr lang="en-US" sz="1800" dirty="0"/>
          </a:p>
        </p:txBody>
      </p:sp>
      <p:sp>
        <p:nvSpPr>
          <p:cNvPr id="7" name="Text 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7BC62"/>
                </a:solidFill>
                <a:latin typeface="Calibri" pitchFamily="34" charset="0"/>
                <a:ea typeface="Calibri" pitchFamily="34" charset="-122"/>
                <a:cs typeface="Calibri" pitchFamily="34" charset="-120"/>
              </a:rPr>
              <a:t>PCC–KOICA NDHIP Local Training Series  ·  Dr. Hyunje Ha, DVM</a:t>
            </a:r>
            <a:endParaRPr lang="en-US" sz="900" dirty="0"/>
          </a:p>
        </p:txBody>
      </p:sp>
      <p:sp>
        <p:nvSpPr>
          <p:cNvPr id="8" name="Text 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97BC62"/>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Dairy Herd Management — PCC–KOICA NDHIP Training</dc:title>
  <dc:subject>PptxGenJS Presentation</dc:subject>
  <dc:creator>Dr. Hyunje Ha, DVM</dc:creator>
  <cp:lastModifiedBy>Dr. Hyunje Ha, DVM</cp:lastModifiedBy>
  <cp:revision>1</cp:revision>
  <dcterms:created xsi:type="dcterms:W3CDTF">2026-09-12T15:43:09Z</dcterms:created>
  <dcterms:modified xsi:type="dcterms:W3CDTF">2026-09-12T15:43:09Z</dcterms:modified>
</cp:coreProperties>
</file>
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credentials, then the three show-of-hands questions. Write the numbers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Dr. Hyunje Ha. I am a veterinarian from Korea, and I run Genetics Company and Korea Animal Hospital.
Let me tell you in one sentence why I am standing here. For about eighteen years I have been doing embryo transfer in the field. My team performs about three thousand embryo transfers every year, and we supply about four thousand embryos every year. Our average conception rate in Korean field conditions is around sixty percent.
I am not here to give you a university lecture. I am here to give you what I use in the field, every week, on real cows.
Today we have three modules. First, embryo transfer — including how embryos are actually produced, by MOET and by OPU–IVF. Second, estrus synchronization — the physiology of follicular waves, and every protocol you will realistically need, including sensor-based reproduction. Third, rumen physiology and the diseases that destroy your reproductive results.
Three ground rules. Number one: stop me and ask questions at any time. Number two: write down numbers — every number I give you today is a working number, not a theory. Number three: at the end of the day you will leave with pocket cards. Those cards are the real product of this course."
[ASK] "Before we start, three quick questions. Raise your hand. One — who here achieves more than sixty percent conception rate with AI? Two — who has cows that will not show heat? Three — who has personally performed an embryo transfer?"
[BOARD] Write the three numbers. Say: "We will look at these numbers again at the end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PART 1-A — WHY EMBRYO TRANSFER (20 min, S1–S6)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a question that decides everything else today. What is artificial insemination actually doing for your herd?
Artificial insemination gives you control over one half of the genome — the sire side. It gives you no control at all over the other half. If your cows are genetically poor, AI improves the calf slightly, generation after generation, but the female base of your herd stays where it is.
Embryo transfer is different in kind, not in degree. In embryo transfer, both the sire and the dam are selected. One hundred percent of the genetics of that calf is chosen by you. And one elite female, instead of producing one calf per year, can produce ten, twenty, or more.
Please write this sentence down: Artificial insemination improves the sire side. Embryo transfer replaces the whole animal."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genetic gain equation. Genetic gain per year equals selection intensity, times accuracy, times genetic variation, divided by generation interval.
Now look at what reproductive technology does to this equation.
Embryo transfer increases selection intensity, because you now need far fewer females to produce your replacements — so you can select only the very best ones.
Genomic testing increases accuracy, because you can evaluate an animal at birth instead of waiting for daughters.
And here is the most powerful one. OPU–IVF on prepubertal heifers reduces the generation interval — the denominator. When you divide by a smaller number, gain goes up. This is why the modern dairy industry does not talk about embryo transfer as a luxury. It talks about it as the main engine of genetic progress."
[BOARD] Circle the denominator L and write "OPU on heifers → shorter L → faster gain."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"Semen is not your limiting factor. You can buy excellent semen from anywhere in the world, and many of you already do. Your limiting factor is the female base of your herd.
There are two ways to fix a female base. You can import live heifers, or you can import embryos.
Importing live heifers is expensive per animal, you lose animals in transport, and the animal arrives as an adult that was raised in a temperate country and now has to adapt to a tropical climate as a fully grown animal. Adaptation at that stage is poor.
Importing frozen embryos costs far less per genetic unit. There is no live animal transport stress. And most importantly, the calf is born in the Philippines and grows up in Philippine heat, Philippine feed, and Philippine management from day one. Its adaptation is developmental, not forced.
And the recipient — the cow that carries the pregnancy — can be any healthy cow you already own. Including your genetically poorest cow. Think about what that means. Your worst cow becomes the mother of your best calf."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"Farmers always ask me the price of an embryo. That is the wrong question. The right question is the cost per pregnancy.
Look at the arithmetic. If your total input cost is one hundred units and your pregnancy rate is fifty percent, each pregnancy costs you two hundred units. If your pregnancy rate is sixty percent, each pregnancy costs one hundred and sixty-seven units. That is seventeen percent cheaper — and you did not change the price of anything you bought.
So remember this: the cheapest way to lower your cost is to raise your pregnancy rate, not to buy a cheaper embryo. Everything else I teach you today is about that one number."
[BOARD] Write the division out loud: 100 ÷ 0.5 = 200; 100 ÷ 0.6 = 167.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an embryo can be produced, and you must understand both, because the embryo you receive will behave differently depending on which route made it.
Route A is in vivo — inside the cow. We call it MOET: Multiple Ovulation and Embryo Transfer. We stimulate the donor to ovulate many eggs, we inseminate her, and seven days later we flush the embryos out of her uterus.
Route B is in vitro — in the laboratory. We call it OPU–IVP: Ovum Pick-Up and In Vitro Production. We aspirate immature eggs directly from the ovary with an ultrasound-guided needle, and we mature, fertilize, and culture them in the laboratory for seven days.
We will do Route A first, then Route B. Then we will talk about how to evaluate, freeze, and transfer whatever comes out."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a professional programme chooses between them.
MOET puts a heavy hormone load on the donor, and you can only repeat it about every sixty days. You get on average five to eight transferable embryos per flush, but the variation is enormous — some donors give twenty, and roughly one donor in three gives you nothing at all.
OPU–IVF uses little or no superovulation. You can do it once or twice a week on the same donor. You get fewer embryos per session, but you can repeat it fifty times a year instead of six.
Two more differences matter enormously for export programmes like ours. First, sexed semen. In MOET you need two or three full straws for one flush. In OPU–IVF, one straw of sexed semen can fertilize many oocytes. That makes sexed female embryo production economically realistic. Second, OPU works on animals that MOET cannot touch — prepubertal heifers, and even pregnant cows in early gestation.
And the trade-off: in vitro embryos are more fragile in freezing. We will come back to that."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PART 1-B — MOET — SUPEROVULATION AND FLUSHING (30 min, S7–S15)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MOET starts with the donor. The single most common mistake in a new programme is to superovulate the wrong cow.
She must have proven genetic value. If she is not genetically superior, you are multiplying an average animal at high cost — that is not a breeding programme, that is an expensive hobby.
She must be at least sixty days postpartum and cycling normally. She must be in body condition three to three point five, and importantly, stable or gaining. A donor losing body condition responds poorly.
Her reproductive tract must be clean. And for an export programme, her infectious disease status must be documented, because health certification of the embryo starts with health certification of the donor."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a cow normally ovulate only one egg? Because in each follicular wave, a cohort of follicles is recruited by a natural FSH surge, and then FSH falls. Only the follicle that becomes dominant survives the fall in FSH. All the others die — that process is called atresia.
Superovulation does one thing: it keeps FSH high artificially, so the whole cohort survives instead of only one. That is the entire concept. We are not creating extra follicles. We are rescuing the ones that were going to die.
This has an important practical consequence. The number of embryos you can get is limited by how many follicles were in that cohort in the first place — the antral follicle count. That is why some donors respond and some never will."
[BOARD] Draw a cohort of 15 circles; cross out 14 and circle 1. Then draw the same cohort with all 15 surviving under "FSH sustained."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conventional superovulation protocol, and it is still the backbone of MOET worldwide.
We start FSH in the middle of the cycle — around day eight to twelve — because we want to catch a follicular wave at emergence. FSH is given twice daily for four days, in decreasing doses, because FSH has a short half-life. Note that: FSH is short-acting, so it must be given twice a day. This is the practical burden of MOET.
On the third day of FSH treatment we give prostaglandin to remove the corpus luteum. Many practitioners split this into two doses twelve hours apart, because with many follicles producing hormone, luteolysis can be incomplete.
Estrus follows about forty-eight hours later. We inseminate two or three times — at twelve hours, twenty-four hours, and sometimes thirty-six hours after the onset of standing estrus — using two straws each time. Why so much semen? Because we are trying to fertilize ten or fifteen eggs at once, and sperm transport in a superovulated uterus is less efficient.
Then, seven days after the first insemination, we flush."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refinements have changed superovulation in the last two decades, and you should know them.
First, wave synchronization. Instead of starting FSH by calendar, we start it at a known point of follicular wave emergence — induced by GnRH, or by ablating the dominant follicle under ultrasound, or by using a progesterone device. This alone improves consistency more than any other single change.
Second, slow-release FSH. Instead of eight injections over four days, some formulations allow a single or split-single injection. Where this product is registered, it dramatically reduces labour and animal handling.
Third — and this is free — donor nutrition and stability. A donor that is losing body condition, or that has been moved, regrouped, or heat-stressed during treatment, will not respond well no matter how good your hormone protocol is."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flush itself is a surgical-standard, non-surgical procedure. Let me emphasise three points.
Point one: this is a sterile procedure. The uterus of a superovulated donor is the most valuable and most vulnerable place on that farm. Contamination here costs you the donor's future.
Point two: the flush medium must be warm and must contain protein — bovine serum albumin or serum. Embryos stick to plastic and glass without protein. If you flush with plain saline, you will lose embryos to the tubing.
Point three: after the flush, give prostaglandin. Two reasons. You may have left an embryo behind, and you do not want your elite donor pregnant by accident. And you want her back in the cycle for the next round."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honest part. When you look under the microscope after a flush, you do not find fifteen perfect embryos.
On average you find five to eight transferable embryos. You also find unfertilized eggs, and degenerate embryos that stopped developing. And roughly one flush in four or five gives you nothing usable at all.
I tell you this because if you start a MOET programme expecting fifteen embryos per flush, you will conclude after two flushes that the technology does not work. It works — but it works on averages across many flushes, not on any single flush. MOET is a numbers business."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flush fails, do not immediately blame the hormone. Go down this list in order.
Antral follicle count is genetic and largely fixed — you can screen for it with ultrasound before you enrol a donor, and this is now standard in good programmes.
Wave stage, energy balance, heat stress, and cold chain — these four are your responsibility and all four are fixable.
And the last line matters: do not flush the same donor every three weeks because she responded well. Give her sixty days. Repeated aggressive superovulation reduces response and can damage her own fertility."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here that matter for an export programme.
First, speed. Embryos are searched and evaluated within minutes, not hours. Every minute in a cooling dish is a cost.
Second — and this is why embryos can cross international borders at all — the ten-wash procedure. The International Embryo Technology Society specifies ten successive washes, with dilution at each step. This procedure is what allows an embryo with an intact zona pellucida to be considered a very low disease-transmission risk. That is the scientific basis of embryo trade. It is also why an embryo with a damaged zona is not exportable."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MOET. It is proven, it needs no laboratory on the farm, and — very important for us — in vivo embryos survive freezing better than in vitro embryos. That is why in vivo frozen direct-transfer embryos are still an excellent product for international shipment.
Its weaknesses are the hormone load, the labour, and the variability.
Now let us go to the laboratory."
[TIME]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PART 1-C — OPU – IVF / IVP (30 min, S16–S24)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 vitro pipeline. Four steps: collect the oocyte, mature it, fertilize it, and culture it to the blastocyst stage. Seven days in a laboratory instead of seven days in a uterus.
I want you to notice something. In MOET, the cow does the work and we harvest the result. In IVP, we do the work and the cow only supplies the raw material. That difference is what makes IVP scalable."
[TIME]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"OPU is done with a transvaginal ultrasound probe carrying a needle. The needle punctures each visible follicle through the vaginal wall, and a vacuum pump aspirates the follicular fluid with the oocyte inside.
It takes fifteen to twenty minutes per donor. It can be done once or twice a week on the same animal, because the ovary simply recruits a new wave.
Now here are two facts that are strategically important in a tropical country.
Fact one: OPU works on prepubertal heifers. A six- or eight-month-old heifer that has never had a cycle can be a donor. Combine that with genomic testing at birth, and your generation interval collapses. Remember the equation from slide two — dividing by a smaller number.
Fact two: Bos indicus and Bos indicus crossbreds have a significantly higher antral follicle count than Bos taurus. In the Philippines, where much of your dairy population is crossbred, this is an advantage, not a limitation. Zebu-influenced donors often yield twice as many oocytes per session."
[ASK] "How many of your dairy animals are Holstein crossed with Sahiwal, Red Sindhi, or local stock?"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oocyte we aspirate is immature. It is arrested at the germinal vesicle stage. Before it can be fertilized it must complete meiosis to metaphase two and extrude the first polar body. In the cow, that takes about twenty-two to twenty-four hours in culture.
Two practical points. One: only good oocytes go forward. A COC with a bare or degenerate cumulus is discarded — putting it in the system wastes medium and dilutes your statistics. Two: temperature. Thirty-eight point five to thirty-nine degrees, not thirty-seven. The cow is warmer than the human, and cattle embryology is done at cattle body temperature."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"Fertilization in vitro is a controlled meeting. We do not put raw thawed semen with the oocyte. We first select the best sperm — by density gradient or by swim-up — because in the female tract, only a tiny fraction of sperm ever reaches the oocyte, and in vitro we must reproduce that selection artificially.
Then we induce capacitation with heparin, because capacitation normally happens in the female tract and here there is no female tract.
Now the strategic point for our export programme. Sexed semen is where in vitro fertilization becomes economically powerful. Sexed straws contain fewer sperm than conventional straws — that is a limitation for conventional AI, because you are trying to fertilize one egg deep inside a uterus. But in a fertilization drop of fifty microlitres, a low sperm number is not a limitation at all. One straw of sexed semen can produce many female embryos. This is exactly how Korean Holstein sexed female embryos are produced for export."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"Culture is where in vitro embryos are made or ruined.
Two modern points. First, oxygen. Atmospheric oxygen is twenty-one percent. The oviduct is about five to seven percent. Culturing at atmospheric oxygen causes oxidative stress and reduces embryo quality. Low-oxygen incubators are now standard in good laboratories.
Second, serum. Classical media contained a lot of serum. Serum drives fast development, but it makes the embryo accumulate lipid droplets. Lipid-loaded embryos look dark, freeze badly, and were historically associated with large offspring syndrome. Modern laboratories reduce or remove serum. The embryo develops slightly slower, but it is a better embryo.
And here is the number to remember: of the oocytes that enter culture, roughly thirty to forty percent become blastocysts. So from twenty oocytes, expect six to eight embryos — not twenty."
[BOARD] 20 COCs × ~35% ≈ 7 blastocysts.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must know this table, because you will handle both types.
In vivo embryos are brighter and tolerate freezing well — that is why direct-transfer straws work so well with them. In vitro embryos carry more lipid, which is why they are more fragile in freezing and are usually vitrified rather than slow-frozen.
Pregnancy rates are correspondingly a little lower with in vitro embryos. But — and this is the whole argument — you can produce in vitro embryos every week from donors that MOET cannot use at all. Slightly lower per-embryo performance, dramatically higher total output.
Large offspring syndrome, which older textbooks warn about, is uncommon with modern reduced-serum culture. If someone tells you in vitro embryos always produce oversized calves, that information is twenty years old."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pieces together and you get the modern breeding engine.
You genotype a heifer calf at birth. You know her genetic merit before she has ever produced milk. If she is elite, you begin OPU while she is still prepubertal. You fertilize her oocytes with sexed semen from the best available sires. Her daughters are born before she herself has calved.
The generation interval falls from four or five years to under two. That is not an incremental improvement. That is a different rate of genetic progress entirely.
I am showing you this not because every farm here will do it tomorrow, but because you must understand what the animals you are receiving come from. When a Korean Holstein sexed embryo arrives in your hand, this is the system that produced it."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get a female calf.
The standard way is sexed semen at fertilization — about ninety percent female. Nothing is done to the embryo itself, so the embryo is undamaged.
The alternative is biopsy: take a few cells from the outer layer and test the DNA. Accuracy is higher, and the same biopsy can be used for genomic testing of the embryo. But it is invasive and it reduces freezing tolerance.
Now, please hear this clearly, because it prevents arguments later: ninety percent is not one hundred percent. If you produce ten pregnancies from sexed embryos, expect about one bull calf. That is a normal result, not a defect and not a fraud."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which product should actually come into a Philippine farm?
Female Holstein dairy embryos, grade one, at blastocyst or expanded blastocyst stage. If in vivo, frozen for direct transfer, because direct transfer needs no laboratory in the field — a water bath and a timer, and you can do it in a barn. If in vitro, vitrified, and then the batch must ship with the laboratory's own warming protocol card.
And every shipment carries documentation: donor health status, the ten-wash certification, export permit, and veterinary health certificate. That paperwork is not bureaucracy — it is what makes the trade legal and what protects your country's herd health status."
[TIME]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PART 1-D — EVALUATION AND CRYOPRESERVATION (20 min, S25–S30)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IETS staging system is universal. Every straw in the world is labelled with it, so you must be able to read it.
The working rule is simple. Stages four to seven are your transfer material. Six and seven — blastocyst and expanded blastocyst — give the best results and freeze best.
Stage eight, the hatched blastocyst, has left its zona pellucida. It can be transferred fresh, but it cannot be washed to the international sanitary standard and it does not freeze reliably. Stage nine is not usable for our purposes."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is about quality, not stage. Grade one is symmetrical, uniform, and at least eighty-five percent of the cells are intact, with an intact smooth zona.
The field rule in our programme is absolute: only grade one is frozen for export. Grade two may be transferred fresh on the farm where it was collected. Grade three is a research or on-farm decision. Grade four is discarded.
This is why our export product carries a premium — and why you should ask any embryo supplier, from any country, exactly what grade they are shipping you."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freezing is the classical method, and for in vivo embryos it is still excellent.
The key chemical is ethylene glycol. Glycerol, the older cryoprotectant, must be removed in a stepwise dilution before transfer — that means dishes, a microscope, and a laboratory bench. Ethylene glycol is small and permeates quickly, and the embryo can dilute it in the uterus itself.
That single fact is why direct transfer exists. It is why an embryo can be transferred in a farm in a rural area with only a water bath, a timer, and a transfer gun. For a country building a new embryo transfer service, direct transfer straws are the correct starting product."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"Vitrification is a different physical process. Instead of slowly forming ice, we use very high cryoprotectant concentrations and extremely fast cooling, so the water becomes a glass and never crystallizes at all.
This is generally the better method for in vitro embryos, which are more sensitive to ice.
But — and this is the operational warning of this entire module — a vitrified embryo cannot be direct-transferred. It must be warmed and diluted in steps, with the exact protocol from the laboratory that made it.
So the rule in the field is: read the straw, and follow the laboratory card that came with the batch. If you apply the direct transfer protocol to a vitrified straw, you will kill the embryo. Every time."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numbers with me. Air, three to five seconds. Water bath, thirty-seven degrees, twenty to thirty seconds.
Three errors I see constantly in the field. First, people lift the whole goblet out of the tank while searching for a straw — the other straws warm and re-cool, and they are destroyed. Search in the neck of the tank. Second, people do not dry the straw, and water enters the gun and contaminates the transfer. Third, people thaw an embryo and then go and catch the cow. Catch the cow first. Thaw last."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safety slide, but I have seen accidents, so please listen.
Liquid nitrogen is minus one hundred and ninety-six degrees. Gloves and eye protection, always. And never transport or store a tank in a sealed car with the windows closed — nitrogen gas displaces oxygen, and there is no smell and no warning.
And keep a written map of your tank. When you have four hundred straws in a tank and no map, you will spend five minutes searching with the canister raised, and you will damage everything in it."
[TIME]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PART 1-E — RECIPIENTS, TRANSFER, RESULTS (20 min, S31–S38)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spent an hour on how embryos are made. Now I will tell you the truth of the field: the recipient contributes more to your result than the embryo does.
A grade one embryo from a genomic elite donor, transferred into a thin, anestrus, forty-day-postpartum cow with a dirty uterus, will fail. And you will blame the embryo, and the supplier, and the country it came from. It was the cow.
Seven criteria. One failure means rejection. And criterion seven decides the day: no corpus luteum, no transfer. Say it with me — no CL, no transfer."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corpus luteum produces progesterone. Progesterone maintains the pregnancy. A Day-7 embryo arriving in a uterus that has no progesterone support does not implant — it simply dies.
And the horn matters. The embryo must go into the horn on the same side as the corpus luteum, because in the cow the luteolytic and luteotrophic signalling between the uterine horn and the ovary is local — the same side. Wrong horn is a common, silent, and completely avoidable cause of failure.
Practical sequence: palpate first, confirm the CL and its side, and only then walk to the tank."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epidural is not optional. Without it the cow strains, the rectum contracts, and you cannot feel or place anything accurately. Two to three millilitres of two percent lidocaine, and wait for the tail to go loose.
Step five is where technique separates a good technician from a poor one. You do not push the gun through the cervix. You hold the cervix in your hand through the rectal wall and you feed the cervix onto the gun, ring by ring. If you are forcing, stop and reposition.
And step nine — record immediately, not at the end of the day. Memory is not a record."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useful habit I can give you today. Score every transfer, one to three.
Then, once a month, count how many threes you had. If more than one transfer in ten is a three, the problem is not the embryo supplier and not the cows. It is your hands, or your restraint facilities, or your patience.
I have used this on myself for eighteen years. It is uncomfortable and it is the fastest way to improve."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transfer takes five minutes. The pregnancy takes forty-five days to become secure.
The most common management mistake worldwide is to transfer embryos and then move the recipients into a new group the next week. Social stress, ration change, and heat all act in the same direction — early embryonic loss.
And record returns to heat. If a recipient returns at day eighteen to twenty-four, that is a normal-length cycle and points to fertilization or very early development. If she returns late, that points to later embryonic loss, which points at heat stress or disease. The pattern of your failures tells you where to look."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"Ultrasound at twenty-eight to thirty-two days, and then — please — a second check at fifty-five to sixty days.
Why the second check? Because late embryonic and early fetal loss is real, and in hot climates it is common. If you only check once, your records will say you achieved a pregnancy that you did not keep, and you will never find out where your programme is leaking."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with you about numbers, because dishonest numbers destroy programmes.
In Korea, in our own hands, with our own recipients, we average about sixty percent. That is Korean field data with Korean recipients and Korean management.
In the first year of a new programme in a tropical smallholder system, a realistic target is forty to fifty percent. If someone promises you sixty-five percent in your first year, be careful.
And then, with better recipient selection and heat management, you improve. Every point you gain is worth real money — remember slide four."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sentences to take out of this module.
Artificial insemination improves the sire side; embryo transfer replaces the whole animal.
MOET makes the cow do the work; OPU and in vitro fertilization make the laboratory do the work, and that is what makes it scale.
Read the straw, every time — stage, grade, sex, and freezing method decide what you are allowed to do next.
And the recipient is the product. No corpus luteum, no transfer.
Let us take fifteen minutes. When we come back, we will talk about how to get that corpus luteum exactly when we want it — which is the science of estrus synchronization."
[TIME]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fifteen minutes. When we come back we will talk about how to get that corpus luteum exactly when we want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1C"/>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F4A2C"/>
          </a:solidFill>
          <a:ln/>
        </p:spPr>
      </p:sp>
      <p:sp>
        <p:nvSpPr>
          <p:cNvPr id="3" name="Shape 1"/>
          <p:cNvSpPr/>
          <p:nvPr/>
        </p:nvSpPr>
        <p:spPr>
          <a:xfrm>
            <a:off x="10698480" y="4206240"/>
            <a:ext cx="3108960" cy="3108960"/>
          </a:xfrm>
          <a:prstGeom prst="ellipse">
            <a:avLst/>
          </a:prstGeom>
          <a:solidFill>
            <a:srgbClr val="1F4A2C"/>
          </a:solidFill>
          <a:ln/>
        </p:spPr>
      </p:sp>
      <p:sp>
        <p:nvSpPr>
          <p:cNvPr id="4" name="Text 2"/>
          <p:cNvSpPr/>
          <p:nvPr/>
        </p:nvSpPr>
        <p:spPr>
          <a:xfrm>
            <a:off x="841248" y="1417320"/>
            <a:ext cx="8778240" cy="365760"/>
          </a:xfrm>
          <a:prstGeom prst="rect">
            <a:avLst/>
          </a:prstGeom>
          <a:noFill/>
          <a:ln/>
        </p:spPr>
        <p:txBody>
          <a:bodyPr wrap="square" lIns="0" tIns="0" rIns="0" bIns="0" rtlCol="0" anchor="ctr"/>
          <a:lstStyle/>
          <a:p>
            <a:pPr indent="0" marL="0">
              <a:buNone/>
            </a:pPr>
            <a:r>
              <a:rPr lang="en-US" sz="1400" b="1" spc="200" kern="0" dirty="0">
                <a:solidFill>
                  <a:srgbClr val="6FA368"/>
                </a:solidFill>
                <a:latin typeface="Calibri" pitchFamily="34" charset="0"/>
                <a:ea typeface="Calibri" pitchFamily="34" charset="-122"/>
                <a:cs typeface="Calibri" pitchFamily="34" charset="-120"/>
              </a:rPr>
              <a:t>MODULE 1  ·  120 MINUTES</a:t>
            </a:r>
            <a:endParaRPr lang="en-US" sz="1400" dirty="0"/>
          </a:p>
        </p:txBody>
      </p:sp>
      <p:sp>
        <p:nvSpPr>
          <p:cNvPr id="5" name="Text 3"/>
          <p:cNvSpPr/>
          <p:nvPr/>
        </p:nvSpPr>
        <p:spPr>
          <a:xfrm>
            <a:off x="841248" y="1874520"/>
            <a:ext cx="8778240" cy="17373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Embryo Transfer</a:t>
            </a:r>
            <a:endParaRPr lang="en-US" sz="4400" dirty="0"/>
          </a:p>
        </p:txBody>
      </p:sp>
      <p:sp>
        <p:nvSpPr>
          <p:cNvPr id="6" name="Text 4"/>
          <p:cNvSpPr/>
          <p:nvPr/>
        </p:nvSpPr>
        <p:spPr>
          <a:xfrm>
            <a:off x="841248" y="3703320"/>
            <a:ext cx="8778240" cy="822960"/>
          </a:xfrm>
          <a:prstGeom prst="rect">
            <a:avLst/>
          </a:prstGeom>
          <a:noFill/>
          <a:ln/>
        </p:spPr>
        <p:txBody>
          <a:bodyPr wrap="square" lIns="0" tIns="0" rIns="0" bIns="0" rtlCol="0" anchor="t"/>
          <a:lstStyle/>
          <a:p>
            <a:pPr indent="0" marL="0">
              <a:buNone/>
            </a:pPr>
            <a:r>
              <a:rPr lang="en-US" sz="1600" dirty="0">
                <a:solidFill>
                  <a:srgbClr val="C8D8C6"/>
                </a:solidFill>
                <a:latin typeface="Calibri" pitchFamily="34" charset="0"/>
                <a:ea typeface="Calibri" pitchFamily="34" charset="-122"/>
                <a:cs typeface="Calibri" pitchFamily="34" charset="-120"/>
              </a:rPr>
              <a:t>MOET · OPU–IVF · In Vitro Production · Cryopreservation · Recipients · Transfer</a:t>
            </a:r>
            <a:endParaRPr lang="en-US" sz="1600" dirty="0"/>
          </a:p>
        </p:txBody>
      </p:sp>
      <p:sp>
        <p:nvSpPr>
          <p:cNvPr id="7" name="Text 5"/>
          <p:cNvSpPr/>
          <p:nvPr/>
        </p:nvSpPr>
        <p:spPr>
          <a:xfrm>
            <a:off x="841248" y="5074920"/>
            <a:ext cx="8778240" cy="822960"/>
          </a:xfrm>
          <a:prstGeom prst="rect">
            <a:avLst/>
          </a:prstGeom>
          <a:noFill/>
          <a:ln/>
        </p:spPr>
        <p:txBody>
          <a:bodyPr wrap="square" lIns="0" tIns="0" rIns="0" bIns="0" rtlCol="0" anchor="ctr"/>
          <a:lstStyle/>
          <a:p>
            <a:pPr indent="0" marL="0">
              <a:buNone/>
            </a:pPr>
            <a:r>
              <a:rPr lang="en-US" sz="1350" b="1" dirty="0">
                <a:solidFill>
                  <a:srgbClr val="C8D8C6"/>
                </a:solidFill>
                <a:latin typeface="Calibri" pitchFamily="34" charset="0"/>
                <a:ea typeface="Calibri" pitchFamily="34" charset="-122"/>
                <a:cs typeface="Calibri" pitchFamily="34" charset="-120"/>
              </a:rPr>
              <a:t>Dr. Hyunje Ha, DVM</a:t>
            </a:r>
            <a:endParaRPr lang="en-US" sz="1350" dirty="0"/>
          </a:p>
          <a:p>
            <a:pPr indent="0" marL="0">
              <a:buNone/>
            </a:pPr>
            <a:r>
              <a:rPr lang="en-US" sz="1350" dirty="0">
                <a:solidFill>
                  <a:srgbClr val="C8D8C6"/>
                </a:solidFill>
                <a:latin typeface="Calibri" pitchFamily="34" charset="0"/>
                <a:ea typeface="Calibri" pitchFamily="34" charset="-122"/>
                <a:cs typeface="Calibri" pitchFamily="34" charset="-120"/>
              </a:rPr>
              <a:t>Genetics Co., Ltd.  ·  Korea Animal Hospital  ·  Republic of Korea</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OPENING</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S0   |   2</a:t>
            </a:r>
            <a:endParaRPr lang="en-US" sz="950" dirty="0"/>
          </a:p>
        </p:txBody>
      </p:sp>
      <p:sp>
        <p:nvSpPr>
          <p:cNvPr id="5" name="Text 3"/>
          <p:cNvSpPr/>
          <p:nvPr/>
        </p:nvSpPr>
        <p:spPr>
          <a:xfrm>
            <a:off x="566928" y="1298448"/>
            <a:ext cx="11057839" cy="395732"/>
          </a:xfrm>
          <a:prstGeom prst="rect">
            <a:avLst/>
          </a:prstGeom>
          <a:noFill/>
          <a:ln/>
        </p:spPr>
        <p:txBody>
          <a:bodyPr wrap="square" lIns="0" tIns="0" rIns="0" bIns="0" rtlCol="0" anchor="t"/>
          <a:lstStyle/>
          <a:p>
            <a:pPr indent="0" marL="0">
              <a:buNone/>
            </a:pPr>
            <a:r>
              <a:rPr lang="en-US" dirty="0">
                <a:solidFill>
                  <a:srgbClr val="000000"/>
                </a:solidFill>
              </a:rPr>
              <a:t>Course title · 3 modules · instructor credentials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10058400" y="4572000"/>
            <a:ext cx="3291840" cy="3291840"/>
          </a:xfrm>
          <a:prstGeom prst="ellipse">
            <a:avLst/>
          </a:prstGeom>
          <a:solidFill>
            <a:srgbClr val="14301C"/>
          </a:solidFill>
          <a:ln/>
        </p:spPr>
      </p:sp>
      <p:sp>
        <p:nvSpPr>
          <p:cNvPr id="3" name="Text 1"/>
          <p:cNvSpPr/>
          <p:nvPr/>
        </p:nvSpPr>
        <p:spPr>
          <a:xfrm>
            <a:off x="841248" y="2148840"/>
            <a:ext cx="10058400" cy="411480"/>
          </a:xfrm>
          <a:prstGeom prst="rect">
            <a:avLst/>
          </a:prstGeom>
          <a:noFill/>
          <a:ln/>
        </p:spPr>
        <p:txBody>
          <a:bodyPr wrap="square" lIns="0" tIns="0" rIns="0" bIns="0" rtlCol="0" anchor="ctr"/>
          <a:lstStyle/>
          <a:p>
            <a:pPr indent="0" marL="0">
              <a:buNone/>
            </a:pPr>
            <a:r>
              <a:rPr lang="en-US" sz="1500" b="1" spc="200" kern="0" dirty="0">
                <a:solidFill>
                  <a:srgbClr val="6FA368"/>
                </a:solidFill>
                <a:latin typeface="Calibri" pitchFamily="34" charset="0"/>
                <a:ea typeface="Calibri" pitchFamily="34" charset="-122"/>
                <a:cs typeface="Calibri" pitchFamily="34" charset="-120"/>
              </a:rPr>
              <a:t>PART 1-A</a:t>
            </a:r>
            <a:endParaRPr lang="en-US" sz="1500" dirty="0"/>
          </a:p>
        </p:txBody>
      </p:sp>
      <p:sp>
        <p:nvSpPr>
          <p:cNvPr id="4" name="Text 2"/>
          <p:cNvSpPr/>
          <p:nvPr/>
        </p:nvSpPr>
        <p:spPr>
          <a:xfrm>
            <a:off x="841248" y="2606040"/>
            <a:ext cx="1005840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WHY EMBRYO TRANSFER</a:t>
            </a:r>
            <a:endParaRPr lang="en-US" sz="3800" dirty="0"/>
          </a:p>
        </p:txBody>
      </p:sp>
      <p:sp>
        <p:nvSpPr>
          <p:cNvPr id="5" name="Text 3"/>
          <p:cNvSpPr/>
          <p:nvPr/>
        </p:nvSpPr>
        <p:spPr>
          <a:xfrm>
            <a:off x="841248" y="4160520"/>
            <a:ext cx="10058400" cy="457200"/>
          </a:xfrm>
          <a:prstGeom prst="rect">
            <a:avLst/>
          </a:prstGeom>
          <a:noFill/>
          <a:ln/>
        </p:spPr>
        <p:txBody>
          <a:bodyPr wrap="square" lIns="0" tIns="0" rIns="0" bIns="0" rtlCol="0" anchor="ctr"/>
          <a:lstStyle/>
          <a:p>
            <a:pPr indent="0" marL="0">
              <a:buNone/>
            </a:pPr>
            <a:r>
              <a:rPr lang="en-US" sz="1500" dirty="0">
                <a:solidFill>
                  <a:srgbClr val="C8D8C6"/>
                </a:solidFill>
                <a:latin typeface="Calibri" pitchFamily="34" charset="0"/>
                <a:ea typeface="Calibri" pitchFamily="34" charset="-122"/>
                <a:cs typeface="Calibri" pitchFamily="34" charset="-120"/>
              </a:rPr>
              <a:t>20 min, S1–S6</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The fundamental limitation of AI</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   |   3</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4619097"/>
                <a:gridCol w="3779261"/>
                <a:gridCol w="2659480"/>
              </a:tblGrid>
              <a:tr h="398399">
                <a:tc>
                  <a:txBody>
                    <a:bodyPr/>
                    <a:lstStyle/>
                    <a:p>
                      <a:pPr indent="0" marL="0">
                        <a:buNone/>
                      </a:pPr>
                      <a:r>
                        <a:rPr lang="en-US" sz="1200" dirty="0">
                          <a:solidFill>
                            <a:srgbClr val="000000"/>
                          </a:solidFill>
                        </a:rPr>
                        <a:t> </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Artificial Insemination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Embryo Transfer</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Genetic contribution controlled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Sire only — 50%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Sire </a:t>
                      </a:r>
                      <a:pPr indent="0" marL="0">
                        <a:buNone/>
                      </a:pPr>
                      <a:r>
                        <a:rPr lang="en-US" sz="1200" dirty="0">
                          <a:solidFill>
                            <a:srgbClr val="000000"/>
                          </a:solidFill>
                        </a:rPr>
                        <a:t>and</a:t>
                      </a:r>
                      <a:pPr indent="0" marL="0">
                        <a:buNone/>
                      </a:pPr>
                      <a:r>
                        <a:rPr lang="en-US" sz="1200" dirty="0">
                          <a:solidFill>
                            <a:srgbClr val="000000"/>
                          </a:solidFill>
                        </a:rPr>
                        <a:t> dam — 100%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Progeny per elite female per year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1</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10–30+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Speed of herd genetic gain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baseline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2–4×</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Can it fix a poor female base?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No — only dilutes it slowly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Yes — replaces it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The genetic gain equation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   |   4</a:t>
            </a:r>
            <a:endParaRPr lang="en-US" sz="950" dirty="0"/>
          </a:p>
        </p:txBody>
      </p:sp>
      <p:sp>
        <p:nvSpPr>
          <p:cNvPr id="5" name="Text 3"/>
          <p:cNvSpPr/>
          <p:nvPr/>
        </p:nvSpPr>
        <p:spPr>
          <a:xfrm>
            <a:off x="566928" y="1298448"/>
            <a:ext cx="11057839" cy="626872"/>
          </a:xfrm>
          <a:prstGeom prst="rect">
            <a:avLst/>
          </a:prstGeom>
          <a:noFill/>
          <a:ln/>
        </p:spPr>
        <p:txBody>
          <a:bodyPr wrap="square" lIns="0" tIns="0" rIns="0" bIns="0" rtlCol="0" anchor="t"/>
          <a:lstStyle/>
          <a:p>
            <a:pPr indent="0" marL="0">
              <a:buNone/>
            </a:pPr>
            <a:r>
              <a:rPr lang="en-US" dirty="0">
                <a:solidFill>
                  <a:srgbClr val="000000"/>
                </a:solidFill>
              </a:rPr>
              <a:t>ΔG = ( i × r × σ ) ÷ L where i = selection intensity · r = accuracy of selection · σ = genetic variation · L = generation interval</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Why this matters specifically in the Philippines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   |   5</a:t>
            </a:r>
            <a:endParaRPr lang="en-US" sz="950" dirty="0"/>
          </a:p>
        </p:txBody>
      </p:sp>
      <p:sp>
        <p:nvSpPr>
          <p:cNvPr id="5" name="Text 3"/>
          <p:cNvSpPr/>
          <p:nvPr/>
        </p:nvSpPr>
        <p:spPr>
          <a:xfrm>
            <a:off x="621792" y="1298448"/>
            <a:ext cx="11002975" cy="170434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Limiting factor in tropical dairy = </a:t>
            </a:r>
            <a:pPr indent="0" marL="0">
              <a:buNone/>
            </a:pPr>
            <a:r>
              <a:rPr lang="en-US" dirty="0">
                <a:solidFill>
                  <a:srgbClr val="000000"/>
                </a:solidFill>
              </a:rPr>
              <a:t>female genetic base</a:t>
            </a:r>
            <a:pPr indent="0" marL="0">
              <a:buNone/>
            </a:pPr>
            <a:r>
              <a:rPr lang="en-US" dirty="0">
                <a:solidFill>
                  <a:srgbClr val="000000"/>
                </a:solidFill>
              </a:rPr>
              <a:t>, not semen access</a:t>
            </a:r>
            <a:endParaRPr lang="en-US" dirty="0"/>
          </a:p>
          <a:p>
            <a:pPr marL="342900" indent="-342900">
              <a:spcAft>
                <a:spcPts val="500"/>
              </a:spcAft>
              <a:buSzPct val="100000"/>
              <a:buChar char="•"/>
            </a:pPr>
            <a:r>
              <a:rPr lang="en-US" dirty="0">
                <a:solidFill>
                  <a:srgbClr val="000000"/>
                </a:solidFill>
              </a:rPr>
              <a:t>Live heifer import: expensive, transport loss, poor adaptation on arrival</a:t>
            </a:r>
            <a:endParaRPr lang="en-US" dirty="0"/>
          </a:p>
          <a:p>
            <a:pPr marL="342900" indent="-342900">
              <a:spcAft>
                <a:spcPts val="500"/>
              </a:spcAft>
              <a:buSzPct val="100000"/>
              <a:buChar char="•"/>
            </a:pPr>
            <a:r>
              <a:rPr lang="en-US" dirty="0">
                <a:solidFill>
                  <a:srgbClr val="000000"/>
                </a:solidFill>
              </a:rPr>
              <a:t>Frozen embryo import: low cost per genetic unit, no live-animal stress, </a:t>
            </a:r>
            <a:pPr indent="0" marL="0">
              <a:buNone/>
            </a:pPr>
            <a:r>
              <a:rPr lang="en-US" dirty="0">
                <a:solidFill>
                  <a:srgbClr val="000000"/>
                </a:solidFill>
              </a:rPr>
              <a:t>calf born and raised in Philippine conditions from day one</a:t>
            </a:r>
            <a:endParaRPr lang="en-US" dirty="0"/>
          </a:p>
          <a:p>
            <a:pPr marL="342900" indent="-342900">
              <a:spcAft>
                <a:spcPts val="500"/>
              </a:spcAft>
              <a:buSzPct val="100000"/>
              <a:buChar char="•"/>
            </a:pPr>
            <a:r>
              <a:rPr lang="en-US" dirty="0">
                <a:solidFill>
                  <a:srgbClr val="000000"/>
                </a:solidFill>
              </a:rPr>
              <a:t>Recipient = any healthy local cow you already own</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The one economic number that matters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S4   |   6</a:t>
            </a:r>
            <a:endParaRPr lang="en-US" sz="950" dirty="0"/>
          </a:p>
        </p:txBody>
      </p:sp>
      <p:sp>
        <p:nvSpPr>
          <p:cNvPr id="5" name="Text 3"/>
          <p:cNvSpPr/>
          <p:nvPr/>
        </p:nvSpPr>
        <p:spPr>
          <a:xfrm>
            <a:off x="566928" y="1298448"/>
            <a:ext cx="11057839" cy="395732"/>
          </a:xfrm>
          <a:prstGeom prst="rect">
            <a:avLst/>
          </a:prstGeom>
          <a:noFill/>
          <a:ln/>
        </p:spPr>
        <p:txBody>
          <a:bodyPr wrap="square" lIns="0" tIns="0" rIns="0" bIns="0" rtlCol="0" anchor="t"/>
          <a:lstStyle/>
          <a:p>
            <a:pPr indent="0" marL="0">
              <a:buNone/>
            </a:pPr>
            <a:r>
              <a:rPr lang="en-US" dirty="0">
                <a:solidFill>
                  <a:srgbClr val="000000"/>
                </a:solidFill>
              </a:rPr>
              <a:t>Cost per pregnancy = ( embryo + synchronization + technician ) ÷ pregnancy rate</a:t>
            </a:r>
            <a:endParaRPr lang="en-US"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840484"/>
          <a:ext cx="11057839" cy="914400"/>
        </p:xfrm>
        <a:graphic>
          <a:graphicData uri="http://schemas.openxmlformats.org/drawingml/2006/table">
            <a:tbl>
              <a:tblPr/>
              <a:tblGrid>
                <a:gridCol w="3775848"/>
                <a:gridCol w="7281992"/>
              </a:tblGrid>
              <a:tr h="398399">
                <a:tc>
                  <a:txBody>
                    <a:bodyPr/>
                    <a:lstStyle/>
                    <a:p>
                      <a:pPr indent="0" marL="0">
                        <a:buNone/>
                      </a:pPr>
                      <a:r>
                        <a:rPr lang="en-US" sz="1200" dirty="0">
                          <a:solidFill>
                            <a:srgbClr val="000000"/>
                          </a:solidFill>
                        </a:rPr>
                        <a:t>Pregnancy rate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Relative cost per pregnancy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40%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250 units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50%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200 units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60%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167 units (−17% vs 50%)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Two production routes — the map for today</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S5   |   7</a:t>
            </a:r>
            <a:endParaRPr lang="en-US" sz="950" dirty="0"/>
          </a:p>
        </p:txBody>
      </p:sp>
      <p:sp>
        <p:nvSpPr>
          <p:cNvPr id="5" name="Shape 3"/>
          <p:cNvSpPr/>
          <p:nvPr/>
        </p:nvSpPr>
        <p:spPr>
          <a:xfrm>
            <a:off x="566928" y="1298448"/>
            <a:ext cx="11057839" cy="1712976"/>
          </a:xfrm>
          <a:prstGeom prst="roundRect">
            <a:avLst>
              <a:gd name="adj" fmla="val 4270"/>
            </a:avLst>
          </a:prstGeom>
          <a:solidFill>
            <a:srgbClr val="F3F6F2"/>
          </a:solidFill>
          <a:ln w="9525">
            <a:solidFill>
              <a:srgbClr val="D4DCD5"/>
            </a:solidFill>
            <a:prstDash val="solid"/>
          </a:ln>
        </p:spPr>
      </p:sp>
      <p:sp>
        <p:nvSpPr>
          <p:cNvPr id="6" name="Text 4"/>
          <p:cNvSpPr/>
          <p:nvPr/>
        </p:nvSpPr>
        <p:spPr>
          <a:xfrm>
            <a:off x="749808" y="1444752"/>
            <a:ext cx="10692079" cy="1420368"/>
          </a:xfrm>
          <a:prstGeom prst="rect">
            <a:avLst/>
          </a:prstGeom>
          <a:noFill/>
          <a:ln/>
        </p:spPr>
        <p:txBody>
          <a:bodyPr wrap="square" lIns="0" tIns="0" rIns="0" bIns="0" rtlCol="0" anchor="t"/>
          <a:lstStyle/>
          <a:p>
            <a:pPr indent="0" marL="0">
              <a:buNone/>
            </a:pPr>
            <a:r>
              <a:rPr lang="en-US" sz="1000" dirty="0">
                <a:solidFill>
                  <a:srgbClr val="14301C"/>
                </a:solidFill>
                <a:latin typeface="Courier New" pitchFamily="34" charset="0"/>
                <a:ea typeface="Courier New" pitchFamily="34" charset="-122"/>
                <a:cs typeface="Courier New" pitchFamily="34" charset="-120"/>
              </a:rPr>
              <a:t>ROUTE A — IN VIVO (MOET) ROUTE B — IN VITRO (OPU–IVP)</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Donor cow Donor cow / heifer / pregnant cow</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 superovulation (FSH) ↓ OPU (transvaginal aspiration)</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 AI × 2–3 ↓ oocytes (COCs)</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 Day 7 uterine flush ↓ IVM 22–24 h</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 embryo evaluation ↓ IVF 18–22 h</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 IVC 6–7 days</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 Day-7 embryo → Day 7–8 blastocyst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Which route is used for what</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S6   |   8</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2863191"/>
                <a:gridCol w="4936535"/>
                <a:gridCol w="3258113"/>
              </a:tblGrid>
              <a:tr h="398399">
                <a:tc>
                  <a:txBody>
                    <a:bodyPr/>
                    <a:lstStyle/>
                    <a:p>
                      <a:pPr indent="0" marL="0">
                        <a:buNone/>
                      </a:pPr>
                      <a:r>
                        <a:rPr lang="en-US" sz="1200" dirty="0">
                          <a:solidFill>
                            <a:srgbClr val="000000"/>
                          </a:solidFill>
                        </a:rPr>
                        <a:t> </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MOET (in vivo)</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OPU–IVP (in vitro)</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Hormone load on donor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High (FSH superovulation)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Low or none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Frequency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Every 60 days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1–2× per week</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Transferable embryos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~5–8 per flush </a:t>
                      </a:r>
                      <a:pPr indent="0" marL="0">
                        <a:buNone/>
                      </a:pPr>
                      <a:r>
                        <a:rPr lang="en-US" sz="1200" dirty="0">
                          <a:solidFill>
                            <a:srgbClr val="000000"/>
                          </a:solidFill>
                        </a:rPr>
                        <a:t>(published range, high variability)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~2–6 per session, repeatable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Semen efficiency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2–3 straws per flush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1 straw → many oocytes fertilized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Sexed semen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Less efficient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Highly efficient — standard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Prepubertal / pregnant donors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No</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Yes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Cryotolerance of the embryo</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Good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Lower — usually vitrified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10058400" y="4572000"/>
            <a:ext cx="3291840" cy="3291840"/>
          </a:xfrm>
          <a:prstGeom prst="ellipse">
            <a:avLst/>
          </a:prstGeom>
          <a:solidFill>
            <a:srgbClr val="14301C"/>
          </a:solidFill>
          <a:ln/>
        </p:spPr>
      </p:sp>
      <p:sp>
        <p:nvSpPr>
          <p:cNvPr id="3" name="Text 1"/>
          <p:cNvSpPr/>
          <p:nvPr/>
        </p:nvSpPr>
        <p:spPr>
          <a:xfrm>
            <a:off x="841248" y="2148840"/>
            <a:ext cx="10058400" cy="411480"/>
          </a:xfrm>
          <a:prstGeom prst="rect">
            <a:avLst/>
          </a:prstGeom>
          <a:noFill/>
          <a:ln/>
        </p:spPr>
        <p:txBody>
          <a:bodyPr wrap="square" lIns="0" tIns="0" rIns="0" bIns="0" rtlCol="0" anchor="ctr"/>
          <a:lstStyle/>
          <a:p>
            <a:pPr indent="0" marL="0">
              <a:buNone/>
            </a:pPr>
            <a:r>
              <a:rPr lang="en-US" sz="1500" b="1" spc="200" kern="0" dirty="0">
                <a:solidFill>
                  <a:srgbClr val="6FA368"/>
                </a:solidFill>
                <a:latin typeface="Calibri" pitchFamily="34" charset="0"/>
                <a:ea typeface="Calibri" pitchFamily="34" charset="-122"/>
                <a:cs typeface="Calibri" pitchFamily="34" charset="-120"/>
              </a:rPr>
              <a:t>PART 1-B</a:t>
            </a:r>
            <a:endParaRPr lang="en-US" sz="1500" dirty="0"/>
          </a:p>
        </p:txBody>
      </p:sp>
      <p:sp>
        <p:nvSpPr>
          <p:cNvPr id="4" name="Text 2"/>
          <p:cNvSpPr/>
          <p:nvPr/>
        </p:nvSpPr>
        <p:spPr>
          <a:xfrm>
            <a:off x="841248" y="2606040"/>
            <a:ext cx="1005840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MOET — SUPEROVULATION AND FLUSHING</a:t>
            </a:r>
            <a:endParaRPr lang="en-US" sz="3800" dirty="0"/>
          </a:p>
        </p:txBody>
      </p:sp>
      <p:sp>
        <p:nvSpPr>
          <p:cNvPr id="5" name="Text 3"/>
          <p:cNvSpPr/>
          <p:nvPr/>
        </p:nvSpPr>
        <p:spPr>
          <a:xfrm>
            <a:off x="841248" y="4160520"/>
            <a:ext cx="10058400" cy="457200"/>
          </a:xfrm>
          <a:prstGeom prst="rect">
            <a:avLst/>
          </a:prstGeom>
          <a:noFill/>
          <a:ln/>
        </p:spPr>
        <p:txBody>
          <a:bodyPr wrap="square" lIns="0" tIns="0" rIns="0" bIns="0" rtlCol="0" anchor="ctr"/>
          <a:lstStyle/>
          <a:p>
            <a:pPr indent="0" marL="0">
              <a:buNone/>
            </a:pPr>
            <a:r>
              <a:rPr lang="en-US" sz="1500" dirty="0">
                <a:solidFill>
                  <a:srgbClr val="C8D8C6"/>
                </a:solidFill>
                <a:latin typeface="Calibri" pitchFamily="34" charset="0"/>
                <a:ea typeface="Calibri" pitchFamily="34" charset="-122"/>
                <a:cs typeface="Calibri" pitchFamily="34" charset="-120"/>
              </a:rPr>
              <a:t>30 min, S7–S15</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Donor selection — you cannot fix a bad donor</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S7   |   9</a:t>
            </a:r>
            <a:endParaRPr lang="en-US" sz="950" dirty="0"/>
          </a:p>
        </p:txBody>
      </p:sp>
      <p:sp>
        <p:nvSpPr>
          <p:cNvPr id="5" name="Text 3"/>
          <p:cNvSpPr/>
          <p:nvPr/>
        </p:nvSpPr>
        <p:spPr>
          <a:xfrm>
            <a:off x="566928" y="1298448"/>
            <a:ext cx="11057839" cy="395732"/>
          </a:xfrm>
          <a:prstGeom prst="rect">
            <a:avLst/>
          </a:prstGeom>
          <a:noFill/>
          <a:ln/>
        </p:spPr>
        <p:txBody>
          <a:bodyPr wrap="square" lIns="0" tIns="0" rIns="0" bIns="0" rtlCol="0" anchor="t"/>
          <a:lstStyle/>
          <a:p>
            <a:pPr indent="0" marL="0">
              <a:buNone/>
            </a:pPr>
            <a:r>
              <a:rPr lang="en-US" dirty="0">
                <a:solidFill>
                  <a:srgbClr val="000000"/>
                </a:solidFill>
              </a:rPr>
              <a:t>Donor criteria</a:t>
            </a:r>
            <a:endParaRPr lang="en-US" dirty="0"/>
          </a:p>
        </p:txBody>
      </p:sp>
      <p:sp>
        <p:nvSpPr>
          <p:cNvPr id="6" name="Text 4"/>
          <p:cNvSpPr/>
          <p:nvPr/>
        </p:nvSpPr>
        <p:spPr>
          <a:xfrm>
            <a:off x="621792" y="1840484"/>
            <a:ext cx="11002975" cy="2468372"/>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dirty="0">
                <a:solidFill>
                  <a:srgbClr val="000000"/>
                </a:solidFill>
              </a:rPr>
              <a:t>Proven genetic merit (genomic or progeny evaluation) — </a:t>
            </a:r>
            <a:pPr indent="0" marL="0">
              <a:buNone/>
            </a:pPr>
            <a:r>
              <a:rPr lang="en-US" dirty="0">
                <a:solidFill>
                  <a:srgbClr val="000000"/>
                </a:solidFill>
              </a:rPr>
              <a:t>this is the whole point</a:t>
            </a:r>
            <a:endParaRPr lang="en-US" dirty="0"/>
          </a:p>
          <a:p>
            <a:pPr marL="342900" indent="-342900">
              <a:spcAft>
                <a:spcPts val="500"/>
              </a:spcAft>
              <a:buSzPct val="100000"/>
              <a:buFont typeface="+mj-lt"/>
              <a:buAutoNum type="arabicPeriod" startAt="1"/>
            </a:pPr>
            <a:r>
              <a:rPr lang="en-US" dirty="0">
                <a:solidFill>
                  <a:srgbClr val="000000"/>
                </a:solidFill>
              </a:rPr>
              <a:t>≥ 60 days postpartum, cycling normally, at least one recorded estrus</a:t>
            </a:r>
            <a:endParaRPr lang="en-US" dirty="0"/>
          </a:p>
          <a:p>
            <a:pPr marL="342900" indent="-342900">
              <a:spcAft>
                <a:spcPts val="500"/>
              </a:spcAft>
              <a:buSzPct val="100000"/>
              <a:buFont typeface="+mj-lt"/>
              <a:buAutoNum type="arabicPeriod" startAt="1"/>
            </a:pPr>
            <a:r>
              <a:rPr lang="en-US" dirty="0">
                <a:solidFill>
                  <a:srgbClr val="000000"/>
                </a:solidFill>
              </a:rPr>
              <a:t>BCS 3.0–3.5</a:t>
            </a:r>
            <a:pPr indent="0" marL="0">
              <a:buNone/>
            </a:pPr>
            <a:r>
              <a:rPr lang="en-US" dirty="0">
                <a:solidFill>
                  <a:srgbClr val="000000"/>
                </a:solidFill>
              </a:rPr>
              <a:t> (5-point scale), stable or rising</a:t>
            </a:r>
            <a:endParaRPr lang="en-US" dirty="0"/>
          </a:p>
          <a:p>
            <a:pPr marL="342900" indent="-342900">
              <a:spcAft>
                <a:spcPts val="500"/>
              </a:spcAft>
              <a:buSzPct val="100000"/>
              <a:buFont typeface="+mj-lt"/>
              <a:buAutoNum type="arabicPeriod" startAt="1"/>
            </a:pPr>
            <a:r>
              <a:rPr lang="en-US" dirty="0">
                <a:solidFill>
                  <a:srgbClr val="000000"/>
                </a:solidFill>
              </a:rPr>
              <a:t>No reproductive pathology — normal tract on palpation and ultrasound</a:t>
            </a:r>
            <a:endParaRPr lang="en-US" dirty="0"/>
          </a:p>
          <a:p>
            <a:pPr marL="342900" indent="-342900">
              <a:spcAft>
                <a:spcPts val="500"/>
              </a:spcAft>
              <a:buSzPct val="100000"/>
              <a:buFont typeface="+mj-lt"/>
              <a:buAutoNum type="arabicPeriod" startAt="1"/>
            </a:pPr>
            <a:r>
              <a:rPr lang="en-US" dirty="0">
                <a:solidFill>
                  <a:srgbClr val="000000"/>
                </a:solidFill>
              </a:rPr>
              <a:t>Free of infectious disease relevant to embryo export (BVD, IBR, brucellosis, leptospirosis, tuberculosis)</a:t>
            </a:r>
            <a:endParaRPr lang="en-US" dirty="0"/>
          </a:p>
          <a:p>
            <a:pPr marL="342900" indent="-342900">
              <a:spcAft>
                <a:spcPts val="500"/>
              </a:spcAft>
              <a:buSzPct val="100000"/>
              <a:buFont typeface="+mj-lt"/>
              <a:buAutoNum type="arabicPeriod" startAt="1"/>
            </a:pPr>
            <a:r>
              <a:rPr lang="en-US" dirty="0">
                <a:solidFill>
                  <a:srgbClr val="000000"/>
                </a:solidFill>
              </a:rPr>
              <a:t>Not a repeat-breeder with unexplained fertilization failure</a:t>
            </a:r>
            <a:endParaRPr lang="en-US" dirty="0"/>
          </a:p>
          <a:p>
            <a:pPr marL="342900" indent="-342900">
              <a:spcAft>
                <a:spcPts val="500"/>
              </a:spcAft>
              <a:buSzPct val="100000"/>
              <a:buFont typeface="+mj-lt"/>
              <a:buAutoNum type="arabicPeriod" startAt="1"/>
            </a:pPr>
            <a:r>
              <a:rPr lang="en-US" dirty="0">
                <a:solidFill>
                  <a:srgbClr val="000000"/>
                </a:solidFill>
              </a:rPr>
              <a:t>Good handling temperament — she will be handled many times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Superovulation — the principle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S8   |   10</a:t>
            </a:r>
            <a:endParaRPr lang="en-US" sz="950" dirty="0"/>
          </a:p>
        </p:txBody>
      </p:sp>
      <p:sp>
        <p:nvSpPr>
          <p:cNvPr id="5" name="Text 3"/>
          <p:cNvSpPr/>
          <p:nvPr/>
        </p:nvSpPr>
        <p:spPr>
          <a:xfrm>
            <a:off x="566928" y="1298448"/>
            <a:ext cx="11057839" cy="626872"/>
          </a:xfrm>
          <a:prstGeom prst="rect">
            <a:avLst/>
          </a:prstGeom>
          <a:noFill/>
          <a:ln/>
        </p:spPr>
        <p:txBody>
          <a:bodyPr wrap="square" lIns="0" tIns="0" rIns="0" bIns="0" rtlCol="0" anchor="t"/>
          <a:lstStyle/>
          <a:p>
            <a:pPr indent="0" marL="0">
              <a:buNone/>
            </a:pPr>
            <a:r>
              <a:rPr lang="en-US" dirty="0">
                <a:solidFill>
                  <a:srgbClr val="000000"/>
                </a:solidFill>
              </a:rPr>
              <a:t>Normal cycle: FSH surge → recruit a cohort → </a:t>
            </a:r>
            <a:pPr indent="0" marL="0">
              <a:buNone/>
            </a:pPr>
            <a:r>
              <a:rPr lang="en-US" dirty="0">
                <a:solidFill>
                  <a:srgbClr val="000000"/>
                </a:solidFill>
              </a:rPr>
              <a:t>one dominant follicle</a:t>
            </a:r>
            <a:pPr indent="0" marL="0">
              <a:buNone/>
            </a:pPr>
            <a:r>
              <a:rPr lang="en-US" dirty="0">
                <a:solidFill>
                  <a:srgbClr val="000000"/>
                </a:solidFill>
              </a:rPr>
              <a:t> → others regress (atresia) Superovulation: </a:t>
            </a:r>
            <a:pPr indent="0" marL="0">
              <a:buNone/>
            </a:pPr>
            <a:r>
              <a:rPr lang="en-US" dirty="0">
                <a:solidFill>
                  <a:srgbClr val="000000"/>
                </a:solidFill>
              </a:rPr>
              <a:t>sustained exogenous FSH</a:t>
            </a:r>
            <a:pPr indent="0" marL="0">
              <a:buNone/>
            </a:pPr>
            <a:r>
              <a:rPr lang="en-US" dirty="0">
                <a:solidFill>
                  <a:srgbClr val="000000"/>
                </a:solidFill>
              </a:rPr>
              <a:t> → rescue the whole cohort from atresia → many follicles ovulate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Superovulation protocol — the conventional standard</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S9   |   11</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4253015"/>
                <a:gridCol w="6804824"/>
              </a:tblGrid>
              <a:tr h="398399">
                <a:tc>
                  <a:txBody>
                    <a:bodyPr/>
                    <a:lstStyle/>
                    <a:p>
                      <a:pPr indent="0" marL="0">
                        <a:buNone/>
                      </a:pPr>
                      <a:r>
                        <a:rPr lang="en-US" sz="1200" dirty="0">
                          <a:solidFill>
                            <a:srgbClr val="000000"/>
                          </a:solidFill>
                        </a:rPr>
                        <a:t>Day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Action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Day 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Detected estrus (or synchronized)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Day 8–12 of the cycle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Start FSH — twice daily (AM/PM), 4 days, decreasing dose</a:t>
                      </a:r>
                      <a:pPr indent="0" marL="0">
                        <a:buNone/>
                      </a:pPr>
                      <a:r>
                        <a:rPr lang="en-US" sz="1200" dirty="0">
                          <a:solidFill>
                            <a:srgbClr val="000000"/>
                          </a:solidFill>
                        </a:rPr>
                        <a:t> (total ~8 injections)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Day 3 of FSH (6th–7th injection)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PGF2α</a:t>
                      </a:r>
                      <a:pPr indent="0" marL="0">
                        <a:buNone/>
                      </a:pPr>
                      <a:r>
                        <a:rPr lang="en-US" sz="1200" dirty="0">
                          <a:solidFill>
                            <a:srgbClr val="000000"/>
                          </a:solidFill>
                        </a:rPr>
                        <a:t> (often split into two doses 12 h apart)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~48 h after PGF</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Onset of estrus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Estrus + 12 h and + 24 h (± + 36 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AI, 2 straws each time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Day 7 after first AI</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Uterine flush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Modern refinements to superovulation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S10   |   12</a:t>
            </a:r>
            <a:endParaRPr lang="en-US" sz="950" dirty="0"/>
          </a:p>
        </p:txBody>
      </p:sp>
      <p:sp>
        <p:nvSpPr>
          <p:cNvPr id="5" name="Text 3"/>
          <p:cNvSpPr/>
          <p:nvPr/>
        </p:nvSpPr>
        <p:spPr>
          <a:xfrm>
            <a:off x="621792" y="1298448"/>
            <a:ext cx="11002975" cy="2267204"/>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Wave-synchronized start</a:t>
            </a:r>
            <a:pPr indent="0" marL="0">
              <a:buNone/>
            </a:pPr>
            <a:r>
              <a:rPr lang="en-US" dirty="0">
                <a:solidFill>
                  <a:srgbClr val="000000"/>
                </a:solidFill>
              </a:rPr>
              <a:t> — begin FSH at induced wave emergence (GnRH, or ultrasound-guided follicle ablation, or after a P4 device) instead of "day 8–12 by calendar"</a:t>
            </a:r>
            <a:endParaRPr lang="en-US" dirty="0"/>
          </a:p>
          <a:p>
            <a:pPr marL="342900" indent="-342900">
              <a:spcAft>
                <a:spcPts val="500"/>
              </a:spcAft>
              <a:buSzPct val="100000"/>
              <a:buChar char="•"/>
            </a:pPr>
            <a:r>
              <a:rPr lang="en-US" dirty="0">
                <a:solidFill>
                  <a:srgbClr val="000000"/>
                </a:solidFill>
              </a:rPr>
              <a:t>Progesterone device</a:t>
            </a:r>
            <a:pPr indent="0" marL="0">
              <a:buNone/>
            </a:pPr>
            <a:r>
              <a:rPr lang="en-US" dirty="0">
                <a:solidFill>
                  <a:srgbClr val="000000"/>
                </a:solidFill>
              </a:rPr>
              <a:t> during FSH — prevents premature LH surge and premature estrus</a:t>
            </a:r>
            <a:endParaRPr lang="en-US" dirty="0"/>
          </a:p>
          <a:p>
            <a:pPr marL="342900" indent="-342900">
              <a:spcAft>
                <a:spcPts val="500"/>
              </a:spcAft>
              <a:buSzPct val="100000"/>
              <a:buChar char="•"/>
            </a:pPr>
            <a:r>
              <a:rPr lang="en-US" dirty="0">
                <a:solidFill>
                  <a:srgbClr val="000000"/>
                </a:solidFill>
              </a:rPr>
              <a:t>Single-injection / split-single FSH</a:t>
            </a:r>
            <a:pPr indent="0" marL="0">
              <a:buNone/>
            </a:pPr>
            <a:r>
              <a:rPr lang="en-US" dirty="0">
                <a:solidFill>
                  <a:srgbClr val="000000"/>
                </a:solidFill>
              </a:rPr>
              <a:t> in slow-release vehicle (e.g. hyaluronan) — reduces 8 injections to 1–2 </a:t>
            </a:r>
            <a:pPr indent="0" marL="0">
              <a:buNone/>
            </a:pPr>
            <a:r>
              <a:rPr lang="en-US" dirty="0">
                <a:solidFill>
                  <a:srgbClr val="000000"/>
                </a:solidFill>
              </a:rPr>
              <a:t>(published; product availability varies)</a:t>
            </a:r>
            <a:endParaRPr lang="en-US" dirty="0"/>
          </a:p>
          <a:p>
            <a:pPr marL="342900" indent="-342900">
              <a:spcAft>
                <a:spcPts val="500"/>
              </a:spcAft>
              <a:buSzPct val="100000"/>
              <a:buChar char="•"/>
            </a:pPr>
            <a:r>
              <a:rPr lang="en-US" dirty="0">
                <a:solidFill>
                  <a:srgbClr val="000000"/>
                </a:solidFill>
              </a:rPr>
              <a:t>GnRH or hCG at estrus</a:t>
            </a:r>
            <a:pPr indent="0" marL="0">
              <a:buNone/>
            </a:pPr>
            <a:r>
              <a:rPr lang="en-US" dirty="0">
                <a:solidFill>
                  <a:srgbClr val="000000"/>
                </a:solidFill>
              </a:rPr>
              <a:t> — improves synchrony of ovulation</a:t>
            </a:r>
            <a:endParaRPr lang="en-US" dirty="0"/>
          </a:p>
          <a:p>
            <a:pPr marL="342900" indent="-342900">
              <a:spcAft>
                <a:spcPts val="500"/>
              </a:spcAft>
              <a:buSzPct val="100000"/>
              <a:buChar char="•"/>
            </a:pPr>
            <a:r>
              <a:rPr lang="en-US" dirty="0">
                <a:solidFill>
                  <a:srgbClr val="000000"/>
                </a:solidFill>
              </a:rPr>
              <a:t>Donor nutrition</a:t>
            </a:r>
            <a:pPr indent="0" marL="0">
              <a:buNone/>
            </a:pPr>
            <a:r>
              <a:rPr lang="en-US" dirty="0">
                <a:solidFill>
                  <a:srgbClr val="000000"/>
                </a:solidFill>
              </a:rPr>
              <a:t> — stable energy balance, adequate protein, trace minerals (Se, Cu, Zn), before and during treatment</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Uterine flushing — the procedure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S11   |   13</a:t>
            </a:r>
            <a:endParaRPr lang="en-US" sz="950" dirty="0"/>
          </a:p>
        </p:txBody>
      </p:sp>
      <p:sp>
        <p:nvSpPr>
          <p:cNvPr id="5" name="Text 3"/>
          <p:cNvSpPr/>
          <p:nvPr/>
        </p:nvSpPr>
        <p:spPr>
          <a:xfrm>
            <a:off x="621792" y="1298448"/>
            <a:ext cx="11002975" cy="31318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dirty="0">
                <a:solidFill>
                  <a:srgbClr val="000000"/>
                </a:solidFill>
              </a:rPr>
              <a:t>Epidural</a:t>
            </a:r>
            <a:pPr indent="0" marL="0">
              <a:buNone/>
            </a:pPr>
            <a:r>
              <a:rPr lang="en-US" dirty="0">
                <a:solidFill>
                  <a:srgbClr val="000000"/>
                </a:solidFill>
              </a:rPr>
              <a:t> — 4–5 mL 2% lidocaine</a:t>
            </a:r>
            <a:endParaRPr lang="en-US" dirty="0"/>
          </a:p>
          <a:p>
            <a:pPr marL="342900" indent="-342900">
              <a:spcAft>
                <a:spcPts val="500"/>
              </a:spcAft>
              <a:buSzPct val="100000"/>
              <a:buFont typeface="+mj-lt"/>
              <a:buAutoNum type="arabicPeriod" startAt="1"/>
            </a:pPr>
            <a:r>
              <a:rPr lang="en-US" dirty="0">
                <a:solidFill>
                  <a:srgbClr val="000000"/>
                </a:solidFill>
              </a:rPr>
              <a:t>Clean and dry the perineum; sterile technique from here on</a:t>
            </a:r>
            <a:endParaRPr lang="en-US" dirty="0"/>
          </a:p>
          <a:p>
            <a:pPr marL="342900" indent="-342900">
              <a:spcAft>
                <a:spcPts val="500"/>
              </a:spcAft>
              <a:buSzPct val="100000"/>
              <a:buFont typeface="+mj-lt"/>
              <a:buAutoNum type="arabicPeriod" startAt="1"/>
            </a:pPr>
            <a:r>
              <a:rPr lang="en-US" dirty="0">
                <a:solidFill>
                  <a:srgbClr val="000000"/>
                </a:solidFill>
              </a:rPr>
              <a:t>Pass a </a:t>
            </a:r>
            <a:pPr indent="0" marL="0">
              <a:buNone/>
            </a:pPr>
            <a:r>
              <a:rPr lang="en-US" dirty="0">
                <a:solidFill>
                  <a:srgbClr val="000000"/>
                </a:solidFill>
              </a:rPr>
              <a:t>two-way or three-way Foley catheter</a:t>
            </a:r>
            <a:pPr indent="0" marL="0">
              <a:buNone/>
            </a:pPr>
            <a:r>
              <a:rPr lang="en-US" dirty="0">
                <a:solidFill>
                  <a:srgbClr val="000000"/>
                </a:solidFill>
              </a:rPr>
              <a:t> through the cervix into one uterine horn</a:t>
            </a:r>
            <a:endParaRPr lang="en-US" dirty="0"/>
          </a:p>
          <a:p>
            <a:pPr marL="342900" indent="-342900">
              <a:spcAft>
                <a:spcPts val="500"/>
              </a:spcAft>
              <a:buSzPct val="100000"/>
              <a:buFont typeface="+mj-lt"/>
              <a:buAutoNum type="arabicPeriod" startAt="1"/>
            </a:pPr>
            <a:r>
              <a:rPr lang="en-US" dirty="0">
                <a:solidFill>
                  <a:srgbClr val="000000"/>
                </a:solidFill>
              </a:rPr>
              <a:t>Inflate the cuff at the base of the horn</a:t>
            </a:r>
            <a:endParaRPr lang="en-US" dirty="0"/>
          </a:p>
          <a:p>
            <a:pPr marL="342900" indent="-342900">
              <a:spcAft>
                <a:spcPts val="500"/>
              </a:spcAft>
              <a:buSzPct val="100000"/>
              <a:buFont typeface="+mj-lt"/>
              <a:buAutoNum type="arabicPeriod" startAt="1"/>
            </a:pPr>
            <a:r>
              <a:rPr lang="en-US" dirty="0">
                <a:solidFill>
                  <a:srgbClr val="000000"/>
                </a:solidFill>
              </a:rPr>
              <a:t>Flush with warm (~35–37 °C) </a:t>
            </a:r>
            <a:pPr indent="0" marL="0">
              <a:buNone/>
            </a:pPr>
            <a:r>
              <a:rPr lang="en-US" dirty="0">
                <a:solidFill>
                  <a:srgbClr val="000000"/>
                </a:solidFill>
              </a:rPr>
              <a:t>PBS or lactated Ringer + 0.1–1% BSA / serum</a:t>
            </a:r>
            <a:pPr indent="0" marL="0">
              <a:buNone/>
            </a:pPr>
            <a:r>
              <a:rPr lang="en-US" dirty="0">
                <a:solidFill>
                  <a:srgbClr val="000000"/>
                </a:solidFill>
              </a:rPr>
              <a:t>, in aliquots</a:t>
            </a:r>
            <a:endParaRPr lang="en-US" dirty="0"/>
          </a:p>
          <a:p>
            <a:pPr marL="342900" indent="-342900">
              <a:spcAft>
                <a:spcPts val="500"/>
              </a:spcAft>
              <a:buSzPct val="100000"/>
              <a:buFont typeface="+mj-lt"/>
              <a:buAutoNum type="arabicPeriod" startAt="1"/>
            </a:pPr>
            <a:r>
              <a:rPr lang="en-US" dirty="0">
                <a:solidFill>
                  <a:srgbClr val="000000"/>
                </a:solidFill>
              </a:rPr>
              <a:t>Massage the horn gently during flushing</a:t>
            </a:r>
            <a:endParaRPr lang="en-US" dirty="0"/>
          </a:p>
          <a:p>
            <a:pPr marL="342900" indent="-342900">
              <a:spcAft>
                <a:spcPts val="500"/>
              </a:spcAft>
              <a:buSzPct val="100000"/>
              <a:buFont typeface="+mj-lt"/>
              <a:buAutoNum type="arabicPeriod" startAt="1"/>
            </a:pPr>
            <a:r>
              <a:rPr lang="en-US" dirty="0">
                <a:solidFill>
                  <a:srgbClr val="000000"/>
                </a:solidFill>
              </a:rPr>
              <a:t>Collect through an </a:t>
            </a:r>
            <a:pPr indent="0" marL="0">
              <a:buNone/>
            </a:pPr>
            <a:r>
              <a:rPr lang="en-US" dirty="0">
                <a:solidFill>
                  <a:srgbClr val="000000"/>
                </a:solidFill>
              </a:rPr>
              <a:t>embryo filter (~70 µm)</a:t>
            </a:r>
            <a:endParaRPr lang="en-US" dirty="0"/>
          </a:p>
          <a:p>
            <a:pPr marL="342900" indent="-342900">
              <a:spcAft>
                <a:spcPts val="500"/>
              </a:spcAft>
              <a:buSzPct val="100000"/>
              <a:buFont typeface="+mj-lt"/>
              <a:buAutoNum type="arabicPeriod" startAt="1"/>
            </a:pPr>
            <a:r>
              <a:rPr lang="en-US" dirty="0">
                <a:solidFill>
                  <a:srgbClr val="000000"/>
                </a:solidFill>
              </a:rPr>
              <a:t>Repeat on the other horn</a:t>
            </a:r>
            <a:endParaRPr lang="en-US" dirty="0"/>
          </a:p>
          <a:p>
            <a:pPr marL="342900" indent="-342900">
              <a:spcAft>
                <a:spcPts val="500"/>
              </a:spcAft>
              <a:buSzPct val="100000"/>
              <a:buFont typeface="+mj-lt"/>
              <a:buAutoNum type="arabicPeriod" startAt="1"/>
            </a:pPr>
            <a:r>
              <a:rPr lang="en-US" dirty="0">
                <a:solidFill>
                  <a:srgbClr val="000000"/>
                </a:solidFill>
              </a:rPr>
              <a:t>Give PGF2α afterwards</a:t>
            </a:r>
            <a:pPr indent="0" marL="0">
              <a:buNone/>
            </a:pPr>
            <a:r>
              <a:rPr lang="en-US" dirty="0">
                <a:solidFill>
                  <a:srgbClr val="000000"/>
                </a:solidFill>
              </a:rPr>
              <a:t> to prevent unwanted pregnancy from residual embryos and to return the donor to cycle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What comes out of the filter</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S12   |   14</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3593798"/>
                <a:gridCol w="7464041"/>
              </a:tblGrid>
              <a:tr h="398399">
                <a:tc>
                  <a:txBody>
                    <a:bodyPr/>
                    <a:lstStyle/>
                    <a:p>
                      <a:pPr indent="0" marL="0">
                        <a:buNone/>
                      </a:pPr>
                      <a:r>
                        <a:rPr lang="en-US" sz="1200" dirty="0">
                          <a:solidFill>
                            <a:srgbClr val="000000"/>
                          </a:solidFill>
                        </a:rPr>
                        <a:t>Recovered</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Typical proportion </a:t>
                      </a:r>
                      <a:pPr indent="0" marL="0">
                        <a:buNone/>
                      </a:pPr>
                      <a:r>
                        <a:rPr lang="en-US" sz="1200" dirty="0">
                          <a:solidFill>
                            <a:srgbClr val="000000"/>
                          </a:solidFill>
                        </a:rPr>
                        <a:t>(published range — highly variable)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Total structures recovered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60–80% of ovulations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Transferable embryos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~5–8 per flush average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Unfertilized oocytes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10–30%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Degenerate embryos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10–25%</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Donors yielding zero</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~20–30%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Why donors fail to respond</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S13   |   15</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4649319"/>
                <a:gridCol w="6408520"/>
              </a:tblGrid>
              <a:tr h="398399">
                <a:tc>
                  <a:txBody>
                    <a:bodyPr/>
                    <a:lstStyle/>
                    <a:p>
                      <a:pPr indent="0" marL="0">
                        <a:buNone/>
                      </a:pPr>
                      <a:r>
                        <a:rPr lang="en-US" sz="1200" dirty="0">
                          <a:solidFill>
                            <a:srgbClr val="000000"/>
                          </a:solidFill>
                        </a:rPr>
                        <a:t>Cause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Correction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Low antral follicle count (genetic)</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Screen donors by AFC on ultrasound before enrolling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Wrong wave stage at FSH start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Synchronize wave emergence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Negative energy balance / falling BCS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Correct nutrition first; delay treatment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Heat stress during treatment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Treat in cool season / cool the donor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FSH batch or storage failure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Cold chain; record lot numbers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Incomplete luteolysis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Split PGF dose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Poor semen or poor AI timing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Two straws, 2–3 inseminations, quality semen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Repeated flushing without rest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Minimum ~60-day interval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Handling embryos after collection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S14   |   16</a:t>
            </a:r>
            <a:endParaRPr lang="en-US" sz="950" dirty="0"/>
          </a:p>
        </p:txBody>
      </p:sp>
      <p:sp>
        <p:nvSpPr>
          <p:cNvPr id="5" name="Text 3"/>
          <p:cNvSpPr/>
          <p:nvPr/>
        </p:nvSpPr>
        <p:spPr>
          <a:xfrm>
            <a:off x="621792" y="1298448"/>
            <a:ext cx="11002975" cy="170434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Search under stereomicroscope at 40–60× within minutes of collection</a:t>
            </a:r>
            <a:endParaRPr lang="en-US" dirty="0"/>
          </a:p>
          <a:p>
            <a:pPr marL="342900" indent="-342900">
              <a:spcAft>
                <a:spcPts val="500"/>
              </a:spcAft>
              <a:buSzPct val="100000"/>
              <a:buChar char="•"/>
            </a:pPr>
            <a:r>
              <a:rPr lang="en-US" dirty="0">
                <a:solidFill>
                  <a:srgbClr val="000000"/>
                </a:solidFill>
              </a:rPr>
              <a:t>Wash </a:t>
            </a:r>
            <a:pPr indent="0" marL="0">
              <a:buNone/>
            </a:pPr>
            <a:r>
              <a:rPr lang="en-US" dirty="0">
                <a:solidFill>
                  <a:srgbClr val="000000"/>
                </a:solidFill>
              </a:rPr>
              <a:t>10 successive washes</a:t>
            </a:r>
            <a:pPr indent="0" marL="0">
              <a:buNone/>
            </a:pPr>
            <a:r>
              <a:rPr lang="en-US" dirty="0">
                <a:solidFill>
                  <a:srgbClr val="000000"/>
                </a:solidFill>
              </a:rPr>
              <a:t> in holding medium (IETS requirement for sanitary handling) — this is the step that makes embryos safe for international movement</a:t>
            </a:r>
            <a:endParaRPr lang="en-US" dirty="0"/>
          </a:p>
          <a:p>
            <a:pPr marL="342900" indent="-342900">
              <a:spcAft>
                <a:spcPts val="500"/>
              </a:spcAft>
              <a:buSzPct val="100000"/>
              <a:buChar char="•"/>
            </a:pPr>
            <a:r>
              <a:rPr lang="en-US" dirty="0">
                <a:solidFill>
                  <a:srgbClr val="000000"/>
                </a:solidFill>
              </a:rPr>
              <a:t>Evaluate stage and grade (S16–S17)</a:t>
            </a:r>
            <a:endParaRPr lang="en-US" dirty="0"/>
          </a:p>
          <a:p>
            <a:pPr marL="342900" indent="-342900">
              <a:spcAft>
                <a:spcPts val="500"/>
              </a:spcAft>
              <a:buSzPct val="100000"/>
              <a:buChar char="•"/>
            </a:pPr>
            <a:r>
              <a:rPr lang="en-US" dirty="0">
                <a:solidFill>
                  <a:srgbClr val="000000"/>
                </a:solidFill>
              </a:rPr>
              <a:t>Then: transfer fresh, hold short-term, or cryopreserve</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MOET summary — one slide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S15   |   17</a:t>
            </a:r>
            <a:endParaRPr lang="en-US" sz="950" dirty="0"/>
          </a:p>
        </p:txBody>
      </p:sp>
      <p:sp>
        <p:nvSpPr>
          <p:cNvPr id="5" name="Text 3"/>
          <p:cNvSpPr/>
          <p:nvPr/>
        </p:nvSpPr>
        <p:spPr>
          <a:xfrm>
            <a:off x="566928" y="1298448"/>
            <a:ext cx="11057839" cy="858012"/>
          </a:xfrm>
          <a:prstGeom prst="rect">
            <a:avLst/>
          </a:prstGeom>
          <a:noFill/>
          <a:ln/>
        </p:spPr>
        <p:txBody>
          <a:bodyPr wrap="square" lIns="0" tIns="0" rIns="0" bIns="0" rtlCol="0" anchor="t"/>
          <a:lstStyle/>
          <a:p>
            <a:pPr indent="0" marL="0">
              <a:buNone/>
            </a:pPr>
            <a:r>
              <a:rPr lang="en-US" dirty="0">
                <a:solidFill>
                  <a:srgbClr val="000000"/>
                </a:solidFill>
              </a:rPr>
              <a:t>Strengths:</a:t>
            </a:r>
            <a:pPr indent="0" marL="0">
              <a:buNone/>
            </a:pPr>
            <a:r>
              <a:rPr lang="en-US" dirty="0">
                <a:solidFill>
                  <a:srgbClr val="000000"/>
                </a:solidFill>
              </a:rPr>
              <a:t> proven, no laboratory required on site, embryos freeze well, direct-transfer straws </a:t>
            </a:r>
            <a:pPr indent="0" marL="0">
              <a:buNone/>
            </a:pPr>
            <a:r>
              <a:rPr lang="en-US" dirty="0">
                <a:solidFill>
                  <a:srgbClr val="000000"/>
                </a:solidFill>
              </a:rPr>
              <a:t>Weaknesses:</a:t>
            </a:r>
            <a:pPr indent="0" marL="0">
              <a:buNone/>
            </a:pPr>
            <a:r>
              <a:rPr lang="en-US" dirty="0">
                <a:solidFill>
                  <a:srgbClr val="000000"/>
                </a:solidFill>
              </a:rPr>
              <a:t> heavy hormone load, 8 injections, 60-day interval, high variability, ~25% zero-yield flushes, semen-expensive </a:t>
            </a:r>
            <a:pPr indent="0" marL="0">
              <a:buNone/>
            </a:pPr>
            <a:r>
              <a:rPr lang="en-US" dirty="0">
                <a:solidFill>
                  <a:srgbClr val="000000"/>
                </a:solidFill>
              </a:rPr>
              <a:t>Best use:</a:t>
            </a:r>
            <a:pPr indent="0" marL="0">
              <a:buNone/>
            </a:pPr>
            <a:r>
              <a:rPr lang="en-US" dirty="0">
                <a:solidFill>
                  <a:srgbClr val="000000"/>
                </a:solidFill>
              </a:rPr>
              <a:t> proven elite donors, in-vivo embryos for </a:t>
            </a:r>
            <a:pPr indent="0" marL="0">
              <a:buNone/>
            </a:pPr>
            <a:r>
              <a:rPr lang="en-US" dirty="0">
                <a:solidFill>
                  <a:srgbClr val="000000"/>
                </a:solidFill>
              </a:rPr>
              <a:t>frozen export</a:t>
            </a:r>
            <a:pPr indent="0" marL="0">
              <a:buNone/>
            </a:pPr>
            <a:r>
              <a:rPr lang="en-US" dirty="0">
                <a:solidFill>
                  <a:srgbClr val="000000"/>
                </a:solidFill>
              </a:rPr>
              <a:t>, farms without an IVF laboratory</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10058400" y="4572000"/>
            <a:ext cx="3291840" cy="3291840"/>
          </a:xfrm>
          <a:prstGeom prst="ellipse">
            <a:avLst/>
          </a:prstGeom>
          <a:solidFill>
            <a:srgbClr val="14301C"/>
          </a:solidFill>
          <a:ln/>
        </p:spPr>
      </p:sp>
      <p:sp>
        <p:nvSpPr>
          <p:cNvPr id="3" name="Text 1"/>
          <p:cNvSpPr/>
          <p:nvPr/>
        </p:nvSpPr>
        <p:spPr>
          <a:xfrm>
            <a:off x="841248" y="2148840"/>
            <a:ext cx="10058400" cy="411480"/>
          </a:xfrm>
          <a:prstGeom prst="rect">
            <a:avLst/>
          </a:prstGeom>
          <a:noFill/>
          <a:ln/>
        </p:spPr>
        <p:txBody>
          <a:bodyPr wrap="square" lIns="0" tIns="0" rIns="0" bIns="0" rtlCol="0" anchor="ctr"/>
          <a:lstStyle/>
          <a:p>
            <a:pPr indent="0" marL="0">
              <a:buNone/>
            </a:pPr>
            <a:r>
              <a:rPr lang="en-US" sz="1500" b="1" spc="200" kern="0" dirty="0">
                <a:solidFill>
                  <a:srgbClr val="6FA368"/>
                </a:solidFill>
                <a:latin typeface="Calibri" pitchFamily="34" charset="0"/>
                <a:ea typeface="Calibri" pitchFamily="34" charset="-122"/>
                <a:cs typeface="Calibri" pitchFamily="34" charset="-120"/>
              </a:rPr>
              <a:t>PART 1-C</a:t>
            </a:r>
            <a:endParaRPr lang="en-US" sz="1500" dirty="0"/>
          </a:p>
        </p:txBody>
      </p:sp>
      <p:sp>
        <p:nvSpPr>
          <p:cNvPr id="4" name="Text 2"/>
          <p:cNvSpPr/>
          <p:nvPr/>
        </p:nvSpPr>
        <p:spPr>
          <a:xfrm>
            <a:off x="841248" y="2606040"/>
            <a:ext cx="1005840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OPU – IVF / IVP</a:t>
            </a:r>
            <a:endParaRPr lang="en-US" sz="3800" dirty="0"/>
          </a:p>
        </p:txBody>
      </p:sp>
      <p:sp>
        <p:nvSpPr>
          <p:cNvPr id="5" name="Text 3"/>
          <p:cNvSpPr/>
          <p:nvPr/>
        </p:nvSpPr>
        <p:spPr>
          <a:xfrm>
            <a:off x="841248" y="4160520"/>
            <a:ext cx="10058400" cy="457200"/>
          </a:xfrm>
          <a:prstGeom prst="rect">
            <a:avLst/>
          </a:prstGeom>
          <a:noFill/>
          <a:ln/>
        </p:spPr>
        <p:txBody>
          <a:bodyPr wrap="square" lIns="0" tIns="0" rIns="0" bIns="0" rtlCol="0" anchor="ctr"/>
          <a:lstStyle/>
          <a:p>
            <a:pPr indent="0" marL="0">
              <a:buNone/>
            </a:pPr>
            <a:r>
              <a:rPr lang="en-US" sz="1500" dirty="0">
                <a:solidFill>
                  <a:srgbClr val="C8D8C6"/>
                </a:solidFill>
                <a:latin typeface="Calibri" pitchFamily="34" charset="0"/>
                <a:ea typeface="Calibri" pitchFamily="34" charset="-122"/>
                <a:cs typeface="Calibri" pitchFamily="34" charset="-120"/>
              </a:rPr>
              <a:t>30 min, S16–S24</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The OPU–IVP pipeline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S16   |   18</a:t>
            </a:r>
            <a:endParaRPr lang="en-US" sz="950" dirty="0"/>
          </a:p>
        </p:txBody>
      </p:sp>
      <p:sp>
        <p:nvSpPr>
          <p:cNvPr id="5" name="Shape 3"/>
          <p:cNvSpPr/>
          <p:nvPr/>
        </p:nvSpPr>
        <p:spPr>
          <a:xfrm>
            <a:off x="566928" y="1298448"/>
            <a:ext cx="11057839" cy="1291971"/>
          </a:xfrm>
          <a:prstGeom prst="roundRect">
            <a:avLst>
              <a:gd name="adj" fmla="val 5662"/>
            </a:avLst>
          </a:prstGeom>
          <a:solidFill>
            <a:srgbClr val="F3F6F2"/>
          </a:solidFill>
          <a:ln w="9525">
            <a:solidFill>
              <a:srgbClr val="D4DCD5"/>
            </a:solidFill>
            <a:prstDash val="solid"/>
          </a:ln>
        </p:spPr>
      </p:sp>
      <p:sp>
        <p:nvSpPr>
          <p:cNvPr id="6" name="Text 4"/>
          <p:cNvSpPr/>
          <p:nvPr/>
        </p:nvSpPr>
        <p:spPr>
          <a:xfrm>
            <a:off x="749808" y="1444752"/>
            <a:ext cx="10692079" cy="999363"/>
          </a:xfrm>
          <a:prstGeom prst="rect">
            <a:avLst/>
          </a:prstGeom>
          <a:noFill/>
          <a:ln/>
        </p:spPr>
        <p:txBody>
          <a:bodyPr wrap="square" lIns="0" tIns="0" rIns="0" bIns="0" rtlCol="0" anchor="t"/>
          <a:lstStyle/>
          <a:p>
            <a:pPr indent="0" marL="0">
              <a:buNone/>
            </a:pPr>
            <a:r>
              <a:rPr lang="en-US" sz="1100" dirty="0">
                <a:solidFill>
                  <a:srgbClr val="14301C"/>
                </a:solidFill>
                <a:latin typeface="Courier New" pitchFamily="34" charset="0"/>
                <a:ea typeface="Courier New" pitchFamily="34" charset="-122"/>
                <a:cs typeface="Courier New" pitchFamily="34" charset="-120"/>
              </a:rPr>
              <a:t>OPU (transvaginal, US-guided) → COCs</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 IVM 22–24 h, 38.5–39 °C, 5% CO2</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 IVF 18–22 h co-incubation with capacitated sperm</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 IVC 6–7 days, low O2 (5–7%), SOF or CR1aa medium</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 Day 7–8 blastocyst → fresh transfer or vitrification</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OPU — Ovum Pick-Up</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S17   |   19</a:t>
            </a:r>
            <a:endParaRPr lang="en-US" sz="950" dirty="0"/>
          </a:p>
        </p:txBody>
      </p:sp>
      <p:sp>
        <p:nvSpPr>
          <p:cNvPr id="5" name="Text 3"/>
          <p:cNvSpPr/>
          <p:nvPr/>
        </p:nvSpPr>
        <p:spPr>
          <a:xfrm>
            <a:off x="621792" y="1298448"/>
            <a:ext cx="11002975" cy="2267204"/>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Transvaginal ultrasound probe with needle guide; </a:t>
            </a:r>
            <a:pPr indent="0" marL="0">
              <a:buNone/>
            </a:pPr>
            <a:r>
              <a:rPr lang="en-US" dirty="0">
                <a:solidFill>
                  <a:srgbClr val="000000"/>
                </a:solidFill>
              </a:rPr>
              <a:t>17–19 G needle</a:t>
            </a:r>
            <a:pPr indent="0" marL="0">
              <a:buNone/>
            </a:pPr>
            <a:r>
              <a:rPr lang="en-US" dirty="0">
                <a:solidFill>
                  <a:srgbClr val="000000"/>
                </a:solidFill>
              </a:rPr>
              <a:t>; vacuum ~50–60 mmHg </a:t>
            </a:r>
            <a:pPr indent="0" marL="0">
              <a:buNone/>
            </a:pPr>
            <a:r>
              <a:rPr lang="en-US" dirty="0">
                <a:solidFill>
                  <a:srgbClr val="000000"/>
                </a:solidFill>
              </a:rPr>
              <a:t>(system-dependent)</a:t>
            </a:r>
            <a:endParaRPr lang="en-US" dirty="0"/>
          </a:p>
          <a:p>
            <a:pPr marL="342900" indent="-342900">
              <a:spcAft>
                <a:spcPts val="500"/>
              </a:spcAft>
              <a:buSzPct val="100000"/>
              <a:buChar char="•"/>
            </a:pPr>
            <a:r>
              <a:rPr lang="en-US" dirty="0">
                <a:solidFill>
                  <a:srgbClr val="000000"/>
                </a:solidFill>
              </a:rPr>
              <a:t>Aspirate all visible follicles ≥ 2–3 mm</a:t>
            </a:r>
            <a:endParaRPr lang="en-US" dirty="0"/>
          </a:p>
          <a:p>
            <a:pPr marL="342900" indent="-342900">
              <a:spcAft>
                <a:spcPts val="500"/>
              </a:spcAft>
              <a:buSzPct val="100000"/>
              <a:buChar char="•"/>
            </a:pPr>
            <a:r>
              <a:rPr lang="en-US" dirty="0">
                <a:solidFill>
                  <a:srgbClr val="000000"/>
                </a:solidFill>
              </a:rPr>
              <a:t>Frequency: once or twice weekly</a:t>
            </a:r>
            <a:pPr indent="0" marL="0">
              <a:buNone/>
            </a:pPr>
            <a:r>
              <a:rPr lang="en-US" dirty="0">
                <a:solidFill>
                  <a:srgbClr val="000000"/>
                </a:solidFill>
              </a:rPr>
              <a:t> — the ovary recovers</a:t>
            </a:r>
            <a:endParaRPr lang="en-US" dirty="0"/>
          </a:p>
          <a:p>
            <a:pPr marL="342900" indent="-342900">
              <a:spcAft>
                <a:spcPts val="500"/>
              </a:spcAft>
              <a:buSzPct val="100000"/>
              <a:buChar char="•"/>
            </a:pPr>
            <a:r>
              <a:rPr lang="en-US" dirty="0">
                <a:solidFill>
                  <a:srgbClr val="000000"/>
                </a:solidFill>
              </a:rPr>
              <a:t>Donors: cycling cows, </a:t>
            </a:r>
            <a:pPr indent="0" marL="0">
              <a:buNone/>
            </a:pPr>
            <a:r>
              <a:rPr lang="en-US" dirty="0">
                <a:solidFill>
                  <a:srgbClr val="000000"/>
                </a:solidFill>
              </a:rPr>
              <a:t>prepubertal heifers (from ~6–8 months, some programmes younger)</a:t>
            </a:r>
            <a:pPr indent="0" marL="0">
              <a:buNone/>
            </a:pPr>
            <a:r>
              <a:rPr lang="en-US" dirty="0">
                <a:solidFill>
                  <a:srgbClr val="000000"/>
                </a:solidFill>
              </a:rPr>
              <a:t>, and </a:t>
            </a:r>
            <a:pPr indent="0" marL="0">
              <a:buNone/>
            </a:pPr>
            <a:r>
              <a:rPr lang="en-US" dirty="0">
                <a:solidFill>
                  <a:srgbClr val="000000"/>
                </a:solidFill>
              </a:rPr>
              <a:t>pregnant cows up to ~100 days of gestation</a:t>
            </a:r>
            <a:endParaRPr lang="en-US" dirty="0"/>
          </a:p>
          <a:p>
            <a:pPr marL="342900" indent="-342900">
              <a:spcAft>
                <a:spcPts val="500"/>
              </a:spcAft>
              <a:buSzPct val="100000"/>
              <a:buChar char="•"/>
            </a:pPr>
            <a:r>
              <a:rPr lang="en-US" dirty="0">
                <a:solidFill>
                  <a:srgbClr val="000000"/>
                </a:solidFill>
              </a:rPr>
              <a:t>Recovery: </a:t>
            </a:r>
            <a:pPr indent="0" marL="0">
              <a:buNone/>
            </a:pPr>
            <a:r>
              <a:rPr lang="en-US" dirty="0">
                <a:solidFill>
                  <a:srgbClr val="000000"/>
                </a:solidFill>
              </a:rPr>
              <a:t>10–20 COCs per session in Bos taurus; often 20–40+ in Bos indicus and crossbreds (higher antral follicle count)</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IVM — In Vitro Maturation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S18   |   20</a:t>
            </a:r>
            <a:endParaRPr lang="en-US" sz="950" dirty="0"/>
          </a:p>
        </p:txBody>
      </p:sp>
      <p:sp>
        <p:nvSpPr>
          <p:cNvPr id="5" name="Text 3"/>
          <p:cNvSpPr/>
          <p:nvPr/>
        </p:nvSpPr>
        <p:spPr>
          <a:xfrm>
            <a:off x="621792" y="1298448"/>
            <a:ext cx="11002975" cy="1804924"/>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Oocyte is collected at </a:t>
            </a:r>
            <a:pPr indent="0" marL="0">
              <a:buNone/>
            </a:pPr>
            <a:r>
              <a:rPr lang="en-US" dirty="0">
                <a:solidFill>
                  <a:srgbClr val="000000"/>
                </a:solidFill>
              </a:rPr>
              <a:t>germinal vesicle stage — immature</a:t>
            </a:r>
            <a:endParaRPr lang="en-US" dirty="0"/>
          </a:p>
          <a:p>
            <a:pPr marL="342900" indent="-342900">
              <a:spcAft>
                <a:spcPts val="500"/>
              </a:spcAft>
              <a:buSzPct val="100000"/>
              <a:buChar char="•"/>
            </a:pPr>
            <a:r>
              <a:rPr lang="en-US" dirty="0">
                <a:solidFill>
                  <a:srgbClr val="000000"/>
                </a:solidFill>
              </a:rPr>
              <a:t>IVM 22–24 h: TCM-199 base + FSH/LH + serum or serum-free supplement + growth factors</a:t>
            </a:r>
            <a:endParaRPr lang="en-US" dirty="0"/>
          </a:p>
          <a:p>
            <a:pPr marL="342900" indent="-342900">
              <a:spcAft>
                <a:spcPts val="500"/>
              </a:spcAft>
              <a:buSzPct val="100000"/>
              <a:buChar char="•"/>
            </a:pPr>
            <a:r>
              <a:rPr lang="en-US" dirty="0">
                <a:solidFill>
                  <a:srgbClr val="000000"/>
                </a:solidFill>
              </a:rPr>
              <a:t>38.5–39 °C, 5% CO₂, high humidity</a:t>
            </a:r>
            <a:endParaRPr lang="en-US" dirty="0"/>
          </a:p>
          <a:p>
            <a:pPr marL="342900" indent="-342900">
              <a:spcAft>
                <a:spcPts val="500"/>
              </a:spcAft>
              <a:buSzPct val="100000"/>
              <a:buChar char="•"/>
            </a:pPr>
            <a:r>
              <a:rPr lang="en-US" dirty="0">
                <a:solidFill>
                  <a:srgbClr val="000000"/>
                </a:solidFill>
              </a:rPr>
              <a:t>Endpoint: </a:t>
            </a:r>
            <a:pPr indent="0" marL="0">
              <a:buNone/>
            </a:pPr>
            <a:r>
              <a:rPr lang="en-US" dirty="0">
                <a:solidFill>
                  <a:srgbClr val="000000"/>
                </a:solidFill>
              </a:rPr>
              <a:t>metaphase II, first polar body extruded, expanded cumulus</a:t>
            </a:r>
            <a:endParaRPr lang="en-US" dirty="0"/>
          </a:p>
          <a:p>
            <a:pPr marL="342900" indent="-342900">
              <a:spcAft>
                <a:spcPts val="500"/>
              </a:spcAft>
              <a:buSzPct val="100000"/>
              <a:buChar char="•"/>
            </a:pPr>
            <a:r>
              <a:rPr lang="en-US" dirty="0">
                <a:solidFill>
                  <a:srgbClr val="000000"/>
                </a:solidFill>
              </a:rPr>
              <a:t>Only good-quality COCs (compact, multi-layered cumulus, homogeneous cytoplasm) are used</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IVF — In Vitro Fertilization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S19   |   21</a:t>
            </a:r>
            <a:endParaRPr lang="en-US" sz="950" dirty="0"/>
          </a:p>
        </p:txBody>
      </p:sp>
      <p:sp>
        <p:nvSpPr>
          <p:cNvPr id="5" name="Text 3"/>
          <p:cNvSpPr/>
          <p:nvPr/>
        </p:nvSpPr>
        <p:spPr>
          <a:xfrm>
            <a:off x="621792" y="1298448"/>
            <a:ext cx="11002975" cy="1804924"/>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Sperm preparation: </a:t>
            </a:r>
            <a:pPr indent="0" marL="0">
              <a:buNone/>
            </a:pPr>
            <a:r>
              <a:rPr lang="en-US" dirty="0">
                <a:solidFill>
                  <a:srgbClr val="000000"/>
                </a:solidFill>
              </a:rPr>
              <a:t>Percoll gradient or swim-up</a:t>
            </a:r>
            <a:pPr indent="0" marL="0">
              <a:buNone/>
            </a:pPr>
            <a:r>
              <a:rPr lang="en-US" dirty="0">
                <a:solidFill>
                  <a:srgbClr val="000000"/>
                </a:solidFill>
              </a:rPr>
              <a:t> → select motile, morphologically normal sperm</a:t>
            </a:r>
            <a:endParaRPr lang="en-US" dirty="0"/>
          </a:p>
          <a:p>
            <a:pPr marL="342900" indent="-342900">
              <a:spcAft>
                <a:spcPts val="500"/>
              </a:spcAft>
              <a:buSzPct val="100000"/>
              <a:buChar char="•"/>
            </a:pPr>
            <a:r>
              <a:rPr lang="en-US" dirty="0">
                <a:solidFill>
                  <a:srgbClr val="000000"/>
                </a:solidFill>
              </a:rPr>
              <a:t>Capacitation induced in vitro (heparin)</a:t>
            </a:r>
            <a:endParaRPr lang="en-US" dirty="0"/>
          </a:p>
          <a:p>
            <a:pPr marL="342900" indent="-342900">
              <a:spcAft>
                <a:spcPts val="500"/>
              </a:spcAft>
              <a:buSzPct val="100000"/>
              <a:buChar char="•"/>
            </a:pPr>
            <a:r>
              <a:rPr lang="en-US" dirty="0">
                <a:solidFill>
                  <a:srgbClr val="000000"/>
                </a:solidFill>
              </a:rPr>
              <a:t>Co-incubation </a:t>
            </a:r>
            <a:pPr indent="0" marL="0">
              <a:buNone/>
            </a:pPr>
            <a:r>
              <a:rPr lang="en-US" dirty="0">
                <a:solidFill>
                  <a:srgbClr val="000000"/>
                </a:solidFill>
              </a:rPr>
              <a:t>18–22 h</a:t>
            </a:r>
            <a:pPr indent="0" marL="0">
              <a:buNone/>
            </a:pPr>
            <a:r>
              <a:rPr lang="en-US" dirty="0">
                <a:solidFill>
                  <a:srgbClr val="000000"/>
                </a:solidFill>
              </a:rPr>
              <a:t>, ~1–2 × 10⁶ sperm/mL </a:t>
            </a:r>
            <a:pPr indent="0" marL="0">
              <a:buNone/>
            </a:pPr>
            <a:r>
              <a:rPr lang="en-US" dirty="0">
                <a:solidFill>
                  <a:srgbClr val="000000"/>
                </a:solidFill>
              </a:rPr>
              <a:t>(protocol-dependent)</a:t>
            </a:r>
            <a:endParaRPr lang="en-US" dirty="0"/>
          </a:p>
          <a:p>
            <a:pPr marL="342900" indent="-342900">
              <a:spcAft>
                <a:spcPts val="500"/>
              </a:spcAft>
              <a:buSzPct val="100000"/>
              <a:buChar char="•"/>
            </a:pPr>
            <a:r>
              <a:rPr lang="en-US" dirty="0">
                <a:solidFill>
                  <a:srgbClr val="000000"/>
                </a:solidFill>
              </a:rPr>
              <a:t>Sexed semen is fully usable — and this is where sexed semen is most efficient</a:t>
            </a:r>
            <a:endParaRPr lang="en-US" dirty="0"/>
          </a:p>
          <a:p>
            <a:pPr marL="342900" indent="-342900">
              <a:spcAft>
                <a:spcPts val="500"/>
              </a:spcAft>
              <a:buSzPct val="100000"/>
              <a:buChar char="•"/>
            </a:pPr>
            <a:r>
              <a:rPr lang="en-US" dirty="0">
                <a:solidFill>
                  <a:srgbClr val="000000"/>
                </a:solidFill>
              </a:rPr>
              <a:t>Endpoint: presumptive zygotes, cumulus removed by vortexing/pipetting</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IVC — In Vitro Culture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S20   |   22</a:t>
            </a:r>
            <a:endParaRPr lang="en-US" sz="950" dirty="0"/>
          </a:p>
        </p:txBody>
      </p:sp>
      <p:sp>
        <p:nvSpPr>
          <p:cNvPr id="5" name="Text 3"/>
          <p:cNvSpPr/>
          <p:nvPr/>
        </p:nvSpPr>
        <p:spPr>
          <a:xfrm>
            <a:off x="621792" y="1298448"/>
            <a:ext cx="11002975" cy="2036064"/>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6–7 days in </a:t>
            </a:r>
            <a:pPr indent="0" marL="0">
              <a:buNone/>
            </a:pPr>
            <a:r>
              <a:rPr lang="en-US" dirty="0">
                <a:solidFill>
                  <a:srgbClr val="000000"/>
                </a:solidFill>
              </a:rPr>
              <a:t>SOF (synthetic oviductal fluid)</a:t>
            </a:r>
            <a:pPr indent="0" marL="0">
              <a:buNone/>
            </a:pPr>
            <a:r>
              <a:rPr lang="en-US" dirty="0">
                <a:solidFill>
                  <a:srgbClr val="000000"/>
                </a:solidFill>
              </a:rPr>
              <a:t> or CR1aa-type medium</a:t>
            </a:r>
            <a:endParaRPr lang="en-US" dirty="0"/>
          </a:p>
          <a:p>
            <a:pPr marL="342900" indent="-342900">
              <a:spcAft>
                <a:spcPts val="500"/>
              </a:spcAft>
              <a:buSzPct val="100000"/>
              <a:buChar char="•"/>
            </a:pPr>
            <a:r>
              <a:rPr lang="en-US" dirty="0">
                <a:solidFill>
                  <a:srgbClr val="000000"/>
                </a:solidFill>
              </a:rPr>
              <a:t>Low oxygen 5–7%</a:t>
            </a:r>
            <a:pPr indent="0" marL="0">
              <a:buNone/>
            </a:pPr>
            <a:r>
              <a:rPr lang="en-US" dirty="0">
                <a:solidFill>
                  <a:srgbClr val="000000"/>
                </a:solidFill>
              </a:rPr>
              <a:t> — mimics the oviduct/uterus, reduces oxidative damage</a:t>
            </a:r>
            <a:endParaRPr lang="en-US" dirty="0"/>
          </a:p>
          <a:p>
            <a:pPr marL="342900" indent="-342900">
              <a:spcAft>
                <a:spcPts val="500"/>
              </a:spcAft>
              <a:buSzPct val="100000"/>
              <a:buChar char="•"/>
            </a:pPr>
            <a:r>
              <a:rPr lang="en-US" dirty="0">
                <a:solidFill>
                  <a:srgbClr val="000000"/>
                </a:solidFill>
              </a:rPr>
              <a:t>Modern trend: </a:t>
            </a:r>
            <a:pPr indent="0" marL="0">
              <a:buNone/>
            </a:pPr>
            <a:r>
              <a:rPr lang="en-US" dirty="0">
                <a:solidFill>
                  <a:srgbClr val="000000"/>
                </a:solidFill>
              </a:rPr>
              <a:t>serum-free or reduced-serum</a:t>
            </a:r>
            <a:pPr indent="0" marL="0">
              <a:buNone/>
            </a:pPr>
            <a:r>
              <a:rPr lang="en-US" dirty="0">
                <a:solidFill>
                  <a:srgbClr val="000000"/>
                </a:solidFill>
              </a:rPr>
              <a:t> media → less lipid accumulation → better cryotolerance, lower large-offspring risk</a:t>
            </a:r>
            <a:endParaRPr lang="en-US" dirty="0"/>
          </a:p>
          <a:p>
            <a:pPr marL="342900" indent="-342900">
              <a:spcAft>
                <a:spcPts val="500"/>
              </a:spcAft>
              <a:buSzPct val="100000"/>
              <a:buChar char="•"/>
            </a:pPr>
            <a:r>
              <a:rPr lang="en-US" dirty="0">
                <a:solidFill>
                  <a:srgbClr val="000000"/>
                </a:solidFill>
              </a:rPr>
              <a:t>Endpoint Day 7–8: blastocyst</a:t>
            </a:r>
            <a:endParaRPr lang="en-US" dirty="0"/>
          </a:p>
          <a:p>
            <a:pPr marL="342900" indent="-342900">
              <a:spcAft>
                <a:spcPts val="500"/>
              </a:spcAft>
              <a:buSzPct val="100000"/>
              <a:buChar char="•"/>
            </a:pPr>
            <a:r>
              <a:rPr lang="en-US" dirty="0">
                <a:solidFill>
                  <a:srgbClr val="000000"/>
                </a:solidFill>
              </a:rPr>
              <a:t>Blastocyst rate ≈ 30–40% of oocytes put into culture</a:t>
            </a:r>
            <a:pPr indent="0" marL="0">
              <a:buNone/>
            </a:pPr>
            <a:r>
              <a:rPr lang="en-US" dirty="0">
                <a:solidFill>
                  <a:srgbClr val="000000"/>
                </a:solidFill>
              </a:rPr>
              <a:t> </a:t>
            </a:r>
            <a:pPr indent="0" marL="0">
              <a:buNone/>
            </a:pPr>
            <a:r>
              <a:rPr lang="en-US" dirty="0">
                <a:solidFill>
                  <a:srgbClr val="000000"/>
                </a:solidFill>
              </a:rPr>
              <a:t>(published range)</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IVP vs in vivo — how the embryos differ</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S21   |   23</a:t>
            </a:r>
            <a:endParaRPr lang="en-US" sz="9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3176188"/>
                <a:gridCol w="4117281"/>
                <a:gridCol w="3764371"/>
              </a:tblGrid>
              <a:tr h="398399">
                <a:tc>
                  <a:txBody>
                    <a:bodyPr/>
                    <a:lstStyle/>
                    <a:p>
                      <a:pPr indent="0" marL="0">
                        <a:buNone/>
                      </a:pPr>
                      <a:r>
                        <a:rPr lang="en-US" sz="1200" dirty="0">
                          <a:solidFill>
                            <a:srgbClr val="000000"/>
                          </a:solidFill>
                        </a:rPr>
                        <a:t> </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In vivo (MOET)</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In vitro (IVP)</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Appearance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Bright, compact, uniform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Often darker, more lipid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Cell number at Day 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Higher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Slightly lower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Cryotolerance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Good — slow freeze, direct transfer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Lower — vitrification preferred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Pregnancy, fresh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55–70%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40–55%</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Pregnancy, frozen/vitrified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45–60%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35–50%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Large offspring syndrome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Rare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Low with modern serum-free media</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
        <p:nvSpPr>
          <p:cNvPr id="6" name="Text 3"/>
          <p:cNvSpPr/>
          <p:nvPr/>
        </p:nvSpPr>
        <p:spPr>
          <a:xfrm>
            <a:off x="566928" y="4379849"/>
            <a:ext cx="11057839" cy="395732"/>
          </a:xfrm>
          <a:prstGeom prst="rect">
            <a:avLst/>
          </a:prstGeom>
          <a:noFill/>
          <a:ln/>
        </p:spPr>
        <p:txBody>
          <a:bodyPr wrap="square" lIns="0" tIns="0" rIns="0" bIns="0" rtlCol="0" anchor="t"/>
          <a:lstStyle/>
          <a:p>
            <a:pPr indent="0" marL="0">
              <a:buNone/>
            </a:pPr>
            <a:r>
              <a:rPr lang="en-US" dirty="0">
                <a:solidFill>
                  <a:srgbClr val="000000"/>
                </a:solidFill>
              </a:rPr>
              <a:t>(All values published ranges; herd, season and operator dependent.)</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Genomic selection + IVP = the modern breeding engine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S22   |   24</a:t>
            </a:r>
            <a:endParaRPr lang="en-US" sz="950" dirty="0"/>
          </a:p>
        </p:txBody>
      </p:sp>
      <p:sp>
        <p:nvSpPr>
          <p:cNvPr id="5" name="Shape 3"/>
          <p:cNvSpPr/>
          <p:nvPr/>
        </p:nvSpPr>
        <p:spPr>
          <a:xfrm>
            <a:off x="566928" y="1298448"/>
            <a:ext cx="11057839" cy="1847698"/>
          </a:xfrm>
          <a:prstGeom prst="roundRect">
            <a:avLst>
              <a:gd name="adj" fmla="val 3959"/>
            </a:avLst>
          </a:prstGeom>
          <a:solidFill>
            <a:srgbClr val="F3F6F2"/>
          </a:solidFill>
          <a:ln w="9525">
            <a:solidFill>
              <a:srgbClr val="D4DCD5"/>
            </a:solidFill>
            <a:prstDash val="solid"/>
          </a:ln>
        </p:spPr>
      </p:sp>
      <p:sp>
        <p:nvSpPr>
          <p:cNvPr id="6" name="Text 4"/>
          <p:cNvSpPr/>
          <p:nvPr/>
        </p:nvSpPr>
        <p:spPr>
          <a:xfrm>
            <a:off x="749808" y="1444752"/>
            <a:ext cx="10692079" cy="1555090"/>
          </a:xfrm>
          <a:prstGeom prst="rect">
            <a:avLst/>
          </a:prstGeom>
          <a:noFill/>
          <a:ln/>
        </p:spPr>
        <p:txBody>
          <a:bodyPr wrap="square" lIns="0" tIns="0" rIns="0" bIns="0" rtlCol="0" anchor="t"/>
          <a:lstStyle/>
          <a:p>
            <a:pPr indent="0" marL="0">
              <a:buNone/>
            </a:pPr>
            <a:r>
              <a:rPr lang="en-US" sz="1100" dirty="0">
                <a:solidFill>
                  <a:srgbClr val="14301C"/>
                </a:solidFill>
                <a:latin typeface="Courier New" pitchFamily="34" charset="0"/>
                <a:ea typeface="Courier New" pitchFamily="34" charset="-122"/>
                <a:cs typeface="Courier New" pitchFamily="34" charset="-120"/>
              </a:rPr>
              <a:t>Genomic test at birth → select elite heifer calf</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OPU from 6–8 months (prepubertal)</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IVF with sexed semen from top genomic sires</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Embryos → recipients → next generation</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Generation interval: 4–5 years → ~1.5–2 years</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Embryo sexing — the two methods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S23   |   25</a:t>
            </a:r>
            <a:endParaRPr lang="en-US" sz="9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364279"/>
                <a:gridCol w="4021032"/>
                <a:gridCol w="1651495"/>
                <a:gridCol w="4021032"/>
              </a:tblGrid>
              <a:tr h="390144">
                <a:tc>
                  <a:txBody>
                    <a:bodyPr/>
                    <a:lstStyle/>
                    <a:p>
                      <a:pPr indent="0" marL="0">
                        <a:buNone/>
                      </a:pPr>
                      <a:r>
                        <a:rPr lang="en-US" sz="1200" dirty="0">
                          <a:solidFill>
                            <a:srgbClr val="000000"/>
                          </a:solidFill>
                        </a:rPr>
                        <a:t>Method</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How</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Accuracy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Note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588264">
                <a:tc>
                  <a:txBody>
                    <a:bodyPr/>
                    <a:lstStyle/>
                    <a:p>
                      <a:pPr indent="0" marL="0">
                        <a:buNone/>
                      </a:pPr>
                      <a:r>
                        <a:rPr lang="en-US" sz="1200" b="1" dirty="0">
                          <a:solidFill>
                            <a:srgbClr val="000000"/>
                          </a:solidFill>
                        </a:rPr>
                        <a:t>Sexed semen at IVF</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Flow-cytometric sorting of X/Y sperm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~90% female</a:t>
                      </a:r>
                      <a:pPr indent="0" marL="0">
                        <a:buNone/>
                      </a:pPr>
                      <a:r>
                        <a:rPr lang="en-US" sz="1200" dirty="0">
                          <a:solidFill>
                            <a:srgbClr val="000000"/>
                          </a:solidFill>
                        </a:rPr>
                        <a:t> </a:t>
                      </a:r>
                      <a:pPr indent="0" marL="0">
                        <a:buNone/>
                      </a:pPr>
                      <a:r>
                        <a:rPr lang="en-US" sz="1200" dirty="0">
                          <a:solidFill>
                            <a:srgbClr val="000000"/>
                          </a:solidFill>
                        </a:rPr>
                        <a:t>(published)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Standard for IVP; non-invasive to embryo</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588264">
                <a:tc>
                  <a:txBody>
                    <a:bodyPr/>
                    <a:lstStyle/>
                    <a:p>
                      <a:pPr indent="0" marL="0">
                        <a:buNone/>
                      </a:pPr>
                      <a:r>
                        <a:rPr lang="en-US" sz="1200" b="1" dirty="0">
                          <a:solidFill>
                            <a:srgbClr val="000000"/>
                          </a:solidFill>
                        </a:rPr>
                        <a:t>Embryo biopsy + PCR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Remove a few trophectoderm cells, amplify Y-specific sequence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&gt;95%</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Invasive; reduces cryotolerance; used with genomic testing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Which product for the Philippines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S24   |   26</a:t>
            </a:r>
            <a:endParaRPr lang="en-US" sz="950" dirty="0"/>
          </a:p>
        </p:txBody>
      </p:sp>
      <p:sp>
        <p:nvSpPr>
          <p:cNvPr id="5" name="Text 3"/>
          <p:cNvSpPr/>
          <p:nvPr/>
        </p:nvSpPr>
        <p:spPr>
          <a:xfrm>
            <a:off x="566928" y="1298448"/>
            <a:ext cx="11057839" cy="395732"/>
          </a:xfrm>
          <a:prstGeom prst="rect">
            <a:avLst/>
          </a:prstGeom>
          <a:noFill/>
          <a:ln/>
        </p:spPr>
        <p:txBody>
          <a:bodyPr wrap="square" lIns="0" tIns="0" rIns="0" bIns="0" rtlCol="0" anchor="t"/>
          <a:lstStyle/>
          <a:p>
            <a:pPr indent="0" marL="0">
              <a:buNone/>
            </a:pPr>
            <a:r>
              <a:rPr lang="en-US" dirty="0">
                <a:solidFill>
                  <a:srgbClr val="000000"/>
                </a:solidFill>
              </a:rPr>
              <a:t>Recommended for import into a tropical smallholder system:</a:t>
            </a:r>
            <a:endParaRPr lang="en-US" dirty="0"/>
          </a:p>
        </p:txBody>
      </p:sp>
      <p:sp>
        <p:nvSpPr>
          <p:cNvPr id="6" name="Text 4"/>
          <p:cNvSpPr/>
          <p:nvPr/>
        </p:nvSpPr>
        <p:spPr>
          <a:xfrm>
            <a:off x="621792" y="1840484"/>
            <a:ext cx="11002975" cy="147320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Korean Holstein sexed (female) dairy embryos</a:t>
            </a:r>
            <a:endParaRPr lang="en-US" dirty="0"/>
          </a:p>
          <a:p>
            <a:pPr marL="342900" indent="-342900">
              <a:spcAft>
                <a:spcPts val="500"/>
              </a:spcAft>
              <a:buSzPct val="100000"/>
              <a:buChar char="•"/>
            </a:pPr>
            <a:r>
              <a:rPr lang="en-US" dirty="0">
                <a:solidFill>
                  <a:srgbClr val="000000"/>
                </a:solidFill>
              </a:rPr>
              <a:t>Grade 1, Stage 6–7</a:t>
            </a:r>
            <a:endParaRPr lang="en-US" dirty="0"/>
          </a:p>
          <a:p>
            <a:pPr marL="342900" indent="-342900">
              <a:spcAft>
                <a:spcPts val="500"/>
              </a:spcAft>
              <a:buSzPct val="100000"/>
              <a:buChar char="•"/>
            </a:pPr>
            <a:r>
              <a:rPr lang="en-US" dirty="0">
                <a:solidFill>
                  <a:srgbClr val="000000"/>
                </a:solidFill>
              </a:rPr>
              <a:t>Frozen for </a:t>
            </a:r>
            <a:pPr indent="0" marL="0">
              <a:buNone/>
            </a:pPr>
            <a:r>
              <a:rPr lang="en-US" dirty="0">
                <a:solidFill>
                  <a:srgbClr val="000000"/>
                </a:solidFill>
              </a:rPr>
              <a:t>direct transfer</a:t>
            </a:r>
            <a:pPr indent="0" marL="0">
              <a:buNone/>
            </a:pPr>
            <a:r>
              <a:rPr lang="en-US" dirty="0">
                <a:solidFill>
                  <a:srgbClr val="000000"/>
                </a:solidFill>
              </a:rPr>
              <a:t> where in vivo, or vitrified with laboratory warming card where in vitro</a:t>
            </a:r>
            <a:endParaRPr lang="en-US" dirty="0"/>
          </a:p>
          <a:p>
            <a:pPr marL="342900" indent="-342900">
              <a:spcAft>
                <a:spcPts val="500"/>
              </a:spcAft>
              <a:buSzPct val="100000"/>
              <a:buChar char="•"/>
            </a:pPr>
            <a:r>
              <a:rPr lang="en-US" dirty="0">
                <a:solidFill>
                  <a:srgbClr val="000000"/>
                </a:solidFill>
              </a:rPr>
              <a:t>Full export documentation: donor health status, IETS 10-wash certification, export permit, health certificate</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10058400" y="4572000"/>
            <a:ext cx="3291840" cy="3291840"/>
          </a:xfrm>
          <a:prstGeom prst="ellipse">
            <a:avLst/>
          </a:prstGeom>
          <a:solidFill>
            <a:srgbClr val="14301C"/>
          </a:solidFill>
          <a:ln/>
        </p:spPr>
      </p:sp>
      <p:sp>
        <p:nvSpPr>
          <p:cNvPr id="3" name="Text 1"/>
          <p:cNvSpPr/>
          <p:nvPr/>
        </p:nvSpPr>
        <p:spPr>
          <a:xfrm>
            <a:off x="841248" y="2148840"/>
            <a:ext cx="10058400" cy="411480"/>
          </a:xfrm>
          <a:prstGeom prst="rect">
            <a:avLst/>
          </a:prstGeom>
          <a:noFill/>
          <a:ln/>
        </p:spPr>
        <p:txBody>
          <a:bodyPr wrap="square" lIns="0" tIns="0" rIns="0" bIns="0" rtlCol="0" anchor="ctr"/>
          <a:lstStyle/>
          <a:p>
            <a:pPr indent="0" marL="0">
              <a:buNone/>
            </a:pPr>
            <a:r>
              <a:rPr lang="en-US" sz="1500" b="1" spc="200" kern="0" dirty="0">
                <a:solidFill>
                  <a:srgbClr val="6FA368"/>
                </a:solidFill>
                <a:latin typeface="Calibri" pitchFamily="34" charset="0"/>
                <a:ea typeface="Calibri" pitchFamily="34" charset="-122"/>
                <a:cs typeface="Calibri" pitchFamily="34" charset="-120"/>
              </a:rPr>
              <a:t>PART 1-D</a:t>
            </a:r>
            <a:endParaRPr lang="en-US" sz="1500" dirty="0"/>
          </a:p>
        </p:txBody>
      </p:sp>
      <p:sp>
        <p:nvSpPr>
          <p:cNvPr id="4" name="Text 2"/>
          <p:cNvSpPr/>
          <p:nvPr/>
        </p:nvSpPr>
        <p:spPr>
          <a:xfrm>
            <a:off x="841248" y="2606040"/>
            <a:ext cx="1005840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EVALUATION AND CRYOPRESERVATION</a:t>
            </a:r>
            <a:endParaRPr lang="en-US" sz="3800" dirty="0"/>
          </a:p>
        </p:txBody>
      </p:sp>
      <p:sp>
        <p:nvSpPr>
          <p:cNvPr id="5" name="Text 3"/>
          <p:cNvSpPr/>
          <p:nvPr/>
        </p:nvSpPr>
        <p:spPr>
          <a:xfrm>
            <a:off x="841248" y="4160520"/>
            <a:ext cx="10058400" cy="457200"/>
          </a:xfrm>
          <a:prstGeom prst="rect">
            <a:avLst/>
          </a:prstGeom>
          <a:noFill/>
          <a:ln/>
        </p:spPr>
        <p:txBody>
          <a:bodyPr wrap="square" lIns="0" tIns="0" rIns="0" bIns="0" rtlCol="0" anchor="ctr"/>
          <a:lstStyle/>
          <a:p>
            <a:pPr indent="0" marL="0">
              <a:buNone/>
            </a:pPr>
            <a:r>
              <a:rPr lang="en-US" sz="1500" dirty="0">
                <a:solidFill>
                  <a:srgbClr val="C8D8C6"/>
                </a:solidFill>
                <a:latin typeface="Calibri" pitchFamily="34" charset="0"/>
                <a:ea typeface="Calibri" pitchFamily="34" charset="-122"/>
                <a:cs typeface="Calibri" pitchFamily="34" charset="-120"/>
              </a:rPr>
              <a:t>20 min, S25–S30</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IETS developmental stage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S25   |   27</a:t>
            </a:r>
            <a:endParaRPr lang="en-US" sz="9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275905"/>
                <a:gridCol w="4040364"/>
                <a:gridCol w="2764460"/>
                <a:gridCol w="2977111"/>
              </a:tblGrid>
              <a:tr h="390144">
                <a:tc>
                  <a:txBody>
                    <a:bodyPr/>
                    <a:lstStyle/>
                    <a:p>
                      <a:pPr indent="0" marL="0">
                        <a:buNone/>
                      </a:pPr>
                      <a:r>
                        <a:rPr lang="en-US" sz="1200" dirty="0">
                          <a:solidFill>
                            <a:srgbClr val="000000"/>
                          </a:solidFill>
                        </a:rPr>
                        <a:t>Code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Stage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Day (approx.)</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Transfer</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0144">
                <a:tc>
                  <a:txBody>
                    <a:bodyPr/>
                    <a:lstStyle/>
                    <a:p>
                      <a:pPr indent="0" marL="0">
                        <a:buNone/>
                      </a:pPr>
                      <a:r>
                        <a:rPr lang="en-US" sz="1200" b="1" dirty="0">
                          <a:solidFill>
                            <a:srgbClr val="000000"/>
                          </a:solidFill>
                        </a:rPr>
                        <a:t>1</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Unfertilized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NO</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0144">
                <a:tc>
                  <a:txBody>
                    <a:bodyPr/>
                    <a:lstStyle/>
                    <a:p>
                      <a:pPr indent="0" marL="0">
                        <a:buNone/>
                      </a:pPr>
                      <a:r>
                        <a:rPr lang="en-US" sz="1200" b="1" dirty="0">
                          <a:solidFill>
                            <a:srgbClr val="000000"/>
                          </a:solidFill>
                        </a:rPr>
                        <a:t>2</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2–12 cell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2–4</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NO</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0144">
                <a:tc>
                  <a:txBody>
                    <a:bodyPr/>
                    <a:lstStyle/>
                    <a:p>
                      <a:pPr indent="0" marL="0">
                        <a:buNone/>
                      </a:pPr>
                      <a:r>
                        <a:rPr lang="en-US" sz="1200" b="1" dirty="0">
                          <a:solidFill>
                            <a:srgbClr val="000000"/>
                          </a:solidFill>
                        </a:rPr>
                        <a:t>3</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Early morula</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5</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LTD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0144">
                <a:tc>
                  <a:txBody>
                    <a:bodyPr/>
                    <a:lstStyle/>
                    <a:p>
                      <a:pPr indent="0" marL="0">
                        <a:buNone/>
                      </a:pPr>
                      <a:r>
                        <a:rPr lang="en-US" sz="1200" b="1" dirty="0">
                          <a:solidFill>
                            <a:srgbClr val="000000"/>
                          </a:solidFill>
                        </a:rPr>
                        <a:t>4</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Morula</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6</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YES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0144">
                <a:tc>
                  <a:txBody>
                    <a:bodyPr/>
                    <a:lstStyle/>
                    <a:p>
                      <a:pPr indent="0" marL="0">
                        <a:buNone/>
                      </a:pPr>
                      <a:r>
                        <a:rPr lang="en-US" sz="1200" b="1" dirty="0">
                          <a:solidFill>
                            <a:srgbClr val="000000"/>
                          </a:solidFill>
                        </a:rPr>
                        <a:t>5</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Early blastocyst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YES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0144">
                <a:tc>
                  <a:txBody>
                    <a:bodyPr/>
                    <a:lstStyle/>
                    <a:p>
                      <a:pPr indent="0" marL="0">
                        <a:buNone/>
                      </a:pPr>
                      <a:r>
                        <a:rPr lang="en-US" sz="1200" b="1" dirty="0">
                          <a:solidFill>
                            <a:srgbClr val="000000"/>
                          </a:solidFill>
                        </a:rPr>
                        <a:t>6</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Blastocyst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BEST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0144">
                <a:tc>
                  <a:txBody>
                    <a:bodyPr/>
                    <a:lstStyle/>
                    <a:p>
                      <a:pPr indent="0" marL="0">
                        <a:buNone/>
                      </a:pPr>
                      <a:r>
                        <a:rPr lang="en-US" sz="1200" b="1" dirty="0">
                          <a:solidFill>
                            <a:srgbClr val="000000"/>
                          </a:solidFill>
                        </a:rPr>
                        <a:t>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Expanded blastocyst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7–8</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BEST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0144">
                <a:tc>
                  <a:txBody>
                    <a:bodyPr/>
                    <a:lstStyle/>
                    <a:p>
                      <a:pPr indent="0" marL="0">
                        <a:buNone/>
                      </a:pPr>
                      <a:r>
                        <a:rPr lang="en-US" sz="1200" b="1" dirty="0">
                          <a:solidFill>
                            <a:srgbClr val="000000"/>
                          </a:solidFill>
                        </a:rPr>
                        <a:t>8</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Hatched blastocyst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8–9</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LTD fresh only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0144">
                <a:tc>
                  <a:txBody>
                    <a:bodyPr/>
                    <a:lstStyle/>
                    <a:p>
                      <a:pPr indent="0" marL="0">
                        <a:buNone/>
                      </a:pPr>
                      <a:r>
                        <a:rPr lang="en-US" sz="1200" b="1" dirty="0">
                          <a:solidFill>
                            <a:srgbClr val="000000"/>
                          </a:solidFill>
                        </a:rPr>
                        <a:t>9</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Expanded hatched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9+</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NO for freezing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IETS quality grade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S26   |   28</a:t>
            </a:r>
            <a:endParaRPr lang="en-US" sz="9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918197"/>
                <a:gridCol w="6318765"/>
                <a:gridCol w="2820877"/>
              </a:tblGrid>
              <a:tr h="398399">
                <a:tc>
                  <a:txBody>
                    <a:bodyPr/>
                    <a:lstStyle/>
                    <a:p>
                      <a:pPr indent="0" marL="0">
                        <a:buNone/>
                      </a:pPr>
                      <a:r>
                        <a:rPr lang="en-US" sz="1200" dirty="0">
                          <a:solidFill>
                            <a:srgbClr val="000000"/>
                          </a:solidFill>
                        </a:rPr>
                        <a:t>Grade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Criteria</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Relative pregnancy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604774">
                <a:tc>
                  <a:txBody>
                    <a:bodyPr/>
                    <a:lstStyle/>
                    <a:p>
                      <a:pPr indent="0" marL="0">
                        <a:buNone/>
                      </a:pPr>
                      <a:r>
                        <a:rPr lang="en-US" sz="1200" b="1" dirty="0">
                          <a:solidFill>
                            <a:srgbClr val="000000"/>
                          </a:solidFill>
                        </a:rPr>
                        <a:t>1 Excellent/Good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Symmetrical, uniform cell size and colour, ≥85% intact cellular mass, zona intact and smooth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100% (reference)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2 Fair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Moderate irregularities; ≥50% intact mass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~85–90%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3 Poor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Major irregularities; ≥25% intact mass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~60–70%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4 Dead/Degenerate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Non-viable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Do not transfer or freeze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Cryopreservation — slow freezing with ethylene glycol</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S27   |   29</a:t>
            </a:r>
            <a:endParaRPr lang="en-US" sz="950" dirty="0"/>
          </a:p>
        </p:txBody>
      </p:sp>
      <p:sp>
        <p:nvSpPr>
          <p:cNvPr id="5" name="Text 3"/>
          <p:cNvSpPr/>
          <p:nvPr/>
        </p:nvSpPr>
        <p:spPr>
          <a:xfrm>
            <a:off x="621792" y="1298448"/>
            <a:ext cx="11002975" cy="1804924"/>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Equilibrate in </a:t>
            </a:r>
            <a:pPr indent="0" marL="0">
              <a:buNone/>
            </a:pPr>
            <a:r>
              <a:rPr lang="en-US" dirty="0">
                <a:solidFill>
                  <a:srgbClr val="000000"/>
                </a:solidFill>
              </a:rPr>
              <a:t>1.5 M ethylene glycol</a:t>
            </a:r>
            <a:pPr indent="0" marL="0">
              <a:buNone/>
            </a:pPr>
            <a:r>
              <a:rPr lang="en-US" dirty="0">
                <a:solidFill>
                  <a:srgbClr val="000000"/>
                </a:solidFill>
              </a:rPr>
              <a:t> ~10 min → load in straw</a:t>
            </a:r>
            <a:endParaRPr lang="en-US" dirty="0"/>
          </a:p>
          <a:p>
            <a:pPr marL="342900" indent="-342900">
              <a:spcAft>
                <a:spcPts val="500"/>
              </a:spcAft>
              <a:buSzPct val="100000"/>
              <a:buChar char="•"/>
            </a:pPr>
            <a:r>
              <a:rPr lang="en-US" dirty="0">
                <a:solidFill>
                  <a:srgbClr val="000000"/>
                </a:solidFill>
              </a:rPr>
              <a:t>Cool to −6 to −7 °C, </a:t>
            </a:r>
            <a:pPr indent="0" marL="0">
              <a:buNone/>
            </a:pPr>
            <a:r>
              <a:rPr lang="en-US" dirty="0">
                <a:solidFill>
                  <a:srgbClr val="000000"/>
                </a:solidFill>
              </a:rPr>
              <a:t>seed</a:t>
            </a:r>
            <a:pPr indent="0" marL="0">
              <a:buNone/>
            </a:pPr>
            <a:r>
              <a:rPr lang="en-US" dirty="0">
                <a:solidFill>
                  <a:srgbClr val="000000"/>
                </a:solidFill>
              </a:rPr>
              <a:t> (induce ice), hold ~10 min</a:t>
            </a:r>
            <a:endParaRPr lang="en-US" dirty="0"/>
          </a:p>
          <a:p>
            <a:pPr marL="342900" indent="-342900">
              <a:spcAft>
                <a:spcPts val="500"/>
              </a:spcAft>
              <a:buSzPct val="100000"/>
              <a:buChar char="•"/>
            </a:pPr>
            <a:r>
              <a:rPr lang="en-US" dirty="0">
                <a:solidFill>
                  <a:srgbClr val="000000"/>
                </a:solidFill>
              </a:rPr>
              <a:t>Cool at </a:t>
            </a:r>
            <a:pPr indent="0" marL="0">
              <a:buNone/>
            </a:pPr>
            <a:r>
              <a:rPr lang="en-US" dirty="0">
                <a:solidFill>
                  <a:srgbClr val="000000"/>
                </a:solidFill>
              </a:rPr>
              <a:t>0.5 °C/min to about −30 to −35 °C</a:t>
            </a:r>
            <a:pPr indent="0" marL="0">
              <a:buNone/>
            </a:pPr>
            <a:r>
              <a:rPr lang="en-US" dirty="0">
                <a:solidFill>
                  <a:srgbClr val="000000"/>
                </a:solidFill>
              </a:rPr>
              <a:t> → plunge into LN₂</a:t>
            </a:r>
            <a:endParaRPr lang="en-US" dirty="0"/>
          </a:p>
          <a:p>
            <a:pPr marL="342900" indent="-342900">
              <a:spcAft>
                <a:spcPts val="500"/>
              </a:spcAft>
              <a:buSzPct val="100000"/>
              <a:buChar char="•"/>
            </a:pPr>
            <a:r>
              <a:rPr lang="en-US" dirty="0">
                <a:solidFill>
                  <a:srgbClr val="000000"/>
                </a:solidFill>
              </a:rPr>
              <a:t>Ethylene glycol permeates fast and can be diluted in the uterus</a:t>
            </a:r>
            <a:pPr indent="0" marL="0">
              <a:buNone/>
            </a:pPr>
            <a:r>
              <a:rPr lang="en-US" dirty="0">
                <a:solidFill>
                  <a:srgbClr val="000000"/>
                </a:solidFill>
              </a:rPr>
              <a:t> → </a:t>
            </a:r>
            <a:pPr indent="0" marL="0">
              <a:buNone/>
            </a:pPr>
            <a:r>
              <a:rPr lang="en-US" dirty="0">
                <a:solidFill>
                  <a:srgbClr val="000000"/>
                </a:solidFill>
              </a:rPr>
              <a:t>DIRECT TRANSFER, no dish work</a:t>
            </a:r>
            <a:endParaRPr lang="en-US" dirty="0"/>
          </a:p>
          <a:p>
            <a:pPr marL="342900" indent="-342900">
              <a:spcAft>
                <a:spcPts val="500"/>
              </a:spcAft>
              <a:buSzPct val="100000"/>
              <a:buChar char="•"/>
            </a:pPr>
            <a:r>
              <a:rPr lang="en-US" dirty="0">
                <a:solidFill>
                  <a:srgbClr val="000000"/>
                </a:solidFill>
              </a:rPr>
              <a:t>Best for </a:t>
            </a:r>
            <a:pPr indent="0" marL="0">
              <a:buNone/>
            </a:pPr>
            <a:r>
              <a:rPr lang="en-US" dirty="0">
                <a:solidFill>
                  <a:srgbClr val="000000"/>
                </a:solidFill>
              </a:rPr>
              <a:t>in vivo, Grade 1, Stage 6–7</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Cryopreservation — vitrification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S28   |   30</a:t>
            </a:r>
            <a:endParaRPr lang="en-US" sz="950" dirty="0"/>
          </a:p>
        </p:txBody>
      </p:sp>
      <p:sp>
        <p:nvSpPr>
          <p:cNvPr id="5" name="Text 3"/>
          <p:cNvSpPr/>
          <p:nvPr/>
        </p:nvSpPr>
        <p:spPr>
          <a:xfrm>
            <a:off x="621792" y="1298448"/>
            <a:ext cx="11002975" cy="170434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Very high cryoprotectant concentration (e.g. </a:t>
            </a:r>
            <a:pPr indent="0" marL="0">
              <a:buNone/>
            </a:pPr>
            <a:r>
              <a:rPr lang="en-US" dirty="0">
                <a:solidFill>
                  <a:srgbClr val="000000"/>
                </a:solidFill>
              </a:rPr>
              <a:t>ethylene glycol + DMSO + sucrose</a:t>
            </a:r>
            <a:pPr indent="0" marL="0">
              <a:buNone/>
            </a:pPr>
            <a:r>
              <a:rPr lang="en-US" dirty="0">
                <a:solidFill>
                  <a:srgbClr val="000000"/>
                </a:solidFill>
              </a:rPr>
              <a:t>), ultra-rapid cooling (&gt;20,000 °C/min) — </a:t>
            </a:r>
            <a:pPr indent="0" marL="0">
              <a:buNone/>
            </a:pPr>
            <a:r>
              <a:rPr lang="en-US" dirty="0">
                <a:solidFill>
                  <a:srgbClr val="000000"/>
                </a:solidFill>
              </a:rPr>
              <a:t>glass, no ice crystals</a:t>
            </a:r>
            <a:endParaRPr lang="en-US" dirty="0"/>
          </a:p>
          <a:p>
            <a:pPr marL="342900" indent="-342900">
              <a:spcAft>
                <a:spcPts val="500"/>
              </a:spcAft>
              <a:buSzPct val="100000"/>
              <a:buChar char="•"/>
            </a:pPr>
            <a:r>
              <a:rPr lang="en-US" dirty="0">
                <a:solidFill>
                  <a:srgbClr val="000000"/>
                </a:solidFill>
              </a:rPr>
              <a:t>Carriers: Cryotop, open pulled straw (OPS), fine straws</a:t>
            </a:r>
            <a:endParaRPr lang="en-US" dirty="0"/>
          </a:p>
          <a:p>
            <a:pPr marL="342900" indent="-342900">
              <a:spcAft>
                <a:spcPts val="500"/>
              </a:spcAft>
              <a:buSzPct val="100000"/>
              <a:buChar char="•"/>
            </a:pPr>
            <a:r>
              <a:rPr lang="en-US" dirty="0">
                <a:solidFill>
                  <a:srgbClr val="000000"/>
                </a:solidFill>
              </a:rPr>
              <a:t>Preferred for IVP embryos</a:t>
            </a:r>
            <a:pPr indent="0" marL="0">
              <a:buNone/>
            </a:pPr>
            <a:r>
              <a:rPr lang="en-US" dirty="0">
                <a:solidFill>
                  <a:srgbClr val="000000"/>
                </a:solidFill>
              </a:rPr>
              <a:t> (lipid-rich, ice-sensitive)</a:t>
            </a:r>
            <a:endParaRPr lang="en-US" dirty="0"/>
          </a:p>
          <a:p>
            <a:pPr marL="342900" indent="-342900">
              <a:spcAft>
                <a:spcPts val="500"/>
              </a:spcAft>
              <a:buSzPct val="100000"/>
              <a:buChar char="•"/>
            </a:pPr>
            <a:r>
              <a:rPr lang="en-US" dirty="0">
                <a:solidFill>
                  <a:srgbClr val="000000"/>
                </a:solidFill>
              </a:rPr>
              <a:t>Requires stepwise warming/dilution with the laboratory's own protocol — NOT direct transfer</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Thawing a direct-transfer straw — the exact procedure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S29   |   31</a:t>
            </a:r>
            <a:endParaRPr lang="en-US" sz="950" dirty="0"/>
          </a:p>
        </p:txBody>
      </p:sp>
      <p:sp>
        <p:nvSpPr>
          <p:cNvPr id="5" name="Text 3"/>
          <p:cNvSpPr/>
          <p:nvPr/>
        </p:nvSpPr>
        <p:spPr>
          <a:xfrm>
            <a:off x="621792" y="1298448"/>
            <a:ext cx="11002975" cy="2136648"/>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dirty="0">
                <a:solidFill>
                  <a:srgbClr val="000000"/>
                </a:solidFill>
              </a:rPr>
              <a:t>Identify the straw </a:t>
            </a:r>
            <a:pPr indent="0" marL="0">
              <a:buNone/>
            </a:pPr>
            <a:r>
              <a:rPr lang="en-US" dirty="0">
                <a:solidFill>
                  <a:srgbClr val="000000"/>
                </a:solidFill>
              </a:rPr>
              <a:t>in the neck of the tank</a:t>
            </a:r>
            <a:pPr indent="0" marL="0">
              <a:buNone/>
            </a:pPr>
            <a:r>
              <a:rPr lang="en-US" dirty="0">
                <a:solidFill>
                  <a:srgbClr val="000000"/>
                </a:solidFill>
              </a:rPr>
              <a:t> — never lift the goblet into warm air</a:t>
            </a:r>
            <a:endParaRPr lang="en-US" dirty="0"/>
          </a:p>
          <a:p>
            <a:pPr marL="342900" indent="-342900">
              <a:spcAft>
                <a:spcPts val="500"/>
              </a:spcAft>
              <a:buSzPct val="100000"/>
              <a:buFont typeface="+mj-lt"/>
              <a:buAutoNum type="arabicPeriod" startAt="1"/>
            </a:pPr>
            <a:r>
              <a:rPr lang="en-US" dirty="0">
                <a:solidFill>
                  <a:srgbClr val="000000"/>
                </a:solidFill>
              </a:rPr>
              <a:t>Remove straw → </a:t>
            </a:r>
            <a:pPr indent="0" marL="0">
              <a:buNone/>
            </a:pPr>
            <a:r>
              <a:rPr lang="en-US" dirty="0">
                <a:solidFill>
                  <a:srgbClr val="000000"/>
                </a:solidFill>
              </a:rPr>
              <a:t>air 3–5 seconds</a:t>
            </a:r>
            <a:endParaRPr lang="en-US" dirty="0"/>
          </a:p>
          <a:p>
            <a:pPr marL="342900" indent="-342900">
              <a:spcAft>
                <a:spcPts val="500"/>
              </a:spcAft>
              <a:buSzPct val="100000"/>
              <a:buFont typeface="+mj-lt"/>
              <a:buAutoNum type="arabicPeriod" startAt="1"/>
            </a:pPr>
            <a:r>
              <a:rPr lang="en-US" dirty="0">
                <a:solidFill>
                  <a:srgbClr val="000000"/>
                </a:solidFill>
              </a:rPr>
              <a:t>37 °C water bath, 20–30 seconds</a:t>
            </a:r>
            <a:endParaRPr lang="en-US" dirty="0"/>
          </a:p>
          <a:p>
            <a:pPr marL="342900" indent="-342900">
              <a:spcAft>
                <a:spcPts val="500"/>
              </a:spcAft>
              <a:buSzPct val="100000"/>
              <a:buFont typeface="+mj-lt"/>
              <a:buAutoNum type="arabicPeriod" startAt="1"/>
            </a:pPr>
            <a:r>
              <a:rPr lang="en-US" dirty="0">
                <a:solidFill>
                  <a:srgbClr val="000000"/>
                </a:solidFill>
              </a:rPr>
              <a:t>Dry completely; wipe with alcohol; cut the sealed end </a:t>
            </a:r>
            <a:pPr indent="0" marL="0">
              <a:buNone/>
            </a:pPr>
            <a:r>
              <a:rPr lang="en-US" dirty="0">
                <a:solidFill>
                  <a:srgbClr val="000000"/>
                </a:solidFill>
              </a:rPr>
              <a:t>square</a:t>
            </a:r>
            <a:endParaRPr lang="en-US" dirty="0"/>
          </a:p>
          <a:p>
            <a:pPr marL="342900" indent="-342900">
              <a:spcAft>
                <a:spcPts val="500"/>
              </a:spcAft>
              <a:buSzPct val="100000"/>
              <a:buFont typeface="+mj-lt"/>
              <a:buAutoNum type="arabicPeriod" startAt="1"/>
            </a:pPr>
            <a:r>
              <a:rPr lang="en-US" dirty="0">
                <a:solidFill>
                  <a:srgbClr val="000000"/>
                </a:solidFill>
              </a:rPr>
              <a:t>Load into a </a:t>
            </a:r>
            <a:pPr indent="0" marL="0">
              <a:buNone/>
            </a:pPr>
            <a:r>
              <a:rPr lang="en-US" dirty="0">
                <a:solidFill>
                  <a:srgbClr val="000000"/>
                </a:solidFill>
              </a:rPr>
              <a:t>pre-warmed</a:t>
            </a:r>
            <a:pPr indent="0" marL="0">
              <a:buNone/>
            </a:pPr>
            <a:r>
              <a:rPr lang="en-US" dirty="0">
                <a:solidFill>
                  <a:srgbClr val="000000"/>
                </a:solidFill>
              </a:rPr>
              <a:t> ET gun; apply sanitary sheath</a:t>
            </a:r>
            <a:endParaRPr lang="en-US" dirty="0"/>
          </a:p>
          <a:p>
            <a:pPr marL="342900" indent="-342900">
              <a:spcAft>
                <a:spcPts val="500"/>
              </a:spcAft>
              <a:buSzPct val="100000"/>
              <a:buFont typeface="+mj-lt"/>
              <a:buAutoNum type="arabicPeriod" startAt="1"/>
            </a:pPr>
            <a:r>
              <a:rPr lang="en-US" dirty="0">
                <a:solidFill>
                  <a:srgbClr val="000000"/>
                </a:solidFill>
              </a:rPr>
              <a:t>Transfer within 5–10 minutes</a:t>
            </a:r>
            <a:pPr indent="0" marL="0">
              <a:buNone/>
            </a:pPr>
            <a:r>
              <a:rPr lang="en-US" dirty="0">
                <a:solidFill>
                  <a:srgbClr val="000000"/>
                </a:solidFill>
              </a:rPr>
              <a:t>; protect from sun and wind</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Field cryogenic safety and tank management</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S30   |   32</a:t>
            </a:r>
            <a:endParaRPr lang="en-US" sz="950" dirty="0"/>
          </a:p>
        </p:txBody>
      </p:sp>
      <p:sp>
        <p:nvSpPr>
          <p:cNvPr id="5" name="Text 3"/>
          <p:cNvSpPr/>
          <p:nvPr/>
        </p:nvSpPr>
        <p:spPr>
          <a:xfrm>
            <a:off x="621792" y="1298448"/>
            <a:ext cx="11002975" cy="1804924"/>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Liquid nitrogen at </a:t>
            </a:r>
            <a:pPr indent="0" marL="0">
              <a:buNone/>
            </a:pPr>
            <a:r>
              <a:rPr lang="en-US" dirty="0">
                <a:solidFill>
                  <a:srgbClr val="000000"/>
                </a:solidFill>
              </a:rPr>
              <a:t>−196 °C</a:t>
            </a:r>
            <a:pPr indent="0" marL="0">
              <a:buNone/>
            </a:pPr>
            <a:r>
              <a:rPr lang="en-US" dirty="0">
                <a:solidFill>
                  <a:srgbClr val="000000"/>
                </a:solidFill>
              </a:rPr>
              <a:t> — contact causes immediate cold burns; </a:t>
            </a:r>
            <a:pPr indent="0" marL="0">
              <a:buNone/>
            </a:pPr>
            <a:r>
              <a:rPr lang="en-US" dirty="0">
                <a:solidFill>
                  <a:srgbClr val="000000"/>
                </a:solidFill>
              </a:rPr>
              <a:t>wear gloves and eye protection</a:t>
            </a:r>
            <a:endParaRPr lang="en-US" dirty="0"/>
          </a:p>
          <a:p>
            <a:pPr marL="342900" indent="-342900">
              <a:spcAft>
                <a:spcPts val="500"/>
              </a:spcAft>
              <a:buSzPct val="100000"/>
              <a:buChar char="•"/>
            </a:pPr>
            <a:r>
              <a:rPr lang="en-US" dirty="0">
                <a:solidFill>
                  <a:srgbClr val="000000"/>
                </a:solidFill>
              </a:rPr>
              <a:t>Never in a sealed room or closed vehicle</a:t>
            </a:r>
            <a:pPr indent="0" marL="0">
              <a:buNone/>
            </a:pPr>
            <a:r>
              <a:rPr lang="en-US" dirty="0">
                <a:solidFill>
                  <a:srgbClr val="000000"/>
                </a:solidFill>
              </a:rPr>
              <a:t> — nitrogen displaces oxygen; asphyxiation risk without warning</a:t>
            </a:r>
            <a:endParaRPr lang="en-US" dirty="0"/>
          </a:p>
          <a:p>
            <a:pPr marL="342900" indent="-342900">
              <a:spcAft>
                <a:spcPts val="500"/>
              </a:spcAft>
              <a:buSzPct val="100000"/>
              <a:buChar char="•"/>
            </a:pPr>
            <a:r>
              <a:rPr lang="en-US" dirty="0">
                <a:solidFill>
                  <a:srgbClr val="000000"/>
                </a:solidFill>
              </a:rPr>
              <a:t>Check tank level </a:t>
            </a:r>
            <a:pPr indent="0" marL="0">
              <a:buNone/>
            </a:pPr>
            <a:r>
              <a:rPr lang="en-US" dirty="0">
                <a:solidFill>
                  <a:srgbClr val="000000"/>
                </a:solidFill>
              </a:rPr>
              <a:t>weekly</a:t>
            </a:r>
            <a:pPr indent="0" marL="0">
              <a:buNone/>
            </a:pPr>
            <a:r>
              <a:rPr lang="en-US" dirty="0">
                <a:solidFill>
                  <a:srgbClr val="000000"/>
                </a:solidFill>
              </a:rPr>
              <a:t>, record it; a failing tank shows frost on the outside and rapid loss</a:t>
            </a:r>
            <a:endParaRPr lang="en-US" dirty="0"/>
          </a:p>
          <a:p>
            <a:pPr marL="342900" indent="-342900">
              <a:spcAft>
                <a:spcPts val="500"/>
              </a:spcAft>
              <a:buSzPct val="100000"/>
              <a:buChar char="•"/>
            </a:pPr>
            <a:r>
              <a:rPr lang="en-US" dirty="0">
                <a:solidFill>
                  <a:srgbClr val="000000"/>
                </a:solidFill>
              </a:rPr>
              <a:t>Maintain a </a:t>
            </a:r>
            <a:pPr indent="0" marL="0">
              <a:buNone/>
            </a:pPr>
            <a:r>
              <a:rPr lang="en-US" dirty="0">
                <a:solidFill>
                  <a:srgbClr val="000000"/>
                </a:solidFill>
              </a:rPr>
              <a:t>goblet map</a:t>
            </a:r>
            <a:pPr indent="0" marL="0">
              <a:buNone/>
            </a:pPr>
            <a:r>
              <a:rPr lang="en-US" dirty="0">
                <a:solidFill>
                  <a:srgbClr val="000000"/>
                </a:solidFill>
              </a:rPr>
              <a:t> — canister, colour, cane number, straw ID</a:t>
            </a:r>
            <a:endParaRPr lang="en-US" dirty="0"/>
          </a:p>
          <a:p>
            <a:pPr marL="342900" indent="-342900">
              <a:spcAft>
                <a:spcPts val="500"/>
              </a:spcAft>
              <a:buSzPct val="100000"/>
              <a:buChar char="•"/>
            </a:pPr>
            <a:r>
              <a:rPr lang="en-US" dirty="0">
                <a:solidFill>
                  <a:srgbClr val="000000"/>
                </a:solidFill>
              </a:rPr>
              <a:t>Never let a straw rise above the neck line during searching</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10058400" y="4572000"/>
            <a:ext cx="3291840" cy="3291840"/>
          </a:xfrm>
          <a:prstGeom prst="ellipse">
            <a:avLst/>
          </a:prstGeom>
          <a:solidFill>
            <a:srgbClr val="14301C"/>
          </a:solidFill>
          <a:ln/>
        </p:spPr>
      </p:sp>
      <p:sp>
        <p:nvSpPr>
          <p:cNvPr id="3" name="Text 1"/>
          <p:cNvSpPr/>
          <p:nvPr/>
        </p:nvSpPr>
        <p:spPr>
          <a:xfrm>
            <a:off x="841248" y="2148840"/>
            <a:ext cx="10058400" cy="411480"/>
          </a:xfrm>
          <a:prstGeom prst="rect">
            <a:avLst/>
          </a:prstGeom>
          <a:noFill/>
          <a:ln/>
        </p:spPr>
        <p:txBody>
          <a:bodyPr wrap="square" lIns="0" tIns="0" rIns="0" bIns="0" rtlCol="0" anchor="ctr"/>
          <a:lstStyle/>
          <a:p>
            <a:pPr indent="0" marL="0">
              <a:buNone/>
            </a:pPr>
            <a:r>
              <a:rPr lang="en-US" sz="1500" b="1" spc="200" kern="0" dirty="0">
                <a:solidFill>
                  <a:srgbClr val="6FA368"/>
                </a:solidFill>
                <a:latin typeface="Calibri" pitchFamily="34" charset="0"/>
                <a:ea typeface="Calibri" pitchFamily="34" charset="-122"/>
                <a:cs typeface="Calibri" pitchFamily="34" charset="-120"/>
              </a:rPr>
              <a:t>PART 1-E</a:t>
            </a:r>
            <a:endParaRPr lang="en-US" sz="1500" dirty="0"/>
          </a:p>
        </p:txBody>
      </p:sp>
      <p:sp>
        <p:nvSpPr>
          <p:cNvPr id="4" name="Text 2"/>
          <p:cNvSpPr/>
          <p:nvPr/>
        </p:nvSpPr>
        <p:spPr>
          <a:xfrm>
            <a:off x="841248" y="2606040"/>
            <a:ext cx="1005840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RECIPIENTS, TRANSFER, RESULTS</a:t>
            </a:r>
            <a:endParaRPr lang="en-US" sz="3800" dirty="0"/>
          </a:p>
        </p:txBody>
      </p:sp>
      <p:sp>
        <p:nvSpPr>
          <p:cNvPr id="5" name="Text 3"/>
          <p:cNvSpPr/>
          <p:nvPr/>
        </p:nvSpPr>
        <p:spPr>
          <a:xfrm>
            <a:off x="841248" y="4160520"/>
            <a:ext cx="10058400" cy="457200"/>
          </a:xfrm>
          <a:prstGeom prst="rect">
            <a:avLst/>
          </a:prstGeom>
          <a:noFill/>
          <a:ln/>
        </p:spPr>
        <p:txBody>
          <a:bodyPr wrap="square" lIns="0" tIns="0" rIns="0" bIns="0" rtlCol="0" anchor="ctr"/>
          <a:lstStyle/>
          <a:p>
            <a:pPr indent="0" marL="0">
              <a:buNone/>
            </a:pPr>
            <a:r>
              <a:rPr lang="en-US" sz="1500" dirty="0">
                <a:solidFill>
                  <a:srgbClr val="C8D8C6"/>
                </a:solidFill>
                <a:latin typeface="Calibri" pitchFamily="34" charset="0"/>
                <a:ea typeface="Calibri" pitchFamily="34" charset="-122"/>
                <a:cs typeface="Calibri" pitchFamily="34" charset="-120"/>
              </a:rPr>
              <a:t>20 min, S31–S38</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960559" cy="749808"/>
          </a:xfrm>
          <a:prstGeom prst="rect">
            <a:avLst/>
          </a:prstGeom>
          <a:noFill/>
          <a:ln/>
        </p:spPr>
        <p:txBody>
          <a:bodyPr wrap="square" lIns="0" tIns="0" rIns="0" bIns="0" rtlCol="0" anchor="t"/>
          <a:lstStyle/>
          <a:p>
            <a:pPr indent="0" marL="0">
              <a:buNone/>
            </a:pPr>
            <a:r>
              <a:rPr lang="en-US" dirty="0">
                <a:solidFill>
                  <a:srgbClr val="000000"/>
                </a:solidFill>
              </a:rPr>
              <a:t>The recipient is the product — seven criteria</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S31   |   33</a:t>
            </a:r>
            <a:endParaRPr lang="en-US" sz="950" dirty="0"/>
          </a:p>
        </p:txBody>
      </p:sp>
      <p:sp>
        <p:nvSpPr>
          <p:cNvPr id="5" name="Shape 3"/>
          <p:cNvSpPr/>
          <p:nvPr/>
        </p:nvSpPr>
        <p:spPr>
          <a:xfrm>
            <a:off x="10692079" y="402336"/>
            <a:ext cx="932688" cy="310896"/>
          </a:xfrm>
          <a:prstGeom prst="roundRect">
            <a:avLst>
              <a:gd name="adj" fmla="val 50000"/>
            </a:avLst>
          </a:prstGeom>
          <a:solidFill>
            <a:srgbClr val="B26B12"/>
          </a:solidFill>
          <a:ln w="12700">
            <a:solidFill>
              <a:srgbClr val="B26B12"/>
            </a:solidFill>
            <a:prstDash val="solid"/>
          </a:ln>
        </p:spPr>
      </p:sp>
      <p:sp>
        <p:nvSpPr>
          <p:cNvPr id="6" name="Text 4"/>
          <p:cNvSpPr/>
          <p:nvPr/>
        </p:nvSpPr>
        <p:spPr>
          <a:xfrm>
            <a:off x="10692079" y="402336"/>
            <a:ext cx="932688"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SLIDE</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953610"/>
                <a:gridCol w="2196572"/>
                <a:gridCol w="7907658"/>
              </a:tblGrid>
              <a:tr h="398399">
                <a:tc>
                  <a:txBody>
                    <a:bodyPr/>
                    <a:lstStyle/>
                    <a:p>
                      <a:pPr indent="0" marL="0">
                        <a:buNone/>
                      </a:pPr>
                      <a:r>
                        <a:rPr lang="en-US" sz="1200" dirty="0">
                          <a:solidFill>
                            <a:srgbClr val="000000"/>
                          </a:solidFill>
                        </a:rPr>
                        <a:t>#</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Criterion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Standard</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1</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Cycling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At least one recorded estrus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2</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BCS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2.75–3.25</a:t>
                      </a:r>
                      <a:pPr indent="0" marL="0">
                        <a:buNone/>
                      </a:pPr>
                      <a:r>
                        <a:rPr lang="en-US" sz="1200" dirty="0">
                          <a:solidFill>
                            <a:srgbClr val="000000"/>
                          </a:solidFill>
                        </a:rPr>
                        <a:t> (5-point), stable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3</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Days postpartum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 50–60 days</a:t>
                      </a:r>
                      <a:pPr indent="0" marL="0">
                        <a:buNone/>
                      </a:pPr>
                      <a:r>
                        <a:rPr lang="en-US" sz="1200" dirty="0">
                          <a:solidFill>
                            <a:srgbClr val="000000"/>
                          </a:solidFill>
                        </a:rPr>
                        <a:t>, uterus involuted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4</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Tract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Normal; no pyometra, adhesion, or chronic endometritis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5</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Health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No fever, lameness, acute mastitis, chronic disease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6</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Age/parity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Heifer ≥14–15 mo at target weight; cow parity 1–5</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Day-7 CL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Functional CL confirmed by palpation or ultrasound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Day-7 CL evaluation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S32   |   34</a:t>
            </a:r>
            <a:endParaRPr lang="en-US" sz="950" dirty="0"/>
          </a:p>
        </p:txBody>
      </p:sp>
      <p:sp>
        <p:nvSpPr>
          <p:cNvPr id="5" name="Text 3"/>
          <p:cNvSpPr/>
          <p:nvPr/>
        </p:nvSpPr>
        <p:spPr>
          <a:xfrm>
            <a:off x="621792" y="1298448"/>
            <a:ext cx="11002975" cy="147320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Recipient must be </a:t>
            </a:r>
            <a:pPr indent="0" marL="0">
              <a:buNone/>
            </a:pPr>
            <a:r>
              <a:rPr lang="en-US" dirty="0">
                <a:solidFill>
                  <a:srgbClr val="000000"/>
                </a:solidFill>
              </a:rPr>
              <a:t>Day 6–8 after estrus/ovulation</a:t>
            </a:r>
            <a:pPr indent="0" marL="0">
              <a:buNone/>
            </a:pPr>
            <a:r>
              <a:rPr lang="en-US" dirty="0">
                <a:solidFill>
                  <a:srgbClr val="000000"/>
                </a:solidFill>
              </a:rPr>
              <a:t> when receiving a Day-7 embryo (±1 day)</a:t>
            </a:r>
            <a:endParaRPr lang="en-US" dirty="0"/>
          </a:p>
          <a:p>
            <a:pPr marL="342900" indent="-342900">
              <a:spcAft>
                <a:spcPts val="500"/>
              </a:spcAft>
              <a:buSzPct val="100000"/>
              <a:buChar char="•"/>
            </a:pPr>
            <a:r>
              <a:rPr lang="en-US" dirty="0">
                <a:solidFill>
                  <a:srgbClr val="000000"/>
                </a:solidFill>
              </a:rPr>
              <a:t>Confirm a </a:t>
            </a:r>
            <a:pPr indent="0" marL="0">
              <a:buNone/>
            </a:pPr>
            <a:r>
              <a:rPr lang="en-US" dirty="0">
                <a:solidFill>
                  <a:srgbClr val="000000"/>
                </a:solidFill>
              </a:rPr>
              <a:t>functional CL, approximately ≥18–20 mm</a:t>
            </a:r>
            <a:pPr indent="0" marL="0">
              <a:buNone/>
            </a:pPr>
            <a:r>
              <a:rPr lang="en-US" dirty="0">
                <a:solidFill>
                  <a:srgbClr val="000000"/>
                </a:solidFill>
              </a:rPr>
              <a:t>, by rectal palpation and preferably ultrasound</a:t>
            </a:r>
            <a:endParaRPr lang="en-US" dirty="0"/>
          </a:p>
          <a:p>
            <a:pPr marL="342900" indent="-342900">
              <a:spcAft>
                <a:spcPts val="500"/>
              </a:spcAft>
              <a:buSzPct val="100000"/>
              <a:buChar char="•"/>
            </a:pPr>
            <a:r>
              <a:rPr lang="en-US" dirty="0">
                <a:solidFill>
                  <a:srgbClr val="000000"/>
                </a:solidFill>
              </a:rPr>
              <a:t>Transfer into the horn IPSILATERAL (same side) as the CL</a:t>
            </a:r>
            <a:endParaRPr lang="en-US" dirty="0"/>
          </a:p>
          <a:p>
            <a:pPr marL="342900" indent="-342900">
              <a:spcAft>
                <a:spcPts val="500"/>
              </a:spcAft>
              <a:buSzPct val="100000"/>
              <a:buChar char="•"/>
            </a:pPr>
            <a:r>
              <a:rPr lang="en-US" dirty="0">
                <a:solidFill>
                  <a:srgbClr val="000000"/>
                </a:solidFill>
              </a:rPr>
              <a:t>No CL / cystic ovary / doubtful CL → </a:t>
            </a:r>
            <a:pPr indent="0" marL="0">
              <a:buNone/>
            </a:pPr>
            <a:r>
              <a:rPr lang="en-US" dirty="0">
                <a:solidFill>
                  <a:srgbClr val="000000"/>
                </a:solidFill>
              </a:rPr>
              <a:t>reject the recipient. Do not thaw the straw.</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Transfer technique — nine steps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S33   |   35</a:t>
            </a:r>
            <a:endParaRPr lang="en-US" sz="950" dirty="0"/>
          </a:p>
        </p:txBody>
      </p:sp>
      <p:sp>
        <p:nvSpPr>
          <p:cNvPr id="5" name="Text 3"/>
          <p:cNvSpPr/>
          <p:nvPr/>
        </p:nvSpPr>
        <p:spPr>
          <a:xfrm>
            <a:off x="621792" y="1298448"/>
            <a:ext cx="11002975" cy="31318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dirty="0">
                <a:solidFill>
                  <a:srgbClr val="000000"/>
                </a:solidFill>
              </a:rPr>
              <a:t>Restrain; tail held aside</a:t>
            </a:r>
            <a:endParaRPr lang="en-US" dirty="0"/>
          </a:p>
          <a:p>
            <a:pPr marL="342900" indent="-342900">
              <a:spcAft>
                <a:spcPts val="500"/>
              </a:spcAft>
              <a:buSzPct val="100000"/>
              <a:buFont typeface="+mj-lt"/>
              <a:buAutoNum type="arabicPeriod" startAt="1"/>
            </a:pPr>
            <a:r>
              <a:rPr lang="en-US" dirty="0">
                <a:solidFill>
                  <a:srgbClr val="000000"/>
                </a:solidFill>
              </a:rPr>
              <a:t>Epidural: 2–3 mL 2% lidocaine</a:t>
            </a:r>
            <a:pPr indent="0" marL="0">
              <a:buNone/>
            </a:pPr>
            <a:r>
              <a:rPr lang="en-US" dirty="0">
                <a:solidFill>
                  <a:srgbClr val="000000"/>
                </a:solidFill>
              </a:rPr>
              <a:t> — wait for tail relaxation</a:t>
            </a:r>
            <a:endParaRPr lang="en-US" dirty="0"/>
          </a:p>
          <a:p>
            <a:pPr marL="342900" indent="-342900">
              <a:spcAft>
                <a:spcPts val="500"/>
              </a:spcAft>
              <a:buSzPct val="100000"/>
              <a:buFont typeface="+mj-lt"/>
              <a:buAutoNum type="arabicPeriod" startAt="1"/>
            </a:pPr>
            <a:r>
              <a:rPr lang="en-US" dirty="0">
                <a:solidFill>
                  <a:srgbClr val="000000"/>
                </a:solidFill>
              </a:rPr>
              <a:t>Clean and dry vulva and perineum</a:t>
            </a:r>
            <a:endParaRPr lang="en-US" dirty="0"/>
          </a:p>
          <a:p>
            <a:pPr marL="342900" indent="-342900">
              <a:spcAft>
                <a:spcPts val="500"/>
              </a:spcAft>
              <a:buSzPct val="100000"/>
              <a:buFont typeface="+mj-lt"/>
              <a:buAutoNum type="arabicPeriod" startAt="1"/>
            </a:pPr>
            <a:r>
              <a:rPr lang="en-US" dirty="0">
                <a:solidFill>
                  <a:srgbClr val="000000"/>
                </a:solidFill>
              </a:rPr>
              <a:t>Rectal palpation — </a:t>
            </a:r>
            <a:pPr indent="0" marL="0">
              <a:buNone/>
            </a:pPr>
            <a:r>
              <a:rPr lang="en-US" dirty="0">
                <a:solidFill>
                  <a:srgbClr val="000000"/>
                </a:solidFill>
              </a:rPr>
              <a:t>confirm the CL side again</a:t>
            </a:r>
            <a:endParaRPr lang="en-US" dirty="0"/>
          </a:p>
          <a:p>
            <a:pPr marL="342900" indent="-342900">
              <a:spcAft>
                <a:spcPts val="500"/>
              </a:spcAft>
              <a:buSzPct val="100000"/>
              <a:buFont typeface="+mj-lt"/>
              <a:buAutoNum type="arabicPeriod" startAt="1"/>
            </a:pPr>
            <a:r>
              <a:rPr lang="en-US" dirty="0">
                <a:solidFill>
                  <a:srgbClr val="000000"/>
                </a:solidFill>
              </a:rPr>
              <a:t>Insert gun; </a:t>
            </a:r>
            <a:pPr indent="0" marL="0">
              <a:buNone/>
            </a:pPr>
            <a:r>
              <a:rPr lang="en-US" dirty="0">
                <a:solidFill>
                  <a:srgbClr val="000000"/>
                </a:solidFill>
              </a:rPr>
              <a:t>pass the cervix gently</a:t>
            </a:r>
            <a:pPr indent="0" marL="0">
              <a:buNone/>
            </a:pPr>
            <a:r>
              <a:rPr lang="en-US" dirty="0">
                <a:solidFill>
                  <a:srgbClr val="000000"/>
                </a:solidFill>
              </a:rPr>
              <a:t> — manipulate the cervix onto the gun</a:t>
            </a:r>
            <a:endParaRPr lang="en-US" dirty="0"/>
          </a:p>
          <a:p>
            <a:pPr marL="342900" indent="-342900">
              <a:spcAft>
                <a:spcPts val="500"/>
              </a:spcAft>
              <a:buSzPct val="100000"/>
              <a:buFont typeface="+mj-lt"/>
              <a:buAutoNum type="arabicPeriod" startAt="1"/>
            </a:pPr>
            <a:r>
              <a:rPr lang="en-US" dirty="0">
                <a:solidFill>
                  <a:srgbClr val="000000"/>
                </a:solidFill>
              </a:rPr>
              <a:t>Enter the ipsilateral horn; break the sanitary sheath at the internal os</a:t>
            </a:r>
            <a:endParaRPr lang="en-US" dirty="0"/>
          </a:p>
          <a:p>
            <a:pPr marL="342900" indent="-342900">
              <a:spcAft>
                <a:spcPts val="500"/>
              </a:spcAft>
              <a:buSzPct val="100000"/>
              <a:buFont typeface="+mj-lt"/>
              <a:buAutoNum type="arabicPeriod" startAt="1"/>
            </a:pPr>
            <a:r>
              <a:rPr lang="en-US" dirty="0">
                <a:solidFill>
                  <a:srgbClr val="000000"/>
                </a:solidFill>
              </a:rPr>
              <a:t>Deposit in the </a:t>
            </a:r>
            <a:pPr indent="0" marL="0">
              <a:buNone/>
            </a:pPr>
            <a:r>
              <a:rPr lang="en-US" dirty="0">
                <a:solidFill>
                  <a:srgbClr val="000000"/>
                </a:solidFill>
              </a:rPr>
              <a:t>cranial one-third of the horn</a:t>
            </a:r>
            <a:pPr indent="0" marL="0">
              <a:buNone/>
            </a:pPr>
            <a:r>
              <a:rPr lang="en-US" dirty="0">
                <a:solidFill>
                  <a:srgbClr val="000000"/>
                </a:solidFill>
              </a:rPr>
              <a:t>; slow, complete push</a:t>
            </a:r>
            <a:endParaRPr lang="en-US" dirty="0"/>
          </a:p>
          <a:p>
            <a:pPr marL="342900" indent="-342900">
              <a:spcAft>
                <a:spcPts val="500"/>
              </a:spcAft>
              <a:buSzPct val="100000"/>
              <a:buFont typeface="+mj-lt"/>
              <a:buAutoNum type="arabicPeriod" startAt="1"/>
            </a:pPr>
            <a:r>
              <a:rPr lang="en-US" dirty="0">
                <a:solidFill>
                  <a:srgbClr val="000000"/>
                </a:solidFill>
              </a:rPr>
              <a:t>Withdraw straight; </a:t>
            </a:r>
            <a:pPr indent="0" marL="0">
              <a:buNone/>
            </a:pPr>
            <a:r>
              <a:rPr lang="en-US" dirty="0">
                <a:solidFill>
                  <a:srgbClr val="000000"/>
                </a:solidFill>
              </a:rPr>
              <a:t>confirm the straw is empty</a:t>
            </a:r>
            <a:endParaRPr lang="en-US" dirty="0"/>
          </a:p>
          <a:p>
            <a:pPr marL="342900" indent="-342900">
              <a:spcAft>
                <a:spcPts val="500"/>
              </a:spcAft>
              <a:buSzPct val="100000"/>
              <a:buFont typeface="+mj-lt"/>
              <a:buAutoNum type="arabicPeriod" startAt="1"/>
            </a:pPr>
            <a:r>
              <a:rPr lang="en-US" dirty="0">
                <a:solidFill>
                  <a:srgbClr val="000000"/>
                </a:solidFill>
              </a:rPr>
              <a:t>Record immediately</a:t>
            </a:r>
            <a:pPr indent="0" marL="0">
              <a:buNone/>
            </a:pPr>
            <a:r>
              <a:rPr lang="en-US" dirty="0">
                <a:solidFill>
                  <a:srgbClr val="000000"/>
                </a:solidFill>
              </a:rPr>
              <a:t> — 14 fields</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Ease score — measure your own technique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S34   |   36</a:t>
            </a:r>
            <a:endParaRPr lang="en-US" sz="9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941146"/>
                <a:gridCol w="5419657"/>
                <a:gridCol w="4697036"/>
              </a:tblGrid>
              <a:tr h="398399">
                <a:tc>
                  <a:txBody>
                    <a:bodyPr/>
                    <a:lstStyle/>
                    <a:p>
                      <a:pPr indent="0" marL="0">
                        <a:buNone/>
                      </a:pPr>
                      <a:r>
                        <a:rPr lang="en-US" sz="1200" dirty="0">
                          <a:solidFill>
                            <a:srgbClr val="000000"/>
                          </a:solidFill>
                        </a:rPr>
                        <a:t>Score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Meaning</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Action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1</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Easy, no blood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Normal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2</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Some resistance, no blood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Review lubrication, restraint, patience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3</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Difficult, blood on sheath, repeated attempts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Expect reduced pregnancy; retrain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3184652"/>
            <a:ext cx="11057839" cy="751459"/>
          </a:xfrm>
          <a:prstGeom prst="roundRect">
            <a:avLst>
              <a:gd name="adj" fmla="val 10951"/>
            </a:avLst>
          </a:prstGeom>
          <a:solidFill>
            <a:srgbClr val="E8F0E6"/>
          </a:solidFill>
          <a:ln w="9525">
            <a:solidFill>
              <a:srgbClr val="6FA368"/>
            </a:solidFill>
            <a:prstDash val="solid"/>
          </a:ln>
        </p:spPr>
      </p:sp>
      <p:sp>
        <p:nvSpPr>
          <p:cNvPr id="7" name="Text 4"/>
          <p:cNvSpPr/>
          <p:nvPr/>
        </p:nvSpPr>
        <p:spPr>
          <a:xfrm>
            <a:off x="786384" y="3349244"/>
            <a:ext cx="10618927" cy="422275"/>
          </a:xfrm>
          <a:prstGeom prst="rect">
            <a:avLst/>
          </a:prstGeom>
          <a:noFill/>
          <a:ln/>
        </p:spPr>
        <p:txBody>
          <a:bodyPr wrap="square" lIns="0" tIns="0" rIns="0" bIns="0" rtlCol="0" anchor="t"/>
          <a:lstStyle/>
          <a:p>
            <a:pPr indent="0" marL="0">
              <a:buNone/>
            </a:pPr>
            <a:r>
              <a:rPr lang="en-US" dirty="0">
                <a:solidFill>
                  <a:srgbClr val="000000"/>
                </a:solidFill>
              </a:rPr>
              <a:t>Track your personal proportion of score 3. </a:t>
            </a:r>
            <a:pPr indent="0" marL="0">
              <a:buNone/>
            </a:pPr>
            <a:r>
              <a:rPr lang="en-US" dirty="0">
                <a:solidFill>
                  <a:srgbClr val="000000"/>
                </a:solidFill>
              </a:rPr>
              <a:t>Above ~10% = your technique, not the embryos.</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The first 45 days after transfer</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S35   |   37</a:t>
            </a:r>
            <a:endParaRPr lang="en-US" sz="950" dirty="0"/>
          </a:p>
        </p:txBody>
      </p:sp>
      <p:sp>
        <p:nvSpPr>
          <p:cNvPr id="5" name="Text 3"/>
          <p:cNvSpPr/>
          <p:nvPr/>
        </p:nvSpPr>
        <p:spPr>
          <a:xfrm>
            <a:off x="621792" y="1298448"/>
            <a:ext cx="11002975" cy="147320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Do not</a:t>
            </a:r>
            <a:pPr indent="0" marL="0">
              <a:buNone/>
            </a:pPr>
            <a:r>
              <a:rPr lang="en-US" dirty="0">
                <a:solidFill>
                  <a:srgbClr val="000000"/>
                </a:solidFill>
              </a:rPr>
              <a:t> move, regroup, transport, vaccinate or dehorn recipients in the first 7–10 days</a:t>
            </a:r>
            <a:endParaRPr lang="en-US" dirty="0"/>
          </a:p>
          <a:p>
            <a:pPr marL="342900" indent="-342900">
              <a:spcAft>
                <a:spcPts val="500"/>
              </a:spcAft>
              <a:buSzPct val="100000"/>
              <a:buChar char="•"/>
            </a:pPr>
            <a:r>
              <a:rPr lang="en-US" dirty="0">
                <a:solidFill>
                  <a:srgbClr val="000000"/>
                </a:solidFill>
              </a:rPr>
              <a:t>Keep ration and housing </a:t>
            </a:r>
            <a:pPr indent="0" marL="0">
              <a:buNone/>
            </a:pPr>
            <a:r>
              <a:rPr lang="en-US" dirty="0">
                <a:solidFill>
                  <a:srgbClr val="000000"/>
                </a:solidFill>
              </a:rPr>
              <a:t>unchanged</a:t>
            </a:r>
            <a:pPr indent="0" marL="0">
              <a:buNone/>
            </a:pPr>
            <a:r>
              <a:rPr lang="en-US" dirty="0">
                <a:solidFill>
                  <a:srgbClr val="000000"/>
                </a:solidFill>
              </a:rPr>
              <a:t>; keep BCS stable</a:t>
            </a:r>
            <a:endParaRPr lang="en-US" dirty="0"/>
          </a:p>
          <a:p>
            <a:pPr marL="342900" indent="-342900">
              <a:spcAft>
                <a:spcPts val="500"/>
              </a:spcAft>
              <a:buSzPct val="100000"/>
              <a:buChar char="•"/>
            </a:pPr>
            <a:r>
              <a:rPr lang="en-US" dirty="0">
                <a:solidFill>
                  <a:srgbClr val="000000"/>
                </a:solidFill>
              </a:rPr>
              <a:t>Heat abatement is a </a:t>
            </a:r>
            <a:pPr indent="0" marL="0">
              <a:buNone/>
            </a:pPr>
            <a:r>
              <a:rPr lang="en-US" dirty="0">
                <a:solidFill>
                  <a:srgbClr val="000000"/>
                </a:solidFill>
              </a:rPr>
              <a:t>pregnancy tool</a:t>
            </a:r>
            <a:pPr indent="0" marL="0">
              <a:buNone/>
            </a:pPr>
            <a:r>
              <a:rPr lang="en-US" dirty="0">
                <a:solidFill>
                  <a:srgbClr val="000000"/>
                </a:solidFill>
              </a:rPr>
              <a:t> — shade, fans, water; handle before 09:00</a:t>
            </a:r>
            <a:endParaRPr lang="en-US" dirty="0"/>
          </a:p>
          <a:p>
            <a:pPr marL="342900" indent="-342900">
              <a:spcAft>
                <a:spcPts val="500"/>
              </a:spcAft>
              <a:buSzPct val="100000"/>
              <a:buChar char="•"/>
            </a:pPr>
            <a:r>
              <a:rPr lang="en-US" dirty="0">
                <a:solidFill>
                  <a:srgbClr val="000000"/>
                </a:solidFill>
              </a:rPr>
              <a:t>Watch and record </a:t>
            </a:r>
            <a:pPr indent="0" marL="0">
              <a:buNone/>
            </a:pPr>
            <a:r>
              <a:rPr lang="en-US" dirty="0">
                <a:solidFill>
                  <a:srgbClr val="000000"/>
                </a:solidFill>
              </a:rPr>
              <a:t>return to estrus at Day 18–24</a:t>
            </a:r>
            <a:pPr indent="0" marL="0">
              <a:buNone/>
            </a:pPr>
            <a:r>
              <a:rPr lang="en-US" dirty="0">
                <a:solidFill>
                  <a:srgbClr val="000000"/>
                </a:solidFill>
              </a:rPr>
              <a:t> — a return is information, not just a loss</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Pregnancy diagnosis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S36   |   38</a:t>
            </a:r>
            <a:endParaRPr lang="en-US" sz="9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4556347"/>
                <a:gridCol w="954635"/>
                <a:gridCol w="5546857"/>
              </a:tblGrid>
              <a:tr h="398399">
                <a:tc>
                  <a:txBody>
                    <a:bodyPr/>
                    <a:lstStyle/>
                    <a:p>
                      <a:pPr indent="0" marL="0">
                        <a:buNone/>
                      </a:pPr>
                      <a:r>
                        <a:rPr lang="en-US" sz="1200" dirty="0">
                          <a:solidFill>
                            <a:srgbClr val="000000"/>
                          </a:solidFill>
                        </a:rPr>
                        <a:t>Method</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Earliest</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Notes</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Transrectal ultrasound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Day 28–32</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Confirm embryo + heartbeat; </a:t>
                      </a:r>
                      <a:pPr indent="0" marL="0">
                        <a:buNone/>
                      </a:pPr>
                      <a:r>
                        <a:rPr lang="en-US" sz="1200" dirty="0">
                          <a:solidFill>
                            <a:srgbClr val="000000"/>
                          </a:solidFill>
                        </a:rPr>
                        <a:t>recheck Day 55–60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Rectal palpation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Day 40–45</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Operator-dependent; rough handling can cause loss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604774">
                <a:tc>
                  <a:txBody>
                    <a:bodyPr/>
                    <a:lstStyle/>
                    <a:p>
                      <a:pPr indent="0" marL="0">
                        <a:buNone/>
                      </a:pPr>
                      <a:r>
                        <a:rPr lang="en-US" sz="1200" b="1" dirty="0">
                          <a:solidFill>
                            <a:srgbClr val="000000"/>
                          </a:solidFill>
                        </a:rPr>
                        <a:t>Blood PAG / pregnancy-associated glycoproteins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~Day 28+</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Requires laboratory; PAG persists after loss — interpret with care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Realistic targets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S37   |   39</a:t>
            </a:r>
            <a:endParaRPr lang="en-US" sz="95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7036807"/>
                <a:gridCol w="4021032"/>
              </a:tblGrid>
              <a:tr h="398399">
                <a:tc>
                  <a:txBody>
                    <a:bodyPr/>
                    <a:lstStyle/>
                    <a:p>
                      <a:pPr indent="0" marL="0">
                        <a:buNone/>
                      </a:pPr>
                      <a:r>
                        <a:rPr lang="en-US" sz="1200" dirty="0">
                          <a:solidFill>
                            <a:srgbClr val="000000"/>
                          </a:solidFill>
                        </a:rPr>
                        <a:t>Setting</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Pregnancy rate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In vivo fresh, good recipient, temperate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55–70% </a:t>
                      </a:r>
                      <a:pPr indent="0" marL="0">
                        <a:buNone/>
                      </a:pPr>
                      <a:r>
                        <a:rPr lang="en-US" sz="1200" dirty="0">
                          <a:solidFill>
                            <a:srgbClr val="000000"/>
                          </a:solidFill>
                        </a:rPr>
                        <a:t>(published)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In vivo frozen DT, good recipient, temperate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45–60% </a:t>
                      </a:r>
                      <a:pPr indent="0" marL="0">
                        <a:buNone/>
                      </a:pPr>
                      <a:r>
                        <a:rPr lang="en-US" sz="1200" dirty="0">
                          <a:solidFill>
                            <a:srgbClr val="000000"/>
                          </a:solidFill>
                        </a:rPr>
                        <a:t>(published)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IVP fresh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40–55% </a:t>
                      </a:r>
                      <a:pPr indent="0" marL="0">
                        <a:buNone/>
                      </a:pPr>
                      <a:r>
                        <a:rPr lang="en-US" sz="1200" dirty="0">
                          <a:solidFill>
                            <a:srgbClr val="000000"/>
                          </a:solidFill>
                        </a:rPr>
                        <a:t>(published)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IVP vitrified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35–50% </a:t>
                      </a:r>
                      <a:pPr indent="0" marL="0">
                        <a:buNone/>
                      </a:pPr>
                      <a:r>
                        <a:rPr lang="en-US" sz="1200" dirty="0">
                          <a:solidFill>
                            <a:srgbClr val="000000"/>
                          </a:solidFill>
                        </a:rPr>
                        <a:t>(published)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Genetics Co., Ltd. field average (Korea, ~3,000 transfers/yr)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~60%</a:t>
                      </a:r>
                      <a:pPr indent="0" marL="0">
                        <a:buNone/>
                      </a:pPr>
                      <a:r>
                        <a:rPr lang="en-US" sz="1200" dirty="0">
                          <a:solidFill>
                            <a:srgbClr val="000000"/>
                          </a:solidFill>
                        </a:rPr>
                        <a:t> </a:t>
                      </a:r>
                      <a:pPr indent="0" marL="0">
                        <a:buNone/>
                      </a:pPr>
                      <a:r>
                        <a:rPr lang="en-US" sz="1200" dirty="0">
                          <a:solidFill>
                            <a:srgbClr val="000000"/>
                          </a:solidFill>
                        </a:rPr>
                        <a:t>(Korea field data)</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Philippines — realistic first-year target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40–50%</a:t>
                      </a:r>
                      <a:pPr indent="0" marL="0">
                        <a:buNone/>
                      </a:pPr>
                      <a:r>
                        <a:rPr lang="en-US" sz="1200" dirty="0">
                          <a:solidFill>
                            <a:srgbClr val="000000"/>
                          </a:solidFill>
                        </a:rPr>
                        <a:t> </a:t>
                      </a:r>
                      <a:pPr indent="0" marL="0">
                        <a:buNone/>
                      </a:pPr>
                      <a:r>
                        <a:rPr lang="en-US" sz="1200" dirty="0">
                          <a:solidFill>
                            <a:srgbClr val="000000"/>
                          </a:solidFill>
                        </a:rPr>
                        <a:t>(target, to be validated)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Module 1 close — four sentences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1 — Embryo Transfer</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S38   |   40</a:t>
            </a:r>
            <a:endParaRPr lang="en-US" sz="950" dirty="0"/>
          </a:p>
        </p:txBody>
      </p:sp>
      <p:sp>
        <p:nvSpPr>
          <p:cNvPr id="5" name="Text 3"/>
          <p:cNvSpPr/>
          <p:nvPr/>
        </p:nvSpPr>
        <p:spPr>
          <a:xfrm>
            <a:off x="621792" y="1298448"/>
            <a:ext cx="11002975" cy="14732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dirty="0">
                <a:solidFill>
                  <a:srgbClr val="000000"/>
                </a:solidFill>
              </a:rPr>
              <a:t>AI improves the sire side; </a:t>
            </a:r>
            <a:pPr indent="0" marL="0">
              <a:buNone/>
            </a:pPr>
            <a:r>
              <a:rPr lang="en-US" dirty="0">
                <a:solidFill>
                  <a:srgbClr val="000000"/>
                </a:solidFill>
              </a:rPr>
              <a:t>ET replaces the whole animal</a:t>
            </a:r>
            <a:endParaRPr lang="en-US" dirty="0"/>
          </a:p>
          <a:p>
            <a:pPr marL="342900" indent="-342900">
              <a:spcAft>
                <a:spcPts val="500"/>
              </a:spcAft>
              <a:buSzPct val="100000"/>
              <a:buFont typeface="+mj-lt"/>
              <a:buAutoNum type="arabicPeriod" startAt="1"/>
            </a:pPr>
            <a:r>
              <a:rPr lang="en-US" dirty="0">
                <a:solidFill>
                  <a:srgbClr val="000000"/>
                </a:solidFill>
              </a:rPr>
              <a:t>MOET</a:t>
            </a:r>
            <a:pPr indent="0" marL="0">
              <a:buNone/>
            </a:pPr>
            <a:r>
              <a:rPr lang="en-US" dirty="0">
                <a:solidFill>
                  <a:srgbClr val="000000"/>
                </a:solidFill>
              </a:rPr>
              <a:t> = the cow does the work; </a:t>
            </a:r>
            <a:pPr indent="0" marL="0">
              <a:buNone/>
            </a:pPr>
            <a:r>
              <a:rPr lang="en-US" dirty="0">
                <a:solidFill>
                  <a:srgbClr val="000000"/>
                </a:solidFill>
              </a:rPr>
              <a:t>OPU–IVF</a:t>
            </a:r>
            <a:pPr indent="0" marL="0">
              <a:buNone/>
            </a:pPr>
            <a:r>
              <a:rPr lang="en-US" dirty="0">
                <a:solidFill>
                  <a:srgbClr val="000000"/>
                </a:solidFill>
              </a:rPr>
              <a:t> = the laboratory does the work and scales</a:t>
            </a:r>
            <a:endParaRPr lang="en-US" dirty="0"/>
          </a:p>
          <a:p>
            <a:pPr marL="342900" indent="-342900">
              <a:spcAft>
                <a:spcPts val="500"/>
              </a:spcAft>
              <a:buSzPct val="100000"/>
              <a:buFont typeface="+mj-lt"/>
              <a:buAutoNum type="arabicPeriod" startAt="1"/>
            </a:pPr>
            <a:r>
              <a:rPr lang="en-US" dirty="0">
                <a:solidFill>
                  <a:srgbClr val="000000"/>
                </a:solidFill>
              </a:rPr>
              <a:t>Read the straw</a:t>
            </a:r>
            <a:pPr indent="0" marL="0">
              <a:buNone/>
            </a:pPr>
            <a:r>
              <a:rPr lang="en-US" dirty="0">
                <a:solidFill>
                  <a:srgbClr val="000000"/>
                </a:solidFill>
              </a:rPr>
              <a:t> — stage, grade, sex, and freezing method decide your protocol</a:t>
            </a:r>
            <a:endParaRPr lang="en-US" dirty="0"/>
          </a:p>
          <a:p>
            <a:pPr marL="342900" indent="-342900">
              <a:spcAft>
                <a:spcPts val="500"/>
              </a:spcAft>
              <a:buSzPct val="100000"/>
              <a:buFont typeface="+mj-lt"/>
              <a:buAutoNum type="arabicPeriod" startAt="1"/>
            </a:pPr>
            <a:r>
              <a:rPr lang="en-US" dirty="0">
                <a:solidFill>
                  <a:srgbClr val="000000"/>
                </a:solidFill>
              </a:rPr>
              <a:t>The recipient is the product.</a:t>
            </a:r>
            <a:pPr indent="0" marL="0">
              <a:buNone/>
            </a:pPr>
            <a:r>
              <a:rPr lang="en-US" dirty="0">
                <a:solidFill>
                  <a:srgbClr val="000000"/>
                </a:solidFill>
              </a:rPr>
              <a:t> No CL, no transfer</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4301C"/>
        </a:solidFill>
      </p:bgPr>
    </p:bg>
    <p:spTree>
      <p:nvGrpSpPr>
        <p:cNvPr id="1" name=""/>
        <p:cNvGrpSpPr/>
        <p:nvPr/>
      </p:nvGrpSpPr>
      <p:grpSpPr>
        <a:xfrm>
          <a:off x="0" y="0"/>
          <a:ext cx="0" cy="0"/>
          <a:chOff x="0" y="0"/>
          <a:chExt cx="0" cy="0"/>
        </a:xfrm>
      </p:grpSpPr>
      <p:sp>
        <p:nvSpPr>
          <p:cNvPr id="2" name="Shape 0"/>
          <p:cNvSpPr/>
          <p:nvPr/>
        </p:nvSpPr>
        <p:spPr>
          <a:xfrm>
            <a:off x="-1280160" y="4389120"/>
            <a:ext cx="3840480" cy="3840480"/>
          </a:xfrm>
          <a:prstGeom prst="ellipse">
            <a:avLst/>
          </a:prstGeom>
          <a:solidFill>
            <a:srgbClr val="1F4A2C"/>
          </a:solidFill>
          <a:ln/>
        </p:spPr>
      </p:sp>
      <p:sp>
        <p:nvSpPr>
          <p:cNvPr id="3" name="Text 1"/>
          <p:cNvSpPr/>
          <p:nvPr/>
        </p:nvSpPr>
        <p:spPr>
          <a:xfrm>
            <a:off x="841248" y="2286000"/>
            <a:ext cx="10424160" cy="12801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End of Module 1</a:t>
            </a:r>
            <a:endParaRPr lang="en-US" sz="4000" dirty="0"/>
          </a:p>
        </p:txBody>
      </p:sp>
      <p:sp>
        <p:nvSpPr>
          <p:cNvPr id="4" name="Text 2"/>
          <p:cNvSpPr/>
          <p:nvPr/>
        </p:nvSpPr>
        <p:spPr>
          <a:xfrm>
            <a:off x="841248" y="3657600"/>
            <a:ext cx="10424160" cy="1463040"/>
          </a:xfrm>
          <a:prstGeom prst="rect">
            <a:avLst/>
          </a:prstGeom>
          <a:noFill/>
          <a:ln/>
        </p:spPr>
        <p:txBody>
          <a:bodyPr wrap="square" lIns="0" tIns="0" rIns="0" bIns="0" rtlCol="0" anchor="t"/>
          <a:lstStyle/>
          <a:p>
            <a:pPr indent="0" marL="0">
              <a:buNone/>
            </a:pPr>
            <a:r>
              <a:rPr lang="en-US" sz="1800" dirty="0">
                <a:solidFill>
                  <a:srgbClr val="C8D8C6"/>
                </a:solidFill>
                <a:latin typeface="Calibri" pitchFamily="34" charset="0"/>
                <a:ea typeface="Calibri" pitchFamily="34" charset="-122"/>
                <a:cs typeface="Calibri" pitchFamily="34" charset="-120"/>
              </a:rPr>
              <a:t>Next: Estrus Synchronization — how to produce a corpus luteum on a date you choose.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Embryo Transfer</dc:title>
  <dc:subject>PptxGenJS Presentation</dc:subject>
  <dc:creator>Dr. Hyunje Ha, DVM — Genetics Co., Ltd.</dc:creator>
  <cp:lastModifiedBy>Dr. Hyunje Ha, DVM — Genetics Co., Ltd.</cp:lastModifiedBy>
  <cp:revision>1</cp:revision>
  <dcterms:created xsi:type="dcterms:W3CDTF">2026-08-25T11:16:14Z</dcterms:created>
  <dcterms:modified xsi:type="dcterms:W3CDTF">2026-08-25T11:16:14Z</dcterms:modified>
</cp:coreProperties>
</file>
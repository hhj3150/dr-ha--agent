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scope statement aloud: diagnosis and treatment are veterinary acts. This module teaches recognise, record, refer and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One statement before we start.
Diagnosis and treatment are veterinary acts. I am not going to turn you into veterinarians in two hours, and I am not going to give you a list of drugs to inject. What I am going to do is teach you the mechanism of each disease — because a technician who understands mechanism can recognise the problem early, refer it correctly, and above all prevent it.
And here is why an AI technician needs this module more than anyone else on the farm.
You are called when a cow does not get pregnant. You inseminate her again. She does not get pregnant again. Everyone blames the semen, or the timing, or you.
But the cow that will not get pregnant is usually a sick cow, a hungry cow, or a hot cow. In this module I will show you exactly how her rumen, her liver, her calcium and her uterus decide whether your straw ever had a chance."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Notice that it is a chain, not a list.
It starts with the rumen, because the rumen is the engine of the whole animal. When the rumen fails, energy fails. When energy fails during the transition period, calcium and liver metabolism fail. When those fail, the abomasum displaces and the uterus does not clean itself. And at the end of the chain is the cow you cannot get pregnant.
So we start at the beginning of the chain, with the rumen."
[TIME]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3-A — RUMINANT DIGESTIVE PHYSIOLOGY (25 min, S3–S10)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compartments. Only the last one, the abomasum, is a true stomach in the sense that a human or a pig has one — acid and enzymes.
The first two, the rumen and reticulum, work as a single organ and contract one to three times a minute. Those contractions do two things: they mix the contents so the microbes can work, and they push gas up towards the oesophagus for eructation — for belching.
Remember that number, one to three contractions per minute, because when a cow is sick, rumen motility is one of the first things you can assess with your hand and your ear, and it is one of the first things to fail.
And note where the reticulum is — that is where a bolus sensor sits, for the rest of the animal's life."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single most important idea in ruminant nutrition. The cow does not digest her feed. Her microbes do, and the cow digests the microbes and their products.
Now look carefully at the pH column, because that column explains acidosis, laminitis, milk fat depression, and a large part of your infertility.
The fibre-digesting bacteria need a pH of about six point two to six point eight. They are fragile. The starch-digesting bacteria tolerate five point five, and some tolerate lower.
So what happens when you feed a lot of grain? The pH falls. The starch digesters do fine. The fibre digesters die. And now the cow cannot digest fibre — which is most of her ration in a tropical smallholder system.
That asymmetry is the mechanism of acidosis. Everything in the next section follows from this one slide."
[BOARD] Draw a pH line from 5.0 to 7.0. Mark fibre digesters 6.2–6.8, starch digesters 5.5–6.0, SARA below 5.6.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microbes ferment feed, they produce volatile fatty acids. These are the cow's fuel. Sixty to seventy-five percent of all her energy comes from VFAs absorbed directly through the rumen wall.
Three of them matter.
Acetate — sixty to seventy percent of the total — comes mainly from fibre and is the precursor of milk fat. No fibre, no acetate, no butterfat. That is why acidosis causes milk fat depression, and why the fat-to-protein ratio in milk is a diagnostic tool.
Propionate comes mainly from starch and is converted in the liver into glucose. Glucose becomes lactose, and lactose draws water into the udder, which determines milk volume. Remember this one — it comes back when we discuss ketosis, because the liver has to choose what to do with its oxaloacetate.
Butyrate feeds the rumen wall itself, and — this is important — the rumen wall converts some of it into beta-hydroxybutyrate. BHB. The same molecule we measure to diagnose ketosis.
So write this down: the cow is not a sugar-eating animal. She is a VFA-powered animal. If you feed her like a pig, you will make her sick."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cow has her own antacid factory, and it is her salivary glands. She produces a hundred to two hundred litres of saliva a day, and that saliva is loaded with bicarbonate and phosphate.
But — and this is the practical point — saliva only flows when she chews. And she only chews when the ration contains enough physically effective fibre: fibre with enough particle length to stimulate rumination.
So follow the chain: long fibre → chewing and rumination → saliva → bicarbonate → stable rumen pH → healthy fibre digesters → acetate → milk fat.
Break the chain at any point and the whole thing collapses. A finely chopped, high-grain ration does not stimulate chewing, so there is no saliva, so there is no buffer, so pH falls.
And note the last line. A healthy lactating cow ruminates about four hundred and fifty to five hundred minutes a day. When she gets sick — any illness — rumination falls before she looks sick to you. That is exactly what a bolus sensor detects, and it is why rumination is the single most useful number in modern herd health."
[BOARD] Fibre → chewing → saliva → bicarbonate → pH → fibre bugs → acetate → milk fat.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governs the whole rumen: pH.
Normal is six point two to six point eight. Below five point six to five point eight for more than about three hours a day, we call it subacute ruminal acidosis — SARA. Below about five, we are in acute lactic acidosis and the cow may die.
Two practical points.
First, pH is not a fixed number. It swings through the day, and the lowest point is two to six hours after a big concentrate meal. So if you measure at the wrong hour, you will miss it entirely.
Second, this is exactly why continuous pH boluses changed the diagnosis of SARA. Before them, you had to do rumenocentesis — a needle through the body wall into the rumen — on a sample of cows, at the right hour, and interpret the herd. Now a bolus reports pH every ten minutes for years. That is the strongest scientific application of sensors in nutrition today."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on protein, because it explains a feeding mistake I see constantly.
Most of the protein that reaches the cow's intestine is not the protein you fed her. It is microbial protein — the bodies of the microbes themselves, washed out of the rumen. Fifty to eighty percent.
To grow those microbes you need two things at the same time: degradable protein, and fermentable energy. If you feed a lot of urea or high-protein forage but no energy, the microbes cannot use the ammonia. It is absorbed, the liver converts it to urea, and the cow spends energy excreting it. You paid for protein and bought a metabolic cost.
And the reverse is also true: cheap energy without protein starves the microbes.
Feed the microbes, not the cow. That sentence is the whole of ruminant nutrition."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that have direct clinical consequences.
Fermentation produces a lot of gas, and the cow gets rid of it by belching. Anything that stops belching causes bloat. There are two kinds, and you must distinguish them because the treatment differs: frothy bloat, where the gas is trapped in stable foam and you need an anti-foaming agent; and free-gas bloat, where the gas is free but cannot get out — a blocked oesophagus or damaged vagus nerve — and you need to release it with a stomach tube or trocar.
Second point, and it explains most transition disease. The rumen papillae — the finger-like projections that absorb VFAs — take three to six weeks to grow when you increase the grain in the ration.
Now think about what we do to a dairy cow. She is dry, eating forage. She calves. And on the same day we start pushing concentrate to support fifteen or twenty litres of milk. Her papillae are not ready. She produces more acid than she can absorb.
That is why the transition period is the most dangerous three weeks in a dairy cow's life — and it is why the next four diseases all cluster there."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to diseases, this is your field toolkit — and it costs nothing.
Put your fist in the left paralumbar fossa and count contractions for two minutes. One to three per minute is normal.
Stand at the back of the resting group and count how many are chewing their cud. If fewer than sixty percent of lying cows are chewing, that herd does not have enough effective fibre — or it is sick.
Look at the manure. Firm porridge that holds its shape is normal. Loose manure with gas bubbles, with shiny mucin casts, or with whole grains in it, tells you the fermentation is happening in the wrong place — that is SARA until proven otherwise.
You can do all of that in one minute per pen, on every farm you visit, before you even open your AI kit. And it will make you the most useful person on that farm."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3-B — ACIDOSIS, SARA, INDIGESTION, BLOAT (25 min, S11–S18)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acidosis is a chemical accident and I want you to see it as a chain reaction.
A cow gets into the feed store, or eats a wheelbarrow of cassava, or somebody doubles the concentrate. Now there is a huge amount of fermentable carbohydrate in the rumen.
A bacterium called Streptococcus bovis loves this and multiplies explosively, producing lactic acid. As pH falls below about five point five, S. bovis is inhibited — but Lactobacillus, which tolerates acid better, takes over and produces even more lactate, including D-lactate.
D-lactate is the dangerous one, because the cow's enzymes handle it poorly. It accumulates in blood and produces systemic metabolic acidosis.
Meanwhile the rumen contents are now extremely concentrated, so water is pulled out of the bloodstream into the rumen. The cow becomes dehydrated even though her rumen is full of fluid. She goes into shock.
And the acid burns the rumen wall — chemical rumenitis — which lets bacteria and fungi cross into the bloodstream. That is where liver abscesses and laminitis come from, days or weeks later."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signs come twelve to forty-eight hours after the meal, not immediately. Rumen stasis, a doughy distended rumen, and profuse grey watery diarrhoea with a sour smell. The cow is dehydrated, staggering, and in severe cases down.
Note one field diagnostic that is genuinely useful and cheap: take rumen fluid, put a drop under a microscope, and look for protozoa. In a healthy rumen they are large and actively moving. In acute acidosis they are all dead. That one observation, plus a pH strip, gives you a diagnosis in two minutes.
Treatment is veterinary and aggressive — alkalinising agents, intravenous fluids, thiamine, and in severe cases lavage or surgery. Note thiamine: acidosis destroys thiamine-producing bacteria and produces thiaminases, and thiamine deficiency causes brain damage. That is why an acidotic cow can go blind.
But the real lesson is prevention, and it is embarrassingly simple: lock the feed store, and never change the ration suddenly."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disease that costs the dairy industry more than any other single condition, and that almost nobody sees: subacute ruminal acidosis.
The definition is a rumen pH below about five point six for more than three hours a day. Note what is different from acute acidosis: here it is mainly VFAs accumulating, not lactate. So there is no systemic acidosis and no collapse. The cow does not fall down. She just quietly performs badly.
Published prevalence in intensive herds is ten to thirty percent of cows in early lactation. In herds that feed a lot of concentrate and not enough effective fibre, it is higher.
Please understand why I am giving this a whole section in a reproduction course. SARA reduces intake, reduces energy, causes laminitis, causes liver abscesses, and worsens negative energy balance — and negative energy balance is the direct cause of the anovulation we spent Module Two trying to treat with hormones."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 is a herd diagnosis, not an individual one. Here is how you find it.
Start with milk. In early-lactation cows, if the fat-to-protein ratio drops below about one point zero, suspect SARA. Remember slide five — fibre makes acetate, acetate makes butterfat. When the fibre digesters die, butterfat falls first.
Then look at manure, and look at variation between cows in the same pen eating the same ration. That variation is the signature of sorting: the aggressive cows eat the concentrate and the timid cows eat the leftover fibre.
Look for mucin casts — shiny films in the manure. That is intestinal mucus shed because fermentation moved to the hindgut.
Then confirm. The classical method is rumenocentesis in a sample of twelve cows, two to six hours after feeding: if three or more have a pH below five point five, the herd has SARA. The modern method is a continuous pH bolus, which removes all the guessing about timing.
And laminitis. If a farm has recurrent hoof problems and nobody can explain them, look at the ration. Lameness of nutritional origin destroys estrus expression — the lame cow will not stand to be mounted. So SARA reaches your reproductive results through at least three separate paths."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drug for SARA. The treatment is the ration and the feeding management.
The core number is physically effective fibre — at least twenty to twenty-two percent of dry matter, with enough particle length to make her chew.
Then, prevent sorting. In a smallholder system where concentrate is fed separately from forage, sorting is automatic — the cow eats the concentrate first, in one meal. That single meal is the acid load. If you can feed the concentrate in two or three smaller meals, or mix it with the forage, you have solved most of the problem for free.
Buffers and live yeast help, where they are available and registered. But they are supplements to good feeding, not substitutes for it.
And water. A dehydrated cow has a more concentrated, more acidic rumen. In tropical conditions, water availability is a rumen health measure, not just a comfort measure."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indigestion is the mildest of the group: the cow ate something she should not have, the rumen slows, she eats less for a day or two, milk drops a little, and with correction she recovers.
The reason I teach it is the rule on the last line, and it is a rule that will make you look very professional.
If a cow you called 'indigestion' has a fever, or is genuinely sick, or has not improved in twenty-four to forty-eight hours, it was never simple indigestion. It is metritis, or mastitis, or ketosis, or a displaced abomasum, or hardware disease. 'Indigestion' is the label people put on a cow nobody examined properly.
Give it forty-eight hours, and then insist on a proper examination."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"Vagal indigestion is chronic and it is what people mean when they say 'this cow has been bloated for three weeks.'
The vagus nerve controls forestomach motility. Damage it — most commonly by a wire penetrating the reticulum and causing local inflammation and adhesions — and the forestomach cannot move contents forward.
The classic look, and I want you to remember the picture, is the 'papple' abdomen — shaped like an apple on one side and a pear on the other. From behind, the left upper quadrant and the right lower quadrant bulge. People describe it as a ten-to-four shape, like clock hands.
Prognosis is generally poor, so the value of recognising it is to refer early rather than treat it for weeks as 'indigestion'."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"Bloat kills quickly, so the field decision matters.
Pass a stomach tube. That single act both diagnoses and treats. If gas rushes out, it was free-gas bloat and you have just saved the cow — now find the obstruction. If nothing comes out but the rumen is enormously distended, it is frothy bloat, and you need an anti-foaming agent, not a tube.
And in a true emergency — a cow going down with severe respiratory distress — a trocar into the left paralumbar fossa is life-saving and is preferable to a dead cow. That is a veterinary decision, but you should know it exists.
Prevention is simple and it is the same everywhere: never turn a hungry cow onto lush legume pasture. Feed hay first."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3-C — DISPLACED ABOMASUM (20 min, S19–S22)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displaced abomasum you only need two facts.
Fact one: the abomasum is not firmly fixed. It hangs relatively loosely, and it normally sits low on the right side.
Fact two: for it to displace, two things must happen at the same time. It must stop contracting properly, so that gas accumulates and it becomes buoyant. And there must be space for it to move into.
Now think about the fresh cow. She has just calved, so the uterus that occupied half her abdomen has suddenly shrunk. Her intake dropped before calving, so her rumen is less full. There is a large empty space. And if she is hypocalcaemic or ketotic, her abomasum is atonic and full of gas.
That is why eighty to ninety percent of displacements happen in the first month after calving. It is not bad luck. It is predictable."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displacement is by far the more common one.
Look at the risk factor list and notice something important: almost every item on it is another disease we are discussing today. Hypocalcaemia. Ketosis. Metritis. Retained placenta. Low intake. This is not a separate disease. It is the visible failure of the transition period.
Recognition. The cow calved two or three weeks ago. Her milk suddenly drops. She refuses grain but will eat some hay — that selective appetite is characteristic. She has ketosis that does not respond well to treatment. Her left flank looks flat instead of full.
Then the diagnostic act, and every technician should be able to do it: put the stethoscope over the left flank, ribs nine to twelve, and flick the body wall with your finger. A high-pitched metallic ping — like flicking a balloon — is a displaced abomasum until proven otherwise.
Treatment is surgical, and it works well when done early. But the point I want to leave you with is the last line of the table: you must also treat the ketosis, the calcium and the uterus. Surgeons who only fix the abomasum get cows that relapse."
[BOARD] Draw the left flank, ribs 9–12, mark the ping location.
[TIME]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displacement is less common but far more dangerous, because it can progress to volvulus — the abomasum twists on its own axis and cuts off its blood supply.
Note the metabolic picture, because it is the opposite of what people expect. The abomasum makes hydrochloric acid. When it is twisted, that acid is sequestered and cannot pass on to the intestine to be reabsorbed. So the cow loses chloride and hydrogen ions from her circulation and becomes alkalotic, not acidotic. She also loses potassium. That is why the fluid therapy is isotonic saline with added potassium chloride — and why giving bicarbonate to such a cow would be a serious error.
Two field markers of severity, and you can assess both: heart rate above one hundred, and how long she has been sick. Both predict a poor outcome. A cow with a right-side ping and a heart rate of one hundred and twenty needs a veterinarian now, not tomorrow.
And remember that not every right-side ping is an abomasum. Caecal dilatation gives a ping too, further back. Say 'right-side ping' and list the differentials — do not say 'RDA' until someone has examined her."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strategic point of this whole section.
Nobody prevents displaced abomasum by getting better at finding pings. You prevent it by managing dry matter intake in the three weeks before calving and the three weeks after.
The single most predictive thing you can measure on a farm is whether the fresh cow is eating. If intake stays up, calcium stays up, ketosis is mild, the rumen stays full, the abomasum stays where it belongs, and the uterus cleans itself.
Look at that last row. Bunk space. Stocking density. Pen moves. Heat stress. Those are not veterinary interventions. They are management decisions, and they are free.
So when a farmer asks you why he keeps getting displaced abomasums, do not talk about surgery. Ask to see where his dry cows eat."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3-D — MILK FEVER AND KETOSIS (25 min, S23–S29)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"Milk fever is a mathematical accident, and once you see the numbers you will never forget it.
Colostrum contains a lot of calcium — about two point three grams per litre. A cow producing ten litres of colostrum loses about twenty-three grams of calcium into the udder within hours.
Her entire circulating calcium pool is about three grams.
So the demand is eight to ten times everything she has in circulation, and it arrives in a few hours. She must mobilise calcium from bone and absorb more from the intestine, and both processes are driven by parathyroid hormone and activated vitamin D.
The problem is that this system takes twenty-four to forty-eight hours to reach full capacity. If it was not already primed before calving, she falls behind. And calcium is what makes muscle contract — all muscle. So she becomes weak."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separates modern prevention from the old approach, and I want you to understand it because it is genuinely elegant.
For decades people thought milk fever was about how much calcium you fed before calving. It is not. It is about acid-base balance.
If the dry cow's diet is high in potassium and other cations — which tropical forages very often are, especially grass fertilised with manure — she goes into a mild metabolic alkalosis. In alkalosis, the parathyroid hormone receptor changes shape and the tissues stop responding to PTH. Her blood is full of PTH and her bones ignore it.
So we feed anionic salts before calving to shift her slightly acidic. That restores receptor sensitivity, and she can mobilise her own calcium.
And here is the beautiful part for field work: you can verify it with a urine test strip. Collect urine from a few dry cows and measure pH. In Holsteins, six point zero to six point five means the programme is working. Above seven means she is still alkaline and your anionic salts are not doing their job. Below five point five means you have overshot and she will stop eating.
A urine pH strip costs almost nothing and it monitors the most expensive metabolic disease in dairy. Teach every farm you visit to do it.
And do not forget magnesium. PTH cannot be secreted or act properly without adequate magnesium. A magnesium-deficient cow gets milk fever no matter how good your DCAD is."
[BOARD] Write "High K → alkalosis → PTH receptor insensitive → milk fever." Then "Anionic salts → urine pH 6.0–6.5 → receptor works."
[TIME]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Stage one is standing and excitable, and it is usually missed. Stage two is the classic picture: sitting up, head turned back to the flank in an S-curve, cold ears, dry muzzle. Stage three is flat out and dying.
Treatment is intravenous calcium — and I want to make one safety point strongly. Calcium given rapidly intravenously stops the heart. It must go in slowly, over eight to ten minutes, ideally while listening to the heart. A cow that dies on the needle during a milk fever treatment died of the treatment, not the disease. This is a veterinary procedure.
But the real message of this slide is the second line of the epidemiology. Clinical milk fever is three to eight percent. Subclinical hypocalcaemia is twenty-five to fifty percent of older cows.
Those cows never go down. They just have weak uterine contractions, so they retain the placenta and get metritis. They have a weak teat sphincter, so they get mastitis. They have an atonic abomasum, so it displaces. They eat less, so they get ketosis. And they do not conceive.
So when I say that calcium is a reproductive hormone in the dairy cow, I mean it literally."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"Ketosis is the most important metabolic disease in dairy, and its mechanism is a competition inside the liver. Follow me carefully.
In early lactation the cow produces more energy in milk than she can eat. That is negative energy balance, and to some degree it is normal.
To cover the gap she mobilises body fat, which arrives at the liver as non-esterified fatty acids — NEFA.
The liver burns fat by beta-oxidation, and to burn it completely it needs oxaloacetate. Here is the conflict: oxaloacetate is also the raw material for making glucose — and the cow desperately needs glucose to make lactose for milk.
So the liver has to choose. It sends oxaloacetate to glucose production, and now there is not enough left to complete fat oxidation. Fat oxidation stops halfway, and the half-burned products are the ketone bodies — beta-hydroxybutyrate, acetoacetate and acetone.
And at the same time, any NEFA the liver cannot burn gets repackaged as triglyceride. The cow's liver exports triglyceride very poorly — cattle are bad at making VLDL. So the fat stays in the liver. That is fatty liver, and fatty liver and ketosis are the same disease seen from two angles.
Now — remember Module Two. Which cow was anovular? The cow in negative energy balance. This slide is the mechanism of the infertility we tried to treat with hormones this morning."
[BOARD] Draw the liver with two arrows leaving oxaloacetate: one to glucose, one to complete fat oxidation. Show the competition.
[TIME]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ketoses and they need different prevention.
Type one is the classic: three to six weeks after calving, at peak milk, the cow simply cannot eat enough. She is thin and working hard. She responds well to glucose precursors.
Type two happens earlier, in the first week or two, and it is the disease of the fat cow. She arrived at calving over-conditioned. Fat cows are insulin resistant, they eat less around calving, and they mobilise fat massively. They get fatty liver early, and they respond poorly to treatment.
The practical conclusion for you is blunt: a fat dry cow is a sick fresh cow. When you walk onto a farm and see dry cows in body condition four, you can predict that farm's ketosis, milk fever, displaced abomasum and metritis rates before you look at a single record."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is now easy and cheap, and this is one of the most useful things you can bring to a farm.
A handheld blood meter — the same kind used for human diabetics, with bovine BHB strips — gives you a number in ten seconds from a drop of blood from the tail vein. One point two millimoles per litre or above is subclinical ketosis. Three or above is clinical.
Test between three and fourteen days in milk. That is the window.
And notice the prevalence: twenty to forty percent of cows in the first two weeks. That means on a well-managed farm you will still find them; on a poorly managed farm, half the fresh pen.
One clinical detail worth remembering: the ketotic cow refuses concentrate first and will still eat forage. That is the opposite of most sick cows and it is a useful field observation. And the smell — acetone on the breath, like nail polish remover. Some people cannot smell it at all; it is genetic. If you can smell it, it is a free diagnostic test."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"Treatment: propylene glycol, three hundred millilitres orally, once a day for three to five days. That is the evidence-based standard and it works because it is a glucose precursor that is absorbed and converted to glucose in the liver.
Intravenous dextrose raises blood glucose within minutes, but it is gone within two hours and much of it is lost in urine. So dextrose is for the cow that is down or nervous; propylene glycol is the actual treatment.
And the line I want you to underline: always treat the underlying cause. A cow with ketosis secondary to a displaced abomasum or metritis will relapse forever if you only give her propylene glycol. Ketosis is very often a symptom, not the disease.
Prevention is entirely about the dry period and the fresh pen. Do not let dry cows get fat. Feed a controlled-energy, bulky dry-cow ration. And then protect fresh cow intake with space, comfort, water and cooling.
And test. A herd that measures BHB in fresh cows and acts on the number will halve its transition disease. That is a service you can offer on every farm you visit — and it makes you a herd advisor, not just an inseminator."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3-E — CALVING AND UTERINE DISEASE (25 min, S30–S45)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dystocia, the normal picture — because you cannot recognise abnormal without it.
Stage one is cervical dilation, two to six hours, and this is the stage people miss. The cow is restless, isolates herself, lifts her tail. Nothing is visible yet, and the cervix is not yet open.
That last point matters enormously, because the most damaging mistake in calving management is to intervene during stage one. If you pull on a calf through an undilated cervix, you tear the cervix, and that cow may never conceive again.
Stage two is delivery: thirty to sixty minutes in a cow, up to a few hours in a heifer.
Stage three is the placenta, within six to twelve hours.
And the modern intervention rule is on the last line, and it has changed: examine early, intervene appropriately. Waiting six hours 'to let nature take its course' produces dead calves and damaged cows. But examining does not mean pulling."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causes, and you should classify every difficult calving you attend.
Disproportion — the calf is too big or the heifer is too small. This is a breeding decision made twelve months earlier, and it is why heifer size at first breeding and calving-ease sire selection are reproductive tools.
Malposture — the head is back, a leg is flexed, the calf is backwards. These are correctable by hand if you have space, lubricant and patience.
Maternal — and here is the link to the last section. Uterine inertia is very often hypocalcaemia. A cow with subclinical milk fever cannot contract her uterus. So a proportion of what farms call dystocia is actually a calcium problem, and it is prevented in the dry pen with DCAD, not in the calving pen with a rope."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that will save calves and cows.
Lubricant. Use far more than you think you need. Most field damage is friction damage.
Confirm the cervix is open before you pull anything. Put your hand around it. If you cannot get your hand past it, do not pull.
Correct malposture by pushing the calf forward into the uterus first, where there is room. Trying to straighten a leg while the calf is jammed in the pelvis tears the uterus.
Traction: pull only when she pushes, and pull with two people. A calving jack multiplies force enormously and can fracture the calf's ribs, tear the uterus, or cause obturator nerve paralysis so that the cow cannot stand afterwards. If two people and correct technique are not moving the calf in ten to fifteen minutes, the answer is not more force. The answer is a caesarean section.
And say this to farmers: a live calf and a healthy cow from a caesarean is a better outcome than a dead calf and a paralysed cow from an hour of pulling."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that come up in every calving season.
Uterine torsion: the classic clue is a cow in second-stage labour with nothing appearing and no water bag. When you examine, the vagina spirals and narrows and you cannot reach the calf. Rolling the cow is a genuine field technique, but it must be done correctly and is a veterinary procedure.
And calf resuscitation. Please stop hanging calves upside down over a gate. It was standard for fifty years and it is wrong. A few seconds to drain the mouth is fine; hanging for a minute pushes the abdominal organs against the diaphragm and makes it harder for the calf to breathe. Put the calf on its chest — sternal — because that position lets both lungs inflate. Then rub it hard, put cold water in its ear, and put straw up its nose.
Then colostrum. Three to four litres within two hours. Every hour of delay reduces absorption. This calf may be your imported embryo calf — a genetic investment that took a year and a laboratory to create. Do not lose it in the first two hours."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"Retained placenta looks like a mechanical problem and it is not. It is largely an immune problem.
Around calving, the cow's neutrophils — her front-line white blood cells — become suppressed. That suppression is worsened by hypocalcaemia, by high NEFA from fat mobilisation, and by deficiency of selenium and vitamin E. Those white cells are part of how the placenta is released, so an immunosuppressed cow retains her membranes.
Look at the risk factor list again and count how many we have already covered today: dystocia, hypocalcaemia, heat stress, over-conditioning. Again — it is one disease with many names.
The herd threshold is important for your consulting work: above ten percent, that farm has a transition management problem, not a run of bad luck."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 I most want you to carry away from this section, because the wrong practice is nearly universal.
Do not pull the placenta out. I know it is traditional. I know it looks better afterwards. But manual removal tears the caruncles, opens blood vessels to bacteria, and multiple studies show it increases metritis and delays conception. The membranes will come away on their own in a few days.
What you do instead: trim what is hanging so it does not drag through manure, and then take her temperature every day for ten days. A retained placenta with a normal temperature and a cow that is eating needs supportive care, not antibiotics. A retained placenta with a fever above thirty-nine point five and a sick cow is metritis, and that needs veterinary treatment today.
That single change in practice — stop pulling, start taking temperatures — will improve the fertility of every farm you advise."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"Metritis is inflammation of the whole uterine wall in the first three weeks after calving, and the distinction that matters clinically is whether she is systemically sick.
Puerperal metritis — fever, dull, off feed, milk down, with that unmistakable watery red-brown fetid discharge — is a systemic illness and needs systemic antibiotic treatment by a veterinarian. Intrauterine infusions do not reach the deeper uterine layers where the infection is, and irritant infusions make it worse.
The microbiology is worth one sentence because it explains the smell and the damage: E. coli colonises first and prepares the ground, then Trueperella pyogenes and Fusobacterium necrophorum arrive and act synergistically. That combination produces the tissue destruction and the characteristic odour.
Your role: temperature, discharge, appetite. Those three observations, recorded daily for the first ten days, catch nearly every case early."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twenty-one days, we stop calling it metritis and call it endometritis — inflammation limited to the lining.
Clinical endometritis you can find with a simple device: a Metricheck, which is a stainless steel rod with a rubber cup that you insert and withdraw to retrieve vaginal mucus, and then you score it. Clear mucus is normal. Flecks of pus, or mucopurulent, or frankly purulent discharge, is disease. That examination takes thirty seconds and costs nothing per cow.
Subclinical endometritis is the invisible one. The cow looks completely normal, the discharge looks normal, and there are excessive white cells in her uterine lining. It affects between eleven and thirty percent of cows and it substantially reduces conception rate.
And here is the point for you: this is a large part of your repeat breeders. When you have inseminated a cow three times with good timing and good semen and she will not conceive, the question is not 'should I use a different bull'. The question is 'has anyone examined her uterus'.
One important treatment note: prostaglandin is often used for endometritis, and it only works if there is a corpus luteum. Same rule as Module Two. Everything connects."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"Pyometra is the trap, and I want every one of you to remember the warning line.
The uterus is full of pus. The cervix is closed, so it cannot drain. And because there is pus in the uterus, the uterus never releases prostaglandin, so the corpus luteum persists — the cow stays in a permanent luteal phase and never comes into heat.
Now put yourself in the field. You palpate a cow that has not been seen in heat for two months. You feel an enlarged uterus with fluid, and a corpus luteum on the ovary. What does that feel like? Pregnancy.
If you record her as pregnant, she is culled six months later as a phantom pregnancy. If you give prostaglandin without checking, and she actually was pregnant, you abort her.
So the rule is absolute: an enlarged fluid-filled uterus with a CL requires ultrasound before you do anything. Pus on ultrasound looks like a swirling snowstorm, with no fetus, no placentomes and no heartbeat.
Then treatment is straightforward and satisfying: prostaglandin removes the CL, the cervix opens, and she drains."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complete uterine health programme, and every item is something you could implement on a farm this month.
Notice the two examinations that cost almost nothing and change everything.
First: a rectal thermometer, once a day, on every fresh cow for ten days. That finds metritis on day three instead of day ten.
Second: a Metricheck examination of every cow between twenty-one and thirty-five days in milk. That finds clinical endometritis before you waste a straw of semen on her.
If you offer nothing else from this course to your farms, offer those two. They will do more for conception rate than any change of semen supplier."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why heat stress belongs at the end of this module rather than at the beginning: it is a multiplier on everything we have discussed.
Heat reduces intake, which worsens negative energy balance, which causes ketosis. Panting causes respiratory alkalosis, and the cow compensates by dumping bicarbonate in her urine — so she has less bicarbonate available to buffer her rumen, which worsens SARA. Notice that: heat stress causes acidosis through a route most people never think about. Heat suppresses immunity, which worsens metritis. And it damages the oocyte for the forty to sixty days before ovulation.
The abatement list is in order of return on investment, and the first item is free: water. Enough clean water, in enough places, in the shade. Then shade. Then air movement. Then sprinklers at the feed line. And then the one that costs nothing at all — do all your work before nine in the morning."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include this in a reproduction course deliberately.
You will spend a year producing an embryo calf: donor selection, laboratory, export documentation, recipient synchronization, transfer, nine months of pregnancy. And then that calf can die in three weeks from scours because nobody gave colostrum properly.
Three to four litres in the first two hours. Clean equipment. Dry, ventilated housing. Navel dipped.
Protect the investment."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the slide that is about you.
You visit five farms in a day. You put your arm inside cows on all five. If there is anything in this room that can move a disease across a district faster than a truck, it is us.
Eight rules. New sleeve, new sheath, boots and coveralls disinfected between farms, clean gun, nothing carried off the farm, healthy herds first and problem herds last, gloves for every discharge, and a written record of every visit.
Rule seven is for your own health, not the cow's. Leptospirosis and brucellosis are zoonotic. Brucellosis in a human is a serious, chronic, debilitating disease. When you handle an aborted fetus with a bare hand, you are taking a real personal risk.
And rule eight protects you professionally. If a farm breaks with disease and someone asks who visited, the technician with a complete visit record is a professional. The technician without one is a suspect."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pictures, thirty seconds each. Call out what you see. No wrong answers — say what you notice."
(Instructor note: record the group's accuracy for the post-course report.)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card is the practical summary of two hours. Put it in your pocket and use it on every farm.
Three columns. Refer, postpone, proceed.
And notice one line in the postpone column that is new to most technicians: a BHB of one point two or above. If you have a meter, and the fresh cow you are about to enrol in a synchronization programme is ketotic, treat the ketosis first. You will get a better result four weeks later than you would today."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diagram to connect the whole day.
The rumen supplies energy. Energy supports body condition. Body condition permits ovulation. Ovulation makes a corpus luteum. The corpus luteum makes progesterone — the progesterone that Module One told you must be there on day seven.
In parallel: calcium allows the uterus to contract. Contraction expels the placenta. A released placenta means a clean uterus. A clean endometrium accepts the embryo.
Every arrow in that diagram is a place where a disease we discussed today breaks the chain.
So when you cannot get a cow pregnant, do not start at the last arrow. Start at the first one."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and then we finish.
A cow that will not conceive is telling you she is sick, hungry, or hot. Listen to her before you blame the semen.
Your first tools are not a syringe and a straw. They are your eyes, a thermometer, and a record sheet. Everything expensive comes after those three.
And prevention is the only reproduction programme that works every time.
Let me put the whole day into one line. Good genetics — that was Module One. Correct timing — that was Module Two. A healthy cow — that was Module Three. Pregnancy is what happens when you have all three.
Thank you. Now let us do the post-test, and then I want to hear which of you want to receive embryos, because I would like to come back and see your calves."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Now the post-test, and then I want to hear which of you want to receive embryos.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F4A2C"/>
          </a:solidFill>
          <a:ln/>
        </p:spPr>
      </p:sp>
      <p:sp>
        <p:nvSpPr>
          <p:cNvPr id="3" name="Shape 1"/>
          <p:cNvSpPr/>
          <p:nvPr/>
        </p:nvSpPr>
        <p:spPr>
          <a:xfrm>
            <a:off x="10698480" y="4206240"/>
            <a:ext cx="3108960" cy="3108960"/>
          </a:xfrm>
          <a:prstGeom prst="ellipse">
            <a:avLst/>
          </a:prstGeom>
          <a:solidFill>
            <a:srgbClr val="1F4A2C"/>
          </a:solidFill>
          <a:ln/>
        </p:spPr>
      </p:sp>
      <p:sp>
        <p:nvSpPr>
          <p:cNvPr id="4" name="Text 2"/>
          <p:cNvSpPr/>
          <p:nvPr/>
        </p:nvSpPr>
        <p:spPr>
          <a:xfrm>
            <a:off x="841248" y="1417320"/>
            <a:ext cx="8778240" cy="365760"/>
          </a:xfrm>
          <a:prstGeom prst="rect">
            <a:avLst/>
          </a:prstGeom>
          <a:noFill/>
          <a:ln/>
        </p:spPr>
        <p:txBody>
          <a:bodyPr wrap="square" lIns="0" tIns="0" rIns="0" bIns="0" rtlCol="0" anchor="ctr"/>
          <a:lstStyle/>
          <a:p>
            <a:pPr indent="0" marL="0">
              <a:buNone/>
            </a:pPr>
            <a:r>
              <a:rPr lang="en-US" sz="1400" b="1" spc="200" kern="0" dirty="0">
                <a:solidFill>
                  <a:srgbClr val="6FA368"/>
                </a:solidFill>
                <a:latin typeface="Calibri" pitchFamily="34" charset="0"/>
                <a:ea typeface="Calibri" pitchFamily="34" charset="-122"/>
                <a:cs typeface="Calibri" pitchFamily="34" charset="-120"/>
              </a:rPr>
              <a:t>MODULE 3  ·  120 MINUTES</a:t>
            </a:r>
            <a:endParaRPr lang="en-US" sz="1400" dirty="0"/>
          </a:p>
        </p:txBody>
      </p:sp>
      <p:sp>
        <p:nvSpPr>
          <p:cNvPr id="5" name="Text 3"/>
          <p:cNvSpPr/>
          <p:nvPr/>
        </p:nvSpPr>
        <p:spPr>
          <a:xfrm>
            <a:off x="841248" y="1874520"/>
            <a:ext cx="877824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Rumen Physiology &amp; Common Dairy Cow Diseases</a:t>
            </a:r>
            <a:endParaRPr lang="en-US" sz="4400" dirty="0"/>
          </a:p>
        </p:txBody>
      </p:sp>
      <p:sp>
        <p:nvSpPr>
          <p:cNvPr id="6" name="Text 4"/>
          <p:cNvSpPr/>
          <p:nvPr/>
        </p:nvSpPr>
        <p:spPr>
          <a:xfrm>
            <a:off x="841248" y="3703320"/>
            <a:ext cx="8778240" cy="822960"/>
          </a:xfrm>
          <a:prstGeom prst="rect">
            <a:avLst/>
          </a:prstGeom>
          <a:noFill/>
          <a:ln/>
        </p:spPr>
        <p:txBody>
          <a:bodyPr wrap="square" lIns="0" tIns="0" rIns="0" bIns="0" rtlCol="0" anchor="t"/>
          <a:lstStyle/>
          <a:p>
            <a:pPr indent="0" marL="0">
              <a:buNone/>
            </a:pPr>
            <a:r>
              <a:rPr lang="en-US" sz="1600" dirty="0">
                <a:solidFill>
                  <a:srgbClr val="C8D8C6"/>
                </a:solidFill>
                <a:latin typeface="Calibri" pitchFamily="34" charset="0"/>
                <a:ea typeface="Calibri" pitchFamily="34" charset="-122"/>
                <a:cs typeface="Calibri" pitchFamily="34" charset="-120"/>
              </a:rPr>
              <a:t>Digestion · Acidosis &amp; SARA · LDA/RDA · Milk Fever · Ketosis · Dystocia · RP · Uterine Disease</a:t>
            </a:r>
            <a:endParaRPr lang="en-US" sz="1600" dirty="0"/>
          </a:p>
        </p:txBody>
      </p:sp>
      <p:sp>
        <p:nvSpPr>
          <p:cNvPr id="7" name="Text 5"/>
          <p:cNvSpPr/>
          <p:nvPr/>
        </p:nvSpPr>
        <p:spPr>
          <a:xfrm>
            <a:off x="841248" y="5074920"/>
            <a:ext cx="8778240" cy="822960"/>
          </a:xfrm>
          <a:prstGeom prst="rect">
            <a:avLst/>
          </a:prstGeom>
          <a:noFill/>
          <a:ln/>
        </p:spPr>
        <p:txBody>
          <a:bodyPr wrap="square" lIns="0" tIns="0" rIns="0" bIns="0" rtlCol="0" anchor="ctr"/>
          <a:lstStyle/>
          <a:p>
            <a:pPr indent="0" marL="0">
              <a:buNone/>
            </a:pPr>
            <a:r>
              <a:rPr lang="en-US" sz="1350" b="1" dirty="0">
                <a:solidFill>
                  <a:srgbClr val="C8D8C6"/>
                </a:solidFill>
                <a:latin typeface="Calibri" pitchFamily="34" charset="0"/>
                <a:ea typeface="Calibri" pitchFamily="34" charset="-122"/>
                <a:cs typeface="Calibri" pitchFamily="34" charset="-120"/>
              </a:rPr>
              <a:t>Dr. Hyunje Ha, DVM</a:t>
            </a:r>
            <a:endParaRPr lang="en-US" sz="1350" dirty="0"/>
          </a:p>
          <a:p>
            <a:pPr indent="0" marL="0">
              <a:buNone/>
            </a:pPr>
            <a:r>
              <a:rPr lang="en-US" sz="1350" dirty="0">
                <a:solidFill>
                  <a:srgbClr val="C8D8C6"/>
                </a:solidFill>
                <a:latin typeface="Calibri" pitchFamily="34" charset="0"/>
                <a:ea typeface="Calibri" pitchFamily="34" charset="-122"/>
                <a:cs typeface="Calibri" pitchFamily="34" charset="-120"/>
              </a:rPr>
              <a:t>Genetics Co., Ltd.  ·  Korea Animal Hospital  ·  Republic of Korea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Opening the module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   |   2</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"THE COW THAT WILL NOT GET PREGNANT IS USUALLY A SICK COW."</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map of this module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   |   3</a:t>
            </a:r>
            <a:endParaRPr lang="en-US" sz="950" dirty="0"/>
          </a:p>
        </p:txBody>
      </p:sp>
      <p:sp>
        <p:nvSpPr>
          <p:cNvPr id="5" name="Shape 3"/>
          <p:cNvSpPr/>
          <p:nvPr/>
        </p:nvSpPr>
        <p:spPr>
          <a:xfrm>
            <a:off x="566928" y="1298448"/>
            <a:ext cx="11057839" cy="2032940"/>
          </a:xfrm>
          <a:prstGeom prst="roundRect">
            <a:avLst>
              <a:gd name="adj" fmla="val 3598"/>
            </a:avLst>
          </a:prstGeom>
          <a:solidFill>
            <a:srgbClr val="F3F6F2"/>
          </a:solidFill>
          <a:ln w="9525">
            <a:solidFill>
              <a:srgbClr val="D4DCD5"/>
            </a:solidFill>
            <a:prstDash val="solid"/>
          </a:ln>
        </p:spPr>
      </p:sp>
      <p:sp>
        <p:nvSpPr>
          <p:cNvPr id="6" name="Text 4"/>
          <p:cNvSpPr/>
          <p:nvPr/>
        </p:nvSpPr>
        <p:spPr>
          <a:xfrm>
            <a:off x="749808" y="1444752"/>
            <a:ext cx="10692079" cy="1740332"/>
          </a:xfrm>
          <a:prstGeom prst="rect">
            <a:avLst/>
          </a:prstGeom>
          <a:noFill/>
          <a:ln/>
        </p:spPr>
        <p:txBody>
          <a:bodyPr wrap="square" lIns="0" tIns="0" rIns="0" bIns="0" rtlCol="0" anchor="t"/>
          <a:lstStyle/>
          <a:p>
            <a:pPr indent="0" marL="0">
              <a:buNone/>
            </a:pPr>
            <a:r>
              <a:rPr lang="en-US" sz="1100" dirty="0">
                <a:solidFill>
                  <a:srgbClr val="14301C"/>
                </a:solidFill>
                <a:latin typeface="Courier New" pitchFamily="34" charset="0"/>
                <a:ea typeface="Courier New" pitchFamily="34" charset="-122"/>
                <a:cs typeface="Courier New" pitchFamily="34" charset="-120"/>
              </a:rPr>
              <a:t>RUMEN PHYSIOLOGY (the engine)</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when it breaks</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ACIDOSIS · SARA · INDIGESTION · BLOAT</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combined with the transition period</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MILK FEVER · KETOSIS · LDA · RDA/VOLVULUS</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 combined with calving</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DYSTOCIA · RETAINED PLACENTA · METRITIS · ENDOMETRITIS · PYOMETRA</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301C"/>
                </a:solidFill>
                <a:latin typeface="Courier New" pitchFamily="34" charset="0"/>
                <a:ea typeface="Courier New" pitchFamily="34" charset="-122"/>
                <a:cs typeface="Courier New" pitchFamily="34" charset="-120"/>
              </a:rPr>
              <a:t>INFERTILITY · CULLING · LOST PRODUCTION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3-A</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RUMINANT DIGESTIVE PHYSIOLOGY</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S3–S10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four compartments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   |   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204319"/>
                <a:gridCol w="3722441"/>
                <a:gridCol w="6131079"/>
              </a:tblGrid>
              <a:tr h="398399">
                <a:tc>
                  <a:txBody>
                    <a:bodyPr/>
                    <a:lstStyle/>
                    <a:p>
                      <a:pPr indent="0" marL="0">
                        <a:buNone/>
                      </a:pPr>
                      <a:r>
                        <a:rPr lang="en-US" sz="1200" dirty="0">
                          <a:solidFill>
                            <a:srgbClr val="000000"/>
                          </a:solidFill>
                        </a:rPr>
                        <a:t>Compartment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Approx. capacity (adult dairy cow)</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Function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Rumen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100–150 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Microbial fermentation vat; VFA absorption via papillae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Reticulum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10–20 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Mixing, hardware trap, contraction pacemaker; </a:t>
                      </a:r>
                      <a:pPr indent="0" marL="0">
                        <a:buNone/>
                      </a:pPr>
                      <a:r>
                        <a:rPr lang="en-US" sz="1200" dirty="0">
                          <a:solidFill>
                            <a:srgbClr val="000000"/>
                          </a:solidFill>
                        </a:rPr>
                        <a:t>where the bolus sits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Omasum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10–20 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Water and VFA absorption, particle size filter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Abomasum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15–20 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True stomach</a:t>
                      </a:r>
                      <a:pPr indent="0" marL="0">
                        <a:buNone/>
                      </a:pPr>
                      <a:r>
                        <a:rPr lang="en-US" sz="1200" dirty="0">
                          <a:solidFill>
                            <a:srgbClr val="000000"/>
                          </a:solidFill>
                        </a:rPr>
                        <a:t> — HCl, pepsin, pH 2–3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Shape 3"/>
          <p:cNvSpPr/>
          <p:nvPr/>
        </p:nvSpPr>
        <p:spPr>
          <a:xfrm>
            <a:off x="566928" y="3583051"/>
            <a:ext cx="11057839" cy="751459"/>
          </a:xfrm>
          <a:prstGeom prst="roundRect">
            <a:avLst>
              <a:gd name="adj" fmla="val 10951"/>
            </a:avLst>
          </a:prstGeom>
          <a:solidFill>
            <a:srgbClr val="E8F0E6"/>
          </a:solidFill>
          <a:ln w="9525">
            <a:solidFill>
              <a:srgbClr val="6FA368"/>
            </a:solidFill>
            <a:prstDash val="solid"/>
          </a:ln>
        </p:spPr>
      </p:sp>
      <p:sp>
        <p:nvSpPr>
          <p:cNvPr id="7" name="Text 4"/>
          <p:cNvSpPr/>
          <p:nvPr/>
        </p:nvSpPr>
        <p:spPr>
          <a:xfrm>
            <a:off x="786384" y="3747643"/>
            <a:ext cx="10618927" cy="422275"/>
          </a:xfrm>
          <a:prstGeom prst="rect">
            <a:avLst/>
          </a:prstGeom>
          <a:noFill/>
          <a:ln/>
        </p:spPr>
        <p:txBody>
          <a:bodyPr wrap="square" lIns="0" tIns="0" rIns="0" bIns="0" rtlCol="0" anchor="t"/>
          <a:lstStyle/>
          <a:p>
            <a:pPr indent="0" marL="0">
              <a:buNone/>
            </a:pPr>
            <a:r>
              <a:rPr lang="en-US" dirty="0">
                <a:solidFill>
                  <a:srgbClr val="000000"/>
                </a:solidFill>
              </a:rPr>
              <a:t>The rumen and reticulum function as </a:t>
            </a:r>
            <a:pPr indent="0" marL="0">
              <a:buNone/>
            </a:pPr>
            <a:r>
              <a:rPr lang="en-US" dirty="0">
                <a:solidFill>
                  <a:srgbClr val="000000"/>
                </a:solidFill>
              </a:rPr>
              <a:t>one organ (reticulorumen)</a:t>
            </a:r>
            <a:pPr indent="0" marL="0">
              <a:buNone/>
            </a:pPr>
            <a:r>
              <a:rPr lang="en-US" dirty="0">
                <a:solidFill>
                  <a:srgbClr val="000000"/>
                </a:solidFill>
              </a:rPr>
              <a:t> and contract together </a:t>
            </a:r>
            <a:pPr indent="0" marL="0">
              <a:buNone/>
            </a:pPr>
            <a:r>
              <a:rPr lang="en-US" dirty="0">
                <a:solidFill>
                  <a:srgbClr val="000000"/>
                </a:solidFill>
              </a:rPr>
              <a:t>1–3 times per minute</a:t>
            </a:r>
            <a:pPr indent="0" marL="0">
              <a:buNone/>
            </a:pPr>
            <a:r>
              <a:rPr lang="en-US" dirty="0">
                <a:solidFill>
                  <a:srgbClr val="000000"/>
                </a:solidFill>
              </a:rPr>
              <a: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cow does not digest feed — her microbes do</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   |   5</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477869"/>
                <a:gridCol w="2140227"/>
                <a:gridCol w="2586108"/>
                <a:gridCol w="2853636"/>
              </a:tblGrid>
              <a:tr h="390144">
                <a:tc>
                  <a:txBody>
                    <a:bodyPr/>
                    <a:lstStyle/>
                    <a:p>
                      <a:pPr indent="0" marL="0">
                        <a:buNone/>
                      </a:pPr>
                      <a:r>
                        <a:rPr lang="en-US" sz="1200" dirty="0">
                          <a:solidFill>
                            <a:srgbClr val="000000"/>
                          </a:solidFill>
                        </a:rPr>
                        <a:t>Microbe group</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Substrate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Optimum pH</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Products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0144">
                <a:tc>
                  <a:txBody>
                    <a:bodyPr/>
                    <a:lstStyle/>
                    <a:p>
                      <a:pPr indent="0" marL="0">
                        <a:buNone/>
                      </a:pPr>
                      <a:r>
                        <a:rPr lang="en-US" sz="1200" b="1" dirty="0">
                          <a:solidFill>
                            <a:srgbClr val="000000"/>
                          </a:solidFill>
                        </a:rPr>
                        <a:t>Cellulolytic bacteria</a:t>
                      </a:r>
                      <a:pPr indent="0" marL="0">
                        <a:buNone/>
                      </a:pPr>
                      <a:r>
                        <a:rPr lang="en-US" sz="1200" b="1" dirty="0">
                          <a:solidFill>
                            <a:srgbClr val="000000"/>
                          </a:solidFill>
                        </a:rPr>
                        <a:t> (fibre digesters)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Cellulose, hemicellulose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6.2–6.8 — sensitive to low pH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Acetate, some butyrate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Amylolytic bacteria</a:t>
                      </a:r>
                      <a:pPr indent="0" marL="0">
                        <a:buNone/>
                      </a:pPr>
                      <a:r>
                        <a:rPr lang="en-US" sz="1200" b="1" dirty="0">
                          <a:solidFill>
                            <a:srgbClr val="000000"/>
                          </a:solidFill>
                        </a:rPr>
                        <a:t> (starch digesters)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Starch, sugars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Tolerate </a:t>
                      </a:r>
                      <a:pPr indent="0" marL="0">
                        <a:buNone/>
                      </a:pPr>
                      <a:r>
                        <a:rPr lang="en-US" sz="1200" dirty="0">
                          <a:solidFill>
                            <a:srgbClr val="000000"/>
                          </a:solidFill>
                        </a:rPr>
                        <a:t>5.5–6.0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Propionate, lactate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Protozoa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Starch, bacteria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Sensitive to low pH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Buffering effect (engulf starch)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Fungi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Lignified fibre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Neutral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Fibre breakdown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Methanogenic archaea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H₂ + CO₂</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Neutral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Methane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931920"/>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4096512"/>
            <a:ext cx="10618927" cy="661670"/>
          </a:xfrm>
          <a:prstGeom prst="rect">
            <a:avLst/>
          </a:prstGeom>
          <a:noFill/>
          <a:ln/>
        </p:spPr>
        <p:txBody>
          <a:bodyPr wrap="square" lIns="0" tIns="0" rIns="0" bIns="0" rtlCol="0" anchor="t"/>
          <a:lstStyle/>
          <a:p>
            <a:pPr indent="0" marL="0">
              <a:buNone/>
            </a:pPr>
            <a:r>
              <a:rPr lang="en-US" dirty="0">
                <a:solidFill>
                  <a:srgbClr val="000000"/>
                </a:solidFill>
              </a:rPr>
              <a:t>This asymmetry is the origin of acidosis: when pH falls, the fibre digesters die first and the starch digesters thrive.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Volatile fatty acids — where milk actually comes from</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S5   |   6</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176366"/>
                <a:gridCol w="2235095"/>
                <a:gridCol w="1058729"/>
                <a:gridCol w="6587649"/>
              </a:tblGrid>
              <a:tr h="390144">
                <a:tc>
                  <a:txBody>
                    <a:bodyPr/>
                    <a:lstStyle/>
                    <a:p>
                      <a:pPr indent="0" marL="0">
                        <a:buNone/>
                      </a:pPr>
                      <a:r>
                        <a:rPr lang="en-US" sz="1200" dirty="0">
                          <a:solidFill>
                            <a:srgbClr val="000000"/>
                          </a:solidFill>
                        </a:rPr>
                        <a:t>VFA</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Proportion of total</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Made from</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What the cow uses it for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0144">
                <a:tc>
                  <a:txBody>
                    <a:bodyPr/>
                    <a:lstStyle/>
                    <a:p>
                      <a:pPr indent="0" marL="0">
                        <a:buNone/>
                      </a:pPr>
                      <a:r>
                        <a:rPr lang="en-US" sz="1200" b="1" dirty="0">
                          <a:solidFill>
                            <a:srgbClr val="000000"/>
                          </a:solidFill>
                        </a:rPr>
                        <a:t>Acetate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~60–70%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Fibre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Milk FAT</a:t>
                      </a:r>
                      <a:pPr indent="0" marL="0">
                        <a:buNone/>
                      </a:pPr>
                      <a:r>
                        <a:rPr lang="en-US" sz="1200" dirty="0">
                          <a:solidFill>
                            <a:srgbClr val="000000"/>
                          </a:solidFill>
                        </a:rPr>
                        <a:t> precursor; body energy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Propionate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~15–20%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Starch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Gluconeogenesis → GLUCOSE → milk LACTOSE → milk VOLUME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588264">
                <a:tc>
                  <a:txBody>
                    <a:bodyPr/>
                    <a:lstStyle/>
                    <a:p>
                      <a:pPr indent="0" marL="0">
                        <a:buNone/>
                      </a:pPr>
                      <a:r>
                        <a:rPr lang="en-US" sz="1200" b="1" dirty="0">
                          <a:solidFill>
                            <a:srgbClr val="000000"/>
                          </a:solidFill>
                        </a:rPr>
                        <a:t>Butyrate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~10–15%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Both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Energy for the </a:t>
                      </a:r>
                      <a:pPr indent="0" marL="0">
                        <a:buNone/>
                      </a:pPr>
                      <a:r>
                        <a:rPr lang="en-US" sz="1200" dirty="0">
                          <a:solidFill>
                            <a:srgbClr val="000000"/>
                          </a:solidFill>
                        </a:rPr>
                        <a:t>rumen epithelium</a:t>
                      </a:r>
                      <a:pPr indent="0" marL="0">
                        <a:buNone/>
                      </a:pPr>
                      <a:r>
                        <a:rPr lang="en-US" sz="1200" dirty="0">
                          <a:solidFill>
                            <a:srgbClr val="000000"/>
                          </a:solidFill>
                        </a:rPr>
                        <a:t>; converted to </a:t>
                      </a:r>
                      <a:pPr indent="0" marL="0">
                        <a:buNone/>
                      </a:pPr>
                      <a:r>
                        <a:rPr lang="en-US" sz="1200" dirty="0">
                          <a:solidFill>
                            <a:srgbClr val="000000"/>
                          </a:solidFill>
                        </a:rPr>
                        <a:t>BHB</a:t>
                      </a:r>
                      <a:pPr indent="0" marL="0">
                        <a:buNone/>
                      </a:pPr>
                      <a:r>
                        <a:rPr lang="en-US" sz="1200" dirty="0">
                          <a:solidFill>
                            <a:srgbClr val="000000"/>
                          </a:solidFill>
                        </a:rPr>
                        <a:t> (a ketone body) in the rumen wall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349752"/>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3514344"/>
            <a:ext cx="10618927" cy="661670"/>
          </a:xfrm>
          <a:prstGeom prst="rect">
            <a:avLst/>
          </a:prstGeom>
          <a:noFill/>
          <a:ln/>
        </p:spPr>
        <p:txBody>
          <a:bodyPr wrap="square" lIns="0" tIns="0" rIns="0" bIns="0" rtlCol="0" anchor="t"/>
          <a:lstStyle/>
          <a:p>
            <a:pPr indent="0" marL="0">
              <a:buNone/>
            </a:pPr>
            <a:r>
              <a:rPr lang="en-US" dirty="0">
                <a:solidFill>
                  <a:srgbClr val="000000"/>
                </a:solidFill>
              </a:rPr>
              <a:t>VFA supply </a:t>
            </a:r>
            <a:pPr indent="0" marL="0">
              <a:buNone/>
            </a:pPr>
            <a:r>
              <a:rPr lang="en-US" dirty="0">
                <a:solidFill>
                  <a:srgbClr val="000000"/>
                </a:solidFill>
              </a:rPr>
              <a:t>60–75% of the cow's total energy</a:t>
            </a:r>
            <a:pPr indent="0" marL="0">
              <a:buNone/>
            </a:pPr>
            <a:r>
              <a:rPr lang="en-US" dirty="0">
                <a:solidFill>
                  <a:srgbClr val="000000"/>
                </a:solidFill>
              </a:rPr>
              <a:t>. She absorbs them across the rumen papillae.</a:t>
            </a:r>
            <a:endParaRPr lang="en-US" dirty="0"/>
          </a:p>
          <a:p>
            <a:pPr indent="0" marL="0">
              <a:buNone/>
            </a:pPr>
            <a:r>
              <a:rPr lang="en-US" dirty="0">
                <a:solidFill>
                  <a:srgbClr val="000000"/>
                </a:solidFill>
              </a:rPr>
              <a:t>The cow is not a sugar-eating animal. She is a VFA-powered animal.</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Saliva — the cow's own buffer factory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S6   |   7</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A dairy cow produces </a:t>
            </a:r>
            <a:pPr indent="0" marL="0">
              <a:buNone/>
            </a:pPr>
            <a:r>
              <a:rPr lang="en-US" dirty="0">
                <a:solidFill>
                  <a:srgbClr val="000000"/>
                </a:solidFill>
              </a:rPr>
              <a:t>100–200 L of saliva per day</a:t>
            </a:r>
            <a:pPr indent="0" marL="0">
              <a:buNone/>
            </a:pPr>
            <a:r>
              <a:rPr lang="en-US" dirty="0">
                <a:solidFill>
                  <a:srgbClr val="000000"/>
                </a:solidFill>
              </a:rPr>
              <a:t> </a:t>
            </a:r>
            <a:pPr indent="0" marL="0">
              <a:buNone/>
            </a:pPr>
            <a:r>
              <a:rPr lang="en-US" dirty="0">
                <a:solidFill>
                  <a:srgbClr val="000000"/>
                </a:solidFill>
              </a:rPr>
              <a:t>(published range)</a:t>
            </a:r>
            <a:endParaRPr lang="en-US" dirty="0"/>
          </a:p>
          <a:p>
            <a:pPr marL="342900" indent="-342900">
              <a:spcAft>
                <a:spcPts val="500"/>
              </a:spcAft>
              <a:buSzPct val="100000"/>
              <a:buChar char="•"/>
            </a:pPr>
            <a:r>
              <a:rPr lang="en-US" dirty="0">
                <a:solidFill>
                  <a:srgbClr val="000000"/>
                </a:solidFill>
              </a:rPr>
              <a:t>Saliva contains </a:t>
            </a:r>
            <a:pPr indent="0" marL="0">
              <a:buNone/>
            </a:pPr>
            <a:r>
              <a:rPr lang="en-US" dirty="0">
                <a:solidFill>
                  <a:srgbClr val="000000"/>
                </a:solidFill>
              </a:rPr>
              <a:t>bicarbonate and phosphate</a:t>
            </a:r>
            <a:pPr indent="0" marL="0">
              <a:buNone/>
            </a:pPr>
            <a:r>
              <a:rPr lang="en-US" dirty="0">
                <a:solidFill>
                  <a:srgbClr val="000000"/>
                </a:solidFill>
              </a:rPr>
              <a:t> — the rumen's main buffer</a:t>
            </a:r>
            <a:endParaRPr lang="en-US" dirty="0"/>
          </a:p>
          <a:p>
            <a:pPr marL="342900" indent="-342900">
              <a:spcAft>
                <a:spcPts val="500"/>
              </a:spcAft>
              <a:buSzPct val="100000"/>
              <a:buChar char="•"/>
            </a:pPr>
            <a:r>
              <a:rPr lang="en-US" dirty="0">
                <a:solidFill>
                  <a:srgbClr val="000000"/>
                </a:solidFill>
              </a:rPr>
              <a:t>Saliva production is driven by </a:t>
            </a:r>
            <a:pPr indent="0" marL="0">
              <a:buNone/>
            </a:pPr>
            <a:r>
              <a:rPr lang="en-US" dirty="0">
                <a:solidFill>
                  <a:srgbClr val="000000"/>
                </a:solidFill>
              </a:rPr>
              <a:t>chewing and rumination</a:t>
            </a:r>
            <a:pPr indent="0" marL="0">
              <a:buNone/>
            </a:pPr>
            <a:r>
              <a:rPr lang="en-US" dirty="0">
                <a:solidFill>
                  <a:srgbClr val="000000"/>
                </a:solidFill>
              </a:rPr>
              <a:t>, which is driven by </a:t>
            </a:r>
            <a:pPr indent="0" marL="0">
              <a:buNone/>
            </a:pPr>
            <a:r>
              <a:rPr lang="en-US" dirty="0">
                <a:solidFill>
                  <a:srgbClr val="000000"/>
                </a:solidFill>
              </a:rPr>
              <a:t>effective fibre (peNDF)</a:t>
            </a:r>
            <a:endParaRPr lang="en-US" dirty="0"/>
          </a:p>
          <a:p>
            <a:pPr marL="342900" indent="-342900">
              <a:spcAft>
                <a:spcPts val="500"/>
              </a:spcAft>
              <a:buSzPct val="100000"/>
              <a:buChar char="•"/>
            </a:pPr>
            <a:r>
              <a:rPr lang="en-US" dirty="0">
                <a:solidFill>
                  <a:srgbClr val="000000"/>
                </a:solidFill>
              </a:rPr>
              <a:t>Normal </a:t>
            </a:r>
            <a:pPr indent="0" marL="0">
              <a:buNone/>
            </a:pPr>
            <a:r>
              <a:rPr lang="en-US" dirty="0">
                <a:solidFill>
                  <a:srgbClr val="000000"/>
                </a:solidFill>
              </a:rPr>
              <a:t>rumination: 7–9 hours/day</a:t>
            </a:r>
            <a:pPr indent="0" marL="0">
              <a:buNone/>
            </a:pPr>
            <a:r>
              <a:rPr lang="en-US" dirty="0">
                <a:solidFill>
                  <a:srgbClr val="000000"/>
                </a:solidFill>
              </a:rPr>
              <a:t>; </a:t>
            </a:r>
            <a:pPr indent="0" marL="0">
              <a:buNone/>
            </a:pPr>
            <a:r>
              <a:rPr lang="en-US" dirty="0">
                <a:solidFill>
                  <a:srgbClr val="000000"/>
                </a:solidFill>
              </a:rPr>
              <a:t>~450–500 minutes/day</a:t>
            </a:r>
            <a:pPr indent="0" marL="0">
              <a:buNone/>
            </a:pPr>
            <a:r>
              <a:rPr lang="en-US" dirty="0">
                <a:solidFill>
                  <a:srgbClr val="000000"/>
                </a:solidFill>
              </a:rPr>
              <a:t> in a healthy lactating cow </a:t>
            </a:r>
            <a:pPr indent="0" marL="0">
              <a:buNone/>
            </a:pPr>
            <a:r>
              <a:rPr lang="en-US" dirty="0">
                <a:solidFill>
                  <a:srgbClr val="000000"/>
                </a:solidFill>
              </a:rPr>
              <a:t>(published range)</a:t>
            </a:r>
            <a:endParaRPr lang="en-US" dirty="0"/>
          </a:p>
          <a:p>
            <a:pPr marL="342900" indent="-342900">
              <a:spcAft>
                <a:spcPts val="500"/>
              </a:spcAft>
              <a:buSzPct val="100000"/>
              <a:buChar char="•"/>
            </a:pPr>
            <a:r>
              <a:rPr lang="en-US" dirty="0">
                <a:solidFill>
                  <a:srgbClr val="000000"/>
                </a:solidFill>
              </a:rPr>
              <a:t>Falling rumination time is one of the earliest signs of almost any illness</a:t>
            </a:r>
            <a:pPr indent="0" marL="0">
              <a:buNone/>
            </a:pPr>
            <a:r>
              <a:rPr lang="en-US" dirty="0">
                <a:solidFill>
                  <a:srgbClr val="000000"/>
                </a:solidFill>
              </a:rPr>
              <a:t> — this is what a sensor measures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Rumen pH — the number that governs everything</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S7   |   8</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541613"/>
                <a:gridCol w="6516227"/>
              </a:tblGrid>
              <a:tr h="398399">
                <a:tc>
                  <a:txBody>
                    <a:bodyPr/>
                    <a:lstStyle/>
                    <a:p>
                      <a:pPr indent="0" marL="0">
                        <a:buNone/>
                      </a:pPr>
                      <a:r>
                        <a:rPr lang="en-US" sz="1200" dirty="0">
                          <a:solidFill>
                            <a:srgbClr val="000000"/>
                          </a:solidFill>
                        </a:rPr>
                        <a:t>pH</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State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6.2–6.8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Normal; fibre digestion optimal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5.8–6.2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Marginal; fibre digestion falling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&lt; 5.6–5.8 for &gt; 3 h/day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SARA (subacute ruminal acidosis)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&lt; 5.0–5.2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Acute lactic acidosis</a:t>
                      </a:r>
                      <a:pPr indent="0" marL="0">
                        <a:buNone/>
                      </a:pPr>
                      <a:r>
                        <a:rPr lang="en-US" sz="1200" dirty="0">
                          <a:solidFill>
                            <a:srgbClr val="000000"/>
                          </a:solidFill>
                        </a:rPr>
                        <a:t> — emergency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621792" y="3583051"/>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pH varies through the day; </a:t>
            </a:r>
            <a:pPr indent="0" marL="0">
              <a:buNone/>
            </a:pPr>
            <a:r>
              <a:rPr lang="en-US" dirty="0">
                <a:solidFill>
                  <a:srgbClr val="000000"/>
                </a:solidFill>
              </a:rPr>
              <a:t>lowest 2–6 hours after a large concentrate meal</a:t>
            </a:r>
            <a:endParaRPr lang="en-US" dirty="0"/>
          </a:p>
          <a:p>
            <a:pPr marL="342900" indent="-342900">
              <a:spcAft>
                <a:spcPts val="500"/>
              </a:spcAft>
              <a:buSzPct val="100000"/>
              <a:buChar char="•"/>
            </a:pPr>
            <a:r>
              <a:rPr lang="en-US" dirty="0">
                <a:solidFill>
                  <a:srgbClr val="000000"/>
                </a:solidFill>
              </a:rPr>
              <a:t>Diagnosis of SARA: </a:t>
            </a:r>
            <a:pPr indent="0" marL="0">
              <a:buNone/>
            </a:pPr>
            <a:r>
              <a:rPr lang="en-US" dirty="0">
                <a:solidFill>
                  <a:srgbClr val="000000"/>
                </a:solidFill>
              </a:rPr>
              <a:t>rumenocentesis</a:t>
            </a:r>
            <a:pPr indent="0" marL="0">
              <a:buNone/>
            </a:pPr>
            <a:r>
              <a:rPr lang="en-US" dirty="0">
                <a:solidFill>
                  <a:srgbClr val="000000"/>
                </a:solidFill>
              </a:rPr>
              <a:t> in a sample of cows, or </a:t>
            </a:r>
            <a:pPr indent="0" marL="0">
              <a:buNone/>
            </a:pPr>
            <a:r>
              <a:rPr lang="en-US" dirty="0">
                <a:solidFill>
                  <a:srgbClr val="000000"/>
                </a:solidFill>
              </a:rPr>
              <a:t>continuous pH bolus</a:t>
            </a:r>
            <a:pPr indent="0" marL="0">
              <a:buNone/>
            </a:pPr>
            <a:r>
              <a:rPr lang="en-US" dirty="0">
                <a:solidFill>
                  <a:srgbClr val="000000"/>
                </a:solidFill>
              </a:rPr>
              <a:t> (modern reference standard)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Protein and nitrogen recycling</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S8   |   9</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RDP (rumen degradable protein)</a:t>
            </a:r>
            <a:pPr indent="0" marL="0">
              <a:buNone/>
            </a:pPr>
            <a:r>
              <a:rPr lang="en-US" dirty="0">
                <a:solidFill>
                  <a:srgbClr val="000000"/>
                </a:solidFill>
              </a:rPr>
              <a:t> → ammonia → </a:t>
            </a:r>
            <a:pPr indent="0" marL="0">
              <a:buNone/>
            </a:pPr>
            <a:r>
              <a:rPr lang="en-US" dirty="0">
                <a:solidFill>
                  <a:srgbClr val="000000"/>
                </a:solidFill>
              </a:rPr>
              <a:t>microbial protein (MCP)</a:t>
            </a:r>
            <a:pPr indent="0" marL="0">
              <a:buNone/>
            </a:pPr>
            <a:r>
              <a:rPr lang="en-US" dirty="0">
                <a:solidFill>
                  <a:srgbClr val="000000"/>
                </a:solidFill>
              </a:rPr>
              <a:t> — supplies </a:t>
            </a:r>
            <a:pPr indent="0" marL="0">
              <a:buNone/>
            </a:pPr>
            <a:r>
              <a:rPr lang="en-US" dirty="0">
                <a:solidFill>
                  <a:srgbClr val="000000"/>
                </a:solidFill>
              </a:rPr>
              <a:t>50–80% of the cow's metabolisable protein</a:t>
            </a:r>
            <a:endParaRPr lang="en-US" dirty="0"/>
          </a:p>
          <a:p>
            <a:pPr marL="342900" indent="-342900">
              <a:spcAft>
                <a:spcPts val="500"/>
              </a:spcAft>
              <a:buSzPct val="100000"/>
              <a:buChar char="•"/>
            </a:pPr>
            <a:r>
              <a:rPr lang="en-US" dirty="0">
                <a:solidFill>
                  <a:srgbClr val="000000"/>
                </a:solidFill>
              </a:rPr>
              <a:t>RUP (rumen undegradable / bypass protein)</a:t>
            </a:r>
            <a:pPr indent="0" marL="0">
              <a:buNone/>
            </a:pPr>
            <a:r>
              <a:rPr lang="en-US" dirty="0">
                <a:solidFill>
                  <a:srgbClr val="000000"/>
                </a:solidFill>
              </a:rPr>
              <a:t> → digested in the abomasum and small intestine</a:t>
            </a:r>
            <a:endParaRPr lang="en-US" dirty="0"/>
          </a:p>
          <a:p>
            <a:pPr marL="342900" indent="-342900">
              <a:spcAft>
                <a:spcPts val="500"/>
              </a:spcAft>
              <a:buSzPct val="100000"/>
              <a:buChar char="•"/>
            </a:pPr>
            <a:r>
              <a:rPr lang="en-US" dirty="0">
                <a:solidFill>
                  <a:srgbClr val="000000"/>
                </a:solidFill>
              </a:rPr>
              <a:t>Excess ammonia → absorbed → liver → </a:t>
            </a:r>
            <a:pPr indent="0" marL="0">
              <a:buNone/>
            </a:pPr>
            <a:r>
              <a:rPr lang="en-US" dirty="0">
                <a:solidFill>
                  <a:srgbClr val="000000"/>
                </a:solidFill>
              </a:rPr>
              <a:t>urea</a:t>
            </a:r>
            <a:pPr indent="0" marL="0">
              <a:buNone/>
            </a:pPr>
            <a:r>
              <a:rPr lang="en-US" dirty="0">
                <a:solidFill>
                  <a:srgbClr val="000000"/>
                </a:solidFill>
              </a:rPr>
              <a:t> → excreted in urine </a:t>
            </a:r>
            <a:pPr indent="0" marL="0">
              <a:buNone/>
            </a:pPr>
            <a:r>
              <a:rPr lang="en-US" dirty="0">
                <a:solidFill>
                  <a:srgbClr val="000000"/>
                </a:solidFill>
              </a:rPr>
              <a:t>or recycled to the rumen via saliva and the rumen wall</a:t>
            </a:r>
            <a:endParaRPr lang="en-US" dirty="0"/>
          </a:p>
          <a:p>
            <a:pPr marL="342900" indent="-342900">
              <a:spcAft>
                <a:spcPts val="500"/>
              </a:spcAft>
              <a:buSzPct val="100000"/>
              <a:buChar char="•"/>
            </a:pPr>
            <a:r>
              <a:rPr lang="en-US" dirty="0">
                <a:solidFill>
                  <a:srgbClr val="000000"/>
                </a:solidFill>
              </a:rPr>
              <a:t>Practical indicator: </a:t>
            </a:r>
            <a:pPr indent="0" marL="0">
              <a:buNone/>
            </a:pPr>
            <a:r>
              <a:rPr lang="en-US" dirty="0">
                <a:solidFill>
                  <a:srgbClr val="000000"/>
                </a:solidFill>
              </a:rPr>
              <a:t>milk urea nitrogen (MUN)</a:t>
            </a:r>
            <a:pPr indent="0" marL="0">
              <a:buNone/>
            </a:pPr>
            <a:r>
              <a:rPr lang="en-US" dirty="0">
                <a:solidFill>
                  <a:srgbClr val="000000"/>
                </a:solidFill>
              </a:rPr>
              <a:t> — high MUN = protein wasted; low MUN = protein or energy short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Gas, eructation and rumen adaptation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S9   |   10</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Fermentation produces </a:t>
            </a:r>
            <a:pPr indent="0" marL="0">
              <a:buNone/>
            </a:pPr>
            <a:r>
              <a:rPr lang="en-US" dirty="0">
                <a:solidFill>
                  <a:srgbClr val="000000"/>
                </a:solidFill>
              </a:rPr>
              <a:t>CO₂ and methane</a:t>
            </a:r>
            <a:pPr indent="0" marL="0">
              <a:buNone/>
            </a:pPr>
            <a:r>
              <a:rPr lang="en-US" dirty="0">
                <a:solidFill>
                  <a:srgbClr val="000000"/>
                </a:solidFill>
              </a:rPr>
              <a:t> — removed by </a:t>
            </a:r>
            <a:pPr indent="0" marL="0">
              <a:buNone/>
            </a:pPr>
            <a:r>
              <a:rPr lang="en-US" dirty="0">
                <a:solidFill>
                  <a:srgbClr val="000000"/>
                </a:solidFill>
              </a:rPr>
              <a:t>eructation</a:t>
            </a:r>
            <a:pPr indent="0" marL="0">
              <a:buNone/>
            </a:pPr>
            <a:r>
              <a:rPr lang="en-US" dirty="0">
                <a:solidFill>
                  <a:srgbClr val="000000"/>
                </a:solidFill>
              </a:rPr>
              <a:t> driven by secondary reticular contractions</a:t>
            </a:r>
            <a:endParaRPr lang="en-US" dirty="0"/>
          </a:p>
          <a:p>
            <a:pPr marL="342900" indent="-342900">
              <a:spcAft>
                <a:spcPts val="500"/>
              </a:spcAft>
              <a:buSzPct val="100000"/>
              <a:buChar char="•"/>
            </a:pPr>
            <a:r>
              <a:rPr lang="en-US" dirty="0">
                <a:solidFill>
                  <a:srgbClr val="000000"/>
                </a:solidFill>
              </a:rPr>
              <a:t>Blocked eructation → </a:t>
            </a:r>
            <a:pPr indent="0" marL="0">
              <a:buNone/>
            </a:pPr>
            <a:r>
              <a:rPr lang="en-US" dirty="0">
                <a:solidFill>
                  <a:srgbClr val="000000"/>
                </a:solidFill>
              </a:rPr>
              <a:t>bloat (tympany)</a:t>
            </a:r>
            <a:pPr indent="0" marL="0">
              <a:buNone/>
            </a:pPr>
            <a:r>
              <a:rPr lang="en-US" dirty="0">
                <a:solidFill>
                  <a:srgbClr val="000000"/>
                </a:solidFill>
              </a:rPr>
              <a:t>:</a:t>
            </a:r>
            <a:endParaRPr lang="en-US" dirty="0"/>
          </a:p>
          <a:p>
            <a:pPr marL="342900" indent="-342900">
              <a:spcAft>
                <a:spcPts val="500"/>
              </a:spcAft>
              <a:buSzPct val="100000"/>
              <a:buChar char="•"/>
            </a:pPr>
            <a:r>
              <a:rPr lang="en-US" dirty="0">
                <a:solidFill>
                  <a:srgbClr val="000000"/>
                </a:solidFill>
              </a:rPr>
              <a:t>Frothy bloat</a:t>
            </a:r>
            <a:pPr indent="0" marL="0">
              <a:buNone/>
            </a:pPr>
            <a:r>
              <a:rPr lang="en-US" dirty="0">
                <a:solidFill>
                  <a:srgbClr val="000000"/>
                </a:solidFill>
              </a:rPr>
              <a:t> — stable foam traps gas (legume/lush pasture, finely ground grain)</a:t>
            </a:r>
            <a:endParaRPr lang="en-US" dirty="0"/>
          </a:p>
          <a:p>
            <a:pPr marL="342900" indent="-342900">
              <a:spcAft>
                <a:spcPts val="500"/>
              </a:spcAft>
              <a:buSzPct val="100000"/>
              <a:buChar char="•"/>
            </a:pPr>
            <a:r>
              <a:rPr lang="en-US" dirty="0">
                <a:solidFill>
                  <a:srgbClr val="000000"/>
                </a:solidFill>
              </a:rPr>
              <a:t>Free-gas bloat</a:t>
            </a:r>
            <a:pPr indent="0" marL="0">
              <a:buNone/>
            </a:pPr>
            <a:r>
              <a:rPr lang="en-US" dirty="0">
                <a:solidFill>
                  <a:srgbClr val="000000"/>
                </a:solidFill>
              </a:rPr>
              <a:t> — physical or neurological obstruction (oesophageal blockage, </a:t>
            </a:r>
            <a:pPr indent="0" marL="0">
              <a:buNone/>
            </a:pPr>
            <a:r>
              <a:rPr lang="en-US" dirty="0">
                <a:solidFill>
                  <a:srgbClr val="000000"/>
                </a:solidFill>
              </a:rPr>
              <a:t>vagal indigestion</a:t>
            </a:r>
            <a:pPr indent="0" marL="0">
              <a:buNone/>
            </a:pPr>
            <a:r>
              <a:rPr lang="en-US" dirty="0">
                <a:solidFill>
                  <a:srgbClr val="000000"/>
                </a:solidFill>
              </a:rPr>
              <a:t>)</a:t>
            </a:r>
            <a:endParaRPr lang="en-US" dirty="0"/>
          </a:p>
          <a:p>
            <a:pPr marL="342900" indent="-342900">
              <a:spcAft>
                <a:spcPts val="500"/>
              </a:spcAft>
              <a:buSzPct val="100000"/>
              <a:buChar char="•"/>
            </a:pPr>
            <a:r>
              <a:rPr lang="en-US" dirty="0">
                <a:solidFill>
                  <a:srgbClr val="000000"/>
                </a:solidFill>
              </a:rPr>
              <a:t>Rumen papillae adapt to diet over 3–6 weeks</a:t>
            </a:r>
            <a:pPr indent="0" marL="0">
              <a:buNone/>
            </a:pPr>
            <a:r>
              <a:rPr lang="en-US" dirty="0">
                <a:solidFill>
                  <a:srgbClr val="000000"/>
                </a:solidFill>
              </a:rPr>
              <a:t> — this is why abrupt ration change causes acidosis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What you can assess in 60 seconds, with no equipment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S10   |   11</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943105"/>
                <a:gridCol w="2743030"/>
                <a:gridCol w="4371704"/>
              </a:tblGrid>
              <a:tr h="398399">
                <a:tc>
                  <a:txBody>
                    <a:bodyPr/>
                    <a:lstStyle/>
                    <a:p>
                      <a:pPr indent="0" marL="0">
                        <a:buNone/>
                      </a:pPr>
                      <a:r>
                        <a:rPr lang="en-US" sz="1200" dirty="0">
                          <a:solidFill>
                            <a:srgbClr val="000000"/>
                          </a:solidFill>
                        </a:rPr>
                        <a:t>Observation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Normal</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Abnormal suggests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b="1" dirty="0">
                          <a:solidFill>
                            <a:srgbClr val="000000"/>
                          </a:solidFill>
                        </a:rPr>
                        <a:t>Rumen fill</a:t>
                      </a:r>
                      <a:pPr indent="0" marL="0">
                        <a:buNone/>
                      </a:pPr>
                      <a:r>
                        <a:rPr lang="en-US" sz="1200" b="1" dirty="0">
                          <a:solidFill>
                            <a:srgbClr val="000000"/>
                          </a:solidFill>
                        </a:rPr>
                        <a:t> (left paralumbar fossa)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Filled, slightly hollow triangle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Empty = not eating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Rumen contractions</a:t>
                      </a:r>
                      <a:pPr indent="0" marL="0">
                        <a:buNone/>
                      </a:pPr>
                      <a:r>
                        <a:rPr lang="en-US" sz="1200" b="1" dirty="0">
                          <a:solidFill>
                            <a:srgbClr val="000000"/>
                          </a:solidFill>
                        </a:rPr>
                        <a:t> (hand on left flank, 2 min)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1–3 per minute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Reduced = illness, acidosis, hypocalcaemia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Cud chewing</a:t>
                      </a:r>
                      <a:pPr indent="0" marL="0">
                        <a:buNone/>
                      </a:pPr>
                      <a:r>
                        <a:rPr lang="en-US" sz="1200" b="1" dirty="0">
                          <a:solidFill>
                            <a:srgbClr val="000000"/>
                          </a:solidFill>
                        </a:rPr>
                        <a:t> (count cows lying and chewing)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&gt;60–70% of resting cows chewing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 = insufficient effective fibre / illness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Manure consistency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Firm porridge, holds shape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Loose, bubbly, mucin casts, undigested grain = </a:t>
                      </a:r>
                      <a:pPr indent="0" marL="0">
                        <a:buNone/>
                      </a:pPr>
                      <a:r>
                        <a:rPr lang="en-US" sz="1200" dirty="0">
                          <a:solidFill>
                            <a:srgbClr val="000000"/>
                          </a:solidFill>
                        </a:rPr>
                        <a:t>SARA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Manure screening (sieve)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Few long particles, little grain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Long fibre + whole grain = poor digestion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Nose/muzzle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Wet, glistening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Dry = fever, dehydration, illness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3-B</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ACIDOSIS, SARA, INDIGESTION, BLOAT</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S11–S18</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Acute lactic acidosis — mechanism</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S11   |   12</a:t>
            </a:r>
            <a:endParaRPr lang="en-US" sz="950" dirty="0"/>
          </a:p>
        </p:txBody>
      </p:sp>
      <p:sp>
        <p:nvSpPr>
          <p:cNvPr id="5" name="Shape 3"/>
          <p:cNvSpPr/>
          <p:nvPr/>
        </p:nvSpPr>
        <p:spPr>
          <a:xfrm>
            <a:off x="566928" y="1298448"/>
            <a:ext cx="11057839" cy="2032940"/>
          </a:xfrm>
          <a:prstGeom prst="roundRect">
            <a:avLst>
              <a:gd name="adj" fmla="val 3598"/>
            </a:avLst>
          </a:prstGeom>
          <a:solidFill>
            <a:srgbClr val="F3F6F2"/>
          </a:solidFill>
          <a:ln w="9525">
            <a:solidFill>
              <a:srgbClr val="D4DCD5"/>
            </a:solidFill>
            <a:prstDash val="solid"/>
          </a:ln>
        </p:spPr>
      </p:sp>
      <p:sp>
        <p:nvSpPr>
          <p:cNvPr id="6" name="Text 4"/>
          <p:cNvSpPr/>
          <p:nvPr/>
        </p:nvSpPr>
        <p:spPr>
          <a:xfrm>
            <a:off x="749808" y="1444752"/>
            <a:ext cx="10692079" cy="1740332"/>
          </a:xfrm>
          <a:prstGeom prst="rect">
            <a:avLst/>
          </a:prstGeom>
          <a:noFill/>
          <a:ln/>
        </p:spPr>
        <p:txBody>
          <a:bodyPr wrap="square" lIns="0" tIns="0" rIns="0" bIns="0" rtlCol="0" anchor="t"/>
          <a:lstStyle/>
          <a:p>
            <a:pPr indent="0" marL="0">
              <a:buNone/>
            </a:pPr>
            <a:r>
              <a:rPr lang="en-US" sz="900" dirty="0">
                <a:solidFill>
                  <a:srgbClr val="14301C"/>
                </a:solidFill>
                <a:latin typeface="Courier New" pitchFamily="34" charset="0"/>
                <a:ea typeface="Courier New" pitchFamily="34" charset="-122"/>
                <a:cs typeface="Courier New" pitchFamily="34" charset="-120"/>
              </a:rPr>
              <a:t>Sudden large intake of readily fermentable carbohydrate (grain, cassava, molasses, bread)</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Streptococcus bovis proliferates explosively → lactic acid</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pH falls below ~5.5</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S. bovis is inhibited → LACTOBACILLUS takes over → produces D-lactate and L-lactate</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pH falls below ~5.0</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D-lactate is poorly metabolised by the cow → SYSTEMIC METABOLIC ACIDOSIS</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Rumen stasis + high osmolarity → water pulled INTO the rumen → DEHYDRATION, shock</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Chemical rumenitis → bacteria/fungi invade the rumen wall → LIVER ABSCESS, laminitis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Acute acidosis — signs, treatment, prevention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S12   |   13</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8878"/>
                <a:gridCol w="7938961"/>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811149">
                <a:tc>
                  <a:txBody>
                    <a:bodyPr/>
                    <a:lstStyle/>
                    <a:p>
                      <a:pPr indent="0" marL="0">
                        <a:buNone/>
                      </a:pPr>
                      <a:r>
                        <a:rPr lang="en-US" sz="1200" dirty="0">
                          <a:solidFill>
                            <a:srgbClr val="000000"/>
                          </a:solidFill>
                        </a:rPr>
                        <a:t>Signs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12–48 h after the meal: off feed, </a:t>
                      </a:r>
                      <a:pPr indent="0" marL="0">
                        <a:buNone/>
                      </a:pPr>
                      <a:r>
                        <a:rPr lang="en-US" sz="1200" dirty="0">
                          <a:solidFill>
                            <a:srgbClr val="000000"/>
                          </a:solidFill>
                        </a:rPr>
                        <a:t>rumen stasis</a:t>
                      </a:r>
                      <a:pPr indent="0" marL="0">
                        <a:buNone/>
                      </a:pPr>
                      <a:r>
                        <a:rPr lang="en-US" sz="1200" dirty="0">
                          <a:solidFill>
                            <a:srgbClr val="000000"/>
                          </a:solidFill>
                        </a:rPr>
                        <a:t>, distended doughy rumen, </a:t>
                      </a:r>
                      <a:pPr indent="0" marL="0">
                        <a:buNone/>
                      </a:pPr>
                      <a:r>
                        <a:rPr lang="en-US" sz="1200" dirty="0">
                          <a:solidFill>
                            <a:srgbClr val="000000"/>
                          </a:solidFill>
                        </a:rPr>
                        <a:t>profuse watery grey diarrhoea</a:t>
                      </a:r>
                      <a:pPr indent="0" marL="0">
                        <a:buNone/>
                      </a:pPr>
                      <a:r>
                        <a:rPr lang="en-US" sz="1200" dirty="0">
                          <a:solidFill>
                            <a:srgbClr val="000000"/>
                          </a:solidFill>
                        </a:rPr>
                        <a:t>, dehydration, staggering, tachycardia, sunken eyes, </a:t>
                      </a:r>
                      <a:pPr indent="0" marL="0">
                        <a:buNone/>
                      </a:pPr>
                      <a:r>
                        <a:rPr lang="en-US" sz="1200" dirty="0">
                          <a:solidFill>
                            <a:srgbClr val="000000"/>
                          </a:solidFill>
                        </a:rPr>
                        <a:t>recumbency</a:t>
                      </a:r>
                      <a:pPr indent="0" marL="0">
                        <a:buNone/>
                      </a:pPr>
                      <a:r>
                        <a:rPr lang="en-US" sz="1200" dirty="0">
                          <a:solidFill>
                            <a:srgbClr val="000000"/>
                          </a:solidFill>
                        </a:rPr>
                        <a:t>, sometimes blindness (polioencephalomalacia from thiamine deficiency)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Rumen fluid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pH &lt; 5.0–5.2, milky grey, sour smell, </a:t>
                      </a:r>
                      <a:pPr indent="0" marL="0">
                        <a:buNone/>
                      </a:pPr>
                      <a:r>
                        <a:rPr lang="en-US" sz="1200" dirty="0">
                          <a:solidFill>
                            <a:srgbClr val="000000"/>
                          </a:solidFill>
                        </a:rPr>
                        <a:t>no protozoa alive</a:t>
                      </a:r>
                      <a:pPr indent="0" marL="0">
                        <a:buNone/>
                      </a:pPr>
                      <a:r>
                        <a:rPr lang="en-US" sz="1200" dirty="0">
                          <a:solidFill>
                            <a:srgbClr val="000000"/>
                          </a:solidFill>
                        </a:rPr>
                        <a:t> (a rapid field indicator under a microscope)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811149">
                <a:tc>
                  <a:txBody>
                    <a:bodyPr/>
                    <a:lstStyle/>
                    <a:p>
                      <a:pPr indent="0" marL="0">
                        <a:buNone/>
                      </a:pPr>
                      <a:r>
                        <a:rPr lang="en-US" sz="1200" dirty="0">
                          <a:solidFill>
                            <a:srgbClr val="000000"/>
                          </a:solidFill>
                        </a:rPr>
                        <a:t>Treatment (veterinary)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Remove feed source; </a:t>
                      </a:r>
                      <a:pPr indent="0" marL="0">
                        <a:buNone/>
                      </a:pPr>
                      <a:r>
                        <a:rPr lang="en-US" sz="1200" dirty="0">
                          <a:solidFill>
                            <a:srgbClr val="000000"/>
                          </a:solidFill>
                        </a:rPr>
                        <a:t>oral alkalinising agent (magnesium hydroxide/oxide)</a:t>
                      </a:r>
                      <a:pPr indent="0" marL="0">
                        <a:buNone/>
                      </a:pPr>
                      <a:r>
                        <a:rPr lang="en-US" sz="1200" dirty="0">
                          <a:solidFill>
                            <a:srgbClr val="000000"/>
                          </a:solidFill>
                        </a:rPr>
                        <a:t>; </a:t>
                      </a:r>
                      <a:pPr indent="0" marL="0">
                        <a:buNone/>
                      </a:pPr>
                      <a:r>
                        <a:rPr lang="en-US" sz="1200" dirty="0">
                          <a:solidFill>
                            <a:srgbClr val="000000"/>
                          </a:solidFill>
                        </a:rPr>
                        <a:t>IV fluids with bicarbonate</a:t>
                      </a:r>
                      <a:pPr indent="0" marL="0">
                        <a:buNone/>
                      </a:pPr>
                      <a:r>
                        <a:rPr lang="en-US" sz="1200" dirty="0">
                          <a:solidFill>
                            <a:srgbClr val="000000"/>
                          </a:solidFill>
                        </a:rPr>
                        <a:t> for systemic acidosis; </a:t>
                      </a:r>
                      <a:pPr indent="0" marL="0">
                        <a:buNone/>
                      </a:pPr>
                      <a:r>
                        <a:rPr lang="en-US" sz="1200" dirty="0">
                          <a:solidFill>
                            <a:srgbClr val="000000"/>
                          </a:solidFill>
                        </a:rPr>
                        <a:t>thiamine</a:t>
                      </a:r>
                      <a:pPr indent="0" marL="0">
                        <a:buNone/>
                      </a:pPr>
                      <a:r>
                        <a:rPr lang="en-US" sz="1200" dirty="0">
                          <a:solidFill>
                            <a:srgbClr val="000000"/>
                          </a:solidFill>
                        </a:rPr>
                        <a:t>; NSAID; </a:t>
                      </a:r>
                      <a:pPr indent="0" marL="0">
                        <a:buNone/>
                      </a:pPr>
                      <a:r>
                        <a:rPr lang="en-US" sz="1200" dirty="0">
                          <a:solidFill>
                            <a:srgbClr val="000000"/>
                          </a:solidFill>
                        </a:rPr>
                        <a:t>rumen lavage</a:t>
                      </a:r>
                      <a:pPr indent="0" marL="0">
                        <a:buNone/>
                      </a:pPr>
                      <a:r>
                        <a:rPr lang="en-US" sz="1200" dirty="0">
                          <a:solidFill>
                            <a:srgbClr val="000000"/>
                          </a:solidFill>
                        </a:rPr>
                        <a:t> or </a:t>
                      </a:r>
                      <a:pPr indent="0" marL="0">
                        <a:buNone/>
                      </a:pPr>
                      <a:r>
                        <a:rPr lang="en-US" sz="1200" dirty="0">
                          <a:solidFill>
                            <a:srgbClr val="000000"/>
                          </a:solidFill>
                        </a:rPr>
                        <a:t>rumenotomy</a:t>
                      </a:r>
                      <a:pPr indent="0" marL="0">
                        <a:buNone/>
                      </a:pPr>
                      <a:r>
                        <a:rPr lang="en-US" sz="1200" dirty="0">
                          <a:solidFill>
                            <a:srgbClr val="000000"/>
                          </a:solidFill>
                        </a:rPr>
                        <a:t> in severe cases; </a:t>
                      </a:r>
                      <a:pPr indent="0" marL="0">
                        <a:buNone/>
                      </a:pPr>
                      <a:r>
                        <a:rPr lang="en-US" sz="1200" dirty="0">
                          <a:solidFill>
                            <a:srgbClr val="000000"/>
                          </a:solidFill>
                        </a:rPr>
                        <a:t>transfaunation</a:t>
                      </a:r>
                      <a:pPr indent="0" marL="0">
                        <a:buNone/>
                      </a:pPr>
                      <a:r>
                        <a:rPr lang="en-US" sz="1200" dirty="0">
                          <a:solidFill>
                            <a:srgbClr val="000000"/>
                          </a:solidFill>
                        </a:rPr>
                        <a:t> (rumen fluid from a healthy cow) to restore flora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Prevention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Lock the feed store. Gradual ration transition. Never a sudden increase in concentrate. Adequate effective fibre.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SARA — subacute ruminal acidosis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S13   |   14</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sp>
        <p:nvSpPr>
          <p:cNvPr id="7" name="Text 5"/>
          <p:cNvSpPr/>
          <p:nvPr/>
        </p:nvSpPr>
        <p:spPr>
          <a:xfrm>
            <a:off x="566928" y="1298448"/>
            <a:ext cx="11057839" cy="1089152"/>
          </a:xfrm>
          <a:prstGeom prst="rect">
            <a:avLst/>
          </a:prstGeom>
          <a:noFill/>
          <a:ln/>
        </p:spPr>
        <p:txBody>
          <a:bodyPr wrap="square" lIns="0" tIns="0" rIns="0" bIns="0" rtlCol="0" anchor="t"/>
          <a:lstStyle/>
          <a:p>
            <a:pPr indent="0" marL="0">
              <a:buNone/>
            </a:pPr>
            <a:r>
              <a:rPr lang="en-US" dirty="0">
                <a:solidFill>
                  <a:srgbClr val="000000"/>
                </a:solidFill>
              </a:rPr>
              <a:t>Definition:</a:t>
            </a:r>
            <a:pPr indent="0" marL="0">
              <a:buNone/>
            </a:pPr>
            <a:r>
              <a:rPr lang="en-US" dirty="0">
                <a:solidFill>
                  <a:srgbClr val="000000"/>
                </a:solidFill>
              </a:rPr>
              <a:t> rumen pH </a:t>
            </a:r>
            <a:pPr indent="0" marL="0">
              <a:buNone/>
            </a:pPr>
            <a:r>
              <a:rPr lang="en-US" dirty="0">
                <a:solidFill>
                  <a:srgbClr val="000000"/>
                </a:solidFill>
              </a:rPr>
              <a:t>below ~5.6–5.8 for more than ~3 hours per day</a:t>
            </a:r>
            <a:pPr indent="0" marL="0">
              <a:buNone/>
            </a:pPr>
            <a:r>
              <a:rPr lang="en-US" dirty="0">
                <a:solidFill>
                  <a:srgbClr val="000000"/>
                </a:solidFill>
              </a:rPr>
              <a:t> — without acute illness </a:t>
            </a:r>
            <a:pPr indent="0" marL="0">
              <a:buNone/>
            </a:pPr>
            <a:r>
              <a:rPr lang="en-US" dirty="0">
                <a:solidFill>
                  <a:srgbClr val="000000"/>
                </a:solidFill>
              </a:rPr>
              <a:t>Key difference from acute:</a:t>
            </a:r>
            <a:pPr indent="0" marL="0">
              <a:buNone/>
            </a:pPr>
            <a:r>
              <a:rPr lang="en-US" dirty="0">
                <a:solidFill>
                  <a:srgbClr val="000000"/>
                </a:solidFill>
              </a:rPr>
              <a:t> accumulation of </a:t>
            </a:r>
            <a:pPr indent="0" marL="0">
              <a:buNone/>
            </a:pPr>
            <a:r>
              <a:rPr lang="en-US" dirty="0">
                <a:solidFill>
                  <a:srgbClr val="000000"/>
                </a:solidFill>
              </a:rPr>
              <a:t>VFAs</a:t>
            </a:r>
            <a:pPr indent="0" marL="0">
              <a:buNone/>
            </a:pPr>
            <a:r>
              <a:rPr lang="en-US" dirty="0">
                <a:solidFill>
                  <a:srgbClr val="000000"/>
                </a:solidFill>
              </a:rPr>
              <a:t>, not primarily lactate — so no systemic acidosis, no dramatic collapse </a:t>
            </a:r>
            <a:pPr indent="0" marL="0">
              <a:buNone/>
            </a:pPr>
            <a:r>
              <a:rPr lang="en-US" dirty="0">
                <a:solidFill>
                  <a:srgbClr val="000000"/>
                </a:solidFill>
              </a:rPr>
              <a:t>Prevalence:</a:t>
            </a:r>
            <a:pPr indent="0" marL="0">
              <a:buNone/>
            </a:pPr>
            <a:r>
              <a:rPr lang="en-US" dirty="0">
                <a:solidFill>
                  <a:srgbClr val="000000"/>
                </a:solidFill>
              </a:rPr>
              <a:t> reported in </a:t>
            </a:r>
            <a:pPr indent="0" marL="0">
              <a:buNone/>
            </a:pPr>
            <a:r>
              <a:rPr lang="en-US" dirty="0">
                <a:solidFill>
                  <a:srgbClr val="000000"/>
                </a:solidFill>
              </a:rPr>
              <a:t>~10–30% of cows in early lactation</a:t>
            </a:r>
            <a:pPr indent="0" marL="0">
              <a:buNone/>
            </a:pPr>
            <a:r>
              <a:rPr lang="en-US" dirty="0">
                <a:solidFill>
                  <a:srgbClr val="000000"/>
                </a:solidFill>
              </a:rPr>
              <a:t> in intensive herds </a:t>
            </a:r>
            <a:pPr indent="0" marL="0">
              <a:buNone/>
            </a:pPr>
            <a:r>
              <a:rPr lang="en-US" dirty="0">
                <a:solidFill>
                  <a:srgbClr val="000000"/>
                </a:solidFill>
              </a:rPr>
              <a:t>(published range; herd-dependent)</a:t>
            </a:r>
            <a:pPr indent="0" marL="0">
              <a:buNone/>
            </a:pPr>
            <a:r>
              <a:rPr lang="en-US" dirty="0">
                <a:solidFill>
                  <a:srgbClr val="000000"/>
                </a:solidFill>
              </a:rPr>
              <a:t> </a:t>
            </a:r>
            <a:pPr indent="0" marL="0">
              <a:buNone/>
            </a:pPr>
            <a:r>
              <a:rPr lang="en-US" dirty="0">
                <a:solidFill>
                  <a:srgbClr val="000000"/>
                </a:solidFill>
              </a:rPr>
              <a:t>Why it matters:</a:t>
            </a:r>
            <a:pPr indent="0" marL="0">
              <a:buNone/>
            </a:pPr>
            <a:r>
              <a:rPr lang="en-US" dirty="0">
                <a:solidFill>
                  <a:srgbClr val="000000"/>
                </a:solidFill>
              </a:rPr>
              <a:t> it is </a:t>
            </a:r>
            <a:pPr indent="0" marL="0">
              <a:buNone/>
            </a:pPr>
            <a:r>
              <a:rPr lang="en-US" dirty="0">
                <a:solidFill>
                  <a:srgbClr val="000000"/>
                </a:solidFill>
              </a:rPr>
              <a:t>invisible, chronic and expensive</a:t>
            </a:r>
            <a:pPr indent="0" marL="0">
              <a:buNone/>
            </a:pPr>
            <a:r>
              <a:rPr lang="en-US" dirty="0">
                <a:solidFill>
                  <a:srgbClr val="000000"/>
                </a:solidFill>
              </a:rPr>
              <a:t> — the cow never looks acutely sick</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SARA — how to recognise it in a herd</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S14   |   15</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539534"/>
                <a:gridCol w="6518305"/>
              </a:tblGrid>
              <a:tr h="398399">
                <a:tc>
                  <a:txBody>
                    <a:bodyPr/>
                    <a:lstStyle/>
                    <a:p>
                      <a:pPr indent="0" marL="0">
                        <a:buNone/>
                      </a:pPr>
                      <a:r>
                        <a:rPr lang="en-US" sz="1200" dirty="0">
                          <a:solidFill>
                            <a:srgbClr val="000000"/>
                          </a:solidFill>
                        </a:rPr>
                        <a:t>Sign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Detail</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Milk fat depression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Fat:protein ratio &lt; 1.0–1.05</a:t>
                      </a:r>
                      <a:pPr indent="0" marL="0">
                        <a:buNone/>
                      </a:pPr>
                      <a:r>
                        <a:rPr lang="en-US" sz="1200" dirty="0">
                          <a:solidFill>
                            <a:srgbClr val="000000"/>
                          </a:solidFill>
                        </a:rPr>
                        <a:t> in early lactation cows; herd bulk fat falling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Variable / cyclical intake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Cows go on and off feed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dirty="0">
                          <a:solidFill>
                            <a:srgbClr val="000000"/>
                          </a:solidFill>
                        </a:rPr>
                        <a:t>Manure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Loose, bubbly/foamy, </a:t>
                      </a:r>
                      <a:pPr indent="0" marL="0">
                        <a:buNone/>
                      </a:pPr>
                      <a:r>
                        <a:rPr lang="en-US" sz="1200" dirty="0">
                          <a:solidFill>
                            <a:srgbClr val="000000"/>
                          </a:solidFill>
                        </a:rPr>
                        <a:t>mucin casts (shiny films)</a:t>
                      </a:r>
                      <a:pPr indent="0" marL="0">
                        <a:buNone/>
                      </a:pPr>
                      <a:r>
                        <a:rPr lang="en-US" sz="1200" dirty="0">
                          <a:solidFill>
                            <a:srgbClr val="000000"/>
                          </a:solidFill>
                        </a:rPr>
                        <a:t>, </a:t>
                      </a:r>
                      <a:pPr indent="0" marL="0">
                        <a:buNone/>
                      </a:pPr>
                      <a:r>
                        <a:rPr lang="en-US" sz="1200" dirty="0">
                          <a:solidFill>
                            <a:srgbClr val="000000"/>
                          </a:solidFill>
                        </a:rPr>
                        <a:t>undigested grain</a:t>
                      </a:r>
                      <a:pPr indent="0" marL="0">
                        <a:buNone/>
                      </a:pPr>
                      <a:r>
                        <a:rPr lang="en-US" sz="1200" dirty="0">
                          <a:solidFill>
                            <a:srgbClr val="000000"/>
                          </a:solidFill>
                        </a:rPr>
                        <a:t>, variable between cows in the same pen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Low rumination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&lt; ~450 min/day; </a:t>
                      </a:r>
                      <a:pPr indent="0" marL="0">
                        <a:buNone/>
                      </a:pPr>
                      <a:r>
                        <a:rPr lang="en-US" sz="1200" dirty="0">
                          <a:solidFill>
                            <a:srgbClr val="000000"/>
                          </a:solidFill>
                        </a:rPr>
                        <a:t>sensor-detectable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Laminitis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Weeks to months later — sole haemorrhage, white line disease, sole ulcer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Liver abscess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Found at slaughter; poor growth, sudden drops in production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Poor body condition despite good ration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Energy is being lost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Diagnosis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Rumenocentesis</a:t>
                      </a:r>
                      <a:pPr indent="0" marL="0">
                        <a:buNone/>
                      </a:pPr>
                      <a:r>
                        <a:rPr lang="en-US" sz="1200" dirty="0">
                          <a:solidFill>
                            <a:srgbClr val="000000"/>
                          </a:solidFill>
                        </a:rPr>
                        <a:t> in 12 cows 2–6 h after feeding: </a:t>
                      </a:r>
                      <a:pPr indent="0" marL="0">
                        <a:buNone/>
                      </a:pPr>
                      <a:r>
                        <a:rPr lang="en-US" sz="1200" dirty="0">
                          <a:solidFill>
                            <a:srgbClr val="000000"/>
                          </a:solidFill>
                        </a:rPr>
                        <a:t>≥3 with pH &lt; 5.5 = herd SARA</a:t>
                      </a:r>
                      <a:pPr indent="0" marL="0">
                        <a:buNone/>
                      </a:pPr>
                      <a:r>
                        <a:rPr lang="en-US" sz="1200" dirty="0">
                          <a:solidFill>
                            <a:srgbClr val="000000"/>
                          </a:solidFill>
                        </a:rPr>
                        <a:t>; or </a:t>
                      </a:r>
                      <a:pPr indent="0" marL="0">
                        <a:buNone/>
                      </a:pPr>
                      <a:r>
                        <a:rPr lang="en-US" sz="1200" dirty="0">
                          <a:solidFill>
                            <a:srgbClr val="000000"/>
                          </a:solidFill>
                        </a:rPr>
                        <a:t>continuous pH bolus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SARA — prevention (this is the treatment)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S15   |   16</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021032"/>
                <a:gridCol w="7036807"/>
              </a:tblGrid>
              <a:tr h="398399">
                <a:tc>
                  <a:txBody>
                    <a:bodyPr/>
                    <a:lstStyle/>
                    <a:p>
                      <a:pPr indent="0" marL="0">
                        <a:buNone/>
                      </a:pPr>
                      <a:r>
                        <a:rPr lang="en-US" sz="1200" dirty="0">
                          <a:solidFill>
                            <a:srgbClr val="000000"/>
                          </a:solidFill>
                        </a:rPr>
                        <a:t>Measure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Target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Physically effective NDF (peNDF)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20–22% of ration DM</a:t>
                      </a:r>
                      <a:pPr indent="0" marL="0">
                        <a:buNone/>
                      </a:pPr>
                      <a:r>
                        <a:rPr lang="en-US" sz="1200" dirty="0">
                          <a:solidFill>
                            <a:srgbClr val="000000"/>
                          </a:solidFill>
                        </a:rPr>
                        <a:t> </a:t>
                      </a:r>
                      <a:pPr indent="0" marL="0">
                        <a:buNone/>
                      </a:pPr>
                      <a:r>
                        <a:rPr lang="en-US" sz="1200" dirty="0">
                          <a:solidFill>
                            <a:srgbClr val="000000"/>
                          </a:solidFill>
                        </a:rPr>
                        <a:t>(system-dependent)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Forage particle length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Adequate long particles; </a:t>
                      </a:r>
                      <a:pPr indent="0" marL="0">
                        <a:buNone/>
                      </a:pPr>
                      <a:r>
                        <a:rPr lang="en-US" sz="1200" dirty="0">
                          <a:solidFill>
                            <a:srgbClr val="000000"/>
                          </a:solidFill>
                        </a:rPr>
                        <a:t>avoid over-chopping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Prevent sorting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TMR moisture ~45–50%; correct chop length; push up feed frequently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Feeding frequency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More frequent, smaller meals; </a:t>
                      </a:r>
                      <a:pPr indent="0" marL="0">
                        <a:buNone/>
                      </a:pPr>
                      <a:r>
                        <a:rPr lang="en-US" sz="1200" dirty="0">
                          <a:solidFill>
                            <a:srgbClr val="000000"/>
                          </a:solidFill>
                        </a:rPr>
                        <a:t>never slug-feed concentrate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Transition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Increase concentrate </a:t>
                      </a:r>
                      <a:pPr indent="0" marL="0">
                        <a:buNone/>
                      </a:pPr>
                      <a:r>
                        <a:rPr lang="en-US" sz="1200" dirty="0">
                          <a:solidFill>
                            <a:srgbClr val="000000"/>
                          </a:solidFill>
                        </a:rPr>
                        <a:t>gradually over 3–4 weeks</a:t>
                      </a:r>
                      <a:pPr indent="0" marL="0">
                        <a:buNone/>
                      </a:pPr>
                      <a:r>
                        <a:rPr lang="en-US" sz="1200" dirty="0">
                          <a:solidFill>
                            <a:srgbClr val="000000"/>
                          </a:solidFill>
                        </a:rPr>
                        <a:t> (papillae adaptation)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Buffers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Sodium bicarbonate ~0.75–1.0% of ration DM</a:t>
                      </a:r>
                      <a:pPr indent="0" marL="0">
                        <a:buNone/>
                      </a:pPr>
                      <a:r>
                        <a:rPr lang="en-US" sz="1200" dirty="0">
                          <a:solidFill>
                            <a:srgbClr val="000000"/>
                          </a:solidFill>
                        </a:rPr>
                        <a:t> where used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Live yeast (</a:t>
                      </a:r>
                      <a:pPr indent="0" marL="0">
                        <a:buNone/>
                      </a:pPr>
                      <a:r>
                        <a:rPr lang="en-US" sz="1200" dirty="0">
                          <a:solidFill>
                            <a:srgbClr val="000000"/>
                          </a:solidFill>
                        </a:rPr>
                        <a:t>S. cerevisiae</a:t>
                      </a:r>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Stabilises pH by competing for lactate/sugars </a:t>
                      </a:r>
                      <a:pPr indent="0" marL="0">
                        <a:buNone/>
                      </a:pPr>
                      <a:r>
                        <a:rPr lang="en-US" sz="1200" dirty="0">
                          <a:solidFill>
                            <a:srgbClr val="000000"/>
                          </a:solidFill>
                        </a:rPr>
                        <a:t>(where registered)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Water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Unlimited clean water — dehydration concentrates rumen acid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Bunk space / overcrowding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Adequate space so timid cows eat a balanced meal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Simple indigestion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S16   |   17</a:t>
            </a:r>
            <a:endParaRPr lang="en-US" sz="950" dirty="0"/>
          </a:p>
        </p:txBody>
      </p:sp>
      <p:sp>
        <p:nvSpPr>
          <p:cNvPr id="5" name="Text 3"/>
          <p:cNvSpPr/>
          <p:nvPr/>
        </p:nvSpPr>
        <p:spPr>
          <a:xfrm>
            <a:off x="621792" y="1298448"/>
            <a:ext cx="11002975" cy="239776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Cause:</a:t>
            </a:r>
            <a:pPr indent="0" marL="0">
              <a:buNone/>
            </a:pPr>
            <a:r>
              <a:rPr lang="en-US" dirty="0">
                <a:solidFill>
                  <a:srgbClr val="000000"/>
                </a:solidFill>
              </a:rPr>
              <a:t> dietary upset — mouldy or spoiled feed, sudden feed change, excessive poor-quality roughage, indigestible material</a:t>
            </a:r>
            <a:endParaRPr lang="en-US" dirty="0"/>
          </a:p>
          <a:p>
            <a:pPr marL="342900" indent="-342900">
              <a:spcAft>
                <a:spcPts val="500"/>
              </a:spcAft>
              <a:buSzPct val="100000"/>
              <a:buChar char="•"/>
            </a:pPr>
            <a:r>
              <a:rPr lang="en-US" dirty="0">
                <a:solidFill>
                  <a:srgbClr val="000000"/>
                </a:solidFill>
              </a:rPr>
              <a:t>Signs:</a:t>
            </a:r>
            <a:pPr indent="0" marL="0">
              <a:buNone/>
            </a:pPr>
            <a:r>
              <a:rPr lang="en-US" dirty="0">
                <a:solidFill>
                  <a:srgbClr val="000000"/>
                </a:solidFill>
              </a:rPr>
              <a:t> partial off-feed, </a:t>
            </a:r>
            <a:pPr indent="0" marL="0">
              <a:buNone/>
            </a:pPr>
            <a:r>
              <a:rPr lang="en-US" dirty="0">
                <a:solidFill>
                  <a:srgbClr val="000000"/>
                </a:solidFill>
              </a:rPr>
              <a:t>reduced rumen motility</a:t>
            </a:r>
            <a:pPr indent="0" marL="0">
              <a:buNone/>
            </a:pPr>
            <a:r>
              <a:rPr lang="en-US" dirty="0">
                <a:solidFill>
                  <a:srgbClr val="000000"/>
                </a:solidFill>
              </a:rPr>
              <a:t>, mild drop in milk, firm rumen contents, </a:t>
            </a:r>
            <a:pPr indent="0" marL="0">
              <a:buNone/>
            </a:pPr>
            <a:r>
              <a:rPr lang="en-US" dirty="0">
                <a:solidFill>
                  <a:srgbClr val="000000"/>
                </a:solidFill>
              </a:rPr>
              <a:t>no fever, no systemic illness</a:t>
            </a:r>
            <a:endParaRPr lang="en-US" dirty="0"/>
          </a:p>
          <a:p>
            <a:pPr marL="342900" indent="-342900">
              <a:spcAft>
                <a:spcPts val="500"/>
              </a:spcAft>
              <a:buSzPct val="100000"/>
              <a:buChar char="•"/>
            </a:pPr>
            <a:r>
              <a:rPr lang="en-US" dirty="0">
                <a:solidFill>
                  <a:srgbClr val="000000"/>
                </a:solidFill>
              </a:rPr>
              <a:t>Treatment (veterinary):</a:t>
            </a:r>
            <a:pPr indent="0" marL="0">
              <a:buNone/>
            </a:pPr>
            <a:r>
              <a:rPr lang="en-US" dirty="0">
                <a:solidFill>
                  <a:srgbClr val="000000"/>
                </a:solidFill>
              </a:rPr>
              <a:t> remove the offending feed, good hay, oral rumen stimulants/laxatives, </a:t>
            </a:r>
            <a:pPr indent="0" marL="0">
              <a:buNone/>
            </a:pPr>
            <a:r>
              <a:rPr lang="en-US" dirty="0">
                <a:solidFill>
                  <a:srgbClr val="000000"/>
                </a:solidFill>
              </a:rPr>
              <a:t>transfaunation</a:t>
            </a:r>
            <a:pPr indent="0" marL="0">
              <a:buNone/>
            </a:pPr>
            <a:r>
              <a:rPr lang="en-US" dirty="0">
                <a:solidFill>
                  <a:srgbClr val="000000"/>
                </a:solidFill>
              </a:rPr>
              <a:t>, ensure water</a:t>
            </a:r>
            <a:endParaRPr lang="en-US" dirty="0"/>
          </a:p>
          <a:p>
            <a:pPr marL="342900" indent="-342900">
              <a:spcAft>
                <a:spcPts val="500"/>
              </a:spcAft>
              <a:buSzPct val="100000"/>
              <a:buChar char="•"/>
            </a:pPr>
            <a:r>
              <a:rPr lang="en-US" dirty="0">
                <a:solidFill>
                  <a:srgbClr val="000000"/>
                </a:solidFill>
              </a:rPr>
              <a:t>Rule:</a:t>
            </a:r>
            <a:pPr indent="0" marL="0">
              <a:buNone/>
            </a:pPr>
            <a:r>
              <a:rPr lang="en-US" dirty="0">
                <a:solidFill>
                  <a:srgbClr val="000000"/>
                </a:solidFill>
              </a:rPr>
              <a:t> if the cow has </a:t>
            </a:r>
            <a:pPr indent="0" marL="0">
              <a:buNone/>
            </a:pPr>
            <a:r>
              <a:rPr lang="en-US" dirty="0">
                <a:solidFill>
                  <a:srgbClr val="000000"/>
                </a:solidFill>
              </a:rPr>
              <a:t>fever, is truly systemically ill, or does not improve in 24–48 h — it is not simple indigestion.</a:t>
            </a:r>
            <a:pPr indent="0" marL="0">
              <a:buNone/>
            </a:pPr>
            <a:r>
              <a:rPr lang="en-US" dirty="0">
                <a:solidFill>
                  <a:srgbClr val="000000"/>
                </a:solidFill>
              </a:rPr>
              <a:t> Look for metritis, mastitis, ketosis, DA, traumatic reticuloperitonitis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Vagal indigestion (Hoflund syndrome)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S17   |   18</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Failure of reticuloruminal motility or outflow, usually from </a:t>
            </a:r>
            <a:pPr indent="0" marL="0">
              <a:buNone/>
            </a:pPr>
            <a:r>
              <a:rPr lang="en-US" dirty="0">
                <a:solidFill>
                  <a:srgbClr val="000000"/>
                </a:solidFill>
              </a:rPr>
              <a:t>damage to the vagus nerve</a:t>
            </a:r>
            <a:pPr indent="0" marL="0">
              <a:buNone/>
            </a:pPr>
            <a:r>
              <a:rPr lang="en-US" dirty="0">
                <a:solidFill>
                  <a:srgbClr val="000000"/>
                </a:solidFill>
              </a:rPr>
              <a:t> or local inflammation/adhesion</a:t>
            </a:r>
            <a:endParaRPr lang="en-US"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840484"/>
          <a:ext cx="11057839" cy="914400"/>
        </p:xfrm>
        <a:graphic>
          <a:graphicData uri="http://schemas.openxmlformats.org/drawingml/2006/table">
            <a:tbl>
              <a:tblPr/>
              <a:tblGrid>
                <a:gridCol w="931006"/>
                <a:gridCol w="5559830"/>
                <a:gridCol w="4567003"/>
              </a:tblGrid>
              <a:tr h="398399">
                <a:tc>
                  <a:txBody>
                    <a:bodyPr/>
                    <a:lstStyle/>
                    <a:p>
                      <a:pPr indent="0" marL="0">
                        <a:buNone/>
                      </a:pPr>
                      <a:r>
                        <a:rPr lang="en-US" sz="1200" dirty="0">
                          <a:solidFill>
                            <a:srgbClr val="000000"/>
                          </a:solidFill>
                        </a:rPr>
                        <a:t>Type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Lesion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Key sign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Failure of eructation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Chronic free-gas bloat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II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Omasal transport failure (often after </a:t>
                      </a:r>
                      <a:pPr indent="0" marL="0">
                        <a:buNone/>
                      </a:pPr>
                      <a:r>
                        <a:rPr lang="en-US" sz="1200" dirty="0">
                          <a:solidFill>
                            <a:srgbClr val="000000"/>
                          </a:solidFill>
                        </a:rPr>
                        <a:t>traumatic reticuloperitonitis</a:t>
                      </a:r>
                      <a:pPr indent="0" marL="0">
                        <a:buNone/>
                      </a:pPr>
                      <a:r>
                        <a:rPr lang="en-US" sz="1200" dirty="0">
                          <a:solidFill>
                            <a:srgbClr val="000000"/>
                          </a:solidFill>
                        </a:rPr>
                        <a:t> — hardware)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Rumen distension, scant manure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III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Abomasal impaction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Large firm abomasum, severe distension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IV</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Partial forestomach obstruction in </a:t>
                      </a:r>
                      <a:pPr indent="0" marL="0">
                        <a:buNone/>
                      </a:pPr>
                      <a:r>
                        <a:rPr lang="en-US" sz="1200" dirty="0">
                          <a:solidFill>
                            <a:srgbClr val="000000"/>
                          </a:solidFill>
                        </a:rPr>
                        <a:t>late pregnancy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Progressive distension, improves after 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7" name="Text 4"/>
          <p:cNvSpPr/>
          <p:nvPr/>
        </p:nvSpPr>
        <p:spPr>
          <a:xfrm>
            <a:off x="621792" y="4331462"/>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Classic appearance: </a:t>
            </a:r>
            <a:pPr indent="0" marL="0">
              <a:buNone/>
            </a:pPr>
            <a:r>
              <a:rPr lang="en-US" dirty="0">
                <a:solidFill>
                  <a:srgbClr val="000000"/>
                </a:solidFill>
              </a:rPr>
              <a:t>"papple" shape — 10-to-4 abdomen</a:t>
            </a:r>
            <a:pPr indent="0" marL="0">
              <a:buNone/>
            </a:pPr>
            <a:r>
              <a:rPr lang="en-US" dirty="0">
                <a:solidFill>
                  <a:srgbClr val="000000"/>
                </a:solidFill>
              </a:rPr>
              <a:t> (left dorsal + right ventral distension)</a:t>
            </a:r>
            <a:endParaRPr lang="en-US" dirty="0"/>
          </a:p>
          <a:p>
            <a:pPr marL="342900" indent="-342900">
              <a:spcAft>
                <a:spcPts val="500"/>
              </a:spcAft>
              <a:buSzPct val="100000"/>
              <a:buChar char="•"/>
            </a:pPr>
            <a:r>
              <a:rPr lang="en-US" dirty="0">
                <a:solidFill>
                  <a:srgbClr val="000000"/>
                </a:solidFill>
              </a:rPr>
              <a:t>Prognosis is generally poor</a:t>
            </a:r>
            <a:pPr indent="0" marL="0">
              <a:buNone/>
            </a:pPr>
            <a:r>
              <a:rPr lang="en-US" dirty="0">
                <a:solidFill>
                  <a:srgbClr val="000000"/>
                </a:solidFill>
              </a:rPr>
              <a:t>; refer early</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Bloat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S18   |   19</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4993863"/>
                <a:gridCol w="4993863"/>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Frothy (primary)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Free-gas (secondary)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b="1" dirty="0">
                          <a:solidFill>
                            <a:srgbClr val="000000"/>
                          </a:solidFill>
                        </a:rPr>
                        <a:t>Cause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Legume/lush pasture, finely ground grain → </a:t>
                      </a:r>
                      <a:pPr indent="0" marL="0">
                        <a:buNone/>
                      </a:pPr>
                      <a:r>
                        <a:rPr lang="en-US" sz="1200" dirty="0">
                          <a:solidFill>
                            <a:srgbClr val="000000"/>
                          </a:solidFill>
                        </a:rPr>
                        <a:t>stable foam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Obstruction: oesophageal foreign body, </a:t>
                      </a:r>
                      <a:pPr indent="0" marL="0">
                        <a:buNone/>
                      </a:pPr>
                      <a:r>
                        <a:rPr lang="en-US" sz="1200" dirty="0">
                          <a:solidFill>
                            <a:srgbClr val="000000"/>
                          </a:solidFill>
                        </a:rPr>
                        <a:t>vagal indigestion</a:t>
                      </a:r>
                      <a:pPr indent="0" marL="0">
                        <a:buNone/>
                      </a:pPr>
                      <a:r>
                        <a:rPr lang="en-US" sz="1200" dirty="0">
                          <a:solidFill>
                            <a:srgbClr val="000000"/>
                          </a:solidFill>
                        </a:rPr>
                        <a:t>, tetanus, hypocalcaemia, milk fever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Stomach tube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Gas does </a:t>
                      </a:r>
                      <a:pPr indent="0" marL="0">
                        <a:buNone/>
                      </a:pPr>
                      <a:r>
                        <a:rPr lang="en-US" sz="1200" dirty="0">
                          <a:solidFill>
                            <a:srgbClr val="000000"/>
                          </a:solidFill>
                        </a:rPr>
                        <a:t>not</a:t>
                      </a:r>
                      <a:pPr indent="0" marL="0">
                        <a:buNone/>
                      </a:pPr>
                      <a:r>
                        <a:rPr lang="en-US" sz="1200" dirty="0">
                          <a:solidFill>
                            <a:srgbClr val="000000"/>
                          </a:solidFill>
                        </a:rPr>
                        <a:t> escape (foam)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Gas escapes</a:t>
                      </a:r>
                      <a:pPr indent="0" marL="0">
                        <a:buNone/>
                      </a:pPr>
                      <a:r>
                        <a:rPr lang="en-US" sz="1200" dirty="0">
                          <a:solidFill>
                            <a:srgbClr val="000000"/>
                          </a:solidFill>
                        </a:rPr>
                        <a:t> — diagnostic and therapeutic</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Treatment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Anti-foaming agent</a:t>
                      </a:r>
                      <a:pPr indent="0" marL="0">
                        <a:buNone/>
                      </a:pPr>
                      <a:r>
                        <a:rPr lang="en-US" sz="1200" dirty="0">
                          <a:solidFill>
                            <a:srgbClr val="000000"/>
                          </a:solidFill>
                        </a:rPr>
                        <a:t> (poloxalene, vegetable/mineral oil) via tube; walk the cow</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Relieve obstruction; pass tube; </a:t>
                      </a:r>
                      <a:pPr indent="0" marL="0">
                        <a:buNone/>
                      </a:pPr>
                      <a:r>
                        <a:rPr lang="en-US" sz="1200" dirty="0">
                          <a:solidFill>
                            <a:srgbClr val="000000"/>
                          </a:solidFill>
                        </a:rPr>
                        <a:t>trocar</a:t>
                      </a:r>
                      <a:pPr indent="0" marL="0">
                        <a:buNone/>
                      </a:pPr>
                      <a:r>
                        <a:rPr lang="en-US" sz="1200" dirty="0">
                          <a:solidFill>
                            <a:srgbClr val="000000"/>
                          </a:solidFill>
                        </a:rPr>
                        <a:t> if emergency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Emergency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Severe distension + respiratory distress → </a:t>
                      </a:r>
                      <a:pPr indent="0" marL="0">
                        <a:buNone/>
                      </a:pPr>
                      <a:r>
                        <a:rPr lang="en-US" sz="1200" dirty="0">
                          <a:solidFill>
                            <a:srgbClr val="000000"/>
                          </a:solidFill>
                        </a:rPr>
                        <a:t>trocar/rumenotomy</a:t>
                      </a:r>
                      <a:pPr indent="0" marL="0">
                        <a:buNone/>
                      </a:pPr>
                      <a:r>
                        <a:rPr lang="en-US" sz="1200" dirty="0">
                          <a:solidFill>
                            <a:srgbClr val="000000"/>
                          </a:solidFill>
                        </a:rPr>
                        <a:t> to save life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621792" y="4408551"/>
            <a:ext cx="11002975" cy="709168"/>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Prevention:</a:t>
            </a:r>
            <a:pPr indent="0" marL="0">
              <a:buNone/>
            </a:pPr>
            <a:r>
              <a:rPr lang="en-US" dirty="0">
                <a:solidFill>
                  <a:srgbClr val="000000"/>
                </a:solidFill>
              </a:rPr>
              <a:t> avoid turning hungry cows onto lush legume pasture; feed hay before turnout; avoid finely ground grain; anti-bloat agents where indicated</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3-C</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DISPLACED ABOMASUM</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20 min, S19–S22</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abomasum and why it moves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S19   |   20</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The abomasum is the </a:t>
            </a:r>
            <a:pPr indent="0" marL="0">
              <a:buNone/>
            </a:pPr>
            <a:r>
              <a:rPr lang="en-US" dirty="0">
                <a:solidFill>
                  <a:srgbClr val="000000"/>
                </a:solidFill>
              </a:rPr>
              <a:t>true stomach</a:t>
            </a:r>
            <a:pPr indent="0" marL="0">
              <a:buNone/>
            </a:pPr>
            <a:r>
              <a:rPr lang="en-US" dirty="0">
                <a:solidFill>
                  <a:srgbClr val="000000"/>
                </a:solidFill>
              </a:rPr>
              <a:t>, normally on the </a:t>
            </a:r>
            <a:pPr indent="0" marL="0">
              <a:buNone/>
            </a:pPr>
            <a:r>
              <a:rPr lang="en-US" dirty="0">
                <a:solidFill>
                  <a:srgbClr val="000000"/>
                </a:solidFill>
              </a:rPr>
              <a:t>right ventral</a:t>
            </a:r>
            <a:pPr indent="0" marL="0">
              <a:buNone/>
            </a:pPr>
            <a:r>
              <a:rPr lang="en-US" dirty="0">
                <a:solidFill>
                  <a:srgbClr val="000000"/>
                </a:solidFill>
              </a:rPr>
              <a:t> floor of the abdomen</a:t>
            </a:r>
            <a:endParaRPr lang="en-US" dirty="0"/>
          </a:p>
          <a:p>
            <a:pPr marL="342900" indent="-342900">
              <a:spcAft>
                <a:spcPts val="500"/>
              </a:spcAft>
              <a:buSzPct val="100000"/>
              <a:buChar char="•"/>
            </a:pPr>
            <a:r>
              <a:rPr lang="en-US" dirty="0">
                <a:solidFill>
                  <a:srgbClr val="000000"/>
                </a:solidFill>
              </a:rPr>
              <a:t>It is </a:t>
            </a:r>
            <a:pPr indent="0" marL="0">
              <a:buNone/>
            </a:pPr>
            <a:r>
              <a:rPr lang="en-US" dirty="0">
                <a:solidFill>
                  <a:srgbClr val="000000"/>
                </a:solidFill>
              </a:rPr>
              <a:t>only loosely attached</a:t>
            </a:r>
            <a:pPr indent="0" marL="0">
              <a:buNone/>
            </a:pPr>
            <a:r>
              <a:rPr lang="en-US" dirty="0">
                <a:solidFill>
                  <a:srgbClr val="000000"/>
                </a:solidFill>
              </a:rPr>
              <a:t> — mobility is normal</a:t>
            </a:r>
            <a:endParaRPr lang="en-US" dirty="0"/>
          </a:p>
          <a:p>
            <a:pPr marL="342900" indent="-342900">
              <a:spcAft>
                <a:spcPts val="500"/>
              </a:spcAft>
              <a:buSzPct val="100000"/>
              <a:buChar char="•"/>
            </a:pPr>
            <a:r>
              <a:rPr lang="en-US" dirty="0">
                <a:solidFill>
                  <a:srgbClr val="000000"/>
                </a:solidFill>
              </a:rPr>
              <a:t>Two conditions must combine for displacement:</a:t>
            </a:r>
            <a:endParaRPr lang="en-US" dirty="0"/>
          </a:p>
          <a:p>
            <a:pPr marL="342900" indent="-342900">
              <a:spcAft>
                <a:spcPts val="500"/>
              </a:spcAft>
              <a:buSzPct val="100000"/>
              <a:buChar char="•"/>
            </a:pPr>
            <a:r>
              <a:rPr lang="en-US" dirty="0">
                <a:solidFill>
                  <a:srgbClr val="000000"/>
                </a:solidFill>
              </a:rPr>
              <a:t>Abomasal hypomotility (atony)</a:t>
            </a:r>
            <a:pPr indent="0" marL="0">
              <a:buNone/>
            </a:pPr>
            <a:r>
              <a:rPr lang="en-US" dirty="0">
                <a:solidFill>
                  <a:srgbClr val="000000"/>
                </a:solidFill>
              </a:rPr>
              <a:t> → gas accumulates and the organ floats</a:t>
            </a:r>
            <a:endParaRPr lang="en-US" dirty="0"/>
          </a:p>
          <a:p>
            <a:pPr marL="342900" indent="-342900">
              <a:spcAft>
                <a:spcPts val="500"/>
              </a:spcAft>
              <a:buSzPct val="100000"/>
              <a:buChar char="•"/>
            </a:pPr>
            <a:r>
              <a:rPr lang="en-US" dirty="0">
                <a:solidFill>
                  <a:srgbClr val="000000"/>
                </a:solidFill>
              </a:rPr>
              <a:t>Space in the abdomen</a:t>
            </a:r>
            <a:pPr indent="0" marL="0">
              <a:buNone/>
            </a:pPr>
            <a:r>
              <a:rPr lang="en-US" dirty="0">
                <a:solidFill>
                  <a:srgbClr val="000000"/>
                </a:solidFill>
              </a:rPr>
              <a:t> — after calving, the uterus shrinks and rumen fill drops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LDA — left displaced abomasum</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S20   |   21</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8878"/>
                <a:gridCol w="7938961"/>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dirty="0">
                          <a:solidFill>
                            <a:srgbClr val="000000"/>
                          </a:solidFill>
                        </a:rPr>
                        <a:t>Mechanism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Atonic gas-filled abomasum migrates from right ventral, under the rumen, to the </a:t>
                      </a:r>
                      <a:pPr indent="0" marL="0">
                        <a:buNone/>
                      </a:pPr>
                      <a:r>
                        <a:rPr lang="en-US" sz="1200" dirty="0">
                          <a:solidFill>
                            <a:srgbClr val="000000"/>
                          </a:solidFill>
                        </a:rPr>
                        <a:t>left flank between rumen and body wall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Epidemiology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~1–5% of cows</a:t>
                      </a:r>
                      <a:pPr indent="0" marL="0">
                        <a:buNone/>
                      </a:pPr>
                      <a:r>
                        <a:rPr lang="en-US" sz="1200" dirty="0">
                          <a:solidFill>
                            <a:srgbClr val="000000"/>
                          </a:solidFill>
                        </a:rPr>
                        <a:t> in many herds, higher in problem herds; </a:t>
                      </a:r>
                      <a:pPr indent="0" marL="0">
                        <a:buNone/>
                      </a:pPr>
                      <a:r>
                        <a:rPr lang="en-US" sz="1200" dirty="0">
                          <a:solidFill>
                            <a:srgbClr val="000000"/>
                          </a:solidFill>
                        </a:rPr>
                        <a:t>80–90% within 30 days of calving</a:t>
                      </a:r>
                      <a:pPr indent="0" marL="0">
                        <a:buNone/>
                      </a:pPr>
                      <a:r>
                        <a:rPr lang="en-US" sz="1200" dirty="0">
                          <a:solidFill>
                            <a:srgbClr val="000000"/>
                          </a:solidFill>
                        </a:rPr>
                        <a:t> </a:t>
                      </a:r>
                      <a:pPr indent="0" marL="0">
                        <a:buNone/>
                      </a:pPr>
                      <a:r>
                        <a:rPr lang="en-US" sz="1200" dirty="0">
                          <a:solidFill>
                            <a:srgbClr val="000000"/>
                          </a:solidFill>
                        </a:rPr>
                        <a:t>(published ranges)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811149">
                <a:tc>
                  <a:txBody>
                    <a:bodyPr/>
                    <a:lstStyle/>
                    <a:p>
                      <a:pPr indent="0" marL="0">
                        <a:buNone/>
                      </a:pPr>
                      <a:r>
                        <a:rPr lang="en-US" sz="1200" dirty="0">
                          <a:solidFill>
                            <a:srgbClr val="000000"/>
                          </a:solidFill>
                        </a:rPr>
                        <a:t>Risk factors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Hypocalcaemia</a:t>
                      </a:r>
                      <a:pPr indent="0" marL="0">
                        <a:buNone/>
                      </a:pPr>
                      <a:r>
                        <a:rPr lang="en-US" sz="1200" dirty="0">
                          <a:solidFill>
                            <a:srgbClr val="000000"/>
                          </a:solidFill>
                        </a:rPr>
                        <a:t>, </a:t>
                      </a:r>
                      <a:pPr indent="0" marL="0">
                        <a:buNone/>
                      </a:pPr>
                      <a:r>
                        <a:rPr lang="en-US" sz="1200" dirty="0">
                          <a:solidFill>
                            <a:srgbClr val="000000"/>
                          </a:solidFill>
                        </a:rPr>
                        <a:t>ketosis / high NEFA</a:t>
                      </a:r>
                      <a:pPr indent="0" marL="0">
                        <a:buNone/>
                      </a:pPr>
                      <a:r>
                        <a:rPr lang="en-US" sz="1200" dirty="0">
                          <a:solidFill>
                            <a:srgbClr val="000000"/>
                          </a:solidFill>
                        </a:rPr>
                        <a:t>, </a:t>
                      </a:r>
                      <a:pPr indent="0" marL="0">
                        <a:buNone/>
                      </a:pPr>
                      <a:r>
                        <a:rPr lang="en-US" sz="1200" dirty="0">
                          <a:solidFill>
                            <a:srgbClr val="000000"/>
                          </a:solidFill>
                        </a:rPr>
                        <a:t>metritis</a:t>
                      </a:r>
                      <a:pPr indent="0" marL="0">
                        <a:buNone/>
                      </a:pPr>
                      <a:r>
                        <a:rPr lang="en-US" sz="1200" dirty="0">
                          <a:solidFill>
                            <a:srgbClr val="000000"/>
                          </a:solidFill>
                        </a:rPr>
                        <a:t>, </a:t>
                      </a:r>
                      <a:pPr indent="0" marL="0">
                        <a:buNone/>
                      </a:pPr>
                      <a:r>
                        <a:rPr lang="en-US" sz="1200" dirty="0">
                          <a:solidFill>
                            <a:srgbClr val="000000"/>
                          </a:solidFill>
                        </a:rPr>
                        <a:t>retained placenta</a:t>
                      </a:r>
                      <a:pPr indent="0" marL="0">
                        <a:buNone/>
                      </a:pPr>
                      <a:r>
                        <a:rPr lang="en-US" sz="1200" dirty="0">
                          <a:solidFill>
                            <a:srgbClr val="000000"/>
                          </a:solidFill>
                        </a:rPr>
                        <a:t>, twins, dystocia, </a:t>
                      </a:r>
                      <a:pPr indent="0" marL="0">
                        <a:buNone/>
                      </a:pPr>
                      <a:r>
                        <a:rPr lang="en-US" sz="1200" dirty="0">
                          <a:solidFill>
                            <a:srgbClr val="000000"/>
                          </a:solidFill>
                        </a:rPr>
                        <a:t>low DMI before calving</a:t>
                      </a:r>
                      <a:pPr indent="0" marL="0">
                        <a:buNone/>
                      </a:pPr>
                      <a:r>
                        <a:rPr lang="en-US" sz="1200" dirty="0">
                          <a:solidFill>
                            <a:srgbClr val="000000"/>
                          </a:solidFill>
                        </a:rPr>
                        <a:t>, high grain / low effective fibre, over-conditioned dry cows (BCS &gt;3.75), abrupt ration change, overcrowding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Signs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Sudden </a:t>
                      </a:r>
                      <a:pPr indent="0" marL="0">
                        <a:buNone/>
                      </a:pPr>
                      <a:r>
                        <a:rPr lang="en-US" sz="1200" dirty="0">
                          <a:solidFill>
                            <a:srgbClr val="000000"/>
                          </a:solidFill>
                        </a:rPr>
                        <a:t>milk drop</a:t>
                      </a:r>
                      <a:pPr indent="0" marL="0">
                        <a:buNone/>
                      </a:pPr>
                      <a:r>
                        <a:rPr lang="en-US" sz="1200" dirty="0">
                          <a:solidFill>
                            <a:srgbClr val="000000"/>
                          </a:solidFill>
                        </a:rPr>
                        <a:t>, reduced/selective appetite (refuses grain), </a:t>
                      </a:r>
                      <a:pPr indent="0" marL="0">
                        <a:buNone/>
                      </a:pPr>
                      <a:r>
                        <a:rPr lang="en-US" sz="1200" dirty="0">
                          <a:solidFill>
                            <a:srgbClr val="000000"/>
                          </a:solidFill>
                        </a:rPr>
                        <a:t>ketosis</a:t>
                      </a:r>
                      <a:pPr indent="0" marL="0">
                        <a:buNone/>
                      </a:pPr>
                      <a:r>
                        <a:rPr lang="en-US" sz="1200" dirty="0">
                          <a:solidFill>
                            <a:srgbClr val="000000"/>
                          </a:solidFill>
                        </a:rPr>
                        <a:t>, scant pasty manure, "slab-sided" left flank, mild dehydration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dirty="0">
                          <a:solidFill>
                            <a:srgbClr val="000000"/>
                          </a:solidFill>
                        </a:rPr>
                        <a:t>Diagnosis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Simultaneous auscultation and percussion</a:t>
                      </a:r>
                      <a:pPr indent="0" marL="0">
                        <a:buNone/>
                      </a:pPr>
                      <a:r>
                        <a:rPr lang="en-US" sz="1200" dirty="0">
                          <a:solidFill>
                            <a:srgbClr val="000000"/>
                          </a:solidFill>
                        </a:rPr>
                        <a:t> — high-pitched </a:t>
                      </a:r>
                      <a:pPr indent="0" marL="0">
                        <a:buNone/>
                      </a:pPr>
                      <a:r>
                        <a:rPr lang="en-US" sz="1200" dirty="0">
                          <a:solidFill>
                            <a:srgbClr val="000000"/>
                          </a:solidFill>
                        </a:rPr>
                        <a:t>"PING"</a:t>
                      </a:r>
                      <a:pPr indent="0" marL="0">
                        <a:buNone/>
                      </a:pPr>
                      <a:r>
                        <a:rPr lang="en-US" sz="1200" dirty="0">
                          <a:solidFill>
                            <a:srgbClr val="000000"/>
                          </a:solidFill>
                        </a:rPr>
                        <a:t> over ribs </a:t>
                      </a:r>
                      <a:pPr indent="0" marL="0">
                        <a:buNone/>
                      </a:pPr>
                      <a:r>
                        <a:rPr lang="en-US" sz="1200" dirty="0">
                          <a:solidFill>
                            <a:srgbClr val="000000"/>
                          </a:solidFill>
                        </a:rPr>
                        <a:t>9–12 on the LEFT</a:t>
                      </a:r>
                      <a:pPr indent="0" marL="0">
                        <a:buNone/>
                      </a:pPr>
                      <a:r>
                        <a:rPr lang="en-US" sz="1200" dirty="0">
                          <a:solidFill>
                            <a:srgbClr val="000000"/>
                          </a:solidFill>
                        </a:rPr>
                        <a:t>; ultrasound confirms; blood BHB usually elevated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811149">
                <a:tc>
                  <a:txBody>
                    <a:bodyPr/>
                    <a:lstStyle/>
                    <a:p>
                      <a:pPr indent="0" marL="0">
                        <a:buNone/>
                      </a:pPr>
                      <a:r>
                        <a:rPr lang="en-US" sz="1200" dirty="0">
                          <a:solidFill>
                            <a:srgbClr val="000000"/>
                          </a:solidFill>
                        </a:rPr>
                        <a:t>Treatment (veterinary)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Surgery</a:t>
                      </a:r>
                      <a:pPr indent="0" marL="0">
                        <a:buNone/>
                      </a:pPr>
                      <a:r>
                        <a:rPr lang="en-US" sz="1200" dirty="0">
                          <a:solidFill>
                            <a:srgbClr val="000000"/>
                          </a:solidFill>
                        </a:rPr>
                        <a:t>: right flank omentopexy/pyloropexy, left flank abomasopexy (Utrecht), or right paramedian abomasopexy; </a:t>
                      </a:r>
                      <a:pPr indent="0" marL="0">
                        <a:buNone/>
                      </a:pPr>
                      <a:r>
                        <a:rPr lang="en-US" sz="1200" dirty="0">
                          <a:solidFill>
                            <a:srgbClr val="000000"/>
                          </a:solidFill>
                        </a:rPr>
                        <a:t>or roll-and-toggle</a:t>
                      </a:r>
                      <a:pPr indent="0" marL="0">
                        <a:buNone/>
                      </a:pPr>
                      <a:r>
                        <a:rPr lang="en-US" sz="1200" dirty="0">
                          <a:solidFill>
                            <a:srgbClr val="000000"/>
                          </a:solidFill>
                        </a:rPr>
                        <a:t>. </a:t>
                      </a:r>
                      <a:pPr indent="0" marL="0">
                        <a:buNone/>
                      </a:pPr>
                      <a:r>
                        <a:rPr lang="en-US" sz="1200" dirty="0">
                          <a:solidFill>
                            <a:srgbClr val="000000"/>
                          </a:solidFill>
                        </a:rPr>
                        <a:t>Always treat the concurrent ketosis, hypocalcaemia and metritis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RDA and abomasal volvulus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S21   |   22</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952614"/>
                <a:gridCol w="4715772"/>
                <a:gridCol w="5389454"/>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RDA (right dilatation)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Abomasal volvulus (AV)</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Lesion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Abomasum dilates on the right, no torsion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Rotates on its mesenteric axis → vascular compromise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Onset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Gradual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Acute, dramatic</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Signs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Off feed, milk drop, right-side ping (ribs 10–13)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Severe colic, tachycardia &gt;100 bpm, dehydration, shock</a:t>
                      </a:r>
                      <a:pPr indent="0" marL="0">
                        <a:buNone/>
                      </a:pPr>
                      <a:r>
                        <a:rPr lang="en-US" sz="1200" dirty="0">
                          <a:solidFill>
                            <a:srgbClr val="000000"/>
                          </a:solidFill>
                        </a:rPr>
                        <a:t>, distended right abdomen, scant dark manure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Blood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Mild changes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Hypochloraemic, hypokalaemic METABOLIC ALKALOSIS</a:t>
                      </a:r>
                      <a:pPr indent="0" marL="0">
                        <a:buNone/>
                      </a:pPr>
                      <a:r>
                        <a:rPr lang="en-US" sz="1200" dirty="0">
                          <a:solidFill>
                            <a:srgbClr val="000000"/>
                          </a:solidFill>
                        </a:rPr>
                        <a:t> (HCl sequestered in the abomasum) + </a:t>
                      </a:r>
                      <a:pPr indent="0" marL="0">
                        <a:buNone/>
                      </a:pPr>
                      <a:r>
                        <a:rPr lang="en-US" sz="1200" dirty="0">
                          <a:solidFill>
                            <a:srgbClr val="000000"/>
                          </a:solidFill>
                        </a:rPr>
                        <a:t>paradoxical aciduria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Prognosis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Good if early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Guarded to poor</a:t>
                      </a:r>
                      <a:pPr indent="0" marL="0">
                        <a:buNone/>
                      </a:pPr>
                      <a:r>
                        <a:rPr lang="en-US" sz="1200" dirty="0">
                          <a:solidFill>
                            <a:srgbClr val="000000"/>
                          </a:solidFill>
                        </a:rPr>
                        <a:t>; heart rate and duration are the best predictors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Treatment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Surgery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EMERGENCY surgery + aggressive IV isotonic saline with KCl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Shape 3"/>
          <p:cNvSpPr/>
          <p:nvPr/>
        </p:nvSpPr>
        <p:spPr>
          <a:xfrm>
            <a:off x="566928" y="4998974"/>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5163566"/>
            <a:ext cx="10618927" cy="661670"/>
          </a:xfrm>
          <a:prstGeom prst="rect">
            <a:avLst/>
          </a:prstGeom>
          <a:noFill/>
          <a:ln/>
        </p:spPr>
        <p:txBody>
          <a:bodyPr wrap="square" lIns="0" tIns="0" rIns="0" bIns="0" rtlCol="0" anchor="t"/>
          <a:lstStyle/>
          <a:p>
            <a:pPr indent="0" marL="0">
              <a:buNone/>
            </a:pPr>
            <a:r>
              <a:rPr lang="en-US" dirty="0">
                <a:solidFill>
                  <a:srgbClr val="000000"/>
                </a:solidFill>
              </a:rPr>
              <a:t>Right-side ping — differential list:</a:t>
            </a:r>
            <a:pPr indent="0" marL="0">
              <a:buNone/>
            </a:pPr>
            <a:r>
              <a:rPr lang="en-US" dirty="0">
                <a:solidFill>
                  <a:srgbClr val="000000"/>
                </a:solidFill>
              </a:rPr>
              <a:t> RDA/AV · caecal dilatation or volvulus · spiral colon gas · pneumoperitoneum · rectal/uterine gas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Preventing displacement — the transition programme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S22   |   23</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772675"/>
                <a:gridCol w="7285165"/>
              </a:tblGrid>
              <a:tr h="398399">
                <a:tc>
                  <a:txBody>
                    <a:bodyPr/>
                    <a:lstStyle/>
                    <a:p>
                      <a:pPr indent="0" marL="0">
                        <a:buNone/>
                      </a:pPr>
                      <a:r>
                        <a:rPr lang="en-US" sz="1200" dirty="0">
                          <a:solidFill>
                            <a:srgbClr val="000000"/>
                          </a:solidFill>
                        </a:rPr>
                        <a:t>Measure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Target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BCS at 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3.0–3.5</a:t>
                      </a:r>
                      <a:pPr indent="0" marL="0">
                        <a:buNone/>
                      </a:pPr>
                      <a:r>
                        <a:rPr lang="en-US" sz="1200" dirty="0">
                          <a:solidFill>
                            <a:srgbClr val="000000"/>
                          </a:solidFill>
                        </a:rPr>
                        <a:t>, never above 3.75; avoid fat dry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Dry period ration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Controlled energy</a:t>
                      </a:r>
                      <a:pPr indent="0" marL="0">
                        <a:buNone/>
                      </a:pPr>
                      <a:r>
                        <a:rPr lang="en-US" sz="1200" dirty="0">
                          <a:solidFill>
                            <a:srgbClr val="000000"/>
                          </a:solidFill>
                        </a:rPr>
                        <a:t>, bulky, straw-based; keep the rumen full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Effective fibre in fresh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Maintain rumen fill; increase concentrate gradually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Prevent hypocalcaemia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DCAD programme (S26–S28), oral Ca for high-risk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Prevent ketosis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Transition nutrition, monitor BHB</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Control metritis/RP</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Clean calving pen, hygiene at assistance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dirty="0">
                          <a:solidFill>
                            <a:srgbClr val="000000"/>
                          </a:solidFill>
                        </a:rPr>
                        <a:t>DMI before 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Avoid the pre-calving intake drop: adequate bunk space (</a:t>
                      </a:r>
                      <a:pPr indent="0" marL="0">
                        <a:buNone/>
                      </a:pPr>
                      <a:r>
                        <a:rPr lang="en-US" sz="1200" dirty="0">
                          <a:solidFill>
                            <a:srgbClr val="000000"/>
                          </a:solidFill>
                        </a:rPr>
                        <a:t>~76 cm/cow</a:t>
                      </a:r>
                      <a:pPr indent="0" marL="0">
                        <a:buNone/>
                      </a:pPr>
                      <a:r>
                        <a:rPr lang="en-US" sz="1200" dirty="0">
                          <a:solidFill>
                            <a:srgbClr val="000000"/>
                          </a:solidFill>
                        </a:rPr>
                        <a:t>), </a:t>
                      </a:r>
                      <a:pPr indent="0" marL="0">
                        <a:buNone/>
                      </a:pPr>
                      <a:r>
                        <a:rPr lang="en-US" sz="1200" dirty="0">
                          <a:solidFill>
                            <a:srgbClr val="000000"/>
                          </a:solidFill>
                        </a:rPr>
                        <a:t>stocking &lt;80–85%</a:t>
                      </a:r>
                      <a:pPr indent="0" marL="0">
                        <a:buNone/>
                      </a:pPr>
                      <a:r>
                        <a:rPr lang="en-US" sz="1200" dirty="0">
                          <a:solidFill>
                            <a:srgbClr val="000000"/>
                          </a:solidFill>
                        </a:rPr>
                        <a:t>, minimal pen moves, no heat stress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984623"/>
            <a:ext cx="11057839" cy="751459"/>
          </a:xfrm>
          <a:prstGeom prst="roundRect">
            <a:avLst>
              <a:gd name="adj" fmla="val 10951"/>
            </a:avLst>
          </a:prstGeom>
          <a:solidFill>
            <a:srgbClr val="E8F0E6"/>
          </a:solidFill>
          <a:ln w="9525">
            <a:solidFill>
              <a:srgbClr val="6FA368"/>
            </a:solidFill>
            <a:prstDash val="solid"/>
          </a:ln>
        </p:spPr>
      </p:sp>
      <p:sp>
        <p:nvSpPr>
          <p:cNvPr id="7" name="Text 4"/>
          <p:cNvSpPr/>
          <p:nvPr/>
        </p:nvSpPr>
        <p:spPr>
          <a:xfrm>
            <a:off x="786384" y="5149215"/>
            <a:ext cx="10618927" cy="422275"/>
          </a:xfrm>
          <a:prstGeom prst="rect">
            <a:avLst/>
          </a:prstGeom>
          <a:noFill/>
          <a:ln/>
        </p:spPr>
        <p:txBody>
          <a:bodyPr wrap="square" lIns="0" tIns="0" rIns="0" bIns="0" rtlCol="0" anchor="t"/>
          <a:lstStyle/>
          <a:p>
            <a:pPr indent="0" marL="0">
              <a:buNone/>
            </a:pPr>
            <a:r>
              <a:rPr lang="en-US" dirty="0">
                <a:solidFill>
                  <a:srgbClr val="000000"/>
                </a:solidFill>
              </a:rPr>
              <a:t>You do not prevent DA by watching for pings. You prevent it by managing the three weeks before calving.</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3-D</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MILK FEVER AND KETOSIS</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S23–S29</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Milk fever — the calcium accident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S23   |   24</a:t>
            </a:r>
            <a:endParaRPr lang="en-US" sz="950" dirty="0"/>
          </a:p>
        </p:txBody>
      </p:sp>
      <p:sp>
        <p:nvSpPr>
          <p:cNvPr id="5" name="Shape 3"/>
          <p:cNvSpPr/>
          <p:nvPr/>
        </p:nvSpPr>
        <p:spPr>
          <a:xfrm>
            <a:off x="566928" y="1298448"/>
            <a:ext cx="11057839" cy="1426693"/>
          </a:xfrm>
          <a:prstGeom prst="roundRect">
            <a:avLst>
              <a:gd name="adj" fmla="val 5127"/>
            </a:avLst>
          </a:prstGeom>
          <a:solidFill>
            <a:srgbClr val="F3F6F2"/>
          </a:solidFill>
          <a:ln w="9525">
            <a:solidFill>
              <a:srgbClr val="D4DCD5"/>
            </a:solidFill>
            <a:prstDash val="solid"/>
          </a:ln>
        </p:spPr>
      </p:sp>
      <p:sp>
        <p:nvSpPr>
          <p:cNvPr id="6" name="Text 4"/>
          <p:cNvSpPr/>
          <p:nvPr/>
        </p:nvSpPr>
        <p:spPr>
          <a:xfrm>
            <a:off x="749808" y="1444752"/>
            <a:ext cx="10692079" cy="1134085"/>
          </a:xfrm>
          <a:prstGeom prst="rect">
            <a:avLst/>
          </a:prstGeom>
          <a:noFill/>
          <a:ln/>
        </p:spPr>
        <p:txBody>
          <a:bodyPr wrap="square" lIns="0" tIns="0" rIns="0" bIns="0" rtlCol="0" anchor="t"/>
          <a:lstStyle/>
          <a:p>
            <a:pPr indent="0" marL="0">
              <a:buNone/>
            </a:pPr>
            <a:r>
              <a:rPr lang="en-US" sz="900" dirty="0">
                <a:solidFill>
                  <a:srgbClr val="14301C"/>
                </a:solidFill>
                <a:latin typeface="Courier New" pitchFamily="34" charset="0"/>
                <a:ea typeface="Courier New" pitchFamily="34" charset="-122"/>
                <a:cs typeface="Courier New" pitchFamily="34" charset="-120"/>
              </a:rPr>
              <a:t>At calving: colostrum contains ~2.3 g Ca/L → 10 L = ~23 g Ca leaves the blood in hours</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Total circulating Ca pool ≈ 3 g</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demand is ~8–10× the pool</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Homeostasis must respond: PTH → 1,25(OH)₂ vitamin D₃</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intestinal Ca absorption ↑ (takes 24–48 h) + bone resorption ↑</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IF THE RESPONSE FAILS</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HYPOCALCAEMIA → smooth and skeletal muscle weakness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Why the prepartum diet decides it — DCAD</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S24   |   25</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sp>
        <p:nvSpPr>
          <p:cNvPr id="7" name="Text 5"/>
          <p:cNvSpPr/>
          <p:nvPr/>
        </p:nvSpPr>
        <p:spPr>
          <a:xfrm>
            <a:off x="621792" y="1298448"/>
            <a:ext cx="11002975" cy="2367788"/>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A </a:t>
            </a:r>
            <a:pPr indent="0" marL="0">
              <a:buNone/>
            </a:pPr>
            <a:r>
              <a:rPr lang="en-US" dirty="0">
                <a:solidFill>
                  <a:srgbClr val="000000"/>
                </a:solidFill>
              </a:rPr>
              <a:t>metabolic alkalosis</a:t>
            </a:r>
            <a:pPr indent="0" marL="0">
              <a:buNone/>
            </a:pPr>
            <a:r>
              <a:rPr lang="en-US" dirty="0">
                <a:solidFill>
                  <a:srgbClr val="000000"/>
                </a:solidFill>
              </a:rPr>
              <a:t> before calving (from </a:t>
            </a:r>
            <a:pPr indent="0" marL="0">
              <a:buNone/>
            </a:pPr>
            <a:r>
              <a:rPr lang="en-US" dirty="0">
                <a:solidFill>
                  <a:srgbClr val="000000"/>
                </a:solidFill>
              </a:rPr>
              <a:t>high potassium and high cation forages</a:t>
            </a:r>
            <a:pPr indent="0" marL="0">
              <a:buNone/>
            </a:pPr>
            <a:r>
              <a:rPr lang="en-US" dirty="0">
                <a:solidFill>
                  <a:srgbClr val="000000"/>
                </a:solidFill>
              </a:rPr>
              <a:t>) changes the conformation of the </a:t>
            </a:r>
            <a:pPr indent="0" marL="0">
              <a:buNone/>
            </a:pPr>
            <a:r>
              <a:rPr lang="en-US" dirty="0">
                <a:solidFill>
                  <a:srgbClr val="000000"/>
                </a:solidFill>
              </a:rPr>
              <a:t>PTH receptor</a:t>
            </a:r>
            <a:pPr indent="0" marL="0">
              <a:buNone/>
            </a:pPr>
            <a:r>
              <a:rPr lang="en-US" dirty="0">
                <a:solidFill>
                  <a:srgbClr val="000000"/>
                </a:solidFill>
              </a:rPr>
              <a:t> → </a:t>
            </a:r>
            <a:pPr indent="0" marL="0">
              <a:buNone/>
            </a:pPr>
            <a:r>
              <a:rPr lang="en-US" dirty="0">
                <a:solidFill>
                  <a:srgbClr val="000000"/>
                </a:solidFill>
              </a:rPr>
              <a:t>tissue insensitivity to PTH</a:t>
            </a:r>
            <a:pPr indent="0" marL="0">
              <a:buNone/>
            </a:pPr>
            <a:r>
              <a:rPr lang="en-US" dirty="0">
                <a:solidFill>
                  <a:srgbClr val="000000"/>
                </a:solidFill>
              </a:rPr>
              <a:t> → the cow cannot mobilise calcium even though PTH is high</a:t>
            </a:r>
            <a:endParaRPr lang="en-US" dirty="0"/>
          </a:p>
          <a:p>
            <a:pPr marL="342900" indent="-342900">
              <a:spcAft>
                <a:spcPts val="500"/>
              </a:spcAft>
              <a:buSzPct val="100000"/>
              <a:buChar char="•"/>
            </a:pPr>
            <a:r>
              <a:rPr lang="en-US" dirty="0">
                <a:solidFill>
                  <a:srgbClr val="000000"/>
                </a:solidFill>
              </a:rPr>
              <a:t>DCAD</a:t>
            </a:r>
            <a:pPr indent="0" marL="0">
              <a:buNone/>
            </a:pPr>
            <a:r>
              <a:rPr lang="en-US" dirty="0">
                <a:solidFill>
                  <a:srgbClr val="000000"/>
                </a:solidFill>
              </a:rPr>
              <a:t> = (Na⁺ + K⁺) − (Cl⁻ + S²⁻), mEq/kg DM</a:t>
            </a:r>
            <a:endParaRPr lang="en-US" dirty="0"/>
          </a:p>
          <a:p>
            <a:pPr marL="342900" indent="-342900">
              <a:spcAft>
                <a:spcPts val="500"/>
              </a:spcAft>
              <a:buSzPct val="100000"/>
              <a:buChar char="•"/>
            </a:pPr>
            <a:r>
              <a:rPr lang="en-US" dirty="0">
                <a:solidFill>
                  <a:srgbClr val="000000"/>
                </a:solidFill>
              </a:rPr>
              <a:t>Prepartum target: negative DCAD, about −100 to −150 mEq/kg DM</a:t>
            </a:r>
            <a:pPr indent="0" marL="0">
              <a:buNone/>
            </a:pPr>
            <a:r>
              <a:rPr lang="en-US" dirty="0">
                <a:solidFill>
                  <a:srgbClr val="000000"/>
                </a:solidFill>
              </a:rPr>
              <a:t> </a:t>
            </a:r>
            <a:pPr indent="0" marL="0">
              <a:buNone/>
            </a:pPr>
            <a:r>
              <a:rPr lang="en-US" dirty="0">
                <a:solidFill>
                  <a:srgbClr val="000000"/>
                </a:solidFill>
              </a:rPr>
              <a:t>(system-dependent)</a:t>
            </a:r>
            <a:endParaRPr lang="en-US" dirty="0"/>
          </a:p>
          <a:p>
            <a:pPr marL="342900" indent="-342900">
              <a:spcAft>
                <a:spcPts val="500"/>
              </a:spcAft>
              <a:buSzPct val="100000"/>
              <a:buChar char="•"/>
            </a:pPr>
            <a:r>
              <a:rPr lang="en-US" dirty="0">
                <a:solidFill>
                  <a:srgbClr val="000000"/>
                </a:solidFill>
              </a:rPr>
              <a:t>Verify by urine pH</a:t>
            </a:r>
            <a:pPr indent="0" marL="0">
              <a:buNone/>
            </a:pPr>
            <a:r>
              <a:rPr lang="en-US" dirty="0">
                <a:solidFill>
                  <a:srgbClr val="000000"/>
                </a:solidFill>
              </a:rPr>
              <a:t> — the practical field check: </a:t>
            </a:r>
            <a:pPr indent="0" marL="0">
              <a:buNone/>
            </a:pPr>
            <a:r>
              <a:rPr lang="en-US" dirty="0">
                <a:solidFill>
                  <a:srgbClr val="000000"/>
                </a:solidFill>
              </a:rPr>
              <a:t>Holstein 6.0–6.5</a:t>
            </a:r>
            <a:pPr indent="0" marL="0">
              <a:buNone/>
            </a:pPr>
            <a:r>
              <a:rPr lang="en-US" dirty="0">
                <a:solidFill>
                  <a:srgbClr val="000000"/>
                </a:solidFill>
              </a:rPr>
              <a:t>, </a:t>
            </a:r>
            <a:pPr indent="0" marL="0">
              <a:buNone/>
            </a:pPr>
            <a:r>
              <a:rPr lang="en-US" dirty="0">
                <a:solidFill>
                  <a:srgbClr val="000000"/>
                </a:solidFill>
              </a:rPr>
              <a:t>Jersey 5.5–6.0</a:t>
            </a:r>
            <a:pPr indent="0" marL="0">
              <a:buNone/>
            </a:pPr>
            <a:r>
              <a:rPr lang="en-US" dirty="0">
                <a:solidFill>
                  <a:srgbClr val="000000"/>
                </a:solidFill>
              </a:rPr>
              <a:t> </a:t>
            </a:r>
            <a:pPr indent="0" marL="0">
              <a:buNone/>
            </a:pPr>
            <a:r>
              <a:rPr lang="en-US" dirty="0">
                <a:solidFill>
                  <a:srgbClr val="000000"/>
                </a:solidFill>
              </a:rPr>
              <a:t>(published targets)</a:t>
            </a:r>
            <a:endParaRPr lang="en-US" dirty="0"/>
          </a:p>
          <a:p>
            <a:pPr marL="342900" indent="-342900">
              <a:spcAft>
                <a:spcPts val="500"/>
              </a:spcAft>
              <a:buSzPct val="100000"/>
              <a:buChar char="•"/>
            </a:pPr>
            <a:r>
              <a:rPr lang="en-US" dirty="0">
                <a:solidFill>
                  <a:srgbClr val="000000"/>
                </a:solidFill>
              </a:rPr>
              <a:t>Magnesium is essential</a:t>
            </a:r>
            <a:pPr indent="0" marL="0">
              <a:buNone/>
            </a:pPr>
            <a:r>
              <a:rPr lang="en-US" dirty="0">
                <a:solidFill>
                  <a:srgbClr val="000000"/>
                </a:solidFill>
              </a:rPr>
              <a:t> — Mg is required for PTH secretion and action; target </a:t>
            </a:r>
            <a:pPr indent="0" marL="0">
              <a:buNone/>
            </a:pPr>
            <a:r>
              <a:rPr lang="en-US" dirty="0">
                <a:solidFill>
                  <a:srgbClr val="000000"/>
                </a:solidFill>
              </a:rPr>
              <a:t>~0.4% of DM</a:t>
            </a:r>
            <a:endParaRPr lang="en-US" dirty="0"/>
          </a:p>
          <a:p>
            <a:pPr marL="342900" indent="-342900">
              <a:spcAft>
                <a:spcPts val="500"/>
              </a:spcAft>
              <a:buSzPct val="100000"/>
              <a:buChar char="•"/>
            </a:pPr>
            <a:r>
              <a:rPr lang="en-US" dirty="0">
                <a:solidFill>
                  <a:srgbClr val="000000"/>
                </a:solidFill>
              </a:rPr>
              <a:t>Avoid </a:t>
            </a:r>
            <a:pPr indent="0" marL="0">
              <a:buNone/>
            </a:pPr>
            <a:r>
              <a:rPr lang="en-US" dirty="0">
                <a:solidFill>
                  <a:srgbClr val="000000"/>
                </a:solidFill>
              </a:rPr>
              <a:t>high-potassium forages</a:t>
            </a:r>
            <a:pPr indent="0" marL="0">
              <a:buNone/>
            </a:pPr>
            <a:r>
              <a:rPr lang="en-US" dirty="0">
                <a:solidFill>
                  <a:srgbClr val="000000"/>
                </a:solidFill>
              </a:rPr>
              <a:t> for dry cows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Milk fever — stages, treatment, and the subclinical iceberg</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S25   |   26</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9987726"/>
              </a:tblGrid>
              <a:tr h="398399">
                <a:tc>
                  <a:txBody>
                    <a:bodyPr/>
                    <a:lstStyle/>
                    <a:p>
                      <a:pPr indent="0" marL="0">
                        <a:buNone/>
                      </a:pPr>
                      <a:r>
                        <a:rPr lang="en-US" sz="1200" dirty="0">
                          <a:solidFill>
                            <a:srgbClr val="000000"/>
                          </a:solidFill>
                        </a:rPr>
                        <a:t>Stage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Signs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Still standing; excitement, hypersensitivity, muscle tremor, ataxia, mild ruminal stasis — </a:t>
                      </a:r>
                      <a:pPr indent="0" marL="0">
                        <a:buNone/>
                      </a:pPr>
                      <a:r>
                        <a:rPr lang="en-US" sz="1200" dirty="0">
                          <a:solidFill>
                            <a:srgbClr val="000000"/>
                          </a:solidFill>
                        </a:rPr>
                        <a:t>often missed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II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Sternal recumbency</a:t>
                      </a:r>
                      <a:pPr indent="0" marL="0">
                        <a:buNone/>
                      </a:pPr>
                      <a:r>
                        <a:rPr lang="en-US" sz="1200" dirty="0">
                          <a:solidFill>
                            <a:srgbClr val="000000"/>
                          </a:solidFill>
                        </a:rPr>
                        <a:t>, </a:t>
                      </a:r>
                      <a:pPr indent="0" marL="0">
                        <a:buNone/>
                      </a:pPr>
                      <a:r>
                        <a:rPr lang="en-US" sz="1200" dirty="0">
                          <a:solidFill>
                            <a:srgbClr val="000000"/>
                          </a:solidFill>
                        </a:rPr>
                        <a:t>S-curved neck / head turned to flank</a:t>
                      </a:r>
                      <a:pPr indent="0" marL="0">
                        <a:buNone/>
                      </a:pPr>
                      <a:r>
                        <a:rPr lang="en-US" sz="1200" dirty="0">
                          <a:solidFill>
                            <a:srgbClr val="000000"/>
                          </a:solidFill>
                        </a:rPr>
                        <a:t>, cold extremities, </a:t>
                      </a:r>
                      <a:pPr indent="0" marL="0">
                        <a:buNone/>
                      </a:pPr>
                      <a:r>
                        <a:rPr lang="en-US" sz="1200" dirty="0">
                          <a:solidFill>
                            <a:srgbClr val="000000"/>
                          </a:solidFill>
                        </a:rPr>
                        <a:t>dry muzzle</a:t>
                      </a:r>
                      <a:pPr indent="0" marL="0">
                        <a:buNone/>
                      </a:pPr>
                      <a:r>
                        <a:rPr lang="en-US" sz="1200" dirty="0">
                          <a:solidFill>
                            <a:srgbClr val="000000"/>
                          </a:solidFill>
                        </a:rPr>
                        <a:t>, dilated pupils, tachycardia with weak pulse, rumen stasis, no defecation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III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Lateral recumbency, coma, severe bloat, death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391027"/>
            <a:ext cx="11057839" cy="1320292"/>
          </a:xfrm>
          <a:prstGeom prst="rect">
            <a:avLst/>
          </a:prstGeom>
          <a:noFill/>
          <a:ln/>
        </p:spPr>
        <p:txBody>
          <a:bodyPr wrap="square" lIns="0" tIns="0" rIns="0" bIns="0" rtlCol="0" anchor="t"/>
          <a:lstStyle/>
          <a:p>
            <a:pPr indent="0" marL="0">
              <a:buNone/>
            </a:pPr>
            <a:r>
              <a:rPr lang="en-US" dirty="0">
                <a:solidFill>
                  <a:srgbClr val="000000"/>
                </a:solidFill>
              </a:rPr>
              <a:t>Epidemiology:</a:t>
            </a:r>
            <a:pPr indent="0" marL="0">
              <a:buNone/>
            </a:pPr>
            <a:r>
              <a:rPr lang="en-US" dirty="0">
                <a:solidFill>
                  <a:srgbClr val="000000"/>
                </a:solidFill>
              </a:rPr>
              <a:t> clinical </a:t>
            </a:r>
            <a:pPr indent="0" marL="0">
              <a:buNone/>
            </a:pPr>
            <a:r>
              <a:rPr lang="en-US" dirty="0">
                <a:solidFill>
                  <a:srgbClr val="000000"/>
                </a:solidFill>
              </a:rPr>
              <a:t>~3–8%</a:t>
            </a:r>
            <a:pPr indent="0" marL="0">
              <a:buNone/>
            </a:pPr>
            <a:r>
              <a:rPr lang="en-US" dirty="0">
                <a:solidFill>
                  <a:srgbClr val="000000"/>
                </a:solidFill>
              </a:rPr>
              <a:t> of calvings; </a:t>
            </a:r>
            <a:pPr indent="0" marL="0">
              <a:buNone/>
            </a:pPr>
            <a:r>
              <a:rPr lang="en-US" dirty="0">
                <a:solidFill>
                  <a:srgbClr val="000000"/>
                </a:solidFill>
              </a:rPr>
              <a:t>subclinical hypocalcaemia 25–50% of multiparous cows</a:t>
            </a:r>
            <a:pPr indent="0" marL="0">
              <a:buNone/>
            </a:pPr>
            <a:r>
              <a:rPr lang="en-US" dirty="0">
                <a:solidFill>
                  <a:srgbClr val="000000"/>
                </a:solidFill>
              </a:rPr>
              <a:t> </a:t>
            </a:r>
            <a:pPr indent="0" marL="0">
              <a:buNone/>
            </a:pPr>
            <a:r>
              <a:rPr lang="en-US" dirty="0">
                <a:solidFill>
                  <a:srgbClr val="000000"/>
                </a:solidFill>
              </a:rPr>
              <a:t>(published ranges)</a:t>
            </a:r>
            <a:pPr indent="0" marL="0">
              <a:buNone/>
            </a:pPr>
            <a:r>
              <a:rPr lang="en-US" dirty="0">
                <a:solidFill>
                  <a:srgbClr val="000000"/>
                </a:solidFill>
              </a:rPr>
              <a:t>. Risk rises with </a:t>
            </a:r>
            <a:pPr indent="0" marL="0">
              <a:buNone/>
            </a:pPr>
            <a:r>
              <a:rPr lang="en-US" dirty="0">
                <a:solidFill>
                  <a:srgbClr val="000000"/>
                </a:solidFill>
              </a:rPr>
              <a:t>parity ≥3</a:t>
            </a:r>
            <a:pPr indent="0" marL="0">
              <a:buNone/>
            </a:pPr>
            <a:r>
              <a:rPr lang="en-US" dirty="0">
                <a:solidFill>
                  <a:srgbClr val="000000"/>
                </a:solidFill>
              </a:rPr>
              <a:t> and in </a:t>
            </a:r>
            <a:pPr indent="0" marL="0">
              <a:buNone/>
            </a:pPr>
            <a:r>
              <a:rPr lang="en-US" dirty="0">
                <a:solidFill>
                  <a:srgbClr val="000000"/>
                </a:solidFill>
              </a:rPr>
              <a:t>Jersey</a:t>
            </a:r>
            <a:pPr indent="0" marL="0">
              <a:buNone/>
            </a:pPr>
            <a:r>
              <a:rPr lang="en-US" dirty="0">
                <a:solidFill>
                  <a:srgbClr val="000000"/>
                </a:solidFill>
              </a:rPr>
              <a:t> cattle. </a:t>
            </a:r>
            <a:pPr indent="0" marL="0">
              <a:buNone/>
            </a:pPr>
            <a:r>
              <a:rPr lang="en-US" dirty="0">
                <a:solidFill>
                  <a:srgbClr val="000000"/>
                </a:solidFill>
              </a:rPr>
              <a:t>Treatment (veterinary):</a:t>
            </a:r>
            <a:pPr indent="0" marL="0">
              <a:buNone/>
            </a:pPr>
            <a:r>
              <a:rPr lang="en-US" dirty="0">
                <a:solidFill>
                  <a:srgbClr val="000000"/>
                </a:solidFill>
              </a:rPr>
              <a:t> </a:t>
            </a:r>
            <a:pPr indent="0" marL="0">
              <a:buNone/>
            </a:pPr>
            <a:r>
              <a:rPr lang="en-US" dirty="0">
                <a:solidFill>
                  <a:srgbClr val="000000"/>
                </a:solidFill>
              </a:rPr>
              <a:t>IV calcium borogluconate ~500 mL slowly over 8–10 min with cardiac auscultation</a:t>
            </a:r>
            <a:pPr indent="0" marL="0">
              <a:buNone/>
            </a:pPr>
            <a:r>
              <a:rPr lang="en-US" dirty="0">
                <a:solidFill>
                  <a:srgbClr val="000000"/>
                </a:solidFill>
              </a:rPr>
              <a:t> — too fast causes fatal arrhythmia; follow with </a:t>
            </a:r>
            <a:pPr indent="0" marL="0">
              <a:buNone/>
            </a:pPr>
            <a:r>
              <a:rPr lang="en-US" dirty="0">
                <a:solidFill>
                  <a:srgbClr val="000000"/>
                </a:solidFill>
              </a:rPr>
              <a:t>oral calcium boluses</a:t>
            </a:r>
            <a:pPr indent="0" marL="0">
              <a:buNone/>
            </a:pPr>
            <a:r>
              <a:rPr lang="en-US" dirty="0">
                <a:solidFill>
                  <a:srgbClr val="000000"/>
                </a:solidFill>
              </a:rPr>
              <a:t>; subcutaneous calcium as an adjunct. </a:t>
            </a:r>
            <a:pPr indent="0" marL="0">
              <a:buNone/>
            </a:pPr>
            <a:r>
              <a:rPr lang="en-US" dirty="0">
                <a:solidFill>
                  <a:srgbClr val="000000"/>
                </a:solidFill>
              </a:rPr>
              <a:t>Consequences of subclinical hypocalcaemia:</a:t>
            </a:r>
            <a:pPr indent="0" marL="0">
              <a:buNone/>
            </a:pPr>
            <a:r>
              <a:rPr lang="en-US" dirty="0">
                <a:solidFill>
                  <a:srgbClr val="000000"/>
                </a:solidFill>
              </a:rPr>
              <a:t> ↑ retained placenta, ↑ metritis, ↑ </a:t>
            </a:r>
            <a:pPr indent="0" marL="0">
              <a:buNone/>
            </a:pPr>
            <a:r>
              <a:rPr lang="en-US" dirty="0">
                <a:solidFill>
                  <a:srgbClr val="000000"/>
                </a:solidFill>
              </a:rPr>
              <a:t>displaced abomasum</a:t>
            </a:r>
            <a:pPr indent="0" marL="0">
              <a:buNone/>
            </a:pPr>
            <a:r>
              <a:rPr lang="en-US" dirty="0">
                <a:solidFill>
                  <a:srgbClr val="000000"/>
                </a:solidFill>
              </a:rPr>
              <a:t>, ↑ ketosis, ↓ intake, ↓ immune function, </a:t>
            </a:r>
            <a:pPr indent="0" marL="0">
              <a:buNone/>
            </a:pPr>
            <a:r>
              <a:rPr lang="en-US" dirty="0">
                <a:solidFill>
                  <a:srgbClr val="000000"/>
                </a:solidFill>
              </a:rPr>
              <a:t>↓ fertility</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Ketosis — the mechanism</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S26   |   27</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sp>
        <p:nvSpPr>
          <p:cNvPr id="7" name="Shape 5"/>
          <p:cNvSpPr/>
          <p:nvPr/>
        </p:nvSpPr>
        <p:spPr>
          <a:xfrm>
            <a:off x="566928" y="1298448"/>
            <a:ext cx="11057839" cy="1881378"/>
          </a:xfrm>
          <a:prstGeom prst="roundRect">
            <a:avLst>
              <a:gd name="adj" fmla="val 3888"/>
            </a:avLst>
          </a:prstGeom>
          <a:solidFill>
            <a:srgbClr val="F3F6F2"/>
          </a:solidFill>
          <a:ln w="9525">
            <a:solidFill>
              <a:srgbClr val="D4DCD5"/>
            </a:solidFill>
            <a:prstDash val="solid"/>
          </a:ln>
        </p:spPr>
      </p:sp>
      <p:sp>
        <p:nvSpPr>
          <p:cNvPr id="8" name="Text 6"/>
          <p:cNvSpPr/>
          <p:nvPr/>
        </p:nvSpPr>
        <p:spPr>
          <a:xfrm>
            <a:off x="749808" y="1444752"/>
            <a:ext cx="10692079" cy="1588770"/>
          </a:xfrm>
          <a:prstGeom prst="rect">
            <a:avLst/>
          </a:prstGeom>
          <a:noFill/>
          <a:ln/>
        </p:spPr>
        <p:txBody>
          <a:bodyPr wrap="square" lIns="0" tIns="0" rIns="0" bIns="0" rtlCol="0" anchor="t"/>
          <a:lstStyle/>
          <a:p>
            <a:pPr indent="0" marL="0">
              <a:buNone/>
            </a:pPr>
            <a:r>
              <a:rPr lang="en-US" sz="900" dirty="0">
                <a:solidFill>
                  <a:srgbClr val="14301C"/>
                </a:solidFill>
                <a:latin typeface="Courier New" pitchFamily="34" charset="0"/>
                <a:ea typeface="Courier New" pitchFamily="34" charset="-122"/>
                <a:cs typeface="Courier New" pitchFamily="34" charset="-120"/>
              </a:rPr>
              <a:t>Early lactation: energy output (milk) &gt; energy input (intake) = NEGATIVE ENERGY BALANCE</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Body fat mobilised → NEFA (non-esterified fatty acids) → LIVER</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Liver must β-oxidise NEFA. Complete oxidation needs OXALOACETATE.</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BUT oxaloacetate is being consumed for GLUCONEOGENESIS (to make lactose for milk)</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Incomplete β-oxidation → KETONE BODIES: BHB, acetoacetate, acetone</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 and simultaneously</a:t>
            </a:r>
            <a:endParaRPr lang="en-US" sz="900" dirty="0"/>
          </a:p>
          <a:p>
            <a:pPr indent="0" marL="0">
              <a:buNone/>
            </a:pPr>
            <a:r>
              <a:rPr lang="en-US" sz="900" dirty="0">
                <a:solidFill>
                  <a:srgbClr val="14301C"/>
                </a:solidFill>
                <a:latin typeface="Courier New" pitchFamily="34" charset="0"/>
                <a:ea typeface="Courier New" pitchFamily="34" charset="-122"/>
                <a:cs typeface="Courier New" pitchFamily="34" charset="-120"/>
              </a:rPr>
              <a:t>NEFA re-esterified to triglyceride faster than VLDL can export it → FATTY LIVER</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Ketosis — Type I and Type II</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S27   |   28</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2211568"/>
                <a:gridCol w="4423136"/>
                <a:gridCol w="4423136"/>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Type I</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Type II</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Timing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3–6 weeks</a:t>
                      </a:r>
                      <a:pPr indent="0" marL="0">
                        <a:buNone/>
                      </a:pPr>
                      <a:r>
                        <a:rPr lang="en-US" sz="1200" dirty="0">
                          <a:solidFill>
                            <a:srgbClr val="000000"/>
                          </a:solidFill>
                        </a:rPr>
                        <a:t> post-calving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First 1–2 weeks</a:t>
                      </a:r>
                      <a:pPr indent="0" marL="0">
                        <a:buNone/>
                      </a:pPr>
                      <a:r>
                        <a:rPr lang="en-US" sz="1200" dirty="0">
                          <a:solidFill>
                            <a:srgbClr val="000000"/>
                          </a:solidFill>
                        </a:rPr>
                        <a:t> post-calving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Underlying problem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Glucose deficiency</a:t>
                      </a:r>
                      <a:pPr indent="0" marL="0">
                        <a:buNone/>
                      </a:pPr>
                      <a:r>
                        <a:rPr lang="en-US" sz="1200" dirty="0">
                          <a:solidFill>
                            <a:srgbClr val="000000"/>
                          </a:solidFill>
                        </a:rPr>
                        <a:t> — intake genuinely insufficient at peak milk</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Insulin resistance + fatty liver</a:t>
                      </a:r>
                      <a:pPr indent="0" marL="0">
                        <a:buNone/>
                      </a:pPr>
                      <a:r>
                        <a:rPr lang="en-US" sz="1200" dirty="0">
                          <a:solidFill>
                            <a:srgbClr val="000000"/>
                          </a:solidFill>
                        </a:rPr>
                        <a:t> — the over-conditioned cow</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Insulin / glucose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 insulin, low glucose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Higher insulin, </a:t>
                      </a:r>
                      <a:pPr indent="0" marL="0">
                        <a:buNone/>
                      </a:pPr>
                      <a:r>
                        <a:rPr lang="en-US" sz="1200" dirty="0">
                          <a:solidFill>
                            <a:srgbClr val="000000"/>
                          </a:solidFill>
                        </a:rPr>
                        <a:t>insulin resistance</a:t>
                      </a:r>
                      <a:pPr indent="0" marL="0">
                        <a:buNone/>
                      </a:pPr>
                      <a:r>
                        <a:rPr lang="en-US" sz="1200" dirty="0">
                          <a:solidFill>
                            <a:srgbClr val="000000"/>
                          </a:solidFill>
                        </a:rPr>
                        <a:t>, fatty liver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Cow type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Thin, high-producing, under-fed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Fat at calving (BCS &gt;3.75)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Response to propylene glycol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Poorer; harder to treat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Prevention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Maximise intake at peak</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Do not let dry cows get fat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Ketosis — diagnosis and epidemiology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S28   |   29</a:t>
            </a:r>
            <a:endParaRPr 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5528920"/>
                <a:gridCol w="5528920"/>
              </a:tblGrid>
              <a:tr h="398399">
                <a:tc>
                  <a:txBody>
                    <a:bodyPr/>
                    <a:lstStyle/>
                    <a:p>
                      <a:pPr indent="0" marL="0">
                        <a:buNone/>
                      </a:pPr>
                      <a:r>
                        <a:rPr lang="en-US" sz="1200" dirty="0">
                          <a:solidFill>
                            <a:srgbClr val="000000"/>
                          </a:solidFill>
                        </a:rPr>
                        <a:t>Test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Threshold</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dirty="0">
                          <a:solidFill>
                            <a:srgbClr val="000000"/>
                          </a:solidFill>
                        </a:rPr>
                        <a:t>Blood BHB (handheld cow-side meter)</a:t>
                      </a:r>
                      <a:pPr indent="0" marL="0">
                        <a:buNone/>
                      </a:pPr>
                      <a:r>
                        <a:rPr lang="en-US" sz="1200" dirty="0">
                          <a:solidFill>
                            <a:srgbClr val="000000"/>
                          </a:solidFill>
                        </a:rPr>
                        <a:t> — the reference standard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1.2 mmol/L = subclinical ketosis (hyperketonaemia)</a:t>
                      </a:r>
                      <a:pPr indent="0" marL="0">
                        <a:buNone/>
                      </a:pPr>
                      <a:r>
                        <a:rPr lang="en-US" sz="1200" dirty="0">
                          <a:solidFill>
                            <a:srgbClr val="000000"/>
                          </a:solidFill>
                        </a:rPr>
                        <a:t>; </a:t>
                      </a:r>
                      <a:pPr indent="0" marL="0">
                        <a:buNone/>
                      </a:pPr>
                      <a:r>
                        <a:rPr lang="en-US" sz="1200" dirty="0">
                          <a:solidFill>
                            <a:srgbClr val="000000"/>
                          </a:solidFill>
                        </a:rPr>
                        <a:t>≥ 3.0 mmol/L = clinical</a:t>
                      </a:r>
                      <a:pPr indent="0" marL="0">
                        <a:buNone/>
                      </a:pPr>
                      <a:r>
                        <a:rPr lang="en-US" sz="1200" dirty="0">
                          <a:solidFill>
                            <a:srgbClr val="000000"/>
                          </a:solidFill>
                        </a:rPr>
                        <a:t> </a:t>
                      </a:r>
                      <a:pPr indent="0" marL="0">
                        <a:buNone/>
                      </a:pPr>
                      <a:r>
                        <a:rPr lang="en-US" sz="1200" dirty="0">
                          <a:solidFill>
                            <a:srgbClr val="000000"/>
                          </a:solidFill>
                        </a:rPr>
                        <a:t>(widely used thresholds)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Milk BHB strips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Herd screening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Urine acetoacetate strips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Cheap; </a:t>
                      </a:r>
                      <a:pPr indent="0" marL="0">
                        <a:buNone/>
                      </a:pPr>
                      <a:r>
                        <a:rPr lang="en-US" sz="1200" dirty="0">
                          <a:solidFill>
                            <a:srgbClr val="000000"/>
                          </a:solidFill>
                        </a:rPr>
                        <a:t>less specific</a:t>
                      </a:r>
                      <a:pPr indent="0" marL="0">
                        <a:buNone/>
                      </a:pPr>
                      <a:r>
                        <a:rPr lang="en-US" sz="1200" dirty="0">
                          <a:solidFill>
                            <a:srgbClr val="000000"/>
                          </a:solidFill>
                        </a:rPr>
                        <a:t> (concentration varies with urine dilution)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Milk fat:protein ratio</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&gt; 1.4</a:t>
                      </a:r>
                      <a:pPr indent="0" marL="0">
                        <a:buNone/>
                      </a:pPr>
                      <a:r>
                        <a:rPr lang="en-US" sz="1200" dirty="0">
                          <a:solidFill>
                            <a:srgbClr val="000000"/>
                          </a:solidFill>
                        </a:rPr>
                        <a:t> in early lactation suggests excessive fat mobilisation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566928" y="3789426"/>
            <a:ext cx="11057839" cy="1089152"/>
          </a:xfrm>
          <a:prstGeom prst="rect">
            <a:avLst/>
          </a:prstGeom>
          <a:noFill/>
          <a:ln/>
        </p:spPr>
        <p:txBody>
          <a:bodyPr wrap="square" lIns="0" tIns="0" rIns="0" bIns="0" rtlCol="0" anchor="t"/>
          <a:lstStyle/>
          <a:p>
            <a:pPr indent="0" marL="0">
              <a:buNone/>
            </a:pPr>
            <a:r>
              <a:rPr lang="en-US" dirty="0">
                <a:solidFill>
                  <a:srgbClr val="000000"/>
                </a:solidFill>
              </a:rPr>
              <a:t>Epidemiology:</a:t>
            </a:r>
            <a:pPr indent="0" marL="0">
              <a:buNone/>
            </a:pPr>
            <a:r>
              <a:rPr lang="en-US" dirty="0">
                <a:solidFill>
                  <a:srgbClr val="000000"/>
                </a:solidFill>
              </a:rPr>
              <a:t> subclinical ketosis affects </a:t>
            </a:r>
            <a:pPr indent="0" marL="0">
              <a:buNone/>
            </a:pPr>
            <a:r>
              <a:rPr lang="en-US" dirty="0">
                <a:solidFill>
                  <a:srgbClr val="000000"/>
                </a:solidFill>
              </a:rPr>
              <a:t>~20–40% of cows</a:t>
            </a:r>
            <a:pPr indent="0" marL="0">
              <a:buNone/>
            </a:pPr>
            <a:r>
              <a:rPr lang="en-US" dirty="0">
                <a:solidFill>
                  <a:srgbClr val="000000"/>
                </a:solidFill>
              </a:rPr>
              <a:t> in the first two weeks </a:t>
            </a:r>
            <a:pPr indent="0" marL="0">
              <a:buNone/>
            </a:pPr>
            <a:r>
              <a:rPr lang="en-US" dirty="0">
                <a:solidFill>
                  <a:srgbClr val="000000"/>
                </a:solidFill>
              </a:rPr>
              <a:t>(published range)</a:t>
            </a:r>
            <a:pPr indent="0" marL="0">
              <a:buNone/>
            </a:pPr>
            <a:r>
              <a:rPr lang="en-US" dirty="0">
                <a:solidFill>
                  <a:srgbClr val="000000"/>
                </a:solidFill>
              </a:rPr>
              <a:t>; clinical ~2–15%. </a:t>
            </a:r>
            <a:pPr indent="0" marL="0">
              <a:buNone/>
            </a:pPr>
            <a:r>
              <a:rPr lang="en-US" dirty="0">
                <a:solidFill>
                  <a:srgbClr val="000000"/>
                </a:solidFill>
              </a:rPr>
              <a:t>Best testing window: 3–14 days in milk.</a:t>
            </a:r>
            <a:pPr indent="0" marL="0">
              <a:buNone/>
            </a:pPr>
            <a:r>
              <a:rPr lang="en-US" dirty="0">
                <a:solidFill>
                  <a:srgbClr val="000000"/>
                </a:solidFill>
              </a:rPr>
              <a:t> </a:t>
            </a:r>
            <a:pPr indent="0" marL="0">
              <a:buNone/>
            </a:pPr>
            <a:r>
              <a:rPr lang="en-US" dirty="0">
                <a:solidFill>
                  <a:srgbClr val="000000"/>
                </a:solidFill>
              </a:rPr>
              <a:t>Signs (clinical):</a:t>
            </a:r>
            <a:pPr indent="0" marL="0">
              <a:buNone/>
            </a:pPr>
            <a:r>
              <a:rPr lang="en-US" dirty="0">
                <a:solidFill>
                  <a:srgbClr val="000000"/>
                </a:solidFill>
              </a:rPr>
              <a:t> selective appetite (</a:t>
            </a:r>
            <a:pPr indent="0" marL="0">
              <a:buNone/>
            </a:pPr>
            <a:r>
              <a:rPr lang="en-US" dirty="0">
                <a:solidFill>
                  <a:srgbClr val="000000"/>
                </a:solidFill>
              </a:rPr>
              <a:t>refuses concentrate first</a:t>
            </a:r>
            <a:pPr indent="0" marL="0">
              <a:buNone/>
            </a:pPr>
            <a:r>
              <a:rPr lang="en-US" dirty="0">
                <a:solidFill>
                  <a:srgbClr val="000000"/>
                </a:solidFill>
              </a:rPr>
              <a:t>), milk drop, rapid BCS loss, dull, firm scant manure, acetone smell on breath; </a:t>
            </a:r>
            <a:pPr indent="0" marL="0">
              <a:buNone/>
            </a:pPr>
            <a:r>
              <a:rPr lang="en-US" dirty="0">
                <a:solidFill>
                  <a:srgbClr val="000000"/>
                </a:solidFill>
              </a:rPr>
              <a:t>nervous form</a:t>
            </a:r>
            <a:pPr indent="0" marL="0">
              <a:buNone/>
            </a:pPr>
            <a:r>
              <a:rPr lang="en-US" dirty="0">
                <a:solidFill>
                  <a:srgbClr val="000000"/>
                </a:solidFill>
              </a:rPr>
              <a:t> (rare): licking, chewing, staggering, aggression.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Ketosis — treatment and prevention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S29   |   30</a:t>
            </a:r>
            <a:endParaRPr lang="en-US" sz="9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8878"/>
                <a:gridCol w="7938961"/>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1017524">
                <a:tc>
                  <a:txBody>
                    <a:bodyPr/>
                    <a:lstStyle/>
                    <a:p>
                      <a:pPr indent="0" marL="0">
                        <a:buNone/>
                      </a:pPr>
                      <a:r>
                        <a:rPr lang="en-US" sz="1200" dirty="0">
                          <a:solidFill>
                            <a:srgbClr val="000000"/>
                          </a:solidFill>
                        </a:rPr>
                        <a:t>Treatment (veterinary)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Propylene glycol 300 mL orally once daily for 3–5 days</a:t>
                      </a:r>
                      <a:pPr indent="0" marL="0">
                        <a:buNone/>
                      </a:pPr>
                      <a:r>
                        <a:rPr lang="en-US" sz="1200" dirty="0">
                          <a:solidFill>
                            <a:srgbClr val="000000"/>
                          </a:solidFill>
                        </a:rPr>
                        <a:t> — the evidence-based standard (a glucose precursor). </a:t>
                      </a:r>
                      <a:pPr indent="0" marL="0">
                        <a:buNone/>
                      </a:pPr>
                      <a:r>
                        <a:rPr lang="en-US" sz="1200" dirty="0">
                          <a:solidFill>
                            <a:srgbClr val="000000"/>
                          </a:solidFill>
                        </a:rPr>
                        <a:t>IV 50% dextrose 500 mL</a:t>
                      </a:r>
                      <a:pPr indent="0" marL="0">
                        <a:buNone/>
                      </a:pPr>
                      <a:r>
                        <a:rPr lang="en-US" sz="1200" dirty="0">
                          <a:solidFill>
                            <a:srgbClr val="000000"/>
                          </a:solidFill>
                        </a:rPr>
                        <a:t> gives a rapid but short-lived rise — use with propylene glycol, not alone. Corticosteroid in selected cases (veterinary judgement). B vitamins/cobalt as supportive. </a:t>
                      </a:r>
                      <a:pPr indent="0" marL="0">
                        <a:buNone/>
                      </a:pPr>
                      <a:r>
                        <a:rPr lang="en-US" sz="1200" dirty="0">
                          <a:solidFill>
                            <a:srgbClr val="000000"/>
                          </a:solidFill>
                        </a:rPr>
                        <a:t>Always treat the underlying cause — DA, metritis, mastitis, lameness.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1017524">
                <a:tc>
                  <a:txBody>
                    <a:bodyPr/>
                    <a:lstStyle/>
                    <a:p>
                      <a:pPr indent="0" marL="0">
                        <a:buNone/>
                      </a:pPr>
                      <a:r>
                        <a:rPr lang="en-US" sz="1200" dirty="0">
                          <a:solidFill>
                            <a:srgbClr val="000000"/>
                          </a:solidFill>
                        </a:rPr>
                        <a:t>Prevention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BCS at dry-off </a:t>
                      </a:r>
                      <a:pPr indent="0" marL="0">
                        <a:buNone/>
                      </a:pPr>
                      <a:r>
                        <a:rPr lang="en-US" sz="1200" dirty="0">
                          <a:solidFill>
                            <a:srgbClr val="000000"/>
                          </a:solidFill>
                        </a:rPr>
                        <a:t>3.0–3.5</a:t>
                      </a:r>
                      <a:pPr indent="0" marL="0">
                        <a:buNone/>
                      </a:pPr>
                      <a:r>
                        <a:rPr lang="en-US" sz="1200" dirty="0">
                          <a:solidFill>
                            <a:srgbClr val="000000"/>
                          </a:solidFill>
                        </a:rPr>
                        <a:t>, never &gt;3.75 · </a:t>
                      </a:r>
                      <a:pPr indent="0" marL="0">
                        <a:buNone/>
                      </a:pPr>
                      <a:r>
                        <a:rPr lang="en-US" sz="1200" dirty="0">
                          <a:solidFill>
                            <a:srgbClr val="000000"/>
                          </a:solidFill>
                        </a:rPr>
                        <a:t>controlled-energy dry cow ration</a:t>
                      </a:r>
                      <a:pPr indent="0" marL="0">
                        <a:buNone/>
                      </a:pPr>
                      <a:r>
                        <a:rPr lang="en-US" sz="1200" dirty="0">
                          <a:solidFill>
                            <a:srgbClr val="000000"/>
                          </a:solidFill>
                        </a:rPr>
                        <a:t> (bulky, straw-based) · maximise fresh cow DMI: </a:t>
                      </a:r>
                      <a:pPr indent="0" marL="0">
                        <a:buNone/>
                      </a:pPr>
                      <a:r>
                        <a:rPr lang="en-US" sz="1200" dirty="0">
                          <a:solidFill>
                            <a:srgbClr val="000000"/>
                          </a:solidFill>
                        </a:rPr>
                        <a:t>bunk space ~76 cm/cow, stocking &lt;80–85%, minimal pen moves, cool, clean water</a:t>
                      </a:r>
                      <a:pPr indent="0" marL="0">
                        <a:buNone/>
                      </a:pPr>
                      <a:r>
                        <a:rPr lang="en-US" sz="1200" dirty="0">
                          <a:solidFill>
                            <a:srgbClr val="000000"/>
                          </a:solidFill>
                        </a:rPr>
                        <a:t> · adequate effective fibre · </a:t>
                      </a:r>
                      <a:pPr indent="0" marL="0">
                        <a:buNone/>
                      </a:pPr>
                      <a:r>
                        <a:rPr lang="en-US" sz="1200" dirty="0">
                          <a:solidFill>
                            <a:srgbClr val="000000"/>
                          </a:solidFill>
                        </a:rPr>
                        <a:t>monitor BHB at 3–14 DIM</a:t>
                      </a:r>
                      <a:pPr indent="0" marL="0">
                        <a:buNone/>
                      </a:pPr>
                      <a:r>
                        <a:rPr lang="en-US" sz="1200" dirty="0">
                          <a:solidFill>
                            <a:srgbClr val="000000"/>
                          </a:solidFill>
                        </a:rPr>
                        <a:t> and act on the herd number · ionophores where registered · rumen-protected choline in selected programmes · </a:t>
                      </a:r>
                      <a:pPr indent="0" marL="0">
                        <a:buNone/>
                      </a:pPr>
                      <a:r>
                        <a:rPr lang="en-US" sz="1200" dirty="0">
                          <a:solidFill>
                            <a:srgbClr val="000000"/>
                          </a:solidFill>
                        </a:rPr>
                        <a:t>heat abatement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3-E</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CALVING AND UTERINE DISEASE</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S30–S45</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three stages of labour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S30   |   31</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2513145"/>
                <a:gridCol w="2915249"/>
                <a:gridCol w="5629445"/>
              </a:tblGrid>
              <a:tr h="398399">
                <a:tc>
                  <a:txBody>
                    <a:bodyPr/>
                    <a:lstStyle/>
                    <a:p>
                      <a:pPr indent="0" marL="0">
                        <a:buNone/>
                      </a:pPr>
                      <a:r>
                        <a:rPr lang="en-US" sz="1200" dirty="0">
                          <a:solidFill>
                            <a:srgbClr val="000000"/>
                          </a:solidFill>
                        </a:rPr>
                        <a:t>Stage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Duration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What is happening</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b="1" dirty="0">
                          <a:solidFill>
                            <a:srgbClr val="000000"/>
                          </a:solidFill>
                        </a:rPr>
                        <a:t>I — Cervical dilation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2–6 h</a:t>
                      </a:r>
                      <a:pPr indent="0" marL="0">
                        <a:buNone/>
                      </a:pPr>
                      <a:r>
                        <a:rPr lang="en-US" sz="1200" dirty="0">
                          <a:solidFill>
                            <a:srgbClr val="000000"/>
                          </a:solidFill>
                        </a:rPr>
                        <a:t> (longer in heifers)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Restlessness, tail raised, isolation, uterine contractions begin; </a:t>
                      </a:r>
                      <a:pPr indent="0" marL="0">
                        <a:buNone/>
                      </a:pPr>
                      <a:r>
                        <a:rPr lang="en-US" sz="1200" dirty="0">
                          <a:solidFill>
                            <a:srgbClr val="000000"/>
                          </a:solidFill>
                        </a:rPr>
                        <a:t>cervix must dilate fully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II — Fetal expulsion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Cows 30–60 min; heifers 1–4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Water bag, then feet; abdominal press; calf delivered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III — Placental expulsion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Within 6–12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Placentomes detach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391027"/>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3555619"/>
            <a:ext cx="10618927" cy="661670"/>
          </a:xfrm>
          <a:prstGeom prst="rect">
            <a:avLst/>
          </a:prstGeom>
          <a:noFill/>
          <a:ln/>
        </p:spPr>
        <p:txBody>
          <a:bodyPr wrap="square" lIns="0" tIns="0" rIns="0" bIns="0" rtlCol="0" anchor="t"/>
          <a:lstStyle/>
          <a:p>
            <a:pPr indent="0" marL="0">
              <a:buNone/>
            </a:pPr>
            <a:r>
              <a:rPr lang="en-US" dirty="0">
                <a:solidFill>
                  <a:srgbClr val="000000"/>
                </a:solidFill>
              </a:rPr>
              <a:t>Intervention rule:</a:t>
            </a:r>
            <a:pPr indent="0" marL="0">
              <a:buNone/>
            </a:pPr>
            <a:r>
              <a:rPr lang="en-US" dirty="0">
                <a:solidFill>
                  <a:srgbClr val="000000"/>
                </a:solidFill>
              </a:rPr>
              <a:t> examine if </a:t>
            </a:r>
            <a:pPr indent="0" marL="0">
              <a:buNone/>
            </a:pPr>
            <a:r>
              <a:rPr lang="en-US" dirty="0">
                <a:solidFill>
                  <a:srgbClr val="000000"/>
                </a:solidFill>
              </a:rPr>
              <a:t>stage II exceeds ~60–70 minutes in a cow</a:t>
            </a:r>
            <a:pPr indent="0" marL="0">
              <a:buNone/>
            </a:pPr>
            <a:r>
              <a:rPr lang="en-US" dirty="0">
                <a:solidFill>
                  <a:srgbClr val="000000"/>
                </a:solidFill>
              </a:rPr>
              <a:t> or </a:t>
            </a:r>
            <a:pPr indent="0" marL="0">
              <a:buNone/>
            </a:pPr>
            <a:r>
              <a:rPr lang="en-US" dirty="0">
                <a:solidFill>
                  <a:srgbClr val="000000"/>
                </a:solidFill>
              </a:rPr>
              <a:t>~2 hours in a heifer</a:t>
            </a:r>
            <a:pPr indent="0" marL="0">
              <a:buNone/>
            </a:pPr>
            <a:r>
              <a:rPr lang="en-US" dirty="0">
                <a:solidFill>
                  <a:srgbClr val="000000"/>
                </a:solidFill>
              </a:rPr>
              <a:t>, or </a:t>
            </a:r>
            <a:pPr indent="0" marL="0">
              <a:buNone/>
            </a:pPr>
            <a:r>
              <a:rPr lang="en-US" dirty="0">
                <a:solidFill>
                  <a:srgbClr val="000000"/>
                </a:solidFill>
              </a:rPr>
              <a:t>if there is no progress for 20–30 minutes</a:t>
            </a:r>
            <a:pPr indent="0" marL="0">
              <a:buNone/>
            </a:pPr>
            <a:r>
              <a:rPr lang="en-US" dirty="0">
                <a:solidFill>
                  <a:srgbClr val="000000"/>
                </a:solidFill>
              </a:rPr>
              <a:t> once the feet are visible.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Dystocia — causes and epidemiology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S31   |   32</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739074"/>
                <a:gridCol w="6318765"/>
              </a:tblGrid>
              <a:tr h="398399">
                <a:tc>
                  <a:txBody>
                    <a:bodyPr/>
                    <a:lstStyle/>
                    <a:p>
                      <a:pPr indent="0" marL="0">
                        <a:buNone/>
                      </a:pPr>
                      <a:r>
                        <a:rPr lang="en-US" sz="1200" dirty="0">
                          <a:solidFill>
                            <a:srgbClr val="000000"/>
                          </a:solidFill>
                        </a:rPr>
                        <a:t>Category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Examples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Fetal-maternal disproportion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Oversized calf; small/immature heifer; </a:t>
                      </a:r>
                      <a:pPr indent="0" marL="0">
                        <a:buNone/>
                      </a:pPr>
                      <a:r>
                        <a:rPr lang="en-US" sz="1200" dirty="0">
                          <a:solidFill>
                            <a:srgbClr val="000000"/>
                          </a:solidFill>
                        </a:rPr>
                        <a:t>bred too young or too small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Abnormal presentation / position / posture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Posterior presentation; head turned back; carpal or shoulder flexion; breech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dirty="0">
                          <a:solidFill>
                            <a:srgbClr val="000000"/>
                          </a:solidFill>
                        </a:rPr>
                        <a:t>Maternal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Uterine inertia (frequently HYPOCALCAEMIA)</a:t>
                      </a:r>
                      <a:pPr indent="0" marL="0">
                        <a:buNone/>
                      </a:pPr>
                      <a:r>
                        <a:rPr lang="en-US" sz="1200" dirty="0">
                          <a:solidFill>
                            <a:srgbClr val="000000"/>
                          </a:solidFill>
                        </a:rPr>
                        <a:t>; incomplete cervical dilation; </a:t>
                      </a:r>
                      <a:pPr indent="0" marL="0">
                        <a:buNone/>
                      </a:pPr>
                      <a:r>
                        <a:rPr lang="en-US" sz="1200" dirty="0">
                          <a:solidFill>
                            <a:srgbClr val="000000"/>
                          </a:solidFill>
                        </a:rPr>
                        <a:t>uterine torsion</a:t>
                      </a:r>
                      <a:pPr indent="0" marL="0">
                        <a:buNone/>
                      </a:pPr>
                      <a:r>
                        <a:rPr lang="en-US" sz="1200" dirty="0">
                          <a:solidFill>
                            <a:srgbClr val="000000"/>
                          </a:solidFill>
                        </a:rPr>
                        <a:t>; pelvic abnormality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Fetal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Twins entangled; fetal monsters; hydrocephalus; fetal death and emphysema</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566928" y="3995801"/>
            <a:ext cx="11057839" cy="626872"/>
          </a:xfrm>
          <a:prstGeom prst="rect">
            <a:avLst/>
          </a:prstGeom>
          <a:noFill/>
          <a:ln/>
        </p:spPr>
        <p:txBody>
          <a:bodyPr wrap="square" lIns="0" tIns="0" rIns="0" bIns="0" rtlCol="0" anchor="t"/>
          <a:lstStyle/>
          <a:p>
            <a:pPr indent="0" marL="0">
              <a:buNone/>
            </a:pPr>
            <a:r>
              <a:rPr lang="en-US" dirty="0">
                <a:solidFill>
                  <a:srgbClr val="000000"/>
                </a:solidFill>
              </a:rPr>
              <a:t>Epidemiology:</a:t>
            </a:r>
            <a:pPr indent="0" marL="0">
              <a:buNone/>
            </a:pPr>
            <a:r>
              <a:rPr lang="en-US" dirty="0">
                <a:solidFill>
                  <a:srgbClr val="000000"/>
                </a:solidFill>
              </a:rPr>
              <a:t> roughly </a:t>
            </a:r>
            <a:pPr indent="0" marL="0">
              <a:buNone/>
            </a:pPr>
            <a:r>
              <a:rPr lang="en-US" dirty="0">
                <a:solidFill>
                  <a:srgbClr val="000000"/>
                </a:solidFill>
              </a:rPr>
              <a:t>2–7% in cows, 10–25%+ in heifers</a:t>
            </a:r>
            <a:pPr indent="0" marL="0">
              <a:buNone/>
            </a:pPr>
            <a:r>
              <a:rPr lang="en-US" dirty="0">
                <a:solidFill>
                  <a:srgbClr val="000000"/>
                </a:solidFill>
              </a:rPr>
              <a:t>, herd-dependent </a:t>
            </a:r>
            <a:pPr indent="0" marL="0">
              <a:buNone/>
            </a:pPr>
            <a:r>
              <a:rPr lang="en-US" dirty="0">
                <a:solidFill>
                  <a:srgbClr val="000000"/>
                </a:solidFill>
              </a:rPr>
              <a:t>(published ranges)</a:t>
            </a:r>
            <a:pPr indent="0" marL="0">
              <a:buNone/>
            </a:pPr>
            <a:r>
              <a:rPr lang="en-US" dirty="0">
                <a:solidFill>
                  <a:srgbClr val="000000"/>
                </a:solidFill>
              </a:rPr>
              <a:t> </a:t>
            </a:r>
            <a:pPr indent="0" marL="0">
              <a:buNone/>
            </a:pPr>
            <a:r>
              <a:rPr lang="en-US" dirty="0">
                <a:solidFill>
                  <a:srgbClr val="000000"/>
                </a:solidFill>
              </a:rPr>
              <a:t>Consequences:</a:t>
            </a:r>
            <a:pPr indent="0" marL="0">
              <a:buNone/>
            </a:pPr>
            <a:r>
              <a:rPr lang="en-US" dirty="0">
                <a:solidFill>
                  <a:srgbClr val="000000"/>
                </a:solidFill>
              </a:rPr>
              <a:t> stillbirth, calf hypoxia, </a:t>
            </a:r>
            <a:pPr indent="0" marL="0">
              <a:buNone/>
            </a:pPr>
            <a:r>
              <a:rPr lang="en-US" dirty="0">
                <a:solidFill>
                  <a:srgbClr val="000000"/>
                </a:solidFill>
              </a:rPr>
              <a:t>retained placenta, metritis</a:t>
            </a:r>
            <a:pPr indent="0" marL="0">
              <a:buNone/>
            </a:pPr>
            <a:r>
              <a:rPr lang="en-US" dirty="0">
                <a:solidFill>
                  <a:srgbClr val="000000"/>
                </a:solidFill>
              </a:rPr>
              <a:t>, obturator nerve paralysis, uterine/cervical tears, </a:t>
            </a:r>
            <a:pPr indent="0" marL="0">
              <a:buNone/>
            </a:pPr>
            <a:r>
              <a:rPr lang="en-US" dirty="0">
                <a:solidFill>
                  <a:srgbClr val="000000"/>
                </a:solidFill>
              </a:rPr>
              <a:t>delayed conception, culling</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Dystocia — examination and correction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S32   |   33</a:t>
            </a:r>
            <a:endParaRPr lang="en-US" sz="950" dirty="0"/>
          </a:p>
        </p:txBody>
      </p:sp>
      <p:sp>
        <p:nvSpPr>
          <p:cNvPr id="5" name="Text 3"/>
          <p:cNvSpPr/>
          <p:nvPr/>
        </p:nvSpPr>
        <p:spPr>
          <a:xfrm>
            <a:off x="621792" y="1298448"/>
            <a:ext cx="11002975" cy="2830068"/>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Restrain safely.</a:t>
            </a:r>
            <a:pPr indent="0" marL="0">
              <a:buNone/>
            </a:pPr>
            <a:r>
              <a:rPr lang="en-US" dirty="0">
                <a:solidFill>
                  <a:srgbClr val="000000"/>
                </a:solidFill>
              </a:rPr>
              <a:t> Clean the perineum. </a:t>
            </a:r>
            <a:pPr indent="0" marL="0">
              <a:buNone/>
            </a:pPr>
            <a:r>
              <a:rPr lang="en-US" dirty="0">
                <a:solidFill>
                  <a:srgbClr val="000000"/>
                </a:solidFill>
              </a:rPr>
              <a:t>Wash hands and arms, use plenty of clean lubricant.</a:t>
            </a:r>
            <a:endParaRPr lang="en-US" dirty="0"/>
          </a:p>
          <a:p>
            <a:pPr marL="342900" indent="-342900">
              <a:spcAft>
                <a:spcPts val="500"/>
              </a:spcAft>
              <a:buSzPct val="100000"/>
              <a:buFont typeface="+mj-lt"/>
              <a:buAutoNum type="arabicPeriod" startAt="1"/>
            </a:pPr>
            <a:r>
              <a:rPr lang="en-US" dirty="0">
                <a:solidFill>
                  <a:srgbClr val="000000"/>
                </a:solidFill>
              </a:rPr>
              <a:t>Determine: </a:t>
            </a:r>
            <a:pPr indent="0" marL="0">
              <a:buNone/>
            </a:pPr>
            <a:r>
              <a:rPr lang="en-US" dirty="0">
                <a:solidFill>
                  <a:srgbClr val="000000"/>
                </a:solidFill>
              </a:rPr>
              <a:t>presentation</a:t>
            </a:r>
            <a:pPr indent="0" marL="0">
              <a:buNone/>
            </a:pPr>
            <a:r>
              <a:rPr lang="en-US" dirty="0">
                <a:solidFill>
                  <a:srgbClr val="000000"/>
                </a:solidFill>
              </a:rPr>
              <a:t> (anterior/posterior), </a:t>
            </a:r>
            <a:pPr indent="0" marL="0">
              <a:buNone/>
            </a:pPr>
            <a:r>
              <a:rPr lang="en-US" dirty="0">
                <a:solidFill>
                  <a:srgbClr val="000000"/>
                </a:solidFill>
              </a:rPr>
              <a:t>position</a:t>
            </a:r>
            <a:pPr indent="0" marL="0">
              <a:buNone/>
            </a:pPr>
            <a:r>
              <a:rPr lang="en-US" dirty="0">
                <a:solidFill>
                  <a:srgbClr val="000000"/>
                </a:solidFill>
              </a:rPr>
              <a:t> (dorsosacral is normal), </a:t>
            </a:r>
            <a:pPr indent="0" marL="0">
              <a:buNone/>
            </a:pPr>
            <a:r>
              <a:rPr lang="en-US" dirty="0">
                <a:solidFill>
                  <a:srgbClr val="000000"/>
                </a:solidFill>
              </a:rPr>
              <a:t>posture</a:t>
            </a:r>
            <a:pPr indent="0" marL="0">
              <a:buNone/>
            </a:pPr>
            <a:r>
              <a:rPr lang="en-US" dirty="0">
                <a:solidFill>
                  <a:srgbClr val="000000"/>
                </a:solidFill>
              </a:rPr>
              <a:t> (head and limbs extended)</a:t>
            </a:r>
            <a:endParaRPr lang="en-US" dirty="0"/>
          </a:p>
          <a:p>
            <a:pPr marL="342900" indent="-342900">
              <a:spcAft>
                <a:spcPts val="500"/>
              </a:spcAft>
              <a:buSzPct val="100000"/>
              <a:buFont typeface="+mj-lt"/>
              <a:buAutoNum type="arabicPeriod" startAt="1"/>
            </a:pPr>
            <a:r>
              <a:rPr lang="en-US" dirty="0">
                <a:solidFill>
                  <a:srgbClr val="000000"/>
                </a:solidFill>
              </a:rPr>
              <a:t>Confirm the cervix is fully dilated</a:t>
            </a:r>
            <a:pPr indent="0" marL="0">
              <a:buNone/>
            </a:pPr>
            <a:r>
              <a:rPr lang="en-US" dirty="0">
                <a:solidFill>
                  <a:srgbClr val="000000"/>
                </a:solidFill>
              </a:rPr>
              <a:t> before any traction</a:t>
            </a:r>
            <a:endParaRPr lang="en-US" dirty="0"/>
          </a:p>
          <a:p>
            <a:pPr marL="342900" indent="-342900">
              <a:spcAft>
                <a:spcPts val="500"/>
              </a:spcAft>
              <a:buSzPct val="100000"/>
              <a:buFont typeface="+mj-lt"/>
              <a:buAutoNum type="arabicPeriod" startAt="1"/>
            </a:pPr>
            <a:r>
              <a:rPr lang="en-US" dirty="0">
                <a:solidFill>
                  <a:srgbClr val="000000"/>
                </a:solidFill>
              </a:rPr>
              <a:t>Correct malposture </a:t>
            </a:r>
            <a:pPr indent="0" marL="0">
              <a:buNone/>
            </a:pPr>
            <a:r>
              <a:rPr lang="en-US" dirty="0">
                <a:solidFill>
                  <a:srgbClr val="000000"/>
                </a:solidFill>
              </a:rPr>
              <a:t>in the uterus, with the calf repelled forward</a:t>
            </a:r>
            <a:pPr indent="0" marL="0">
              <a:buNone/>
            </a:pPr>
            <a:r>
              <a:rPr lang="en-US" dirty="0">
                <a:solidFill>
                  <a:srgbClr val="000000"/>
                </a:solidFill>
              </a:rPr>
              <a:t> — never try to correct in the pelvis</a:t>
            </a:r>
            <a:endParaRPr lang="en-US" dirty="0"/>
          </a:p>
          <a:p>
            <a:pPr marL="342900" indent="-342900">
              <a:spcAft>
                <a:spcPts val="500"/>
              </a:spcAft>
              <a:buSzPct val="100000"/>
              <a:buFont typeface="+mj-lt"/>
              <a:buAutoNum type="arabicPeriod" startAt="1"/>
            </a:pPr>
            <a:r>
              <a:rPr lang="en-US" dirty="0">
                <a:solidFill>
                  <a:srgbClr val="000000"/>
                </a:solidFill>
              </a:rPr>
              <a:t>Traction rules:</a:t>
            </a:r>
            <a:pPr indent="0" marL="0">
              <a:buNone/>
            </a:pPr>
            <a:r>
              <a:rPr lang="en-US" dirty="0">
                <a:solidFill>
                  <a:srgbClr val="000000"/>
                </a:solidFill>
              </a:rPr>
              <a:t> apply </a:t>
            </a:r>
            <a:pPr indent="0" marL="0">
              <a:buNone/>
            </a:pPr>
            <a:r>
              <a:rPr lang="en-US" dirty="0">
                <a:solidFill>
                  <a:srgbClr val="000000"/>
                </a:solidFill>
              </a:rPr>
              <a:t>only during the cow's contractions</a:t>
            </a:r>
            <a:pPr indent="0" marL="0">
              <a:buNone/>
            </a:pPr>
            <a:r>
              <a:rPr lang="en-US" dirty="0">
                <a:solidFill>
                  <a:srgbClr val="000000"/>
                </a:solidFill>
              </a:rPr>
              <a:t>; </a:t>
            </a:r>
            <a:pPr indent="0" marL="0">
              <a:buNone/>
            </a:pPr>
            <a:r>
              <a:rPr lang="en-US" dirty="0">
                <a:solidFill>
                  <a:srgbClr val="000000"/>
                </a:solidFill>
              </a:rPr>
              <a:t>maximum two people</a:t>
            </a:r>
            <a:pPr indent="0" marL="0">
              <a:buNone/>
            </a:pPr>
            <a:r>
              <a:rPr lang="en-US" dirty="0">
                <a:solidFill>
                  <a:srgbClr val="000000"/>
                </a:solidFill>
              </a:rPr>
              <a:t> (or a calving jack used with equivalent restraint); </a:t>
            </a:r>
            <a:pPr indent="0" marL="0">
              <a:buNone/>
            </a:pPr>
            <a:r>
              <a:rPr lang="en-US" dirty="0">
                <a:solidFill>
                  <a:srgbClr val="000000"/>
                </a:solidFill>
              </a:rPr>
              <a:t>alternate the legs</a:t>
            </a:r>
            <a:pPr indent="0" marL="0">
              <a:buNone/>
            </a:pPr>
            <a:r>
              <a:rPr lang="en-US" dirty="0">
                <a:solidFill>
                  <a:srgbClr val="000000"/>
                </a:solidFill>
              </a:rPr>
              <a:t> to walk the shoulders through the pelvis; </a:t>
            </a:r>
            <a:pPr indent="0" marL="0">
              <a:buNone/>
            </a:pPr>
            <a:r>
              <a:rPr lang="en-US" dirty="0">
                <a:solidFill>
                  <a:srgbClr val="000000"/>
                </a:solidFill>
              </a:rPr>
              <a:t>rotate the calf ~45°</a:t>
            </a:r>
            <a:pPr indent="0" marL="0">
              <a:buNone/>
            </a:pPr>
            <a:r>
              <a:rPr lang="en-US" dirty="0">
                <a:solidFill>
                  <a:srgbClr val="000000"/>
                </a:solidFill>
              </a:rPr>
              <a:t> for hip lock; </a:t>
            </a:r>
            <a:pPr indent="0" marL="0">
              <a:buNone/>
            </a:pPr>
            <a:r>
              <a:rPr lang="en-US" dirty="0">
                <a:solidFill>
                  <a:srgbClr val="000000"/>
                </a:solidFill>
              </a:rPr>
              <a:t>direct traction downward</a:t>
            </a:r>
            <a:pPr indent="0" marL="0">
              <a:buNone/>
            </a:pPr>
            <a:r>
              <a:rPr lang="en-US" dirty="0">
                <a:solidFill>
                  <a:srgbClr val="000000"/>
                </a:solidFill>
              </a:rPr>
              <a:t> once the head is out</a:t>
            </a:r>
            <a:endParaRPr lang="en-US" dirty="0"/>
          </a:p>
          <a:p>
            <a:pPr marL="342900" indent="-342900">
              <a:spcAft>
                <a:spcPts val="500"/>
              </a:spcAft>
              <a:buSzPct val="100000"/>
              <a:buFont typeface="+mj-lt"/>
              <a:buAutoNum type="arabicPeriod" startAt="1"/>
            </a:pPr>
            <a:r>
              <a:rPr lang="en-US" dirty="0">
                <a:solidFill>
                  <a:srgbClr val="000000"/>
                </a:solidFill>
              </a:rPr>
              <a:t>Stop and call the veterinarian</a:t>
            </a:r>
            <a:pPr indent="0" marL="0">
              <a:buNone/>
            </a:pPr>
            <a:r>
              <a:rPr lang="en-US" dirty="0">
                <a:solidFill>
                  <a:srgbClr val="000000"/>
                </a:solidFill>
              </a:rPr>
              <a:t> if: no progress in </a:t>
            </a:r>
            <a:pPr indent="0" marL="0">
              <a:buNone/>
            </a:pPr>
            <a:r>
              <a:rPr lang="en-US" dirty="0">
                <a:solidFill>
                  <a:srgbClr val="000000"/>
                </a:solidFill>
              </a:rPr>
              <a:t>10–15 minutes</a:t>
            </a:r>
            <a:pPr indent="0" marL="0">
              <a:buNone/>
            </a:pPr>
            <a:r>
              <a:rPr lang="en-US" dirty="0">
                <a:solidFill>
                  <a:srgbClr val="000000"/>
                </a:solidFill>
              </a:rPr>
              <a:t> of correct traction, cervix not dilated, irreducible malposture, </a:t>
            </a:r>
            <a:pPr indent="0" marL="0">
              <a:buNone/>
            </a:pPr>
            <a:r>
              <a:rPr lang="en-US" dirty="0">
                <a:solidFill>
                  <a:srgbClr val="000000"/>
                </a:solidFill>
              </a:rPr>
              <a:t>uterine torsion</a:t>
            </a:r>
            <a:pPr indent="0" marL="0">
              <a:buNone/>
            </a:pPr>
            <a:r>
              <a:rPr lang="en-US" dirty="0">
                <a:solidFill>
                  <a:srgbClr val="000000"/>
                </a:solidFill>
              </a:rPr>
              <a:t>, fetal oversize, emphysematous fetus → </a:t>
            </a:r>
            <a:pPr indent="0" marL="0">
              <a:buNone/>
            </a:pPr>
            <a:r>
              <a:rPr lang="en-US" dirty="0">
                <a:solidFill>
                  <a:srgbClr val="000000"/>
                </a:solidFill>
              </a:rPr>
              <a:t>caesarean or fetotomy</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Uterine torsion and calf resuscitation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S33   |   34</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Uterine torsion</a:t>
            </a:r>
            <a:endParaRPr lang="en-US" dirty="0"/>
          </a:p>
        </p:txBody>
      </p:sp>
      <p:sp>
        <p:nvSpPr>
          <p:cNvPr id="6" name="Text 4"/>
          <p:cNvSpPr/>
          <p:nvPr/>
        </p:nvSpPr>
        <p:spPr>
          <a:xfrm>
            <a:off x="621792" y="1840484"/>
            <a:ext cx="11002975" cy="104089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Suspect when: stage II is prolonged with </a:t>
            </a:r>
            <a:pPr indent="0" marL="0">
              <a:buNone/>
            </a:pPr>
            <a:r>
              <a:rPr lang="en-US" dirty="0">
                <a:solidFill>
                  <a:srgbClr val="000000"/>
                </a:solidFill>
              </a:rPr>
              <a:t>no water bag</a:t>
            </a:r>
            <a:pPr indent="0" marL="0">
              <a:buNone/>
            </a:pPr>
            <a:r>
              <a:rPr lang="en-US" dirty="0">
                <a:solidFill>
                  <a:srgbClr val="000000"/>
                </a:solidFill>
              </a:rPr>
              <a:t>, and vaginal examination finds </a:t>
            </a:r>
            <a:pPr indent="0" marL="0">
              <a:buNone/>
            </a:pPr>
            <a:r>
              <a:rPr lang="en-US" dirty="0">
                <a:solidFill>
                  <a:srgbClr val="000000"/>
                </a:solidFill>
              </a:rPr>
              <a:t>spiral folds</a:t>
            </a:r>
            <a:pPr indent="0" marL="0">
              <a:buNone/>
            </a:pPr>
            <a:r>
              <a:rPr lang="en-US" dirty="0">
                <a:solidFill>
                  <a:srgbClr val="000000"/>
                </a:solidFill>
              </a:rPr>
              <a:t> narrowing the passage</a:t>
            </a:r>
            <a:endParaRPr lang="en-US" dirty="0"/>
          </a:p>
          <a:p>
            <a:pPr marL="342900" indent="-342900">
              <a:spcAft>
                <a:spcPts val="500"/>
              </a:spcAft>
              <a:buSzPct val="100000"/>
              <a:buChar char="•"/>
            </a:pPr>
            <a:r>
              <a:rPr lang="en-US" dirty="0">
                <a:solidFill>
                  <a:srgbClr val="000000"/>
                </a:solidFill>
              </a:rPr>
              <a:t>Correction: </a:t>
            </a:r>
            <a:pPr indent="0" marL="0">
              <a:buNone/>
            </a:pPr>
            <a:r>
              <a:rPr lang="en-US" dirty="0">
                <a:solidFill>
                  <a:srgbClr val="000000"/>
                </a:solidFill>
              </a:rPr>
              <a:t>rolling the cow</a:t>
            </a:r>
            <a:pPr indent="0" marL="0">
              <a:buNone/>
            </a:pPr>
            <a:r>
              <a:rPr lang="en-US" dirty="0">
                <a:solidFill>
                  <a:srgbClr val="000000"/>
                </a:solidFill>
              </a:rPr>
              <a:t> (with a plank across the abdomen), </a:t>
            </a:r>
            <a:pPr indent="0" marL="0">
              <a:buNone/>
            </a:pPr>
            <a:r>
              <a:rPr lang="en-US" dirty="0">
                <a:solidFill>
                  <a:srgbClr val="000000"/>
                </a:solidFill>
              </a:rPr>
              <a:t>detorsion rod</a:t>
            </a:r>
            <a:pPr indent="0" marL="0">
              <a:buNone/>
            </a:pPr>
            <a:r>
              <a:rPr lang="en-US" dirty="0">
                <a:solidFill>
                  <a:srgbClr val="000000"/>
                </a:solidFill>
              </a:rPr>
              <a:t>, or </a:t>
            </a:r>
            <a:pPr indent="0" marL="0">
              <a:buNone/>
            </a:pPr>
            <a:r>
              <a:rPr lang="en-US" dirty="0">
                <a:solidFill>
                  <a:srgbClr val="000000"/>
                </a:solidFill>
              </a:rPr>
              <a:t>caesarean section</a:t>
            </a:r>
            <a:endParaRPr lang="en-US" dirty="0"/>
          </a:p>
        </p:txBody>
      </p:sp>
      <p:sp>
        <p:nvSpPr>
          <p:cNvPr id="7" name="Text 5"/>
          <p:cNvSpPr/>
          <p:nvPr/>
        </p:nvSpPr>
        <p:spPr>
          <a:xfrm>
            <a:off x="566928" y="3027680"/>
            <a:ext cx="11057839" cy="395732"/>
          </a:xfrm>
          <a:prstGeom prst="rect">
            <a:avLst/>
          </a:prstGeom>
          <a:noFill/>
          <a:ln/>
        </p:spPr>
        <p:txBody>
          <a:bodyPr wrap="square" lIns="0" tIns="0" rIns="0" bIns="0" rtlCol="0" anchor="t"/>
          <a:lstStyle/>
          <a:p>
            <a:pPr indent="0" marL="0">
              <a:buNone/>
            </a:pPr>
            <a:r>
              <a:rPr lang="en-US" dirty="0">
                <a:solidFill>
                  <a:srgbClr val="000000"/>
                </a:solidFill>
              </a:rPr>
              <a:t>Calf resuscitation</a:t>
            </a:r>
            <a:endParaRPr lang="en-US" dirty="0"/>
          </a:p>
        </p:txBody>
      </p:sp>
      <p:sp>
        <p:nvSpPr>
          <p:cNvPr id="8" name="Text 6"/>
          <p:cNvSpPr/>
          <p:nvPr/>
        </p:nvSpPr>
        <p:spPr>
          <a:xfrm>
            <a:off x="621792" y="3569716"/>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Clear the airway</a:t>
            </a:r>
            <a:pPr indent="0" marL="0">
              <a:buNone/>
            </a:pPr>
            <a:r>
              <a:rPr lang="en-US" dirty="0">
                <a:solidFill>
                  <a:srgbClr val="000000"/>
                </a:solidFill>
              </a:rPr>
              <a:t> (wipe nose and mouth; suction if available)</a:t>
            </a:r>
            <a:endParaRPr lang="en-US" dirty="0"/>
          </a:p>
          <a:p>
            <a:pPr marL="342900" indent="-342900">
              <a:spcAft>
                <a:spcPts val="500"/>
              </a:spcAft>
              <a:buSzPct val="100000"/>
              <a:buChar char="•"/>
            </a:pPr>
            <a:r>
              <a:rPr lang="en-US" dirty="0">
                <a:solidFill>
                  <a:srgbClr val="000000"/>
                </a:solidFill>
              </a:rPr>
              <a:t>Do NOT hang the calf upside down for more than a few seconds</a:t>
            </a:r>
            <a:pPr indent="0" marL="0">
              <a:buNone/>
            </a:pPr>
            <a:r>
              <a:rPr lang="en-US" dirty="0">
                <a:solidFill>
                  <a:srgbClr val="000000"/>
                </a:solidFill>
              </a:rPr>
              <a:t> — abdominal organs compress the diaphragm and worsen breathing</a:t>
            </a:r>
            <a:endParaRPr lang="en-US" dirty="0"/>
          </a:p>
          <a:p>
            <a:pPr marL="342900" indent="-342900">
              <a:spcAft>
                <a:spcPts val="500"/>
              </a:spcAft>
              <a:buSzPct val="100000"/>
              <a:buChar char="•"/>
            </a:pPr>
            <a:r>
              <a:rPr lang="en-US" dirty="0">
                <a:solidFill>
                  <a:srgbClr val="000000"/>
                </a:solidFill>
              </a:rPr>
              <a:t>Place in </a:t>
            </a:r>
            <a:pPr indent="0" marL="0">
              <a:buNone/>
            </a:pPr>
            <a:r>
              <a:rPr lang="en-US" dirty="0">
                <a:solidFill>
                  <a:srgbClr val="000000"/>
                </a:solidFill>
              </a:rPr>
              <a:t>sternal recumbency</a:t>
            </a:r>
            <a:pPr indent="0" marL="0">
              <a:buNone/>
            </a:pPr>
            <a:r>
              <a:rPr lang="en-US" dirty="0">
                <a:solidFill>
                  <a:srgbClr val="000000"/>
                </a:solidFill>
              </a:rPr>
              <a:t>; stimulate with vigorous rubbing, cold water on the head/ear, straw in the nostril</a:t>
            </a:r>
            <a:endParaRPr lang="en-US" dirty="0"/>
          </a:p>
          <a:p>
            <a:pPr marL="342900" indent="-342900">
              <a:spcAft>
                <a:spcPts val="500"/>
              </a:spcAft>
              <a:buSzPct val="100000"/>
              <a:buChar char="•"/>
            </a:pPr>
            <a:r>
              <a:rPr lang="en-US" dirty="0">
                <a:solidFill>
                  <a:srgbClr val="000000"/>
                </a:solidFill>
              </a:rPr>
              <a:t>Colostrum: 3–4 L of good quality within the first 2 hours</a:t>
            </a:r>
            <a:pPr indent="0" marL="0">
              <a:buNone/>
            </a:pPr>
            <a:r>
              <a:rPr lang="en-US" dirty="0">
                <a:solidFill>
                  <a:srgbClr val="000000"/>
                </a:solidFill>
              </a:rPr>
              <a:t>, by bottle or oesophageal tube</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Retained placenta — mechanism and epidemiology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S34   |   35</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Definition:</a:t>
            </a:r>
            <a:pPr indent="0" marL="0">
              <a:buNone/>
            </a:pPr>
            <a:r>
              <a:rPr lang="en-US" dirty="0">
                <a:solidFill>
                  <a:srgbClr val="000000"/>
                </a:solidFill>
              </a:rPr>
              <a:t> fetal membranes not expelled within </a:t>
            </a:r>
            <a:pPr indent="0" marL="0">
              <a:buNone/>
            </a:pPr>
            <a:r>
              <a:rPr lang="en-US" dirty="0">
                <a:solidFill>
                  <a:srgbClr val="000000"/>
                </a:solidFill>
              </a:rPr>
              <a:t>12–24 hours</a:t>
            </a:r>
            <a:pPr indent="0" marL="0">
              <a:buNone/>
            </a:pPr>
            <a:r>
              <a:rPr lang="en-US" dirty="0">
                <a:solidFill>
                  <a:srgbClr val="000000"/>
                </a:solidFill>
              </a:rPr>
              <a:t> after calving </a:t>
            </a:r>
            <a:pPr indent="0" marL="0">
              <a:buNone/>
            </a:pPr>
            <a:r>
              <a:rPr lang="en-US" dirty="0">
                <a:solidFill>
                  <a:srgbClr val="000000"/>
                </a:solidFill>
              </a:rPr>
              <a:t>Mechanism:</a:t>
            </a:r>
            <a:endParaRPr lang="en-US" dirty="0"/>
          </a:p>
        </p:txBody>
      </p:sp>
      <p:sp>
        <p:nvSpPr>
          <p:cNvPr id="6" name="Text 4"/>
          <p:cNvSpPr/>
          <p:nvPr/>
        </p:nvSpPr>
        <p:spPr>
          <a:xfrm>
            <a:off x="621792" y="1840484"/>
            <a:ext cx="11002975" cy="1372616"/>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Failure of placentome detachment</a:t>
            </a:r>
            <a:pPr indent="0" marL="0">
              <a:buNone/>
            </a:pPr>
            <a:r>
              <a:rPr lang="en-US" dirty="0">
                <a:solidFill>
                  <a:srgbClr val="000000"/>
                </a:solidFill>
              </a:rPr>
              <a:t> — normally collagen in the caruncle–cotyledon attachment breaks down before calving</a:t>
            </a:r>
            <a:endParaRPr lang="en-US" dirty="0"/>
          </a:p>
          <a:p>
            <a:pPr marL="342900" indent="-342900">
              <a:spcAft>
                <a:spcPts val="500"/>
              </a:spcAft>
              <a:buSzPct val="100000"/>
              <a:buFont typeface="+mj-lt"/>
              <a:buAutoNum type="arabicPeriod" startAt="1"/>
            </a:pPr>
            <a:r>
              <a:rPr lang="en-US" dirty="0">
                <a:solidFill>
                  <a:srgbClr val="000000"/>
                </a:solidFill>
              </a:rPr>
              <a:t>Immune failure</a:t>
            </a:r>
            <a:pPr indent="0" marL="0">
              <a:buNone/>
            </a:pPr>
            <a:r>
              <a:rPr lang="en-US" dirty="0">
                <a:solidFill>
                  <a:srgbClr val="000000"/>
                </a:solidFill>
              </a:rPr>
              <a:t> — neutrophil (PMN) chemotaxis and function are suppressed around calving; leukocytes normally help release the membranes</a:t>
            </a:r>
            <a:endParaRPr lang="en-US" dirty="0"/>
          </a:p>
          <a:p>
            <a:pPr marL="342900" indent="-342900">
              <a:spcAft>
                <a:spcPts val="500"/>
              </a:spcAft>
              <a:buSzPct val="100000"/>
              <a:buFont typeface="+mj-lt"/>
              <a:buAutoNum type="arabicPeriod" startAt="1"/>
            </a:pPr>
            <a:r>
              <a:rPr lang="en-US" dirty="0">
                <a:solidFill>
                  <a:srgbClr val="000000"/>
                </a:solidFill>
              </a:rPr>
              <a:t>Uterine inertia</a:t>
            </a:r>
            <a:pPr indent="0" marL="0">
              <a:buNone/>
            </a:pPr>
            <a:r>
              <a:rPr lang="en-US" dirty="0">
                <a:solidFill>
                  <a:srgbClr val="000000"/>
                </a:solidFill>
              </a:rPr>
              <a:t> — poor contractions (hypocalcaemia)</a:t>
            </a:r>
            <a:endParaRPr lang="en-US" dirty="0"/>
          </a:p>
        </p:txBody>
      </p:sp>
      <p:sp>
        <p:nvSpPr>
          <p:cNvPr id="7" name="Text 5"/>
          <p:cNvSpPr/>
          <p:nvPr/>
        </p:nvSpPr>
        <p:spPr>
          <a:xfrm>
            <a:off x="566928" y="3359404"/>
            <a:ext cx="11057839" cy="858012"/>
          </a:xfrm>
          <a:prstGeom prst="rect">
            <a:avLst/>
          </a:prstGeom>
          <a:noFill/>
          <a:ln/>
        </p:spPr>
        <p:txBody>
          <a:bodyPr wrap="square" lIns="0" tIns="0" rIns="0" bIns="0" rtlCol="0" anchor="t"/>
          <a:lstStyle/>
          <a:p>
            <a:pPr indent="0" marL="0">
              <a:buNone/>
            </a:pPr>
            <a:r>
              <a:rPr lang="en-US" dirty="0">
                <a:solidFill>
                  <a:srgbClr val="000000"/>
                </a:solidFill>
              </a:rPr>
              <a:t>Risk factors:</a:t>
            </a:r>
            <a:pPr indent="0" marL="0">
              <a:buNone/>
            </a:pPr>
            <a:r>
              <a:rPr lang="en-US" dirty="0">
                <a:solidFill>
                  <a:srgbClr val="000000"/>
                </a:solidFill>
              </a:rPr>
              <a:t> </a:t>
            </a:r>
            <a:pPr indent="0" marL="0">
              <a:buNone/>
            </a:pPr>
            <a:r>
              <a:rPr lang="en-US" dirty="0">
                <a:solidFill>
                  <a:srgbClr val="000000"/>
                </a:solidFill>
              </a:rPr>
              <a:t>dystocia · twins · abortion · stillbirth · induced parturition · milk fever/hypocalcaemia · short or long gestation · heat stress · selenium and vitamin E deficiency · vitamin A deficiency · over-conditioned cows</a:t>
            </a:r>
            <a:pPr indent="0" marL="0">
              <a:buNone/>
            </a:pPr>
            <a:r>
              <a:rPr lang="en-US" dirty="0">
                <a:solidFill>
                  <a:srgbClr val="000000"/>
                </a:solidFill>
              </a:rPr>
              <a:t> </a:t>
            </a:r>
            <a:pPr indent="0" marL="0">
              <a:buNone/>
            </a:pPr>
            <a:r>
              <a:rPr lang="en-US" dirty="0">
                <a:solidFill>
                  <a:srgbClr val="000000"/>
                </a:solidFill>
              </a:rPr>
              <a:t>Epidemiology:</a:t>
            </a:r>
            <a:pPr indent="0" marL="0">
              <a:buNone/>
            </a:pPr>
            <a:r>
              <a:rPr lang="en-US" dirty="0">
                <a:solidFill>
                  <a:srgbClr val="000000"/>
                </a:solidFill>
              </a:rPr>
              <a:t> normal </a:t>
            </a:r>
            <a:pPr indent="0" marL="0">
              <a:buNone/>
            </a:pPr>
            <a:r>
              <a:rPr lang="en-US" dirty="0">
                <a:solidFill>
                  <a:srgbClr val="000000"/>
                </a:solidFill>
              </a:rPr>
              <a:t>4–10%</a:t>
            </a:r>
            <a:pPr indent="0" marL="0">
              <a:buNone/>
            </a:pPr>
            <a:r>
              <a:rPr lang="en-US" dirty="0">
                <a:solidFill>
                  <a:srgbClr val="000000"/>
                </a:solidFill>
              </a:rPr>
              <a:t>; </a:t>
            </a:r>
            <a:pPr indent="0" marL="0">
              <a:buNone/>
            </a:pPr>
            <a:r>
              <a:rPr lang="en-US" dirty="0">
                <a:solidFill>
                  <a:srgbClr val="000000"/>
                </a:solidFill>
              </a:rPr>
              <a:t>&gt;10% = herd problem</a:t>
            </a:r>
            <a:pPr indent="0" marL="0">
              <a:buNone/>
            </a:pPr>
            <a:r>
              <a:rPr lang="en-US" dirty="0">
                <a:solidFill>
                  <a:srgbClr val="000000"/>
                </a:solidFill>
              </a:rPr>
              <a:t> </a:t>
            </a:r>
            <a:pPr indent="0" marL="0">
              <a:buNone/>
            </a:pPr>
            <a:r>
              <a:rPr lang="en-US" dirty="0">
                <a:solidFill>
                  <a:srgbClr val="000000"/>
                </a:solidFill>
              </a:rPr>
              <a:t>(published ranges)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Retained placenta — what to do and what NOT to do</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S35   |   36</a:t>
            </a:r>
            <a:endParaRPr lang="en-US" sz="9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5528920"/>
                <a:gridCol w="5528920"/>
              </a:tblGrid>
              <a:tr h="398399">
                <a:tc>
                  <a:txBody>
                    <a:bodyPr/>
                    <a:lstStyle/>
                    <a:p>
                      <a:pPr indent="0" marL="0">
                        <a:buNone/>
                      </a:pPr>
                      <a:r>
                        <a:rPr lang="en-US" sz="1200" dirty="0">
                          <a:solidFill>
                            <a:srgbClr val="000000"/>
                          </a:solidFill>
                        </a:rPr>
                        <a:t>DO NOT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DO</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dirty="0">
                          <a:solidFill>
                            <a:srgbClr val="000000"/>
                          </a:solidFill>
                        </a:rPr>
                        <a:t>DO NOT: </a:t>
                      </a:r>
                      <a:pPr indent="0" marL="0">
                        <a:buNone/>
                      </a:pPr>
                      <a:r>
                        <a:rPr lang="en-US" sz="1200" dirty="0">
                          <a:solidFill>
                            <a:srgbClr val="000000"/>
                          </a:solidFill>
                        </a:rPr>
                        <a:t>Do not manually remove the placenta</a:t>
                      </a:r>
                      <a:pPr indent="0" marL="0">
                        <a:buNone/>
                      </a:pPr>
                      <a:r>
                        <a:rPr lang="en-US" sz="1200" dirty="0">
                          <a:solidFill>
                            <a:srgbClr val="000000"/>
                          </a:solidFill>
                        </a:rPr>
                        <a:t> — it damages caruncles, causes bacteraemia, and </a:t>
                      </a:r>
                      <a:pPr indent="0" marL="0">
                        <a:buNone/>
                      </a:pPr>
                      <a:r>
                        <a:rPr lang="en-US" sz="1200" dirty="0">
                          <a:solidFill>
                            <a:srgbClr val="000000"/>
                          </a:solidFill>
                        </a:rPr>
                        <a:t>increases metritis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 Trim hanging membranes to prevent contamination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DO NOT: Do not routinely infuse intrauterine antibiotics or irritants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GO: </a:t>
                      </a:r>
                      <a:pPr indent="0" marL="0">
                        <a:buNone/>
                      </a:pPr>
                      <a:r>
                        <a:rPr lang="en-US" sz="1200" dirty="0">
                          <a:solidFill>
                            <a:srgbClr val="000000"/>
                          </a:solidFill>
                        </a:rPr>
                        <a:t>Monitor rectal temperature daily for 10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dirty="0">
                          <a:solidFill>
                            <a:srgbClr val="000000"/>
                          </a:solidFill>
                        </a:rPr>
                        <a:t>DO NOT: Do not treat every RP with systemic antibiotics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GO: </a:t>
                      </a:r>
                      <a:pPr indent="0" marL="0">
                        <a:buNone/>
                      </a:pPr>
                      <a:r>
                        <a:rPr lang="en-US" sz="1200" dirty="0">
                          <a:solidFill>
                            <a:srgbClr val="000000"/>
                          </a:solidFill>
                        </a:rPr>
                        <a:t>Systemic antibiotics (veterinary) only if she is febrile / systemically ill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DO NOT: Do not ignore her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GO: Support calcium and energy; ensure intake and water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566928" y="3995801"/>
            <a:ext cx="11057839" cy="626872"/>
          </a:xfrm>
          <a:prstGeom prst="rect">
            <a:avLst/>
          </a:prstGeom>
          <a:noFill/>
          <a:ln/>
        </p:spPr>
        <p:txBody>
          <a:bodyPr wrap="square" lIns="0" tIns="0" rIns="0" bIns="0" rtlCol="0" anchor="t"/>
          <a:lstStyle/>
          <a:p>
            <a:pPr indent="0" marL="0">
              <a:buNone/>
            </a:pPr>
            <a:r>
              <a:rPr lang="en-US" dirty="0">
                <a:solidFill>
                  <a:srgbClr val="000000"/>
                </a:solidFill>
              </a:rPr>
              <a:t>Prevention:</a:t>
            </a:r>
            <a:pPr indent="0" marL="0">
              <a:buNone/>
            </a:pPr>
            <a:r>
              <a:rPr lang="en-US" dirty="0">
                <a:solidFill>
                  <a:srgbClr val="000000"/>
                </a:solidFill>
              </a:rPr>
              <a:t> DCAD/hypocalcaemia control · </a:t>
            </a:r>
            <a:pPr indent="0" marL="0">
              <a:buNone/>
            </a:pPr>
            <a:r>
              <a:rPr lang="en-US" dirty="0">
                <a:solidFill>
                  <a:srgbClr val="000000"/>
                </a:solidFill>
              </a:rPr>
              <a:t>selenium and vitamin E supplementation</a:t>
            </a:r>
            <a:pPr indent="0" marL="0">
              <a:buNone/>
            </a:pPr>
            <a:r>
              <a:rPr lang="en-US" dirty="0">
                <a:solidFill>
                  <a:srgbClr val="000000"/>
                </a:solidFill>
              </a:rPr>
              <a:t> (essential in Se-deficient regions) · vitamin A/E · avoid dystocia · control heat stress · correct BCS · </a:t>
            </a:r>
            <a:pPr indent="0" marL="0">
              <a:buNone/>
            </a:pPr>
            <a:r>
              <a:rPr lang="en-US" dirty="0">
                <a:solidFill>
                  <a:srgbClr val="000000"/>
                </a:solidFill>
              </a:rPr>
              <a:t>clean, dry, individual calving area</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Metritis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S36   |   37</a:t>
            </a:r>
            <a:endParaRPr lang="en-US" sz="9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946180"/>
                <a:gridCol w="4953912"/>
                <a:gridCol w="4157748"/>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Puerperal metritis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Clinical metritis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Timing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21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21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Uterus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Enlarged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Enlarged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Discharge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Fetid, watery, red-brown ("chocolate")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Same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Systemic signs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Fever ≥ 39.5 °C, dull, off feed, milk drop</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Absent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Treatment (veterinary)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Systemic antibiotic (e.g. ceftiofur per label)</a:t>
                      </a:r>
                      <a:pPr indent="0" marL="0">
                        <a:buNone/>
                      </a:pPr>
                      <a:r>
                        <a:rPr lang="en-US" sz="1200" dirty="0">
                          <a:solidFill>
                            <a:srgbClr val="000000"/>
                          </a:solidFill>
                        </a:rPr>
                        <a:t> + NSAID + fluids/supportive care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Often monitored; treat per veterinary judgement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4187825"/>
            <a:ext cx="11057839" cy="858012"/>
          </a:xfrm>
          <a:prstGeom prst="rect">
            <a:avLst/>
          </a:prstGeom>
          <a:noFill/>
          <a:ln/>
        </p:spPr>
        <p:txBody>
          <a:bodyPr wrap="square" lIns="0" tIns="0" rIns="0" bIns="0" rtlCol="0" anchor="t"/>
          <a:lstStyle/>
          <a:p>
            <a:pPr indent="0" marL="0">
              <a:buNone/>
            </a:pPr>
            <a:r>
              <a:rPr lang="en-US" dirty="0">
                <a:solidFill>
                  <a:srgbClr val="000000"/>
                </a:solidFill>
              </a:rPr>
              <a:t>Pathogens:</a:t>
            </a:r>
            <a:pPr indent="0" marL="0">
              <a:buNone/>
            </a:pPr>
            <a:r>
              <a:rPr lang="en-US" dirty="0">
                <a:solidFill>
                  <a:srgbClr val="000000"/>
                </a:solidFill>
              </a:rPr>
              <a:t> </a:t>
            </a:r>
            <a:pPr indent="0" marL="0">
              <a:buNone/>
            </a:pPr>
            <a:r>
              <a:rPr lang="en-US" dirty="0">
                <a:solidFill>
                  <a:srgbClr val="000000"/>
                </a:solidFill>
              </a:rPr>
              <a:t>Escherichia coli</a:t>
            </a:r>
            <a:pPr indent="0" marL="0">
              <a:buNone/>
            </a:pPr>
            <a:r>
              <a:rPr lang="en-US" dirty="0">
                <a:solidFill>
                  <a:srgbClr val="000000"/>
                </a:solidFill>
              </a:rPr>
              <a:t> (early) → *</a:t>
            </a:r>
            <a:pPr indent="0" marL="0">
              <a:buNone/>
            </a:pPr>
            <a:r>
              <a:rPr lang="en-US" dirty="0">
                <a:solidFill>
                  <a:srgbClr val="000000"/>
                </a:solidFill>
              </a:rPr>
              <a:t>Trueperella pyogenes</a:t>
            </a:r>
            <a:pPr indent="0" marL="0">
              <a:buNone/>
            </a:pPr>
            <a:r>
              <a:rPr lang="en-US" dirty="0">
                <a:solidFill>
                  <a:srgbClr val="000000"/>
                </a:solidFill>
              </a:rPr>
              <a:t> + </a:t>
            </a:r>
            <a:pPr indent="0" marL="0">
              <a:buNone/>
            </a:pPr>
            <a:r>
              <a:rPr lang="en-US" dirty="0">
                <a:solidFill>
                  <a:srgbClr val="000000"/>
                </a:solidFill>
              </a:rPr>
              <a:t>Fusobacterium necrophorum</a:t>
            </a:r>
            <a:pPr indent="0" marL="0">
              <a:buNone/>
            </a:pPr>
            <a:r>
              <a:rPr lang="en-US" dirty="0">
                <a:solidFill>
                  <a:srgbClr val="000000"/>
                </a:solidFill>
              </a:rPr>
              <a:t> + </a:t>
            </a:r>
            <a:pPr indent="0" marL="0">
              <a:buNone/>
            </a:pPr>
            <a:r>
              <a:rPr lang="en-US" dirty="0">
                <a:solidFill>
                  <a:srgbClr val="000000"/>
                </a:solidFill>
              </a:rPr>
              <a:t>Prevotella</a:t>
            </a:r>
            <a:pPr indent="0" marL="0">
              <a:buNone/>
            </a:pPr>
            <a:r>
              <a:rPr lang="en-US" dirty="0">
                <a:solidFill>
                  <a:srgbClr val="000000"/>
                </a:solidFill>
              </a:rPr>
              <a:t> (synergistic; this combination causes the damage) </a:t>
            </a:r>
            <a:pPr indent="0" marL="0">
              <a:buNone/>
            </a:pPr>
            <a:r>
              <a:rPr lang="en-US" dirty="0">
                <a:solidFill>
                  <a:srgbClr val="000000"/>
                </a:solidFill>
              </a:rPr>
              <a:t>Epidemiology:</a:t>
            </a:r>
            <a:pPr indent="0" marL="0">
              <a:buNone/>
            </a:pPr>
            <a:r>
              <a:rPr lang="en-US" dirty="0">
                <a:solidFill>
                  <a:srgbClr val="000000"/>
                </a:solidFill>
              </a:rPr>
              <a:t> ~</a:t>
            </a:r>
            <a:pPr indent="0" marL="0">
              <a:buNone/>
            </a:pPr>
            <a:r>
              <a:rPr lang="en-US" dirty="0">
                <a:solidFill>
                  <a:srgbClr val="000000"/>
                </a:solidFill>
              </a:rPr>
              <a:t>10–20%</a:t>
            </a:r>
            <a:pPr indent="0" marL="0">
              <a:buNone/>
            </a:pPr>
            <a:r>
              <a:rPr lang="en-US" dirty="0">
                <a:solidFill>
                  <a:srgbClr val="000000"/>
                </a:solidFill>
              </a:rPr>
              <a:t> of calvings; higher after RP, dystocia, twins, stillbirth </a:t>
            </a:r>
            <a:pPr indent="0" marL="0">
              <a:buNone/>
            </a:pPr>
            <a:r>
              <a:rPr lang="en-US" dirty="0">
                <a:solidFill>
                  <a:srgbClr val="000000"/>
                </a:solidFill>
              </a:rPr>
              <a:t>(published ranges)*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Endometritis — clinical and subclinical</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S37   |   38</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815466"/>
                <a:gridCol w="4621187"/>
                <a:gridCol w="4621187"/>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Clinical endometritis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Subclinical endometritis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Timing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&gt; 21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21–33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Signs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Purulent (&gt;50% pus) discharge</a:t>
                      </a:r>
                      <a:pPr indent="0" marL="0">
                        <a:buNone/>
                      </a:pPr>
                      <a:r>
                        <a:rPr lang="en-US" sz="1200" dirty="0">
                          <a:solidFill>
                            <a:srgbClr val="000000"/>
                          </a:solidFill>
                        </a:rPr>
                        <a:t>, or mucopurulent after 26 DIM. </a:t>
                      </a:r>
                      <a:pPr indent="0" marL="0">
                        <a:buNone/>
                      </a:pPr>
                      <a:r>
                        <a:rPr lang="en-US" sz="1200" dirty="0">
                          <a:solidFill>
                            <a:srgbClr val="000000"/>
                          </a:solidFill>
                        </a:rPr>
                        <a:t>No systemic illness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No visible discharge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Diagnosis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Vaginoscopy or Metricheck device</a:t>
                      </a:r>
                      <a:pPr indent="0" marL="0">
                        <a:buNone/>
                      </a:pPr>
                      <a:r>
                        <a:rPr lang="en-US" sz="1200" dirty="0">
                          <a:solidFill>
                            <a:srgbClr val="000000"/>
                          </a:solidFill>
                        </a:rPr>
                        <a:t>; vaginal mucus scoring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Endometrial cytology (cytobrush)</a:t>
                      </a:r>
                      <a:pPr indent="0" marL="0">
                        <a:buNone/>
                      </a:pPr>
                      <a:r>
                        <a:rPr lang="en-US" sz="1200" dirty="0">
                          <a:solidFill>
                            <a:srgbClr val="000000"/>
                          </a:solidFill>
                        </a:rPr>
                        <a:t> — elevated </a:t>
                      </a:r>
                      <a:pPr indent="0" marL="0">
                        <a:buNone/>
                      </a:pPr>
                      <a:r>
                        <a:rPr lang="en-US" sz="1200" dirty="0">
                          <a:solidFill>
                            <a:srgbClr val="000000"/>
                          </a:solidFill>
                        </a:rPr>
                        <a:t>PMN %</a:t>
                      </a:r>
                      <a:pPr indent="0" marL="0">
                        <a:buNone/>
                      </a:pPr>
                      <a:r>
                        <a:rPr lang="en-US" sz="1200" dirty="0">
                          <a:solidFill>
                            <a:srgbClr val="000000"/>
                          </a:solidFill>
                        </a:rPr>
                        <a:t> (thresholds ~≥5–10% at 21–33 DIM, criteria vary)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Prevalence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t>
                      </a:r>
                      <a:pPr indent="0" marL="0">
                        <a:buNone/>
                      </a:pPr>
                      <a:r>
                        <a:rPr lang="en-US" sz="1200" dirty="0">
                          <a:solidFill>
                            <a:srgbClr val="000000"/>
                          </a:solidFill>
                        </a:rPr>
                        <a:t>10–20%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t>
                      </a:r>
                      <a:pPr indent="0" marL="0">
                        <a:buNone/>
                      </a:pPr>
                      <a:r>
                        <a:rPr lang="en-US" sz="1200" dirty="0">
                          <a:solidFill>
                            <a:srgbClr val="000000"/>
                          </a:solidFill>
                        </a:rPr>
                        <a:t>11–30%</a:t>
                      </a:r>
                      <a:pPr indent="0" marL="0">
                        <a:buNone/>
                      </a:pPr>
                      <a:r>
                        <a:rPr lang="en-US" sz="1200" dirty="0">
                          <a:solidFill>
                            <a:srgbClr val="000000"/>
                          </a:solidFill>
                        </a:rPr>
                        <a:t> </a:t>
                      </a:r>
                      <a:pPr indent="0" marL="0">
                        <a:buNone/>
                      </a:pPr>
                      <a:r>
                        <a:rPr lang="en-US" sz="1200" dirty="0">
                          <a:solidFill>
                            <a:srgbClr val="000000"/>
                          </a:solidFill>
                        </a:rPr>
                        <a:t>(published ranges)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Treatment (veterinary)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Intrauterine cephapirin</a:t>
                      </a:r>
                      <a:pPr indent="0" marL="0">
                        <a:buNone/>
                      </a:pPr>
                      <a:r>
                        <a:rPr lang="en-US" sz="1200" dirty="0">
                          <a:solidFill>
                            <a:srgbClr val="000000"/>
                          </a:solidFill>
                        </a:rPr>
                        <a:t> (where licensed), or </a:t>
                      </a:r>
                      <a:pPr indent="0" marL="0">
                        <a:buNone/>
                      </a:pPr>
                      <a:r>
                        <a:rPr lang="en-US" sz="1200" dirty="0">
                          <a:solidFill>
                            <a:srgbClr val="000000"/>
                          </a:solidFill>
                        </a:rPr>
                        <a:t>PGF2α if a CL is present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Often PGF2α-based; evidence varies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600575"/>
            <a:ext cx="11057839" cy="751459"/>
          </a:xfrm>
          <a:prstGeom prst="roundRect">
            <a:avLst>
              <a:gd name="adj" fmla="val 10951"/>
            </a:avLst>
          </a:prstGeom>
          <a:solidFill>
            <a:srgbClr val="E8F0E6"/>
          </a:solidFill>
          <a:ln w="9525">
            <a:solidFill>
              <a:srgbClr val="6FA368"/>
            </a:solidFill>
            <a:prstDash val="solid"/>
          </a:ln>
        </p:spPr>
      </p:sp>
      <p:sp>
        <p:nvSpPr>
          <p:cNvPr id="7" name="Text 4"/>
          <p:cNvSpPr/>
          <p:nvPr/>
        </p:nvSpPr>
        <p:spPr>
          <a:xfrm>
            <a:off x="786384" y="4765167"/>
            <a:ext cx="10618927" cy="422275"/>
          </a:xfrm>
          <a:prstGeom prst="rect">
            <a:avLst/>
          </a:prstGeom>
          <a:noFill/>
          <a:ln/>
        </p:spPr>
        <p:txBody>
          <a:bodyPr wrap="square" lIns="0" tIns="0" rIns="0" bIns="0" rtlCol="0" anchor="t"/>
          <a:lstStyle/>
          <a:p>
            <a:pPr indent="0" marL="0">
              <a:buNone/>
            </a:pPr>
            <a:r>
              <a:rPr lang="en-US" dirty="0">
                <a:solidFill>
                  <a:srgbClr val="000000"/>
                </a:solidFill>
              </a:rPr>
              <a:t>Both reduce conception rate and increase days open — subclinical endometritis is invisible without a test.</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Pyometra</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S38   |   39</a:t>
            </a:r>
            <a:endParaRPr lang="en-US" sz="950" dirty="0"/>
          </a:p>
        </p:txBody>
      </p:sp>
      <p:sp>
        <p:nvSpPr>
          <p:cNvPr id="5" name="Text 3"/>
          <p:cNvSpPr/>
          <p:nvPr/>
        </p:nvSpPr>
        <p:spPr>
          <a:xfrm>
            <a:off x="621792" y="1298448"/>
            <a:ext cx="11002975" cy="2367788"/>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Definition:</a:t>
            </a:r>
            <a:pPr indent="0" marL="0">
              <a:buNone/>
            </a:pPr>
            <a:r>
              <a:rPr lang="en-US" dirty="0">
                <a:solidFill>
                  <a:srgbClr val="000000"/>
                </a:solidFill>
              </a:rPr>
              <a:t> accumulation of </a:t>
            </a:r>
            <a:pPr indent="0" marL="0">
              <a:buNone/>
            </a:pPr>
            <a:r>
              <a:rPr lang="en-US" dirty="0">
                <a:solidFill>
                  <a:srgbClr val="000000"/>
                </a:solidFill>
              </a:rPr>
              <a:t>pus in the uterine lumen</a:t>
            </a:r>
            <a:pPr indent="0" marL="0">
              <a:buNone/>
            </a:pPr>
            <a:r>
              <a:rPr lang="en-US" dirty="0">
                <a:solidFill>
                  <a:srgbClr val="000000"/>
                </a:solidFill>
              </a:rPr>
              <a:t> with a </a:t>
            </a:r>
            <a:pPr indent="0" marL="0">
              <a:buNone/>
            </a:pPr>
            <a:r>
              <a:rPr lang="en-US" dirty="0">
                <a:solidFill>
                  <a:srgbClr val="000000"/>
                </a:solidFill>
              </a:rPr>
              <a:t>persistent corpus luteum</a:t>
            </a:r>
            <a:pPr indent="0" marL="0">
              <a:buNone/>
            </a:pPr>
            <a:r>
              <a:rPr lang="en-US" dirty="0">
                <a:solidFill>
                  <a:srgbClr val="000000"/>
                </a:solidFill>
              </a:rPr>
              <a:t> and a </a:t>
            </a:r>
            <a:pPr indent="0" marL="0">
              <a:buNone/>
            </a:pPr>
            <a:r>
              <a:rPr lang="en-US" dirty="0">
                <a:solidFill>
                  <a:srgbClr val="000000"/>
                </a:solidFill>
              </a:rPr>
              <a:t>closed cervix</a:t>
            </a:r>
            <a:endParaRPr lang="en-US" dirty="0"/>
          </a:p>
          <a:p>
            <a:pPr marL="342900" indent="-342900">
              <a:spcAft>
                <a:spcPts val="500"/>
              </a:spcAft>
              <a:buSzPct val="100000"/>
              <a:buChar char="•"/>
            </a:pPr>
            <a:r>
              <a:rPr lang="en-US" dirty="0">
                <a:solidFill>
                  <a:srgbClr val="000000"/>
                </a:solidFill>
              </a:rPr>
              <a:t>Typically </a:t>
            </a:r>
            <a:pPr indent="0" marL="0">
              <a:buNone/>
            </a:pPr>
            <a:r>
              <a:rPr lang="en-US" dirty="0">
                <a:solidFill>
                  <a:srgbClr val="000000"/>
                </a:solidFill>
              </a:rPr>
              <a:t>after 21 DIM</a:t>
            </a:r>
            <a:pPr indent="0" marL="0">
              <a:buNone/>
            </a:pPr>
            <a:r>
              <a:rPr lang="en-US" dirty="0">
                <a:solidFill>
                  <a:srgbClr val="000000"/>
                </a:solidFill>
              </a:rPr>
              <a:t>, often following metritis/endometritis; sometimes after early embryonic death</a:t>
            </a:r>
            <a:endParaRPr lang="en-US" dirty="0"/>
          </a:p>
          <a:p>
            <a:pPr marL="342900" indent="-342900">
              <a:spcAft>
                <a:spcPts val="500"/>
              </a:spcAft>
              <a:buSzPct val="100000"/>
              <a:buChar char="•"/>
            </a:pPr>
            <a:r>
              <a:rPr lang="en-US" dirty="0">
                <a:solidFill>
                  <a:srgbClr val="000000"/>
                </a:solidFill>
              </a:rPr>
              <a:t>The cow is NOT systemically ill</a:t>
            </a:r>
            <a:pPr indent="0" marL="0">
              <a:buNone/>
            </a:pPr>
            <a:r>
              <a:rPr lang="en-US" dirty="0">
                <a:solidFill>
                  <a:srgbClr val="000000"/>
                </a:solidFill>
              </a:rPr>
              <a:t> — she simply does not return to estrus</a:t>
            </a:r>
            <a:endParaRPr lang="en-US" dirty="0"/>
          </a:p>
          <a:p>
            <a:pPr marL="342900" indent="-342900">
              <a:spcAft>
                <a:spcPts val="500"/>
              </a:spcAft>
              <a:buSzPct val="100000"/>
              <a:buChar char="•"/>
            </a:pPr>
            <a:r>
              <a:rPr lang="en-US" dirty="0">
                <a:solidFill>
                  <a:srgbClr val="000000"/>
                </a:solidFill>
              </a:rPr>
              <a:t>Danger: an enlarged, fluid-filled uterus with a CL can be mistaken for PREGNANCY on palpation</a:t>
            </a:r>
            <a:pPr indent="0" marL="0">
              <a:buNone/>
            </a:pPr>
            <a:r>
              <a:rPr lang="en-US" dirty="0">
                <a:solidFill>
                  <a:srgbClr val="000000"/>
                </a:solidFill>
              </a:rPr>
              <a:t> — ultrasound distinguishes them (pus is echogenic/"snowstorm"; no fetus, no placentomes, no heartbeat)</a:t>
            </a:r>
            <a:endParaRPr lang="en-US" dirty="0"/>
          </a:p>
          <a:p>
            <a:pPr marL="342900" indent="-342900">
              <a:spcAft>
                <a:spcPts val="500"/>
              </a:spcAft>
              <a:buSzPct val="100000"/>
              <a:buChar char="•"/>
            </a:pPr>
            <a:r>
              <a:rPr lang="en-US" dirty="0">
                <a:solidFill>
                  <a:srgbClr val="000000"/>
                </a:solidFill>
              </a:rPr>
              <a:t>Treatment (veterinary): PGF2α</a:t>
            </a:r>
            <a:pPr indent="0" marL="0">
              <a:buNone/>
            </a:pPr>
            <a:r>
              <a:rPr lang="en-US" dirty="0">
                <a:solidFill>
                  <a:srgbClr val="000000"/>
                </a:solidFill>
              </a:rPr>
              <a:t> → luteolysis → cervix relaxes → drainage. Repeat in 10–14 days if needed.</a:t>
            </a:r>
            <a:endParaRPr lang="en-US" dirty="0"/>
          </a:p>
          <a:p>
            <a:pPr marL="342900" indent="-342900">
              <a:spcAft>
                <a:spcPts val="500"/>
              </a:spcAft>
              <a:buSzPct val="100000"/>
              <a:buChar char="•"/>
            </a:pPr>
            <a:r>
              <a:rPr lang="en-US" dirty="0">
                <a:solidFill>
                  <a:srgbClr val="000000"/>
                </a:solidFill>
              </a:rPr>
              <a:t>WARNING: </a:t>
            </a:r>
            <a:pPr indent="0" marL="0">
              <a:buNone/>
            </a:pPr>
            <a:r>
              <a:rPr lang="en-US" dirty="0">
                <a:solidFill>
                  <a:srgbClr val="000000"/>
                </a:solidFill>
              </a:rPr>
              <a:t>Confirm she is NOT pregnant before giving PGF2α.</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Uterine disease — prevention programme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S39   |   40</a:t>
            </a:r>
            <a:endParaRPr lang="en-US" sz="9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675430"/>
                <a:gridCol w="9382409"/>
              </a:tblGrid>
              <a:tr h="398399">
                <a:tc>
                  <a:txBody>
                    <a:bodyPr/>
                    <a:lstStyle/>
                    <a:p>
                      <a:pPr indent="0" marL="0">
                        <a:buNone/>
                      </a:pPr>
                      <a:r>
                        <a:rPr lang="en-US" sz="1200" dirty="0">
                          <a:solidFill>
                            <a:srgbClr val="000000"/>
                          </a:solidFill>
                        </a:rPr>
                        <a:t>Time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Measure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Dry period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BCS 3.0–3.5 · controlled energy · </a:t>
                      </a:r>
                      <a:pPr indent="0" marL="0">
                        <a:buNone/>
                      </a:pPr>
                      <a:r>
                        <a:rPr lang="en-US" sz="1200" dirty="0">
                          <a:solidFill>
                            <a:srgbClr val="000000"/>
                          </a:solidFill>
                        </a:rPr>
                        <a:t>DCAD</a:t>
                      </a:r>
                      <a:pPr indent="0" marL="0">
                        <a:buNone/>
                      </a:pPr>
                      <a:r>
                        <a:rPr lang="en-US" sz="1200" dirty="0">
                          <a:solidFill>
                            <a:srgbClr val="000000"/>
                          </a:solidFill>
                        </a:rPr>
                        <a:t> · Se/vitamin E · </a:t>
                      </a:r>
                      <a:pPr indent="0" marL="0">
                        <a:buNone/>
                      </a:pPr>
                      <a:r>
                        <a:rPr lang="en-US" sz="1200" dirty="0">
                          <a:solidFill>
                            <a:srgbClr val="000000"/>
                          </a:solidFill>
                        </a:rPr>
                        <a:t>no heat stress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dirty="0">
                          <a:solidFill>
                            <a:srgbClr val="000000"/>
                          </a:solidFill>
                        </a:rPr>
                        <a:t>Calving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Clean, dry, individual calving pen, cleaned between calvings</a:t>
                      </a:r>
                      <a:pPr indent="0" marL="0">
                        <a:buNone/>
                      </a:pPr>
                      <a:r>
                        <a:rPr lang="en-US" sz="1200" dirty="0">
                          <a:solidFill>
                            <a:srgbClr val="000000"/>
                          </a:solidFill>
                        </a:rPr>
                        <a:t> · </a:t>
                      </a:r>
                      <a:pPr indent="0" marL="0">
                        <a:buNone/>
                      </a:pPr>
                      <a:r>
                        <a:rPr lang="en-US" sz="1200" dirty="0">
                          <a:solidFill>
                            <a:srgbClr val="000000"/>
                          </a:solidFill>
                        </a:rPr>
                        <a:t>hygiene during assistance</a:t>
                      </a:r>
                      <a:pPr indent="0" marL="0">
                        <a:buNone/>
                      </a:pPr>
                      <a:r>
                        <a:rPr lang="en-US" sz="1200" dirty="0">
                          <a:solidFill>
                            <a:srgbClr val="000000"/>
                          </a:solidFill>
                        </a:rPr>
                        <a:t> (wash, long sleeves, plenty of lubricant, disinfected equipment) · minimal, correct traction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0–10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Daily rectal temperature</a:t>
                      </a:r>
                      <a:pPr indent="0" marL="0">
                        <a:buNone/>
                      </a:pPr>
                      <a:r>
                        <a:rPr lang="en-US" sz="1200" dirty="0">
                          <a:solidFill>
                            <a:srgbClr val="000000"/>
                          </a:solidFill>
                        </a:rPr>
                        <a:t> · observe discharge and appetite · calcium and energy support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21–35 DIM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Metricheck / vaginal mucus scoring of every cow</a:t>
                      </a:r>
                      <a:pPr indent="0" marL="0">
                        <a:buNone/>
                      </a:pPr>
                      <a:r>
                        <a:rPr lang="en-US" sz="1200" dirty="0">
                          <a:solidFill>
                            <a:srgbClr val="000000"/>
                          </a:solidFill>
                        </a:rPr>
                        <a:t>; treat clinical endometritis before first service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Always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Records: RP, metritis, endometritis rates by month → </a:t>
                      </a:r>
                      <a:pPr indent="0" marL="0">
                        <a:buNone/>
                      </a:pPr>
                      <a:r>
                        <a:rPr lang="en-US" sz="1200" dirty="0">
                          <a:solidFill>
                            <a:srgbClr val="000000"/>
                          </a:solidFill>
                        </a:rPr>
                        <a:t>a rising rate is a management signal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Heat stress — the multiplier on every disease above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S40   |   41</a:t>
            </a:r>
            <a:endParaRPr lang="en-US" sz="950" dirty="0"/>
          </a:p>
        </p:txBody>
      </p:sp>
      <p:sp>
        <p:nvSpPr>
          <p:cNvPr id="5" name="Text 3"/>
          <p:cNvSpPr/>
          <p:nvPr/>
        </p:nvSpPr>
        <p:spPr>
          <a:xfrm>
            <a:off x="621792" y="1298448"/>
            <a:ext cx="11002975" cy="1834896"/>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THI ≥ 72</a:t>
            </a:r>
            <a:pPr indent="0" marL="0">
              <a:buNone/>
            </a:pPr>
            <a:r>
              <a:rPr lang="en-US" dirty="0">
                <a:solidFill>
                  <a:srgbClr val="000000"/>
                </a:solidFill>
              </a:rPr>
              <a:t> production losses begin; </a:t>
            </a:r>
            <a:pPr indent="0" marL="0">
              <a:buNone/>
            </a:pPr>
            <a:r>
              <a:rPr lang="en-US" dirty="0">
                <a:solidFill>
                  <a:srgbClr val="000000"/>
                </a:solidFill>
              </a:rPr>
              <a:t>THI ≥ 78</a:t>
            </a:r>
            <a:pPr indent="0" marL="0">
              <a:buNone/>
            </a:pPr>
            <a:r>
              <a:rPr lang="en-US" dirty="0">
                <a:solidFill>
                  <a:srgbClr val="000000"/>
                </a:solidFill>
              </a:rPr>
              <a:t> severe reproductive effects </a:t>
            </a:r>
            <a:pPr indent="0" marL="0">
              <a:buNone/>
            </a:pPr>
            <a:r>
              <a:rPr lang="en-US" dirty="0">
                <a:solidFill>
                  <a:srgbClr val="000000"/>
                </a:solidFill>
              </a:rPr>
              <a:t>(published thresholds)</a:t>
            </a:r>
            <a:endParaRPr lang="en-US" dirty="0"/>
          </a:p>
          <a:p>
            <a:pPr marL="342900" indent="-342900">
              <a:spcAft>
                <a:spcPts val="500"/>
              </a:spcAft>
              <a:buSzPct val="100000"/>
              <a:buChar char="•"/>
            </a:pPr>
            <a:r>
              <a:rPr lang="en-US" dirty="0">
                <a:solidFill>
                  <a:srgbClr val="000000"/>
                </a:solidFill>
              </a:rPr>
              <a:t>Effects: </a:t>
            </a:r>
            <a:pPr indent="0" marL="0">
              <a:buNone/>
            </a:pPr>
            <a:r>
              <a:rPr lang="en-US" dirty="0">
                <a:solidFill>
                  <a:srgbClr val="000000"/>
                </a:solidFill>
              </a:rPr>
              <a:t>DMI ↓ → NEB ↑ → ketosis ↑</a:t>
            </a:r>
            <a:pPr indent="0" marL="0">
              <a:buNone/>
            </a:pPr>
            <a:r>
              <a:rPr lang="en-US" dirty="0">
                <a:solidFill>
                  <a:srgbClr val="000000"/>
                </a:solidFill>
              </a:rPr>
              <a:t> · rumen buffering ↓ (less rumination, more panting → respiratory alkalosis then compensatory bicarbonate loss in urine) → </a:t>
            </a:r>
            <a:pPr indent="0" marL="0">
              <a:buNone/>
            </a:pPr>
            <a:r>
              <a:rPr lang="en-US" dirty="0">
                <a:solidFill>
                  <a:srgbClr val="000000"/>
                </a:solidFill>
              </a:rPr>
              <a:t>SARA ↑</a:t>
            </a:r>
            <a:pPr indent="0" marL="0">
              <a:buNone/>
            </a:pPr>
            <a:r>
              <a:rPr lang="en-US" dirty="0">
                <a:solidFill>
                  <a:srgbClr val="000000"/>
                </a:solidFill>
              </a:rPr>
              <a:t> · immune suppression → </a:t>
            </a:r>
            <a:pPr indent="0" marL="0">
              <a:buNone/>
            </a:pPr>
            <a:r>
              <a:rPr lang="en-US" dirty="0">
                <a:solidFill>
                  <a:srgbClr val="000000"/>
                </a:solidFill>
              </a:rPr>
              <a:t>metritis ↑</a:t>
            </a:r>
            <a:pPr indent="0" marL="0">
              <a:buNone/>
            </a:pPr>
            <a:r>
              <a:rPr lang="en-US" dirty="0">
                <a:solidFill>
                  <a:srgbClr val="000000"/>
                </a:solidFill>
              </a:rPr>
              <a:t> · </a:t>
            </a:r>
            <a:pPr indent="0" marL="0">
              <a:buNone/>
            </a:pPr>
            <a:r>
              <a:rPr lang="en-US" dirty="0">
                <a:solidFill>
                  <a:srgbClr val="000000"/>
                </a:solidFill>
              </a:rPr>
              <a:t>estrus shorter and weaker</a:t>
            </a:r>
            <a:pPr indent="0" marL="0">
              <a:buNone/>
            </a:pPr>
            <a:r>
              <a:rPr lang="en-US" dirty="0">
                <a:solidFill>
                  <a:srgbClr val="000000"/>
                </a:solidFill>
              </a:rPr>
              <a:t> · </a:t>
            </a:r>
            <a:pPr indent="0" marL="0">
              <a:buNone/>
            </a:pPr>
            <a:r>
              <a:rPr lang="en-US" dirty="0">
                <a:solidFill>
                  <a:srgbClr val="000000"/>
                </a:solidFill>
              </a:rPr>
              <a:t>oocyte damaged for 40–60 days</a:t>
            </a:r>
            <a:pPr indent="0" marL="0">
              <a:buNone/>
            </a:pPr>
            <a:r>
              <a:rPr lang="en-US" dirty="0">
                <a:solidFill>
                  <a:srgbClr val="000000"/>
                </a:solidFill>
              </a:rPr>
              <a:t> · </a:t>
            </a:r>
            <a:pPr indent="0" marL="0">
              <a:buNone/>
            </a:pPr>
            <a:r>
              <a:rPr lang="en-US" dirty="0">
                <a:solidFill>
                  <a:srgbClr val="000000"/>
                </a:solidFill>
              </a:rPr>
              <a:t>early embryonic loss ↑</a:t>
            </a:r>
            <a:pPr indent="0" marL="0">
              <a:buNone/>
            </a:pPr>
            <a:r>
              <a:rPr lang="en-US" dirty="0">
                <a:solidFill>
                  <a:srgbClr val="000000"/>
                </a:solidFill>
              </a:rPr>
              <a:t> · birth weight ↓</a:t>
            </a:r>
            <a:endParaRPr lang="en-US" dirty="0"/>
          </a:p>
          <a:p>
            <a:pPr marL="342900" indent="-342900">
              <a:spcAft>
                <a:spcPts val="500"/>
              </a:spcAft>
              <a:buSzPct val="100000"/>
              <a:buChar char="•"/>
            </a:pPr>
            <a:r>
              <a:rPr lang="en-US" dirty="0">
                <a:solidFill>
                  <a:srgbClr val="000000"/>
                </a:solidFill>
              </a:rPr>
              <a:t>Abatement in order of return:</a:t>
            </a:r>
            <a:pPr indent="0" marL="0">
              <a:buNone/>
            </a:pPr>
            <a:r>
              <a:rPr lang="en-US" dirty="0">
                <a:solidFill>
                  <a:srgbClr val="000000"/>
                </a:solidFill>
              </a:rPr>
              <a:t> </a:t>
            </a:r>
            <a:pPr indent="0" marL="0">
              <a:buNone/>
            </a:pPr>
            <a:r>
              <a:rPr lang="en-US" dirty="0">
                <a:solidFill>
                  <a:srgbClr val="000000"/>
                </a:solidFill>
              </a:rPr>
              <a:t>water → shade → air movement (fans) → sprinkler + fan at the feed line → do all handling before 09:00</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Calf health — protecting the genetic investment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S41   |   42</a:t>
            </a:r>
            <a:endParaRPr lang="en-US" sz="950" dirty="0"/>
          </a:p>
        </p:txBody>
      </p:sp>
      <p:sp>
        <p:nvSpPr>
          <p:cNvPr id="5" name="Text 3"/>
          <p:cNvSpPr/>
          <p:nvPr/>
        </p:nvSpPr>
        <p:spPr>
          <a:xfrm>
            <a:off x="621792" y="1298448"/>
            <a:ext cx="11002975" cy="180492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Colostrum: 3–4 L of high-quality colostrum within 2 hours; total ~10–12% of body weight in 24 h</a:t>
            </a:r>
            <a:endParaRPr lang="en-US" dirty="0"/>
          </a:p>
          <a:p>
            <a:pPr marL="342900" indent="-342900">
              <a:spcAft>
                <a:spcPts val="500"/>
              </a:spcAft>
              <a:buSzPct val="100000"/>
              <a:buChar char="•"/>
            </a:pPr>
            <a:r>
              <a:rPr lang="en-US" dirty="0">
                <a:solidFill>
                  <a:srgbClr val="000000"/>
                </a:solidFill>
              </a:rPr>
              <a:t>Failure of passive transfer is the </a:t>
            </a:r>
            <a:pPr indent="0" marL="0">
              <a:buNone/>
            </a:pPr>
            <a:r>
              <a:rPr lang="en-US" dirty="0">
                <a:solidFill>
                  <a:srgbClr val="000000"/>
                </a:solidFill>
              </a:rPr>
              <a:t>single biggest determinant</a:t>
            </a:r>
            <a:pPr indent="0" marL="0">
              <a:buNone/>
            </a:pPr>
            <a:r>
              <a:rPr lang="en-US" dirty="0">
                <a:solidFill>
                  <a:srgbClr val="000000"/>
                </a:solidFill>
              </a:rPr>
              <a:t> of calf survival and lifetime performance</a:t>
            </a:r>
            <a:endParaRPr lang="en-US" dirty="0"/>
          </a:p>
          <a:p>
            <a:pPr marL="342900" indent="-342900">
              <a:spcAft>
                <a:spcPts val="500"/>
              </a:spcAft>
              <a:buSzPct val="100000"/>
              <a:buChar char="•"/>
            </a:pPr>
            <a:r>
              <a:rPr lang="en-US" dirty="0">
                <a:solidFill>
                  <a:srgbClr val="000000"/>
                </a:solidFill>
              </a:rPr>
              <a:t>Main killers: </a:t>
            </a:r>
            <a:pPr indent="0" marL="0">
              <a:buNone/>
            </a:pPr>
            <a:r>
              <a:rPr lang="en-US" dirty="0">
                <a:solidFill>
                  <a:srgbClr val="000000"/>
                </a:solidFill>
              </a:rPr>
              <a:t>diarrhoea (0–3 weeks)</a:t>
            </a:r>
            <a:pPr indent="0" marL="0">
              <a:buNone/>
            </a:pPr>
            <a:r>
              <a:rPr lang="en-US" dirty="0">
                <a:solidFill>
                  <a:srgbClr val="000000"/>
                </a:solidFill>
              </a:rPr>
              <a:t> and </a:t>
            </a:r>
            <a:pPr indent="0" marL="0">
              <a:buNone/>
            </a:pPr>
            <a:r>
              <a:rPr lang="en-US" dirty="0">
                <a:solidFill>
                  <a:srgbClr val="000000"/>
                </a:solidFill>
              </a:rPr>
              <a:t>pneumonia (3 weeks – 4 months)</a:t>
            </a:r>
            <a:endParaRPr lang="en-US" dirty="0"/>
          </a:p>
          <a:p>
            <a:pPr marL="342900" indent="-342900">
              <a:spcAft>
                <a:spcPts val="500"/>
              </a:spcAft>
              <a:buSzPct val="100000"/>
              <a:buChar char="•"/>
            </a:pPr>
            <a:r>
              <a:rPr lang="en-US" dirty="0">
                <a:solidFill>
                  <a:srgbClr val="000000"/>
                </a:solidFill>
              </a:rPr>
              <a:t>Housing: clean, dry, well ventilated, individual in early weeks; navel dipping with iodine/chlorhexidine</a:t>
            </a:r>
            <a:endParaRPr lang="en-US" dirty="0"/>
          </a:p>
          <a:p>
            <a:pPr marL="342900" indent="-342900">
              <a:spcAft>
                <a:spcPts val="500"/>
              </a:spcAft>
              <a:buSzPct val="100000"/>
              <a:buChar char="•"/>
            </a:pPr>
            <a:r>
              <a:rPr lang="en-US" dirty="0">
                <a:solidFill>
                  <a:srgbClr val="000000"/>
                </a:solidFill>
              </a:rPr>
              <a:t>Every ET calf is a </a:t>
            </a:r>
            <a:pPr indent="0" marL="0">
              <a:buNone/>
            </a:pPr>
            <a:r>
              <a:rPr lang="en-US" dirty="0">
                <a:solidFill>
                  <a:srgbClr val="000000"/>
                </a:solidFill>
              </a:rPr>
              <a:t>year of work and a laboratory</a:t>
            </a:r>
            <a:pPr indent="0" marL="0">
              <a:buNone/>
            </a:pPr>
            <a:r>
              <a:rPr lang="en-US" dirty="0">
                <a:solidFill>
                  <a:srgbClr val="000000"/>
                </a:solidFill>
              </a:rPr>
              <a:t> — losing one at three weeks loses the whole programme's value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You are a biosecurity risk</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S42   |   43</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9987726"/>
              </a:tblGrid>
              <a:tr h="398399">
                <a:tc>
                  <a:txBody>
                    <a:bodyPr/>
                    <a:lstStyle/>
                    <a:p>
                      <a:pPr indent="0" marL="0">
                        <a:buNone/>
                      </a:pPr>
                      <a:r>
                        <a:rPr lang="en-US" sz="1200" dirty="0">
                          <a:solidFill>
                            <a:srgbClr val="000000"/>
                          </a:solidFill>
                        </a:rPr>
                        <a: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Rule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New sleeve for every cow</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New sanitary sheath for every embryo transfer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Clean and disinfect boots and coveralls between farms</a:t>
                      </a:r>
                      <a:pPr indent="0" marL="0">
                        <a:buNone/>
                      </a:pPr>
                      <a:r>
                        <a:rPr lang="en-US" sz="1200" dirty="0">
                          <a:solidFill>
                            <a:srgbClr val="000000"/>
                          </a:solidFill>
                        </a:rPr>
                        <a:t> — carry a brush, water and disinfectant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Clean the AI/ET gun between animals; store in a closed clean case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Never carry manure, placenta or aborted material off a farm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Route: </a:t>
                      </a:r>
                      <a:pPr indent="0" marL="0">
                        <a:buNone/>
                      </a:pPr>
                      <a:r>
                        <a:rPr lang="en-US" sz="1200" dirty="0">
                          <a:solidFill>
                            <a:srgbClr val="000000"/>
                          </a:solidFill>
                        </a:rPr>
                        <a:t>healthy and young herds first, problem herds last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Gloves for all discharges</a:t>
                      </a:r>
                      <a:pPr indent="0" marL="0">
                        <a:buNone/>
                      </a:pPr>
                      <a:r>
                        <a:rPr lang="en-US" sz="1200" dirty="0">
                          <a:solidFill>
                            <a:srgbClr val="000000"/>
                          </a:solidFill>
                        </a:rPr>
                        <a:t> — </a:t>
                      </a:r>
                      <a:pPr indent="0" marL="0">
                        <a:buNone/>
                      </a:pPr>
                      <a:r>
                        <a:rPr lang="en-US" sz="1200" dirty="0">
                          <a:solidFill>
                            <a:srgbClr val="000000"/>
                          </a:solidFill>
                        </a:rPr>
                        <a:t>leptospirosis and brucellosis are zoonotic</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Record every farm visit</a:t>
                      </a:r>
                      <a:pPr indent="0" marL="0">
                        <a:buNone/>
                      </a:pPr>
                      <a:r>
                        <a:rPr lang="en-US" sz="1200" dirty="0">
                          <a:solidFill>
                            <a:srgbClr val="000000"/>
                          </a:solidFill>
                        </a:rPr>
                        <a:t> — if disease breaks out, your records protect you</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Photo quiz — 10 images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S43   |   44</a:t>
            </a:r>
            <a:endParaRPr lang="en-US" sz="950" dirty="0"/>
          </a:p>
        </p:txBody>
      </p:sp>
      <p:sp>
        <p:nvSpPr>
          <p:cNvPr id="5" name="Text 3"/>
          <p:cNvSpPr/>
          <p:nvPr/>
        </p:nvSpPr>
        <p:spPr>
          <a:xfrm>
            <a:off x="566928" y="1298448"/>
            <a:ext cx="11057839" cy="858012"/>
          </a:xfrm>
          <a:prstGeom prst="rect">
            <a:avLst/>
          </a:prstGeom>
          <a:noFill/>
          <a:ln/>
        </p:spPr>
        <p:txBody>
          <a:bodyPr wrap="square" lIns="0" tIns="0" rIns="0" bIns="0" rtlCol="0" anchor="t"/>
          <a:lstStyle/>
          <a:p>
            <a:pPr indent="0" marL="0">
              <a:buNone/>
            </a:pPr>
            <a:r>
              <a:rPr lang="en-US" dirty="0">
                <a:solidFill>
                  <a:srgbClr val="000000"/>
                </a:solidFill>
              </a:rPr>
              <a:t>Images to show, 30 seconds each: milk fever posture (S-curve) · retained placenta · metritis discharge · mastitic quarter and milk · manure with mucin casts and grain (SARA) · panting cow (heat stress) · BCS 2.0 vs BCS 3.25 · left flank ping location · normal Day-7 CL on ultrasound · scouring calf</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field decision card — REFER / POSTPONE / PROCEED</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S44   |   45</a:t>
            </a:r>
            <a:endParaRPr lang="en-US" sz="950" dirty="0"/>
          </a:p>
        </p:txBody>
      </p:sp>
      <p:sp>
        <p:nvSpPr>
          <p:cNvPr id="5" name="Text 3"/>
          <p:cNvSpPr/>
          <p:nvPr/>
        </p:nvSpPr>
        <p:spPr>
          <a:xfrm>
            <a:off x="566928" y="1298448"/>
            <a:ext cx="11057839" cy="1320292"/>
          </a:xfrm>
          <a:prstGeom prst="rect">
            <a:avLst/>
          </a:prstGeom>
          <a:noFill/>
          <a:ln/>
        </p:spPr>
        <p:txBody>
          <a:bodyPr wrap="square" lIns="0" tIns="0" rIns="0" bIns="0" rtlCol="0" anchor="t"/>
          <a:lstStyle/>
          <a:p>
            <a:pPr indent="0" marL="0">
              <a:buNone/>
            </a:pPr>
            <a:r>
              <a:rPr lang="en-US" dirty="0">
                <a:solidFill>
                  <a:srgbClr val="000000"/>
                </a:solidFill>
              </a:rPr>
              <a:t>STOP: CALL THE VETERINARIAN — do nothing reproductive today</a:t>
            </a:r>
            <a:pPr indent="0" marL="0">
              <a:buNone/>
            </a:pPr>
            <a:r>
              <a:rPr lang="en-US" dirty="0">
                <a:solidFill>
                  <a:srgbClr val="000000"/>
                </a:solidFill>
              </a:rPr>
              <a:t> Temperature ≥ 39.5 °C · fetid uterine discharge ≤21 DIM · down cow · severe lameness (score 4–5) · acute mastitis with systemic signs · abortion/stillbirth/abnormal membranes · suspected ovarian cyst &gt;25 mm · </a:t>
            </a:r>
            <a:pPr indent="0" marL="0">
              <a:buNone/>
            </a:pPr>
            <a:r>
              <a:rPr lang="en-US" dirty="0">
                <a:solidFill>
                  <a:srgbClr val="000000"/>
                </a:solidFill>
              </a:rPr>
              <a:t>left or right flank ping</a:t>
            </a:r>
            <a:pPr indent="0" marL="0">
              <a:buNone/>
            </a:pPr>
            <a:r>
              <a:rPr lang="en-US" dirty="0">
                <a:solidFill>
                  <a:srgbClr val="000000"/>
                </a:solidFill>
              </a:rPr>
              <a:t> · severe bloat · suspected volvulus (HR &gt;100) </a:t>
            </a:r>
            <a:pPr indent="0" marL="0">
              <a:buNone/>
            </a:pPr>
            <a:r>
              <a:rPr lang="en-US" dirty="0">
                <a:solidFill>
                  <a:srgbClr val="000000"/>
                </a:solidFill>
              </a:rPr>
              <a:t>WAIT: POSTPONE</a:t>
            </a:r>
            <a:pPr indent="0" marL="0">
              <a:buNone/>
            </a:pPr>
            <a:r>
              <a:rPr lang="en-US" dirty="0">
                <a:solidFill>
                  <a:srgbClr val="000000"/>
                </a:solidFill>
              </a:rPr>
              <a:t> BCS &lt; 2.75 · &lt;50 DIM · in antibiotic withdrawal · no recorded estrus (anovular → put on a P4 protocol) · </a:t>
            </a:r>
            <a:pPr indent="0" marL="0">
              <a:buNone/>
            </a:pPr>
            <a:r>
              <a:rPr lang="en-US" dirty="0">
                <a:solidFill>
                  <a:srgbClr val="000000"/>
                </a:solidFill>
              </a:rPr>
              <a:t>BHB ≥ 1.2 mmol/L</a:t>
            </a:r>
            <a:pPr indent="0" marL="0">
              <a:buNone/>
            </a:pPr>
            <a:r>
              <a:rPr lang="en-US" dirty="0">
                <a:solidFill>
                  <a:srgbClr val="000000"/>
                </a:solidFill>
              </a:rPr>
              <a:t> (treat ketosis first) </a:t>
            </a:r>
            <a:pPr indent="0" marL="0">
              <a:buNone/>
            </a:pPr>
            <a:r>
              <a:rPr lang="en-US" dirty="0">
                <a:solidFill>
                  <a:srgbClr val="000000"/>
                </a:solidFill>
              </a:rPr>
              <a:t>GO: PROCEED</a:t>
            </a:r>
            <a:pPr indent="0" marL="0">
              <a:buNone/>
            </a:pPr>
            <a:r>
              <a:rPr lang="en-US" dirty="0">
                <a:solidFill>
                  <a:srgbClr val="000000"/>
                </a:solidFill>
              </a:rPr>
              <a:t> None of the above </a:t>
            </a:r>
            <a:pPr indent="0" marL="0">
              <a:buNone/>
            </a:pPr>
            <a:r>
              <a:rPr lang="en-US" dirty="0">
                <a:solidFill>
                  <a:srgbClr val="000000"/>
                </a:solidFill>
              </a:rPr>
              <a:t>AND</a:t>
            </a:r>
            <a:pPr indent="0" marL="0">
              <a:buNone/>
            </a:pPr>
            <a:r>
              <a:rPr lang="en-US" dirty="0">
                <a:solidFill>
                  <a:srgbClr val="000000"/>
                </a:solidFill>
              </a:rPr>
              <a:t> (for ET) </a:t>
            </a:r>
            <a:pPr indent="0" marL="0">
              <a:buNone/>
            </a:pPr>
            <a:r>
              <a:rPr lang="en-US" dirty="0">
                <a:solidFill>
                  <a:srgbClr val="000000"/>
                </a:solidFill>
              </a:rPr>
              <a:t>Day-7 CL confirmed</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How this module connects back to Modules 1 and 2</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S45   |   46</a:t>
            </a:r>
            <a:endParaRPr lang="en-US" sz="950" dirty="0"/>
          </a:p>
        </p:txBody>
      </p:sp>
      <p:sp>
        <p:nvSpPr>
          <p:cNvPr id="5" name="Shape 3"/>
          <p:cNvSpPr/>
          <p:nvPr/>
        </p:nvSpPr>
        <p:spPr>
          <a:xfrm>
            <a:off x="566928" y="1298448"/>
            <a:ext cx="11057839" cy="1207770"/>
          </a:xfrm>
          <a:prstGeom prst="roundRect">
            <a:avLst>
              <a:gd name="adj" fmla="val 6057"/>
            </a:avLst>
          </a:prstGeom>
          <a:solidFill>
            <a:srgbClr val="F3F6F2"/>
          </a:solidFill>
          <a:ln w="9525">
            <a:solidFill>
              <a:srgbClr val="D4DCD5"/>
            </a:solidFill>
            <a:prstDash val="solid"/>
          </a:ln>
        </p:spPr>
      </p:sp>
      <p:sp>
        <p:nvSpPr>
          <p:cNvPr id="6" name="Text 4"/>
          <p:cNvSpPr/>
          <p:nvPr/>
        </p:nvSpPr>
        <p:spPr>
          <a:xfrm>
            <a:off x="749808" y="1444752"/>
            <a:ext cx="10692079" cy="915162"/>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RUMEN (energy) → BODY CONDITION → OVULATION → CORPUS LUTEUM → PROGESTERONE</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CALCIUM → uterine contraction → placenta released → clean uterus → ENDOMETRIUM</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EMBRYO SURVIVES → PREGNANCY</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Closing — three sentences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3 — Rumen Physiology &amp; Diseases</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S46   |   47</a:t>
            </a:r>
            <a:endParaRPr lang="en-US" sz="950" dirty="0"/>
          </a:p>
        </p:txBody>
      </p:sp>
      <p:sp>
        <p:nvSpPr>
          <p:cNvPr id="5" name="Text 3"/>
          <p:cNvSpPr/>
          <p:nvPr/>
        </p:nvSpPr>
        <p:spPr>
          <a:xfrm>
            <a:off x="621792" y="1298448"/>
            <a:ext cx="11002975" cy="1141476"/>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A cow that will not conceive is telling you she is sick, hungry, or hot.</a:t>
            </a:r>
            <a:endParaRPr lang="en-US" dirty="0"/>
          </a:p>
          <a:p>
            <a:pPr marL="342900" indent="-342900">
              <a:spcAft>
                <a:spcPts val="500"/>
              </a:spcAft>
              <a:buSzPct val="100000"/>
              <a:buFont typeface="+mj-lt"/>
              <a:buAutoNum type="arabicPeriod" startAt="1"/>
            </a:pPr>
            <a:r>
              <a:rPr lang="en-US" dirty="0">
                <a:solidFill>
                  <a:srgbClr val="000000"/>
                </a:solidFill>
              </a:rPr>
              <a:t>Your first tools are not a syringe and a straw — they are your eyes, a thermometer, and a record sheet.</a:t>
            </a:r>
            <a:endParaRPr lang="en-US" dirty="0"/>
          </a:p>
          <a:p>
            <a:pPr marL="342900" indent="-342900">
              <a:spcAft>
                <a:spcPts val="500"/>
              </a:spcAft>
              <a:buSzPct val="100000"/>
              <a:buFont typeface="+mj-lt"/>
              <a:buAutoNum type="arabicPeriod" startAt="1"/>
            </a:pPr>
            <a:r>
              <a:rPr lang="en-US" dirty="0">
                <a:solidFill>
                  <a:srgbClr val="000000"/>
                </a:solidFill>
              </a:rPr>
              <a:t>Prevention is the only reproduction programme that works every time.</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1280160" y="4389120"/>
            <a:ext cx="3840480" cy="3840480"/>
          </a:xfrm>
          <a:prstGeom prst="ellipse">
            <a:avLst/>
          </a:prstGeom>
          <a:solidFill>
            <a:srgbClr val="1F4A2C"/>
          </a:solidFill>
          <a:ln/>
        </p:spPr>
      </p:sp>
      <p:sp>
        <p:nvSpPr>
          <p:cNvPr id="3" name="Text 1"/>
          <p:cNvSpPr/>
          <p:nvPr/>
        </p:nvSpPr>
        <p:spPr>
          <a:xfrm>
            <a:off x="841248" y="2286000"/>
            <a:ext cx="1042416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Good genetics. Correct timing. A healthy cow.</a:t>
            </a:r>
            <a:endParaRPr lang="en-US" sz="4000" dirty="0"/>
          </a:p>
        </p:txBody>
      </p:sp>
      <p:sp>
        <p:nvSpPr>
          <p:cNvPr id="4" name="Text 2"/>
          <p:cNvSpPr/>
          <p:nvPr/>
        </p:nvSpPr>
        <p:spPr>
          <a:xfrm>
            <a:off x="841248" y="3657600"/>
            <a:ext cx="10424160" cy="1463040"/>
          </a:xfrm>
          <a:prstGeom prst="rect">
            <a:avLst/>
          </a:prstGeom>
          <a:noFill/>
          <a:ln/>
        </p:spPr>
        <p:txBody>
          <a:bodyPr wrap="square" lIns="0" tIns="0" rIns="0" bIns="0" rtlCol="0" anchor="t"/>
          <a:lstStyle/>
          <a:p>
            <a:pPr indent="0" marL="0">
              <a:buNone/>
            </a:pPr>
            <a:r>
              <a:rPr lang="en-US" sz="1800" dirty="0">
                <a:solidFill>
                  <a:srgbClr val="C8D8C6"/>
                </a:solidFill>
                <a:latin typeface="Calibri" pitchFamily="34" charset="0"/>
                <a:ea typeface="Calibri" pitchFamily="34" charset="-122"/>
                <a:cs typeface="Calibri" pitchFamily="34" charset="-120"/>
              </a:rPr>
              <a:t>Pregnancy is what happens when you have all three.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Rumen Physiology &amp; Common Dairy Cow Diseases</dc:title>
  <dc:subject>PptxGenJS Presentation</dc:subject>
  <dc:creator>Dr. Hyunje Ha, DVM — Genetics Co., Ltd.</dc:creator>
  <cp:lastModifiedBy>Dr. Hyunje Ha, DVM — Genetics Co., Ltd.</cp:lastModifiedBy>
  <cp:revision>1</cp:revision>
  <dcterms:created xsi:type="dcterms:W3CDTF">2026-08-25T11:16:14Z</dcterms:created>
  <dcterms:modified xsi:type="dcterms:W3CDTF">2026-08-25T11:16:14Z</dcterms:modified>
</cp:coreProperties>
</file>
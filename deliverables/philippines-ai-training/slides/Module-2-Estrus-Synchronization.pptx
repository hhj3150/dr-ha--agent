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regulatory statement aloud before starting: every product must be registered with the Bureau of Animal Industry and used under veterinary prescription.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PART 2-A — THE CYCLE AND THE FOLLICULAR WAVE (25 min, S1–S9)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Before we begin, one legal statement, and I want you to hear it clearly.
Everything I teach in this module is technical reference based on international dairy science. Every product must be registered with your Bureau of Animal Industry and used under veterinary prescription in your country. I will teach you active ingredients — GnRH, prostaglandin F2 alpha, progesterone — not brand names, because brand names differ in every country and active ingredients do not.
Now. In Module One I told you: no corpus luteum, no transfer. This module is about how to produce a corpus luteum on a date that you choose.
Here is the frame for the next two hours. Stop waiting for heat. Create it."
[TIME]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why heat detection fails, and it is not because you are lazy.
Sixty to seventy percent of standing heats happen at night, between six in the evening and six in the morning — when nobody is watching.
Standing heat lasts eight to eighteen hours in a temperate Holstein. In a heat-stressed crossbred cow in a tropical climate, it is frequently under eight hours, and the mounting behaviour is weaker.
So if you observe twice a day, you are looking for an eight-hour event that mostly happens at night. Published studies consistently show that this finds only about half of the heats.
Half. And every heat you miss costs twenty-one days.
Synchronization exists because of this arithmetic. It is not a luxury technology. It is the correction for a detection system that cannot work."
[ASK] "How many times a day do you observe for heat? Be honest."
[BOARD] 21 days × (number of missed heats per year) = days open added.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run the whole module. Please write them down.
Cycle length, twenty-one days. Standing estrus, eight to eighteen hours. Ovulation, twenty-four to thirty-two hours after the onset of standing estrus — note, after the onset, not after the end. And this last one is the one that decides whether your prostaglandin injection works: the corpus luteum is responsive to prostaglandin only from about day six to day seventeen.
If you remember nothing else from this module, remember the fourth line."
[BOARD] Draw a 21-day timeline. Mark Day 0 estrus, Day 5 CL forming, Day 6–17 PGF window, Day 17–18 natural luteolysis.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control loop, and I want you to think of it mechanically.
The hypothalamus releases GnRH. GnRH tells the pituitary to release FSH and LH. FSH recruits follicles. A surge of LH causes ovulation, and the ovulated follicle becomes a corpus luteum.
The corpus luteum produces progesterone. Progesterone is the brake. As long as progesterone is high, the animal cannot show heat and cannot ovulate, because progesterone blocks the LH surge.
Around day sixteen to seventeen, if there is no pregnancy, the uterus releases prostaglandin F2 alpha, which destroys the corpus luteum. Progesterone falls. The brake is released.
Then the dominant follicle, no longer suppressed, produces estradiol — which gives you the visible signs of heat and triggers the LH surge.
Four tools, four jobs: GnRH is the ignition. Prostaglandin releases the brake. Progesterone is the brake. Estradiol is the signal."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concept in modern synchronization, and it is what separates an operator who follows a recipe from a technician who can solve problems. Please give me your full attention for five minutes.
Follicles do not grow continuously and randomly. They grow in waves.
A surge of FSH recruits a cohort — five to twenty small follicles of about four millimetres. They all grow together at about one and a half millimetres per day.
Then, at around eight and a half millimetres, something decisive happens. It is called deviation. One follicle — the largest at that moment — acquires LH receptors on its granulosa cells. This changes everything: it switches from depending on FSH to depending on LH. And at the same time it produces estradiol and inhibin, which suppress FSH.
Now think about what that means for the others. The subordinate follicles still depend on FSH, and FSH has just been switched off by their own sister follicle. They starve. They undergo atresia.
So the dominant follicle is not simply the biggest. It is the one that became independent of FSH and able to survive without it.
And its fate depends on one thing only: progesterone. If progesterone is low, it ovulates. If progesterone is high, it eventually dies and a new wave begins."
[BOARD] Draw the wave: cohort → deviation point → one line continues up, others curve down.
[TIME]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"Cows run either two or three follicular waves per cycle.
Two-wave cycles are shorter and are more common in high-producing lactating cows. Three-wave cycles are a little longer and are more common in heifers.
Here is why you should care, and it is very practical. In a two-wave cycle, the follicle that finally ovulates has been dominant for a longer time. A follicle that stays dominant too long produces an aged oocyte, and aged oocytes fertilize but do not develop well. This is one of the hidden reasons for early embryonic loss.
And this is exactly why modern protocols try to ovulate a young dominant follicle. When I later tell you that a protocol 'gives a longer proestrus' or 'ovulates a fresher follicle', this is what I mean."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can answer a question that confuses many technicians.
You give GnRH to start a protocol. Does it work? Only about half the time — if the cow is at a random stage of her cycle.
Why? Because GnRH causes an LH surge, and an LH surge only ovulates a follicle that has LH receptors. A follicle that has not yet passed deviation cannot respond. A follicle that is already atretic cannot respond either.
So if you inject GnRH into a random group of cows, roughly half of them ovulate and start a clean new wave, and the other half do not — and those cows enter your protocol unsynchronized.
Write this sentence down, because the rest of this module is built on it: Presynchronization exists to make sure that the first GnRH of Ovsynch actually works."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category of cow that no prostaglandin protocol can help: the anovular cow. She has no corpus luteum because she has not ovulated at all.
Published studies put anovular cows at fifteen to forty percent of lactating dairy cows at first breeding, and the number rises with negative energy balance, low body condition, heat stress and uterine disease. In tropical smallholder systems the proportion is typically at the high end.
Now look at that list of causes. Energy balance, body condition, heat, disease, minerals, parasites, lameness, flooring. How many of those are hormone problems? None of them.
So here is the rule of this module: feed first, treat disease second, synchronize third. If you synchronize a starving cow, you will spend money and get nothing, and you will conclude that the protocol does not work."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tree is your working tool, and it will be on your pocket card.
Two branches. Cycling or not cycling. If she is cycling, choose by class — heifer or lactating cow. If she is not cycling, a progesterone device is not optional, it is mandatory, because there is nothing for prostaglandin to act on.
And if the purpose is embryo transfer, we go to a different destination entirely, which we will cover in Part D."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PART 2-B — THE HORMONE TOOLS (25 min, S10–S17)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"GnRH is the ignition switch. It causes an LH surge, which does two things: it ovulates the current dominant follicle, and by removing that follicle it allows a new wave to emerge about a day and a half to two days later.
Two practical points.
One: GnRH works at any stage of the cycle. Prostaglandin does not. That asymmetry is the single most useful thing to remember about these two drugs.
Two: when GnRH ovulates a follicle in mid-cycle, you now have an extra corpus luteum — an accessory CL. That accessory CL is young. Remember that, because it explains why some protocols need two doses of prostaglandin. We will come back to this at the five-day protocol."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"Prostaglandin releases the brake. It kills the corpus luteum, progesterone falls, and the cow comes into heat within two to five days, most of them between forty-eight and ninety-six hours.
But — and this is the number one reason technicians say 'the injection didn't work' — prostaglandin has no target unless there is a mature corpus luteum. Before about day five or six, the young CL is refractory; it simply does not respond.
So when someone tells me their prostaglandin failed, my first question is never 'what dose did you use'. It is: 'did that cow have a corpus luteum?'
And now the safety line, which I ask you to take seriously. Prostaglandin is absorbed through intact skin. A pregnant woman who spills it on her hand can abort. A person with asthma can get bronchospasm. Wear gloves, be careful with needles, and never let an untrained person handle these bottles."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progesterone device is the tool that makes synchronization possible in tropical smallholder herds, so please understand what it actually does.
It is an artificial corpus luteum. It does three jobs.
First, it holds the brake on. As long as it is in, no cow can show a premature heat. That is what creates true synchrony instead of a scatter of heats over five days.
Second — and this is the important one for your farms — it primes anovular animals. Exposing an anovular cow to progesterone and then withdrawing it restores the hypothalamic response and can start her cycling. Nothing else in our toolbox does this.
Third, it lets you synchronize an animal that has no corpus luteum at all, which is precisely the animal where prostaglandin is useless.
One practical point: check retention. A cow that lost her device on day three is not synchronized, and if you do not check at removal, you will never know why she failed."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supporting tools.
eCG, sometimes called PMSG, has FSH-like activity and a long half-life. Its place is very specific: give it at device removal in animals that are anovular, thin, or suckling. In those animals it measurably improves follicular growth and ovulation rate. In a well-fed cycling cow it adds little.
hCG acts like LH and can be used as an ovulation trigger.
Estradiol esters are used for wave synchronization in some countries — South America uses them extensively. Their registration status differs by country, including restrictions in several markets. Use them only if they are registered in the Philippines and prescribed by your veterinarian. I mention them so you understand protocols you may read about, not to recommend them."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will save more pregnancies for you than any protocol on the next twenty slides.
If a whole group of cows fails to respond, do not first suspect the cows. Suspect the bottle. Most of these hormones are peptides. A peptide that spent four hours at forty degrees on the dashboard of a truck in Luzon is not the drug on the label any more.
Cool box in the field. Ice pack not touching the vials. Record the lot number, because if you have a batch failure you need to be able to prove it."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in a fully synchronized herd, heat detection remains your foundation skill, because you need it for resynchronization, for verifying your protocol worked, and for the cows that fall out of the programme.
The primary sign is standing to be mounted. Everything else — chin resting, clear mucus, restlessness — is secondary and can mislead you.
Observation must be at quiet times. Cows do not mount while they are eating. If your only observation is while you are feeding, you will see almost nothing.
And the AM–PM rule remains the practical standard for insemination on detected heat: seen in the morning, inseminate that afternoon; seen in the evening, inseminate the next morning."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why the timing rules are what they are, so you never have to memorize them blindly.
Sperm need about six hours in the female tract to capacitate before they can fertilize. After that they remain fertile for roughly eighteen to twenty-four hours.
The oocyte is far less forgiving. Once ovulated, it is fertilizable for only about six to twelve hours, and its quality declines through that window.
Ovulation is twenty-four to thirty-two hours after the onset of standing heat.
So: you want capacitated sperm waiting in the oviduct before the egg arrives. Working backwards from ovulation at about twenty-eight hours, and allowing six hours for capacitation, you inseminate at about twelve hours after onset of heat. That is where the rule comes from.
Same logic with a GnRH trigger. GnRH causes ovulation twenty-four to thirty-two hours later, so you inseminate sixteen to twenty hours after the GnRH. Sperm first, egg second. Never the other way round."
[BOARD] Timeline: 0 h onset → 12 h AI → 18 h sperm capacitated → 28 h ovulation.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show you eight protocols, I want you to see that they are all the same four steps in different arrangements.
Reset the follicular wave. Release the progesterone brake. Trigger ovulation. Inseminate at a fixed time.
If you understand those four verbs, you do not have to memorize protocols. You can read any protocol in the world and immediately see what each injection is doing."
[BOARD] RESET → RELEASE → TRIGGER → INSEMINATE
[TIME]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PART 2-C — THE PROTOCOLS (35 min, S18–S29)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simplest protocol. Prostaglandin, then prostaglandin again eleven to fourteen days later.
Why that interval? Think it through with the physiology. A cow that responded to the first injection came into heat and ovulated around day two to five. Her new corpus luteum needs to be at least six days old to respond. Eleven to fourteen days later, every responder has a mature, responsive CL. That is the entire logic of the interval.
Its weakness is written on the slide and I want you to say it with me: it does nothing for a cow with no corpus luteum. In a tropical herd with thirty percent anovular cows, this protocol leaves a third of your herd untouched — and those are exactly the cows that need help most."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"Ovsynch is the protocol that changed dairy reproduction worldwide, and you must be able to draw it from memory.
Look at the fourth column, because that is the part that matters. Every injection has a job.
GnRH number one ovulates or luteinizes whatever dominant follicle is present, and by removing it, allows a fresh wave to emerge about two days later. That is the reset.
Prostaglandin on day seven destroys the original corpus luteum. Note that it also has to destroy the accessory corpus luteum created by GnRH number one — and by day seven that accessory CL is seven days old, so it is responsive. The interval is not arbitrary.
GnRH number two, fifty-six hours after the prostaglandin, ovulates the new dominant follicle, which is now about thirteen to sixteen millimetres and at the right age.
And fixed-time AI sixteen to twenty hours after that — sperm first, egg second, exactly as we established.
The whole point: you never look for heat. Every cow is inseminated on a date you wrote in your diary three weeks ago."
[BOARD] Draw the four-injection timeline with hours.
[TIME]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honest limitation, and this leads directly to every advanced protocol.
If you start Ovsynch on a random day of the cycle, only about half to sixty percent of cows actually ovulate to the first GnRH. The rest are not reset, so when you inject prostaglandin on day seven, they are at a random stage — and your synchrony collapses.
There are two ways to fix this. Either bring cows to a favourable stage before starting Ovsynch — that is presynchronization. Or add a progesterone device, which does not care what stage she is at.
The next four slides are those solutions."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"Presynch-Ovsynch is Ovsynch with a run-up.
Two prostaglandin injections fourteen days apart bring cycling cows into a predictable window, so that when you give the first GnRH of Ovsynch eleven to fourteen days later, most cows are around day five to nine of their cycle — the responsive window.
In well-managed cycling herds this reliably improves pregnancy per AI compared with Ovsynch alone.
But notice the limitation on the last line, and it is a serious one for your conditions. Presynchronization with prostaglandin only works on cows that have a corpus luteum. The anovular cow — the thin cow, the heat-stressed cow — is completely untouched by both presynch injections. She arrives at Ovsynch exactly as unsynchronized as before.
That is the problem the next two protocols solve."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"G6G. The name tells you the design: a GnRH given six days before the GnRH that starts Ovsynch.
Follow the logic, because this is elegant. First, prostaglandin on day minus eight removes the corpus luteum and puts the cow into proestrus. Two days later, on day minus six, GnRH ovulates the dominant follicle that proestrus produced — and because the cow was in proestrus, that follicle is almost always responsive. That ovulation does two things: it starts a synchronized new wave, and it creates a fresh corpus luteum.
Now count six days forward. When Ovsynch's first GnRH arrives on day zero, the cow is at about day six of a synchronized cycle — precisely the responsive window we identified on slide twenty.
The published effect is that ovulatory response to that first GnRH rises from around fifty percent to around eighty-five percent. You have converted a coin flip into a near-certainty.
That is what presynchronization actually means, mechanically."
[BOARD] Timeline from −8 to +10 with all six injections.
[TIME]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"Double-Ovsynch is exactly what the name says: an Ovsynch used to presynchronize a second Ovsynch.
The first Ovsynch — the pre-Ovsynch — is not for breeding. Its purpose is to leave the cow with a synchronized wave and a fresh corpus luteum at a known age. The second Ovsynch is the breeding one, and it starts seven days after the last GnRH of the first.
The published data show the largest benefit in first-lactation cows, which are frequently anovular or cycling irregularly in early lactation, and in anovular cows generally.
The cost is honesty: seven injections and seven handling events per cow. In a smallholder system with twelve cows and no head gate, that is a real burden. In a commercial dairy with a lock-up feed line, it is trivial.
So my recommendation to you: know it, and use it where handling is easy and the cows are high-value. For most Philippine smallholder herds, the next protocol is the better tool."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protocol I want you to leave with as your default, and I want you to understand the two footnotes, because they are the whole design.
First footnote: why two prostaglandin injections? Because the GnRH you gave on day zero created an accessory corpus luteum. On day five, that accessory CL is only five days old. We established earlier that a CL under about six days is refractory to prostaglandin. A single dose often will not kill it, and a surviving CL means progesterone stays high and the cow does not come into heat. So you give a second dose six to twelve hours later. If you skip the second dose, this protocol fails — and it fails silently.
Second footnote: why five days and not seven? Because a shorter progesterone exposure leaves a longer proestrus — a longer period of rising estradiol before ovulation. Estradiol prepares the uterus and the oviduct. Longer proestrus is consistently associated with higher fertility. That is why the five-day protocol was developed.
And the option line matters for you: add eCG at device removal for anovular, thin, or suckled animals. In Philippine conditions, that describes a large part of the herd."
[BOARD] Write "5-d CL = refractory → 2 × PGF" and "shorter P4 → longer proestrus → higher fertility."
[TIME]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seven-day version. One difference in mechanism and one in practice.
In mechanism: by day seven the accessory corpus luteum is seven days old and therefore responsive, so a single prostaglandin dose is enough. Simpler.
In practice: seven days of progesterone gives stronger priming for the deeply anovular cow, at the cost of a slightly shorter proestrus.
So: five-day for fertility, seven-day for priming and simplicity. Both are correct tools. Choose by the cow in front of you."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"Heifers are not small cows. Three differences change your protocol choice.
Their cycles are slightly shorter, about twenty days. Their standing heat is shorter. And they ovulate slightly earlier after device removal — which is why the fixed-time insemination for heifers on the five-day protocol is about sixty hours, not seventy-two.
The fourteen-day CIDR–PG protocol is worth knowing because it also induces puberty in peri-pubertal heifers, so it does double duty in a herd where heifers are borderline.
And one warning: heifers are highly fertile, so they forgive bad genetics — but they do not forgive bad timing. Get the hours right."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biggest source of lost days in a dairy is not the first insemination. It is the gap after a failed one.
If you find a cow open at pregnancy diagnosis on day thirty-two and only then begin a protocol, you have already lost the cycle. The professional approach is to have started the resynchronization before you knew the answer — a GnRH at day twenty-five, so that if she is open at day thirty-two you can inject prostaglandin the same day and inseminate two days later.
Design your programme so that a negative pregnancy diagnosis triggers an action on the same day, not a discussion."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programme fails, technicians argue. This slide ends the argument, because it gives you an order.
First, the cow: was there a corpus luteum, is she cycling, is she fed. Second, the cold chain: was the product actually active. Third, the calendar: did every injection happen on the right day at the right hour, and was the second prostaglandin given. Fourth, and only fourth, technique.
Most people start at four and never get to one. Start at one."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choose a protocol because it has the best published pregnancy rate. Choose it because it fits the cows and the handling facilities you actually have.
A protocol with seven injections and a two percentage-point advantage is worthless on a farm where you can only catch the cow three times. The best protocol is the one that will actually be completed."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PART 2-D — FTET — SYNCHRONIZING RECIPIENTS (20 min, S30–S33)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connect Module One and Module Two, and this is the single most valuable slide of the day for anyone who wants to receive embryos.
An embryo produced on day seven must enter a uterus that is also on day seven. The uterine environment — progesterone concentration, protein secretion, the endometrium itself — must match the developmental stage of the embryo. If it does not, the embryo dies, no matter how good it was.
So you do not synchronize and then see when the embryos arrive. You take the transfer date, subtract seven days, and that is the day your recipients must ovulate. Everything is planned backwards from a fixed shipment date."
[BOARD] Transfer date − 7 = ovulation date. Then work back through the protocol.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protocol. It is a seven-day progesterone protocol, because recipients are frequently the cows you were not milking hard — often thin, often anovular — and the device handles that.
Note the fourth row. After ovulation you do not transfer blindly. Seven days later you examine every recipient and you make a go or no-go decision on the corpus luteum.
And note the last two lines, because they are the reason programmes run out of recipients. Between sixty and eighty percent of synchronized recipients will pass the day-seven check. So if you have ten embryos arriving, do not synchronize ten cows. Synchronize fifteen. One point four to one point six recipients per embryo. Write that ratio down — I am asked about it more than any other number in this business."
[BOARD] 10 embryos → synchronize 15 recipients → ~11 pass → ~10 transfers.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build one calendar in front of you, because this is exactly what you will be asked to do.
Ten embryos, transfer fixed for the twentieth of October.
Twentieth minus seven is the thirteenth of October — that is ovulation day, so the GnRH trigger is around the twelfth to thirteenth.
The trigger is forty-eight to sixty hours after device removal, so the CIDR comes out with prostaglandin on the tenth.
Seven days before that, the third of October, the device goes in with GnRH.
And here is the line that inexperienced programmes forget: recipient screening and body condition correction start in early September. You cannot fix body condition in a week. If you enrol thin cows on the third of October, you have already failed on the twentieth.
Fifteen recipients for ten embryos."
[ASK] "Work this out for your own farm: if embryos arrive on the fifteenth of next month, what day does the CIDR go in?"
[TIME]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practical warnings.
One: do not enrol anovular cows without a progesterone device and eCG, and do not enrol thin cows at all.
Two — and this one costs real money — never start the synchronization before the embryo shipment is confirmed in writing with a date. Customs delays happen. If your recipients ovulate on the thirteenth and the embryos clear customs on the twenty-fifth, you have lost the entire batch of recipients and you must start again.
Three: apply the seven recipient criteria at enrolment, not on transfer day. On transfer day it is far too late to discover that the cow is forty days postpartum.
Four: if you have good corpora lutea and still no pregnancies, the problem has moved back to Module One — technique, thawing, horn, and post-transfer management."
[TIME]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PART 2-E — SENSOR-BASED REPRODUCTION (15 min, S34–S39)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last fifteen minutes of this module I want to talk about a technology that is changing reproductive management, and I want to talk about it accurately — including its limits.
A bolus is a sensor swallowed by the cow and retained in the reticulum for years. It continuously measures core temperature, motion, and drinking events. Some models also measure rumen pH, which we will use in Module Three.
Now the most important sentence on this slide, and please write it down: the sensor does not measure estrus. It does not measure ketosis or mastitis either. It measures deviation from that individual animal's own baseline. The software then interprets those deviations as probable events.
Understanding that distinction is what separates a professional user from someone who believes marketing."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"Around estrus, three things change. Activity rises — that is the strongest and most reliable signal. Rumination and intake fall, because a cow in heat spends her time walking and mounting instead of eating. And core temperature rises slightly.
Published performance for activity-based detection is a sensitivity of roughly seventy to ninety percent and a specificity above ninety-five percent — but I want you to notice the honest wording: that range is wide, and it varies with the system, the housing, and the herd.
For your conditions, the real advantage is not the headline percentage. It is that the sensor is awake at two o'clock in the morning, and it is awake during a six-hour heat. That is exactly where visual observation fails.
But — and here is the limitation you must know — a cow that is truly anovular has no estrus for the sensor to detect. A sensor finds heats. It does not create them. For the anovular cow, you still need progesterone."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reproductive application is calving prediction, and the physiology behind it is solid.
Before calving, progesterone falls sharply. That fall is associated with a measurable drop in body temperature in the last day or two before delivery. Combine that with the drop in rumination that occurs as the cow goes into first-stage labour, and the system can alert you before the calf arrives.
Why does that matter to an AI technician? Because attended calvings have lower stillbirth rates and lower dystocia losses, and because the calving is the beginning of the next reproductive cycle. Everything in Module Three — retained placenta, metritis, milk fever, ketosis — starts at that moment."
[TIME]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a good farm actually uses both, and I want you to hear the philosophy clearly.
The mistake farms make is to buy sensors and then abandon their synchronization programme. Six months later, reproduction is worse than before.
The correct model is this. Sensors handle the cows that show heat — you inseminate them on the alert, which is cheaper and gives excellent fertility because it is a natural heat. Then you set a deadline. Any cow with no alert by that deadline is not a mystery to be discussed; she is automatically enrolled in a timed-AI protocol.
The sensor does not replace the protocol. The sensor decides which cows need the protocol. That sentence is the whole strategy."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limitations, because a technology sold without its limitations always disappoints.
The sensor tells you a cow deviated from her baseline. It does not tell you why. You still have to walk to the cow.
The anovular cow will never generate an estrus alert, because there is no estrus.
In tropical conditions, ambient heat raises body temperature — so temperature-based algorithms developed in Europe need adaptation and local validation. Anyone who tells you a system works identically in Austria and in Mindanao is selling, not advising.
And the last point is the one that decides success: a system generates alerts, and a person must act on them within hours. On a farm where nobody checks the phone, sensors are jewellery.
So my recommendation is a pilot. Install on a defined group, measure your own results against your own previous records, and scale on evidence — not on brochures."
[TIME]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the direction the industry is moving. Not sensors as gadgets, but sensors as the input layer of a decision system: the sensor detects, the software interprets, a person decides, and the outcome is recorded so the herd's key indicators improve over time.
At national scale, the same architecture supports regional livestock monitoring — which is what several governments are now building.
I am showing you this as a direction, not as a promise. Everything on this slide requires validation in your own conditions before you should believe a number."
[TIME]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rules to close.
No corpus luteum, no prostaglandin. Know the stage before you inject.
Feed first, treat disease second, synchronize third. Hormones cannot substitute for energy.
Every protocol in the world is four verbs: reset the wave, release the brake, trigger ovulation, inseminate at a fixed time. If you know that, you can read any protocol and understand it.
And for embryo transfer, plan backwards from the transfer date, and synchronize one and a half recipients for every embryo.
Now — rule number two says feed first and treat disease second. So after lunch, we will spend two hours on exactly that: how the rumen actually works, and the diseases that are destroying your reproductive results before you ever pick up a straw."
[TIME]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two says feed first and treat disease second. After lunch we spend two hours on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1C"/>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F4A2C"/>
          </a:solidFill>
          <a:ln/>
        </p:spPr>
      </p:sp>
      <p:sp>
        <p:nvSpPr>
          <p:cNvPr id="3" name="Shape 1"/>
          <p:cNvSpPr/>
          <p:nvPr/>
        </p:nvSpPr>
        <p:spPr>
          <a:xfrm>
            <a:off x="10698480" y="4206240"/>
            <a:ext cx="3108960" cy="3108960"/>
          </a:xfrm>
          <a:prstGeom prst="ellipse">
            <a:avLst/>
          </a:prstGeom>
          <a:solidFill>
            <a:srgbClr val="1F4A2C"/>
          </a:solidFill>
          <a:ln/>
        </p:spPr>
      </p:sp>
      <p:sp>
        <p:nvSpPr>
          <p:cNvPr id="4" name="Text 2"/>
          <p:cNvSpPr/>
          <p:nvPr/>
        </p:nvSpPr>
        <p:spPr>
          <a:xfrm>
            <a:off x="841248" y="1417320"/>
            <a:ext cx="8778240" cy="365760"/>
          </a:xfrm>
          <a:prstGeom prst="rect">
            <a:avLst/>
          </a:prstGeom>
          <a:noFill/>
          <a:ln/>
        </p:spPr>
        <p:txBody>
          <a:bodyPr wrap="square" lIns="0" tIns="0" rIns="0" bIns="0" rtlCol="0" anchor="ctr"/>
          <a:lstStyle/>
          <a:p>
            <a:pPr indent="0" marL="0">
              <a:buNone/>
            </a:pPr>
            <a:r>
              <a:rPr lang="en-US" sz="1400" b="1" spc="200" kern="0" dirty="0">
                <a:solidFill>
                  <a:srgbClr val="6FA368"/>
                </a:solidFill>
                <a:latin typeface="Calibri" pitchFamily="34" charset="0"/>
                <a:ea typeface="Calibri" pitchFamily="34" charset="-122"/>
                <a:cs typeface="Calibri" pitchFamily="34" charset="-120"/>
              </a:rPr>
              <a:t>MODULE 2  ·  120 MINUTES</a:t>
            </a:r>
            <a:endParaRPr lang="en-US" sz="1400" dirty="0"/>
          </a:p>
        </p:txBody>
      </p:sp>
      <p:sp>
        <p:nvSpPr>
          <p:cNvPr id="5" name="Text 3"/>
          <p:cNvSpPr/>
          <p:nvPr/>
        </p:nvSpPr>
        <p:spPr>
          <a:xfrm>
            <a:off x="841248" y="1874520"/>
            <a:ext cx="8778240" cy="17373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Estrus Synchronization</a:t>
            </a:r>
            <a:endParaRPr lang="en-US" sz="4400" dirty="0"/>
          </a:p>
        </p:txBody>
      </p:sp>
      <p:sp>
        <p:nvSpPr>
          <p:cNvPr id="6" name="Text 4"/>
          <p:cNvSpPr/>
          <p:nvPr/>
        </p:nvSpPr>
        <p:spPr>
          <a:xfrm>
            <a:off x="841248" y="3703320"/>
            <a:ext cx="8778240" cy="822960"/>
          </a:xfrm>
          <a:prstGeom prst="rect">
            <a:avLst/>
          </a:prstGeom>
          <a:noFill/>
          <a:ln/>
        </p:spPr>
        <p:txBody>
          <a:bodyPr wrap="square" lIns="0" tIns="0" rIns="0" bIns="0" rtlCol="0" anchor="t"/>
          <a:lstStyle/>
          <a:p>
            <a:pPr indent="0" marL="0">
              <a:buNone/>
            </a:pPr>
            <a:r>
              <a:rPr lang="en-US" sz="1600" dirty="0">
                <a:solidFill>
                  <a:srgbClr val="C8D8C6"/>
                </a:solidFill>
                <a:latin typeface="Calibri" pitchFamily="34" charset="0"/>
                <a:ea typeface="Calibri" pitchFamily="34" charset="-122"/>
                <a:cs typeface="Calibri" pitchFamily="34" charset="-120"/>
              </a:rPr>
              <a:t>Follicular Waves · Hormone Tools · Ovsynch · G6G · Double-Ovsynch · FTET · Rumen Sensors</a:t>
            </a:r>
            <a:endParaRPr lang="en-US" sz="1600" dirty="0"/>
          </a:p>
        </p:txBody>
      </p:sp>
      <p:sp>
        <p:nvSpPr>
          <p:cNvPr id="7" name="Text 5"/>
          <p:cNvSpPr/>
          <p:nvPr/>
        </p:nvSpPr>
        <p:spPr>
          <a:xfrm>
            <a:off x="841248" y="5074920"/>
            <a:ext cx="8778240" cy="822960"/>
          </a:xfrm>
          <a:prstGeom prst="rect">
            <a:avLst/>
          </a:prstGeom>
          <a:noFill/>
          <a:ln/>
        </p:spPr>
        <p:txBody>
          <a:bodyPr wrap="square" lIns="0" tIns="0" rIns="0" bIns="0" rtlCol="0" anchor="ctr"/>
          <a:lstStyle/>
          <a:p>
            <a:pPr indent="0" marL="0">
              <a:buNone/>
            </a:pPr>
            <a:r>
              <a:rPr lang="en-US" sz="1350" b="1" dirty="0">
                <a:solidFill>
                  <a:srgbClr val="C8D8C6"/>
                </a:solidFill>
                <a:latin typeface="Calibri" pitchFamily="34" charset="0"/>
                <a:ea typeface="Calibri" pitchFamily="34" charset="-122"/>
                <a:cs typeface="Calibri" pitchFamily="34" charset="-120"/>
              </a:rPr>
              <a:t>Dr. Hyunje Ha, DVM</a:t>
            </a:r>
            <a:endParaRPr lang="en-US" sz="1350" dirty="0"/>
          </a:p>
          <a:p>
            <a:pPr indent="0" marL="0">
              <a:buNone/>
            </a:pPr>
            <a:r>
              <a:rPr lang="en-US" sz="1350" dirty="0">
                <a:solidFill>
                  <a:srgbClr val="C8D8C6"/>
                </a:solidFill>
                <a:latin typeface="Calibri" pitchFamily="34" charset="0"/>
                <a:ea typeface="Calibri" pitchFamily="34" charset="-122"/>
                <a:cs typeface="Calibri" pitchFamily="34" charset="-120"/>
              </a:rPr>
              <a:t>Genetics Co., Ltd.  ·  Korea Animal Hospital  ·  Republic of Korea</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F4A2C"/>
        </a:solidFill>
      </p:bgPr>
    </p:bg>
    <p:spTree>
      <p:nvGrpSpPr>
        <p:cNvPr id="1" name=""/>
        <p:cNvGrpSpPr/>
        <p:nvPr/>
      </p:nvGrpSpPr>
      <p:grpSpPr>
        <a:xfrm>
          <a:off x="0" y="0"/>
          <a:ext cx="0" cy="0"/>
          <a:chOff x="0" y="0"/>
          <a:chExt cx="0" cy="0"/>
        </a:xfrm>
      </p:grpSpPr>
      <p:sp>
        <p:nvSpPr>
          <p:cNvPr id="2" name="Shape 0"/>
          <p:cNvSpPr/>
          <p:nvPr/>
        </p:nvSpPr>
        <p:spPr>
          <a:xfrm>
            <a:off x="10058400" y="4572000"/>
            <a:ext cx="3291840" cy="3291840"/>
          </a:xfrm>
          <a:prstGeom prst="ellipse">
            <a:avLst/>
          </a:prstGeom>
          <a:solidFill>
            <a:srgbClr val="14301C"/>
          </a:solidFill>
          <a:ln/>
        </p:spPr>
      </p:sp>
      <p:sp>
        <p:nvSpPr>
          <p:cNvPr id="3" name="Text 1"/>
          <p:cNvSpPr/>
          <p:nvPr/>
        </p:nvSpPr>
        <p:spPr>
          <a:xfrm>
            <a:off x="841248" y="2148840"/>
            <a:ext cx="10058400" cy="411480"/>
          </a:xfrm>
          <a:prstGeom prst="rect">
            <a:avLst/>
          </a:prstGeom>
          <a:noFill/>
          <a:ln/>
        </p:spPr>
        <p:txBody>
          <a:bodyPr wrap="square" lIns="0" tIns="0" rIns="0" bIns="0" rtlCol="0" anchor="ctr"/>
          <a:lstStyle/>
          <a:p>
            <a:pPr indent="0" marL="0">
              <a:buNone/>
            </a:pPr>
            <a:r>
              <a:rPr lang="en-US" sz="1500" b="1" spc="200" kern="0" dirty="0">
                <a:solidFill>
                  <a:srgbClr val="6FA368"/>
                </a:solidFill>
                <a:latin typeface="Calibri" pitchFamily="34" charset="0"/>
                <a:ea typeface="Calibri" pitchFamily="34" charset="-122"/>
                <a:cs typeface="Calibri" pitchFamily="34" charset="-120"/>
              </a:rPr>
              <a:t>PART 2-A</a:t>
            </a:r>
            <a:endParaRPr lang="en-US" sz="1500" dirty="0"/>
          </a:p>
        </p:txBody>
      </p:sp>
      <p:sp>
        <p:nvSpPr>
          <p:cNvPr id="4" name="Text 2"/>
          <p:cNvSpPr/>
          <p:nvPr/>
        </p:nvSpPr>
        <p:spPr>
          <a:xfrm>
            <a:off x="841248" y="2606040"/>
            <a:ext cx="1005840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THE CYCLE AND THE FOLLICULAR WAVE</a:t>
            </a:r>
            <a:endParaRPr lang="en-US" sz="3800" dirty="0"/>
          </a:p>
        </p:txBody>
      </p:sp>
      <p:sp>
        <p:nvSpPr>
          <p:cNvPr id="5" name="Text 3"/>
          <p:cNvSpPr/>
          <p:nvPr/>
        </p:nvSpPr>
        <p:spPr>
          <a:xfrm>
            <a:off x="841248" y="4160520"/>
            <a:ext cx="10058400" cy="457200"/>
          </a:xfrm>
          <a:prstGeom prst="rect">
            <a:avLst/>
          </a:prstGeom>
          <a:noFill/>
          <a:ln/>
        </p:spPr>
        <p:txBody>
          <a:bodyPr wrap="square" lIns="0" tIns="0" rIns="0" bIns="0" rtlCol="0" anchor="ctr"/>
          <a:lstStyle/>
          <a:p>
            <a:pPr indent="0" marL="0">
              <a:buNone/>
            </a:pPr>
            <a:r>
              <a:rPr lang="en-US" sz="1500" dirty="0">
                <a:solidFill>
                  <a:srgbClr val="C8D8C6"/>
                </a:solidFill>
                <a:latin typeface="Calibri" pitchFamily="34" charset="0"/>
                <a:ea typeface="Calibri" pitchFamily="34" charset="-122"/>
                <a:cs typeface="Calibri" pitchFamily="34" charset="-120"/>
              </a:rPr>
              <a:t>25 min, S1–S9</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Opening the module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   |   2</a:t>
            </a:r>
            <a:endParaRPr lang="en-US" sz="950" dirty="0"/>
          </a:p>
        </p:txBody>
      </p:sp>
      <p:sp>
        <p:nvSpPr>
          <p:cNvPr id="5" name="Text 3"/>
          <p:cNvSpPr/>
          <p:nvPr/>
        </p:nvSpPr>
        <p:spPr>
          <a:xfrm>
            <a:off x="566928" y="1298448"/>
            <a:ext cx="11057839" cy="395732"/>
          </a:xfrm>
          <a:prstGeom prst="rect">
            <a:avLst/>
          </a:prstGeom>
          <a:noFill/>
          <a:ln/>
        </p:spPr>
        <p:txBody>
          <a:bodyPr wrap="square" lIns="0" tIns="0" rIns="0" bIns="0" rtlCol="0" anchor="t"/>
          <a:lstStyle/>
          <a:p>
            <a:pPr indent="0" marL="0">
              <a:buNone/>
            </a:pPr>
            <a:r>
              <a:rPr lang="en-US" dirty="0">
                <a:solidFill>
                  <a:srgbClr val="000000"/>
                </a:solidFill>
              </a:rPr>
              <a:t>"STOP WAITING FOR HEAT. CREATE IT."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Your real problem, in numbers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   |   3</a:t>
            </a:r>
            <a:endParaRPr lang="en-US" sz="950" dirty="0"/>
          </a:p>
        </p:txBody>
      </p:sp>
      <p:sp>
        <p:nvSpPr>
          <p:cNvPr id="5" name="Text 3"/>
          <p:cNvSpPr/>
          <p:nvPr/>
        </p:nvSpPr>
        <p:spPr>
          <a:xfrm>
            <a:off x="621792" y="1298448"/>
            <a:ext cx="11002975" cy="1704340"/>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60–70% of standing estrus occurs between </a:t>
            </a:r>
            <a:pPr indent="0" marL="0">
              <a:buNone/>
            </a:pPr>
            <a:r>
              <a:rPr lang="en-US" dirty="0">
                <a:solidFill>
                  <a:srgbClr val="000000"/>
                </a:solidFill>
              </a:rPr>
              <a:t>18:00 and 06:00</a:t>
            </a:r>
            <a:pPr indent="0" marL="0">
              <a:buNone/>
            </a:pPr>
            <a:r>
              <a:rPr lang="en-US" dirty="0">
                <a:solidFill>
                  <a:srgbClr val="000000"/>
                </a:solidFill>
              </a:rPr>
              <a:t> </a:t>
            </a:r>
            <a:pPr indent="0" marL="0">
              <a:buNone/>
            </a:pPr>
            <a:r>
              <a:rPr lang="en-US" dirty="0">
                <a:solidFill>
                  <a:srgbClr val="000000"/>
                </a:solidFill>
              </a:rPr>
              <a:t>(published)</a:t>
            </a:r>
            <a:endParaRPr lang="en-US" dirty="0"/>
          </a:p>
          <a:p>
            <a:pPr marL="342900" indent="-342900">
              <a:spcAft>
                <a:spcPts val="500"/>
              </a:spcAft>
              <a:buSzPct val="100000"/>
              <a:buChar char="•"/>
            </a:pPr>
            <a:r>
              <a:rPr lang="en-US" dirty="0">
                <a:solidFill>
                  <a:srgbClr val="000000"/>
                </a:solidFill>
              </a:rPr>
              <a:t>Standing estrus duration: </a:t>
            </a:r>
            <a:pPr indent="0" marL="0">
              <a:buNone/>
            </a:pPr>
            <a:r>
              <a:rPr lang="en-US" dirty="0">
                <a:solidFill>
                  <a:srgbClr val="000000"/>
                </a:solidFill>
              </a:rPr>
              <a:t>8–18 h in temperate cattle; frequently under 8 h in heat-stressed and Bos indicus-influenced cattle</a:t>
            </a:r>
            <a:pPr indent="0" marL="0">
              <a:buNone/>
            </a:pPr>
            <a:r>
              <a:rPr lang="en-US" dirty="0">
                <a:solidFill>
                  <a:srgbClr val="000000"/>
                </a:solidFill>
              </a:rPr>
              <a:t> </a:t>
            </a:r>
            <a:pPr indent="0" marL="0">
              <a:buNone/>
            </a:pPr>
            <a:r>
              <a:rPr lang="en-US" dirty="0">
                <a:solidFill>
                  <a:srgbClr val="000000"/>
                </a:solidFill>
              </a:rPr>
              <a:t>(published)</a:t>
            </a:r>
            <a:endParaRPr lang="en-US" dirty="0"/>
          </a:p>
          <a:p>
            <a:pPr marL="342900" indent="-342900">
              <a:spcAft>
                <a:spcPts val="500"/>
              </a:spcAft>
              <a:buSzPct val="100000"/>
              <a:buChar char="•"/>
            </a:pPr>
            <a:r>
              <a:rPr lang="en-US" dirty="0">
                <a:solidFill>
                  <a:srgbClr val="000000"/>
                </a:solidFill>
              </a:rPr>
              <a:t>Visual detection at 2 observations/day typically identifies </a:t>
            </a:r>
            <a:pPr indent="0" marL="0">
              <a:buNone/>
            </a:pPr>
            <a:r>
              <a:rPr lang="en-US" dirty="0">
                <a:solidFill>
                  <a:srgbClr val="000000"/>
                </a:solidFill>
              </a:rPr>
              <a:t>only ~50% of estrus events</a:t>
            </a:r>
            <a:pPr indent="0" marL="0">
              <a:buNone/>
            </a:pPr>
            <a:r>
              <a:rPr lang="en-US" dirty="0">
                <a:solidFill>
                  <a:srgbClr val="000000"/>
                </a:solidFill>
              </a:rPr>
              <a:t> </a:t>
            </a:r>
            <a:pPr indent="0" marL="0">
              <a:buNone/>
            </a:pPr>
            <a:r>
              <a:rPr lang="en-US" dirty="0">
                <a:solidFill>
                  <a:srgbClr val="000000"/>
                </a:solidFill>
              </a:rPr>
              <a:t>(published range)</a:t>
            </a:r>
            <a:endParaRPr lang="en-US" dirty="0"/>
          </a:p>
          <a:p>
            <a:pPr marL="342900" indent="-342900">
              <a:spcAft>
                <a:spcPts val="500"/>
              </a:spcAft>
              <a:buSzPct val="100000"/>
              <a:buChar char="•"/>
            </a:pPr>
            <a:r>
              <a:rPr lang="en-US" dirty="0">
                <a:solidFill>
                  <a:srgbClr val="000000"/>
                </a:solidFill>
              </a:rPr>
              <a:t>Every missed cycle = </a:t>
            </a:r>
            <a:pPr indent="0" marL="0">
              <a:buNone/>
            </a:pPr>
            <a:r>
              <a:rPr lang="en-US" dirty="0">
                <a:solidFill>
                  <a:srgbClr val="000000"/>
                </a:solidFill>
              </a:rPr>
              <a:t>21 days lost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The estrous cycle — the four numbers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   |   4</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3118878"/>
                <a:gridCol w="7938961"/>
              </a:tblGrid>
              <a:tr h="398399">
                <a:tc>
                  <a:txBody>
                    <a:bodyPr/>
                    <a:lstStyle/>
                    <a:p>
                      <a:pPr indent="0" marL="0">
                        <a:buNone/>
                      </a:pPr>
                      <a:r>
                        <a:rPr lang="en-US" sz="1200" dirty="0">
                          <a:solidFill>
                            <a:srgbClr val="000000"/>
                          </a:solidFill>
                        </a:rPr>
                        <a:t>Parameter</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Value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Cycle length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21 days</a:t>
                      </a:r>
                      <a:pPr indent="0" marL="0">
                        <a:buNone/>
                      </a:pPr>
                      <a:r>
                        <a:rPr lang="en-US" sz="1200" dirty="0">
                          <a:solidFill>
                            <a:srgbClr val="000000"/>
                          </a:solidFill>
                        </a:rPr>
                        <a:t> (range 18–24); heifers ~20 days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Standing estrus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8–18 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Ovulation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24–32 h after ONSET of standing estrus</a:t>
                      </a:r>
                      <a:pPr indent="0" marL="0">
                        <a:buNone/>
                      </a:pPr>
                      <a:r>
                        <a:rPr lang="en-US" sz="1200" dirty="0">
                          <a:solidFill>
                            <a:srgbClr val="000000"/>
                          </a:solidFill>
                        </a:rPr>
                        <a:t> (≈10–14 h after estrus ends)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CL responsive to PGF2α</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Day 6 → Day 17</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
        <p:nvSpPr>
          <p:cNvPr id="6" name="Text 3"/>
          <p:cNvSpPr/>
          <p:nvPr/>
        </p:nvSpPr>
        <p:spPr>
          <a:xfrm>
            <a:off x="566928" y="3583051"/>
            <a:ext cx="11057839" cy="395732"/>
          </a:xfrm>
          <a:prstGeom prst="rect">
            <a:avLst/>
          </a:prstGeom>
          <a:noFill/>
          <a:ln/>
        </p:spPr>
        <p:txBody>
          <a:bodyPr wrap="square" lIns="0" tIns="0" rIns="0" bIns="0" rtlCol="0" anchor="t"/>
          <a:lstStyle/>
          <a:p>
            <a:pPr indent="0" marL="0">
              <a:buNone/>
            </a:pPr>
            <a:r>
              <a:rPr lang="en-US" dirty="0">
                <a:solidFill>
                  <a:srgbClr val="000000"/>
                </a:solidFill>
              </a:rPr>
              <a:t>Phases: proestrus (2–3 d) → </a:t>
            </a:r>
            <a:pPr indent="0" marL="0">
              <a:buNone/>
            </a:pPr>
            <a:r>
              <a:rPr lang="en-US" dirty="0">
                <a:solidFill>
                  <a:srgbClr val="000000"/>
                </a:solidFill>
              </a:rPr>
              <a:t>estrus (Day 0)</a:t>
            </a:r>
            <a:pPr indent="0" marL="0">
              <a:buNone/>
            </a:pPr>
            <a:r>
              <a:rPr lang="en-US" dirty="0">
                <a:solidFill>
                  <a:srgbClr val="000000"/>
                </a:solidFill>
              </a:rPr>
              <a:t> → metestrus (3–4 d) → </a:t>
            </a:r>
            <a:pPr indent="0" marL="0">
              <a:buNone/>
            </a:pPr>
            <a:r>
              <a:rPr lang="en-US" dirty="0">
                <a:solidFill>
                  <a:srgbClr val="000000"/>
                </a:solidFill>
              </a:rPr>
              <a:t>diestrus (Day 5–17)</a:t>
            </a:r>
            <a:pPr indent="0" marL="0">
              <a:buNone/>
            </a:pPr>
            <a:r>
              <a:rPr lang="en-US" dirty="0">
                <a:solidFill>
                  <a:srgbClr val="000000"/>
                </a:solidFill>
              </a:rPr>
              <a:t> → luteolysis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The hormonal control loop</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S4   |   5</a:t>
            </a:r>
            <a:endParaRPr lang="en-US" sz="950" dirty="0"/>
          </a:p>
        </p:txBody>
      </p:sp>
      <p:sp>
        <p:nvSpPr>
          <p:cNvPr id="5" name="Shape 3"/>
          <p:cNvSpPr/>
          <p:nvPr/>
        </p:nvSpPr>
        <p:spPr>
          <a:xfrm>
            <a:off x="566928" y="1298448"/>
            <a:ext cx="11057839" cy="2049780"/>
          </a:xfrm>
          <a:prstGeom prst="roundRect">
            <a:avLst>
              <a:gd name="adj" fmla="val 3569"/>
            </a:avLst>
          </a:prstGeom>
          <a:solidFill>
            <a:srgbClr val="F3F6F2"/>
          </a:solidFill>
          <a:ln w="9525">
            <a:solidFill>
              <a:srgbClr val="D4DCD5"/>
            </a:solidFill>
            <a:prstDash val="solid"/>
          </a:ln>
        </p:spPr>
      </p:sp>
      <p:sp>
        <p:nvSpPr>
          <p:cNvPr id="6" name="Text 4"/>
          <p:cNvSpPr/>
          <p:nvPr/>
        </p:nvSpPr>
        <p:spPr>
          <a:xfrm>
            <a:off x="749808" y="1444752"/>
            <a:ext cx="10692079" cy="1757172"/>
          </a:xfrm>
          <a:prstGeom prst="rect">
            <a:avLst/>
          </a:prstGeom>
          <a:noFill/>
          <a:ln/>
        </p:spPr>
        <p:txBody>
          <a:bodyPr wrap="square" lIns="0" tIns="0" rIns="0" bIns="0" rtlCol="0" anchor="t"/>
          <a:lstStyle/>
          <a:p>
            <a:pPr indent="0" marL="0">
              <a:buNone/>
            </a:pPr>
            <a:r>
              <a:rPr lang="en-US" sz="1000" dirty="0">
                <a:solidFill>
                  <a:srgbClr val="14301C"/>
                </a:solidFill>
                <a:latin typeface="Courier New" pitchFamily="34" charset="0"/>
                <a:ea typeface="Courier New" pitchFamily="34" charset="-122"/>
                <a:cs typeface="Courier New" pitchFamily="34" charset="-120"/>
              </a:rPr>
              <a:t>Hypothalamus → GnRH → Anterior pituitary → FSH &amp; LH</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FSH: follicle recruitment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LH surge: OVULATION → CORPUS LUTEUM</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PROGESTERONE (P4) = brake</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 negative feedback</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blocks the LH surge</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Uterus (Day 16–17) → PGF2α → luteolysis → P4 falls → brake released</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Dominant follicle → ESTRADIOL → signs of estrus + LH surge (when P4 is low)</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960559" cy="749808"/>
          </a:xfrm>
          <a:prstGeom prst="rect">
            <a:avLst/>
          </a:prstGeom>
          <a:noFill/>
          <a:ln/>
        </p:spPr>
        <p:txBody>
          <a:bodyPr wrap="square" lIns="0" tIns="0" rIns="0" bIns="0" rtlCol="0" anchor="t"/>
          <a:lstStyle/>
          <a:p>
            <a:pPr indent="0" marL="0">
              <a:buNone/>
            </a:pPr>
            <a:r>
              <a:rPr lang="en-US" dirty="0">
                <a:solidFill>
                  <a:srgbClr val="000000"/>
                </a:solidFill>
              </a:rPr>
              <a:t>Follicular wave dynamics — the modern foundation</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S5   |   6</a:t>
            </a:r>
            <a:endParaRPr lang="en-US" sz="950" dirty="0"/>
          </a:p>
        </p:txBody>
      </p:sp>
      <p:sp>
        <p:nvSpPr>
          <p:cNvPr id="5" name="Shape 3"/>
          <p:cNvSpPr/>
          <p:nvPr/>
        </p:nvSpPr>
        <p:spPr>
          <a:xfrm>
            <a:off x="10692079" y="402336"/>
            <a:ext cx="932688" cy="310896"/>
          </a:xfrm>
          <a:prstGeom prst="roundRect">
            <a:avLst>
              <a:gd name="adj" fmla="val 50000"/>
            </a:avLst>
          </a:prstGeom>
          <a:solidFill>
            <a:srgbClr val="B26B12"/>
          </a:solidFill>
          <a:ln w="12700">
            <a:solidFill>
              <a:srgbClr val="B26B12"/>
            </a:solidFill>
            <a:prstDash val="solid"/>
          </a:ln>
        </p:spPr>
      </p:sp>
      <p:sp>
        <p:nvSpPr>
          <p:cNvPr id="6" name="Text 4"/>
          <p:cNvSpPr/>
          <p:nvPr/>
        </p:nvSpPr>
        <p:spPr>
          <a:xfrm>
            <a:off x="10692079" y="402336"/>
            <a:ext cx="932688"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SLIDE</a:t>
            </a:r>
            <a:endParaRPr lang="en-US" sz="900" dirty="0"/>
          </a:p>
        </p:txBody>
      </p:sp>
      <p:sp>
        <p:nvSpPr>
          <p:cNvPr id="7" name="Shape 5"/>
          <p:cNvSpPr/>
          <p:nvPr/>
        </p:nvSpPr>
        <p:spPr>
          <a:xfrm>
            <a:off x="566928" y="1298448"/>
            <a:ext cx="11057839" cy="2554986"/>
          </a:xfrm>
          <a:prstGeom prst="roundRect">
            <a:avLst>
              <a:gd name="adj" fmla="val 2863"/>
            </a:avLst>
          </a:prstGeom>
          <a:solidFill>
            <a:srgbClr val="F3F6F2"/>
          </a:solidFill>
          <a:ln w="9525">
            <a:solidFill>
              <a:srgbClr val="D4DCD5"/>
            </a:solidFill>
            <a:prstDash val="solid"/>
          </a:ln>
        </p:spPr>
      </p:sp>
      <p:sp>
        <p:nvSpPr>
          <p:cNvPr id="8" name="Text 6"/>
          <p:cNvSpPr/>
          <p:nvPr/>
        </p:nvSpPr>
        <p:spPr>
          <a:xfrm>
            <a:off x="749808" y="1444752"/>
            <a:ext cx="10692079" cy="2262378"/>
          </a:xfrm>
          <a:prstGeom prst="rect">
            <a:avLst/>
          </a:prstGeom>
          <a:noFill/>
          <a:ln/>
        </p:spPr>
        <p:txBody>
          <a:bodyPr wrap="square" lIns="0" tIns="0" rIns="0" bIns="0" rtlCol="0" anchor="t"/>
          <a:lstStyle/>
          <a:p>
            <a:pPr indent="0" marL="0">
              <a:buNone/>
            </a:pPr>
            <a:r>
              <a:rPr lang="en-US" sz="1000" dirty="0">
                <a:solidFill>
                  <a:srgbClr val="14301C"/>
                </a:solidFill>
                <a:latin typeface="Courier New" pitchFamily="34" charset="0"/>
                <a:ea typeface="Courier New" pitchFamily="34" charset="-122"/>
                <a:cs typeface="Courier New" pitchFamily="34" charset="-120"/>
              </a:rPr>
              <a:t>FSH surge → RECRUITMENT (cohort of 5–20 follicles, ~4 mm)</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GROWTH (all together, ~1.5 mm/day)</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DEVIATION at ~8.5 mm ← the critical moment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DOMINANT follicle: acquires LH receptors on granulosa</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 switches from FSH-dependent to LH-dependent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 produces ESTRADIOL + INHIBIN → suppresses FSH</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SUBORDINATE follicles: lose FSH support → ATRESIA</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Dominant follicle: OVULATES (if P4 is low) or becomes ATRETIC (if P4 is high)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Two-wave and three-wave cycles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S6   |   7</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2618962"/>
                <a:gridCol w="4219439"/>
                <a:gridCol w="4219439"/>
              </a:tblGrid>
              <a:tr h="398399">
                <a:tc>
                  <a:txBody>
                    <a:bodyPr/>
                    <a:lstStyle/>
                    <a:p>
                      <a:pPr indent="0" marL="0">
                        <a:buNone/>
                      </a:pPr>
                      <a:r>
                        <a:rPr lang="en-US" sz="1200" dirty="0">
                          <a:solidFill>
                            <a:srgbClr val="000000"/>
                          </a:solidFill>
                        </a:rPr>
                        <a:t> </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2-wave cycle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3-wave cycle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b="1" dirty="0">
                          <a:solidFill>
                            <a:srgbClr val="000000"/>
                          </a:solidFill>
                        </a:rPr>
                        <a:t>Wave emergence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Day 0 and Day ~9–10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Day 0, ~9, ~16</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Cycle length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~20–21 days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~22–23 days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More common in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High-producing lactating cows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Heifers, lower-producing cows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Ovulatory follicle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Older, longer dominance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Younger, shorter dominance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
        <p:nvSpPr>
          <p:cNvPr id="6" name="Shape 3"/>
          <p:cNvSpPr/>
          <p:nvPr/>
        </p:nvSpPr>
        <p:spPr>
          <a:xfrm>
            <a:off x="566928" y="3583051"/>
            <a:ext cx="11057839" cy="990854"/>
          </a:xfrm>
          <a:prstGeom prst="roundRect">
            <a:avLst>
              <a:gd name="adj" fmla="val 8306"/>
            </a:avLst>
          </a:prstGeom>
          <a:solidFill>
            <a:srgbClr val="E8F0E6"/>
          </a:solidFill>
          <a:ln w="9525">
            <a:solidFill>
              <a:srgbClr val="6FA368"/>
            </a:solidFill>
            <a:prstDash val="solid"/>
          </a:ln>
        </p:spPr>
      </p:sp>
      <p:sp>
        <p:nvSpPr>
          <p:cNvPr id="7" name="Text 4"/>
          <p:cNvSpPr/>
          <p:nvPr/>
        </p:nvSpPr>
        <p:spPr>
          <a:xfrm>
            <a:off x="786384" y="3747643"/>
            <a:ext cx="10618927" cy="661670"/>
          </a:xfrm>
          <a:prstGeom prst="rect">
            <a:avLst/>
          </a:prstGeom>
          <a:noFill/>
          <a:ln/>
        </p:spPr>
        <p:txBody>
          <a:bodyPr wrap="square" lIns="0" tIns="0" rIns="0" bIns="0" rtlCol="0" anchor="t"/>
          <a:lstStyle/>
          <a:p>
            <a:pPr indent="0" marL="0">
              <a:buNone/>
            </a:pPr>
            <a:r>
              <a:rPr lang="en-US" dirty="0">
                <a:solidFill>
                  <a:srgbClr val="000000"/>
                </a:solidFill>
              </a:rPr>
              <a:t>Practical consequence:</a:t>
            </a:r>
            <a:pPr indent="0" marL="0">
              <a:buNone/>
            </a:pPr>
            <a:r>
              <a:rPr lang="en-US" dirty="0">
                <a:solidFill>
                  <a:srgbClr val="000000"/>
                </a:solidFill>
              </a:rPr>
              <a:t> a follicle that has been dominant too long produces an </a:t>
            </a:r>
            <a:pPr indent="0" marL="0">
              <a:buNone/>
            </a:pPr>
            <a:r>
              <a:rPr lang="en-US" dirty="0">
                <a:solidFill>
                  <a:srgbClr val="000000"/>
                </a:solidFill>
              </a:rPr>
              <a:t>aged oocyte</a:t>
            </a:r>
            <a:pPr indent="0" marL="0">
              <a:buNone/>
            </a:pPr>
            <a:r>
              <a:rPr lang="en-US" dirty="0">
                <a:solidFill>
                  <a:srgbClr val="000000"/>
                </a:solidFill>
              </a:rPr>
              <a:t> with lower fertility.</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Why a single GnRH injection often fails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S7   |   8</a:t>
            </a:r>
            <a:endParaRPr lang="en-US" sz="950" dirty="0"/>
          </a:p>
        </p:txBody>
      </p:sp>
      <p:sp>
        <p:nvSpPr>
          <p:cNvPr id="5" name="Text 3"/>
          <p:cNvSpPr/>
          <p:nvPr/>
        </p:nvSpPr>
        <p:spPr>
          <a:xfrm>
            <a:off x="621792" y="1298448"/>
            <a:ext cx="11002975" cy="1704340"/>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GnRH ovulates the dominant follicle </a:t>
            </a:r>
            <a:pPr indent="0" marL="0">
              <a:buNone/>
            </a:pPr>
            <a:r>
              <a:rPr lang="en-US" dirty="0">
                <a:solidFill>
                  <a:srgbClr val="000000"/>
                </a:solidFill>
              </a:rPr>
              <a:t>only if that follicle is LH-responsive</a:t>
            </a:r>
            <a:pPr indent="0" marL="0">
              <a:buNone/>
            </a:pPr>
            <a:r>
              <a:rPr lang="en-US" dirty="0">
                <a:solidFill>
                  <a:srgbClr val="000000"/>
                </a:solidFill>
              </a:rPr>
              <a:t> — i.e. past deviation, growing, and not yet atretic</a:t>
            </a:r>
            <a:endParaRPr lang="en-US" dirty="0"/>
          </a:p>
          <a:p>
            <a:pPr marL="342900" indent="-342900">
              <a:spcAft>
                <a:spcPts val="500"/>
              </a:spcAft>
              <a:buSzPct val="100000"/>
              <a:buChar char="•"/>
            </a:pPr>
            <a:r>
              <a:rPr lang="en-US" dirty="0">
                <a:solidFill>
                  <a:srgbClr val="000000"/>
                </a:solidFill>
              </a:rPr>
              <a:t>At a random stage of the cycle, ovulatory response to GnRH is only about </a:t>
            </a:r>
            <a:pPr indent="0" marL="0">
              <a:buNone/>
            </a:pPr>
            <a:r>
              <a:rPr lang="en-US" dirty="0">
                <a:solidFill>
                  <a:srgbClr val="000000"/>
                </a:solidFill>
              </a:rPr>
              <a:t>50–60%</a:t>
            </a:r>
            <a:pPr indent="0" marL="0">
              <a:buNone/>
            </a:pPr>
            <a:r>
              <a:rPr lang="en-US" dirty="0">
                <a:solidFill>
                  <a:srgbClr val="000000"/>
                </a:solidFill>
              </a:rPr>
              <a:t> </a:t>
            </a:r>
            <a:pPr indent="0" marL="0">
              <a:buNone/>
            </a:pPr>
            <a:r>
              <a:rPr lang="en-US" dirty="0">
                <a:solidFill>
                  <a:srgbClr val="000000"/>
                </a:solidFill>
              </a:rPr>
              <a:t>(published range)</a:t>
            </a:r>
            <a:endParaRPr lang="en-US" dirty="0"/>
          </a:p>
          <a:p>
            <a:pPr marL="342900" indent="-342900">
              <a:spcAft>
                <a:spcPts val="500"/>
              </a:spcAft>
              <a:buSzPct val="100000"/>
              <a:buChar char="•"/>
            </a:pPr>
            <a:r>
              <a:rPr lang="en-US" dirty="0">
                <a:solidFill>
                  <a:srgbClr val="000000"/>
                </a:solidFill>
              </a:rPr>
              <a:t>Response is highest when GnRH is given </a:t>
            </a:r>
            <a:pPr indent="0" marL="0">
              <a:buNone/>
            </a:pPr>
            <a:r>
              <a:rPr lang="en-US" dirty="0">
                <a:solidFill>
                  <a:srgbClr val="000000"/>
                </a:solidFill>
              </a:rPr>
              <a:t>around Day 5–9 of the cycle</a:t>
            </a:r>
            <a:endParaRPr lang="en-US" dirty="0"/>
          </a:p>
          <a:p>
            <a:pPr marL="342900" indent="-342900">
              <a:spcAft>
                <a:spcPts val="500"/>
              </a:spcAft>
              <a:buSzPct val="100000"/>
              <a:buChar char="•"/>
            </a:pPr>
            <a:r>
              <a:rPr lang="en-US" dirty="0">
                <a:solidFill>
                  <a:srgbClr val="000000"/>
                </a:solidFill>
              </a:rPr>
              <a:t>This single fact is the reason Presynch, G6G and Double-Ovsynch exist.</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Anovulation — the tropical reality</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S8   |   9</a:t>
            </a:r>
            <a:endParaRPr lang="en-US" sz="950" dirty="0"/>
          </a:p>
        </p:txBody>
      </p:sp>
      <p:sp>
        <p:nvSpPr>
          <p:cNvPr id="5" name="Text 3"/>
          <p:cNvSpPr/>
          <p:nvPr/>
        </p:nvSpPr>
        <p:spPr>
          <a:xfrm>
            <a:off x="566928" y="1298448"/>
            <a:ext cx="11057839" cy="858012"/>
          </a:xfrm>
          <a:prstGeom prst="rect">
            <a:avLst/>
          </a:prstGeom>
          <a:noFill/>
          <a:ln/>
        </p:spPr>
        <p:txBody>
          <a:bodyPr wrap="square" lIns="0" tIns="0" rIns="0" bIns="0" rtlCol="0" anchor="t"/>
          <a:lstStyle/>
          <a:p>
            <a:pPr indent="0" marL="0">
              <a:buNone/>
            </a:pPr>
            <a:r>
              <a:rPr lang="en-US" dirty="0">
                <a:solidFill>
                  <a:srgbClr val="000000"/>
                </a:solidFill>
              </a:rPr>
              <a:t>Prevalence of anovular cows at first breeding: </a:t>
            </a:r>
            <a:pPr indent="0" marL="0">
              <a:buNone/>
            </a:pPr>
            <a:r>
              <a:rPr lang="en-US" dirty="0">
                <a:solidFill>
                  <a:srgbClr val="000000"/>
                </a:solidFill>
              </a:rPr>
              <a:t>~15–40% of lactating dairy cows</a:t>
            </a:r>
            <a:pPr indent="0" marL="0">
              <a:buNone/>
            </a:pPr>
            <a:r>
              <a:rPr lang="en-US" dirty="0">
                <a:solidFill>
                  <a:srgbClr val="000000"/>
                </a:solidFill>
              </a:rPr>
              <a:t>, higher with low BCS, high NEB, heat stress </a:t>
            </a:r>
            <a:pPr indent="0" marL="0">
              <a:buNone/>
            </a:pPr>
            <a:r>
              <a:rPr lang="en-US" dirty="0">
                <a:solidFill>
                  <a:srgbClr val="000000"/>
                </a:solidFill>
              </a:rPr>
              <a:t>(published range)</a:t>
            </a:r>
            <a:pPr indent="0" marL="0">
              <a:buNone/>
            </a:pPr>
            <a:r>
              <a:rPr lang="en-US" dirty="0">
                <a:solidFill>
                  <a:srgbClr val="000000"/>
                </a:solidFill>
              </a:rPr>
              <a:t> Causes: negative energy balance · low BCS · heat stress · uterine disease · mineral deficiency (P, Cu, Se, Zn) · parasites · lameness · slippery flooring · poor observation</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The decision tree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S9   |   10</a:t>
            </a:r>
            <a:endParaRPr lang="en-US" sz="950" dirty="0"/>
          </a:p>
        </p:txBody>
      </p:sp>
      <p:sp>
        <p:nvSpPr>
          <p:cNvPr id="5" name="Shape 3"/>
          <p:cNvSpPr/>
          <p:nvPr/>
        </p:nvSpPr>
        <p:spPr>
          <a:xfrm>
            <a:off x="566928" y="1298448"/>
            <a:ext cx="11057839" cy="1376172"/>
          </a:xfrm>
          <a:prstGeom prst="roundRect">
            <a:avLst>
              <a:gd name="adj" fmla="val 5316"/>
            </a:avLst>
          </a:prstGeom>
          <a:solidFill>
            <a:srgbClr val="F3F6F2"/>
          </a:solidFill>
          <a:ln w="9525">
            <a:solidFill>
              <a:srgbClr val="D4DCD5"/>
            </a:solidFill>
            <a:prstDash val="solid"/>
          </a:ln>
        </p:spPr>
      </p:sp>
      <p:sp>
        <p:nvSpPr>
          <p:cNvPr id="6" name="Text 4"/>
          <p:cNvSpPr/>
          <p:nvPr/>
        </p:nvSpPr>
        <p:spPr>
          <a:xfrm>
            <a:off x="749808" y="1444752"/>
            <a:ext cx="10692079" cy="1083564"/>
          </a:xfrm>
          <a:prstGeom prst="rect">
            <a:avLst/>
          </a:prstGeom>
          <a:noFill/>
          <a:ln/>
        </p:spPr>
        <p:txBody>
          <a:bodyPr wrap="square" lIns="0" tIns="0" rIns="0" bIns="0" rtlCol="0" anchor="t"/>
          <a:lstStyle/>
          <a:p>
            <a:pPr indent="0" marL="0">
              <a:buNone/>
            </a:pPr>
            <a:r>
              <a:rPr lang="en-US" sz="1000" dirty="0">
                <a:solidFill>
                  <a:srgbClr val="14301C"/>
                </a:solidFill>
                <a:latin typeface="Courier New" pitchFamily="34" charset="0"/>
                <a:ea typeface="Courier New" pitchFamily="34" charset="-122"/>
                <a:cs typeface="Courier New" pitchFamily="34" charset="-120"/>
              </a:rPr>
              <a:t>Is she cycling? (recorded estrus, CL present)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 YES ──┬── Heifer → 5-d CO-Synch+CIDR, or 14-d CIDR-PG, or double PGF</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 └── Cow → Ovsynch / Presynch-Ovsynch / G6G / Double-Ovsynch</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 NO (anovular, thin, &gt;60 DIM no heat)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 P4-BASED protocol mandatory (CIDR ± eCG) — never PGF alone</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Purpose = EMBRYO TRANSFER RECIPIENT? → FTET (S30–S33)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4A2C"/>
        </a:solidFill>
      </p:bgPr>
    </p:bg>
    <p:spTree>
      <p:nvGrpSpPr>
        <p:cNvPr id="1" name=""/>
        <p:cNvGrpSpPr/>
        <p:nvPr/>
      </p:nvGrpSpPr>
      <p:grpSpPr>
        <a:xfrm>
          <a:off x="0" y="0"/>
          <a:ext cx="0" cy="0"/>
          <a:chOff x="0" y="0"/>
          <a:chExt cx="0" cy="0"/>
        </a:xfrm>
      </p:grpSpPr>
      <p:sp>
        <p:nvSpPr>
          <p:cNvPr id="2" name="Shape 0"/>
          <p:cNvSpPr/>
          <p:nvPr/>
        </p:nvSpPr>
        <p:spPr>
          <a:xfrm>
            <a:off x="10058400" y="4572000"/>
            <a:ext cx="3291840" cy="3291840"/>
          </a:xfrm>
          <a:prstGeom prst="ellipse">
            <a:avLst/>
          </a:prstGeom>
          <a:solidFill>
            <a:srgbClr val="14301C"/>
          </a:solidFill>
          <a:ln/>
        </p:spPr>
      </p:sp>
      <p:sp>
        <p:nvSpPr>
          <p:cNvPr id="3" name="Text 1"/>
          <p:cNvSpPr/>
          <p:nvPr/>
        </p:nvSpPr>
        <p:spPr>
          <a:xfrm>
            <a:off x="841248" y="2148840"/>
            <a:ext cx="10058400" cy="411480"/>
          </a:xfrm>
          <a:prstGeom prst="rect">
            <a:avLst/>
          </a:prstGeom>
          <a:noFill/>
          <a:ln/>
        </p:spPr>
        <p:txBody>
          <a:bodyPr wrap="square" lIns="0" tIns="0" rIns="0" bIns="0" rtlCol="0" anchor="ctr"/>
          <a:lstStyle/>
          <a:p>
            <a:pPr indent="0" marL="0">
              <a:buNone/>
            </a:pPr>
            <a:r>
              <a:rPr lang="en-US" sz="1500" b="1" spc="200" kern="0" dirty="0">
                <a:solidFill>
                  <a:srgbClr val="6FA368"/>
                </a:solidFill>
                <a:latin typeface="Calibri" pitchFamily="34" charset="0"/>
                <a:ea typeface="Calibri" pitchFamily="34" charset="-122"/>
                <a:cs typeface="Calibri" pitchFamily="34" charset="-120"/>
              </a:rPr>
              <a:t>PART 2-B</a:t>
            </a:r>
            <a:endParaRPr lang="en-US" sz="1500" dirty="0"/>
          </a:p>
        </p:txBody>
      </p:sp>
      <p:sp>
        <p:nvSpPr>
          <p:cNvPr id="4" name="Text 2"/>
          <p:cNvSpPr/>
          <p:nvPr/>
        </p:nvSpPr>
        <p:spPr>
          <a:xfrm>
            <a:off x="841248" y="2606040"/>
            <a:ext cx="1005840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THE HORMONE TOOLS</a:t>
            </a:r>
            <a:endParaRPr lang="en-US" sz="3800" dirty="0"/>
          </a:p>
        </p:txBody>
      </p:sp>
      <p:sp>
        <p:nvSpPr>
          <p:cNvPr id="5" name="Text 3"/>
          <p:cNvSpPr/>
          <p:nvPr/>
        </p:nvSpPr>
        <p:spPr>
          <a:xfrm>
            <a:off x="841248" y="4160520"/>
            <a:ext cx="10058400" cy="457200"/>
          </a:xfrm>
          <a:prstGeom prst="rect">
            <a:avLst/>
          </a:prstGeom>
          <a:noFill/>
          <a:ln/>
        </p:spPr>
        <p:txBody>
          <a:bodyPr wrap="square" lIns="0" tIns="0" rIns="0" bIns="0" rtlCol="0" anchor="ctr"/>
          <a:lstStyle/>
          <a:p>
            <a:pPr indent="0" marL="0">
              <a:buNone/>
            </a:pPr>
            <a:r>
              <a:rPr lang="en-US" sz="1500" dirty="0">
                <a:solidFill>
                  <a:srgbClr val="C8D8C6"/>
                </a:solidFill>
                <a:latin typeface="Calibri" pitchFamily="34" charset="0"/>
                <a:ea typeface="Calibri" pitchFamily="34" charset="-122"/>
                <a:cs typeface="Calibri" pitchFamily="34" charset="-120"/>
              </a:rPr>
              <a:t>25 min, S10–S17</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Tool 1 — GnRH</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S10   |   11</a:t>
            </a:r>
            <a:endParaRPr lang="en-US" sz="950" dirty="0"/>
          </a:p>
        </p:txBody>
      </p:sp>
      <p:sp>
        <p:nvSpPr>
          <p:cNvPr id="5" name="Text 3"/>
          <p:cNvSpPr/>
          <p:nvPr/>
        </p:nvSpPr>
        <p:spPr>
          <a:xfrm>
            <a:off x="621792" y="1298448"/>
            <a:ext cx="11002975" cy="2267204"/>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Active ingredients: </a:t>
            </a:r>
            <a:pPr indent="0" marL="0">
              <a:buNone/>
            </a:pPr>
            <a:r>
              <a:rPr lang="en-US" dirty="0">
                <a:solidFill>
                  <a:srgbClr val="000000"/>
                </a:solidFill>
              </a:rPr>
              <a:t>gonadorelin, buserelin, lecirelin, deslorelin</a:t>
            </a:r>
            <a:pPr indent="0" marL="0">
              <a:buNone/>
            </a:pPr>
            <a:r>
              <a:rPr lang="en-US" dirty="0">
                <a:solidFill>
                  <a:srgbClr val="000000"/>
                </a:solidFill>
              </a:rPr>
              <a:t> </a:t>
            </a:r>
            <a:pPr indent="0" marL="0">
              <a:buNone/>
            </a:pPr>
            <a:r>
              <a:rPr lang="en-US" dirty="0">
                <a:solidFill>
                  <a:srgbClr val="000000"/>
                </a:solidFill>
              </a:rPr>
              <a:t>(availability varies)</a:t>
            </a:r>
            <a:endParaRPr lang="en-US" dirty="0"/>
          </a:p>
          <a:p>
            <a:pPr marL="342900" indent="-342900">
              <a:spcAft>
                <a:spcPts val="500"/>
              </a:spcAft>
              <a:buSzPct val="100000"/>
              <a:buChar char="•"/>
            </a:pPr>
            <a:r>
              <a:rPr lang="en-US" dirty="0">
                <a:solidFill>
                  <a:srgbClr val="000000"/>
                </a:solidFill>
              </a:rPr>
              <a:t>Mechanism: pituitary → </a:t>
            </a:r>
            <a:pPr indent="0" marL="0">
              <a:buNone/>
            </a:pPr>
            <a:r>
              <a:rPr lang="en-US" dirty="0">
                <a:solidFill>
                  <a:srgbClr val="000000"/>
                </a:solidFill>
              </a:rPr>
              <a:t>LH surge (and FSH)</a:t>
            </a:r>
            <a:pPr indent="0" marL="0">
              <a:buNone/>
            </a:pPr>
            <a:r>
              <a:rPr lang="en-US" dirty="0">
                <a:solidFill>
                  <a:srgbClr val="000000"/>
                </a:solidFill>
              </a:rPr>
              <a:t> → ovulation or luteinization of an LH-responsive dominant follicle → </a:t>
            </a:r>
            <a:pPr indent="0" marL="0">
              <a:buNone/>
            </a:pPr>
            <a:r>
              <a:rPr lang="en-US" dirty="0">
                <a:solidFill>
                  <a:srgbClr val="000000"/>
                </a:solidFill>
              </a:rPr>
              <a:t>new follicular wave emerges ~1.5–2 days later</a:t>
            </a:r>
            <a:endParaRPr lang="en-US" dirty="0"/>
          </a:p>
          <a:p>
            <a:pPr marL="342900" indent="-342900">
              <a:spcAft>
                <a:spcPts val="500"/>
              </a:spcAft>
              <a:buSzPct val="100000"/>
              <a:buChar char="•"/>
            </a:pPr>
            <a:r>
              <a:rPr lang="en-US" dirty="0">
                <a:solidFill>
                  <a:srgbClr val="000000"/>
                </a:solidFill>
              </a:rPr>
              <a:t>Works at </a:t>
            </a:r>
            <a:pPr indent="0" marL="0">
              <a:buNone/>
            </a:pPr>
            <a:r>
              <a:rPr lang="en-US" dirty="0">
                <a:solidFill>
                  <a:srgbClr val="000000"/>
                </a:solidFill>
              </a:rPr>
              <a:t>any stage</a:t>
            </a:r>
            <a:pPr indent="0" marL="0">
              <a:buNone/>
            </a:pPr>
            <a:r>
              <a:rPr lang="en-US" dirty="0">
                <a:solidFill>
                  <a:srgbClr val="000000"/>
                </a:solidFill>
              </a:rPr>
              <a:t> of the cycle (unlike PGF)</a:t>
            </a:r>
            <a:endParaRPr lang="en-US" dirty="0"/>
          </a:p>
          <a:p>
            <a:pPr marL="342900" indent="-342900">
              <a:spcAft>
                <a:spcPts val="500"/>
              </a:spcAft>
              <a:buSzPct val="100000"/>
              <a:buChar char="•"/>
            </a:pPr>
            <a:r>
              <a:rPr lang="en-US" dirty="0">
                <a:solidFill>
                  <a:srgbClr val="000000"/>
                </a:solidFill>
              </a:rPr>
              <a:t>Secondary effect: forms an </a:t>
            </a:r>
            <a:pPr indent="0" marL="0">
              <a:buNone/>
            </a:pPr>
            <a:r>
              <a:rPr lang="en-US" dirty="0">
                <a:solidFill>
                  <a:srgbClr val="000000"/>
                </a:solidFill>
              </a:rPr>
              <a:t>accessory CL</a:t>
            </a:r>
            <a:endParaRPr lang="en-US" dirty="0"/>
          </a:p>
          <a:p>
            <a:pPr marL="342900" indent="-342900">
              <a:spcAft>
                <a:spcPts val="500"/>
              </a:spcAft>
              <a:buSzPct val="100000"/>
              <a:buChar char="•"/>
            </a:pPr>
            <a:r>
              <a:rPr lang="en-US" dirty="0">
                <a:solidFill>
                  <a:srgbClr val="000000"/>
                </a:solidFill>
              </a:rPr>
              <a:t>Uses: first injection of Ovsynch · ovulation trigger before TAI · follicular cyst treatment · Day-5 post-AI in selected protocols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Tool 2 — PGF2α</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S11   |   12</a:t>
            </a:r>
            <a:endParaRPr lang="en-US" sz="950" dirty="0"/>
          </a:p>
        </p:txBody>
      </p:sp>
      <p:sp>
        <p:nvSpPr>
          <p:cNvPr id="5" name="Text 3"/>
          <p:cNvSpPr/>
          <p:nvPr/>
        </p:nvSpPr>
        <p:spPr>
          <a:xfrm>
            <a:off x="621792" y="1298448"/>
            <a:ext cx="11002975" cy="2036064"/>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Active ingredients: </a:t>
            </a:r>
            <a:pPr indent="0" marL="0">
              <a:buNone/>
            </a:pPr>
            <a:r>
              <a:rPr lang="en-US" dirty="0">
                <a:solidFill>
                  <a:srgbClr val="000000"/>
                </a:solidFill>
              </a:rPr>
              <a:t>dinoprost tromethamine (natural), cloprostenol (synthetic analogue)</a:t>
            </a:r>
            <a:endParaRPr lang="en-US" dirty="0"/>
          </a:p>
          <a:p>
            <a:pPr marL="342900" indent="-342900">
              <a:spcAft>
                <a:spcPts val="500"/>
              </a:spcAft>
              <a:buSzPct val="100000"/>
              <a:buChar char="•"/>
            </a:pPr>
            <a:r>
              <a:rPr lang="en-US" dirty="0">
                <a:solidFill>
                  <a:srgbClr val="000000"/>
                </a:solidFill>
              </a:rPr>
              <a:t>Mechanism: </a:t>
            </a:r>
            <a:pPr indent="0" marL="0">
              <a:buNone/>
            </a:pPr>
            <a:r>
              <a:rPr lang="en-US" dirty="0">
                <a:solidFill>
                  <a:srgbClr val="000000"/>
                </a:solidFill>
              </a:rPr>
              <a:t>luteolysis</a:t>
            </a:r>
            <a:pPr indent="0" marL="0">
              <a:buNone/>
            </a:pPr>
            <a:r>
              <a:rPr lang="en-US" dirty="0">
                <a:solidFill>
                  <a:srgbClr val="000000"/>
                </a:solidFill>
              </a:rPr>
              <a:t> — destroys the CL → progesterone falls → brake released → estrus in </a:t>
            </a:r>
            <a:pPr indent="0" marL="0">
              <a:buNone/>
            </a:pPr>
            <a:r>
              <a:rPr lang="en-US" dirty="0">
                <a:solidFill>
                  <a:srgbClr val="000000"/>
                </a:solidFill>
              </a:rPr>
              <a:t>2–5 days</a:t>
            </a:r>
            <a:pPr indent="0" marL="0">
              <a:buNone/>
            </a:pPr>
            <a:r>
              <a:rPr lang="en-US" dirty="0">
                <a:solidFill>
                  <a:srgbClr val="000000"/>
                </a:solidFill>
              </a:rPr>
              <a:t> (most 48–96 h)</a:t>
            </a:r>
            <a:endParaRPr lang="en-US" dirty="0"/>
          </a:p>
          <a:p>
            <a:pPr marL="342900" indent="-342900">
              <a:spcAft>
                <a:spcPts val="500"/>
              </a:spcAft>
              <a:buSzPct val="100000"/>
              <a:buChar char="•"/>
            </a:pPr>
            <a:r>
              <a:rPr lang="en-US" dirty="0">
                <a:solidFill>
                  <a:srgbClr val="000000"/>
                </a:solidFill>
              </a:rPr>
              <a:t>Only effective on a CL from about Day 6 to Day 17.</a:t>
            </a:r>
            <a:pPr indent="0" marL="0">
              <a:buNone/>
            </a:pPr>
            <a:r>
              <a:rPr lang="en-US" dirty="0">
                <a:solidFill>
                  <a:srgbClr val="000000"/>
                </a:solidFill>
              </a:rPr>
              <a:t> A CL younger than 5–6 days is refractory.</a:t>
            </a:r>
            <a:endParaRPr lang="en-US" dirty="0"/>
          </a:p>
          <a:p>
            <a:pPr marL="342900" indent="-342900">
              <a:spcAft>
                <a:spcPts val="500"/>
              </a:spcAft>
              <a:buSzPct val="100000"/>
              <a:buChar char="•"/>
            </a:pPr>
            <a:r>
              <a:rPr lang="en-US" dirty="0">
                <a:solidFill>
                  <a:srgbClr val="000000"/>
                </a:solidFill>
              </a:rPr>
              <a:t>Route: IM. Follow the registered label dose.</a:t>
            </a:r>
            <a:endParaRPr lang="en-US" dirty="0"/>
          </a:p>
          <a:p>
            <a:pPr marL="342900" indent="-342900">
              <a:spcAft>
                <a:spcPts val="500"/>
              </a:spcAft>
              <a:buSzPct val="100000"/>
              <a:buChar char="•"/>
            </a:pPr>
            <a:r>
              <a:rPr lang="en-US" dirty="0">
                <a:solidFill>
                  <a:srgbClr val="000000"/>
                </a:solidFill>
              </a:rPr>
              <a:t>WARNING: </a:t>
            </a:r>
            <a:pPr indent="0" marL="0">
              <a:buNone/>
            </a:pPr>
            <a:r>
              <a:rPr lang="en-US" dirty="0">
                <a:solidFill>
                  <a:srgbClr val="000000"/>
                </a:solidFill>
              </a:rPr>
              <a:t>SAFETY: absorbed through intact skin. Pregnant women and people with asthma must not handle it. Wear gloves. Recap needles.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Tool 3 — Progesterone devices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S12   |   13</a:t>
            </a:r>
            <a:endParaRPr lang="en-US" sz="950" dirty="0"/>
          </a:p>
        </p:txBody>
      </p:sp>
      <p:sp>
        <p:nvSpPr>
          <p:cNvPr id="5" name="Text 3"/>
          <p:cNvSpPr/>
          <p:nvPr/>
        </p:nvSpPr>
        <p:spPr>
          <a:xfrm>
            <a:off x="621792" y="1298448"/>
            <a:ext cx="11002975" cy="2800096"/>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CIDR</a:t>
            </a:r>
            <a:pPr indent="0" marL="0">
              <a:buNone/>
            </a:pPr>
            <a:r>
              <a:rPr lang="en-US" dirty="0">
                <a:solidFill>
                  <a:srgbClr val="000000"/>
                </a:solidFill>
              </a:rPr>
              <a:t> (intravaginal silicone T with progesterone) · </a:t>
            </a:r>
            <a:pPr indent="0" marL="0">
              <a:buNone/>
            </a:pPr>
            <a:r>
              <a:rPr lang="en-US" dirty="0">
                <a:solidFill>
                  <a:srgbClr val="000000"/>
                </a:solidFill>
              </a:rPr>
              <a:t>PRID Delta</a:t>
            </a:r>
            <a:pPr indent="0" marL="0">
              <a:buNone/>
            </a:pPr>
            <a:r>
              <a:rPr lang="en-US" dirty="0">
                <a:solidFill>
                  <a:srgbClr val="000000"/>
                </a:solidFill>
              </a:rPr>
              <a:t> — an artificial corpus luteum</a:t>
            </a:r>
            <a:endParaRPr lang="en-US" dirty="0"/>
          </a:p>
          <a:p>
            <a:pPr marL="342900" indent="-342900">
              <a:spcAft>
                <a:spcPts val="500"/>
              </a:spcAft>
              <a:buSzPct val="100000"/>
              <a:buChar char="•"/>
            </a:pPr>
            <a:r>
              <a:rPr lang="en-US" dirty="0">
                <a:solidFill>
                  <a:srgbClr val="000000"/>
                </a:solidFill>
              </a:rPr>
              <a:t>Functions:</a:t>
            </a:r>
            <a:endParaRPr lang="en-US" dirty="0"/>
          </a:p>
          <a:p>
            <a:pPr marL="342900" indent="-342900">
              <a:spcAft>
                <a:spcPts val="500"/>
              </a:spcAft>
              <a:buSzPct val="100000"/>
              <a:buChar char="•"/>
            </a:pPr>
            <a:r>
              <a:rPr lang="en-US" dirty="0">
                <a:solidFill>
                  <a:srgbClr val="000000"/>
                </a:solidFill>
              </a:rPr>
              <a:t>Blocks the LH surge</a:t>
            </a:r>
            <a:pPr indent="0" marL="0">
              <a:buNone/>
            </a:pPr>
            <a:r>
              <a:rPr lang="en-US" dirty="0">
                <a:solidFill>
                  <a:srgbClr val="000000"/>
                </a:solidFill>
              </a:rPr>
              <a:t> → prevents premature estrus → true synchrony</a:t>
            </a:r>
            <a:endParaRPr lang="en-US" dirty="0"/>
          </a:p>
          <a:p>
            <a:pPr marL="342900" indent="-342900">
              <a:spcAft>
                <a:spcPts val="500"/>
              </a:spcAft>
              <a:buSzPct val="100000"/>
              <a:buChar char="•"/>
            </a:pPr>
            <a:r>
              <a:rPr lang="en-US" dirty="0">
                <a:solidFill>
                  <a:srgbClr val="000000"/>
                </a:solidFill>
              </a:rPr>
              <a:t>Primes anovular animals</a:t>
            </a:r>
            <a:pPr indent="0" marL="0">
              <a:buNone/>
            </a:pPr>
            <a:r>
              <a:rPr lang="en-US" dirty="0">
                <a:solidFill>
                  <a:srgbClr val="000000"/>
                </a:solidFill>
              </a:rPr>
              <a:t> — restores hypothalamic sensitivity, induces cyclicity</a:t>
            </a:r>
            <a:endParaRPr lang="en-US" dirty="0"/>
          </a:p>
          <a:p>
            <a:pPr marL="342900" indent="-342900">
              <a:spcAft>
                <a:spcPts val="500"/>
              </a:spcAft>
              <a:buSzPct val="100000"/>
              <a:buChar char="•"/>
            </a:pPr>
            <a:r>
              <a:rPr lang="en-US" dirty="0">
                <a:solidFill>
                  <a:srgbClr val="000000"/>
                </a:solidFill>
              </a:rPr>
              <a:t>Allows synchronization when </a:t>
            </a:r>
            <a:pPr indent="0" marL="0">
              <a:buNone/>
            </a:pPr>
            <a:r>
              <a:rPr lang="en-US" dirty="0">
                <a:solidFill>
                  <a:srgbClr val="000000"/>
                </a:solidFill>
              </a:rPr>
              <a:t>no CL exists</a:t>
            </a:r>
            <a:pPr indent="0" marL="0">
              <a:buNone/>
            </a:pPr>
            <a:r>
              <a:rPr lang="en-US" dirty="0">
                <a:solidFill>
                  <a:srgbClr val="000000"/>
                </a:solidFill>
              </a:rPr>
              <a:t> — where PGF is useless</a:t>
            </a:r>
            <a:endParaRPr lang="en-US" dirty="0"/>
          </a:p>
          <a:p>
            <a:pPr marL="342900" indent="-342900">
              <a:spcAft>
                <a:spcPts val="500"/>
              </a:spcAft>
              <a:buSzPct val="100000"/>
              <a:buChar char="•"/>
            </a:pPr>
            <a:r>
              <a:rPr lang="en-US" dirty="0">
                <a:solidFill>
                  <a:srgbClr val="000000"/>
                </a:solidFill>
              </a:rPr>
              <a:t>On removal: P4 falls sharply → estrus follows in 2–3 days</a:t>
            </a:r>
            <a:endParaRPr lang="en-US" dirty="0"/>
          </a:p>
          <a:p>
            <a:pPr marL="342900" indent="-342900">
              <a:spcAft>
                <a:spcPts val="500"/>
              </a:spcAft>
              <a:buSzPct val="100000"/>
              <a:buChar char="•"/>
            </a:pPr>
            <a:r>
              <a:rPr lang="en-US" dirty="0">
                <a:solidFill>
                  <a:srgbClr val="000000"/>
                </a:solidFill>
              </a:rPr>
              <a:t>Hygiene: clean applicator between animals; check retention at removal; dispose of used devices properly</a:t>
            </a:r>
            <a:endParaRPr lang="en-US" dirty="0"/>
          </a:p>
          <a:p>
            <a:pPr marL="342900" indent="-342900">
              <a:spcAft>
                <a:spcPts val="500"/>
              </a:spcAft>
              <a:buSzPct val="100000"/>
              <a:buChar char="•"/>
            </a:pPr>
            <a:r>
              <a:rPr lang="en-US" dirty="0">
                <a:solidFill>
                  <a:srgbClr val="000000"/>
                </a:solidFill>
              </a:rPr>
              <a:t>Note: a used device retains hormone — </a:t>
            </a:r>
            <a:pPr indent="0" marL="0">
              <a:buNone/>
            </a:pPr>
            <a:r>
              <a:rPr lang="en-US" dirty="0">
                <a:solidFill>
                  <a:srgbClr val="000000"/>
                </a:solidFill>
              </a:rPr>
              <a:t>never re-use without following the manufacturer/veterinary guidance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Tool 4 — eCG, hCG, estradiol</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S13   |   14</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3112577"/>
                <a:gridCol w="3358307"/>
                <a:gridCol w="4586956"/>
              </a:tblGrid>
              <a:tr h="398399">
                <a:tc>
                  <a:txBody>
                    <a:bodyPr/>
                    <a:lstStyle/>
                    <a:p>
                      <a:pPr indent="0" marL="0">
                        <a:buNone/>
                      </a:pPr>
                      <a:r>
                        <a:rPr lang="en-US" sz="1200" dirty="0">
                          <a:solidFill>
                            <a:srgbClr val="000000"/>
                          </a:solidFill>
                        </a:rPr>
                        <a:t>Hormone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Action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Use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604774">
                <a:tc>
                  <a:txBody>
                    <a:bodyPr/>
                    <a:lstStyle/>
                    <a:p>
                      <a:pPr indent="0" marL="0">
                        <a:buNone/>
                      </a:pPr>
                      <a:r>
                        <a:rPr lang="en-US" sz="1200" b="1" dirty="0">
                          <a:solidFill>
                            <a:srgbClr val="000000"/>
                          </a:solidFill>
                        </a:rPr>
                        <a:t>eCG (PMSG)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FSH-like with LH activity, long half-life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At device removal in </a:t>
                      </a:r>
                      <a:pPr indent="0" marL="0">
                        <a:buNone/>
                      </a:pPr>
                      <a:r>
                        <a:rPr lang="en-US" sz="1200" dirty="0">
                          <a:solidFill>
                            <a:srgbClr val="000000"/>
                          </a:solidFill>
                        </a:rPr>
                        <a:t>anovular, thin, suckled</a:t>
                      </a:r>
                      <a:pPr indent="0" marL="0">
                        <a:buNone/>
                      </a:pPr>
                      <a:r>
                        <a:rPr lang="en-US" sz="1200" dirty="0">
                          <a:solidFill>
                            <a:srgbClr val="000000"/>
                          </a:solidFill>
                        </a:rPr>
                        <a:t> animals → improves follicle growth and ovulation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b="1" dirty="0">
                          <a:solidFill>
                            <a:srgbClr val="000000"/>
                          </a:solidFill>
                        </a:rPr>
                        <a:t>hCG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LH-like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Alternative ovulation trigger; can induce an accessory CL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604774">
                <a:tc>
                  <a:txBody>
                    <a:bodyPr/>
                    <a:lstStyle/>
                    <a:p>
                      <a:pPr indent="0" marL="0">
                        <a:buNone/>
                      </a:pPr>
                      <a:r>
                        <a:rPr lang="en-US" sz="1200" b="1" dirty="0">
                          <a:solidFill>
                            <a:srgbClr val="000000"/>
                          </a:solidFill>
                        </a:rPr>
                        <a:t>Estradiol esters</a:t>
                      </a:r>
                      <a:pPr indent="0" marL="0">
                        <a:buNone/>
                      </a:pPr>
                      <a:r>
                        <a:rPr lang="en-US" sz="1200" b="1" dirty="0">
                          <a:solidFill>
                            <a:srgbClr val="000000"/>
                          </a:solidFill>
                        </a:rPr>
                        <a:t> (benzoate, cypionate)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Wave synchronization; estrus induction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Used in some countries; </a:t>
                      </a:r>
                      <a:pPr indent="0" marL="0">
                        <a:buNone/>
                      </a:pPr>
                      <a:r>
                        <a:rPr lang="en-US" sz="1200" dirty="0">
                          <a:solidFill>
                            <a:srgbClr val="000000"/>
                          </a:solidFill>
                        </a:rPr>
                        <a:t>registration and legality vary — use only if registered in the Philippines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Cold chain — the invisible protocol failure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S14   |   15</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1815466"/>
                <a:gridCol w="9242373"/>
              </a:tblGrid>
              <a:tr h="398399">
                <a:tc>
                  <a:txBody>
                    <a:bodyPr/>
                    <a:lstStyle/>
                    <a:p>
                      <a:pPr indent="0" marL="0">
                        <a:buNone/>
                      </a:pPr>
                      <a:r>
                        <a:rPr lang="en-US" sz="1200" dirty="0">
                          <a:solidFill>
                            <a:srgbClr val="000000"/>
                          </a:solidFill>
                        </a:rPr>
                        <a:t>Item</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Rule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Storage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Per label — most </a:t>
                      </a:r>
                      <a:pPr indent="0" marL="0">
                        <a:buNone/>
                      </a:pPr>
                      <a:r>
                        <a:rPr lang="en-US" sz="1200" dirty="0">
                          <a:solidFill>
                            <a:srgbClr val="000000"/>
                          </a:solidFill>
                        </a:rPr>
                        <a:t>2–8 °C</a:t>
                      </a:r>
                      <a:pPr indent="0" marL="0">
                        <a:buNone/>
                      </a:pPr>
                      <a:r>
                        <a:rPr lang="en-US" sz="1200" dirty="0">
                          <a:solidFill>
                            <a:srgbClr val="000000"/>
                          </a:solidFill>
                        </a:rPr>
                        <a:t>, do not freeze, protect from light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Transport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Cool box, ice pack </a:t>
                      </a:r>
                      <a:pPr indent="0" marL="0">
                        <a:buNone/>
                      </a:pPr>
                      <a:r>
                        <a:rPr lang="en-US" sz="1200" dirty="0">
                          <a:solidFill>
                            <a:srgbClr val="000000"/>
                          </a:solidFill>
                        </a:rPr>
                        <a:t>not in direct contact</a:t>
                      </a:r>
                      <a:pPr indent="0" marL="0">
                        <a:buNone/>
                      </a:pPr>
                      <a:r>
                        <a:rPr lang="en-US" sz="1200" dirty="0">
                          <a:solidFill>
                            <a:srgbClr val="000000"/>
                          </a:solidFill>
                        </a:rPr>
                        <a:t> with vials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Field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Insulated bag; never on the dashboard or in a closed hot vehicle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Opened vial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Record date opened; observe in-use shelf life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Injection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Correct route (usually IM), correct needle length, clean site, </a:t>
                      </a:r>
                      <a:pPr indent="0" marL="0">
                        <a:buNone/>
                      </a:pPr>
                      <a:r>
                        <a:rPr lang="en-US" sz="1200" dirty="0">
                          <a:solidFill>
                            <a:srgbClr val="000000"/>
                          </a:solidFill>
                        </a:rPr>
                        <a:t>new needle per animal where possible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Records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Product, </a:t>
                      </a:r>
                      <a:pPr indent="0" marL="0">
                        <a:buNone/>
                      </a:pPr>
                      <a:r>
                        <a:rPr lang="en-US" sz="1200" dirty="0">
                          <a:solidFill>
                            <a:srgbClr val="000000"/>
                          </a:solidFill>
                        </a:rPr>
                        <a:t>lot number</a:t>
                      </a:r>
                      <a:pPr indent="0" marL="0">
                        <a:buNone/>
                      </a:pPr>
                      <a:r>
                        <a:rPr lang="en-US" sz="1200" dirty="0">
                          <a:solidFill>
                            <a:srgbClr val="000000"/>
                          </a:solidFill>
                        </a:rPr>
                        <a:t>, dose, date, time, animal ID, operator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Heat detection — still your foundation</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S15   |   16</a:t>
            </a:r>
            <a:endParaRPr lang="en-US" sz="950" dirty="0"/>
          </a:p>
        </p:txBody>
      </p:sp>
      <p:sp>
        <p:nvSpPr>
          <p:cNvPr id="5" name="Text 3"/>
          <p:cNvSpPr/>
          <p:nvPr/>
        </p:nvSpPr>
        <p:spPr>
          <a:xfrm>
            <a:off x="621792" y="1298448"/>
            <a:ext cx="11002975" cy="1704340"/>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Primary sign = standing to be mounted.</a:t>
            </a:r>
            <a:pPr indent="0" marL="0">
              <a:buNone/>
            </a:pPr>
            <a:r>
              <a:rPr lang="en-US" dirty="0">
                <a:solidFill>
                  <a:srgbClr val="000000"/>
                </a:solidFill>
              </a:rPr>
              <a:t> All others are secondary (chin resting, mucus, restlessness, mounting others, clear vulvar discharge, milk drop)</a:t>
            </a:r>
            <a:endParaRPr lang="en-US" dirty="0"/>
          </a:p>
          <a:p>
            <a:pPr marL="342900" indent="-342900">
              <a:spcAft>
                <a:spcPts val="500"/>
              </a:spcAft>
              <a:buSzPct val="100000"/>
              <a:buChar char="•"/>
            </a:pPr>
            <a:r>
              <a:rPr lang="en-US" dirty="0">
                <a:solidFill>
                  <a:srgbClr val="000000"/>
                </a:solidFill>
              </a:rPr>
              <a:t>Observe </a:t>
            </a:r>
            <a:pPr indent="0" marL="0">
              <a:buNone/>
            </a:pPr>
            <a:r>
              <a:rPr lang="en-US" dirty="0">
                <a:solidFill>
                  <a:srgbClr val="000000"/>
                </a:solidFill>
              </a:rPr>
              <a:t>≥3×/day, ≥20 min each</a:t>
            </a:r>
            <a:pPr indent="0" marL="0">
              <a:buNone/>
            </a:pPr>
            <a:r>
              <a:rPr lang="en-US" dirty="0">
                <a:solidFill>
                  <a:srgbClr val="000000"/>
                </a:solidFill>
              </a:rPr>
              <a:t>, at quiet times (early morning, late evening) — not during feeding or milking</a:t>
            </a:r>
            <a:endParaRPr lang="en-US" dirty="0"/>
          </a:p>
          <a:p>
            <a:pPr marL="342900" indent="-342900">
              <a:spcAft>
                <a:spcPts val="500"/>
              </a:spcAft>
              <a:buSzPct val="100000"/>
              <a:buChar char="•"/>
            </a:pPr>
            <a:r>
              <a:rPr lang="en-US" dirty="0">
                <a:solidFill>
                  <a:srgbClr val="000000"/>
                </a:solidFill>
              </a:rPr>
              <a:t>Aids: tail paint/chalk, heat-mount detectors, pedometers, neck/ear activity collars, </a:t>
            </a:r>
            <a:pPr indent="0" marL="0">
              <a:buNone/>
            </a:pPr>
            <a:r>
              <a:rPr lang="en-US" dirty="0">
                <a:solidFill>
                  <a:srgbClr val="000000"/>
                </a:solidFill>
              </a:rPr>
              <a:t>rumen bolus sensors (Part E)</a:t>
            </a:r>
            <a:endParaRPr lang="en-US" dirty="0"/>
          </a:p>
          <a:p>
            <a:pPr marL="342900" indent="-342900">
              <a:spcAft>
                <a:spcPts val="500"/>
              </a:spcAft>
              <a:buSzPct val="100000"/>
              <a:buChar char="•"/>
            </a:pPr>
            <a:r>
              <a:rPr lang="en-US" dirty="0">
                <a:solidFill>
                  <a:srgbClr val="000000"/>
                </a:solidFill>
              </a:rPr>
              <a:t>AM–PM rule:</a:t>
            </a:r>
            <a:pPr indent="0" marL="0">
              <a:buNone/>
            </a:pPr>
            <a:r>
              <a:rPr lang="en-US" dirty="0">
                <a:solidFill>
                  <a:srgbClr val="000000"/>
                </a:solidFill>
              </a:rPr>
              <a:t> heat detected AM → inseminate PM; heat detected PM → inseminate next AM (target ~12 h after onset)</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Sperm and oocyte lifespan — why timing is not flexible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S16   |   17</a:t>
            </a:r>
            <a:endParaRPr lang="en-US" sz="950" dirty="0"/>
          </a:p>
        </p:txBody>
      </p:sp>
      <p:sp>
        <p:nvSpPr>
          <p:cNvPr id="5" name="Text 3"/>
          <p:cNvSpPr/>
          <p:nvPr/>
        </p:nvSpPr>
        <p:spPr>
          <a:xfrm>
            <a:off x="621792" y="1298448"/>
            <a:ext cx="11002975" cy="1141476"/>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Sperm: needs </a:t>
            </a:r>
            <a:pPr indent="0" marL="0">
              <a:buNone/>
            </a:pPr>
            <a:r>
              <a:rPr lang="en-US" dirty="0">
                <a:solidFill>
                  <a:srgbClr val="000000"/>
                </a:solidFill>
              </a:rPr>
              <a:t>~6 h capacitation</a:t>
            </a:r>
            <a:pPr indent="0" marL="0">
              <a:buNone/>
            </a:pPr>
            <a:r>
              <a:rPr lang="en-US" dirty="0">
                <a:solidFill>
                  <a:srgbClr val="000000"/>
                </a:solidFill>
              </a:rPr>
              <a:t>; fertile lifespan in the tract </a:t>
            </a:r>
            <a:pPr indent="0" marL="0">
              <a:buNone/>
            </a:pPr>
            <a:r>
              <a:rPr lang="en-US" dirty="0">
                <a:solidFill>
                  <a:srgbClr val="000000"/>
                </a:solidFill>
              </a:rPr>
              <a:t>~18–24 h</a:t>
            </a:r>
            <a:endParaRPr lang="en-US" dirty="0"/>
          </a:p>
          <a:p>
            <a:pPr marL="342900" indent="-342900">
              <a:spcAft>
                <a:spcPts val="500"/>
              </a:spcAft>
              <a:buSzPct val="100000"/>
              <a:buChar char="•"/>
            </a:pPr>
            <a:r>
              <a:rPr lang="en-US" dirty="0">
                <a:solidFill>
                  <a:srgbClr val="000000"/>
                </a:solidFill>
              </a:rPr>
              <a:t>Oocyte: fertile lifespan only </a:t>
            </a:r>
            <a:pPr indent="0" marL="0">
              <a:buNone/>
            </a:pPr>
            <a:r>
              <a:rPr lang="en-US" dirty="0">
                <a:solidFill>
                  <a:srgbClr val="000000"/>
                </a:solidFill>
              </a:rPr>
              <a:t>~6–12 h after ovulation</a:t>
            </a:r>
            <a:endParaRPr lang="en-US" dirty="0"/>
          </a:p>
          <a:p>
            <a:pPr marL="342900" indent="-342900">
              <a:spcAft>
                <a:spcPts val="500"/>
              </a:spcAft>
              <a:buSzPct val="100000"/>
              <a:buChar char="•"/>
            </a:pPr>
            <a:r>
              <a:rPr lang="en-US" dirty="0">
                <a:solidFill>
                  <a:srgbClr val="000000"/>
                </a:solidFill>
              </a:rPr>
              <a:t>Ovulation: </a:t>
            </a:r>
            <a:pPr indent="0" marL="0">
              <a:buNone/>
            </a:pPr>
            <a:r>
              <a:rPr lang="en-US" dirty="0">
                <a:solidFill>
                  <a:srgbClr val="000000"/>
                </a:solidFill>
              </a:rPr>
              <a:t>24–32 h after onset of standing estrus</a:t>
            </a:r>
            <a:endParaRPr lang="en-US" dirty="0"/>
          </a:p>
        </p:txBody>
      </p:sp>
      <p:sp>
        <p:nvSpPr>
          <p:cNvPr id="6" name="Text 4"/>
          <p:cNvSpPr/>
          <p:nvPr/>
        </p:nvSpPr>
        <p:spPr>
          <a:xfrm>
            <a:off x="566928" y="2586228"/>
            <a:ext cx="11057839" cy="395732"/>
          </a:xfrm>
          <a:prstGeom prst="rect">
            <a:avLst/>
          </a:prstGeom>
          <a:noFill/>
          <a:ln/>
        </p:spPr>
        <p:txBody>
          <a:bodyPr wrap="square" lIns="0" tIns="0" rIns="0" bIns="0" rtlCol="0" anchor="t"/>
          <a:lstStyle/>
          <a:p>
            <a:pPr indent="0" marL="0">
              <a:buNone/>
            </a:pPr>
            <a:r>
              <a:rPr lang="en-US" dirty="0">
                <a:solidFill>
                  <a:srgbClr val="000000"/>
                </a:solidFill>
              </a:rPr>
              <a:t>→ Optimal insemination: </a:t>
            </a:r>
            <a:pPr indent="0" marL="0">
              <a:buNone/>
            </a:pPr>
            <a:r>
              <a:rPr lang="en-US" dirty="0">
                <a:solidFill>
                  <a:srgbClr val="000000"/>
                </a:solidFill>
              </a:rPr>
              <a:t>~12 h after onset of standing estrus</a:t>
            </a:r>
            <a:pPr indent="0" marL="0">
              <a:buNone/>
            </a:pPr>
            <a:r>
              <a:rPr lang="en-US" dirty="0">
                <a:solidFill>
                  <a:srgbClr val="000000"/>
                </a:solidFill>
              </a:rPr>
              <a:t>, or </a:t>
            </a:r>
            <a:pPr indent="0" marL="0">
              <a:buNone/>
            </a:pPr>
            <a:r>
              <a:rPr lang="en-US" dirty="0">
                <a:solidFill>
                  <a:srgbClr val="000000"/>
                </a:solidFill>
              </a:rPr>
              <a:t>16–20 h after a GnRH ovulation trigger</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Bridge to protocols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S17   |   18</a:t>
            </a:r>
            <a:endParaRPr lang="en-US" sz="950" dirty="0"/>
          </a:p>
        </p:txBody>
      </p:sp>
      <p:sp>
        <p:nvSpPr>
          <p:cNvPr id="5" name="Text 3"/>
          <p:cNvSpPr/>
          <p:nvPr/>
        </p:nvSpPr>
        <p:spPr>
          <a:xfrm>
            <a:off x="566928" y="1298448"/>
            <a:ext cx="11057839" cy="626872"/>
          </a:xfrm>
          <a:prstGeom prst="rect">
            <a:avLst/>
          </a:prstGeom>
          <a:noFill/>
          <a:ln/>
        </p:spPr>
        <p:txBody>
          <a:bodyPr wrap="square" lIns="0" tIns="0" rIns="0" bIns="0" rtlCol="0" anchor="t"/>
          <a:lstStyle/>
          <a:p>
            <a:pPr indent="0" marL="0">
              <a:buNone/>
            </a:pPr>
            <a:r>
              <a:rPr lang="en-US" dirty="0">
                <a:solidFill>
                  <a:srgbClr val="000000"/>
                </a:solidFill>
              </a:rPr>
              <a:t>Every protocol from here is only three verbs: </a:t>
            </a:r>
            <a:pPr indent="0" marL="0">
              <a:buNone/>
            </a:pPr>
            <a:r>
              <a:rPr lang="en-US" dirty="0">
                <a:solidFill>
                  <a:srgbClr val="000000"/>
                </a:solidFill>
              </a:rPr>
              <a:t>RESET the wave (GnRH) → RELEASE the brake (PGF or device removal) → TRIGGER ovulation (GnRH) → INSEMINATE at a fixed time</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F4A2C"/>
        </a:solidFill>
      </p:bgPr>
    </p:bg>
    <p:spTree>
      <p:nvGrpSpPr>
        <p:cNvPr id="1" name=""/>
        <p:cNvGrpSpPr/>
        <p:nvPr/>
      </p:nvGrpSpPr>
      <p:grpSpPr>
        <a:xfrm>
          <a:off x="0" y="0"/>
          <a:ext cx="0" cy="0"/>
          <a:chOff x="0" y="0"/>
          <a:chExt cx="0" cy="0"/>
        </a:xfrm>
      </p:grpSpPr>
      <p:sp>
        <p:nvSpPr>
          <p:cNvPr id="2" name="Shape 0"/>
          <p:cNvSpPr/>
          <p:nvPr/>
        </p:nvSpPr>
        <p:spPr>
          <a:xfrm>
            <a:off x="10058400" y="4572000"/>
            <a:ext cx="3291840" cy="3291840"/>
          </a:xfrm>
          <a:prstGeom prst="ellipse">
            <a:avLst/>
          </a:prstGeom>
          <a:solidFill>
            <a:srgbClr val="14301C"/>
          </a:solidFill>
          <a:ln/>
        </p:spPr>
      </p:sp>
      <p:sp>
        <p:nvSpPr>
          <p:cNvPr id="3" name="Text 1"/>
          <p:cNvSpPr/>
          <p:nvPr/>
        </p:nvSpPr>
        <p:spPr>
          <a:xfrm>
            <a:off x="841248" y="2148840"/>
            <a:ext cx="10058400" cy="411480"/>
          </a:xfrm>
          <a:prstGeom prst="rect">
            <a:avLst/>
          </a:prstGeom>
          <a:noFill/>
          <a:ln/>
        </p:spPr>
        <p:txBody>
          <a:bodyPr wrap="square" lIns="0" tIns="0" rIns="0" bIns="0" rtlCol="0" anchor="ctr"/>
          <a:lstStyle/>
          <a:p>
            <a:pPr indent="0" marL="0">
              <a:buNone/>
            </a:pPr>
            <a:r>
              <a:rPr lang="en-US" sz="1500" b="1" spc="200" kern="0" dirty="0">
                <a:solidFill>
                  <a:srgbClr val="6FA368"/>
                </a:solidFill>
                <a:latin typeface="Calibri" pitchFamily="34" charset="0"/>
                <a:ea typeface="Calibri" pitchFamily="34" charset="-122"/>
                <a:cs typeface="Calibri" pitchFamily="34" charset="-120"/>
              </a:rPr>
              <a:t>PART 2-C</a:t>
            </a:r>
            <a:endParaRPr lang="en-US" sz="1500" dirty="0"/>
          </a:p>
        </p:txBody>
      </p:sp>
      <p:sp>
        <p:nvSpPr>
          <p:cNvPr id="4" name="Text 2"/>
          <p:cNvSpPr/>
          <p:nvPr/>
        </p:nvSpPr>
        <p:spPr>
          <a:xfrm>
            <a:off x="841248" y="2606040"/>
            <a:ext cx="1005840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THE PROTOCOLS</a:t>
            </a:r>
            <a:endParaRPr lang="en-US" sz="3800" dirty="0"/>
          </a:p>
        </p:txBody>
      </p:sp>
      <p:sp>
        <p:nvSpPr>
          <p:cNvPr id="5" name="Text 3"/>
          <p:cNvSpPr/>
          <p:nvPr/>
        </p:nvSpPr>
        <p:spPr>
          <a:xfrm>
            <a:off x="841248" y="4160520"/>
            <a:ext cx="10058400" cy="457200"/>
          </a:xfrm>
          <a:prstGeom prst="rect">
            <a:avLst/>
          </a:prstGeom>
          <a:noFill/>
          <a:ln/>
        </p:spPr>
        <p:txBody>
          <a:bodyPr wrap="square" lIns="0" tIns="0" rIns="0" bIns="0" rtlCol="0" anchor="ctr"/>
          <a:lstStyle/>
          <a:p>
            <a:pPr indent="0" marL="0">
              <a:buNone/>
            </a:pPr>
            <a:r>
              <a:rPr lang="en-US" sz="1500" dirty="0">
                <a:solidFill>
                  <a:srgbClr val="C8D8C6"/>
                </a:solidFill>
                <a:latin typeface="Calibri" pitchFamily="34" charset="0"/>
                <a:ea typeface="Calibri" pitchFamily="34" charset="-122"/>
                <a:cs typeface="Calibri" pitchFamily="34" charset="-120"/>
              </a:rPr>
              <a:t>35 min, S18–S29</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Protocol 1 — Single and double PGF2α</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S18   |   19</a:t>
            </a:r>
            <a:endParaRPr lang="en-US" sz="9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1070113"/>
                <a:gridCol w="9987726"/>
              </a:tblGrid>
              <a:tr h="398399">
                <a:tc>
                  <a:txBody>
                    <a:bodyPr/>
                    <a:lstStyle/>
                    <a:p>
                      <a:pPr indent="0" marL="0">
                        <a:buNone/>
                      </a:pPr>
                      <a:r>
                        <a:rPr lang="en-US" sz="1200" dirty="0">
                          <a:solidFill>
                            <a:srgbClr val="000000"/>
                          </a:solidFill>
                        </a:rPr>
                        <a:t>Day</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Action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PGF2α</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11–14</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PGF2α</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AI on observed estrus, </a:t>
                      </a:r>
                      <a:pPr indent="0" marL="0">
                        <a:buNone/>
                      </a:pPr>
                      <a:r>
                        <a:rPr lang="en-US" sz="1200" dirty="0">
                          <a:solidFill>
                            <a:srgbClr val="000000"/>
                          </a:solidFill>
                        </a:rPr>
                        <a:t>or</a:t>
                      </a:r>
                      <a:pPr indent="0" marL="0">
                        <a:buNone/>
                      </a:pPr>
                      <a:r>
                        <a:rPr lang="en-US" sz="1200" dirty="0">
                          <a:solidFill>
                            <a:srgbClr val="000000"/>
                          </a:solidFill>
                        </a:rPr>
                        <a:t> TAI at 72 h and 96 h, </a:t>
                      </a:r>
                      <a:pPr indent="0" marL="0">
                        <a:buNone/>
                      </a:pPr>
                      <a:r>
                        <a:rPr lang="en-US" sz="1200" dirty="0">
                          <a:solidFill>
                            <a:srgbClr val="000000"/>
                          </a:solidFill>
                        </a:rPr>
                        <a:t>or</a:t>
                      </a:r>
                      <a:pPr indent="0" marL="0">
                        <a:buNone/>
                      </a:pPr>
                      <a:r>
                        <a:rPr lang="en-US" sz="1200" dirty="0">
                          <a:solidFill>
                            <a:srgbClr val="000000"/>
                          </a:solidFill>
                        </a:rPr>
                        <a:t> single TAI ~72–80 h + GnRH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3184652"/>
            <a:ext cx="11057839" cy="858012"/>
          </a:xfrm>
          <a:prstGeom prst="rect">
            <a:avLst/>
          </a:prstGeom>
          <a:noFill/>
          <a:ln/>
        </p:spPr>
        <p:txBody>
          <a:bodyPr wrap="square" lIns="0" tIns="0" rIns="0" bIns="0" rtlCol="0" anchor="t"/>
          <a:lstStyle/>
          <a:p>
            <a:pPr indent="0" marL="0">
              <a:buNone/>
            </a:pPr>
            <a:r>
              <a:rPr lang="en-US" dirty="0">
                <a:solidFill>
                  <a:srgbClr val="000000"/>
                </a:solidFill>
              </a:rPr>
              <a:t>Use:</a:t>
            </a:r>
            <a:pPr indent="0" marL="0">
              <a:buNone/>
            </a:pPr>
            <a:r>
              <a:rPr lang="en-US" dirty="0">
                <a:solidFill>
                  <a:srgbClr val="000000"/>
                </a:solidFill>
              </a:rPr>
              <a:t> confirmed cycling animals, limited budget, heat detection possible </a:t>
            </a:r>
            <a:pPr indent="0" marL="0">
              <a:buNone/>
            </a:pPr>
            <a:r>
              <a:rPr lang="en-US" dirty="0">
                <a:solidFill>
                  <a:srgbClr val="000000"/>
                </a:solidFill>
              </a:rPr>
              <a:t>Do not use:</a:t>
            </a:r>
            <a:pPr indent="0" marL="0">
              <a:buNone/>
            </a:pPr>
            <a:r>
              <a:rPr lang="en-US" dirty="0">
                <a:solidFill>
                  <a:srgbClr val="000000"/>
                </a:solidFill>
              </a:rPr>
              <a:t> anovular, thin, unknown cycle status </a:t>
            </a:r>
            <a:pPr indent="0" marL="0">
              <a:buNone/>
            </a:pPr>
            <a:r>
              <a:rPr lang="en-US" dirty="0">
                <a:solidFill>
                  <a:srgbClr val="000000"/>
                </a:solidFill>
              </a:rPr>
              <a:t>Why 11–14 days?</a:t>
            </a:r>
            <a:pPr indent="0" marL="0">
              <a:buNone/>
            </a:pPr>
            <a:r>
              <a:rPr lang="en-US" dirty="0">
                <a:solidFill>
                  <a:srgbClr val="000000"/>
                </a:solidFill>
              </a:rPr>
              <a:t> So that any cow that responded to the first dose has a CL that is now ≥6 days old, and therefore responsive to the second.</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960559" cy="749808"/>
          </a:xfrm>
          <a:prstGeom prst="rect">
            <a:avLst/>
          </a:prstGeom>
          <a:noFill/>
          <a:ln/>
        </p:spPr>
        <p:txBody>
          <a:bodyPr wrap="square" lIns="0" tIns="0" rIns="0" bIns="0" rtlCol="0" anchor="t"/>
          <a:lstStyle/>
          <a:p>
            <a:pPr indent="0" marL="0">
              <a:buNone/>
            </a:pPr>
            <a:r>
              <a:rPr lang="en-US" dirty="0">
                <a:solidFill>
                  <a:srgbClr val="000000"/>
                </a:solidFill>
              </a:rPr>
              <a:t>Protocol 2 — Ovsynch</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S19   |   20</a:t>
            </a:r>
            <a:endParaRPr lang="en-US" sz="950" dirty="0"/>
          </a:p>
        </p:txBody>
      </p:sp>
      <p:sp>
        <p:nvSpPr>
          <p:cNvPr id="5" name="Shape 3"/>
          <p:cNvSpPr/>
          <p:nvPr/>
        </p:nvSpPr>
        <p:spPr>
          <a:xfrm>
            <a:off x="10692079" y="402336"/>
            <a:ext cx="932688" cy="310896"/>
          </a:xfrm>
          <a:prstGeom prst="roundRect">
            <a:avLst>
              <a:gd name="adj" fmla="val 50000"/>
            </a:avLst>
          </a:prstGeom>
          <a:solidFill>
            <a:srgbClr val="B26B12"/>
          </a:solidFill>
          <a:ln w="12700">
            <a:solidFill>
              <a:srgbClr val="B26B12"/>
            </a:solidFill>
            <a:prstDash val="solid"/>
          </a:ln>
        </p:spPr>
      </p:sp>
      <p:sp>
        <p:nvSpPr>
          <p:cNvPr id="6" name="Text 4"/>
          <p:cNvSpPr/>
          <p:nvPr/>
        </p:nvSpPr>
        <p:spPr>
          <a:xfrm>
            <a:off x="10692079" y="402336"/>
            <a:ext cx="932688"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SLIDE</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937318"/>
                <a:gridCol w="2361455"/>
                <a:gridCol w="1461853"/>
                <a:gridCol w="6297213"/>
              </a:tblGrid>
              <a:tr h="390144">
                <a:tc>
                  <a:txBody>
                    <a:bodyPr/>
                    <a:lstStyle/>
                    <a:p>
                      <a:pPr indent="0" marL="0">
                        <a:buNone/>
                      </a:pPr>
                      <a:r>
                        <a:rPr lang="en-US" sz="1200" dirty="0">
                          <a:solidFill>
                            <a:srgbClr val="000000"/>
                          </a:solidFill>
                        </a:rPr>
                        <a:t>Day</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Time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Injection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What it does</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0144">
                <a:tc>
                  <a:txBody>
                    <a:bodyPr/>
                    <a:lstStyle/>
                    <a:p>
                      <a:pPr indent="0" marL="0">
                        <a:buNone/>
                      </a:pPr>
                      <a:r>
                        <a:rPr lang="en-US" sz="1200" b="1" dirty="0">
                          <a:solidFill>
                            <a:srgbClr val="000000"/>
                          </a:solidFill>
                        </a:rPr>
                        <a:t>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GnRH #1</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Ovulates/luteinizes the dominant follicle → </a:t>
                      </a:r>
                      <a:pPr indent="0" marL="0">
                        <a:buNone/>
                      </a:pPr>
                      <a:r>
                        <a:rPr lang="en-US" sz="1200" dirty="0">
                          <a:solidFill>
                            <a:srgbClr val="000000"/>
                          </a:solidFill>
                        </a:rPr>
                        <a:t>new wave emerges ~D2</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0144">
                <a:tc>
                  <a:txBody>
                    <a:bodyPr/>
                    <a:lstStyle/>
                    <a:p>
                      <a:pPr indent="0" marL="0">
                        <a:buNone/>
                      </a:pPr>
                      <a:r>
                        <a:rPr lang="en-US" sz="1200" b="1" dirty="0">
                          <a:solidFill>
                            <a:srgbClr val="000000"/>
                          </a:solidFill>
                        </a:rPr>
                        <a:t>7</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AM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PGF2α</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Luteolysis of the original CL </a:t>
                      </a:r>
                      <a:pPr indent="0" marL="0">
                        <a:buNone/>
                      </a:pPr>
                      <a:r>
                        <a:rPr lang="en-US" sz="1200" dirty="0">
                          <a:solidFill>
                            <a:srgbClr val="000000"/>
                          </a:solidFill>
                        </a:rPr>
                        <a:t>and</a:t>
                      </a:r>
                      <a:pPr indent="0" marL="0">
                        <a:buNone/>
                      </a:pPr>
                      <a:r>
                        <a:rPr lang="en-US" sz="1200" dirty="0">
                          <a:solidFill>
                            <a:srgbClr val="000000"/>
                          </a:solidFill>
                        </a:rPr>
                        <a:t> the accessory CL from GnRH #1</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0144">
                <a:tc>
                  <a:txBody>
                    <a:bodyPr/>
                    <a:lstStyle/>
                    <a:p>
                      <a:pPr indent="0" marL="0">
                        <a:buNone/>
                      </a:pPr>
                      <a:r>
                        <a:rPr lang="en-US" sz="1200" b="1" dirty="0">
                          <a:solidFill>
                            <a:srgbClr val="000000"/>
                          </a:solidFill>
                        </a:rPr>
                        <a:t>9</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AM (</a:t>
                      </a:r>
                      <a:pPr indent="0" marL="0">
                        <a:buNone/>
                      </a:pPr>
                      <a:r>
                        <a:rPr lang="en-US" sz="1200" dirty="0">
                          <a:solidFill>
                            <a:srgbClr val="000000"/>
                          </a:solidFill>
                        </a:rPr>
                        <a:t>56 h after PGF</a:t>
                      </a:r>
                      <a:pPr indent="0" marL="0">
                        <a:buNone/>
                      </a:pPr>
                      <a:r>
                        <a:rPr lang="en-US" sz="1200" dirty="0">
                          <a:solidFill>
                            <a:srgbClr val="000000"/>
                          </a:solidFill>
                        </a:rPr>
                        <a: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GnRH #2</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Ovulation trigger of the new dominant follicle (~13–16 mm)</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0144">
                <a:tc>
                  <a:txBody>
                    <a:bodyPr/>
                    <a:lstStyle/>
                    <a:p>
                      <a:pPr indent="0" marL="0">
                        <a:buNone/>
                      </a:pPr>
                      <a:r>
                        <a:rPr lang="en-US" sz="1200" b="1" dirty="0">
                          <a:solidFill>
                            <a:srgbClr val="000000"/>
                          </a:solidFill>
                        </a:rPr>
                        <a:t>10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16–20 h after GnRH #2</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FIXED-TIME AI</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Sperm in place before ovulation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
        <p:nvSpPr>
          <p:cNvPr id="8" name="Text 5"/>
          <p:cNvSpPr/>
          <p:nvPr/>
        </p:nvSpPr>
        <p:spPr>
          <a:xfrm>
            <a:off x="621792" y="3541776"/>
            <a:ext cx="11002975" cy="809752"/>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No heat detection required — every cow bred on a known date</a:t>
            </a:r>
            <a:endParaRPr lang="en-US" dirty="0"/>
          </a:p>
          <a:p>
            <a:pPr marL="342900" indent="-342900">
              <a:spcAft>
                <a:spcPts val="500"/>
              </a:spcAft>
              <a:buSzPct val="100000"/>
              <a:buChar char="•"/>
            </a:pPr>
            <a:r>
              <a:rPr lang="en-US" dirty="0">
                <a:solidFill>
                  <a:srgbClr val="000000"/>
                </a:solidFill>
              </a:rPr>
              <a:t>Works best when started around </a:t>
            </a:r>
            <a:pPr indent="0" marL="0">
              <a:buNone/>
            </a:pPr>
            <a:r>
              <a:rPr lang="en-US" dirty="0">
                <a:solidFill>
                  <a:srgbClr val="000000"/>
                </a:solidFill>
              </a:rPr>
              <a:t>Day 5–9</a:t>
            </a:r>
            <a:pPr indent="0" marL="0">
              <a:buNone/>
            </a:pPr>
            <a:r>
              <a:rPr lang="en-US" dirty="0">
                <a:solidFill>
                  <a:srgbClr val="000000"/>
                </a:solidFill>
              </a:rPr>
              <a:t> of the cycle</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Why Ovsynch alone is not enough</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S20   |   21</a:t>
            </a:r>
            <a:endParaRPr lang="en-US" sz="950" dirty="0"/>
          </a:p>
        </p:txBody>
      </p:sp>
      <p:sp>
        <p:nvSpPr>
          <p:cNvPr id="5" name="Text 3"/>
          <p:cNvSpPr/>
          <p:nvPr/>
        </p:nvSpPr>
        <p:spPr>
          <a:xfrm>
            <a:off x="621792" y="1298448"/>
            <a:ext cx="11002975" cy="1141476"/>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Ovulatory response to </a:t>
            </a:r>
            <a:pPr indent="0" marL="0">
              <a:buNone/>
            </a:pPr>
            <a:r>
              <a:rPr lang="en-US" dirty="0">
                <a:solidFill>
                  <a:srgbClr val="000000"/>
                </a:solidFill>
              </a:rPr>
              <a:t>GnRH #1 at a random cycle stage ≈ 50–60%</a:t>
            </a:r>
            <a:pPr indent="0" marL="0">
              <a:buNone/>
            </a:pPr>
            <a:r>
              <a:rPr lang="en-US" dirty="0">
                <a:solidFill>
                  <a:srgbClr val="000000"/>
                </a:solidFill>
              </a:rPr>
              <a:t> </a:t>
            </a:r>
            <a:pPr indent="0" marL="0">
              <a:buNone/>
            </a:pPr>
            <a:r>
              <a:rPr lang="en-US" dirty="0">
                <a:solidFill>
                  <a:srgbClr val="000000"/>
                </a:solidFill>
              </a:rPr>
              <a:t>(published)</a:t>
            </a:r>
            <a:endParaRPr lang="en-US" dirty="0"/>
          </a:p>
          <a:p>
            <a:pPr marL="342900" indent="-342900">
              <a:spcAft>
                <a:spcPts val="500"/>
              </a:spcAft>
              <a:buSzPct val="100000"/>
              <a:buChar char="•"/>
            </a:pPr>
            <a:r>
              <a:rPr lang="en-US" dirty="0">
                <a:solidFill>
                  <a:srgbClr val="000000"/>
                </a:solidFill>
              </a:rPr>
              <a:t>Cows in </a:t>
            </a:r>
            <a:pPr indent="0" marL="0">
              <a:buNone/>
            </a:pPr>
            <a:r>
              <a:rPr lang="en-US" dirty="0">
                <a:solidFill>
                  <a:srgbClr val="000000"/>
                </a:solidFill>
              </a:rPr>
              <a:t>Day 5–9</a:t>
            </a:r>
            <a:pPr indent="0" marL="0">
              <a:buNone/>
            </a:pPr>
            <a:r>
              <a:rPr lang="en-US" dirty="0">
                <a:solidFill>
                  <a:srgbClr val="000000"/>
                </a:solidFill>
              </a:rPr>
              <a:t> respond best; cows in Day 1–4 or Day 13–17 respond poorly</a:t>
            </a:r>
            <a:endParaRPr lang="en-US" dirty="0"/>
          </a:p>
          <a:p>
            <a:pPr marL="342900" indent="-342900">
              <a:spcAft>
                <a:spcPts val="500"/>
              </a:spcAft>
              <a:buSzPct val="100000"/>
              <a:buChar char="•"/>
            </a:pPr>
            <a:r>
              <a:rPr lang="en-US" dirty="0">
                <a:solidFill>
                  <a:srgbClr val="000000"/>
                </a:solidFill>
              </a:rPr>
              <a:t>Anovular cows have </a:t>
            </a:r>
            <a:pPr indent="0" marL="0">
              <a:buNone/>
            </a:pPr>
            <a:r>
              <a:rPr lang="en-US" dirty="0">
                <a:solidFill>
                  <a:srgbClr val="000000"/>
                </a:solidFill>
              </a:rPr>
              <a:t>no CL for PGF to remove</a:t>
            </a:r>
            <a:pPr indent="0" marL="0">
              <a:buNone/>
            </a:pPr>
            <a:r>
              <a:rPr lang="en-US" dirty="0">
                <a:solidFill>
                  <a:srgbClr val="000000"/>
                </a:solidFill>
              </a:rPr>
              <a:t> → they leak through the protocol</a:t>
            </a:r>
            <a:endParaRPr lang="en-US" dirty="0"/>
          </a:p>
        </p:txBody>
      </p:sp>
      <p:sp>
        <p:nvSpPr>
          <p:cNvPr id="6" name="Text 4"/>
          <p:cNvSpPr/>
          <p:nvPr/>
        </p:nvSpPr>
        <p:spPr>
          <a:xfrm>
            <a:off x="566928" y="2586228"/>
            <a:ext cx="11057839" cy="395732"/>
          </a:xfrm>
          <a:prstGeom prst="rect">
            <a:avLst/>
          </a:prstGeom>
          <a:noFill/>
          <a:ln/>
        </p:spPr>
        <p:txBody>
          <a:bodyPr wrap="square" lIns="0" tIns="0" rIns="0" bIns="0" rtlCol="0" anchor="t"/>
          <a:lstStyle/>
          <a:p>
            <a:pPr indent="0" marL="0">
              <a:buNone/>
            </a:pPr>
            <a:r>
              <a:rPr lang="en-US" dirty="0">
                <a:solidFill>
                  <a:srgbClr val="000000"/>
                </a:solidFill>
              </a:rPr>
              <a:t>→ Solutions: </a:t>
            </a:r>
            <a:pPr indent="0" marL="0">
              <a:buNone/>
            </a:pPr>
            <a:r>
              <a:rPr lang="en-US" dirty="0">
                <a:solidFill>
                  <a:srgbClr val="000000"/>
                </a:solidFill>
              </a:rPr>
              <a:t>Presynch-Ovsynch · G6G · Double-Ovsynch · add a P4 device</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Protocol 3 — Presynch-Ovsynch</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S21   |   22</a:t>
            </a:r>
            <a:endParaRPr lang="en-US" sz="9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1951383"/>
                <a:gridCol w="9106456"/>
              </a:tblGrid>
              <a:tr h="398399">
                <a:tc>
                  <a:txBody>
                    <a:bodyPr/>
                    <a:lstStyle/>
                    <a:p>
                      <a:pPr indent="0" marL="0">
                        <a:buNone/>
                      </a:pPr>
                      <a:r>
                        <a:rPr lang="en-US" sz="1200" dirty="0">
                          <a:solidFill>
                            <a:srgbClr val="000000"/>
                          </a:solidFill>
                        </a:rPr>
                        <a:t>Day</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Action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−26 (or −25)</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PGF2α</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−12 (or −11)</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PGF2α</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GnRH #1 (start Ovsynch) — </a:t>
                      </a:r>
                      <a:pPr indent="0" marL="0">
                        <a:buNone/>
                      </a:pPr>
                      <a:r>
                        <a:rPr lang="en-US" sz="1200" dirty="0">
                          <a:solidFill>
                            <a:srgbClr val="000000"/>
                          </a:solidFill>
                        </a:rPr>
                        <a:t>11–14 days after the second presynch PGF</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7</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PGF2α</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9</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GnRH #2 (56 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10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FTAI</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
        <p:nvSpPr>
          <p:cNvPr id="6" name="Text 3"/>
          <p:cNvSpPr/>
          <p:nvPr/>
        </p:nvSpPr>
        <p:spPr>
          <a:xfrm>
            <a:off x="621792" y="4379849"/>
            <a:ext cx="11002975" cy="809752"/>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Variants: </a:t>
            </a:r>
            <a:pPr indent="0" marL="0">
              <a:buNone/>
            </a:pPr>
            <a:r>
              <a:rPr lang="en-US" dirty="0">
                <a:solidFill>
                  <a:srgbClr val="000000"/>
                </a:solidFill>
              </a:rPr>
              <a:t>Presynch-11</a:t>
            </a:r>
            <a:pPr indent="0" marL="0">
              <a:buNone/>
            </a:pPr>
            <a:r>
              <a:rPr lang="en-US" dirty="0">
                <a:solidFill>
                  <a:srgbClr val="000000"/>
                </a:solidFill>
              </a:rPr>
              <a:t> and </a:t>
            </a:r>
            <a:pPr indent="0" marL="0">
              <a:buNone/>
            </a:pPr>
            <a:r>
              <a:rPr lang="en-US" dirty="0">
                <a:solidFill>
                  <a:srgbClr val="000000"/>
                </a:solidFill>
              </a:rPr>
              <a:t>Presynch-14</a:t>
            </a:r>
            <a:pPr indent="0" marL="0">
              <a:buNone/>
            </a:pPr>
            <a:r>
              <a:rPr lang="en-US" dirty="0">
                <a:solidFill>
                  <a:srgbClr val="000000"/>
                </a:solidFill>
              </a:rPr>
              <a:t> (interval from 2nd PGF to Ovsynch GnRH #1)</a:t>
            </a:r>
            <a:endParaRPr lang="en-US" dirty="0"/>
          </a:p>
          <a:p>
            <a:pPr marL="342900" indent="-342900">
              <a:spcAft>
                <a:spcPts val="500"/>
              </a:spcAft>
              <a:buSzPct val="100000"/>
              <a:buChar char="•"/>
            </a:pPr>
            <a:r>
              <a:rPr lang="en-US" dirty="0">
                <a:solidFill>
                  <a:srgbClr val="000000"/>
                </a:solidFill>
              </a:rPr>
              <a:t>Limitation: does nothing for anovular cows</a:t>
            </a:r>
            <a:pPr indent="0" marL="0">
              <a:buNone/>
            </a:pPr>
            <a:r>
              <a:rPr lang="en-US" dirty="0">
                <a:solidFill>
                  <a:srgbClr val="000000"/>
                </a:solidFill>
              </a:rPr>
              <a:t> (no CL → no response to either presynch PGF)</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960559" cy="749808"/>
          </a:xfrm>
          <a:prstGeom prst="rect">
            <a:avLst/>
          </a:prstGeom>
          <a:noFill/>
          <a:ln/>
        </p:spPr>
        <p:txBody>
          <a:bodyPr wrap="square" lIns="0" tIns="0" rIns="0" bIns="0" rtlCol="0" anchor="t"/>
          <a:lstStyle/>
          <a:p>
            <a:pPr indent="0" marL="0">
              <a:buNone/>
            </a:pPr>
            <a:r>
              <a:rPr lang="en-US" dirty="0">
                <a:solidFill>
                  <a:srgbClr val="000000"/>
                </a:solidFill>
              </a:rPr>
              <a:t>Protocol 4 — G6G</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S22   |   23</a:t>
            </a:r>
            <a:endParaRPr lang="en-US" sz="950" dirty="0"/>
          </a:p>
        </p:txBody>
      </p:sp>
      <p:sp>
        <p:nvSpPr>
          <p:cNvPr id="5" name="Shape 3"/>
          <p:cNvSpPr/>
          <p:nvPr/>
        </p:nvSpPr>
        <p:spPr>
          <a:xfrm>
            <a:off x="10692079" y="402336"/>
            <a:ext cx="932688" cy="310896"/>
          </a:xfrm>
          <a:prstGeom prst="roundRect">
            <a:avLst>
              <a:gd name="adj" fmla="val 50000"/>
            </a:avLst>
          </a:prstGeom>
          <a:solidFill>
            <a:srgbClr val="B26B12"/>
          </a:solidFill>
          <a:ln w="12700">
            <a:solidFill>
              <a:srgbClr val="B26B12"/>
            </a:solidFill>
            <a:prstDash val="solid"/>
          </a:ln>
        </p:spPr>
      </p:sp>
      <p:sp>
        <p:nvSpPr>
          <p:cNvPr id="6" name="Text 4"/>
          <p:cNvSpPr/>
          <p:nvPr/>
        </p:nvSpPr>
        <p:spPr>
          <a:xfrm>
            <a:off x="10692079" y="402336"/>
            <a:ext cx="932688"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SLIDE</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934495"/>
                <a:gridCol w="4155899"/>
                <a:gridCol w="5967445"/>
              </a:tblGrid>
              <a:tr h="398399">
                <a:tc>
                  <a:txBody>
                    <a:bodyPr/>
                    <a:lstStyle/>
                    <a:p>
                      <a:pPr indent="0" marL="0">
                        <a:buNone/>
                      </a:pPr>
                      <a:r>
                        <a:rPr lang="en-US" sz="1200" dirty="0">
                          <a:solidFill>
                            <a:srgbClr val="000000"/>
                          </a:solidFill>
                        </a:rPr>
                        <a:t>Day</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Action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Purpose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b="1" dirty="0">
                          <a:solidFill>
                            <a:srgbClr val="000000"/>
                          </a:solidFill>
                        </a:rPr>
                        <a:t>−8</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PGF2α</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Luteolysis → the cow enters proestrus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604774">
                <a:tc>
                  <a:txBody>
                    <a:bodyPr/>
                    <a:lstStyle/>
                    <a:p>
                      <a:pPr indent="0" marL="0">
                        <a:buNone/>
                      </a:pPr>
                      <a:r>
                        <a:rPr lang="en-US" sz="1200" b="1" dirty="0">
                          <a:solidFill>
                            <a:srgbClr val="000000"/>
                          </a:solidFill>
                        </a:rPr>
                        <a:t>−6</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GnRH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Ovulates the resulting dominant follicle → </a:t>
                      </a:r>
                      <a:pPr indent="0" marL="0">
                        <a:buNone/>
                      </a:pPr>
                      <a:r>
                        <a:rPr lang="en-US" sz="1200" dirty="0">
                          <a:solidFill>
                            <a:srgbClr val="000000"/>
                          </a:solidFill>
                        </a:rPr>
                        <a:t>synchronized new wave + fresh CL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GnRH #1 (Ovsynch begins)</a:t>
                      </a:r>
                      <a:pPr indent="0" marL="0">
                        <a:buNone/>
                      </a:pPr>
                      <a:r>
                        <a:rPr lang="en-US" sz="1200" dirty="0">
                          <a:solidFill>
                            <a:srgbClr val="000000"/>
                          </a:solidFill>
                        </a:rPr>
                        <a:t> — 6 days later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Now nearly all cows have a </a:t>
                      </a:r>
                      <a:pPr indent="0" marL="0">
                        <a:buNone/>
                      </a:pPr>
                      <a:r>
                        <a:rPr lang="en-US" sz="1200" dirty="0">
                          <a:solidFill>
                            <a:srgbClr val="000000"/>
                          </a:solidFill>
                        </a:rPr>
                        <a:t>responsive</a:t>
                      </a:r>
                      <a:pPr indent="0" marL="0">
                        <a:buNone/>
                      </a:pPr>
                      <a:r>
                        <a:rPr lang="en-US" sz="1200" dirty="0">
                          <a:solidFill>
                            <a:srgbClr val="000000"/>
                          </a:solidFill>
                        </a:rPr>
                        <a:t> dominant follicle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7</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PGF2α</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 </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9</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GnRH #2</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 </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10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FTAI</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 </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
        <p:nvSpPr>
          <p:cNvPr id="8" name="Shape 5"/>
          <p:cNvSpPr/>
          <p:nvPr/>
        </p:nvSpPr>
        <p:spPr>
          <a:xfrm>
            <a:off x="566928" y="4586224"/>
            <a:ext cx="11057839" cy="990854"/>
          </a:xfrm>
          <a:prstGeom prst="roundRect">
            <a:avLst>
              <a:gd name="adj" fmla="val 8306"/>
            </a:avLst>
          </a:prstGeom>
          <a:solidFill>
            <a:srgbClr val="E8F0E6"/>
          </a:solidFill>
          <a:ln w="9525">
            <a:solidFill>
              <a:srgbClr val="6FA368"/>
            </a:solidFill>
            <a:prstDash val="solid"/>
          </a:ln>
        </p:spPr>
      </p:sp>
      <p:sp>
        <p:nvSpPr>
          <p:cNvPr id="9" name="Text 6"/>
          <p:cNvSpPr/>
          <p:nvPr/>
        </p:nvSpPr>
        <p:spPr>
          <a:xfrm>
            <a:off x="786384" y="4750816"/>
            <a:ext cx="10618927" cy="661670"/>
          </a:xfrm>
          <a:prstGeom prst="rect">
            <a:avLst/>
          </a:prstGeom>
          <a:noFill/>
          <a:ln/>
        </p:spPr>
        <p:txBody>
          <a:bodyPr wrap="square" lIns="0" tIns="0" rIns="0" bIns="0" rtlCol="0" anchor="t"/>
          <a:lstStyle/>
          <a:p>
            <a:pPr indent="0" marL="0">
              <a:buNone/>
            </a:pPr>
            <a:r>
              <a:rPr lang="en-US" dirty="0">
                <a:solidFill>
                  <a:srgbClr val="000000"/>
                </a:solidFill>
              </a:rPr>
              <a:t>"G6G" = </a:t>
            </a:r>
            <a:pPr indent="0" marL="0">
              <a:buNone/>
            </a:pPr>
            <a:r>
              <a:rPr lang="en-US" dirty="0">
                <a:solidFill>
                  <a:srgbClr val="000000"/>
                </a:solidFill>
              </a:rPr>
              <a:t>G</a:t>
            </a:r>
            <a:pPr indent="0" marL="0">
              <a:buNone/>
            </a:pPr>
            <a:r>
              <a:rPr lang="en-US" dirty="0">
                <a:solidFill>
                  <a:srgbClr val="000000"/>
                </a:solidFill>
              </a:rPr>
              <a:t>nRH </a:t>
            </a:r>
            <a:pPr indent="0" marL="0">
              <a:buNone/>
            </a:pPr>
            <a:r>
              <a:rPr lang="en-US" dirty="0">
                <a:solidFill>
                  <a:srgbClr val="000000"/>
                </a:solidFill>
              </a:rPr>
              <a:t>6</a:t>
            </a:r>
            <a:pPr indent="0" marL="0">
              <a:buNone/>
            </a:pPr>
            <a:r>
              <a:rPr lang="en-US" dirty="0">
                <a:solidFill>
                  <a:srgbClr val="000000"/>
                </a:solidFill>
              </a:rPr>
              <a:t> days before the </a:t>
            </a:r>
            <a:pPr indent="0" marL="0">
              <a:buNone/>
            </a:pPr>
            <a:r>
              <a:rPr lang="en-US" dirty="0">
                <a:solidFill>
                  <a:srgbClr val="000000"/>
                </a:solidFill>
              </a:rPr>
              <a:t>G</a:t>
            </a:r>
            <a:pPr indent="0" marL="0">
              <a:buNone/>
            </a:pPr>
            <a:r>
              <a:rPr lang="en-US" dirty="0">
                <a:solidFill>
                  <a:srgbClr val="000000"/>
                </a:solidFill>
              </a:rPr>
              <a:t>nRH that starts Ovsynch.</a:t>
            </a:r>
            <a:endParaRPr lang="en-US" dirty="0"/>
          </a:p>
          <a:p>
            <a:pPr indent="0" marL="0">
              <a:buNone/>
            </a:pPr>
            <a:r>
              <a:rPr lang="en-US" dirty="0">
                <a:solidFill>
                  <a:srgbClr val="000000"/>
                </a:solidFill>
              </a:rPr>
              <a:t>Reported effect: ovulatory response to Ovsynch GnRH #1 rises from ~50% toward </a:t>
            </a:r>
            <a:pPr indent="0" marL="0">
              <a:buNone/>
            </a:pPr>
            <a:r>
              <a:rPr lang="en-US" dirty="0">
                <a:solidFill>
                  <a:srgbClr val="000000"/>
                </a:solidFill>
              </a:rPr>
              <a:t>~85%</a:t>
            </a:r>
            <a:pPr indent="0" marL="0">
              <a:buNone/>
            </a:pPr>
            <a:r>
              <a:rPr lang="en-US" dirty="0">
                <a:solidFill>
                  <a:srgbClr val="000000"/>
                </a:solidFill>
              </a:rPr>
              <a:t> </a:t>
            </a:r>
            <a:pPr indent="0" marL="0">
              <a:buNone/>
            </a:pPr>
            <a:r>
              <a:rPr lang="en-US" dirty="0">
                <a:solidFill>
                  <a:srgbClr val="000000"/>
                </a:solidFill>
              </a:rPr>
              <a:t>(published; Bello et al.)</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960559" cy="749808"/>
          </a:xfrm>
          <a:prstGeom prst="rect">
            <a:avLst/>
          </a:prstGeom>
          <a:noFill/>
          <a:ln/>
        </p:spPr>
        <p:txBody>
          <a:bodyPr wrap="square" lIns="0" tIns="0" rIns="0" bIns="0" rtlCol="0" anchor="t"/>
          <a:lstStyle/>
          <a:p>
            <a:pPr indent="0" marL="0">
              <a:buNone/>
            </a:pPr>
            <a:r>
              <a:rPr lang="en-US" dirty="0">
                <a:solidFill>
                  <a:srgbClr val="000000"/>
                </a:solidFill>
              </a:rPr>
              <a:t>Protocol 5 — Double-Ovsynch</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S23   |   24</a:t>
            </a:r>
            <a:endParaRPr lang="en-US" sz="950" dirty="0"/>
          </a:p>
        </p:txBody>
      </p:sp>
      <p:sp>
        <p:nvSpPr>
          <p:cNvPr id="5" name="Shape 3"/>
          <p:cNvSpPr/>
          <p:nvPr/>
        </p:nvSpPr>
        <p:spPr>
          <a:xfrm>
            <a:off x="10692079" y="402336"/>
            <a:ext cx="932688" cy="310896"/>
          </a:xfrm>
          <a:prstGeom prst="roundRect">
            <a:avLst>
              <a:gd name="adj" fmla="val 50000"/>
            </a:avLst>
          </a:prstGeom>
          <a:solidFill>
            <a:srgbClr val="B26B12"/>
          </a:solidFill>
          <a:ln w="12700">
            <a:solidFill>
              <a:srgbClr val="B26B12"/>
            </a:solidFill>
            <a:prstDash val="solid"/>
          </a:ln>
        </p:spPr>
      </p:sp>
      <p:sp>
        <p:nvSpPr>
          <p:cNvPr id="6" name="Text 4"/>
          <p:cNvSpPr/>
          <p:nvPr/>
        </p:nvSpPr>
        <p:spPr>
          <a:xfrm>
            <a:off x="10692079" y="402336"/>
            <a:ext cx="932688"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SLIDE</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1275905"/>
                <a:gridCol w="2977111"/>
                <a:gridCol w="6804824"/>
              </a:tblGrid>
              <a:tr h="398399">
                <a:tc>
                  <a:txBody>
                    <a:bodyPr/>
                    <a:lstStyle/>
                    <a:p>
                      <a:pPr indent="0" marL="0">
                        <a:buNone/>
                      </a:pPr>
                      <a:r>
                        <a:rPr lang="en-US" sz="1200" dirty="0">
                          <a:solidFill>
                            <a:srgbClr val="000000"/>
                          </a:solidFill>
                        </a:rPr>
                        <a:t>Day</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Action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Phase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b="1" dirty="0">
                          <a:solidFill>
                            <a:srgbClr val="000000"/>
                          </a:solidFill>
                        </a:rPr>
                        <a:t>−17</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GnRH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Pre-Ovsynch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−10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PGF2α</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 </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−7</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GnRH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 7 days before Breeding-Ovsynch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GnRH #1</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Breeding-Ovsynch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7</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PGF2α</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 </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9</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GnRH #2 (56 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 </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10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FTAI</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 </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
        <p:nvSpPr>
          <p:cNvPr id="8" name="Text 5"/>
          <p:cNvSpPr/>
          <p:nvPr/>
        </p:nvSpPr>
        <p:spPr>
          <a:xfrm>
            <a:off x="621792" y="4778248"/>
            <a:ext cx="11002975" cy="809752"/>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Reported benefit greatest in </a:t>
            </a:r>
            <a:pPr indent="0" marL="0">
              <a:buNone/>
            </a:pPr>
            <a:r>
              <a:rPr lang="en-US" dirty="0">
                <a:solidFill>
                  <a:srgbClr val="000000"/>
                </a:solidFill>
              </a:rPr>
              <a:t>primiparous (first-lactation) cows</a:t>
            </a:r>
            <a:pPr indent="0" marL="0">
              <a:buNone/>
            </a:pPr>
            <a:r>
              <a:rPr lang="en-US" dirty="0">
                <a:solidFill>
                  <a:srgbClr val="000000"/>
                </a:solidFill>
              </a:rPr>
              <a:t> and in </a:t>
            </a:r>
            <a:pPr indent="0" marL="0">
              <a:buNone/>
            </a:pPr>
            <a:r>
              <a:rPr lang="en-US" dirty="0">
                <a:solidFill>
                  <a:srgbClr val="000000"/>
                </a:solidFill>
              </a:rPr>
              <a:t>anovular</a:t>
            </a:r>
            <a:pPr indent="0" marL="0">
              <a:buNone/>
            </a:pPr>
            <a:r>
              <a:rPr lang="en-US" dirty="0">
                <a:solidFill>
                  <a:srgbClr val="000000"/>
                </a:solidFill>
              </a:rPr>
              <a:t> cows </a:t>
            </a:r>
            <a:pPr indent="0" marL="0">
              <a:buNone/>
            </a:pPr>
            <a:r>
              <a:rPr lang="en-US" dirty="0">
                <a:solidFill>
                  <a:srgbClr val="000000"/>
                </a:solidFill>
              </a:rPr>
              <a:t>(published; Souza et al.)</a:t>
            </a:r>
            <a:endParaRPr lang="en-US" dirty="0"/>
          </a:p>
          <a:p>
            <a:pPr marL="342900" indent="-342900">
              <a:spcAft>
                <a:spcPts val="500"/>
              </a:spcAft>
              <a:buSzPct val="100000"/>
              <a:buChar char="•"/>
            </a:pPr>
            <a:r>
              <a:rPr lang="en-US" dirty="0">
                <a:solidFill>
                  <a:srgbClr val="000000"/>
                </a:solidFill>
              </a:rPr>
              <a:t>Cost: seven injections and more handling</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960559" cy="749808"/>
          </a:xfrm>
          <a:prstGeom prst="rect">
            <a:avLst/>
          </a:prstGeom>
          <a:noFill/>
          <a:ln/>
        </p:spPr>
        <p:txBody>
          <a:bodyPr wrap="square" lIns="0" tIns="0" rIns="0" bIns="0" rtlCol="0" anchor="t"/>
          <a:lstStyle/>
          <a:p>
            <a:pPr indent="0" marL="0">
              <a:buNone/>
            </a:pPr>
            <a:r>
              <a:rPr lang="en-US" dirty="0">
                <a:solidFill>
                  <a:srgbClr val="000000"/>
                </a:solidFill>
              </a:rPr>
              <a:t>Protocol 6 — 5-day CO-Synch + CIDR (the tropical default)</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S24   |   25</a:t>
            </a:r>
            <a:endParaRPr lang="en-US" sz="950" dirty="0"/>
          </a:p>
        </p:txBody>
      </p:sp>
      <p:sp>
        <p:nvSpPr>
          <p:cNvPr id="5" name="Shape 3"/>
          <p:cNvSpPr/>
          <p:nvPr/>
        </p:nvSpPr>
        <p:spPr>
          <a:xfrm>
            <a:off x="10692079" y="402336"/>
            <a:ext cx="932688" cy="310896"/>
          </a:xfrm>
          <a:prstGeom prst="roundRect">
            <a:avLst>
              <a:gd name="adj" fmla="val 50000"/>
            </a:avLst>
          </a:prstGeom>
          <a:solidFill>
            <a:srgbClr val="B26B12"/>
          </a:solidFill>
          <a:ln w="12700">
            <a:solidFill>
              <a:srgbClr val="B26B12"/>
            </a:solidFill>
            <a:prstDash val="solid"/>
          </a:ln>
        </p:spPr>
      </p:sp>
      <p:sp>
        <p:nvSpPr>
          <p:cNvPr id="6" name="Text 4"/>
          <p:cNvSpPr/>
          <p:nvPr/>
        </p:nvSpPr>
        <p:spPr>
          <a:xfrm>
            <a:off x="10692079" y="402336"/>
            <a:ext cx="932688"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SLIDE</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1070113"/>
                <a:gridCol w="9987726"/>
              </a:tblGrid>
              <a:tr h="398399">
                <a:tc>
                  <a:txBody>
                    <a:bodyPr/>
                    <a:lstStyle/>
                    <a:p>
                      <a:pPr indent="0" marL="0">
                        <a:buNone/>
                      </a:pPr>
                      <a:r>
                        <a:rPr lang="en-US" sz="1200" dirty="0">
                          <a:solidFill>
                            <a:srgbClr val="000000"/>
                          </a:solidFill>
                        </a:rPr>
                        <a:t>Day</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Action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GnRH + insert CIDR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5</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Remove CIDR + PGF2α</a:t>
                      </a:r>
                      <a:pPr indent="0" marL="0">
                        <a:buNone/>
                      </a:pPr>
                      <a:r>
                        <a:rPr lang="en-US" sz="1200" dirty="0">
                          <a:solidFill>
                            <a:srgbClr val="000000"/>
                          </a:solidFill>
                        </a:rPr>
                        <a:t> — WARNING: </a:t>
                      </a:r>
                      <a:pPr indent="0" marL="0">
                        <a:buNone/>
                      </a:pPr>
                      <a:r>
                        <a:rPr lang="en-US" sz="1200" dirty="0">
                          <a:solidFill>
                            <a:srgbClr val="000000"/>
                          </a:solidFill>
                        </a:rPr>
                        <a:t>second PGF 6–12 h later (cows)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8</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GnRH + FIXED-TIME AI</a:t>
                      </a:r>
                      <a:pPr indent="0" marL="0">
                        <a:buNone/>
                      </a:pPr>
                      <a:r>
                        <a:rPr lang="en-US" sz="1200" dirty="0">
                          <a:solidFill>
                            <a:srgbClr val="000000"/>
                          </a:solidFill>
                        </a:rPr>
                        <a:t> — ≈</a:t>
                      </a:r>
                      <a:pPr indent="0" marL="0">
                        <a:buNone/>
                      </a:pPr>
                      <a:r>
                        <a:rPr lang="en-US" sz="1200" dirty="0">
                          <a:solidFill>
                            <a:srgbClr val="000000"/>
                          </a:solidFill>
                        </a:rPr>
                        <a:t>72 h</a:t>
                      </a:r>
                      <a:pPr indent="0" marL="0">
                        <a:buNone/>
                      </a:pPr>
                      <a:r>
                        <a:rPr lang="en-US" sz="1200" dirty="0">
                          <a:solidFill>
                            <a:srgbClr val="000000"/>
                          </a:solidFill>
                        </a:rPr>
                        <a:t> after CIDR removal (</a:t>
                      </a:r>
                      <a:pPr indent="0" marL="0">
                        <a:buNone/>
                      </a:pPr>
                      <a:r>
                        <a:rPr lang="en-US" sz="1200" dirty="0">
                          <a:solidFill>
                            <a:srgbClr val="000000"/>
                          </a:solidFill>
                        </a:rPr>
                        <a:t>heifers ≈ 60 h</a:t>
                      </a:r>
                      <a:pPr indent="0" marL="0">
                        <a:buNone/>
                      </a:pPr>
                      <a:r>
                        <a:rPr lang="en-US" sz="1200" dirty="0">
                          <a:solidFill>
                            <a:srgbClr val="000000"/>
                          </a:solidFill>
                        </a:rPr>
                        <a: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
        <p:nvSpPr>
          <p:cNvPr id="8" name="Text 5"/>
          <p:cNvSpPr/>
          <p:nvPr/>
        </p:nvSpPr>
        <p:spPr>
          <a:xfrm>
            <a:off x="621792" y="3184652"/>
            <a:ext cx="11002975" cy="478028"/>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Optional: </a:t>
            </a:r>
            <a:pPr indent="0" marL="0">
              <a:buNone/>
            </a:pPr>
            <a:r>
              <a:rPr lang="en-US" dirty="0">
                <a:solidFill>
                  <a:srgbClr val="000000"/>
                </a:solidFill>
              </a:rPr>
              <a:t>eCG at CIDR removal</a:t>
            </a:r>
            <a:pPr indent="0" marL="0">
              <a:buNone/>
            </a:pPr>
            <a:r>
              <a:rPr lang="en-US" dirty="0">
                <a:solidFill>
                  <a:srgbClr val="000000"/>
                </a:solidFill>
              </a:rPr>
              <a:t> for anovular / thin / suckled animals</a:t>
            </a:r>
            <a:endParaRPr lang="en-US" dirty="0"/>
          </a:p>
        </p:txBody>
      </p:sp>
      <p:sp>
        <p:nvSpPr>
          <p:cNvPr id="9" name="Text 6"/>
          <p:cNvSpPr/>
          <p:nvPr/>
        </p:nvSpPr>
        <p:spPr>
          <a:xfrm>
            <a:off x="566928" y="3808984"/>
            <a:ext cx="11057839" cy="858012"/>
          </a:xfrm>
          <a:prstGeom prst="rect">
            <a:avLst/>
          </a:prstGeom>
          <a:noFill/>
          <a:ln/>
        </p:spPr>
        <p:txBody>
          <a:bodyPr wrap="square" lIns="0" tIns="0" rIns="0" bIns="0" rtlCol="0" anchor="t"/>
          <a:lstStyle/>
          <a:p>
            <a:pPr indent="0" marL="0">
              <a:buNone/>
            </a:pPr>
            <a:r>
              <a:rPr lang="en-US" dirty="0">
                <a:solidFill>
                  <a:srgbClr val="000000"/>
                </a:solidFill>
              </a:rPr>
              <a:t>Why two prostaglandin doses?</a:t>
            </a:r>
            <a:pPr indent="0" marL="0">
              <a:buNone/>
            </a:pPr>
            <a:r>
              <a:rPr lang="en-US" dirty="0">
                <a:solidFill>
                  <a:srgbClr val="000000"/>
                </a:solidFill>
              </a:rPr>
              <a:t> GnRH on Day 0 creates an </a:t>
            </a:r>
            <a:pPr indent="0" marL="0">
              <a:buNone/>
            </a:pPr>
            <a:r>
              <a:rPr lang="en-US" dirty="0">
                <a:solidFill>
                  <a:srgbClr val="000000"/>
                </a:solidFill>
              </a:rPr>
              <a:t>accessory CL</a:t>
            </a:r>
            <a:pPr indent="0" marL="0">
              <a:buNone/>
            </a:pPr>
            <a:r>
              <a:rPr lang="en-US" dirty="0">
                <a:solidFill>
                  <a:srgbClr val="000000"/>
                </a:solidFill>
              </a:rPr>
              <a:t> that is only </a:t>
            </a:r>
            <a:pPr indent="0" marL="0">
              <a:buNone/>
            </a:pPr>
            <a:r>
              <a:rPr lang="en-US" dirty="0">
                <a:solidFill>
                  <a:srgbClr val="000000"/>
                </a:solidFill>
              </a:rPr>
              <a:t>5 days old</a:t>
            </a:r>
            <a:pPr indent="0" marL="0">
              <a:buNone/>
            </a:pPr>
            <a:r>
              <a:rPr lang="en-US" dirty="0">
                <a:solidFill>
                  <a:srgbClr val="000000"/>
                </a:solidFill>
              </a:rPr>
              <a:t> at removal — a 5-day CL is often </a:t>
            </a:r>
            <a:pPr indent="0" marL="0">
              <a:buNone/>
            </a:pPr>
            <a:r>
              <a:rPr lang="en-US" dirty="0">
                <a:solidFill>
                  <a:srgbClr val="000000"/>
                </a:solidFill>
              </a:rPr>
              <a:t>refractory to a single PGF dose</a:t>
            </a:r>
            <a:pPr indent="0" marL="0">
              <a:buNone/>
            </a:pPr>
            <a:r>
              <a:rPr lang="en-US" dirty="0">
                <a:solidFill>
                  <a:srgbClr val="000000"/>
                </a:solidFill>
              </a:rPr>
              <a:t>. </a:t>
            </a:r>
            <a:pPr indent="0" marL="0">
              <a:buNone/>
            </a:pPr>
            <a:r>
              <a:rPr lang="en-US" dirty="0">
                <a:solidFill>
                  <a:srgbClr val="000000"/>
                </a:solidFill>
              </a:rPr>
              <a:t>Why 5 days and not 7?</a:t>
            </a:r>
            <a:pPr indent="0" marL="0">
              <a:buNone/>
            </a:pPr>
            <a:r>
              <a:rPr lang="en-US" dirty="0">
                <a:solidFill>
                  <a:srgbClr val="000000"/>
                </a:solidFill>
              </a:rPr>
              <a:t> A shorter progesterone period gives a </a:t>
            </a:r>
            <a:pPr indent="0" marL="0">
              <a:buNone/>
            </a:pPr>
            <a:r>
              <a:rPr lang="en-US" dirty="0">
                <a:solidFill>
                  <a:srgbClr val="000000"/>
                </a:solidFill>
              </a:rPr>
              <a:t>longer proestrus</a:t>
            </a:r>
            <a:pPr indent="0" marL="0">
              <a:buNone/>
            </a:pPr>
            <a:r>
              <a:rPr lang="en-US" dirty="0">
                <a:solidFill>
                  <a:srgbClr val="000000"/>
                </a:solidFill>
              </a:rPr>
              <a:t> before ovulation → better estradiol exposure of the uterus → </a:t>
            </a:r>
            <a:pPr indent="0" marL="0">
              <a:buNone/>
            </a:pPr>
            <a:r>
              <a:rPr lang="en-US" dirty="0">
                <a:solidFill>
                  <a:srgbClr val="000000"/>
                </a:solidFill>
              </a:rPr>
              <a:t>higher fertility</a:t>
            </a:r>
            <a:pPr indent="0" marL="0">
              <a:buNone/>
            </a:pPr>
            <a:r>
              <a:rPr lang="en-US" dirty="0">
                <a:solidFill>
                  <a:srgbClr val="000000"/>
                </a:solidFill>
              </a:rPr>
              <a:t>.</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Protocol 7 — 7-day CO-Synch + CIDR</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S25   |   26</a:t>
            </a:r>
            <a:endParaRPr lang="en-US" sz="9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1070113"/>
                <a:gridCol w="9987726"/>
              </a:tblGrid>
              <a:tr h="398399">
                <a:tc>
                  <a:txBody>
                    <a:bodyPr/>
                    <a:lstStyle/>
                    <a:p>
                      <a:pPr indent="0" marL="0">
                        <a:buNone/>
                      </a:pPr>
                      <a:r>
                        <a:rPr lang="en-US" sz="1200" dirty="0">
                          <a:solidFill>
                            <a:srgbClr val="000000"/>
                          </a:solidFill>
                        </a:rPr>
                        <a:t>Day</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Action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GnRH + CIDR in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7</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CIDR out + PGF2α (</a:t>
                      </a:r>
                      <a:pPr indent="0" marL="0">
                        <a:buNone/>
                      </a:pPr>
                      <a:r>
                        <a:rPr lang="en-US" sz="1200" dirty="0">
                          <a:solidFill>
                            <a:srgbClr val="000000"/>
                          </a:solidFill>
                        </a:rPr>
                        <a:t>single dose sufficient — the accessory CL is now 7 days old</a:t>
                      </a:r>
                      <a:pPr indent="0" marL="0">
                        <a:buNone/>
                      </a:pPr>
                      <a:r>
                        <a:rPr lang="en-US" sz="1200" dirty="0">
                          <a:solidFill>
                            <a:srgbClr val="000000"/>
                          </a:solidFill>
                        </a:rPr>
                        <a: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9–10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GnRH + FTAI at </a:t>
                      </a:r>
                      <a:pPr indent="0" marL="0">
                        <a:buNone/>
                      </a:pPr>
                      <a:r>
                        <a:rPr lang="en-US" sz="1200" dirty="0">
                          <a:solidFill>
                            <a:srgbClr val="000000"/>
                          </a:solidFill>
                        </a:rPr>
                        <a:t>~54–66 h</a:t>
                      </a:r>
                      <a:pPr indent="0" marL="0">
                        <a:buNone/>
                      </a:pPr>
                      <a:r>
                        <a:rPr lang="en-US" sz="1200" dirty="0">
                          <a:solidFill>
                            <a:srgbClr val="000000"/>
                          </a:solidFill>
                        </a:rPr>
                        <a:t> after removal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3184652"/>
            <a:ext cx="11057839" cy="395732"/>
          </a:xfrm>
          <a:prstGeom prst="rect">
            <a:avLst/>
          </a:prstGeom>
          <a:noFill/>
          <a:ln/>
        </p:spPr>
        <p:txBody>
          <a:bodyPr wrap="square" lIns="0" tIns="0" rIns="0" bIns="0" rtlCol="0" anchor="t"/>
          <a:lstStyle/>
          <a:p>
            <a:pPr indent="0" marL="0">
              <a:buNone/>
            </a:pPr>
            <a:r>
              <a:rPr lang="en-US" dirty="0">
                <a:solidFill>
                  <a:srgbClr val="000000"/>
                </a:solidFill>
              </a:rPr>
              <a:t>Use:</a:t>
            </a:r>
            <a:pPr indent="0" marL="0">
              <a:buNone/>
            </a:pPr>
            <a:r>
              <a:rPr lang="en-US" dirty="0">
                <a:solidFill>
                  <a:srgbClr val="000000"/>
                </a:solidFill>
              </a:rPr>
              <a:t> deeply anovular animals needing longer P4 priming; simpler (one PGF)</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Protocol 8 — Heifer-specific options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S26   |   27</a:t>
            </a:r>
            <a:endParaRPr lang="en-US" sz="9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3772675"/>
                <a:gridCol w="7285165"/>
              </a:tblGrid>
              <a:tr h="398399">
                <a:tc>
                  <a:txBody>
                    <a:bodyPr/>
                    <a:lstStyle/>
                    <a:p>
                      <a:pPr indent="0" marL="0">
                        <a:buNone/>
                      </a:pPr>
                      <a:r>
                        <a:rPr lang="en-US" sz="1200" dirty="0">
                          <a:solidFill>
                            <a:srgbClr val="000000"/>
                          </a:solidFill>
                        </a:rPr>
                        <a:t>Protocol</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Schedule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5-d CO-Synch + CIDR (heifers)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GnRH + CIDR D0 → CIDR out + PGF D5 → </a:t>
                      </a:r>
                      <a:pPr indent="0" marL="0">
                        <a:buNone/>
                      </a:pPr>
                      <a:r>
                        <a:rPr lang="en-US" sz="1200" dirty="0">
                          <a:solidFill>
                            <a:srgbClr val="000000"/>
                          </a:solidFill>
                        </a:rPr>
                        <a:t>GnRH + TAI ~60 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14-day CIDR-PG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CIDR 14 d → remove → </a:t>
                      </a:r>
                      <a:pPr indent="0" marL="0">
                        <a:buNone/>
                      </a:pPr>
                      <a:r>
                        <a:rPr lang="en-US" sz="1200" dirty="0">
                          <a:solidFill>
                            <a:srgbClr val="000000"/>
                          </a:solidFill>
                        </a:rPr>
                        <a:t>PGF 16 days later</a:t>
                      </a:r>
                      <a:pPr indent="0" marL="0">
                        <a:buNone/>
                      </a:pPr>
                      <a:r>
                        <a:rPr lang="en-US" sz="1200" dirty="0">
                          <a:solidFill>
                            <a:srgbClr val="000000"/>
                          </a:solidFill>
                        </a:rPr>
                        <a:t> → AI on estrus or TAI ~72 h + GnRH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Double PGF</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For confirmed cycling heifers only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3184652"/>
            <a:ext cx="11057839" cy="990854"/>
          </a:xfrm>
          <a:prstGeom prst="roundRect">
            <a:avLst>
              <a:gd name="adj" fmla="val 8306"/>
            </a:avLst>
          </a:prstGeom>
          <a:solidFill>
            <a:srgbClr val="E8F0E6"/>
          </a:solidFill>
          <a:ln w="9525">
            <a:solidFill>
              <a:srgbClr val="6FA368"/>
            </a:solidFill>
            <a:prstDash val="solid"/>
          </a:ln>
        </p:spPr>
      </p:sp>
      <p:sp>
        <p:nvSpPr>
          <p:cNvPr id="7" name="Text 4"/>
          <p:cNvSpPr/>
          <p:nvPr/>
        </p:nvSpPr>
        <p:spPr>
          <a:xfrm>
            <a:off x="786384" y="3349244"/>
            <a:ext cx="10618927" cy="661670"/>
          </a:xfrm>
          <a:prstGeom prst="rect">
            <a:avLst/>
          </a:prstGeom>
          <a:noFill/>
          <a:ln/>
        </p:spPr>
        <p:txBody>
          <a:bodyPr wrap="square" lIns="0" tIns="0" rIns="0" bIns="0" rtlCol="0" anchor="t"/>
          <a:lstStyle/>
          <a:p>
            <a:pPr indent="0" marL="0">
              <a:buNone/>
            </a:pPr>
            <a:r>
              <a:rPr lang="en-US" dirty="0">
                <a:solidFill>
                  <a:srgbClr val="000000"/>
                </a:solidFill>
              </a:rPr>
              <a:t>Heifers are </a:t>
            </a:r>
            <a:pPr indent="0" marL="0">
              <a:buNone/>
            </a:pPr>
            <a:r>
              <a:rPr lang="en-US" dirty="0">
                <a:solidFill>
                  <a:srgbClr val="000000"/>
                </a:solidFill>
              </a:rPr>
              <a:t>more fertile but less tolerant of poor timing</a:t>
            </a:r>
            <a:pPr indent="0" marL="0">
              <a:buNone/>
            </a:pPr>
            <a:r>
              <a:rPr lang="en-US" dirty="0">
                <a:solidFill>
                  <a:srgbClr val="000000"/>
                </a:solidFill>
              </a:rPr>
              <a:t> — their estrus is shorter and their cycles are tighter.</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Resynchronization — never lose a cycle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S27   |   28</a:t>
            </a:r>
            <a:endParaRPr lang="en-US" sz="950" dirty="0"/>
          </a:p>
        </p:txBody>
      </p:sp>
      <p:sp>
        <p:nvSpPr>
          <p:cNvPr id="5" name="Text 3"/>
          <p:cNvSpPr/>
          <p:nvPr/>
        </p:nvSpPr>
        <p:spPr>
          <a:xfrm>
            <a:off x="621792" y="1298448"/>
            <a:ext cx="11002975" cy="1473200"/>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Cow not confirmed pregnant at Day 30–32 → </a:t>
            </a:r>
            <a:pPr indent="0" marL="0">
              <a:buNone/>
            </a:pPr>
            <a:r>
              <a:rPr lang="en-US" dirty="0">
                <a:solidFill>
                  <a:srgbClr val="000000"/>
                </a:solidFill>
              </a:rPr>
              <a:t>she must already be back in a programme</a:t>
            </a:r>
            <a:pPr indent="0" marL="0">
              <a:buNone/>
            </a:pPr>
            <a:r>
              <a:rPr lang="en-US" dirty="0">
                <a:solidFill>
                  <a:srgbClr val="000000"/>
                </a:solidFill>
              </a:rPr>
              <a:t>, not starting one</a:t>
            </a:r>
            <a:endParaRPr lang="en-US" dirty="0"/>
          </a:p>
          <a:p>
            <a:pPr marL="342900" indent="-342900">
              <a:spcAft>
                <a:spcPts val="500"/>
              </a:spcAft>
              <a:buSzPct val="100000"/>
              <a:buChar char="•"/>
            </a:pPr>
            <a:r>
              <a:rPr lang="en-US" dirty="0">
                <a:solidFill>
                  <a:srgbClr val="000000"/>
                </a:solidFill>
              </a:rPr>
              <a:t>Common approach: </a:t>
            </a:r>
            <a:pPr indent="0" marL="0">
              <a:buNone/>
            </a:pPr>
            <a:r>
              <a:rPr lang="en-US" dirty="0">
                <a:solidFill>
                  <a:srgbClr val="000000"/>
                </a:solidFill>
              </a:rPr>
              <a:t>GnRH at Day 25</a:t>
            </a:r>
            <a:pPr indent="0" marL="0">
              <a:buNone/>
            </a:pPr>
            <a:r>
              <a:rPr lang="en-US" dirty="0">
                <a:solidFill>
                  <a:srgbClr val="000000"/>
                </a:solidFill>
              </a:rPr>
              <a:t> → </a:t>
            </a:r>
            <a:pPr indent="0" marL="0">
              <a:buNone/>
            </a:pPr>
            <a:r>
              <a:rPr lang="en-US" dirty="0">
                <a:solidFill>
                  <a:srgbClr val="000000"/>
                </a:solidFill>
              </a:rPr>
              <a:t>PD at Day 32</a:t>
            </a:r>
            <a:pPr indent="0" marL="0">
              <a:buNone/>
            </a:pPr>
            <a:r>
              <a:rPr lang="en-US" dirty="0">
                <a:solidFill>
                  <a:srgbClr val="000000"/>
                </a:solidFill>
              </a:rPr>
              <a:t> → if open: </a:t>
            </a:r>
            <a:pPr indent="0" marL="0">
              <a:buNone/>
            </a:pPr>
            <a:r>
              <a:rPr lang="en-US" dirty="0">
                <a:solidFill>
                  <a:srgbClr val="000000"/>
                </a:solidFill>
              </a:rPr>
              <a:t>PGF (Day 32) → GnRH (Day 34) → TAI</a:t>
            </a:r>
            <a:endParaRPr lang="en-US" dirty="0"/>
          </a:p>
          <a:p>
            <a:pPr marL="342900" indent="-342900">
              <a:spcAft>
                <a:spcPts val="500"/>
              </a:spcAft>
              <a:buSzPct val="100000"/>
              <a:buChar char="•"/>
            </a:pPr>
            <a:r>
              <a:rPr lang="en-US" dirty="0">
                <a:solidFill>
                  <a:srgbClr val="000000"/>
                </a:solidFill>
              </a:rPr>
              <a:t>Or: </a:t>
            </a:r>
            <a:pPr indent="0" marL="0">
              <a:buNone/>
            </a:pPr>
            <a:r>
              <a:rPr lang="en-US" dirty="0">
                <a:solidFill>
                  <a:srgbClr val="000000"/>
                </a:solidFill>
              </a:rPr>
              <a:t>Resynch with a CIDR</a:t>
            </a:r>
            <a:pPr indent="0" marL="0">
              <a:buNone/>
            </a:pPr>
            <a:r>
              <a:rPr lang="en-US" dirty="0">
                <a:solidFill>
                  <a:srgbClr val="000000"/>
                </a:solidFill>
              </a:rPr>
              <a:t> from Day 25 for anovular/repeat animals</a:t>
            </a:r>
            <a:endParaRPr lang="en-US" dirty="0"/>
          </a:p>
          <a:p>
            <a:pPr marL="342900" indent="-342900">
              <a:spcAft>
                <a:spcPts val="500"/>
              </a:spcAft>
              <a:buSzPct val="100000"/>
              <a:buChar char="•"/>
            </a:pPr>
            <a:r>
              <a:rPr lang="en-US" dirty="0">
                <a:solidFill>
                  <a:srgbClr val="000000"/>
                </a:solidFill>
              </a:rPr>
              <a:t>Every unmanaged open cow = </a:t>
            </a:r>
            <a:pPr indent="0" marL="0">
              <a:buNone/>
            </a:pPr>
            <a:r>
              <a:rPr lang="en-US" dirty="0">
                <a:solidFill>
                  <a:srgbClr val="000000"/>
                </a:solidFill>
              </a:rPr>
              <a:t>21 days lost, and 21 days is one heat cycle of production</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Protocol failure audit — in order</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S28   |   29</a:t>
            </a:r>
            <a:endParaRPr lang="en-US" sz="9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3940150"/>
                <a:gridCol w="7117690"/>
              </a:tblGrid>
              <a:tr h="398399">
                <a:tc>
                  <a:txBody>
                    <a:bodyPr/>
                    <a:lstStyle/>
                    <a:p>
                      <a:pPr indent="0" marL="0">
                        <a:buNone/>
                      </a:pPr>
                      <a:r>
                        <a:rPr lang="en-US" sz="1200" dirty="0">
                          <a:solidFill>
                            <a:srgbClr val="000000"/>
                          </a:solidFill>
                        </a:rPr>
                        <a:t>Symptom</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First suspect</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"PGF didn't work"</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No functional CL</a:t>
                      </a:r>
                      <a:pPr indent="0" marL="0">
                        <a:buNone/>
                      </a:pPr>
                      <a:r>
                        <a:rPr lang="en-US" sz="1200" dirty="0">
                          <a:solidFill>
                            <a:srgbClr val="000000"/>
                          </a:solidFill>
                        </a:rPr>
                        <a:t> — anovular, or Day 0–5</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Heats scattered over 5+ days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Device lost / expelled; or protocol steps missed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Whole group fails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Hormone cold chain</a:t>
                      </a:r>
                      <a:pPr indent="0" marL="0">
                        <a:buNone/>
                      </a:pPr>
                      <a:r>
                        <a:rPr lang="en-US" sz="1200" dirty="0">
                          <a:solidFill>
                            <a:srgbClr val="000000"/>
                          </a:solidFill>
                        </a:rPr>
                        <a:t> — heat-damaged product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Good synchrony, no pregnancy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AI timing (must be 16–20 h after GnRH #2), semen handling, technique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5-day protocol fails repeatedly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Second PGF dose omitted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Works in cool months only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Heat stress</a:t>
                      </a:r>
                      <a:pPr indent="0" marL="0">
                        <a:buNone/>
                      </a:pPr>
                      <a:r>
                        <a:rPr lang="en-US" sz="1200" dirty="0">
                          <a:solidFill>
                            <a:srgbClr val="000000"/>
                          </a:solidFill>
                        </a:rPr>
                        <a:t> — move all handling before 09:00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Thin cows never respond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Nutrition — synchronize after correcting energy balance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4778248"/>
            <a:ext cx="11057839" cy="751459"/>
          </a:xfrm>
          <a:prstGeom prst="roundRect">
            <a:avLst>
              <a:gd name="adj" fmla="val 10951"/>
            </a:avLst>
          </a:prstGeom>
          <a:solidFill>
            <a:srgbClr val="E8F0E6"/>
          </a:solidFill>
          <a:ln w="9525">
            <a:solidFill>
              <a:srgbClr val="6FA368"/>
            </a:solidFill>
            <a:prstDash val="solid"/>
          </a:ln>
        </p:spPr>
      </p:sp>
      <p:sp>
        <p:nvSpPr>
          <p:cNvPr id="7" name="Text 4"/>
          <p:cNvSpPr/>
          <p:nvPr/>
        </p:nvSpPr>
        <p:spPr>
          <a:xfrm>
            <a:off x="786384" y="4942840"/>
            <a:ext cx="10618927" cy="422275"/>
          </a:xfrm>
          <a:prstGeom prst="rect">
            <a:avLst/>
          </a:prstGeom>
          <a:noFill/>
          <a:ln/>
        </p:spPr>
        <p:txBody>
          <a:bodyPr wrap="square" lIns="0" tIns="0" rIns="0" bIns="0" rtlCol="0" anchor="t"/>
          <a:lstStyle/>
          <a:p>
            <a:pPr indent="0" marL="0">
              <a:buNone/>
            </a:pPr>
            <a:r>
              <a:rPr lang="en-US" dirty="0">
                <a:solidFill>
                  <a:srgbClr val="000000"/>
                </a:solidFill>
              </a:rPr>
              <a:t>Audit order: 1) the cow · 2) the cold chain · 3) the calendar · 4) the technique.</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Cost per pregnancy — deciding which protocol to use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S29   |   30</a:t>
            </a:r>
            <a:endParaRPr lang="en-US" sz="950" dirty="0"/>
          </a:p>
        </p:txBody>
      </p:sp>
      <p:sp>
        <p:nvSpPr>
          <p:cNvPr id="5" name="Text 3"/>
          <p:cNvSpPr/>
          <p:nvPr/>
        </p:nvSpPr>
        <p:spPr>
          <a:xfrm>
            <a:off x="566928" y="1298448"/>
            <a:ext cx="11057839" cy="395732"/>
          </a:xfrm>
          <a:prstGeom prst="rect">
            <a:avLst/>
          </a:prstGeom>
          <a:noFill/>
          <a:ln/>
        </p:spPr>
        <p:txBody>
          <a:bodyPr wrap="square" lIns="0" tIns="0" rIns="0" bIns="0" rtlCol="0" anchor="t"/>
          <a:lstStyle/>
          <a:p>
            <a:pPr indent="0" marL="0">
              <a:buNone/>
            </a:pPr>
            <a:r>
              <a:rPr lang="en-US" dirty="0">
                <a:solidFill>
                  <a:srgbClr val="000000"/>
                </a:solidFill>
              </a:rPr>
              <a:t>Cost per pregnancy = (hormones + labour/handling + semen + technician) ÷ pregnancy rate</a:t>
            </a:r>
            <a:endParaRPr lang="en-US"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840484"/>
          <a:ext cx="11057839" cy="914400"/>
        </p:xfrm>
        <a:graphic>
          <a:graphicData uri="http://schemas.openxmlformats.org/drawingml/2006/table">
            <a:tbl>
              <a:tblPr/>
              <a:tblGrid>
                <a:gridCol w="2342763"/>
                <a:gridCol w="5247788"/>
                <a:gridCol w="3467289"/>
              </a:tblGrid>
              <a:tr h="398399">
                <a:tc>
                  <a:txBody>
                    <a:bodyPr/>
                    <a:lstStyle/>
                    <a:p>
                      <a:pPr indent="0" marL="0">
                        <a:buNone/>
                      </a:pPr>
                      <a:r>
                        <a:rPr lang="en-US" sz="1200" dirty="0">
                          <a:solidFill>
                            <a:srgbClr val="000000"/>
                          </a:solidFill>
                        </a:rPr>
                        <a:t>Consideration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Low-input smallholder</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Commercial dairy</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b="1" dirty="0">
                          <a:solidFill>
                            <a:srgbClr val="000000"/>
                          </a:solidFill>
                        </a:rPr>
                        <a:t>Handling events available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Few — head gate may not exist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Many — lock-up feed line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Best fit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5-d CO-Synch + CIDR</a:t>
                      </a:r>
                      <a:pPr indent="0" marL="0">
                        <a:buNone/>
                      </a:pPr>
                      <a:r>
                        <a:rPr lang="en-US" sz="1200" dirty="0">
                          <a:solidFill>
                            <a:srgbClr val="000000"/>
                          </a:solidFill>
                        </a:rPr>
                        <a:t>, or double PGF for confirmed cycling</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Presynch-Ovsynch, G6G, Double-Ovsynch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Anovular proportion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High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Lower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Heat detection feasible?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Sometimes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Often replaced by TAI</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F4A2C"/>
        </a:solidFill>
      </p:bgPr>
    </p:bg>
    <p:spTree>
      <p:nvGrpSpPr>
        <p:cNvPr id="1" name=""/>
        <p:cNvGrpSpPr/>
        <p:nvPr/>
      </p:nvGrpSpPr>
      <p:grpSpPr>
        <a:xfrm>
          <a:off x="0" y="0"/>
          <a:ext cx="0" cy="0"/>
          <a:chOff x="0" y="0"/>
          <a:chExt cx="0" cy="0"/>
        </a:xfrm>
      </p:grpSpPr>
      <p:sp>
        <p:nvSpPr>
          <p:cNvPr id="2" name="Shape 0"/>
          <p:cNvSpPr/>
          <p:nvPr/>
        </p:nvSpPr>
        <p:spPr>
          <a:xfrm>
            <a:off x="10058400" y="4572000"/>
            <a:ext cx="3291840" cy="3291840"/>
          </a:xfrm>
          <a:prstGeom prst="ellipse">
            <a:avLst/>
          </a:prstGeom>
          <a:solidFill>
            <a:srgbClr val="14301C"/>
          </a:solidFill>
          <a:ln/>
        </p:spPr>
      </p:sp>
      <p:sp>
        <p:nvSpPr>
          <p:cNvPr id="3" name="Text 1"/>
          <p:cNvSpPr/>
          <p:nvPr/>
        </p:nvSpPr>
        <p:spPr>
          <a:xfrm>
            <a:off x="841248" y="2148840"/>
            <a:ext cx="10058400" cy="411480"/>
          </a:xfrm>
          <a:prstGeom prst="rect">
            <a:avLst/>
          </a:prstGeom>
          <a:noFill/>
          <a:ln/>
        </p:spPr>
        <p:txBody>
          <a:bodyPr wrap="square" lIns="0" tIns="0" rIns="0" bIns="0" rtlCol="0" anchor="ctr"/>
          <a:lstStyle/>
          <a:p>
            <a:pPr indent="0" marL="0">
              <a:buNone/>
            </a:pPr>
            <a:r>
              <a:rPr lang="en-US" sz="1500" b="1" spc="200" kern="0" dirty="0">
                <a:solidFill>
                  <a:srgbClr val="6FA368"/>
                </a:solidFill>
                <a:latin typeface="Calibri" pitchFamily="34" charset="0"/>
                <a:ea typeface="Calibri" pitchFamily="34" charset="-122"/>
                <a:cs typeface="Calibri" pitchFamily="34" charset="-120"/>
              </a:rPr>
              <a:t>PART 2-D</a:t>
            </a:r>
            <a:endParaRPr lang="en-US" sz="1500" dirty="0"/>
          </a:p>
        </p:txBody>
      </p:sp>
      <p:sp>
        <p:nvSpPr>
          <p:cNvPr id="4" name="Text 2"/>
          <p:cNvSpPr/>
          <p:nvPr/>
        </p:nvSpPr>
        <p:spPr>
          <a:xfrm>
            <a:off x="841248" y="2606040"/>
            <a:ext cx="1005840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FTET — SYNCHRONIZING RECIPIENTS</a:t>
            </a:r>
            <a:endParaRPr lang="en-US" sz="3800" dirty="0"/>
          </a:p>
        </p:txBody>
      </p:sp>
      <p:sp>
        <p:nvSpPr>
          <p:cNvPr id="5" name="Text 3"/>
          <p:cNvSpPr/>
          <p:nvPr/>
        </p:nvSpPr>
        <p:spPr>
          <a:xfrm>
            <a:off x="841248" y="4160520"/>
            <a:ext cx="10058400" cy="457200"/>
          </a:xfrm>
          <a:prstGeom prst="rect">
            <a:avLst/>
          </a:prstGeom>
          <a:noFill/>
          <a:ln/>
        </p:spPr>
        <p:txBody>
          <a:bodyPr wrap="square" lIns="0" tIns="0" rIns="0" bIns="0" rtlCol="0" anchor="ctr"/>
          <a:lstStyle/>
          <a:p>
            <a:pPr indent="0" marL="0">
              <a:buNone/>
            </a:pPr>
            <a:r>
              <a:rPr lang="en-US" sz="1500" dirty="0">
                <a:solidFill>
                  <a:srgbClr val="C8D8C6"/>
                </a:solidFill>
                <a:latin typeface="Calibri" pitchFamily="34" charset="0"/>
                <a:ea typeface="Calibri" pitchFamily="34" charset="-122"/>
                <a:cs typeface="Calibri" pitchFamily="34" charset="-120"/>
              </a:rPr>
              <a:t>20 min, S30–S33</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960559" cy="749808"/>
          </a:xfrm>
          <a:prstGeom prst="rect">
            <a:avLst/>
          </a:prstGeom>
          <a:noFill/>
          <a:ln/>
        </p:spPr>
        <p:txBody>
          <a:bodyPr wrap="square" lIns="0" tIns="0" rIns="0" bIns="0" rtlCol="0" anchor="t"/>
          <a:lstStyle/>
          <a:p>
            <a:pPr indent="0" marL="0">
              <a:buNone/>
            </a:pPr>
            <a:r>
              <a:rPr lang="en-US" dirty="0">
                <a:solidFill>
                  <a:srgbClr val="000000"/>
                </a:solidFill>
              </a:rPr>
              <a:t>The FTET principle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S30   |   31</a:t>
            </a:r>
            <a:endParaRPr lang="en-US" sz="950" dirty="0"/>
          </a:p>
        </p:txBody>
      </p:sp>
      <p:sp>
        <p:nvSpPr>
          <p:cNvPr id="5" name="Shape 3"/>
          <p:cNvSpPr/>
          <p:nvPr/>
        </p:nvSpPr>
        <p:spPr>
          <a:xfrm>
            <a:off x="10692079" y="402336"/>
            <a:ext cx="932688" cy="310896"/>
          </a:xfrm>
          <a:prstGeom prst="roundRect">
            <a:avLst>
              <a:gd name="adj" fmla="val 50000"/>
            </a:avLst>
          </a:prstGeom>
          <a:solidFill>
            <a:srgbClr val="B26B12"/>
          </a:solidFill>
          <a:ln w="12700">
            <a:solidFill>
              <a:srgbClr val="B26B12"/>
            </a:solidFill>
            <a:prstDash val="solid"/>
          </a:ln>
        </p:spPr>
      </p:sp>
      <p:sp>
        <p:nvSpPr>
          <p:cNvPr id="6" name="Text 4"/>
          <p:cNvSpPr/>
          <p:nvPr/>
        </p:nvSpPr>
        <p:spPr>
          <a:xfrm>
            <a:off x="10692079" y="402336"/>
            <a:ext cx="932688"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SLIDE</a:t>
            </a:r>
            <a:endParaRPr lang="en-US" sz="900" dirty="0"/>
          </a:p>
        </p:txBody>
      </p:sp>
      <p:sp>
        <p:nvSpPr>
          <p:cNvPr id="7" name="Shape 5"/>
          <p:cNvSpPr/>
          <p:nvPr/>
        </p:nvSpPr>
        <p:spPr>
          <a:xfrm>
            <a:off x="566928" y="1298448"/>
            <a:ext cx="11057839" cy="751459"/>
          </a:xfrm>
          <a:prstGeom prst="roundRect">
            <a:avLst>
              <a:gd name="adj" fmla="val 10951"/>
            </a:avLst>
          </a:prstGeom>
          <a:solidFill>
            <a:srgbClr val="E8F0E6"/>
          </a:solidFill>
          <a:ln w="9525">
            <a:solidFill>
              <a:srgbClr val="6FA368"/>
            </a:solidFill>
            <a:prstDash val="solid"/>
          </a:ln>
        </p:spPr>
      </p:sp>
      <p:sp>
        <p:nvSpPr>
          <p:cNvPr id="8" name="Text 6"/>
          <p:cNvSpPr/>
          <p:nvPr/>
        </p:nvSpPr>
        <p:spPr>
          <a:xfrm>
            <a:off x="786384" y="1463040"/>
            <a:ext cx="10618927" cy="422275"/>
          </a:xfrm>
          <a:prstGeom prst="rect">
            <a:avLst/>
          </a:prstGeom>
          <a:noFill/>
          <a:ln/>
        </p:spPr>
        <p:txBody>
          <a:bodyPr wrap="square" lIns="0" tIns="0" rIns="0" bIns="0" rtlCol="0" anchor="t"/>
          <a:lstStyle/>
          <a:p>
            <a:pPr indent="0" marL="0">
              <a:buNone/>
            </a:pPr>
            <a:r>
              <a:rPr lang="en-US" dirty="0">
                <a:solidFill>
                  <a:srgbClr val="000000"/>
                </a:solidFill>
              </a:rPr>
              <a:t>The recipient must be at Day 7 (±1) after ovulation on the day the Day-7 embryo is transferred.</a:t>
            </a:r>
            <a:endParaRPr lang="en-US" dirty="0"/>
          </a:p>
        </p:txBody>
      </p:sp>
      <p:sp>
        <p:nvSpPr>
          <p:cNvPr id="9" name="Text 7"/>
          <p:cNvSpPr/>
          <p:nvPr/>
        </p:nvSpPr>
        <p:spPr>
          <a:xfrm>
            <a:off x="566928" y="2196211"/>
            <a:ext cx="11057839" cy="395732"/>
          </a:xfrm>
          <a:prstGeom prst="rect">
            <a:avLst/>
          </a:prstGeom>
          <a:noFill/>
          <a:ln/>
        </p:spPr>
        <p:txBody>
          <a:bodyPr wrap="square" lIns="0" tIns="0" rIns="0" bIns="0" rtlCol="0" anchor="t"/>
          <a:lstStyle/>
          <a:p>
            <a:pPr indent="0" marL="0">
              <a:buNone/>
            </a:pPr>
            <a:r>
              <a:rPr lang="en-US" dirty="0">
                <a:solidFill>
                  <a:srgbClr val="000000"/>
                </a:solidFill>
              </a:rPr>
              <a:t>Therefore: </a:t>
            </a:r>
            <a:pPr indent="0" marL="0">
              <a:buNone/>
            </a:pPr>
            <a:r>
              <a:rPr lang="en-US" dirty="0">
                <a:solidFill>
                  <a:srgbClr val="000000"/>
                </a:solidFill>
              </a:rPr>
              <a:t>plan backwards from the transfer date.</a:t>
            </a:r>
            <a:pPr indent="0" marL="0">
              <a:buNone/>
            </a:pPr>
            <a:r>
              <a:rPr lang="en-US" dirty="0">
                <a:solidFill>
                  <a:srgbClr val="000000"/>
                </a:solidFill>
              </a:rPr>
              <a:t> </a:t>
            </a:r>
            <a:pPr indent="0" marL="0">
              <a:buNone/>
            </a:pPr>
            <a:r>
              <a:rPr lang="en-US" dirty="0">
                <a:solidFill>
                  <a:srgbClr val="000000"/>
                </a:solidFill>
              </a:rPr>
              <a:t>Ovulation day = Transfer day − 7</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The FTET protocol</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S31   |   32</a:t>
            </a:r>
            <a:endParaRPr lang="en-US" sz="9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3118878"/>
                <a:gridCol w="7938961"/>
              </a:tblGrid>
              <a:tr h="398399">
                <a:tc>
                  <a:txBody>
                    <a:bodyPr/>
                    <a:lstStyle/>
                    <a:p>
                      <a:pPr indent="0" marL="0">
                        <a:buNone/>
                      </a:pPr>
                      <a:r>
                        <a:rPr lang="en-US" sz="1200" dirty="0">
                          <a:solidFill>
                            <a:srgbClr val="000000"/>
                          </a:solidFill>
                        </a:rPr>
                        <a:t>Day</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Action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GnRH + CIDR in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7</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CIDR out + PGF2α</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9–10</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GnRH</a:t>
                      </a:r>
                      <a:pPr indent="0" marL="0">
                        <a:buNone/>
                      </a:pPr>
                      <a:r>
                        <a:rPr lang="en-US" sz="1200" dirty="0">
                          <a:solidFill>
                            <a:srgbClr val="000000"/>
                          </a:solidFill>
                        </a:rPr>
                        <a:t> — ovulation trigger → </a:t>
                      </a:r>
                      <a:pPr indent="0" marL="0">
                        <a:buNone/>
                      </a:pPr>
                      <a:r>
                        <a:rPr lang="en-US" sz="1200" dirty="0">
                          <a:solidFill>
                            <a:srgbClr val="000000"/>
                          </a:solidFill>
                        </a:rPr>
                        <a:t>this is Day 0 of the recipient's cycle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+7 from that ovulation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Palpate / scan ovaries → CL present?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 </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CL YES → TRANSFER (ipsilateral horn)</a:t>
                      </a:r>
                      <a:pPr indent="0" marL="0">
                        <a:buNone/>
                      </a:pPr>
                      <a:r>
                        <a:rPr lang="en-US" sz="1200" dirty="0">
                          <a:solidFill>
                            <a:srgbClr val="000000"/>
                          </a:solidFill>
                        </a:rPr>
                        <a:t> · </a:t>
                      </a:r>
                      <a:pPr indent="0" marL="0">
                        <a:buNone/>
                      </a:pPr>
                      <a:r>
                        <a:rPr lang="en-US" sz="1200" dirty="0">
                          <a:solidFill>
                            <a:srgbClr val="000000"/>
                          </a:solidFill>
                        </a:rPr>
                        <a:t>CL NO → REJECT, do not thaw</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
        <p:nvSpPr>
          <p:cNvPr id="6" name="Text 3"/>
          <p:cNvSpPr/>
          <p:nvPr/>
        </p:nvSpPr>
        <p:spPr>
          <a:xfrm>
            <a:off x="621792" y="3981450"/>
            <a:ext cx="11002975" cy="809752"/>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Usable rate: roughly </a:t>
            </a:r>
            <a:pPr indent="0" marL="0">
              <a:buNone/>
            </a:pPr>
            <a:r>
              <a:rPr lang="en-US" dirty="0">
                <a:solidFill>
                  <a:srgbClr val="000000"/>
                </a:solidFill>
              </a:rPr>
              <a:t>60–80% of synchronized recipients</a:t>
            </a:r>
            <a:pPr indent="0" marL="0">
              <a:buNone/>
            </a:pPr>
            <a:r>
              <a:rPr lang="en-US" dirty="0">
                <a:solidFill>
                  <a:srgbClr val="000000"/>
                </a:solidFill>
              </a:rPr>
              <a:t> have an acceptable Day-7 CL </a:t>
            </a:r>
            <a:pPr indent="0" marL="0">
              <a:buNone/>
            </a:pPr>
            <a:r>
              <a:rPr lang="en-US" dirty="0">
                <a:solidFill>
                  <a:srgbClr val="000000"/>
                </a:solidFill>
              </a:rPr>
              <a:t>(varies with BCS, health, season)</a:t>
            </a:r>
            <a:endParaRPr lang="en-US" dirty="0"/>
          </a:p>
          <a:p>
            <a:pPr marL="342900" indent="-342900">
              <a:spcAft>
                <a:spcPts val="500"/>
              </a:spcAft>
              <a:buSzPct val="100000"/>
              <a:buChar char="•"/>
            </a:pPr>
            <a:r>
              <a:rPr lang="en-US" dirty="0">
                <a:solidFill>
                  <a:srgbClr val="000000"/>
                </a:solidFill>
              </a:rPr>
              <a:t>Synchronize 1.4–1.6 recipients per embryo.</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Building the FTET calendar backwards — worked example</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S32   |   33</a:t>
            </a:r>
            <a:endParaRPr lang="en-US" sz="950" dirty="0"/>
          </a:p>
        </p:txBody>
      </p:sp>
      <p:sp>
        <p:nvSpPr>
          <p:cNvPr id="5" name="Text 3"/>
          <p:cNvSpPr/>
          <p:nvPr/>
        </p:nvSpPr>
        <p:spPr>
          <a:xfrm>
            <a:off x="566928" y="1298448"/>
            <a:ext cx="11057839" cy="395732"/>
          </a:xfrm>
          <a:prstGeom prst="rect">
            <a:avLst/>
          </a:prstGeom>
          <a:noFill/>
          <a:ln/>
        </p:spPr>
        <p:txBody>
          <a:bodyPr wrap="square" lIns="0" tIns="0" rIns="0" bIns="0" rtlCol="0" anchor="t"/>
          <a:lstStyle/>
          <a:p>
            <a:pPr indent="0" marL="0">
              <a:buNone/>
            </a:pPr>
            <a:r>
              <a:rPr lang="en-US" dirty="0">
                <a:solidFill>
                  <a:srgbClr val="000000"/>
                </a:solidFill>
              </a:rPr>
              <a:t>Given: 10 frozen sexed Holstein embryos arrive and transfer is fixed for 20 October.</a:t>
            </a:r>
            <a:endParaRPr lang="en-US"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6928" y="1840484"/>
          <a:ext cx="11057839" cy="914400"/>
        </p:xfrm>
        <a:graphic>
          <a:graphicData uri="http://schemas.openxmlformats.org/drawingml/2006/table">
            <a:tbl>
              <a:tblPr/>
              <a:tblGrid>
                <a:gridCol w="4103940"/>
                <a:gridCol w="1367980"/>
                <a:gridCol w="5585919"/>
              </a:tblGrid>
              <a:tr h="398399">
                <a:tc>
                  <a:txBody>
                    <a:bodyPr/>
                    <a:lstStyle/>
                    <a:p>
                      <a:pPr indent="0" marL="0">
                        <a:buNone/>
                      </a:pPr>
                      <a:r>
                        <a:rPr lang="en-US" sz="1200" dirty="0">
                          <a:solidFill>
                            <a:srgbClr val="000000"/>
                          </a:solidFill>
                        </a:rPr>
                        <a:t>Work backwards</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Date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Action</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b="1" dirty="0">
                          <a:solidFill>
                            <a:srgbClr val="000000"/>
                          </a:solidFill>
                        </a:rPr>
                        <a:t>Transfer day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20 Oct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Day-7 CL check → transfer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Ovulation (Transfer − 7)</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13 Oct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GnRH given on 12 Oct evening / 13 Oct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GnRH trigger</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12–13 Oct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(48–60 h after CIDR removal)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CIDR out + PGF</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10 Oct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 </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CIDR in + GnRH</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3 Oct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 </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b="1" dirty="0">
                          <a:solidFill>
                            <a:srgbClr val="000000"/>
                          </a:solidFill>
                        </a:rPr>
                        <a:t>Recipient screening &amp; BCS correction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from ~1 Sept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7 criteria; feed correction takes weeks, not days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b="1" dirty="0">
                          <a:solidFill>
                            <a:srgbClr val="000000"/>
                          </a:solidFill>
                        </a:rPr>
                        <a:t>Recipients to enrol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15 head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for 10 embryos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FTET failure points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S33   |   34</a:t>
            </a:r>
            <a:endParaRPr lang="en-US" sz="9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7839" cy="914400"/>
        </p:xfrm>
        <a:graphic>
          <a:graphicData uri="http://schemas.openxmlformats.org/drawingml/2006/table">
            <a:tbl>
              <a:tblPr/>
              <a:tblGrid>
                <a:gridCol w="4607433"/>
                <a:gridCol w="6450406"/>
              </a:tblGrid>
              <a:tr h="398399">
                <a:tc>
                  <a:txBody>
                    <a:bodyPr/>
                    <a:lstStyle/>
                    <a:p>
                      <a:pPr indent="0" marL="0">
                        <a:buNone/>
                      </a:pPr>
                      <a:r>
                        <a:rPr lang="en-US" sz="1200" dirty="0">
                          <a:solidFill>
                            <a:srgbClr val="000000"/>
                          </a:solidFill>
                        </a:rPr>
                        <a:t>Failure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Cause</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Too few recipients with a Day-7 CL</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Anovular cows enrolled; thin cows; no eCG in anovular animals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CL present but small/weak</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Poor follicle quality — nutrition, heat stress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Transfer date slips (shipment delay)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Never let the protocol start before the shipment is confirmed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Recipients synchronized but not screened</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The 7 criteria must be applied </a:t>
                      </a:r>
                      <a:pPr indent="0" marL="0">
                        <a:buNone/>
                      </a:pPr>
                      <a:r>
                        <a:rPr lang="en-US" sz="1200" dirty="0">
                          <a:solidFill>
                            <a:srgbClr val="000000"/>
                          </a:solidFill>
                        </a:rPr>
                        <a:t>before</a:t>
                      </a:r>
                      <a:pPr indent="0" marL="0">
                        <a:buNone/>
                      </a:pPr>
                      <a:r>
                        <a:rPr lang="en-US" sz="1200" dirty="0">
                          <a:solidFill>
                            <a:srgbClr val="000000"/>
                          </a:solidFill>
                        </a:rPr>
                        <a:t> enrolment, not on transfer day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Good CL, no pregnancy</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Transfer technique, thaw error, wrong horn, post-transfer stress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F4A2C"/>
        </a:solidFill>
      </p:bgPr>
    </p:bg>
    <p:spTree>
      <p:nvGrpSpPr>
        <p:cNvPr id="1" name=""/>
        <p:cNvGrpSpPr/>
        <p:nvPr/>
      </p:nvGrpSpPr>
      <p:grpSpPr>
        <a:xfrm>
          <a:off x="0" y="0"/>
          <a:ext cx="0" cy="0"/>
          <a:chOff x="0" y="0"/>
          <a:chExt cx="0" cy="0"/>
        </a:xfrm>
      </p:grpSpPr>
      <p:sp>
        <p:nvSpPr>
          <p:cNvPr id="2" name="Shape 0"/>
          <p:cNvSpPr/>
          <p:nvPr/>
        </p:nvSpPr>
        <p:spPr>
          <a:xfrm>
            <a:off x="10058400" y="4572000"/>
            <a:ext cx="3291840" cy="3291840"/>
          </a:xfrm>
          <a:prstGeom prst="ellipse">
            <a:avLst/>
          </a:prstGeom>
          <a:solidFill>
            <a:srgbClr val="14301C"/>
          </a:solidFill>
          <a:ln/>
        </p:spPr>
      </p:sp>
      <p:sp>
        <p:nvSpPr>
          <p:cNvPr id="3" name="Text 1"/>
          <p:cNvSpPr/>
          <p:nvPr/>
        </p:nvSpPr>
        <p:spPr>
          <a:xfrm>
            <a:off x="841248" y="2148840"/>
            <a:ext cx="10058400" cy="411480"/>
          </a:xfrm>
          <a:prstGeom prst="rect">
            <a:avLst/>
          </a:prstGeom>
          <a:noFill/>
          <a:ln/>
        </p:spPr>
        <p:txBody>
          <a:bodyPr wrap="square" lIns="0" tIns="0" rIns="0" bIns="0" rtlCol="0" anchor="ctr"/>
          <a:lstStyle/>
          <a:p>
            <a:pPr indent="0" marL="0">
              <a:buNone/>
            </a:pPr>
            <a:r>
              <a:rPr lang="en-US" sz="1500" b="1" spc="200" kern="0" dirty="0">
                <a:solidFill>
                  <a:srgbClr val="6FA368"/>
                </a:solidFill>
                <a:latin typeface="Calibri" pitchFamily="34" charset="0"/>
                <a:ea typeface="Calibri" pitchFamily="34" charset="-122"/>
                <a:cs typeface="Calibri" pitchFamily="34" charset="-120"/>
              </a:rPr>
              <a:t>PART 2-E</a:t>
            </a:r>
            <a:endParaRPr lang="en-US" sz="1500" dirty="0"/>
          </a:p>
        </p:txBody>
      </p:sp>
      <p:sp>
        <p:nvSpPr>
          <p:cNvPr id="4" name="Text 2"/>
          <p:cNvSpPr/>
          <p:nvPr/>
        </p:nvSpPr>
        <p:spPr>
          <a:xfrm>
            <a:off x="841248" y="2606040"/>
            <a:ext cx="1005840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SENSOR-BASED REPRODUCTION</a:t>
            </a:r>
            <a:endParaRPr lang="en-US" sz="3800" dirty="0"/>
          </a:p>
        </p:txBody>
      </p:sp>
      <p:sp>
        <p:nvSpPr>
          <p:cNvPr id="5" name="Text 3"/>
          <p:cNvSpPr/>
          <p:nvPr/>
        </p:nvSpPr>
        <p:spPr>
          <a:xfrm>
            <a:off x="841248" y="4160520"/>
            <a:ext cx="10058400" cy="457200"/>
          </a:xfrm>
          <a:prstGeom prst="rect">
            <a:avLst/>
          </a:prstGeom>
          <a:noFill/>
          <a:ln/>
        </p:spPr>
        <p:txBody>
          <a:bodyPr wrap="square" lIns="0" tIns="0" rIns="0" bIns="0" rtlCol="0" anchor="ctr"/>
          <a:lstStyle/>
          <a:p>
            <a:pPr indent="0" marL="0">
              <a:buNone/>
            </a:pPr>
            <a:r>
              <a:rPr lang="en-US" sz="1500" dirty="0">
                <a:solidFill>
                  <a:srgbClr val="C8D8C6"/>
                </a:solidFill>
                <a:latin typeface="Calibri" pitchFamily="34" charset="0"/>
                <a:ea typeface="Calibri" pitchFamily="34" charset="-122"/>
                <a:cs typeface="Calibri" pitchFamily="34" charset="-120"/>
              </a:rPr>
              <a:t>15 min, S34–S39</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What a rumen bolus actually measures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S34   |   35</a:t>
            </a:r>
            <a:endParaRPr lang="en-US" sz="950" dirty="0"/>
          </a:p>
        </p:txBody>
      </p:sp>
      <p:sp>
        <p:nvSpPr>
          <p:cNvPr id="5" name="Text 3"/>
          <p:cNvSpPr/>
          <p:nvPr/>
        </p:nvSpPr>
        <p:spPr>
          <a:xfrm>
            <a:off x="566928" y="1298448"/>
            <a:ext cx="11057839" cy="395732"/>
          </a:xfrm>
          <a:prstGeom prst="rect">
            <a:avLst/>
          </a:prstGeom>
          <a:noFill/>
          <a:ln/>
        </p:spPr>
        <p:txBody>
          <a:bodyPr wrap="square" lIns="0" tIns="0" rIns="0" bIns="0" rtlCol="0" anchor="t"/>
          <a:lstStyle/>
          <a:p>
            <a:pPr indent="0" marL="0">
              <a:buNone/>
            </a:pPr>
            <a:r>
              <a:rPr lang="en-US" dirty="0">
                <a:solidFill>
                  <a:srgbClr val="000000"/>
                </a:solidFill>
              </a:rPr>
              <a:t>A bolus placed in the </a:t>
            </a:r>
            <a:pPr indent="0" marL="0">
              <a:buNone/>
            </a:pPr>
            <a:r>
              <a:rPr lang="en-US" dirty="0">
                <a:solidFill>
                  <a:srgbClr val="000000"/>
                </a:solidFill>
              </a:rPr>
              <a:t>reticulo-rumen</a:t>
            </a:r>
            <a:pPr indent="0" marL="0">
              <a:buNone/>
            </a:pPr>
            <a:r>
              <a:rPr lang="en-US" dirty="0">
                <a:solidFill>
                  <a:srgbClr val="000000"/>
                </a:solidFill>
              </a:rPr>
              <a:t> continuously measures:</a:t>
            </a:r>
            <a:endParaRPr lang="en-US"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66928" y="1840484"/>
          <a:ext cx="11057839" cy="914400"/>
        </p:xfrm>
        <a:graphic>
          <a:graphicData uri="http://schemas.openxmlformats.org/drawingml/2006/table">
            <a:tbl>
              <a:tblPr/>
              <a:tblGrid>
                <a:gridCol w="5197184"/>
                <a:gridCol w="5860655"/>
              </a:tblGrid>
              <a:tr h="398399">
                <a:tc>
                  <a:txBody>
                    <a:bodyPr/>
                    <a:lstStyle/>
                    <a:p>
                      <a:pPr indent="0" marL="0">
                        <a:buNone/>
                      </a:pPr>
                      <a:r>
                        <a:rPr lang="en-US" sz="1200" dirty="0">
                          <a:solidFill>
                            <a:srgbClr val="000000"/>
                          </a:solidFill>
                        </a:rPr>
                        <a:t>Parameter</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c>
                  <a:txBody>
                    <a:bodyPr/>
                    <a:lstStyle/>
                    <a:p>
                      <a:pPr indent="0" marL="0">
                        <a:buNone/>
                      </a:pPr>
                      <a:r>
                        <a:rPr lang="en-US" sz="1200" dirty="0">
                          <a:solidFill>
                            <a:srgbClr val="000000"/>
                          </a:solidFill>
                        </a:rPr>
                        <a:t>What it reflects</a:t>
                      </a:r>
                      <a:endParaRPr lang="en-US" sz="1200" dirty="0"/>
                    </a:p>
                  </a:txBody>
                  <a:tcPr marL="88900" marR="88900" marT="50800" marB="50800" anchor="ctr">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1F4A2C"/>
                    </a:solidFill>
                  </a:tcPr>
                </a:tc>
              </a:tr>
              <a:tr h="398399">
                <a:tc>
                  <a:txBody>
                    <a:bodyPr/>
                    <a:lstStyle/>
                    <a:p>
                      <a:pPr indent="0" marL="0">
                        <a:buNone/>
                      </a:pPr>
                      <a:r>
                        <a:rPr lang="en-US" sz="1200" dirty="0">
                          <a:solidFill>
                            <a:srgbClr val="000000"/>
                          </a:solidFill>
                        </a:rPr>
                        <a:t>Reticuloruminal temperature</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Core body temperature (corrected for drinking events)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Activity / motion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Rumen contractions, animal movement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Rumination / feeding pattern</a:t>
                      </a:r>
                      <a:pPr indent="0" marL="0">
                        <a:buNone/>
                      </a:pPr>
                      <a:r>
                        <a:rPr lang="en-US" sz="1200" dirty="0">
                          <a:solidFill>
                            <a:srgbClr val="000000"/>
                          </a:solidFill>
                        </a:rPr>
                        <a:t> </a:t>
                      </a:r>
                      <a:pPr indent="0" marL="0">
                        <a:buNone/>
                      </a:pPr>
                      <a:r>
                        <a:rPr lang="en-US" sz="1200" dirty="0">
                          <a:solidFill>
                            <a:srgbClr val="000000"/>
                          </a:solidFill>
                        </a:rPr>
                        <a:t>(system-dependent)</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Feed intake and rumen function</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r h="398399">
                <a:tc>
                  <a:txBody>
                    <a:bodyPr/>
                    <a:lstStyle/>
                    <a:p>
                      <a:pPr indent="0" marL="0">
                        <a:buNone/>
                      </a:pPr>
                      <a:r>
                        <a:rPr lang="en-US" sz="1200" dirty="0">
                          <a:solidFill>
                            <a:srgbClr val="000000"/>
                          </a:solidFill>
                        </a:rPr>
                        <a:t>Drinking cycles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c>
                  <a:txBody>
                    <a:bodyPr/>
                    <a:lstStyle/>
                    <a:p>
                      <a:pPr indent="0" marL="0">
                        <a:buNone/>
                      </a:pPr>
                      <a:r>
                        <a:rPr lang="en-US" sz="1200" dirty="0">
                          <a:solidFill>
                            <a:srgbClr val="000000"/>
                          </a:solidFill>
                        </a:rPr>
                        <a:t>Water intake events (sharp temperature drops)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3F6F2"/>
                    </a:solidFill>
                  </a:tcPr>
                </a:tc>
              </a:tr>
              <a:tr h="398399">
                <a:tc>
                  <a:txBody>
                    <a:bodyPr/>
                    <a:lstStyle/>
                    <a:p>
                      <a:pPr indent="0" marL="0">
                        <a:buNone/>
                      </a:pPr>
                      <a:r>
                        <a:rPr lang="en-US" sz="1200" dirty="0">
                          <a:solidFill>
                            <a:srgbClr val="000000"/>
                          </a:solidFill>
                        </a:rPr>
                        <a:t>pH</a:t>
                      </a:r>
                      <a:pPr indent="0" marL="0">
                        <a:buNone/>
                      </a:pPr>
                      <a:r>
                        <a:rPr lang="en-US" sz="1200" dirty="0">
                          <a:solidFill>
                            <a:srgbClr val="000000"/>
                          </a:solidFill>
                        </a:rPr>
                        <a:t> </a:t>
                      </a:r>
                      <a:pPr indent="0" marL="0">
                        <a:buNone/>
                      </a:pPr>
                      <a:r>
                        <a:rPr lang="en-US" sz="1200" dirty="0">
                          <a:solidFill>
                            <a:srgbClr val="000000"/>
                          </a:solidFill>
                        </a:rPr>
                        <a:t>(only in pH-capable boluses)</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Rumen fermentation state → SARA monitoring (Module 3)</a:t>
                      </a:r>
                      <a:endParaRPr lang="en-US" sz="1200" dirty="0"/>
                    </a:p>
                  </a:txBody>
                  <a:tcPr marL="88900" marR="88900" marT="50800" marB="50800" anchor="t">
                    <a:lnL w="7620" cap="flat" cmpd="sng" algn="ctr">
                      <a:solidFill>
                        <a:srgbClr val="D4DCD5"/>
                      </a:solidFill>
                      <a:prstDash val="solid"/>
                      <a:round/>
                      <a:headEnd type="none" w="med" len="med"/>
                      <a:tailEnd type="none" w="med" len="med"/>
                    </a:lnL>
                    <a:lnR w="7620" cap="flat" cmpd="sng" algn="ctr">
                      <a:solidFill>
                        <a:srgbClr val="D4DCD5"/>
                      </a:solidFill>
                      <a:prstDash val="solid"/>
                      <a:round/>
                      <a:headEnd type="none" w="med" len="med"/>
                      <a:tailEnd type="none" w="med" len="med"/>
                    </a:lnR>
                    <a:lnT w="7620" cap="flat" cmpd="sng" algn="ctr">
                      <a:solidFill>
                        <a:srgbClr val="D4DCD5"/>
                      </a:solidFill>
                      <a:prstDash val="solid"/>
                      <a:round/>
                      <a:headEnd type="none" w="med" len="med"/>
                      <a:tailEnd type="none" w="med" len="med"/>
                    </a:lnT>
                    <a:lnB w="7620" cap="flat" cmpd="sng" algn="ctr">
                      <a:solidFill>
                        <a:srgbClr val="D4DCD5"/>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4523486"/>
            <a:ext cx="11057839" cy="990854"/>
          </a:xfrm>
          <a:prstGeom prst="roundRect">
            <a:avLst>
              <a:gd name="adj" fmla="val 8306"/>
            </a:avLst>
          </a:prstGeom>
          <a:solidFill>
            <a:srgbClr val="E8F0E6"/>
          </a:solidFill>
          <a:ln w="9525">
            <a:solidFill>
              <a:srgbClr val="6FA368"/>
            </a:solidFill>
            <a:prstDash val="solid"/>
          </a:ln>
        </p:spPr>
      </p:sp>
      <p:sp>
        <p:nvSpPr>
          <p:cNvPr id="8" name="Text 5"/>
          <p:cNvSpPr/>
          <p:nvPr/>
        </p:nvSpPr>
        <p:spPr>
          <a:xfrm>
            <a:off x="786384" y="4688078"/>
            <a:ext cx="10618927" cy="661670"/>
          </a:xfrm>
          <a:prstGeom prst="rect">
            <a:avLst/>
          </a:prstGeom>
          <a:noFill/>
          <a:ln/>
        </p:spPr>
        <p:txBody>
          <a:bodyPr wrap="square" lIns="0" tIns="0" rIns="0" bIns="0" rtlCol="0" anchor="t"/>
          <a:lstStyle/>
          <a:p>
            <a:pPr indent="0" marL="0">
              <a:buNone/>
            </a:pPr>
            <a:r>
              <a:rPr lang="en-US" dirty="0">
                <a:solidFill>
                  <a:srgbClr val="000000"/>
                </a:solidFill>
              </a:rPr>
              <a:t>The bolus does </a:t>
            </a:r>
            <a:pPr indent="0" marL="0">
              <a:buNone/>
            </a:pPr>
            <a:r>
              <a:rPr lang="en-US" dirty="0">
                <a:solidFill>
                  <a:srgbClr val="000000"/>
                </a:solidFill>
              </a:rPr>
              <a:t>not</a:t>
            </a:r>
            <a:pPr indent="0" marL="0">
              <a:buNone/>
            </a:pPr>
            <a:r>
              <a:rPr lang="en-US" dirty="0">
                <a:solidFill>
                  <a:srgbClr val="000000"/>
                </a:solidFill>
              </a:rPr>
              <a:t> measure estrus, ketosis or mastitis directly. It measures </a:t>
            </a:r>
            <a:pPr indent="0" marL="0">
              <a:buNone/>
            </a:pPr>
            <a:r>
              <a:rPr lang="en-US" dirty="0">
                <a:solidFill>
                  <a:srgbClr val="000000"/>
                </a:solidFill>
              </a:rPr>
              <a:t>deviation from that individual cow's own baseline.</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Estrus detection by sensor</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S35   |   36</a:t>
            </a:r>
            <a:endParaRPr lang="en-US" sz="950" dirty="0"/>
          </a:p>
        </p:txBody>
      </p:sp>
      <p:sp>
        <p:nvSpPr>
          <p:cNvPr id="5" name="Text 3"/>
          <p:cNvSpPr/>
          <p:nvPr/>
        </p:nvSpPr>
        <p:spPr>
          <a:xfrm>
            <a:off x="566928" y="1298448"/>
            <a:ext cx="11057839" cy="395732"/>
          </a:xfrm>
          <a:prstGeom prst="rect">
            <a:avLst/>
          </a:prstGeom>
          <a:noFill/>
          <a:ln/>
        </p:spPr>
        <p:txBody>
          <a:bodyPr wrap="square" lIns="0" tIns="0" rIns="0" bIns="0" rtlCol="0" anchor="t"/>
          <a:lstStyle/>
          <a:p>
            <a:pPr indent="0" marL="0">
              <a:buNone/>
            </a:pPr>
            <a:r>
              <a:rPr lang="en-US" dirty="0">
                <a:solidFill>
                  <a:srgbClr val="000000"/>
                </a:solidFill>
              </a:rPr>
              <a:t>Physiological changes around estrus:</a:t>
            </a:r>
            <a:endParaRPr lang="en-US" dirty="0"/>
          </a:p>
        </p:txBody>
      </p:sp>
      <p:sp>
        <p:nvSpPr>
          <p:cNvPr id="6" name="Text 4"/>
          <p:cNvSpPr/>
          <p:nvPr/>
        </p:nvSpPr>
        <p:spPr>
          <a:xfrm>
            <a:off x="621792" y="1840484"/>
            <a:ext cx="11002975" cy="1372616"/>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Activity increases</a:t>
            </a:r>
            <a:pPr indent="0" marL="0">
              <a:buNone/>
            </a:pPr>
            <a:r>
              <a:rPr lang="en-US" dirty="0">
                <a:solidFill>
                  <a:srgbClr val="000000"/>
                </a:solidFill>
              </a:rPr>
              <a:t> — the strongest and most consistent signal</a:t>
            </a:r>
            <a:endParaRPr lang="en-US" dirty="0"/>
          </a:p>
          <a:p>
            <a:pPr marL="342900" indent="-342900">
              <a:spcAft>
                <a:spcPts val="500"/>
              </a:spcAft>
              <a:buSzPct val="100000"/>
              <a:buChar char="•"/>
            </a:pPr>
            <a:r>
              <a:rPr lang="en-US" dirty="0">
                <a:solidFill>
                  <a:srgbClr val="000000"/>
                </a:solidFill>
              </a:rPr>
              <a:t>Rumination and feed intake fall</a:t>
            </a:r>
            <a:pPr indent="0" marL="0">
              <a:buNone/>
            </a:pPr>
            <a:r>
              <a:rPr lang="en-US" dirty="0">
                <a:solidFill>
                  <a:srgbClr val="000000"/>
                </a:solidFill>
              </a:rPr>
              <a:t> — typically a measurable drop in the 24 h around estrus</a:t>
            </a:r>
            <a:endParaRPr lang="en-US" dirty="0"/>
          </a:p>
          <a:p>
            <a:pPr marL="342900" indent="-342900">
              <a:spcAft>
                <a:spcPts val="500"/>
              </a:spcAft>
              <a:buSzPct val="100000"/>
              <a:buChar char="•"/>
            </a:pPr>
            <a:r>
              <a:rPr lang="en-US" dirty="0">
                <a:solidFill>
                  <a:srgbClr val="000000"/>
                </a:solidFill>
              </a:rPr>
              <a:t>Core body temperature rises slightly</a:t>
            </a:r>
            <a:pPr indent="0" marL="0">
              <a:buNone/>
            </a:pPr>
            <a:r>
              <a:rPr lang="en-US" dirty="0">
                <a:solidFill>
                  <a:srgbClr val="000000"/>
                </a:solidFill>
              </a:rPr>
              <a:t> around estrus/ovulation </a:t>
            </a:r>
            <a:pPr indent="0" marL="0">
              <a:buNone/>
            </a:pPr>
            <a:r>
              <a:rPr lang="en-US" dirty="0">
                <a:solidFill>
                  <a:srgbClr val="000000"/>
                </a:solidFill>
              </a:rPr>
              <a:t>(small change — must be corrected for drinking and ambient heat)</a:t>
            </a:r>
            <a:endParaRPr lang="en-US" dirty="0"/>
          </a:p>
        </p:txBody>
      </p:sp>
      <p:sp>
        <p:nvSpPr>
          <p:cNvPr id="7" name="Text 5"/>
          <p:cNvSpPr/>
          <p:nvPr/>
        </p:nvSpPr>
        <p:spPr>
          <a:xfrm>
            <a:off x="566928" y="3359404"/>
            <a:ext cx="11057839" cy="858012"/>
          </a:xfrm>
          <a:prstGeom prst="rect">
            <a:avLst/>
          </a:prstGeom>
          <a:noFill/>
          <a:ln/>
        </p:spPr>
        <p:txBody>
          <a:bodyPr wrap="square" lIns="0" tIns="0" rIns="0" bIns="0" rtlCol="0" anchor="t"/>
          <a:lstStyle/>
          <a:p>
            <a:pPr indent="0" marL="0">
              <a:buNone/>
            </a:pPr>
            <a:r>
              <a:rPr lang="en-US" dirty="0">
                <a:solidFill>
                  <a:srgbClr val="000000"/>
                </a:solidFill>
              </a:rPr>
              <a:t>Reported performance of activity-based systems: </a:t>
            </a:r>
            <a:pPr indent="0" marL="0">
              <a:buNone/>
            </a:pPr>
            <a:r>
              <a:rPr lang="en-US" dirty="0">
                <a:solidFill>
                  <a:srgbClr val="000000"/>
                </a:solidFill>
              </a:rPr>
              <a:t>sensitivity ~70–90%, specificity &gt;95%</a:t>
            </a:r>
            <a:pPr indent="0" marL="0">
              <a:buNone/>
            </a:pPr>
            <a:r>
              <a:rPr lang="en-US" dirty="0">
                <a:solidFill>
                  <a:srgbClr val="000000"/>
                </a:solidFill>
              </a:rPr>
              <a:t> </a:t>
            </a:r>
            <a:pPr indent="0" marL="0">
              <a:buNone/>
            </a:pPr>
            <a:r>
              <a:rPr lang="en-US" dirty="0">
                <a:solidFill>
                  <a:srgbClr val="000000"/>
                </a:solidFill>
              </a:rPr>
              <a:t>(published ranges — varies by system, herd, housing and management)</a:t>
            </a:r>
            <a:pPr indent="0" marL="0">
              <a:buNone/>
            </a:pPr>
            <a:r>
              <a:rPr lang="en-US" dirty="0">
                <a:solidFill>
                  <a:srgbClr val="000000"/>
                </a:solidFill>
              </a:rPr>
              <a:t> </a:t>
            </a:r>
            <a:pPr indent="0" marL="0">
              <a:buNone/>
            </a:pPr>
            <a:r>
              <a:rPr lang="en-US" dirty="0">
                <a:solidFill>
                  <a:srgbClr val="000000"/>
                </a:solidFill>
              </a:rPr>
              <a:t>Advantage in the tropics:</a:t>
            </a:r>
            <a:pPr indent="0" marL="0">
              <a:buNone/>
            </a:pPr>
            <a:r>
              <a:rPr lang="en-US" dirty="0">
                <a:solidFill>
                  <a:srgbClr val="000000"/>
                </a:solidFill>
              </a:rPr>
              <a:t> detects </a:t>
            </a:r>
            <a:pPr indent="0" marL="0">
              <a:buNone/>
            </a:pPr>
            <a:r>
              <a:rPr lang="en-US" dirty="0">
                <a:solidFill>
                  <a:srgbClr val="000000"/>
                </a:solidFill>
              </a:rPr>
              <a:t>night-time and short heats</a:t>
            </a:r>
            <a:pPr indent="0" marL="0">
              <a:buNone/>
            </a:pPr>
            <a:r>
              <a:rPr lang="en-US" dirty="0">
                <a:solidFill>
                  <a:srgbClr val="000000"/>
                </a:solidFill>
              </a:rPr>
              <a:t> that visual observation misses</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Calving prediction by sensor</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S36   |   37</a:t>
            </a:r>
            <a:endParaRPr lang="en-US" sz="950" dirty="0"/>
          </a:p>
        </p:txBody>
      </p:sp>
      <p:sp>
        <p:nvSpPr>
          <p:cNvPr id="5" name="Text 3"/>
          <p:cNvSpPr/>
          <p:nvPr/>
        </p:nvSpPr>
        <p:spPr>
          <a:xfrm>
            <a:off x="621792" y="1298448"/>
            <a:ext cx="11002975" cy="1272032"/>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Reticuloruminal temperature falls measurably in the ~24–48 h before calving</a:t>
            </a:r>
            <a:pPr indent="0" marL="0">
              <a:buNone/>
            </a:pPr>
            <a:r>
              <a:rPr lang="en-US" dirty="0">
                <a:solidFill>
                  <a:srgbClr val="000000"/>
                </a:solidFill>
              </a:rPr>
              <a:t>, associated with the prepartum decline in progesterone </a:t>
            </a:r>
            <a:pPr indent="0" marL="0">
              <a:buNone/>
            </a:pPr>
            <a:r>
              <a:rPr lang="en-US" dirty="0">
                <a:solidFill>
                  <a:srgbClr val="000000"/>
                </a:solidFill>
              </a:rPr>
              <a:t>(well documented physiologically)</a:t>
            </a:r>
            <a:endParaRPr lang="en-US" dirty="0"/>
          </a:p>
          <a:p>
            <a:pPr marL="342900" indent="-342900">
              <a:spcAft>
                <a:spcPts val="500"/>
              </a:spcAft>
              <a:buSzPct val="100000"/>
              <a:buChar char="•"/>
            </a:pPr>
            <a:r>
              <a:rPr lang="en-US" dirty="0">
                <a:solidFill>
                  <a:srgbClr val="000000"/>
                </a:solidFill>
              </a:rPr>
              <a:t>Combined with a fall in rumination and a change in activity → </a:t>
            </a:r>
            <a:pPr indent="0" marL="0">
              <a:buNone/>
            </a:pPr>
            <a:r>
              <a:rPr lang="en-US" dirty="0">
                <a:solidFill>
                  <a:srgbClr val="000000"/>
                </a:solidFill>
              </a:rPr>
              <a:t>calving alerts typically several hours to ~1 day in advance</a:t>
            </a:r>
            <a:pPr indent="0" marL="0">
              <a:buNone/>
            </a:pPr>
            <a:r>
              <a:rPr lang="en-US" dirty="0">
                <a:solidFill>
                  <a:srgbClr val="000000"/>
                </a:solidFill>
              </a:rPr>
              <a:t> </a:t>
            </a:r>
            <a:pPr indent="0" marL="0">
              <a:buNone/>
            </a:pPr>
            <a:r>
              <a:rPr lang="en-US" dirty="0">
                <a:solidFill>
                  <a:srgbClr val="000000"/>
                </a:solidFill>
              </a:rPr>
              <a:t>(system-dependent; validate locally)</a:t>
            </a:r>
            <a:endParaRPr lang="en-US" dirty="0"/>
          </a:p>
        </p:txBody>
      </p:sp>
      <p:sp>
        <p:nvSpPr>
          <p:cNvPr id="6" name="Text 4"/>
          <p:cNvSpPr/>
          <p:nvPr/>
        </p:nvSpPr>
        <p:spPr>
          <a:xfrm>
            <a:off x="566928" y="2716784"/>
            <a:ext cx="11057839" cy="395732"/>
          </a:xfrm>
          <a:prstGeom prst="rect">
            <a:avLst/>
          </a:prstGeom>
          <a:noFill/>
          <a:ln/>
        </p:spPr>
        <p:txBody>
          <a:bodyPr wrap="square" lIns="0" tIns="0" rIns="0" bIns="0" rtlCol="0" anchor="t"/>
          <a:lstStyle/>
          <a:p>
            <a:pPr indent="0" marL="0">
              <a:buNone/>
            </a:pPr>
            <a:r>
              <a:rPr lang="en-US" dirty="0">
                <a:solidFill>
                  <a:srgbClr val="000000"/>
                </a:solidFill>
              </a:rPr>
              <a:t>Value:</a:t>
            </a:r>
            <a:pPr indent="0" marL="0">
              <a:buNone/>
            </a:pPr>
            <a:r>
              <a:rPr lang="en-US" dirty="0">
                <a:solidFill>
                  <a:srgbClr val="000000"/>
                </a:solidFill>
              </a:rPr>
              <a:t> attended calvings → less dystocia loss, faster intervention, better colostrum timing, fewer stillbirths</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How to combine sensors with protocols — the practical model</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S37   |   38</a:t>
            </a:r>
            <a:endParaRPr lang="en-US" sz="950" dirty="0"/>
          </a:p>
        </p:txBody>
      </p:sp>
      <p:sp>
        <p:nvSpPr>
          <p:cNvPr id="5" name="Shape 3"/>
          <p:cNvSpPr/>
          <p:nvPr/>
        </p:nvSpPr>
        <p:spPr>
          <a:xfrm>
            <a:off x="566928" y="1298448"/>
            <a:ext cx="11057839" cy="1881378"/>
          </a:xfrm>
          <a:prstGeom prst="roundRect">
            <a:avLst>
              <a:gd name="adj" fmla="val 3888"/>
            </a:avLst>
          </a:prstGeom>
          <a:solidFill>
            <a:srgbClr val="F3F6F2"/>
          </a:solidFill>
          <a:ln w="9525">
            <a:solidFill>
              <a:srgbClr val="D4DCD5"/>
            </a:solidFill>
            <a:prstDash val="solid"/>
          </a:ln>
        </p:spPr>
      </p:sp>
      <p:sp>
        <p:nvSpPr>
          <p:cNvPr id="6" name="Text 4"/>
          <p:cNvSpPr/>
          <p:nvPr/>
        </p:nvSpPr>
        <p:spPr>
          <a:xfrm>
            <a:off x="749808" y="1444752"/>
            <a:ext cx="10692079" cy="1588770"/>
          </a:xfrm>
          <a:prstGeom prst="rect">
            <a:avLst/>
          </a:prstGeom>
          <a:noFill/>
          <a:ln/>
        </p:spPr>
        <p:txBody>
          <a:bodyPr wrap="square" lIns="0" tIns="0" rIns="0" bIns="0" rtlCol="0" anchor="t"/>
          <a:lstStyle/>
          <a:p>
            <a:pPr indent="0" marL="0">
              <a:buNone/>
            </a:pPr>
            <a:r>
              <a:rPr lang="en-US" sz="1000" dirty="0">
                <a:solidFill>
                  <a:srgbClr val="14301C"/>
                </a:solidFill>
                <a:latin typeface="Courier New" pitchFamily="34" charset="0"/>
                <a:ea typeface="Courier New" pitchFamily="34" charset="-122"/>
                <a:cs typeface="Courier New" pitchFamily="34" charset="-120"/>
              </a:rPr>
              <a:t>Day 0 of voluntary waiting period ends</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Sensor detects estrus? ── YES → AI on the alert (target ~12 h after alert onset)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 NO alert by a fixed deadline</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Enrol in TAI protocol (Ovsynch / 5-d CO-Synch + CIDR)</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Pregnancy diagnosis Day 28–32</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Open? → Resynch immediately; sensor watches for a natural return in parallel</a:t>
            </a:r>
            <a:endParaRPr lang="en-US" sz="1000" dirty="0"/>
          </a:p>
        </p:txBody>
      </p:sp>
      <p:sp>
        <p:nvSpPr>
          <p:cNvPr id="7" name="Shape 5"/>
          <p:cNvSpPr/>
          <p:nvPr/>
        </p:nvSpPr>
        <p:spPr>
          <a:xfrm>
            <a:off x="566928" y="3326130"/>
            <a:ext cx="11057839" cy="751459"/>
          </a:xfrm>
          <a:prstGeom prst="roundRect">
            <a:avLst>
              <a:gd name="adj" fmla="val 10951"/>
            </a:avLst>
          </a:prstGeom>
          <a:solidFill>
            <a:srgbClr val="E8F0E6"/>
          </a:solidFill>
          <a:ln w="9525">
            <a:solidFill>
              <a:srgbClr val="6FA368"/>
            </a:solidFill>
            <a:prstDash val="solid"/>
          </a:ln>
        </p:spPr>
      </p:sp>
      <p:sp>
        <p:nvSpPr>
          <p:cNvPr id="8" name="Text 6"/>
          <p:cNvSpPr/>
          <p:nvPr/>
        </p:nvSpPr>
        <p:spPr>
          <a:xfrm>
            <a:off x="786384" y="3490722"/>
            <a:ext cx="10618927" cy="422275"/>
          </a:xfrm>
          <a:prstGeom prst="rect">
            <a:avLst/>
          </a:prstGeom>
          <a:noFill/>
          <a:ln/>
        </p:spPr>
        <p:txBody>
          <a:bodyPr wrap="square" lIns="0" tIns="0" rIns="0" bIns="0" rtlCol="0" anchor="t"/>
          <a:lstStyle/>
          <a:p>
            <a:pPr indent="0" marL="0">
              <a:buNone/>
            </a:pPr>
            <a:r>
              <a:rPr lang="en-US" dirty="0">
                <a:solidFill>
                  <a:srgbClr val="000000"/>
                </a:solidFill>
              </a:rPr>
              <a:t>The sensor does not replace the protocol. It decides which cows need the protocol.</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Honest limitations of sensor systems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S38   |   39</a:t>
            </a:r>
            <a:endParaRPr lang="en-US" sz="950" dirty="0"/>
          </a:p>
        </p:txBody>
      </p:sp>
      <p:sp>
        <p:nvSpPr>
          <p:cNvPr id="5" name="Text 3"/>
          <p:cNvSpPr/>
          <p:nvPr/>
        </p:nvSpPr>
        <p:spPr>
          <a:xfrm>
            <a:off x="621792" y="1298448"/>
            <a:ext cx="11002975" cy="2036064"/>
          </a:xfrm>
          <a:prstGeom prst="rect">
            <a:avLst/>
          </a:prstGeom>
          <a:noFill/>
          <a:ln/>
        </p:spPr>
        <p:txBody>
          <a:bodyPr wrap="square" lIns="0" tIns="0" rIns="0" bIns="0" rtlCol="0" anchor="t"/>
          <a:lstStyle/>
          <a:p>
            <a:pPr marL="342900" indent="-342900">
              <a:spcAft>
                <a:spcPts val="500"/>
              </a:spcAft>
              <a:buSzPct val="100000"/>
              <a:buChar char="•"/>
            </a:pPr>
            <a:r>
              <a:rPr lang="en-US" dirty="0">
                <a:solidFill>
                  <a:srgbClr val="000000"/>
                </a:solidFill>
              </a:rPr>
              <a:t>Detects </a:t>
            </a:r>
            <a:pPr indent="0" marL="0">
              <a:buNone/>
            </a:pPr>
            <a:r>
              <a:rPr lang="en-US" dirty="0">
                <a:solidFill>
                  <a:srgbClr val="000000"/>
                </a:solidFill>
              </a:rPr>
              <a:t>deviation</a:t>
            </a:r>
            <a:pPr indent="0" marL="0">
              <a:buNone/>
            </a:pPr>
            <a:r>
              <a:rPr lang="en-US" dirty="0">
                <a:solidFill>
                  <a:srgbClr val="000000"/>
                </a:solidFill>
              </a:rPr>
              <a:t>, not diagnosis — always confirm with examination</a:t>
            </a:r>
            <a:endParaRPr lang="en-US" dirty="0"/>
          </a:p>
          <a:p>
            <a:pPr marL="342900" indent="-342900">
              <a:spcAft>
                <a:spcPts val="500"/>
              </a:spcAft>
              <a:buSzPct val="100000"/>
              <a:buChar char="•"/>
            </a:pPr>
            <a:r>
              <a:rPr lang="en-US" dirty="0">
                <a:solidFill>
                  <a:srgbClr val="000000"/>
                </a:solidFill>
              </a:rPr>
              <a:t>Anovular cows produce no estrus signal</a:t>
            </a:r>
            <a:pPr indent="0" marL="0">
              <a:buNone/>
            </a:pPr>
            <a:r>
              <a:rPr lang="en-US" dirty="0">
                <a:solidFill>
                  <a:srgbClr val="000000"/>
                </a:solidFill>
              </a:rPr>
              <a:t> — a sensor cannot find what does not exist</a:t>
            </a:r>
            <a:endParaRPr lang="en-US" dirty="0"/>
          </a:p>
          <a:p>
            <a:pPr marL="342900" indent="-342900">
              <a:spcAft>
                <a:spcPts val="500"/>
              </a:spcAft>
              <a:buSzPct val="100000"/>
              <a:buChar char="•"/>
            </a:pPr>
            <a:r>
              <a:rPr lang="en-US" dirty="0">
                <a:solidFill>
                  <a:srgbClr val="000000"/>
                </a:solidFill>
              </a:rPr>
              <a:t>Heat stress raises body temperature and can </a:t>
            </a:r>
            <a:pPr indent="0" marL="0">
              <a:buNone/>
            </a:pPr>
            <a:r>
              <a:rPr lang="en-US" dirty="0">
                <a:solidFill>
                  <a:srgbClr val="000000"/>
                </a:solidFill>
              </a:rPr>
              <a:t>mask or mimic</a:t>
            </a:r>
            <a:pPr indent="0" marL="0">
              <a:buNone/>
            </a:pPr>
            <a:r>
              <a:rPr lang="en-US" dirty="0">
                <a:solidFill>
                  <a:srgbClr val="000000"/>
                </a:solidFill>
              </a:rPr>
              <a:t> temperature-based signals — algorithms and thresholds must be adapted to tropical conditions</a:t>
            </a:r>
            <a:endParaRPr lang="en-US" dirty="0"/>
          </a:p>
          <a:p>
            <a:pPr marL="342900" indent="-342900">
              <a:spcAft>
                <a:spcPts val="500"/>
              </a:spcAft>
              <a:buSzPct val="100000"/>
              <a:buChar char="•"/>
            </a:pPr>
            <a:r>
              <a:rPr lang="en-US" dirty="0">
                <a:solidFill>
                  <a:srgbClr val="000000"/>
                </a:solidFill>
              </a:rPr>
              <a:t>Requires </a:t>
            </a:r>
            <a:pPr indent="0" marL="0">
              <a:buNone/>
            </a:pPr>
            <a:r>
              <a:rPr lang="en-US" dirty="0">
                <a:solidFill>
                  <a:srgbClr val="000000"/>
                </a:solidFill>
              </a:rPr>
              <a:t>connectivity, power and daily human response</a:t>
            </a:r>
            <a:pPr indent="0" marL="0">
              <a:buNone/>
            </a:pPr>
            <a:r>
              <a:rPr lang="en-US" dirty="0">
                <a:solidFill>
                  <a:srgbClr val="000000"/>
                </a:solidFill>
              </a:rPr>
              <a:t> — an alert nobody acts on has zero value</a:t>
            </a:r>
            <a:endParaRPr lang="en-US" dirty="0"/>
          </a:p>
          <a:p>
            <a:pPr marL="342900" indent="-342900">
              <a:spcAft>
                <a:spcPts val="500"/>
              </a:spcAft>
              <a:buSzPct val="100000"/>
              <a:buChar char="•"/>
            </a:pPr>
            <a:r>
              <a:rPr lang="en-US" dirty="0">
                <a:solidFill>
                  <a:srgbClr val="000000"/>
                </a:solidFill>
              </a:rPr>
              <a:t>Commercial performance claims vary widely — </a:t>
            </a:r>
            <a:pPr indent="0" marL="0">
              <a:buNone/>
            </a:pPr>
            <a:r>
              <a:rPr lang="en-US" dirty="0">
                <a:solidFill>
                  <a:srgbClr val="000000"/>
                </a:solidFill>
              </a:rPr>
              <a:t>validate in your own herd before scaling</a:t>
            </a:r>
            <a:pPr indent="0" marL="0">
              <a:buNone/>
            </a:pPr>
            <a:r>
              <a:rPr lang="en-US" dirty="0">
                <a:solidFill>
                  <a:srgbClr val="000000"/>
                </a:solidFill>
              </a:rPr>
              <a:t> </a:t>
            </a:r>
            <a:pPr indent="0" marL="0">
              <a:buNone/>
            </a:pPr>
            <a:r>
              <a:rPr lang="en-US" dirty="0">
                <a:solidFill>
                  <a:srgbClr val="000000"/>
                </a:solidFill>
              </a:rPr>
              <a:t>(pilot)</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Where this is going — integrated reproduction</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S39   |   40</a:t>
            </a:r>
            <a:endParaRPr lang="en-US" sz="950" dirty="0"/>
          </a:p>
        </p:txBody>
      </p:sp>
      <p:sp>
        <p:nvSpPr>
          <p:cNvPr id="5" name="Shape 3"/>
          <p:cNvSpPr/>
          <p:nvPr/>
        </p:nvSpPr>
        <p:spPr>
          <a:xfrm>
            <a:off x="566928" y="1298448"/>
            <a:ext cx="11057839" cy="1544574"/>
          </a:xfrm>
          <a:prstGeom prst="roundRect">
            <a:avLst>
              <a:gd name="adj" fmla="val 4736"/>
            </a:avLst>
          </a:prstGeom>
          <a:solidFill>
            <a:srgbClr val="F3F6F2"/>
          </a:solidFill>
          <a:ln w="9525">
            <a:solidFill>
              <a:srgbClr val="D4DCD5"/>
            </a:solidFill>
            <a:prstDash val="solid"/>
          </a:ln>
        </p:spPr>
      </p:sp>
      <p:sp>
        <p:nvSpPr>
          <p:cNvPr id="6" name="Text 4"/>
          <p:cNvSpPr/>
          <p:nvPr/>
        </p:nvSpPr>
        <p:spPr>
          <a:xfrm>
            <a:off x="749808" y="1444752"/>
            <a:ext cx="10692079" cy="1251966"/>
          </a:xfrm>
          <a:prstGeom prst="rect">
            <a:avLst/>
          </a:prstGeom>
          <a:noFill/>
          <a:ln/>
        </p:spPr>
        <p:txBody>
          <a:bodyPr wrap="square" lIns="0" tIns="0" rIns="0" bIns="0" rtlCol="0" anchor="t"/>
          <a:lstStyle/>
          <a:p>
            <a:pPr indent="0" marL="0">
              <a:buNone/>
            </a:pPr>
            <a:r>
              <a:rPr lang="en-US" sz="1000" dirty="0">
                <a:solidFill>
                  <a:srgbClr val="14301C"/>
                </a:solidFill>
                <a:latin typeface="Courier New" pitchFamily="34" charset="0"/>
                <a:ea typeface="Courier New" pitchFamily="34" charset="-122"/>
                <a:cs typeface="Courier New" pitchFamily="34" charset="-120"/>
              </a:rPr>
              <a:t>Rumen bolus → temperature · activity · rumination · pH</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Estrus alert · calving alert · health deviation alert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Decision layer: AI now / enrol in protocol / examine / call the veterinarian</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14301C"/>
                </a:solidFill>
                <a:latin typeface="Courier New" pitchFamily="34" charset="0"/>
                <a:ea typeface="Courier New" pitchFamily="34" charset="-122"/>
                <a:cs typeface="Courier New" pitchFamily="34" charset="-120"/>
              </a:rPr>
              <a:t>Farm record → herd KPI → (for a national programme) regional livestock dashboard</a:t>
            </a:r>
            <a:endParaRPr lang="en-US" sz="1000" dirty="0"/>
          </a:p>
        </p:txBody>
      </p:sp>
      <p:sp>
        <p:nvSpPr>
          <p:cNvPr id="7" name="Text 5"/>
          <p:cNvSpPr/>
          <p:nvPr/>
        </p:nvSpPr>
        <p:spPr>
          <a:xfrm>
            <a:off x="566928" y="2989326"/>
            <a:ext cx="11057839" cy="395732"/>
          </a:xfrm>
          <a:prstGeom prst="rect">
            <a:avLst/>
          </a:prstGeom>
          <a:noFill/>
          <a:ln/>
        </p:spPr>
        <p:txBody>
          <a:bodyPr wrap="square" lIns="0" tIns="0" rIns="0" bIns="0" rtlCol="0" anchor="t"/>
          <a:lstStyle/>
          <a:p>
            <a:pPr indent="0" marL="0">
              <a:buNone/>
            </a:pPr>
            <a:r>
              <a:rPr lang="en-US" dirty="0">
                <a:solidFill>
                  <a:srgbClr val="000000"/>
                </a:solidFill>
              </a:rPr>
              <a:t>Expected benefits; performance under Philippine conditions requires pilot validation.</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57839" cy="749808"/>
          </a:xfrm>
          <a:prstGeom prst="rect">
            <a:avLst/>
          </a:prstGeom>
          <a:noFill/>
          <a:ln/>
        </p:spPr>
        <p:txBody>
          <a:bodyPr wrap="square" lIns="0" tIns="0" rIns="0" bIns="0" rtlCol="0" anchor="t"/>
          <a:lstStyle/>
          <a:p>
            <a:pPr indent="0" marL="0">
              <a:buNone/>
            </a:pPr>
            <a:r>
              <a:rPr lang="en-US" dirty="0">
                <a:solidFill>
                  <a:srgbClr val="000000"/>
                </a:solidFill>
              </a:rPr>
              <a:t>Module 2 close — four rules</a:t>
            </a:r>
            <a:endParaRPr lang="en-US" dirty="0"/>
          </a:p>
        </p:txBody>
      </p:sp>
      <p:sp>
        <p:nvSpPr>
          <p:cNvPr id="3" name="Text 1"/>
          <p:cNvSpPr/>
          <p:nvPr/>
        </p:nvSpPr>
        <p:spPr>
          <a:xfrm>
            <a:off x="566928" y="6455664"/>
            <a:ext cx="5486400" cy="256032"/>
          </a:xfrm>
          <a:prstGeom prst="rect">
            <a:avLst/>
          </a:prstGeom>
          <a:noFill/>
          <a:ln/>
        </p:spPr>
        <p:txBody>
          <a:bodyPr wrap="square" lIns="0" tIns="0" rIns="0" bIns="0" rtlCol="0" anchor="ctr"/>
          <a:lstStyle/>
          <a:p>
            <a:pPr indent="0" marL="0">
              <a:buNone/>
            </a:pPr>
            <a:r>
              <a:rPr lang="en-US" sz="950" dirty="0">
                <a:solidFill>
                  <a:srgbClr val="5C665F"/>
                </a:solidFill>
                <a:latin typeface="Calibri" pitchFamily="34" charset="0"/>
                <a:ea typeface="Calibri" pitchFamily="34" charset="-122"/>
                <a:cs typeface="Calibri" pitchFamily="34" charset="-120"/>
              </a:rPr>
              <a:t>Module 2 — Estrus Synchronization</a:t>
            </a:r>
            <a:endParaRPr lang="en-US" sz="950" dirty="0"/>
          </a:p>
        </p:txBody>
      </p:sp>
      <p:sp>
        <p:nvSpPr>
          <p:cNvPr id="4" name="Text 2"/>
          <p:cNvSpPr/>
          <p:nvPr/>
        </p:nvSpPr>
        <p:spPr>
          <a:xfrm>
            <a:off x="8881567" y="6455664"/>
            <a:ext cx="2743200" cy="256032"/>
          </a:xfrm>
          <a:prstGeom prst="rect">
            <a:avLst/>
          </a:prstGeom>
          <a:noFill/>
          <a:ln/>
        </p:spPr>
        <p:txBody>
          <a:bodyPr wrap="square" lIns="0" tIns="0" rIns="0" bIns="0" rtlCol="0" anchor="ctr"/>
          <a:lstStyle/>
          <a:p>
            <a:pPr algn="r" indent="0" marL="0">
              <a:buNone/>
            </a:pPr>
            <a:r>
              <a:rPr lang="en-US" sz="950" dirty="0">
                <a:solidFill>
                  <a:srgbClr val="5C665F"/>
                </a:solidFill>
                <a:latin typeface="Calibri" pitchFamily="34" charset="0"/>
                <a:ea typeface="Calibri" pitchFamily="34" charset="-122"/>
                <a:cs typeface="Calibri" pitchFamily="34" charset="-120"/>
              </a:rPr>
              <a:t>S40   |   41</a:t>
            </a:r>
            <a:endParaRPr lang="en-US" sz="950" dirty="0"/>
          </a:p>
        </p:txBody>
      </p:sp>
      <p:sp>
        <p:nvSpPr>
          <p:cNvPr id="5" name="Text 3"/>
          <p:cNvSpPr/>
          <p:nvPr/>
        </p:nvSpPr>
        <p:spPr>
          <a:xfrm>
            <a:off x="621792" y="1298448"/>
            <a:ext cx="11002975" cy="147320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dirty="0">
                <a:solidFill>
                  <a:srgbClr val="000000"/>
                </a:solidFill>
              </a:rPr>
              <a:t>No CL, no PGF.</a:t>
            </a:r>
            <a:pPr indent="0" marL="0">
              <a:buNone/>
            </a:pPr>
            <a:r>
              <a:rPr lang="en-US" dirty="0">
                <a:solidFill>
                  <a:srgbClr val="000000"/>
                </a:solidFill>
              </a:rPr>
              <a:t> Know the stage before you inject.</a:t>
            </a:r>
            <a:endParaRPr lang="en-US" dirty="0"/>
          </a:p>
          <a:p>
            <a:pPr marL="342900" indent="-342900">
              <a:spcAft>
                <a:spcPts val="500"/>
              </a:spcAft>
              <a:buSzPct val="100000"/>
              <a:buFont typeface="+mj-lt"/>
              <a:buAutoNum type="arabicPeriod" startAt="1"/>
            </a:pPr>
            <a:r>
              <a:rPr lang="en-US" dirty="0">
                <a:solidFill>
                  <a:srgbClr val="000000"/>
                </a:solidFill>
              </a:rPr>
              <a:t>Feed first, treat disease second, synchronize third.</a:t>
            </a:r>
            <a:endParaRPr lang="en-US" dirty="0"/>
          </a:p>
          <a:p>
            <a:pPr marL="342900" indent="-342900">
              <a:spcAft>
                <a:spcPts val="500"/>
              </a:spcAft>
              <a:buSzPct val="100000"/>
              <a:buFont typeface="+mj-lt"/>
              <a:buAutoNum type="arabicPeriod" startAt="1"/>
            </a:pPr>
            <a:r>
              <a:rPr lang="en-US" dirty="0">
                <a:solidFill>
                  <a:srgbClr val="000000"/>
                </a:solidFill>
              </a:rPr>
              <a:t>Every protocol is: RESET → RELEASE → TRIGGER → INSEMINATE.</a:t>
            </a:r>
            <a:endParaRPr lang="en-US" dirty="0"/>
          </a:p>
          <a:p>
            <a:pPr marL="342900" indent="-342900">
              <a:spcAft>
                <a:spcPts val="500"/>
              </a:spcAft>
              <a:buSzPct val="100000"/>
              <a:buFont typeface="+mj-lt"/>
              <a:buAutoNum type="arabicPeriod" startAt="1"/>
            </a:pPr>
            <a:r>
              <a:rPr lang="en-US" dirty="0">
                <a:solidFill>
                  <a:srgbClr val="000000"/>
                </a:solidFill>
              </a:rPr>
              <a:t>For embryo transfer, plan backwards: ovulation = transfer date − 7. Synchronize 1.5 recipients per embryo.</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4301C"/>
        </a:solidFill>
      </p:bgPr>
    </p:bg>
    <p:spTree>
      <p:nvGrpSpPr>
        <p:cNvPr id="1" name=""/>
        <p:cNvGrpSpPr/>
        <p:nvPr/>
      </p:nvGrpSpPr>
      <p:grpSpPr>
        <a:xfrm>
          <a:off x="0" y="0"/>
          <a:ext cx="0" cy="0"/>
          <a:chOff x="0" y="0"/>
          <a:chExt cx="0" cy="0"/>
        </a:xfrm>
      </p:grpSpPr>
      <p:sp>
        <p:nvSpPr>
          <p:cNvPr id="2" name="Shape 0"/>
          <p:cNvSpPr/>
          <p:nvPr/>
        </p:nvSpPr>
        <p:spPr>
          <a:xfrm>
            <a:off x="-1280160" y="4389120"/>
            <a:ext cx="3840480" cy="3840480"/>
          </a:xfrm>
          <a:prstGeom prst="ellipse">
            <a:avLst/>
          </a:prstGeom>
          <a:solidFill>
            <a:srgbClr val="1F4A2C"/>
          </a:solidFill>
          <a:ln/>
        </p:spPr>
      </p:sp>
      <p:sp>
        <p:nvSpPr>
          <p:cNvPr id="3" name="Text 1"/>
          <p:cNvSpPr/>
          <p:nvPr/>
        </p:nvSpPr>
        <p:spPr>
          <a:xfrm>
            <a:off x="841248" y="2286000"/>
            <a:ext cx="10424160" cy="12801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End of Module 2</a:t>
            </a:r>
            <a:endParaRPr lang="en-US" sz="4000" dirty="0"/>
          </a:p>
        </p:txBody>
      </p:sp>
      <p:sp>
        <p:nvSpPr>
          <p:cNvPr id="4" name="Text 2"/>
          <p:cNvSpPr/>
          <p:nvPr/>
        </p:nvSpPr>
        <p:spPr>
          <a:xfrm>
            <a:off x="841248" y="3657600"/>
            <a:ext cx="10424160" cy="1463040"/>
          </a:xfrm>
          <a:prstGeom prst="rect">
            <a:avLst/>
          </a:prstGeom>
          <a:noFill/>
          <a:ln/>
        </p:spPr>
        <p:txBody>
          <a:bodyPr wrap="square" lIns="0" tIns="0" rIns="0" bIns="0" rtlCol="0" anchor="t"/>
          <a:lstStyle/>
          <a:p>
            <a:pPr indent="0" marL="0">
              <a:buNone/>
            </a:pPr>
            <a:r>
              <a:rPr lang="en-US" sz="1800" dirty="0">
                <a:solidFill>
                  <a:srgbClr val="C8D8C6"/>
                </a:solidFill>
                <a:latin typeface="Calibri" pitchFamily="34" charset="0"/>
                <a:ea typeface="Calibri" pitchFamily="34" charset="-122"/>
                <a:cs typeface="Calibri" pitchFamily="34" charset="-120"/>
              </a:rPr>
              <a:t>Next: Rumen physiology and the diseases destroying your reproductive results.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Estrus Synchronization</dc:title>
  <dc:subject>PptxGenJS Presentation</dc:subject>
  <dc:creator>Dr. Hyunje Ha, DVM — Genetics Co., Ltd.</dc:creator>
  <cp:lastModifiedBy>Dr. Hyunje Ha, DVM — Genetics Co., Ltd.</cp:lastModifiedBy>
  <cp:revision>1</cp:revision>
  <dcterms:created xsi:type="dcterms:W3CDTF">2026-08-25T11:16:14Z</dcterms:created>
  <dcterms:modified xsi:type="dcterms:W3CDTF">2026-08-25T11:16:14Z</dcterms:modified>
</cp:coreProperties>
</file>
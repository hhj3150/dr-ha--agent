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Dr. Ha, a veterinarian from Korea.
I have done embryo transfer for 18 years.
My team transfers about 3,000 cows every year. About 6 out of 10 become pregnant.
Today is 7 hours. Two parts.
Part 1: embryo transfer, and how to prepare the cow for it.
Part 2: common dairy and nutrition diseases.
Stop me any time. Ask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how today fits with the other lectures.
Professor Yoon gives eleven lectures. Buffalo reproduction. Follicular dynamics. Ultrasound. Hormone use.
I will not repeat any of that.
I start where he stops. From the physiology to the calendar, and to your hands.
One subject we agreed I would take: oestrous synchronisation as a practical programme for recipients.
He explains why it works. I show you which day to inject.
And the second half of today, the diseases, is only in my lecture. Nobody else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day. Eight blocks, two equal parts.
Part one, three and a half hours: putting an embryo in a cow.
Inside part one, block two is synchronisation. That is the block you use every week.
Part two, three and a half hours: the diseases. Diagnosis, treatment, management.
Rumen and nutrition first, then calving, then the womb and udder.
We finish with written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one. What an embryo is, and why a farm would pay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picture. This is the whole idea.
With AI, a good bull meets the cow you already have. The calf is half good.
With an embryo, a good bull already met a good cow, in a laboratory, seven days ago.
That embryo is finished. Your cow only carries it.
Your cow is the house. She is not the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import heifers?
Heifers are expensive. You lose some in transport.
And a grown cow raised in a cold country arrives here and suffers. She never fully adapts.
A frozen embryo costs far less per calf. Nothing travels but a small straw.
And the calf is born here. From the first day she breathes your air and eats your grass.
She adapts while she grows. That is completely different.
And the carrying cow can be any healthy cow already on the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Farms always ask: how much is an embryo? That is the wrong question.
The right question: how much does one pregnancy cost?
Spend 100. Five cows pregnant. Each pregnancy cost 200.
Spend the same 100. Six cows pregnant. Each pregnancy costs 167.
17 percent cheaper, and you bought nothing cheaper.
So everything else today is about raising that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you actually holding?
A seven-day embryo. Made in a laboratory.
Eggs are taken from the ovary with a needle. They meet sexed semen in a dish. They grow seven days.
One important point. A laboratory embryo is not a slightly worse cow embryo.
It is a different object. It holds more fat inside. Fat does not like cold.
So it survives freezing less well, and the thawing rules must be exact.
Tell the farm this before the transfer,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nine calves in ten will be heifers.
Now listen, because this stops arguments later.
Say it as a group. "About nine in ten, across the group."
Never say "this cow will have a heifer."
If a farm gets two bull calves in a row, that is normal bad luck, not a fault.
If you promised one cow, you will lose that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straw has small writing. Six things.
Donor cow. Sire bull. Grade. Sex. Date frozen. Freezing method.
All six must match your transfer list and the import papers.
If anything does not match, stop. Do not transfer it.
This is not about hygiene. It is about ownership.
A calf from an embryo nobody can identify cannot be registered. The farm loses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two. Synchronisation.
Professor Yoon has given you the physiology. I will not repeat it.
I take it to the calendar. Which drug, which day, which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Professor Yoon explained why. Here are the three numbers I inject against.
Cycle: 21 days.
Ovulation: 24 to 32 hours after heat starts.
And the one that decides everything: PGF only works on a CL that is 6 to 17 days old.
Younger than 6 days, the CL cannot answer. Nothing happens.
Every protocol we build today is designed around that single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tools. Every protocol uses these four and nothing else.
GnRH resets. She ovulates the leader follicle, a new wave starts. It works on any day.
PGF kills the CL. It needs a CL that is 6 to 17 days old.
The device is a false CL. It gives P4 when there is no CL. This is the key tool here.
eCG is extra help for thin cows and cows with no heat. Give it when you pull the device.
Learn what each does, and you can read any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protocol. PGF, then PGF again 11 to 14 days later.
Why that gap? A cow that answered the first came in heat and ovulated around day 2 to 5.
Her new CL needs 6 days before it can answer.
11 to 14 days later, every cow has a CL old enough. That is the whole reason for the gap.
Weakness: it does nothing for a cow with no CL. In your herds that is many cows.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Ovsynch. Four steps. Each injection has a job.
Day 0, GnRH: reset. A new wave starts.
Day 7, PGF: kills the CL. P4 falls.
Day 9, GnRH: she ovulates the new follicle.
Day 10: breed, 16 to 20 hours after that last GnRH.
You never look for heat. Every cow is bred on a date you wrote three weeks earlier.
But remember: this needs a CL for the PGF to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protocol I want you to use as your default for recipients.
Day 0: GnRH and put the device in.
Day 7: pull the device out and give PGF. Add eCG if she is thin.
Day 9: GnRH. That is the ovulation.
Why better than Ovsynch here? Because of the device.
Ovsynch needs a CL. Many of your cows have none.
The device supplies P4 with no CL, and it wakes up cows that are not cycling.
One rule: always give GnRH with the device. A device alone leaves an old follicle and an old egg.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choose. Look at the cow, not the paper.
Cycling and you can watch heat: double PGF. Cheap and fine.
Cycling, milking, no heat watching: Ovsynch.
Thin, or no heat, or you do not know: the device. CO-Synch plus CIDR, add eCG.
And for a cow that will carry an embryo: always the device protocol.
Say it with me: thin or not cycling, the device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that makes all of this necessary.
The embryo is seven days old. The cow must also be on day seven.
Day 7 means seven days after she ovulated.
Plus or minus one day is acceptable. Beyond that, the pregnancy rate falls.
Why? The womb changes every day. On day 7 it makes exactly what a day 7 embryo needs.
A day 4 womb cannot feed a day 7 embryo.
So we do not synchronise and then wait for embryos. We count backwards from the transfer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build one calendar together. This is what you will be asked to do.
Ten embryos. Transfer fixed for 20 October.
20 October minus 7 is 13 October. That is ovulation day. So GnRH on 12 or 13 October.
That GnRH is 48 to 60 hours after you pull the device. So device out and PGF on 10 October.
Seven days before that is 3 October. Device in, with GnRH.
And the line everybody forgets: choosing and feeding the cows starts in early September.
One warning. Never start the protocol before the shipment is confirmed in writing.
If customs delays the embryos by ten days, you lose the whole group of cows.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I am asked about most.
Not every synchronised cow will have a good CL on transfer day.
Normally 70 to 85 out of 100 are usable.
So for 10 embryos, do not synchronise 10 cows. Synchronise 13. That is 125 percent.
If fewer than 70 percent are usable, that is a warning.
Your cows are too thin, or not cycling, or the protocol was not followed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saves more pregnancies than any protocol.
If one cow fails, look at the cow.
If the whole group fails, look at the bottle.
These hormones are proteins. Heat destroys them.
Four hours on a truck dashboard in the sun and the drug is dead.
Cool box in the field. Ice pack not touching the bottle. Never a closed hot car.
Write the batch number down. If a batch is bad, you must be able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programme fails, people argue. This ends the argument.
One: the cow. Was there a CL? Is she cycling? Is she fed?
Two: the cold chain. Was the drug still alive?
Three: the calendar. Right day, right hour, nothing missed?
Four, and only fourth: your hands.
Most people start at four and never reach one. Start 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three. The cow that carries the embryo.
Professor Yoon covers ultrasound in depth in his own four-hour lecture.
Here I stay with the decision: is this cow usable today, yes 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pregnancy rate come from?
About 45 percent is the recipient cow. Her body, her womb, her CL.
About 20 percent is the embryo.
About 20 percent is you — your hands and your timing.
The rest is the farm and the weather.
So almost half is decided before you open the tank.
When the result is bad we look at our hands first. Look at the cow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checks for every cow.
One fail and she is out. Find another cow.
And do these when you enrol her, four to six weeks before. Not on the day.
On the day it is too late to find out she calved forty days ago.
Number seven is the one that decides the day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condition. Target 2.75 to 3.25 out of five.
But the direction matters more than the number.
A cow at 3.0 who is losing condition is worse than a cow at 2.75 who is gaining.
A thin cow may get pregnant, but she often loses it in the first six weeks.
The farmer will push you to use her today. Say no.
Use her today and you both lose the embryo. Wait a month and you both get a calf.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she ovulates, a firm button grows on the ovary. That is the CL.
The CL makes the pregnancy hormone.
No CL, no hormone. The embryo goes in, finds no support, and dies within days.
So on transfer day you feel both ovaries and look for that button.
And you remember which side it is on. That matters, and we will see why.
Professor Yoon teaches you to see this on ultrasound. I am teaching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go or no-go. There is no middle answer.
CL there: go. Write down the side.
No CL, or you are not sure: stop. Send her out. Bring the next cow.
And the order matters more than anything.
Feel first. Decide. Then walk to the tank.
If you thaw first and then find no CL, the embryo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picture. The CL is on the right ovary. The embryo goes in the right horn.
Why? The blood vessels from that ovary feed that horn directly. It is local.
The hormone the embryo needs is highest in the horn next to the CL.
Wrong side is not a small mistake. It is a lost pregnancy.
And nobody sees it. She is empty at thirty days and everyone blames the embryo.
Feel the CL. Say the side out loud. Then pass the 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four. The tank and the thawing.
Here the rules come from physics. You cannot argue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freezing. The straw tells you which.
Direct transfer, DT. Slow frozen. Warm it and put it straight in the cow. Nothing else.
Vitrified. Very fast frozen. It needs step-by-step warming in solutions.
Those steps are on a card in the box.
If you use the simple method on a vitrified straw, the embryo dies. Every time.
Read the straw. Follow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Liquid nitrogen. Minus 196 degrees.
It is not poison. The danger is different. It pushes oxygen out of the room.
One litre of liquid becomes seven hundred litres of gas.
In a small closed room, or a car with the windows up, the oxygen drops.
No smell. No warning. You simply fall down.
Open air or a ventilated room. Gloves. Eye protection. Never a closed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tank neck. The liquid is minus 196.
Halfway up the neck it is already minus 150 to minus 100.
At the top it can be warmer than minus 50.
So if you lift the basket up to read the labels, the straws warm.
Then you put them back and they cool again. Warming and cooling kills embryos.
Keep everything low. Read the label down in the neck. About ten seconds is the limit.
And the damage is to every straw in that basket, not only the one you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Say the numbers with me.
Air: three to five seconds. Water: thirty-seven degrees, twenty to thirty seconds.
Again. Three to five in air. Twenty to thirty in water.
Measure the water with a thermometer. Your hand is not a thermometer.
Dry it completely, cut the end straight, load, sheath, and go.
Why ten minutes? In a DT straw the antifreeze is only diluted inside the womb.
Until then it is still working on the embryo.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five. The transfer itself.
Three things: keeping it clean, passing the cervix, and where to put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hygiene stricter for embryo transfer than for AI?
At heat the womb is active. It contracts. White cells work. It cleans itself.
On day 7 the pregnancy hormone is high. The womb is quiet.
It lowers its own defence so it does not reject the embryo.
Good for the embryo. Also good for bacteria.
At AI the womb forgives a small mistake. On day 7 it does not.
Whatever you carry in, stays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gun has two covers. An outer cover and an inner sheath.
The outer cover protects the tip through the vagina and the cervix.
The vagina is dirty. Always. On every cow.
Only when you are past the cervix, inside the womb, you pierce the outer cover.
Then the clean inner sheath goes forward into the horn.
One sheath per cow. Never wash one and use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cervix has three or four rings. They are offset, not in a straight line.
And on day 7 the pregnancy hormone holds them tighter than at heat.
So you do not push the gun through.
You hold the cervix through the rectum and pull it onto the gun. Ring by ring.
If you are pushing hard, stop. Come back. Change the angle. Try again.
The moment you force, the tissue tears. Then there is blood.
Blood does three things at once, and all three cost you the pregnancy.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third of the horn. Not the body. Not the base.
The embryo attaches in the front part. Put it where it has to be.
If you deposit at the base it gets pushed back.
But do not go so far that you damage the tip.
Push the plunger slowly and completely. Withdraw straight, do not twist.
Check the straw is empty. Then write the record now, not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work alone in the village. Nobody watches you. So watch yourself.
Every transfer, score it. One, two or three.
One: easy, no blood. Two: a bit tight, no blood. Three: hard, blood, many tries.
Once a month count your threes.
More than one in ten is a warning. Your hands, your crush, or your patience.
I have done this to myself for eighteen years. It is the fastest way to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chain, in this order.
Catch and restrain. Numb the tail.
Confirm the CL. Say the side out loud. Write it.
Clean and dry the back end.
ONLY NOW walk to the tank and thaw.
Load, pass the cervix gently, deposit in the front third of the correct horn.
Check the straw is empty. Write the record.
Change this order and you will waste embryos.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diseases.
This half of the day is only in my lecture. Nobody else covers it.
We start with the rumen, because the rumen decides the energy, and energy decides fertility.
One rule before we start: treatment is a veterinary act.
Use only products registered here, under a veterinarian.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idea in feeding.
The cow does not digest her feed. Her stomach bugs digest it. Then she digests the bugs.
There are two groups. Look at the difference.
Fibre bugs need a sweet stomach. They are fragile. They make the acid that becomes butterfat.
Grain bugs are happy even when it is sour. They make the acid that becomes milk volume.
So when you feed a lot of grain, the stomach goes sour and the fibre bugs die.
Butterfat falls first. That is your first warning,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 stomach is the most expensive problem nobody sees. The cow does not fall down.
How do you find it? Five signs.
Butterfat falling below protein in fresh cows. First warning.
Loose manure with gas bubbles and whole grains you can see.
Cows not chewing the cud. Count the lying cows — under six in ten chewing is a warning.
Intake goes up and down.
And sore feet weeks later. A lame cow will not stand to be mounted, so your heats disappear.
So sour stomach reaches your AI results by three different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treat sour stomach? You do not. You change the feeding.
Longer fibre, long enough to make her chew.
And the big one in village farms: do not give all the grain in one meal.
If the grain is fed separately, she eats it all at once. That one meal is the acid load.
Split it into two or three. That alone fixes most of it, and it is free.
Buffer, sodium bicarbonate, where you can get it. Live yeast if available.
And clean water always. A dry cow has a more concentrated, more acid stomach.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emergency version. She got into the feed store.
The signs come twelve to forty-eight hours later. Not at once.
Off feed. The rumen stops. A doughy swollen left side.
Grey watery diarrhoea with a sour smell. Dehydrated. Staggering. Sometimes down.
One cheap field test: take rumen fluid and look under a microscope for the small moving protozoa.
In a healthy rumen they move. Here they are all dead. That plus a pH strip gives you the diagnosis in two minutes.
Treatment is veterinary and urgent: alkalinising agent by mouth, fluids into the vein, thiamine.
Thiamine matters — acidosis destroys it and the cow can go blind.
Severe cases need the rumen washed out or surgery.
Prevention: lock the feed store. That is the whole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Bloat kills fast, so the field decision matters.
Pass a stomach tube. That one act both diagnoses and treats.
If gas rushes out, it was free-gas bloat. You just saved her. Now find what blocked it.
If nothing comes out but she is hugely swollen, it is frothy bloat.
The gas is trapped in foam. A tube will not release foam. You need an anti-foaming agent.
And in a true emergency, a cow going down and fighting to breathe, a trocar into the left side saves her life.
Prevention: never turn a hungry cow onto lush legume pasture. Feed hay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stomach is not fixed in place. It hangs loosely.
Two things must happen together for it to move.
One, it stops contracting and fills with gas, so it floats.
Two, there is empty space — and after calving there is a lot of empty space.
Now look at the causes. Low calcium. Low energy. Dirty womb. Retained afterbirth. Low intake.
Every one of those is another disease we are discussing today.
So this is not a separate disease. It is the visible failure of the transition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leave the rumen, here is your free toolkit.
Put your fist in the hollow on her left side and count. One to three movements a minute is normal.
Stand behind the resting group and count how many are chewing. Under six in ten is a warning.
Look at the manure. Firm porridge that holds its shape is normal.
Loose with bubbles, shiny films, or whole grain means the fermentation is in the wrong place.
Feel the nose. Wet and shiny is normal. Dry means fever or dehydration.
One minute per pen, on every farm, before you open your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seven. The three weeks around calving.
This is where most of the year is won or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around calving. Look at the picture.
Calcium goes down, because her milk takes out far more calcium than her blood holds.
Low calcium means weak muscles. The womb has no push. The afterbirth stays.
Energy goes down, because she gives out more in milk than she can eat. She burns her own body.
And the womb gets infected, because her defence is low exactly at that moment.
These are not three diseases. They are one failure with three names.
And it is decided by how she was fed BEFORE she calved.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Milk fever. The numbers explain it.
Colostrum takes about twenty-three grams of calcium out in a few hours.
Her whole blood holds about three grams. The demand is ten times what she has.
Stage one: still standing, excited, trembling. Usually missed.
Stage two: sitting up, head turned to the flank in an S shape, cold ears, dry nose.
Stage three: flat out, dying.
Treatment is calcium into the vein — and this is the safety point.
Fast calcium stops the heart. It must go in over eight to ten minutes, listening to the heart.
A cow that dies on the needle died of the treatment, not the disease. This is a veterinary procedure.
Then calcium by mouth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important part. Milk fever that you see is only three to eight cows in a hundred.
Hidden low calcium is one in four, or more, in older cows.
Those cows never go down. So nobody treats them.
But their womb has no push, so the afterbirth stays and the womb gets infected.
Their teat muscle is weak, so they get mastitis.
Their stomach is slack, so it twists.
They eat less, so they get low energy.
And they do not get pregnant.
So when I say calcium is a fertility hormone in the dairy cow, I mean it literally.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Ketosis. Energy down.
In early lactation she gives out more energy in milk than she can eat.
So she burns her own body fat. The liver cannot burn it all properly.
Half-burned fat builds up in the blood. That is ketosis.
What do you see? Milk drops. She loses condition fast. She is dull.
And the clue: she refuses the grain but still eats hay.
That is the opposite of most sick cows. Remember it.
Sometimes a sweet smell on her breath, like nail polish remover. Some people cannot smell it — that is genetic.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Treatment. Propylene glycol by mouth, once a day, for three to five days.
That is the standard, because it turns into sugar in the liver over hours.
Sugar into the vein lifts her for an hour and then it is gone in the urine.
So use sugar in the vein only for a cow that is down or nervous, and always with the propylene glycol.
And here is the line to underline: always look for the reason.
A cow with ketosis because her stomach twisted, or her womb is infected, will relapse forever if you only give her sugar.
Prevention is all in the dry period. Do not let dry cows get fat. Keep the fresh cow 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Afterbirth still hanging after one day. Everybody wants to pull it.
Do not pull it.
Pulling tears the attachment points inside and opens blood vessels to bacteria.
Studies show pulling makes the womb infection worse and delays the next pregnancy.
What do you do instead? Cut off what hangs down so it does not drag through manure.
And take her temperature every day for ten days.
No fever and eating well: leave her. It comes away in a few days.
Fever above 39.5 and dull: that is a womb infection. Veterinary treatment today.
If you change only one habit from today, change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calving. Three rules that save cows.
First: the cervix must be fully open before you pull. Put your hand round it.
If your hand will not pass, do not pull. Pulling through a closed cervix tears it, and she may never get pregnant again.
Second: use lots of lubricant. Most damage in the field is friction damage.
Third: two people, pulling only while she pushes. Alternate the legs.
A calving jack multiplies force enormously. It breaks ribs, tears the womb, and paralyses her back legs.
If two people with correct technique are not moving the calf in fifteen minutes, the answer is not more force. It is a caesarean.
And say this to the farmer: a live calf and a healthy cow from surgery beats a dead calf and a paralysed cow from an hour of pulling.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block. The womb, the udder, the feet. Then questions and we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calving, an infected womb comes in two forms. The difference is whether she is sick in herself.
First three weeks, watery red-brown discharge with a bad smell, fever above 39.5, dull, off feed.
That is the serious one. She needs veterinary treatment today.
After three weeks, thick pus in the discharge but she looks completely normal and eats well.
That is the lining infection. It does not need emergency treatment, but she will not get pregnant.
It is treated with a prostaglandin injection — but only if she has a CL. Same rule as this morning.
Your job on every fresh cow: temperature, discharge, appetite. Every day for ten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remember this trap.
A cow has not been seen in heat for two months.
You feel a big womb with fluid and a CL on the ovary.
What does that feel like? Pregnancy.
But it can be pus trapped in the womb with the cervix closed.
If you write "pregnant", she is culled six months later for nothing.
If you inject prostaglandin without checking, and she really was pregnant, you cause an abortion.
So: fluid plus a CL plus no heat for a long time — check properly before you inject anything.
The treatment when it is pus is simple and satisfying: prostaglandin opens the cervix and it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Mastitis. Why is it in a breeding lecture?
Because fever and inflammation around the day of breeding stop ovulation and kill the young embryo.
So a cow with a hot, swollen quarter and a fever is not a breeding cow today.
Two kinds. Clinical: you can see it. Clots in the milk, a hot swollen quarter.
Hidden: the milk looks normal but the cell count is high. This is the majority.
Control is simple and boring. Dip the teats before and after. One towel per cow. Milk sick cows last.
Dry cow treatment. And a clean dry place to lie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disease. Lameness.
Why in a breeding lecture? Because a lame cow will not stand to be mounted.
So she shows no heat. And she eats less, so her energy drops, so she stops cycling.
You will never see her heat and nobody will connect it to her feet.
Where does it come from? Wet dirty standing areas, and sour stomach from too much grain.
So it links back to block six.
What to do: look at how they walk once a month. Keep walkways dry. Foot bath. Regular trimming.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field card. It is on the paper you take home.
Red: call the vet. Nothing reproductive today.
Yellow: postpone. She can be used later, not today.
Green: go ahead.
One rule. When you are not sure, postpone.
A wasted straw costs more than a second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slide about us.
You visit several farms in a day and put your arm inside cows on all of them.
Nothing in this province can move disease faster than we can.
New sleeve every cow. New sheath every transfer.
Clean and disinfect boots and clothes between farms.
Healthy and young herds first, problem herds last.
Gloves for anything coming out of a cow — some of these diseases make YOU sick.
And write down every farm visit. If disease breaks out, your record protects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questions. Write your answers. Ten minutes.
Then we go through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sentences. Read them once a week for a month and they will stay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today.
Good genetics — that is the embryo.
Correct timing — that is the calendar.
A healthy cow — that is the feeding and the womb.
Pregnancy happens when you have all three.
I would like to come back and see your calves.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9692640" y="-1737360"/>
            <a:ext cx="5120640" cy="5120640"/>
          </a:xfrm>
          <a:prstGeom prst="ellipse">
            <a:avLst/>
          </a:prstGeom>
          <a:solidFill>
            <a:srgbClr val="156082"/>
          </a:solidFill>
          <a:ln/>
        </p:spPr>
      </p:sp>
      <p:sp>
        <p:nvSpPr>
          <p:cNvPr id="3" name="Shape 1"/>
          <p:cNvSpPr/>
          <p:nvPr/>
        </p:nvSpPr>
        <p:spPr>
          <a:xfrm>
            <a:off x="10881360" y="4480560"/>
            <a:ext cx="3291840" cy="3291840"/>
          </a:xfrm>
          <a:prstGeom prst="ellipse">
            <a:avLst/>
          </a:prstGeom>
          <a:solidFill>
            <a:srgbClr val="156082"/>
          </a:solidFill>
          <a:ln/>
        </p:spPr>
      </p:sp>
      <p:sp>
        <p:nvSpPr>
          <p:cNvPr id="4" name="Text 2"/>
          <p:cNvSpPr/>
          <p:nvPr/>
        </p:nvSpPr>
        <p:spPr>
          <a:xfrm>
            <a:off x="822960" y="1325880"/>
            <a:ext cx="8595360" cy="329184"/>
          </a:xfrm>
          <a:prstGeom prst="rect">
            <a:avLst/>
          </a:prstGeom>
          <a:noFill/>
          <a:ln/>
        </p:spPr>
        <p:txBody>
          <a:bodyPr wrap="square" lIns="0" tIns="0" rIns="0" bIns="0" rtlCol="0" anchor="ctr"/>
          <a:lstStyle/>
          <a:p>
            <a:pPr indent="0" marL="0">
              <a:buNone/>
            </a:pPr>
            <a:r>
              <a:rPr lang="en-US" sz="1300" b="1" spc="300" kern="0" dirty="0">
                <a:solidFill>
                  <a:srgbClr val="8FC7DE"/>
                </a:solidFill>
                <a:latin typeface="Malgun Gothic" pitchFamily="34" charset="0"/>
                <a:ea typeface="Malgun Gothic" pitchFamily="34" charset="-122"/>
                <a:cs typeface="Malgun Gothic" pitchFamily="34" charset="-120"/>
              </a:rPr>
              <a:t>ONE-DAY PRACTITIONER COURSE</a:t>
            </a:r>
            <a:endParaRPr lang="en-US" sz="1300" dirty="0"/>
          </a:p>
        </p:txBody>
      </p:sp>
      <p:sp>
        <p:nvSpPr>
          <p:cNvPr id="5" name="Text 3"/>
          <p:cNvSpPr/>
          <p:nvPr/>
        </p:nvSpPr>
        <p:spPr>
          <a:xfrm>
            <a:off x="822960" y="1755648"/>
            <a:ext cx="8595360" cy="169164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Embryo Transfer  ·  Dairy and Nutrition-Related Diseases</a:t>
            </a:r>
            <a:endParaRPr lang="en-US" sz="4000" dirty="0"/>
          </a:p>
        </p:txBody>
      </p:sp>
      <p:sp>
        <p:nvSpPr>
          <p:cNvPr id="6" name="Text 4"/>
          <p:cNvSpPr/>
          <p:nvPr/>
        </p:nvSpPr>
        <p:spPr>
          <a:xfrm>
            <a:off x="822960" y="3493008"/>
            <a:ext cx="8778240" cy="914400"/>
          </a:xfrm>
          <a:prstGeom prst="rect">
            <a:avLst/>
          </a:prstGeom>
          <a:noFill/>
          <a:ln/>
        </p:spPr>
        <p:txBody>
          <a:bodyPr wrap="square" lIns="0" tIns="0" rIns="0" bIns="0" rtlCol="0" anchor="t"/>
          <a:lstStyle/>
          <a:p>
            <a:pPr indent="0" marL="0">
              <a:buNone/>
            </a:pPr>
            <a:r>
              <a:rPr lang="en-US" sz="1500" dirty="0">
                <a:solidFill>
                  <a:srgbClr val="C6DCE8"/>
                </a:solidFill>
                <a:latin typeface="Malgun Gothic" pitchFamily="34" charset="0"/>
                <a:ea typeface="Malgun Gothic" pitchFamily="34" charset="-122"/>
                <a:cs typeface="Malgun Gothic" pitchFamily="34" charset="-120"/>
              </a:rPr>
              <a:t>Lecture 5  ·  7 hours  ·  Training Workshop on Advanced Reproductive Technology and NDHI System Adoption</a:t>
            </a:r>
            <a:endParaRPr lang="en-US" sz="1500" dirty="0"/>
          </a:p>
          <a:p>
            <a:pPr indent="0" marL="0">
              <a:buNone/>
            </a:pPr>
            <a:r>
              <a:rPr lang="en-US" sz="1500" dirty="0">
                <a:solidFill>
                  <a:srgbClr val="C6DCE8"/>
                </a:solidFill>
                <a:latin typeface="Malgun Gothic" pitchFamily="34" charset="0"/>
                <a:ea typeface="Malgun Gothic" pitchFamily="34" charset="-122"/>
                <a:cs typeface="Malgun Gothic" pitchFamily="34" charset="-120"/>
              </a:rPr>
              <a:t>DA-Philippine Carabao Center  ·  14–18 September 2026  ·  Village Based AI Technicians</a:t>
            </a:r>
            <a:endParaRPr lang="en-US" sz="1500" dirty="0"/>
          </a:p>
        </p:txBody>
      </p:sp>
      <p:sp>
        <p:nvSpPr>
          <p:cNvPr id="7" name="Shape 5"/>
          <p:cNvSpPr/>
          <p:nvPr/>
        </p:nvSpPr>
        <p:spPr>
          <a:xfrm>
            <a:off x="822960" y="4553712"/>
            <a:ext cx="3840480" cy="0"/>
          </a:xfrm>
          <a:prstGeom prst="line">
            <a:avLst/>
          </a:prstGeom>
          <a:noFill/>
          <a:ln w="38100">
            <a:solidFill>
              <a:srgbClr val="E97132"/>
            </a:solidFill>
            <a:prstDash val="solid"/>
          </a:ln>
        </p:spPr>
      </p:sp>
      <p:sp>
        <p:nvSpPr>
          <p:cNvPr id="8" name="Text 6"/>
          <p:cNvSpPr/>
          <p:nvPr/>
        </p:nvSpPr>
        <p:spPr>
          <a:xfrm>
            <a:off x="822960" y="4754880"/>
            <a:ext cx="8778240" cy="731520"/>
          </a:xfrm>
          <a:prstGeom prst="rect">
            <a:avLst/>
          </a:prstGeom>
          <a:noFill/>
          <a:ln/>
        </p:spPr>
        <p:txBody>
          <a:bodyPr wrap="square" lIns="0" tIns="0" rIns="0" bIns="0" rtlCol="0" anchor="t"/>
          <a:lstStyle/>
          <a:p>
            <a:pPr indent="0" marL="0">
              <a:buNone/>
            </a:pPr>
            <a:r>
              <a:rPr lang="en-US" sz="1350" dirty="0">
                <a:solidFill>
                  <a:srgbClr val="C6DCE8"/>
                </a:solidFill>
                <a:latin typeface="Malgun Gothic" pitchFamily="34" charset="0"/>
                <a:ea typeface="Malgun Gothic" pitchFamily="34" charset="-122"/>
                <a:cs typeface="Malgun Gothic" pitchFamily="34" charset="-120"/>
              </a:rPr>
              <a:t>Ha Hyun-Jae, DVM   ·   Genetics Co., Ltd.  ·  Korea Animal Hospital  ·  Republic of Korea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How today fits with Professor Yoon's lectures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We divided the subject so that nothing is repeated</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Professor Yoon gives you the physiology. I give you the calendar and the hands.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a:t>
            </a:r>
            <a:endParaRPr lang="en-US" sz="900" dirty="0"/>
          </a:p>
        </p:txBody>
      </p:sp>
      <p:sp>
        <p:nvSpPr>
          <p:cNvPr id="8" name="Shape 6"/>
          <p:cNvSpPr/>
          <p:nvPr/>
        </p:nvSpPr>
        <p:spPr>
          <a:xfrm>
            <a:off x="548640" y="1664208"/>
            <a:ext cx="5394960" cy="2514600"/>
          </a:xfrm>
          <a:prstGeom prst="roundRect">
            <a:avLst>
              <a:gd name="adj" fmla="val 2545"/>
            </a:avLst>
          </a:prstGeom>
          <a:solidFill>
            <a:srgbClr val="FFFFFF"/>
          </a:solidFill>
          <a:ln w="12700">
            <a:solidFill>
              <a:srgbClr val="A02B93"/>
            </a:solidFill>
            <a:prstDash val="solid"/>
          </a:ln>
        </p:spPr>
      </p:sp>
      <p:sp>
        <p:nvSpPr>
          <p:cNvPr id="9" name="Shape 7"/>
          <p:cNvSpPr/>
          <p:nvPr/>
        </p:nvSpPr>
        <p:spPr>
          <a:xfrm>
            <a:off x="548640" y="1664208"/>
            <a:ext cx="5394960" cy="402336"/>
          </a:xfrm>
          <a:prstGeom prst="roundRect">
            <a:avLst>
              <a:gd name="adj" fmla="val 15909"/>
            </a:avLst>
          </a:prstGeom>
          <a:solidFill>
            <a:srgbClr val="A02B93"/>
          </a:solidFill>
          <a:ln w="12700">
            <a:solidFill>
              <a:srgbClr val="A02B93"/>
            </a:solidFill>
            <a:prstDash val="solid"/>
          </a:ln>
        </p:spPr>
      </p:sp>
      <p:sp>
        <p:nvSpPr>
          <p:cNvPr id="10" name="Text 8"/>
          <p:cNvSpPr/>
          <p:nvPr/>
        </p:nvSpPr>
        <p:spPr>
          <a:xfrm>
            <a:off x="548640" y="166420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PROFESSOR YOON  —  11 lectures</a:t>
            </a:r>
            <a:endParaRPr lang="en-US" sz="1300" dirty="0"/>
          </a:p>
        </p:txBody>
      </p:sp>
      <p:sp>
        <p:nvSpPr>
          <p:cNvPr id="11" name="Text 9"/>
          <p:cNvSpPr/>
          <p:nvPr/>
        </p:nvSpPr>
        <p:spPr>
          <a:xfrm>
            <a:off x="694944" y="2176272"/>
            <a:ext cx="5102352" cy="1874520"/>
          </a:xfrm>
          <a:prstGeom prst="rect">
            <a:avLst/>
          </a:prstGeom>
          <a:noFill/>
          <a:ln/>
        </p:spPr>
        <p:txBody>
          <a:bodyPr wrap="square" lIns="0" tIns="0" rIns="0" bIns="0" rtlCol="0" anchor="t"/>
          <a:lstStyle/>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Buffalo reproduction  (5.5 h)</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Ovarian follicular dynamics and oestrous regulation  (3 h)</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Ultrasonography, demonstration and image workshop  (4 h)</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Kisspeptin  ·  heat stress and the follicle  (2 h)</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Reproductive technologies  ·  fertility determinants  ·  hormone use  (4 h)</a:t>
            </a:r>
            <a:endParaRPr lang="en-US" sz="1200" dirty="0"/>
          </a:p>
        </p:txBody>
      </p:sp>
      <p:sp>
        <p:nvSpPr>
          <p:cNvPr id="12" name="Shape 10"/>
          <p:cNvSpPr/>
          <p:nvPr/>
        </p:nvSpPr>
        <p:spPr>
          <a:xfrm>
            <a:off x="6217920" y="1664208"/>
            <a:ext cx="5394960" cy="2514600"/>
          </a:xfrm>
          <a:prstGeom prst="roundRect">
            <a:avLst>
              <a:gd name="adj" fmla="val 2545"/>
            </a:avLst>
          </a:prstGeom>
          <a:solidFill>
            <a:srgbClr val="FFFFFF"/>
          </a:solidFill>
          <a:ln w="12700">
            <a:solidFill>
              <a:srgbClr val="156082"/>
            </a:solidFill>
            <a:prstDash val="solid"/>
          </a:ln>
        </p:spPr>
      </p:sp>
      <p:sp>
        <p:nvSpPr>
          <p:cNvPr id="13" name="Shape 11"/>
          <p:cNvSpPr/>
          <p:nvPr/>
        </p:nvSpPr>
        <p:spPr>
          <a:xfrm>
            <a:off x="6217920" y="1664208"/>
            <a:ext cx="5394960" cy="402336"/>
          </a:xfrm>
          <a:prstGeom prst="roundRect">
            <a:avLst>
              <a:gd name="adj" fmla="val 15909"/>
            </a:avLst>
          </a:prstGeom>
          <a:solidFill>
            <a:srgbClr val="156082"/>
          </a:solidFill>
          <a:ln w="12700">
            <a:solidFill>
              <a:srgbClr val="156082"/>
            </a:solidFill>
            <a:prstDash val="solid"/>
          </a:ln>
        </p:spPr>
      </p:sp>
      <p:sp>
        <p:nvSpPr>
          <p:cNvPr id="14" name="Text 12"/>
          <p:cNvSpPr/>
          <p:nvPr/>
        </p:nvSpPr>
        <p:spPr>
          <a:xfrm>
            <a:off x="6217920" y="166420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TODAY  —  Lecture 5  (7 h)</a:t>
            </a:r>
            <a:endParaRPr lang="en-US" sz="1300" dirty="0"/>
          </a:p>
        </p:txBody>
      </p:sp>
      <p:sp>
        <p:nvSpPr>
          <p:cNvPr id="15" name="Text 13"/>
          <p:cNvSpPr/>
          <p:nvPr/>
        </p:nvSpPr>
        <p:spPr>
          <a:xfrm>
            <a:off x="6364224" y="2176272"/>
            <a:ext cx="5102352" cy="1874520"/>
          </a:xfrm>
          <a:prstGeom prst="rect">
            <a:avLst/>
          </a:prstGeom>
          <a:noFill/>
          <a:ln/>
        </p:spPr>
        <p:txBody>
          <a:bodyPr wrap="square" lIns="0" tIns="0" rIns="0" bIns="0" rtlCol="0" anchor="t"/>
          <a:lstStyle/>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Embryo transfer — the whole programme</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Recipient synchronisation as a CALENDAR  (agreed: my part)</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Diagnosis, treatment and management of</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common dairy and NUTRITION-RELATED diseases</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Nobody else covers the disease half — it is all here</a:t>
            </a:r>
            <a:endParaRPr lang="en-US" sz="1200" dirty="0"/>
          </a:p>
        </p:txBody>
      </p:sp>
      <p:sp>
        <p:nvSpPr>
          <p:cNvPr id="16" name="Shape 14"/>
          <p:cNvSpPr/>
          <p:nvPr/>
        </p:nvSpPr>
        <p:spPr>
          <a:xfrm>
            <a:off x="548640" y="4361688"/>
            <a:ext cx="11064240" cy="914400"/>
          </a:xfrm>
          <a:prstGeom prst="roundRect">
            <a:avLst>
              <a:gd name="adj" fmla="val 8000"/>
            </a:avLst>
          </a:prstGeom>
          <a:solidFill>
            <a:srgbClr val="E3ECF1"/>
          </a:solidFill>
          <a:ln w="12700">
            <a:solidFill>
              <a:srgbClr val="E3ECF1"/>
            </a:solidFill>
            <a:prstDash val="solid"/>
          </a:ln>
        </p:spPr>
      </p:sp>
      <p:sp>
        <p:nvSpPr>
          <p:cNvPr id="17" name="Text 15"/>
          <p:cNvSpPr/>
          <p:nvPr/>
        </p:nvSpPr>
        <p:spPr>
          <a:xfrm>
            <a:off x="548640" y="4361688"/>
            <a:ext cx="11064240" cy="914400"/>
          </a:xfrm>
          <a:prstGeom prst="rect">
            <a:avLst/>
          </a:prstGeom>
          <a:noFill/>
          <a:ln/>
        </p:spPr>
        <p:txBody>
          <a:bodyPr wrap="square" lIns="0" tIns="0" rIns="0" bIns="0" rtlCol="0" anchor="ctr"/>
          <a:lstStyle/>
          <a:p>
            <a:pPr algn="ctr" indent="0" marL="0">
              <a:buNone/>
            </a:pPr>
            <a:r>
              <a:rPr lang="en-US" sz="1450" b="1" dirty="0">
                <a:solidFill>
                  <a:srgbClr val="0E2841"/>
                </a:solidFill>
                <a:latin typeface="Malgun Gothic" pitchFamily="34" charset="0"/>
                <a:ea typeface="Malgun Gothic" pitchFamily="34" charset="-122"/>
                <a:cs typeface="Malgun Gothic" pitchFamily="34" charset="-120"/>
              </a:rPr>
              <a:t>Professor Yoon answers WHY.      Today answers WHICH DAY, WITH YOUR HANDS, and WHAT TO DO WHEN SHE IS SICK.</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Today — 7 hours, 8 blocks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Part 1: embryo transfer and recipient synchronisation (3.5 h)    ·    Part 2: dairy and nutrition-related diseases (3.5 h)</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Blocks 01–05 put an embryo in a cow. Blocks 06–08 are diagnosis, treatment and management of the diseases that stop pregnancy.</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a:t>
            </a:r>
            <a:endParaRPr lang="en-US" sz="900" dirty="0"/>
          </a:p>
        </p:txBody>
      </p:sp>
      <p:sp>
        <p:nvSpPr>
          <p:cNvPr id="8" name="Shape 6"/>
          <p:cNvSpPr/>
          <p:nvPr/>
        </p:nvSpPr>
        <p:spPr>
          <a:xfrm>
            <a:off x="548640" y="1664208"/>
            <a:ext cx="1217066" cy="457200"/>
          </a:xfrm>
          <a:prstGeom prst="roundRect">
            <a:avLst>
              <a:gd name="adj" fmla="val 6000"/>
            </a:avLst>
          </a:prstGeom>
          <a:solidFill>
            <a:srgbClr val="0E2841"/>
          </a:solidFill>
          <a:ln w="12700">
            <a:solidFill>
              <a:srgbClr val="0E2841"/>
            </a:solidFill>
            <a:prstDash val="solid"/>
          </a:ln>
        </p:spPr>
      </p:sp>
      <p:sp>
        <p:nvSpPr>
          <p:cNvPr id="9" name="Text 7"/>
          <p:cNvSpPr/>
          <p:nvPr/>
        </p:nvSpPr>
        <p:spPr>
          <a:xfrm>
            <a:off x="621792" y="1664208"/>
            <a:ext cx="1070762" cy="457200"/>
          </a:xfrm>
          <a:prstGeom prst="rect">
            <a:avLst/>
          </a:prstGeom>
          <a:noFill/>
          <a:ln/>
        </p:spPr>
        <p:txBody>
          <a:bodyPr wrap="square" lIns="0" tIns="0" rIns="0" bIns="0" rtlCol="0" anchor="ctr"/>
          <a:lstStyle/>
          <a:p>
            <a:pPr algn="l" indent="0" marL="0">
              <a:buNone/>
            </a:pPr>
            <a:endParaRPr lang="en-US" sz="1200" dirty="0"/>
          </a:p>
        </p:txBody>
      </p:sp>
      <p:sp>
        <p:nvSpPr>
          <p:cNvPr id="10" name="Shape 8"/>
          <p:cNvSpPr/>
          <p:nvPr/>
        </p:nvSpPr>
        <p:spPr>
          <a:xfrm>
            <a:off x="1765706" y="1664208"/>
            <a:ext cx="774497" cy="457200"/>
          </a:xfrm>
          <a:prstGeom prst="roundRect">
            <a:avLst>
              <a:gd name="adj" fmla="val 6000"/>
            </a:avLst>
          </a:prstGeom>
          <a:solidFill>
            <a:srgbClr val="0E2841"/>
          </a:solidFill>
          <a:ln w="12700">
            <a:solidFill>
              <a:srgbClr val="0E2841"/>
            </a:solidFill>
            <a:prstDash val="solid"/>
          </a:ln>
        </p:spPr>
      </p:sp>
      <p:sp>
        <p:nvSpPr>
          <p:cNvPr id="11" name="Text 9"/>
          <p:cNvSpPr/>
          <p:nvPr/>
        </p:nvSpPr>
        <p:spPr>
          <a:xfrm>
            <a:off x="1838858" y="1664208"/>
            <a:ext cx="628193"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2540203" y="1664208"/>
            <a:ext cx="7302398" cy="457200"/>
          </a:xfrm>
          <a:prstGeom prst="roundRect">
            <a:avLst>
              <a:gd name="adj" fmla="val 6000"/>
            </a:avLst>
          </a:prstGeom>
          <a:solidFill>
            <a:srgbClr val="0E2841"/>
          </a:solidFill>
          <a:ln w="12700">
            <a:solidFill>
              <a:srgbClr val="0E2841"/>
            </a:solidFill>
            <a:prstDash val="solid"/>
          </a:ln>
        </p:spPr>
      </p:sp>
      <p:sp>
        <p:nvSpPr>
          <p:cNvPr id="13" name="Text 11"/>
          <p:cNvSpPr/>
          <p:nvPr/>
        </p:nvSpPr>
        <p:spPr>
          <a:xfrm>
            <a:off x="2613355" y="1664208"/>
            <a:ext cx="7156094"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Block</a:t>
            </a:r>
            <a:endParaRPr lang="en-US" sz="1200" dirty="0"/>
          </a:p>
        </p:txBody>
      </p:sp>
      <p:sp>
        <p:nvSpPr>
          <p:cNvPr id="14" name="Shape 12"/>
          <p:cNvSpPr/>
          <p:nvPr/>
        </p:nvSpPr>
        <p:spPr>
          <a:xfrm>
            <a:off x="9842602" y="1664208"/>
            <a:ext cx="1770278" cy="457200"/>
          </a:xfrm>
          <a:prstGeom prst="roundRect">
            <a:avLst>
              <a:gd name="adj" fmla="val 6000"/>
            </a:avLst>
          </a:prstGeom>
          <a:solidFill>
            <a:srgbClr val="0E2841"/>
          </a:solidFill>
          <a:ln w="12700">
            <a:solidFill>
              <a:srgbClr val="0E2841"/>
            </a:solidFill>
            <a:prstDash val="solid"/>
          </a:ln>
        </p:spPr>
      </p:sp>
      <p:sp>
        <p:nvSpPr>
          <p:cNvPr id="15" name="Text 13"/>
          <p:cNvSpPr/>
          <p:nvPr/>
        </p:nvSpPr>
        <p:spPr>
          <a:xfrm>
            <a:off x="9915754" y="1664208"/>
            <a:ext cx="1623974"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Time</a:t>
            </a:r>
            <a:endParaRPr lang="en-US" sz="1200" dirty="0"/>
          </a:p>
        </p:txBody>
      </p:sp>
      <p:sp>
        <p:nvSpPr>
          <p:cNvPr id="16" name="Shape 14"/>
          <p:cNvSpPr/>
          <p:nvPr/>
        </p:nvSpPr>
        <p:spPr>
          <a:xfrm>
            <a:off x="548640" y="2121408"/>
            <a:ext cx="1217066" cy="457200"/>
          </a:xfrm>
          <a:prstGeom prst="roundRect">
            <a:avLst>
              <a:gd name="adj" fmla="val 4000"/>
            </a:avLst>
          </a:prstGeom>
          <a:solidFill>
            <a:srgbClr val="FFFFFF"/>
          </a:solidFill>
          <a:ln w="12700">
            <a:solidFill>
              <a:srgbClr val="C9D3DA"/>
            </a:solidFill>
            <a:prstDash val="solid"/>
          </a:ln>
        </p:spPr>
      </p:sp>
      <p:sp>
        <p:nvSpPr>
          <p:cNvPr id="17" name="Text 15"/>
          <p:cNvSpPr/>
          <p:nvPr/>
        </p:nvSpPr>
        <p:spPr>
          <a:xfrm>
            <a:off x="621792" y="21214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PART 1</a:t>
            </a:r>
            <a:endParaRPr lang="en-US" sz="1200" dirty="0"/>
          </a:p>
        </p:txBody>
      </p:sp>
      <p:sp>
        <p:nvSpPr>
          <p:cNvPr id="18" name="Shape 16"/>
          <p:cNvSpPr/>
          <p:nvPr/>
        </p:nvSpPr>
        <p:spPr>
          <a:xfrm>
            <a:off x="1765706" y="2121408"/>
            <a:ext cx="774497" cy="457200"/>
          </a:xfrm>
          <a:prstGeom prst="roundRect">
            <a:avLst>
              <a:gd name="adj" fmla="val 4000"/>
            </a:avLst>
          </a:prstGeom>
          <a:solidFill>
            <a:srgbClr val="FFFFFF"/>
          </a:solidFill>
          <a:ln w="12700">
            <a:solidFill>
              <a:srgbClr val="C9D3DA"/>
            </a:solidFill>
            <a:prstDash val="solid"/>
          </a:ln>
        </p:spPr>
      </p:sp>
      <p:sp>
        <p:nvSpPr>
          <p:cNvPr id="19" name="Text 17"/>
          <p:cNvSpPr/>
          <p:nvPr/>
        </p:nvSpPr>
        <p:spPr>
          <a:xfrm>
            <a:off x="1838858" y="21214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01</a:t>
            </a:r>
            <a:endParaRPr lang="en-US" sz="1200" dirty="0"/>
          </a:p>
        </p:txBody>
      </p:sp>
      <p:sp>
        <p:nvSpPr>
          <p:cNvPr id="20" name="Shape 18"/>
          <p:cNvSpPr/>
          <p:nvPr/>
        </p:nvSpPr>
        <p:spPr>
          <a:xfrm>
            <a:off x="2540203" y="2121408"/>
            <a:ext cx="7302398" cy="457200"/>
          </a:xfrm>
          <a:prstGeom prst="roundRect">
            <a:avLst>
              <a:gd name="adj" fmla="val 4000"/>
            </a:avLst>
          </a:prstGeom>
          <a:solidFill>
            <a:srgbClr val="FFFFFF"/>
          </a:solidFill>
          <a:ln w="12700">
            <a:solidFill>
              <a:srgbClr val="C9D3DA"/>
            </a:solidFill>
            <a:prstDash val="solid"/>
          </a:ln>
        </p:spPr>
      </p:sp>
      <p:sp>
        <p:nvSpPr>
          <p:cNvPr id="21" name="Text 19"/>
          <p:cNvSpPr/>
          <p:nvPr/>
        </p:nvSpPr>
        <p:spPr>
          <a:xfrm>
            <a:off x="2613355" y="21214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What you receive, and why it beats AI</a:t>
            </a:r>
            <a:endParaRPr lang="en-US" sz="1200" dirty="0"/>
          </a:p>
        </p:txBody>
      </p:sp>
      <p:sp>
        <p:nvSpPr>
          <p:cNvPr id="22" name="Shape 20"/>
          <p:cNvSpPr/>
          <p:nvPr/>
        </p:nvSpPr>
        <p:spPr>
          <a:xfrm>
            <a:off x="9842602" y="2121408"/>
            <a:ext cx="1770278" cy="457200"/>
          </a:xfrm>
          <a:prstGeom prst="roundRect">
            <a:avLst>
              <a:gd name="adj" fmla="val 4000"/>
            </a:avLst>
          </a:prstGeom>
          <a:solidFill>
            <a:srgbClr val="FFFFFF"/>
          </a:solidFill>
          <a:ln w="12700">
            <a:solidFill>
              <a:srgbClr val="C9D3DA"/>
            </a:solidFill>
            <a:prstDash val="solid"/>
          </a:ln>
        </p:spPr>
      </p:sp>
      <p:sp>
        <p:nvSpPr>
          <p:cNvPr id="23" name="Text 21"/>
          <p:cNvSpPr/>
          <p:nvPr/>
        </p:nvSpPr>
        <p:spPr>
          <a:xfrm>
            <a:off x="9915754" y="21214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35 min</a:t>
            </a:r>
            <a:endParaRPr lang="en-US" sz="1200" dirty="0"/>
          </a:p>
        </p:txBody>
      </p:sp>
      <p:sp>
        <p:nvSpPr>
          <p:cNvPr id="24" name="Shape 22"/>
          <p:cNvSpPr/>
          <p:nvPr/>
        </p:nvSpPr>
        <p:spPr>
          <a:xfrm>
            <a:off x="548640" y="2578608"/>
            <a:ext cx="1217066" cy="457200"/>
          </a:xfrm>
          <a:prstGeom prst="roundRect">
            <a:avLst>
              <a:gd name="adj" fmla="val 4000"/>
            </a:avLst>
          </a:prstGeom>
          <a:solidFill>
            <a:srgbClr val="F2F5F7"/>
          </a:solidFill>
          <a:ln w="12700">
            <a:solidFill>
              <a:srgbClr val="C9D3DA"/>
            </a:solidFill>
            <a:prstDash val="solid"/>
          </a:ln>
        </p:spPr>
      </p:sp>
      <p:sp>
        <p:nvSpPr>
          <p:cNvPr id="25" name="Text 23"/>
          <p:cNvSpPr/>
          <p:nvPr/>
        </p:nvSpPr>
        <p:spPr>
          <a:xfrm>
            <a:off x="621792" y="25786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EMBRYO</a:t>
            </a:r>
            <a:endParaRPr lang="en-US" sz="1200" dirty="0"/>
          </a:p>
        </p:txBody>
      </p:sp>
      <p:sp>
        <p:nvSpPr>
          <p:cNvPr id="26" name="Shape 24"/>
          <p:cNvSpPr/>
          <p:nvPr/>
        </p:nvSpPr>
        <p:spPr>
          <a:xfrm>
            <a:off x="1765706" y="2578608"/>
            <a:ext cx="774497" cy="457200"/>
          </a:xfrm>
          <a:prstGeom prst="roundRect">
            <a:avLst>
              <a:gd name="adj" fmla="val 4000"/>
            </a:avLst>
          </a:prstGeom>
          <a:solidFill>
            <a:srgbClr val="F2F5F7"/>
          </a:solidFill>
          <a:ln w="12700">
            <a:solidFill>
              <a:srgbClr val="C9D3DA"/>
            </a:solidFill>
            <a:prstDash val="solid"/>
          </a:ln>
        </p:spPr>
      </p:sp>
      <p:sp>
        <p:nvSpPr>
          <p:cNvPr id="27" name="Text 25"/>
          <p:cNvSpPr/>
          <p:nvPr/>
        </p:nvSpPr>
        <p:spPr>
          <a:xfrm>
            <a:off x="1838858" y="25786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02</a:t>
            </a:r>
            <a:endParaRPr lang="en-US" sz="1200" dirty="0"/>
          </a:p>
        </p:txBody>
      </p:sp>
      <p:sp>
        <p:nvSpPr>
          <p:cNvPr id="28" name="Shape 26"/>
          <p:cNvSpPr/>
          <p:nvPr/>
        </p:nvSpPr>
        <p:spPr>
          <a:xfrm>
            <a:off x="2540203" y="2578608"/>
            <a:ext cx="7302398" cy="457200"/>
          </a:xfrm>
          <a:prstGeom prst="roundRect">
            <a:avLst>
              <a:gd name="adj" fmla="val 4000"/>
            </a:avLst>
          </a:prstGeom>
          <a:solidFill>
            <a:srgbClr val="F2F5F7"/>
          </a:solidFill>
          <a:ln w="12700">
            <a:solidFill>
              <a:srgbClr val="C9D3DA"/>
            </a:solidFill>
            <a:prstDash val="solid"/>
          </a:ln>
        </p:spPr>
      </p:sp>
      <p:sp>
        <p:nvSpPr>
          <p:cNvPr id="29" name="Text 27"/>
          <p:cNvSpPr/>
          <p:nvPr/>
        </p:nvSpPr>
        <p:spPr>
          <a:xfrm>
            <a:off x="2613355" y="25786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Recipient synchronisation — the calendar</a:t>
            </a:r>
            <a:endParaRPr lang="en-US" sz="1200" dirty="0"/>
          </a:p>
        </p:txBody>
      </p:sp>
      <p:sp>
        <p:nvSpPr>
          <p:cNvPr id="30" name="Shape 28"/>
          <p:cNvSpPr/>
          <p:nvPr/>
        </p:nvSpPr>
        <p:spPr>
          <a:xfrm>
            <a:off x="9842602" y="2578608"/>
            <a:ext cx="1770278" cy="457200"/>
          </a:xfrm>
          <a:prstGeom prst="roundRect">
            <a:avLst>
              <a:gd name="adj" fmla="val 4000"/>
            </a:avLst>
          </a:prstGeom>
          <a:solidFill>
            <a:srgbClr val="F2F5F7"/>
          </a:solidFill>
          <a:ln w="12700">
            <a:solidFill>
              <a:srgbClr val="C9D3DA"/>
            </a:solidFill>
            <a:prstDash val="solid"/>
          </a:ln>
        </p:spPr>
      </p:sp>
      <p:sp>
        <p:nvSpPr>
          <p:cNvPr id="31" name="Text 29"/>
          <p:cNvSpPr/>
          <p:nvPr/>
        </p:nvSpPr>
        <p:spPr>
          <a:xfrm>
            <a:off x="9915754" y="25786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65 min</a:t>
            </a:r>
            <a:endParaRPr lang="en-US" sz="1200" dirty="0"/>
          </a:p>
        </p:txBody>
      </p:sp>
      <p:sp>
        <p:nvSpPr>
          <p:cNvPr id="32" name="Shape 30"/>
          <p:cNvSpPr/>
          <p:nvPr/>
        </p:nvSpPr>
        <p:spPr>
          <a:xfrm>
            <a:off x="548640" y="3035808"/>
            <a:ext cx="1217066" cy="457200"/>
          </a:xfrm>
          <a:prstGeom prst="roundRect">
            <a:avLst>
              <a:gd name="adj" fmla="val 4000"/>
            </a:avLst>
          </a:prstGeom>
          <a:solidFill>
            <a:srgbClr val="FFFFFF"/>
          </a:solidFill>
          <a:ln w="12700">
            <a:solidFill>
              <a:srgbClr val="C9D3DA"/>
            </a:solidFill>
            <a:prstDash val="solid"/>
          </a:ln>
        </p:spPr>
      </p:sp>
      <p:sp>
        <p:nvSpPr>
          <p:cNvPr id="33" name="Text 31"/>
          <p:cNvSpPr/>
          <p:nvPr/>
        </p:nvSpPr>
        <p:spPr>
          <a:xfrm>
            <a:off x="621792" y="30358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TRANSFER</a:t>
            </a:r>
            <a:endParaRPr lang="en-US" sz="1200" dirty="0"/>
          </a:p>
        </p:txBody>
      </p:sp>
      <p:sp>
        <p:nvSpPr>
          <p:cNvPr id="34" name="Shape 32"/>
          <p:cNvSpPr/>
          <p:nvPr/>
        </p:nvSpPr>
        <p:spPr>
          <a:xfrm>
            <a:off x="1765706" y="3035808"/>
            <a:ext cx="774497" cy="457200"/>
          </a:xfrm>
          <a:prstGeom prst="roundRect">
            <a:avLst>
              <a:gd name="adj" fmla="val 4000"/>
            </a:avLst>
          </a:prstGeom>
          <a:solidFill>
            <a:srgbClr val="FFFFFF"/>
          </a:solidFill>
          <a:ln w="12700">
            <a:solidFill>
              <a:srgbClr val="C9D3DA"/>
            </a:solidFill>
            <a:prstDash val="solid"/>
          </a:ln>
        </p:spPr>
      </p:sp>
      <p:sp>
        <p:nvSpPr>
          <p:cNvPr id="35" name="Text 33"/>
          <p:cNvSpPr/>
          <p:nvPr/>
        </p:nvSpPr>
        <p:spPr>
          <a:xfrm>
            <a:off x="1838858" y="30358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03</a:t>
            </a:r>
            <a:endParaRPr lang="en-US" sz="1200" dirty="0"/>
          </a:p>
        </p:txBody>
      </p:sp>
      <p:sp>
        <p:nvSpPr>
          <p:cNvPr id="36" name="Shape 34"/>
          <p:cNvSpPr/>
          <p:nvPr/>
        </p:nvSpPr>
        <p:spPr>
          <a:xfrm>
            <a:off x="2540203" y="3035808"/>
            <a:ext cx="7302398" cy="457200"/>
          </a:xfrm>
          <a:prstGeom prst="roundRect">
            <a:avLst>
              <a:gd name="adj" fmla="val 4000"/>
            </a:avLst>
          </a:prstGeom>
          <a:solidFill>
            <a:srgbClr val="FFFFFF"/>
          </a:solidFill>
          <a:ln w="12700">
            <a:solidFill>
              <a:srgbClr val="C9D3DA"/>
            </a:solidFill>
            <a:prstDash val="solid"/>
          </a:ln>
        </p:spPr>
      </p:sp>
      <p:sp>
        <p:nvSpPr>
          <p:cNvPr id="37" name="Text 35"/>
          <p:cNvSpPr/>
          <p:nvPr/>
        </p:nvSpPr>
        <p:spPr>
          <a:xfrm>
            <a:off x="2613355" y="30358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The recipient and the corpus luteum</a:t>
            </a:r>
            <a:endParaRPr lang="en-US" sz="1200" dirty="0"/>
          </a:p>
        </p:txBody>
      </p:sp>
      <p:sp>
        <p:nvSpPr>
          <p:cNvPr id="38" name="Shape 36"/>
          <p:cNvSpPr/>
          <p:nvPr/>
        </p:nvSpPr>
        <p:spPr>
          <a:xfrm>
            <a:off x="9842602" y="3035808"/>
            <a:ext cx="1770278" cy="457200"/>
          </a:xfrm>
          <a:prstGeom prst="roundRect">
            <a:avLst>
              <a:gd name="adj" fmla="val 4000"/>
            </a:avLst>
          </a:prstGeom>
          <a:solidFill>
            <a:srgbClr val="FFFFFF"/>
          </a:solidFill>
          <a:ln w="12700">
            <a:solidFill>
              <a:srgbClr val="C9D3DA"/>
            </a:solidFill>
            <a:prstDash val="solid"/>
          </a:ln>
        </p:spPr>
      </p:sp>
      <p:sp>
        <p:nvSpPr>
          <p:cNvPr id="39" name="Text 37"/>
          <p:cNvSpPr/>
          <p:nvPr/>
        </p:nvSpPr>
        <p:spPr>
          <a:xfrm>
            <a:off x="9915754" y="30358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50 min</a:t>
            </a:r>
            <a:endParaRPr lang="en-US" sz="1200" dirty="0"/>
          </a:p>
        </p:txBody>
      </p:sp>
      <p:sp>
        <p:nvSpPr>
          <p:cNvPr id="40" name="Shape 38"/>
          <p:cNvSpPr/>
          <p:nvPr/>
        </p:nvSpPr>
        <p:spPr>
          <a:xfrm>
            <a:off x="548640" y="3493008"/>
            <a:ext cx="1217066" cy="457200"/>
          </a:xfrm>
          <a:prstGeom prst="roundRect">
            <a:avLst>
              <a:gd name="adj" fmla="val 4000"/>
            </a:avLst>
          </a:prstGeom>
          <a:solidFill>
            <a:srgbClr val="F2F5F7"/>
          </a:solidFill>
          <a:ln w="12700">
            <a:solidFill>
              <a:srgbClr val="C9D3DA"/>
            </a:solidFill>
            <a:prstDash val="solid"/>
          </a:ln>
        </p:spPr>
      </p:sp>
      <p:sp>
        <p:nvSpPr>
          <p:cNvPr id="41" name="Text 39"/>
          <p:cNvSpPr/>
          <p:nvPr/>
        </p:nvSpPr>
        <p:spPr>
          <a:xfrm>
            <a:off x="621792" y="34930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3.5 h</a:t>
            </a:r>
            <a:endParaRPr lang="en-US" sz="1200" dirty="0"/>
          </a:p>
        </p:txBody>
      </p:sp>
      <p:sp>
        <p:nvSpPr>
          <p:cNvPr id="42" name="Shape 40"/>
          <p:cNvSpPr/>
          <p:nvPr/>
        </p:nvSpPr>
        <p:spPr>
          <a:xfrm>
            <a:off x="1765706" y="3493008"/>
            <a:ext cx="774497" cy="457200"/>
          </a:xfrm>
          <a:prstGeom prst="roundRect">
            <a:avLst>
              <a:gd name="adj" fmla="val 4000"/>
            </a:avLst>
          </a:prstGeom>
          <a:solidFill>
            <a:srgbClr val="F2F5F7"/>
          </a:solidFill>
          <a:ln w="12700">
            <a:solidFill>
              <a:srgbClr val="C9D3DA"/>
            </a:solidFill>
            <a:prstDash val="solid"/>
          </a:ln>
        </p:spPr>
      </p:sp>
      <p:sp>
        <p:nvSpPr>
          <p:cNvPr id="43" name="Text 41"/>
          <p:cNvSpPr/>
          <p:nvPr/>
        </p:nvSpPr>
        <p:spPr>
          <a:xfrm>
            <a:off x="1838858" y="34930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04</a:t>
            </a:r>
            <a:endParaRPr lang="en-US" sz="1200" dirty="0"/>
          </a:p>
        </p:txBody>
      </p:sp>
      <p:sp>
        <p:nvSpPr>
          <p:cNvPr id="44" name="Shape 42"/>
          <p:cNvSpPr/>
          <p:nvPr/>
        </p:nvSpPr>
        <p:spPr>
          <a:xfrm>
            <a:off x="2540203" y="3493008"/>
            <a:ext cx="7302398" cy="457200"/>
          </a:xfrm>
          <a:prstGeom prst="roundRect">
            <a:avLst>
              <a:gd name="adj" fmla="val 4000"/>
            </a:avLst>
          </a:prstGeom>
          <a:solidFill>
            <a:srgbClr val="F2F5F7"/>
          </a:solidFill>
          <a:ln w="12700">
            <a:solidFill>
              <a:srgbClr val="C9D3DA"/>
            </a:solidFill>
            <a:prstDash val="solid"/>
          </a:ln>
        </p:spPr>
      </p:sp>
      <p:sp>
        <p:nvSpPr>
          <p:cNvPr id="45" name="Text 43"/>
          <p:cNvSpPr/>
          <p:nvPr/>
        </p:nvSpPr>
        <p:spPr>
          <a:xfrm>
            <a:off x="2613355" y="34930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The tank, freezing and thawing</a:t>
            </a:r>
            <a:endParaRPr lang="en-US" sz="1200" dirty="0"/>
          </a:p>
        </p:txBody>
      </p:sp>
      <p:sp>
        <p:nvSpPr>
          <p:cNvPr id="46" name="Shape 44"/>
          <p:cNvSpPr/>
          <p:nvPr/>
        </p:nvSpPr>
        <p:spPr>
          <a:xfrm>
            <a:off x="9842602" y="3493008"/>
            <a:ext cx="1770278" cy="457200"/>
          </a:xfrm>
          <a:prstGeom prst="roundRect">
            <a:avLst>
              <a:gd name="adj" fmla="val 4000"/>
            </a:avLst>
          </a:prstGeom>
          <a:solidFill>
            <a:srgbClr val="F2F5F7"/>
          </a:solidFill>
          <a:ln w="12700">
            <a:solidFill>
              <a:srgbClr val="C9D3DA"/>
            </a:solidFill>
            <a:prstDash val="solid"/>
          </a:ln>
        </p:spPr>
      </p:sp>
      <p:sp>
        <p:nvSpPr>
          <p:cNvPr id="47" name="Text 45"/>
          <p:cNvSpPr/>
          <p:nvPr/>
        </p:nvSpPr>
        <p:spPr>
          <a:xfrm>
            <a:off x="9915754" y="34930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30 min</a:t>
            </a:r>
            <a:endParaRPr lang="en-US" sz="1200" dirty="0"/>
          </a:p>
        </p:txBody>
      </p:sp>
      <p:sp>
        <p:nvSpPr>
          <p:cNvPr id="48" name="Shape 46"/>
          <p:cNvSpPr/>
          <p:nvPr/>
        </p:nvSpPr>
        <p:spPr>
          <a:xfrm>
            <a:off x="548640" y="3950208"/>
            <a:ext cx="1217066" cy="457200"/>
          </a:xfrm>
          <a:prstGeom prst="roundRect">
            <a:avLst>
              <a:gd name="adj" fmla="val 4000"/>
            </a:avLst>
          </a:prstGeom>
          <a:solidFill>
            <a:srgbClr val="FFFFFF"/>
          </a:solidFill>
          <a:ln w="12700">
            <a:solidFill>
              <a:srgbClr val="C9D3DA"/>
            </a:solidFill>
            <a:prstDash val="solid"/>
          </a:ln>
        </p:spPr>
      </p:sp>
      <p:sp>
        <p:nvSpPr>
          <p:cNvPr id="49" name="Text 47"/>
          <p:cNvSpPr/>
          <p:nvPr/>
        </p:nvSpPr>
        <p:spPr>
          <a:xfrm>
            <a:off x="621792" y="3950208"/>
            <a:ext cx="1070762" cy="457200"/>
          </a:xfrm>
          <a:prstGeom prst="rect">
            <a:avLst/>
          </a:prstGeom>
          <a:noFill/>
          <a:ln/>
        </p:spPr>
        <p:txBody>
          <a:bodyPr wrap="square" lIns="0" tIns="0" rIns="0" bIns="0" rtlCol="0" anchor="ctr"/>
          <a:lstStyle/>
          <a:p>
            <a:pPr algn="ctr" indent="0" marL="0">
              <a:buNone/>
            </a:pPr>
            <a:endParaRPr lang="en-US" sz="1200" dirty="0"/>
          </a:p>
        </p:txBody>
      </p:sp>
      <p:sp>
        <p:nvSpPr>
          <p:cNvPr id="50" name="Shape 48"/>
          <p:cNvSpPr/>
          <p:nvPr/>
        </p:nvSpPr>
        <p:spPr>
          <a:xfrm>
            <a:off x="1765706" y="3950208"/>
            <a:ext cx="774497" cy="457200"/>
          </a:xfrm>
          <a:prstGeom prst="roundRect">
            <a:avLst>
              <a:gd name="adj" fmla="val 4000"/>
            </a:avLst>
          </a:prstGeom>
          <a:solidFill>
            <a:srgbClr val="FFFFFF"/>
          </a:solidFill>
          <a:ln w="12700">
            <a:solidFill>
              <a:srgbClr val="C9D3DA"/>
            </a:solidFill>
            <a:prstDash val="solid"/>
          </a:ln>
        </p:spPr>
      </p:sp>
      <p:sp>
        <p:nvSpPr>
          <p:cNvPr id="51" name="Text 49"/>
          <p:cNvSpPr/>
          <p:nvPr/>
        </p:nvSpPr>
        <p:spPr>
          <a:xfrm>
            <a:off x="1838858" y="39502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05</a:t>
            </a:r>
            <a:endParaRPr lang="en-US" sz="1200" dirty="0"/>
          </a:p>
        </p:txBody>
      </p:sp>
      <p:sp>
        <p:nvSpPr>
          <p:cNvPr id="52" name="Shape 50"/>
          <p:cNvSpPr/>
          <p:nvPr/>
        </p:nvSpPr>
        <p:spPr>
          <a:xfrm>
            <a:off x="2540203" y="3950208"/>
            <a:ext cx="7302398" cy="457200"/>
          </a:xfrm>
          <a:prstGeom prst="roundRect">
            <a:avLst>
              <a:gd name="adj" fmla="val 4000"/>
            </a:avLst>
          </a:prstGeom>
          <a:solidFill>
            <a:srgbClr val="FFFFFF"/>
          </a:solidFill>
          <a:ln w="12700">
            <a:solidFill>
              <a:srgbClr val="C9D3DA"/>
            </a:solidFill>
            <a:prstDash val="solid"/>
          </a:ln>
        </p:spPr>
      </p:sp>
      <p:sp>
        <p:nvSpPr>
          <p:cNvPr id="53" name="Text 51"/>
          <p:cNvSpPr/>
          <p:nvPr/>
        </p:nvSpPr>
        <p:spPr>
          <a:xfrm>
            <a:off x="2613355" y="39502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Non-surgical transfer</a:t>
            </a:r>
            <a:endParaRPr lang="en-US" sz="1200" dirty="0"/>
          </a:p>
        </p:txBody>
      </p:sp>
      <p:sp>
        <p:nvSpPr>
          <p:cNvPr id="54" name="Shape 52"/>
          <p:cNvSpPr/>
          <p:nvPr/>
        </p:nvSpPr>
        <p:spPr>
          <a:xfrm>
            <a:off x="9842602" y="3950208"/>
            <a:ext cx="1770278" cy="457200"/>
          </a:xfrm>
          <a:prstGeom prst="roundRect">
            <a:avLst>
              <a:gd name="adj" fmla="val 4000"/>
            </a:avLst>
          </a:prstGeom>
          <a:solidFill>
            <a:srgbClr val="FFFFFF"/>
          </a:solidFill>
          <a:ln w="12700">
            <a:solidFill>
              <a:srgbClr val="C9D3DA"/>
            </a:solidFill>
            <a:prstDash val="solid"/>
          </a:ln>
        </p:spPr>
      </p:sp>
      <p:sp>
        <p:nvSpPr>
          <p:cNvPr id="55" name="Text 53"/>
          <p:cNvSpPr/>
          <p:nvPr/>
        </p:nvSpPr>
        <p:spPr>
          <a:xfrm>
            <a:off x="9915754" y="39502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30 min</a:t>
            </a:r>
            <a:endParaRPr lang="en-US" sz="1200" dirty="0"/>
          </a:p>
        </p:txBody>
      </p:sp>
      <p:sp>
        <p:nvSpPr>
          <p:cNvPr id="56" name="Shape 54"/>
          <p:cNvSpPr/>
          <p:nvPr/>
        </p:nvSpPr>
        <p:spPr>
          <a:xfrm>
            <a:off x="548640" y="4407408"/>
            <a:ext cx="1217066" cy="457200"/>
          </a:xfrm>
          <a:prstGeom prst="roundRect">
            <a:avLst>
              <a:gd name="adj" fmla="val 4000"/>
            </a:avLst>
          </a:prstGeom>
          <a:solidFill>
            <a:srgbClr val="F2F5F7"/>
          </a:solidFill>
          <a:ln w="12700">
            <a:solidFill>
              <a:srgbClr val="C9D3DA"/>
            </a:solidFill>
            <a:prstDash val="solid"/>
          </a:ln>
        </p:spPr>
      </p:sp>
      <p:sp>
        <p:nvSpPr>
          <p:cNvPr id="57" name="Text 55"/>
          <p:cNvSpPr/>
          <p:nvPr/>
        </p:nvSpPr>
        <p:spPr>
          <a:xfrm>
            <a:off x="621792" y="44074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PART 2</a:t>
            </a:r>
            <a:endParaRPr lang="en-US" sz="1200" dirty="0"/>
          </a:p>
        </p:txBody>
      </p:sp>
      <p:sp>
        <p:nvSpPr>
          <p:cNvPr id="58" name="Shape 56"/>
          <p:cNvSpPr/>
          <p:nvPr/>
        </p:nvSpPr>
        <p:spPr>
          <a:xfrm>
            <a:off x="1765706" y="4407408"/>
            <a:ext cx="774497" cy="457200"/>
          </a:xfrm>
          <a:prstGeom prst="roundRect">
            <a:avLst>
              <a:gd name="adj" fmla="val 4000"/>
            </a:avLst>
          </a:prstGeom>
          <a:solidFill>
            <a:srgbClr val="F2F5F7"/>
          </a:solidFill>
          <a:ln w="12700">
            <a:solidFill>
              <a:srgbClr val="C9D3DA"/>
            </a:solidFill>
            <a:prstDash val="solid"/>
          </a:ln>
        </p:spPr>
      </p:sp>
      <p:sp>
        <p:nvSpPr>
          <p:cNvPr id="59" name="Text 57"/>
          <p:cNvSpPr/>
          <p:nvPr/>
        </p:nvSpPr>
        <p:spPr>
          <a:xfrm>
            <a:off x="1838858" y="44074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06</a:t>
            </a:r>
            <a:endParaRPr lang="en-US" sz="1200" dirty="0"/>
          </a:p>
        </p:txBody>
      </p:sp>
      <p:sp>
        <p:nvSpPr>
          <p:cNvPr id="60" name="Shape 58"/>
          <p:cNvSpPr/>
          <p:nvPr/>
        </p:nvSpPr>
        <p:spPr>
          <a:xfrm>
            <a:off x="2540203" y="4407408"/>
            <a:ext cx="7302398" cy="457200"/>
          </a:xfrm>
          <a:prstGeom prst="roundRect">
            <a:avLst>
              <a:gd name="adj" fmla="val 4000"/>
            </a:avLst>
          </a:prstGeom>
          <a:solidFill>
            <a:srgbClr val="F2F5F7"/>
          </a:solidFill>
          <a:ln w="12700">
            <a:solidFill>
              <a:srgbClr val="C9D3DA"/>
            </a:solidFill>
            <a:prstDash val="solid"/>
          </a:ln>
        </p:spPr>
      </p:sp>
      <p:sp>
        <p:nvSpPr>
          <p:cNvPr id="61" name="Text 59"/>
          <p:cNvSpPr/>
          <p:nvPr/>
        </p:nvSpPr>
        <p:spPr>
          <a:xfrm>
            <a:off x="2613355" y="44074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Rumen and nutrition-related disease</a:t>
            </a:r>
            <a:endParaRPr lang="en-US" sz="1200" dirty="0"/>
          </a:p>
        </p:txBody>
      </p:sp>
      <p:sp>
        <p:nvSpPr>
          <p:cNvPr id="62" name="Shape 60"/>
          <p:cNvSpPr/>
          <p:nvPr/>
        </p:nvSpPr>
        <p:spPr>
          <a:xfrm>
            <a:off x="9842602" y="4407408"/>
            <a:ext cx="1770278" cy="457200"/>
          </a:xfrm>
          <a:prstGeom prst="roundRect">
            <a:avLst>
              <a:gd name="adj" fmla="val 4000"/>
            </a:avLst>
          </a:prstGeom>
          <a:solidFill>
            <a:srgbClr val="F2F5F7"/>
          </a:solidFill>
          <a:ln w="12700">
            <a:solidFill>
              <a:srgbClr val="C9D3DA"/>
            </a:solidFill>
            <a:prstDash val="solid"/>
          </a:ln>
        </p:spPr>
      </p:sp>
      <p:sp>
        <p:nvSpPr>
          <p:cNvPr id="63" name="Text 61"/>
          <p:cNvSpPr/>
          <p:nvPr/>
        </p:nvSpPr>
        <p:spPr>
          <a:xfrm>
            <a:off x="9915754" y="44074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70 min</a:t>
            </a:r>
            <a:endParaRPr lang="en-US" sz="1200" dirty="0"/>
          </a:p>
        </p:txBody>
      </p:sp>
      <p:sp>
        <p:nvSpPr>
          <p:cNvPr id="64" name="Shape 62"/>
          <p:cNvSpPr/>
          <p:nvPr/>
        </p:nvSpPr>
        <p:spPr>
          <a:xfrm>
            <a:off x="548640" y="4864608"/>
            <a:ext cx="1217066" cy="457200"/>
          </a:xfrm>
          <a:prstGeom prst="roundRect">
            <a:avLst>
              <a:gd name="adj" fmla="val 4000"/>
            </a:avLst>
          </a:prstGeom>
          <a:solidFill>
            <a:srgbClr val="FFFFFF"/>
          </a:solidFill>
          <a:ln w="12700">
            <a:solidFill>
              <a:srgbClr val="C9D3DA"/>
            </a:solidFill>
            <a:prstDash val="solid"/>
          </a:ln>
        </p:spPr>
      </p:sp>
      <p:sp>
        <p:nvSpPr>
          <p:cNvPr id="65" name="Text 63"/>
          <p:cNvSpPr/>
          <p:nvPr/>
        </p:nvSpPr>
        <p:spPr>
          <a:xfrm>
            <a:off x="621792" y="48646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DISEASE</a:t>
            </a:r>
            <a:endParaRPr lang="en-US" sz="1200" dirty="0"/>
          </a:p>
        </p:txBody>
      </p:sp>
      <p:sp>
        <p:nvSpPr>
          <p:cNvPr id="66" name="Shape 64"/>
          <p:cNvSpPr/>
          <p:nvPr/>
        </p:nvSpPr>
        <p:spPr>
          <a:xfrm>
            <a:off x="1765706" y="4864608"/>
            <a:ext cx="774497" cy="457200"/>
          </a:xfrm>
          <a:prstGeom prst="roundRect">
            <a:avLst>
              <a:gd name="adj" fmla="val 4000"/>
            </a:avLst>
          </a:prstGeom>
          <a:solidFill>
            <a:srgbClr val="FFFFFF"/>
          </a:solidFill>
          <a:ln w="12700">
            <a:solidFill>
              <a:srgbClr val="C9D3DA"/>
            </a:solidFill>
            <a:prstDash val="solid"/>
          </a:ln>
        </p:spPr>
      </p:sp>
      <p:sp>
        <p:nvSpPr>
          <p:cNvPr id="67" name="Text 65"/>
          <p:cNvSpPr/>
          <p:nvPr/>
        </p:nvSpPr>
        <p:spPr>
          <a:xfrm>
            <a:off x="1838858" y="48646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07</a:t>
            </a:r>
            <a:endParaRPr lang="en-US" sz="1200" dirty="0"/>
          </a:p>
        </p:txBody>
      </p:sp>
      <p:sp>
        <p:nvSpPr>
          <p:cNvPr id="68" name="Shape 66"/>
          <p:cNvSpPr/>
          <p:nvPr/>
        </p:nvSpPr>
        <p:spPr>
          <a:xfrm>
            <a:off x="2540203" y="4864608"/>
            <a:ext cx="7302398" cy="457200"/>
          </a:xfrm>
          <a:prstGeom prst="roundRect">
            <a:avLst>
              <a:gd name="adj" fmla="val 4000"/>
            </a:avLst>
          </a:prstGeom>
          <a:solidFill>
            <a:srgbClr val="FFFFFF"/>
          </a:solidFill>
          <a:ln w="12700">
            <a:solidFill>
              <a:srgbClr val="C9D3DA"/>
            </a:solidFill>
            <a:prstDash val="solid"/>
          </a:ln>
        </p:spPr>
      </p:sp>
      <p:sp>
        <p:nvSpPr>
          <p:cNvPr id="69" name="Text 67"/>
          <p:cNvSpPr/>
          <p:nvPr/>
        </p:nvSpPr>
        <p:spPr>
          <a:xfrm>
            <a:off x="2613355" y="48646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Around calving — calcium and energy</a:t>
            </a:r>
            <a:endParaRPr lang="en-US" sz="1200" dirty="0"/>
          </a:p>
        </p:txBody>
      </p:sp>
      <p:sp>
        <p:nvSpPr>
          <p:cNvPr id="70" name="Shape 68"/>
          <p:cNvSpPr/>
          <p:nvPr/>
        </p:nvSpPr>
        <p:spPr>
          <a:xfrm>
            <a:off x="9842602" y="4864608"/>
            <a:ext cx="1770278" cy="457200"/>
          </a:xfrm>
          <a:prstGeom prst="roundRect">
            <a:avLst>
              <a:gd name="adj" fmla="val 4000"/>
            </a:avLst>
          </a:prstGeom>
          <a:solidFill>
            <a:srgbClr val="FFFFFF"/>
          </a:solidFill>
          <a:ln w="12700">
            <a:solidFill>
              <a:srgbClr val="C9D3DA"/>
            </a:solidFill>
            <a:prstDash val="solid"/>
          </a:ln>
        </p:spPr>
      </p:sp>
      <p:sp>
        <p:nvSpPr>
          <p:cNvPr id="71" name="Text 69"/>
          <p:cNvSpPr/>
          <p:nvPr/>
        </p:nvSpPr>
        <p:spPr>
          <a:xfrm>
            <a:off x="9915754" y="48646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70 min</a:t>
            </a:r>
            <a:endParaRPr lang="en-US" sz="1200" dirty="0"/>
          </a:p>
        </p:txBody>
      </p:sp>
      <p:sp>
        <p:nvSpPr>
          <p:cNvPr id="72" name="Shape 70"/>
          <p:cNvSpPr/>
          <p:nvPr/>
        </p:nvSpPr>
        <p:spPr>
          <a:xfrm>
            <a:off x="548640" y="5321808"/>
            <a:ext cx="1217066" cy="457200"/>
          </a:xfrm>
          <a:prstGeom prst="roundRect">
            <a:avLst>
              <a:gd name="adj" fmla="val 4000"/>
            </a:avLst>
          </a:prstGeom>
          <a:solidFill>
            <a:srgbClr val="F2F5F7"/>
          </a:solidFill>
          <a:ln w="12700">
            <a:solidFill>
              <a:srgbClr val="C9D3DA"/>
            </a:solidFill>
            <a:prstDash val="solid"/>
          </a:ln>
        </p:spPr>
      </p:sp>
      <p:sp>
        <p:nvSpPr>
          <p:cNvPr id="73" name="Text 71"/>
          <p:cNvSpPr/>
          <p:nvPr/>
        </p:nvSpPr>
        <p:spPr>
          <a:xfrm>
            <a:off x="621792" y="5321808"/>
            <a:ext cx="1070762" cy="45720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3.5 h</a:t>
            </a:r>
            <a:endParaRPr lang="en-US" sz="1200" dirty="0"/>
          </a:p>
        </p:txBody>
      </p:sp>
      <p:sp>
        <p:nvSpPr>
          <p:cNvPr id="74" name="Shape 72"/>
          <p:cNvSpPr/>
          <p:nvPr/>
        </p:nvSpPr>
        <p:spPr>
          <a:xfrm>
            <a:off x="1765706" y="5321808"/>
            <a:ext cx="774497" cy="457200"/>
          </a:xfrm>
          <a:prstGeom prst="roundRect">
            <a:avLst>
              <a:gd name="adj" fmla="val 4000"/>
            </a:avLst>
          </a:prstGeom>
          <a:solidFill>
            <a:srgbClr val="F2F5F7"/>
          </a:solidFill>
          <a:ln w="12700">
            <a:solidFill>
              <a:srgbClr val="C9D3DA"/>
            </a:solidFill>
            <a:prstDash val="solid"/>
          </a:ln>
        </p:spPr>
      </p:sp>
      <p:sp>
        <p:nvSpPr>
          <p:cNvPr id="75" name="Text 73"/>
          <p:cNvSpPr/>
          <p:nvPr/>
        </p:nvSpPr>
        <p:spPr>
          <a:xfrm>
            <a:off x="1838858" y="5321808"/>
            <a:ext cx="628193" cy="45720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08</a:t>
            </a:r>
            <a:endParaRPr lang="en-US" sz="1200" dirty="0"/>
          </a:p>
        </p:txBody>
      </p:sp>
      <p:sp>
        <p:nvSpPr>
          <p:cNvPr id="76" name="Shape 74"/>
          <p:cNvSpPr/>
          <p:nvPr/>
        </p:nvSpPr>
        <p:spPr>
          <a:xfrm>
            <a:off x="2540203" y="5321808"/>
            <a:ext cx="7302398" cy="457200"/>
          </a:xfrm>
          <a:prstGeom prst="roundRect">
            <a:avLst>
              <a:gd name="adj" fmla="val 4000"/>
            </a:avLst>
          </a:prstGeom>
          <a:solidFill>
            <a:srgbClr val="F2F5F7"/>
          </a:solidFill>
          <a:ln w="12700">
            <a:solidFill>
              <a:srgbClr val="C9D3DA"/>
            </a:solidFill>
            <a:prstDash val="solid"/>
          </a:ln>
        </p:spPr>
      </p:sp>
      <p:sp>
        <p:nvSpPr>
          <p:cNvPr id="77" name="Text 75"/>
          <p:cNvSpPr/>
          <p:nvPr/>
        </p:nvSpPr>
        <p:spPr>
          <a:xfrm>
            <a:off x="2613355" y="5321808"/>
            <a:ext cx="7156094" cy="45720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Womb, udder, feet — and close</a:t>
            </a:r>
            <a:endParaRPr lang="en-US" sz="1200" dirty="0"/>
          </a:p>
        </p:txBody>
      </p:sp>
      <p:sp>
        <p:nvSpPr>
          <p:cNvPr id="78" name="Shape 76"/>
          <p:cNvSpPr/>
          <p:nvPr/>
        </p:nvSpPr>
        <p:spPr>
          <a:xfrm>
            <a:off x="9842602" y="5321808"/>
            <a:ext cx="1770278" cy="457200"/>
          </a:xfrm>
          <a:prstGeom prst="roundRect">
            <a:avLst>
              <a:gd name="adj" fmla="val 4000"/>
            </a:avLst>
          </a:prstGeom>
          <a:solidFill>
            <a:srgbClr val="F2F5F7"/>
          </a:solidFill>
          <a:ln w="12700">
            <a:solidFill>
              <a:srgbClr val="C9D3DA"/>
            </a:solidFill>
            <a:prstDash val="solid"/>
          </a:ln>
        </p:spPr>
      </p:sp>
      <p:sp>
        <p:nvSpPr>
          <p:cNvPr id="79" name="Text 77"/>
          <p:cNvSpPr/>
          <p:nvPr/>
        </p:nvSpPr>
        <p:spPr>
          <a:xfrm>
            <a:off x="9915754" y="5321808"/>
            <a:ext cx="1623974" cy="45720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70 min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01</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What you receive, and why it beats AI</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35 minutes</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300" b="1" dirty="0">
                <a:solidFill>
                  <a:srgbClr val="0E2841"/>
                </a:solidFill>
                <a:latin typeface="Malgun Gothic" pitchFamily="34" charset="0"/>
                <a:ea typeface="Malgun Gothic" pitchFamily="34" charset="-122"/>
                <a:cs typeface="Malgun Gothic" pitchFamily="34" charset="-120"/>
              </a:rPr>
              <a:t>AI changes half the calf. An embryo changes the whole calf.</a:t>
            </a:r>
            <a:endParaRPr lang="en-US" sz="2300" dirty="0"/>
          </a:p>
        </p:txBody>
      </p:sp>
      <p:sp>
        <p:nvSpPr>
          <p:cNvPr id="3" name="Shape 1"/>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4" name="Text 2"/>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With AI the mother is the cow you already have. With an embryo you choose both parents.</a:t>
            </a:r>
            <a:endParaRPr lang="en-US" sz="1400" dirty="0"/>
          </a:p>
        </p:txBody>
      </p:sp>
      <p:sp>
        <p:nvSpPr>
          <p:cNvPr id="5" name="Text 3"/>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6" name="Text 4"/>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a:t>
            </a:r>
            <a:endParaRPr lang="en-US" sz="900" dirty="0"/>
          </a:p>
        </p:txBody>
      </p:sp>
      <p:sp>
        <p:nvSpPr>
          <p:cNvPr id="7" name="Shape 5"/>
          <p:cNvSpPr/>
          <p:nvPr/>
        </p:nvSpPr>
        <p:spPr>
          <a:xfrm>
            <a:off x="914400" y="1709928"/>
            <a:ext cx="4937760" cy="1417320"/>
          </a:xfrm>
          <a:prstGeom prst="roundRect">
            <a:avLst>
              <a:gd name="adj" fmla="val 5161"/>
            </a:avLst>
          </a:prstGeom>
          <a:solidFill>
            <a:srgbClr val="F2F5F7"/>
          </a:solidFill>
          <a:ln w="12700">
            <a:solidFill>
              <a:srgbClr val="C9D3DA"/>
            </a:solidFill>
            <a:prstDash val="solid"/>
          </a:ln>
        </p:spPr>
      </p:sp>
      <p:sp>
        <p:nvSpPr>
          <p:cNvPr id="8" name="Text 6"/>
          <p:cNvSpPr/>
          <p:nvPr/>
        </p:nvSpPr>
        <p:spPr>
          <a:xfrm>
            <a:off x="914400" y="1801368"/>
            <a:ext cx="4937760" cy="384048"/>
          </a:xfrm>
          <a:prstGeom prst="rect">
            <a:avLst/>
          </a:prstGeom>
          <a:noFill/>
          <a:ln/>
        </p:spPr>
        <p:txBody>
          <a:bodyPr wrap="square" lIns="0" tIns="0" rIns="0" bIns="0" rtlCol="0" anchor="ctr"/>
          <a:lstStyle/>
          <a:p>
            <a:pPr algn="ctr" indent="0" marL="0">
              <a:buNone/>
            </a:pPr>
            <a:r>
              <a:rPr lang="en-US" sz="1800" b="1" dirty="0">
                <a:solidFill>
                  <a:srgbClr val="6B7280"/>
                </a:solidFill>
                <a:latin typeface="Malgun Gothic" pitchFamily="34" charset="0"/>
                <a:ea typeface="Malgun Gothic" pitchFamily="34" charset="-122"/>
                <a:cs typeface="Malgun Gothic" pitchFamily="34" charset="-120"/>
              </a:rPr>
              <a:t>AI</a:t>
            </a:r>
            <a:endParaRPr lang="en-US" sz="1800" dirty="0"/>
          </a:p>
        </p:txBody>
      </p:sp>
      <p:sp>
        <p:nvSpPr>
          <p:cNvPr id="9" name="Text 7"/>
          <p:cNvSpPr/>
          <p:nvPr/>
        </p:nvSpPr>
        <p:spPr>
          <a:xfrm>
            <a:off x="914400" y="2258568"/>
            <a:ext cx="4937760" cy="457200"/>
          </a:xfrm>
          <a:prstGeom prst="rect">
            <a:avLst/>
          </a:prstGeom>
          <a:noFill/>
          <a:ln/>
        </p:spPr>
        <p:txBody>
          <a:bodyPr wrap="square" lIns="0" tIns="0" rIns="0" bIns="0" rtlCol="0" anchor="ctr"/>
          <a:lstStyle/>
          <a:p>
            <a:pPr algn="ctr" indent="0" marL="0">
              <a:buNone/>
            </a:pPr>
            <a:r>
              <a:rPr lang="en-US" sz="1500" b="1" dirty="0">
                <a:solidFill>
                  <a:srgbClr val="0E2841"/>
                </a:solidFill>
                <a:latin typeface="Malgun Gothic" pitchFamily="34" charset="0"/>
                <a:ea typeface="Malgun Gothic" pitchFamily="34" charset="-122"/>
                <a:cs typeface="Malgun Gothic" pitchFamily="34" charset="-120"/>
              </a:rPr>
              <a:t>good bull  +  YOUR cow   →   half-good calf</a:t>
            </a:r>
            <a:endParaRPr lang="en-US" sz="1500" dirty="0"/>
          </a:p>
        </p:txBody>
      </p:sp>
      <p:sp>
        <p:nvSpPr>
          <p:cNvPr id="10" name="Text 8"/>
          <p:cNvSpPr/>
          <p:nvPr/>
        </p:nvSpPr>
        <p:spPr>
          <a:xfrm>
            <a:off x="914400" y="2715768"/>
            <a:ext cx="4937760" cy="310896"/>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You control the father only</a:t>
            </a:r>
            <a:endParaRPr lang="en-US" sz="1200" dirty="0"/>
          </a:p>
        </p:txBody>
      </p:sp>
      <p:sp>
        <p:nvSpPr>
          <p:cNvPr id="11" name="Shape 9"/>
          <p:cNvSpPr/>
          <p:nvPr/>
        </p:nvSpPr>
        <p:spPr>
          <a:xfrm>
            <a:off x="6309360" y="1709928"/>
            <a:ext cx="4937760" cy="1417320"/>
          </a:xfrm>
          <a:prstGeom prst="roundRect">
            <a:avLst>
              <a:gd name="adj" fmla="val 5161"/>
            </a:avLst>
          </a:prstGeom>
          <a:solidFill>
            <a:srgbClr val="E3ECF1"/>
          </a:solidFill>
          <a:ln w="12700">
            <a:solidFill>
              <a:srgbClr val="156082"/>
            </a:solidFill>
            <a:prstDash val="solid"/>
          </a:ln>
        </p:spPr>
      </p:sp>
      <p:sp>
        <p:nvSpPr>
          <p:cNvPr id="12" name="Text 10"/>
          <p:cNvSpPr/>
          <p:nvPr/>
        </p:nvSpPr>
        <p:spPr>
          <a:xfrm>
            <a:off x="6309360" y="1801368"/>
            <a:ext cx="4937760" cy="384048"/>
          </a:xfrm>
          <a:prstGeom prst="rect">
            <a:avLst/>
          </a:prstGeom>
          <a:noFill/>
          <a:ln/>
        </p:spPr>
        <p:txBody>
          <a:bodyPr wrap="square" lIns="0" tIns="0" rIns="0" bIns="0" rtlCol="0" anchor="ctr"/>
          <a:lstStyle/>
          <a:p>
            <a:pPr algn="ctr" indent="0" marL="0">
              <a:buNone/>
            </a:pPr>
            <a:r>
              <a:rPr lang="en-US" sz="1800" b="1" dirty="0">
                <a:solidFill>
                  <a:srgbClr val="156082"/>
                </a:solidFill>
                <a:latin typeface="Malgun Gothic" pitchFamily="34" charset="0"/>
                <a:ea typeface="Malgun Gothic" pitchFamily="34" charset="-122"/>
                <a:cs typeface="Malgun Gothic" pitchFamily="34" charset="-120"/>
              </a:rPr>
              <a:t>EMBRYO</a:t>
            </a:r>
            <a:endParaRPr lang="en-US" sz="1800" dirty="0"/>
          </a:p>
        </p:txBody>
      </p:sp>
      <p:sp>
        <p:nvSpPr>
          <p:cNvPr id="13" name="Text 11"/>
          <p:cNvSpPr/>
          <p:nvPr/>
        </p:nvSpPr>
        <p:spPr>
          <a:xfrm>
            <a:off x="6309360" y="2258568"/>
            <a:ext cx="4937760" cy="457200"/>
          </a:xfrm>
          <a:prstGeom prst="rect">
            <a:avLst/>
          </a:prstGeom>
          <a:noFill/>
          <a:ln/>
        </p:spPr>
        <p:txBody>
          <a:bodyPr wrap="square" lIns="0" tIns="0" rIns="0" bIns="0" rtlCol="0" anchor="ctr"/>
          <a:lstStyle/>
          <a:p>
            <a:pPr algn="ctr" indent="0" marL="0">
              <a:buNone/>
            </a:pPr>
            <a:r>
              <a:rPr lang="en-US" sz="1500" b="1" dirty="0">
                <a:solidFill>
                  <a:srgbClr val="0E2841"/>
                </a:solidFill>
                <a:latin typeface="Malgun Gothic" pitchFamily="34" charset="0"/>
                <a:ea typeface="Malgun Gothic" pitchFamily="34" charset="-122"/>
                <a:cs typeface="Malgun Gothic" pitchFamily="34" charset="-120"/>
              </a:rPr>
              <a:t>good bull  +  good cow   →   good calf</a:t>
            </a:r>
            <a:endParaRPr lang="en-US" sz="1500" dirty="0"/>
          </a:p>
        </p:txBody>
      </p:sp>
      <p:sp>
        <p:nvSpPr>
          <p:cNvPr id="14" name="Text 12"/>
          <p:cNvSpPr/>
          <p:nvPr/>
        </p:nvSpPr>
        <p:spPr>
          <a:xfrm>
            <a:off x="6309360" y="2715768"/>
            <a:ext cx="4937760" cy="310896"/>
          </a:xfrm>
          <a:prstGeom prst="rect">
            <a:avLst/>
          </a:prstGeom>
          <a:noFill/>
          <a:ln/>
        </p:spPr>
        <p:txBody>
          <a:bodyPr wrap="square" lIns="0" tIns="0" rIns="0" bIns="0" rtlCol="0" anchor="ctr"/>
          <a:lstStyle/>
          <a:p>
            <a:pPr algn="ctr" indent="0" marL="0">
              <a:buNone/>
            </a:pPr>
            <a:r>
              <a:rPr lang="en-US" sz="1200" dirty="0">
                <a:solidFill>
                  <a:srgbClr val="156082"/>
                </a:solidFill>
                <a:latin typeface="Malgun Gothic" pitchFamily="34" charset="0"/>
                <a:ea typeface="Malgun Gothic" pitchFamily="34" charset="-122"/>
                <a:cs typeface="Malgun Gothic" pitchFamily="34" charset="-120"/>
              </a:rPr>
              <a:t>carried by YOUR cow — she is the house, not the parent</a:t>
            </a:r>
            <a:endParaRPr lang="en-US" sz="1200" dirty="0"/>
          </a:p>
        </p:txBody>
      </p:sp>
      <p:sp>
        <p:nvSpPr>
          <p:cNvPr id="15" name="Shape 13"/>
          <p:cNvSpPr/>
          <p:nvPr/>
        </p:nvSpPr>
        <p:spPr>
          <a:xfrm>
            <a:off x="548640" y="3493008"/>
            <a:ext cx="3517392" cy="1325880"/>
          </a:xfrm>
          <a:prstGeom prst="roundRect">
            <a:avLst>
              <a:gd name="adj" fmla="val 4828"/>
            </a:avLst>
          </a:prstGeom>
          <a:solidFill>
            <a:srgbClr val="F2F5F7"/>
          </a:solidFill>
          <a:ln w="12700">
            <a:solidFill>
              <a:srgbClr val="C9D3DA"/>
            </a:solidFill>
            <a:prstDash val="solid"/>
          </a:ln>
        </p:spPr>
      </p:sp>
      <p:sp>
        <p:nvSpPr>
          <p:cNvPr id="16" name="Text 14"/>
          <p:cNvSpPr/>
          <p:nvPr/>
        </p:nvSpPr>
        <p:spPr>
          <a:xfrm>
            <a:off x="548640" y="3602736"/>
            <a:ext cx="3517392" cy="636422"/>
          </a:xfrm>
          <a:prstGeom prst="rect">
            <a:avLst/>
          </a:prstGeom>
          <a:noFill/>
          <a:ln/>
        </p:spPr>
        <p:txBody>
          <a:bodyPr wrap="square" lIns="0" tIns="0" rIns="0" bIns="0" rtlCol="0" anchor="ctr"/>
          <a:lstStyle/>
          <a:p>
            <a:pPr algn="ctr" indent="0" marL="0">
              <a:buNone/>
            </a:pPr>
            <a:r>
              <a:rPr lang="en-US" sz="3400" b="1" dirty="0">
                <a:solidFill>
                  <a:srgbClr val="6B7280"/>
                </a:solidFill>
                <a:latin typeface="Malgun Gothic" pitchFamily="34" charset="0"/>
                <a:ea typeface="Malgun Gothic" pitchFamily="34" charset="-122"/>
                <a:cs typeface="Malgun Gothic" pitchFamily="34" charset="-120"/>
              </a:rPr>
              <a:t>1</a:t>
            </a:r>
            <a:endParaRPr lang="en-US" sz="3400" dirty="0"/>
          </a:p>
        </p:txBody>
      </p:sp>
      <p:sp>
        <p:nvSpPr>
          <p:cNvPr id="17" name="Text 15"/>
          <p:cNvSpPr/>
          <p:nvPr/>
        </p:nvSpPr>
        <p:spPr>
          <a:xfrm>
            <a:off x="640080" y="4262018"/>
            <a:ext cx="3334512" cy="477317"/>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calf per year from one good cow, by AI</a:t>
            </a:r>
            <a:endParaRPr lang="en-US" sz="1100" dirty="0"/>
          </a:p>
        </p:txBody>
      </p:sp>
      <p:sp>
        <p:nvSpPr>
          <p:cNvPr id="18" name="Shape 16"/>
          <p:cNvSpPr/>
          <p:nvPr/>
        </p:nvSpPr>
        <p:spPr>
          <a:xfrm>
            <a:off x="4322064" y="3493008"/>
            <a:ext cx="3517392" cy="1325880"/>
          </a:xfrm>
          <a:prstGeom prst="roundRect">
            <a:avLst>
              <a:gd name="adj" fmla="val 4828"/>
            </a:avLst>
          </a:prstGeom>
          <a:solidFill>
            <a:srgbClr val="F2F5F7"/>
          </a:solidFill>
          <a:ln w="12700">
            <a:solidFill>
              <a:srgbClr val="C9D3DA"/>
            </a:solidFill>
            <a:prstDash val="solid"/>
          </a:ln>
        </p:spPr>
      </p:sp>
      <p:sp>
        <p:nvSpPr>
          <p:cNvPr id="19" name="Text 17"/>
          <p:cNvSpPr/>
          <p:nvPr/>
        </p:nvSpPr>
        <p:spPr>
          <a:xfrm>
            <a:off x="4322064" y="3602736"/>
            <a:ext cx="3517392" cy="636422"/>
          </a:xfrm>
          <a:prstGeom prst="rect">
            <a:avLst/>
          </a:prstGeom>
          <a:noFill/>
          <a:ln/>
        </p:spPr>
        <p:txBody>
          <a:bodyPr wrap="square" lIns="0" tIns="0" rIns="0" bIns="0" rtlCol="0" anchor="ctr"/>
          <a:lstStyle/>
          <a:p>
            <a:pPr algn="ctr" indent="0" marL="0">
              <a:buNone/>
            </a:pPr>
            <a:r>
              <a:rPr lang="en-US" sz="3400" b="1" dirty="0">
                <a:solidFill>
                  <a:srgbClr val="156082"/>
                </a:solidFill>
                <a:latin typeface="Malgun Gothic" pitchFamily="34" charset="0"/>
                <a:ea typeface="Malgun Gothic" pitchFamily="34" charset="-122"/>
                <a:cs typeface="Malgun Gothic" pitchFamily="34" charset="-120"/>
              </a:rPr>
              <a:t>10+</a:t>
            </a:r>
            <a:endParaRPr lang="en-US" sz="3400" dirty="0"/>
          </a:p>
        </p:txBody>
      </p:sp>
      <p:sp>
        <p:nvSpPr>
          <p:cNvPr id="20" name="Text 18"/>
          <p:cNvSpPr/>
          <p:nvPr/>
        </p:nvSpPr>
        <p:spPr>
          <a:xfrm>
            <a:off x="4413504" y="4262018"/>
            <a:ext cx="3334512" cy="477317"/>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calves per year from one good cow, by embryo</a:t>
            </a:r>
            <a:endParaRPr lang="en-US" sz="1100" dirty="0"/>
          </a:p>
        </p:txBody>
      </p:sp>
      <p:sp>
        <p:nvSpPr>
          <p:cNvPr id="21" name="Shape 19"/>
          <p:cNvSpPr/>
          <p:nvPr/>
        </p:nvSpPr>
        <p:spPr>
          <a:xfrm>
            <a:off x="8095488" y="3493008"/>
            <a:ext cx="3517392" cy="1325880"/>
          </a:xfrm>
          <a:prstGeom prst="roundRect">
            <a:avLst>
              <a:gd name="adj" fmla="val 4828"/>
            </a:avLst>
          </a:prstGeom>
          <a:solidFill>
            <a:srgbClr val="F2F5F7"/>
          </a:solidFill>
          <a:ln w="12700">
            <a:solidFill>
              <a:srgbClr val="C9D3DA"/>
            </a:solidFill>
            <a:prstDash val="solid"/>
          </a:ln>
        </p:spPr>
      </p:sp>
      <p:sp>
        <p:nvSpPr>
          <p:cNvPr id="22" name="Text 20"/>
          <p:cNvSpPr/>
          <p:nvPr/>
        </p:nvSpPr>
        <p:spPr>
          <a:xfrm>
            <a:off x="8095488" y="3602736"/>
            <a:ext cx="3517392" cy="636422"/>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~90%</a:t>
            </a:r>
            <a:endParaRPr lang="en-US" sz="3000" dirty="0"/>
          </a:p>
        </p:txBody>
      </p:sp>
      <p:sp>
        <p:nvSpPr>
          <p:cNvPr id="23" name="Text 21"/>
          <p:cNvSpPr/>
          <p:nvPr/>
        </p:nvSpPr>
        <p:spPr>
          <a:xfrm>
            <a:off x="8186928" y="4262018"/>
            <a:ext cx="3334512" cy="477317"/>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of those calves can be heifers (sexed)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Why frozen embryos, and not imported heifers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calf is born here and adapts from day one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Good semen is easy to buy. Good cows are not. That is the gap an embryo fills.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a:t>
            </a:r>
            <a:endParaRPr lang="en-US" sz="900" dirty="0"/>
          </a:p>
        </p:txBody>
      </p:sp>
      <p:sp>
        <p:nvSpPr>
          <p:cNvPr id="8" name="Shape 6"/>
          <p:cNvSpPr/>
          <p:nvPr/>
        </p:nvSpPr>
        <p:spPr>
          <a:xfrm>
            <a:off x="548640" y="1709928"/>
            <a:ext cx="5394960" cy="2331720"/>
          </a:xfrm>
          <a:prstGeom prst="roundRect">
            <a:avLst>
              <a:gd name="adj" fmla="val 2745"/>
            </a:avLst>
          </a:prstGeom>
          <a:solidFill>
            <a:srgbClr val="FFFFFF"/>
          </a:solidFill>
          <a:ln w="12700">
            <a:solidFill>
              <a:srgbClr val="E97132"/>
            </a:solidFill>
            <a:prstDash val="solid"/>
          </a:ln>
        </p:spPr>
      </p:sp>
      <p:sp>
        <p:nvSpPr>
          <p:cNvPr id="9" name="Shape 7"/>
          <p:cNvSpPr/>
          <p:nvPr/>
        </p:nvSpPr>
        <p:spPr>
          <a:xfrm>
            <a:off x="548640" y="1709928"/>
            <a:ext cx="5394960" cy="402336"/>
          </a:xfrm>
          <a:prstGeom prst="roundRect">
            <a:avLst>
              <a:gd name="adj" fmla="val 15909"/>
            </a:avLst>
          </a:prstGeom>
          <a:solidFill>
            <a:srgbClr val="E97132"/>
          </a:solidFill>
          <a:ln w="12700">
            <a:solidFill>
              <a:srgbClr val="E97132"/>
            </a:solidFill>
            <a:prstDash val="solid"/>
          </a:ln>
        </p:spPr>
      </p:sp>
      <p:sp>
        <p:nvSpPr>
          <p:cNvPr id="10" name="Text 8"/>
          <p:cNvSpPr/>
          <p:nvPr/>
        </p:nvSpPr>
        <p:spPr>
          <a:xfrm>
            <a:off x="548640" y="170992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IMPORT LIVE HEIFERS</a:t>
            </a:r>
            <a:endParaRPr lang="en-US" sz="1300" dirty="0"/>
          </a:p>
        </p:txBody>
      </p:sp>
      <p:sp>
        <p:nvSpPr>
          <p:cNvPr id="11" name="Text 9"/>
          <p:cNvSpPr/>
          <p:nvPr/>
        </p:nvSpPr>
        <p:spPr>
          <a:xfrm>
            <a:off x="694944" y="2221992"/>
            <a:ext cx="5102352" cy="1691640"/>
          </a:xfrm>
          <a:prstGeom prst="rect">
            <a:avLst/>
          </a:prstGeom>
          <a:noFill/>
          <a:ln/>
        </p:spPr>
        <p:txBody>
          <a:bodyPr wrap="square" lIns="0" tIns="0" rIns="0" bIns="0" rtlCol="0" anchor="t"/>
          <a:lstStyle/>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High cost per animal</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Losses and stress in transport</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Arrives as an adult from a cold country</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Adapts badly to your heat</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Quarantine for live animals</a:t>
            </a:r>
            <a:endParaRPr lang="en-US" sz="1200" dirty="0"/>
          </a:p>
        </p:txBody>
      </p:sp>
      <p:sp>
        <p:nvSpPr>
          <p:cNvPr id="12" name="Shape 10"/>
          <p:cNvSpPr/>
          <p:nvPr/>
        </p:nvSpPr>
        <p:spPr>
          <a:xfrm>
            <a:off x="6217920" y="1709928"/>
            <a:ext cx="5394960" cy="2331720"/>
          </a:xfrm>
          <a:prstGeom prst="roundRect">
            <a:avLst>
              <a:gd name="adj" fmla="val 2745"/>
            </a:avLst>
          </a:prstGeom>
          <a:solidFill>
            <a:srgbClr val="FFFFFF"/>
          </a:solidFill>
          <a:ln w="12700">
            <a:solidFill>
              <a:srgbClr val="196B24"/>
            </a:solidFill>
            <a:prstDash val="solid"/>
          </a:ln>
        </p:spPr>
      </p:sp>
      <p:sp>
        <p:nvSpPr>
          <p:cNvPr id="13" name="Shape 11"/>
          <p:cNvSpPr/>
          <p:nvPr/>
        </p:nvSpPr>
        <p:spPr>
          <a:xfrm>
            <a:off x="6217920" y="1709928"/>
            <a:ext cx="5394960" cy="402336"/>
          </a:xfrm>
          <a:prstGeom prst="roundRect">
            <a:avLst>
              <a:gd name="adj" fmla="val 15909"/>
            </a:avLst>
          </a:prstGeom>
          <a:solidFill>
            <a:srgbClr val="196B24"/>
          </a:solidFill>
          <a:ln w="12700">
            <a:solidFill>
              <a:srgbClr val="196B24"/>
            </a:solidFill>
            <a:prstDash val="solid"/>
          </a:ln>
        </p:spPr>
      </p:sp>
      <p:sp>
        <p:nvSpPr>
          <p:cNvPr id="14" name="Text 12"/>
          <p:cNvSpPr/>
          <p:nvPr/>
        </p:nvSpPr>
        <p:spPr>
          <a:xfrm>
            <a:off x="6217920" y="170992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IMPORT FROZEN EMBRYOS</a:t>
            </a:r>
            <a:endParaRPr lang="en-US" sz="1300" dirty="0"/>
          </a:p>
        </p:txBody>
      </p:sp>
      <p:sp>
        <p:nvSpPr>
          <p:cNvPr id="15" name="Text 13"/>
          <p:cNvSpPr/>
          <p:nvPr/>
        </p:nvSpPr>
        <p:spPr>
          <a:xfrm>
            <a:off x="6364224" y="2221992"/>
            <a:ext cx="5102352" cy="1691640"/>
          </a:xfrm>
          <a:prstGeom prst="rect">
            <a:avLst/>
          </a:prstGeom>
          <a:noFill/>
          <a:ln/>
        </p:spPr>
        <p:txBody>
          <a:bodyPr wrap="square" lIns="0" tIns="0" rIns="0" bIns="0" rtlCol="0" anchor="t"/>
          <a:lstStyle/>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Low cost per genetic unit</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Only a small straw travels</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Calf is BORN here</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Adapts while growing, from day one</a:t>
            </a:r>
            <a:endParaRPr lang="en-US" sz="1200" dirty="0"/>
          </a:p>
          <a:p>
            <a:pPr indent="0" marL="0">
              <a:lnSpc>
                <a:spcPct val="118000"/>
              </a:lnSpc>
              <a:buNone/>
            </a:pPr>
            <a:r>
              <a:rPr lang="en-US" sz="1200" dirty="0">
                <a:solidFill>
                  <a:srgbClr val="0E2841"/>
                </a:solidFill>
                <a:latin typeface="Malgun Gothic" pitchFamily="34" charset="0"/>
                <a:ea typeface="Malgun Gothic" pitchFamily="34" charset="-122"/>
                <a:cs typeface="Malgun Gothic" pitchFamily="34" charset="-120"/>
              </a:rPr>
              <a:t>•  The carrying cow is one you already own</a:t>
            </a:r>
            <a:endParaRPr lang="en-US" sz="1200" dirty="0"/>
          </a:p>
        </p:txBody>
      </p:sp>
      <p:sp>
        <p:nvSpPr>
          <p:cNvPr id="16" name="Shape 14"/>
          <p:cNvSpPr/>
          <p:nvPr/>
        </p:nvSpPr>
        <p:spPr>
          <a:xfrm>
            <a:off x="548640" y="4224528"/>
            <a:ext cx="11064240" cy="1005840"/>
          </a:xfrm>
          <a:prstGeom prst="roundRect">
            <a:avLst>
              <a:gd name="adj" fmla="val 7273"/>
            </a:avLst>
          </a:prstGeom>
          <a:solidFill>
            <a:srgbClr val="0E2841"/>
          </a:solidFill>
          <a:ln w="12700">
            <a:solidFill>
              <a:srgbClr val="0E2841"/>
            </a:solidFill>
            <a:prstDash val="solid"/>
          </a:ln>
        </p:spPr>
      </p:sp>
      <p:sp>
        <p:nvSpPr>
          <p:cNvPr id="17" name="Text 15"/>
          <p:cNvSpPr/>
          <p:nvPr/>
        </p:nvSpPr>
        <p:spPr>
          <a:xfrm>
            <a:off x="548640" y="4224528"/>
            <a:ext cx="1106424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Your lowest-value cow becomes the mother of your highest-value calf.</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only money number that matters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Cost of one pregnancy = what you spent ÷ how many got pregnant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The cheapest way to save money is a higher pregnancy rate — not a cheaper embryo.</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7</a:t>
            </a:r>
            <a:endParaRPr lang="en-US" sz="900" dirty="0"/>
          </a:p>
        </p:txBody>
      </p:sp>
      <p:sp>
        <p:nvSpPr>
          <p:cNvPr id="8" name="Shape 6"/>
          <p:cNvSpPr/>
          <p:nvPr/>
        </p:nvSpPr>
        <p:spPr>
          <a:xfrm>
            <a:off x="1828800" y="1984248"/>
            <a:ext cx="2040941" cy="566928"/>
          </a:xfrm>
          <a:prstGeom prst="roundRect">
            <a:avLst>
              <a:gd name="adj" fmla="val 4839"/>
            </a:avLst>
          </a:prstGeom>
          <a:solidFill>
            <a:srgbClr val="0E2841"/>
          </a:solidFill>
          <a:ln w="12700">
            <a:solidFill>
              <a:srgbClr val="0E2841"/>
            </a:solidFill>
            <a:prstDash val="solid"/>
          </a:ln>
        </p:spPr>
      </p:sp>
      <p:sp>
        <p:nvSpPr>
          <p:cNvPr id="9" name="Text 7"/>
          <p:cNvSpPr/>
          <p:nvPr/>
        </p:nvSpPr>
        <p:spPr>
          <a:xfrm>
            <a:off x="1901952" y="1984248"/>
            <a:ext cx="1894637"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Pregnancy rate</a:t>
            </a:r>
            <a:endParaRPr lang="en-US" sz="1200" dirty="0"/>
          </a:p>
        </p:txBody>
      </p:sp>
      <p:sp>
        <p:nvSpPr>
          <p:cNvPr id="10" name="Shape 8"/>
          <p:cNvSpPr/>
          <p:nvPr/>
        </p:nvSpPr>
        <p:spPr>
          <a:xfrm>
            <a:off x="3869741" y="1984248"/>
            <a:ext cx="2040941" cy="566928"/>
          </a:xfrm>
          <a:prstGeom prst="roundRect">
            <a:avLst>
              <a:gd name="adj" fmla="val 4839"/>
            </a:avLst>
          </a:prstGeom>
          <a:solidFill>
            <a:srgbClr val="0E2841"/>
          </a:solidFill>
          <a:ln w="12700">
            <a:solidFill>
              <a:srgbClr val="0E2841"/>
            </a:solidFill>
            <a:prstDash val="solid"/>
          </a:ln>
        </p:spPr>
      </p:sp>
      <p:sp>
        <p:nvSpPr>
          <p:cNvPr id="11" name="Text 9"/>
          <p:cNvSpPr/>
          <p:nvPr/>
        </p:nvSpPr>
        <p:spPr>
          <a:xfrm>
            <a:off x="3942893" y="1984248"/>
            <a:ext cx="1894637"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Cost per pregnancy</a:t>
            </a:r>
            <a:endParaRPr lang="en-US" sz="1200" dirty="0"/>
          </a:p>
        </p:txBody>
      </p:sp>
      <p:sp>
        <p:nvSpPr>
          <p:cNvPr id="12" name="Shape 10"/>
          <p:cNvSpPr/>
          <p:nvPr/>
        </p:nvSpPr>
        <p:spPr>
          <a:xfrm>
            <a:off x="5910682" y="1984248"/>
            <a:ext cx="4422038" cy="566928"/>
          </a:xfrm>
          <a:prstGeom prst="roundRect">
            <a:avLst>
              <a:gd name="adj" fmla="val 4839"/>
            </a:avLst>
          </a:prstGeom>
          <a:solidFill>
            <a:srgbClr val="0E2841"/>
          </a:solidFill>
          <a:ln w="12700">
            <a:solidFill>
              <a:srgbClr val="0E2841"/>
            </a:solidFill>
            <a:prstDash val="solid"/>
          </a:ln>
        </p:spPr>
      </p:sp>
      <p:sp>
        <p:nvSpPr>
          <p:cNvPr id="13" name="Text 11"/>
          <p:cNvSpPr/>
          <p:nvPr/>
        </p:nvSpPr>
        <p:spPr>
          <a:xfrm>
            <a:off x="5983834" y="1984248"/>
            <a:ext cx="4275734" cy="566928"/>
          </a:xfrm>
          <a:prstGeom prst="rect">
            <a:avLst/>
          </a:prstGeom>
          <a:noFill/>
          <a:ln/>
        </p:spPr>
        <p:txBody>
          <a:bodyPr wrap="square" lIns="0" tIns="0" rIns="0" bIns="0" rtlCol="0" anchor="ctr"/>
          <a:lstStyle/>
          <a:p>
            <a:pPr algn="l" indent="0" marL="0">
              <a:buNone/>
            </a:pPr>
            <a:endParaRPr lang="en-US" sz="1200" dirty="0"/>
          </a:p>
        </p:txBody>
      </p:sp>
      <p:sp>
        <p:nvSpPr>
          <p:cNvPr id="14" name="Shape 12"/>
          <p:cNvSpPr/>
          <p:nvPr/>
        </p:nvSpPr>
        <p:spPr>
          <a:xfrm>
            <a:off x="1828800" y="2551176"/>
            <a:ext cx="2040941" cy="566928"/>
          </a:xfrm>
          <a:prstGeom prst="roundRect">
            <a:avLst>
              <a:gd name="adj" fmla="val 3226"/>
            </a:avLst>
          </a:prstGeom>
          <a:solidFill>
            <a:srgbClr val="FFFFFF"/>
          </a:solidFill>
          <a:ln w="12700">
            <a:solidFill>
              <a:srgbClr val="C9D3DA"/>
            </a:solidFill>
            <a:prstDash val="solid"/>
          </a:ln>
        </p:spPr>
      </p:sp>
      <p:sp>
        <p:nvSpPr>
          <p:cNvPr id="15" name="Text 13"/>
          <p:cNvSpPr/>
          <p:nvPr/>
        </p:nvSpPr>
        <p:spPr>
          <a:xfrm>
            <a:off x="1901952" y="2551176"/>
            <a:ext cx="1894637" cy="566928"/>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4 of 10</a:t>
            </a:r>
            <a:endParaRPr lang="en-US" sz="1200" dirty="0"/>
          </a:p>
        </p:txBody>
      </p:sp>
      <p:sp>
        <p:nvSpPr>
          <p:cNvPr id="16" name="Shape 14"/>
          <p:cNvSpPr/>
          <p:nvPr/>
        </p:nvSpPr>
        <p:spPr>
          <a:xfrm>
            <a:off x="3869741" y="2551176"/>
            <a:ext cx="2040941" cy="566928"/>
          </a:xfrm>
          <a:prstGeom prst="roundRect">
            <a:avLst>
              <a:gd name="adj" fmla="val 3226"/>
            </a:avLst>
          </a:prstGeom>
          <a:solidFill>
            <a:srgbClr val="FFFFFF"/>
          </a:solidFill>
          <a:ln w="12700">
            <a:solidFill>
              <a:srgbClr val="C9D3DA"/>
            </a:solidFill>
            <a:prstDash val="solid"/>
          </a:ln>
        </p:spPr>
      </p:sp>
      <p:sp>
        <p:nvSpPr>
          <p:cNvPr id="17" name="Text 15"/>
          <p:cNvSpPr/>
          <p:nvPr/>
        </p:nvSpPr>
        <p:spPr>
          <a:xfrm>
            <a:off x="3942893" y="2551176"/>
            <a:ext cx="1894637" cy="566928"/>
          </a:xfrm>
          <a:prstGeom prst="rect">
            <a:avLst/>
          </a:prstGeom>
          <a:noFill/>
          <a:ln/>
        </p:spPr>
        <p:txBody>
          <a:bodyPr wrap="square" lIns="0" tIns="0" rIns="0" bIns="0" rtlCol="0" anchor="ctr"/>
          <a:lstStyle/>
          <a:p>
            <a:pPr algn="ctr" indent="0" marL="0">
              <a:buNone/>
            </a:pPr>
            <a:r>
              <a:rPr lang="en-US" sz="1600" b="1" dirty="0">
                <a:solidFill>
                  <a:srgbClr val="E97132"/>
                </a:solidFill>
                <a:latin typeface="Malgun Gothic" pitchFamily="34" charset="0"/>
                <a:ea typeface="Malgun Gothic" pitchFamily="34" charset="-122"/>
                <a:cs typeface="Malgun Gothic" pitchFamily="34" charset="-120"/>
              </a:rPr>
              <a:t>250</a:t>
            </a:r>
            <a:endParaRPr lang="en-US" sz="1600" dirty="0"/>
          </a:p>
        </p:txBody>
      </p:sp>
      <p:sp>
        <p:nvSpPr>
          <p:cNvPr id="18" name="Shape 16"/>
          <p:cNvSpPr/>
          <p:nvPr/>
        </p:nvSpPr>
        <p:spPr>
          <a:xfrm>
            <a:off x="5910682" y="2551176"/>
            <a:ext cx="4422038" cy="566928"/>
          </a:xfrm>
          <a:prstGeom prst="roundRect">
            <a:avLst>
              <a:gd name="adj" fmla="val 3226"/>
            </a:avLst>
          </a:prstGeom>
          <a:solidFill>
            <a:srgbClr val="FFFFFF"/>
          </a:solidFill>
          <a:ln w="12700">
            <a:solidFill>
              <a:srgbClr val="C9D3DA"/>
            </a:solidFill>
            <a:prstDash val="solid"/>
          </a:ln>
        </p:spPr>
      </p:sp>
      <p:sp>
        <p:nvSpPr>
          <p:cNvPr id="19" name="Text 17"/>
          <p:cNvSpPr/>
          <p:nvPr/>
        </p:nvSpPr>
        <p:spPr>
          <a:xfrm>
            <a:off x="5983834" y="2551176"/>
            <a:ext cx="4275734" cy="566928"/>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 you are paying for six failures</a:t>
            </a:r>
            <a:endParaRPr lang="en-US" sz="1200" dirty="0"/>
          </a:p>
        </p:txBody>
      </p:sp>
      <p:sp>
        <p:nvSpPr>
          <p:cNvPr id="20" name="Shape 18"/>
          <p:cNvSpPr/>
          <p:nvPr/>
        </p:nvSpPr>
        <p:spPr>
          <a:xfrm>
            <a:off x="1828800" y="3118104"/>
            <a:ext cx="2040941" cy="566928"/>
          </a:xfrm>
          <a:prstGeom prst="roundRect">
            <a:avLst>
              <a:gd name="adj" fmla="val 3226"/>
            </a:avLst>
          </a:prstGeom>
          <a:solidFill>
            <a:srgbClr val="F2F5F7"/>
          </a:solidFill>
          <a:ln w="12700">
            <a:solidFill>
              <a:srgbClr val="C9D3DA"/>
            </a:solidFill>
            <a:prstDash val="solid"/>
          </a:ln>
        </p:spPr>
      </p:sp>
      <p:sp>
        <p:nvSpPr>
          <p:cNvPr id="21" name="Text 19"/>
          <p:cNvSpPr/>
          <p:nvPr/>
        </p:nvSpPr>
        <p:spPr>
          <a:xfrm>
            <a:off x="1901952" y="3118104"/>
            <a:ext cx="1894637" cy="566928"/>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5 of 10</a:t>
            </a:r>
            <a:endParaRPr lang="en-US" sz="1200" dirty="0"/>
          </a:p>
        </p:txBody>
      </p:sp>
      <p:sp>
        <p:nvSpPr>
          <p:cNvPr id="22" name="Shape 20"/>
          <p:cNvSpPr/>
          <p:nvPr/>
        </p:nvSpPr>
        <p:spPr>
          <a:xfrm>
            <a:off x="3869741" y="3118104"/>
            <a:ext cx="2040941" cy="566928"/>
          </a:xfrm>
          <a:prstGeom prst="roundRect">
            <a:avLst>
              <a:gd name="adj" fmla="val 3226"/>
            </a:avLst>
          </a:prstGeom>
          <a:solidFill>
            <a:srgbClr val="F2F5F7"/>
          </a:solidFill>
          <a:ln w="12700">
            <a:solidFill>
              <a:srgbClr val="C9D3DA"/>
            </a:solidFill>
            <a:prstDash val="solid"/>
          </a:ln>
        </p:spPr>
      </p:sp>
      <p:sp>
        <p:nvSpPr>
          <p:cNvPr id="23" name="Text 21"/>
          <p:cNvSpPr/>
          <p:nvPr/>
        </p:nvSpPr>
        <p:spPr>
          <a:xfrm>
            <a:off x="3942893" y="3118104"/>
            <a:ext cx="1894637" cy="566928"/>
          </a:xfrm>
          <a:prstGeom prst="rect">
            <a:avLst/>
          </a:prstGeom>
          <a:noFill/>
          <a:ln/>
        </p:spPr>
        <p:txBody>
          <a:bodyPr wrap="square" lIns="0" tIns="0" rIns="0" bIns="0" rtlCol="0" anchor="ctr"/>
          <a:lstStyle/>
          <a:p>
            <a:pPr algn="ctr" indent="0" marL="0">
              <a:buNone/>
            </a:pPr>
            <a:r>
              <a:rPr lang="en-US" sz="1600" b="1" dirty="0">
                <a:solidFill>
                  <a:srgbClr val="E97132"/>
                </a:solidFill>
                <a:latin typeface="Malgun Gothic" pitchFamily="34" charset="0"/>
                <a:ea typeface="Malgun Gothic" pitchFamily="34" charset="-122"/>
                <a:cs typeface="Malgun Gothic" pitchFamily="34" charset="-120"/>
              </a:rPr>
              <a:t>200</a:t>
            </a:r>
            <a:endParaRPr lang="en-US" sz="1600" dirty="0"/>
          </a:p>
        </p:txBody>
      </p:sp>
      <p:sp>
        <p:nvSpPr>
          <p:cNvPr id="24" name="Shape 22"/>
          <p:cNvSpPr/>
          <p:nvPr/>
        </p:nvSpPr>
        <p:spPr>
          <a:xfrm>
            <a:off x="5910682" y="3118104"/>
            <a:ext cx="4422038" cy="566928"/>
          </a:xfrm>
          <a:prstGeom prst="roundRect">
            <a:avLst>
              <a:gd name="adj" fmla="val 3226"/>
            </a:avLst>
          </a:prstGeom>
          <a:solidFill>
            <a:srgbClr val="F2F5F7"/>
          </a:solidFill>
          <a:ln w="12700">
            <a:solidFill>
              <a:srgbClr val="C9D3DA"/>
            </a:solidFill>
            <a:prstDash val="solid"/>
          </a:ln>
        </p:spPr>
      </p:sp>
      <p:sp>
        <p:nvSpPr>
          <p:cNvPr id="25" name="Text 23"/>
          <p:cNvSpPr/>
          <p:nvPr/>
        </p:nvSpPr>
        <p:spPr>
          <a:xfrm>
            <a:off x="5983834" y="3118104"/>
            <a:ext cx="4275734" cy="566928"/>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 the usual starting point</a:t>
            </a:r>
            <a:endParaRPr lang="en-US" sz="1200" dirty="0"/>
          </a:p>
        </p:txBody>
      </p:sp>
      <p:sp>
        <p:nvSpPr>
          <p:cNvPr id="26" name="Shape 24"/>
          <p:cNvSpPr/>
          <p:nvPr/>
        </p:nvSpPr>
        <p:spPr>
          <a:xfrm>
            <a:off x="1828800" y="3685032"/>
            <a:ext cx="2040941" cy="566928"/>
          </a:xfrm>
          <a:prstGeom prst="roundRect">
            <a:avLst>
              <a:gd name="adj" fmla="val 3226"/>
            </a:avLst>
          </a:prstGeom>
          <a:solidFill>
            <a:srgbClr val="FFFFFF"/>
          </a:solidFill>
          <a:ln w="12700">
            <a:solidFill>
              <a:srgbClr val="C9D3DA"/>
            </a:solidFill>
            <a:prstDash val="solid"/>
          </a:ln>
        </p:spPr>
      </p:sp>
      <p:sp>
        <p:nvSpPr>
          <p:cNvPr id="27" name="Text 25"/>
          <p:cNvSpPr/>
          <p:nvPr/>
        </p:nvSpPr>
        <p:spPr>
          <a:xfrm>
            <a:off x="1901952" y="3685032"/>
            <a:ext cx="1894637" cy="566928"/>
          </a:xfrm>
          <a:prstGeom prst="rect">
            <a:avLst/>
          </a:prstGeom>
          <a:noFill/>
          <a:ln/>
        </p:spPr>
        <p:txBody>
          <a:bodyPr wrap="square" lIns="0" tIns="0" rIns="0" bIns="0" rtlCol="0" anchor="ctr"/>
          <a:lstStyle/>
          <a:p>
            <a:pPr algn="ctr" indent="0" marL="0">
              <a:buNone/>
            </a:pPr>
            <a:r>
              <a:rPr lang="en-US" sz="1200" b="1" dirty="0">
                <a:solidFill>
                  <a:srgbClr val="196B24"/>
                </a:solidFill>
                <a:latin typeface="Malgun Gothic" pitchFamily="34" charset="0"/>
                <a:ea typeface="Malgun Gothic" pitchFamily="34" charset="-122"/>
                <a:cs typeface="Malgun Gothic" pitchFamily="34" charset="-120"/>
              </a:rPr>
              <a:t>6 of 10</a:t>
            </a:r>
            <a:endParaRPr lang="en-US" sz="1200" dirty="0"/>
          </a:p>
        </p:txBody>
      </p:sp>
      <p:sp>
        <p:nvSpPr>
          <p:cNvPr id="28" name="Shape 26"/>
          <p:cNvSpPr/>
          <p:nvPr/>
        </p:nvSpPr>
        <p:spPr>
          <a:xfrm>
            <a:off x="3869741" y="3685032"/>
            <a:ext cx="2040941" cy="566928"/>
          </a:xfrm>
          <a:prstGeom prst="roundRect">
            <a:avLst>
              <a:gd name="adj" fmla="val 3226"/>
            </a:avLst>
          </a:prstGeom>
          <a:solidFill>
            <a:srgbClr val="FFFFFF"/>
          </a:solidFill>
          <a:ln w="12700">
            <a:solidFill>
              <a:srgbClr val="C9D3DA"/>
            </a:solidFill>
            <a:prstDash val="solid"/>
          </a:ln>
        </p:spPr>
      </p:sp>
      <p:sp>
        <p:nvSpPr>
          <p:cNvPr id="29" name="Text 27"/>
          <p:cNvSpPr/>
          <p:nvPr/>
        </p:nvSpPr>
        <p:spPr>
          <a:xfrm>
            <a:off x="3942893" y="3685032"/>
            <a:ext cx="1894637" cy="566928"/>
          </a:xfrm>
          <a:prstGeom prst="rect">
            <a:avLst/>
          </a:prstGeom>
          <a:noFill/>
          <a:ln/>
        </p:spPr>
        <p:txBody>
          <a:bodyPr wrap="square" lIns="0" tIns="0" rIns="0" bIns="0" rtlCol="0" anchor="ctr"/>
          <a:lstStyle/>
          <a:p>
            <a:pPr algn="ctr" indent="0" marL="0">
              <a:buNone/>
            </a:pPr>
            <a:r>
              <a:rPr lang="en-US" sz="1600" b="1" dirty="0">
                <a:solidFill>
                  <a:srgbClr val="196B24"/>
                </a:solidFill>
                <a:latin typeface="Malgun Gothic" pitchFamily="34" charset="0"/>
                <a:ea typeface="Malgun Gothic" pitchFamily="34" charset="-122"/>
                <a:cs typeface="Malgun Gothic" pitchFamily="34" charset="-120"/>
              </a:rPr>
              <a:t>167</a:t>
            </a:r>
            <a:endParaRPr lang="en-US" sz="1600" dirty="0"/>
          </a:p>
        </p:txBody>
      </p:sp>
      <p:sp>
        <p:nvSpPr>
          <p:cNvPr id="30" name="Shape 28"/>
          <p:cNvSpPr/>
          <p:nvPr/>
        </p:nvSpPr>
        <p:spPr>
          <a:xfrm>
            <a:off x="5910682" y="3685032"/>
            <a:ext cx="4422038" cy="566928"/>
          </a:xfrm>
          <a:prstGeom prst="roundRect">
            <a:avLst>
              <a:gd name="adj" fmla="val 3226"/>
            </a:avLst>
          </a:prstGeom>
          <a:solidFill>
            <a:srgbClr val="FFFFFF"/>
          </a:solidFill>
          <a:ln w="12700">
            <a:solidFill>
              <a:srgbClr val="C9D3DA"/>
            </a:solidFill>
            <a:prstDash val="solid"/>
          </a:ln>
        </p:spPr>
      </p:sp>
      <p:sp>
        <p:nvSpPr>
          <p:cNvPr id="31" name="Text 29"/>
          <p:cNvSpPr/>
          <p:nvPr/>
        </p:nvSpPr>
        <p:spPr>
          <a:xfrm>
            <a:off x="5983834" y="3685032"/>
            <a:ext cx="4275734" cy="566928"/>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 17% cheaper than 5 of 10</a:t>
            </a:r>
            <a:endParaRPr lang="en-US" sz="1200" dirty="0"/>
          </a:p>
        </p:txBody>
      </p:sp>
      <p:sp>
        <p:nvSpPr>
          <p:cNvPr id="32" name="Shape 30"/>
          <p:cNvSpPr/>
          <p:nvPr/>
        </p:nvSpPr>
        <p:spPr>
          <a:xfrm>
            <a:off x="1828800" y="4251960"/>
            <a:ext cx="2040941" cy="566928"/>
          </a:xfrm>
          <a:prstGeom prst="roundRect">
            <a:avLst>
              <a:gd name="adj" fmla="val 3226"/>
            </a:avLst>
          </a:prstGeom>
          <a:solidFill>
            <a:srgbClr val="F2F5F7"/>
          </a:solidFill>
          <a:ln w="12700">
            <a:solidFill>
              <a:srgbClr val="C9D3DA"/>
            </a:solidFill>
            <a:prstDash val="solid"/>
          </a:ln>
        </p:spPr>
      </p:sp>
      <p:sp>
        <p:nvSpPr>
          <p:cNvPr id="33" name="Text 31"/>
          <p:cNvSpPr/>
          <p:nvPr/>
        </p:nvSpPr>
        <p:spPr>
          <a:xfrm>
            <a:off x="1901952" y="4251960"/>
            <a:ext cx="1894637" cy="566928"/>
          </a:xfrm>
          <a:prstGeom prst="rect">
            <a:avLst/>
          </a:prstGeom>
          <a:noFill/>
          <a:ln/>
        </p:spPr>
        <p:txBody>
          <a:bodyPr wrap="square" lIns="0" tIns="0" rIns="0" bIns="0" rtlCol="0" anchor="ctr"/>
          <a:lstStyle/>
          <a:p>
            <a:pPr algn="ctr" indent="0" marL="0">
              <a:buNone/>
            </a:pPr>
            <a:r>
              <a:rPr lang="en-US" sz="1200" b="1" dirty="0">
                <a:solidFill>
                  <a:srgbClr val="196B24"/>
                </a:solidFill>
                <a:latin typeface="Malgun Gothic" pitchFamily="34" charset="0"/>
                <a:ea typeface="Malgun Gothic" pitchFamily="34" charset="-122"/>
                <a:cs typeface="Malgun Gothic" pitchFamily="34" charset="-120"/>
              </a:rPr>
              <a:t>7 of 10</a:t>
            </a:r>
            <a:endParaRPr lang="en-US" sz="1200" dirty="0"/>
          </a:p>
        </p:txBody>
      </p:sp>
      <p:sp>
        <p:nvSpPr>
          <p:cNvPr id="34" name="Shape 32"/>
          <p:cNvSpPr/>
          <p:nvPr/>
        </p:nvSpPr>
        <p:spPr>
          <a:xfrm>
            <a:off x="3869741" y="4251960"/>
            <a:ext cx="2040941" cy="566928"/>
          </a:xfrm>
          <a:prstGeom prst="roundRect">
            <a:avLst>
              <a:gd name="adj" fmla="val 3226"/>
            </a:avLst>
          </a:prstGeom>
          <a:solidFill>
            <a:srgbClr val="F2F5F7"/>
          </a:solidFill>
          <a:ln w="12700">
            <a:solidFill>
              <a:srgbClr val="C9D3DA"/>
            </a:solidFill>
            <a:prstDash val="solid"/>
          </a:ln>
        </p:spPr>
      </p:sp>
      <p:sp>
        <p:nvSpPr>
          <p:cNvPr id="35" name="Text 33"/>
          <p:cNvSpPr/>
          <p:nvPr/>
        </p:nvSpPr>
        <p:spPr>
          <a:xfrm>
            <a:off x="3942893" y="4251960"/>
            <a:ext cx="1894637" cy="566928"/>
          </a:xfrm>
          <a:prstGeom prst="rect">
            <a:avLst/>
          </a:prstGeom>
          <a:noFill/>
          <a:ln/>
        </p:spPr>
        <p:txBody>
          <a:bodyPr wrap="square" lIns="0" tIns="0" rIns="0" bIns="0" rtlCol="0" anchor="ctr"/>
          <a:lstStyle/>
          <a:p>
            <a:pPr algn="ctr" indent="0" marL="0">
              <a:buNone/>
            </a:pPr>
            <a:r>
              <a:rPr lang="en-US" sz="1600" b="1" dirty="0">
                <a:solidFill>
                  <a:srgbClr val="196B24"/>
                </a:solidFill>
                <a:latin typeface="Malgun Gothic" pitchFamily="34" charset="0"/>
                <a:ea typeface="Malgun Gothic" pitchFamily="34" charset="-122"/>
                <a:cs typeface="Malgun Gothic" pitchFamily="34" charset="-120"/>
              </a:rPr>
              <a:t>143</a:t>
            </a:r>
            <a:endParaRPr lang="en-US" sz="1600" dirty="0"/>
          </a:p>
        </p:txBody>
      </p:sp>
      <p:sp>
        <p:nvSpPr>
          <p:cNvPr id="36" name="Shape 34"/>
          <p:cNvSpPr/>
          <p:nvPr/>
        </p:nvSpPr>
        <p:spPr>
          <a:xfrm>
            <a:off x="5910682" y="4251960"/>
            <a:ext cx="4422038" cy="566928"/>
          </a:xfrm>
          <a:prstGeom prst="roundRect">
            <a:avLst>
              <a:gd name="adj" fmla="val 3226"/>
            </a:avLst>
          </a:prstGeom>
          <a:solidFill>
            <a:srgbClr val="F2F5F7"/>
          </a:solidFill>
          <a:ln w="12700">
            <a:solidFill>
              <a:srgbClr val="C9D3DA"/>
            </a:solidFill>
            <a:prstDash val="solid"/>
          </a:ln>
        </p:spPr>
      </p:sp>
      <p:sp>
        <p:nvSpPr>
          <p:cNvPr id="37" name="Text 35"/>
          <p:cNvSpPr/>
          <p:nvPr/>
        </p:nvSpPr>
        <p:spPr>
          <a:xfrm>
            <a:off x="5983834" y="4251960"/>
            <a:ext cx="4275734" cy="566928"/>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 29% cheaper than 5 of 10</a:t>
            </a:r>
            <a:endParaRPr lang="en-US" sz="1200" dirty="0"/>
          </a:p>
        </p:txBody>
      </p:sp>
      <p:sp>
        <p:nvSpPr>
          <p:cNvPr id="38" name="Shape 36"/>
          <p:cNvSpPr/>
          <p:nvPr/>
        </p:nvSpPr>
        <p:spPr>
          <a:xfrm>
            <a:off x="548640" y="4498848"/>
            <a:ext cx="11064240" cy="731520"/>
          </a:xfrm>
          <a:prstGeom prst="roundRect">
            <a:avLst>
              <a:gd name="adj" fmla="val 10000"/>
            </a:avLst>
          </a:prstGeom>
          <a:solidFill>
            <a:srgbClr val="E3ECF1"/>
          </a:solidFill>
          <a:ln w="12700">
            <a:solidFill>
              <a:srgbClr val="E3ECF1"/>
            </a:solidFill>
            <a:prstDash val="solid"/>
          </a:ln>
        </p:spPr>
      </p:sp>
      <p:sp>
        <p:nvSpPr>
          <p:cNvPr id="39" name="Text 37"/>
          <p:cNvSpPr/>
          <p:nvPr/>
        </p:nvSpPr>
        <p:spPr>
          <a:xfrm>
            <a:off x="548640" y="4498848"/>
            <a:ext cx="11064240" cy="731520"/>
          </a:xfrm>
          <a:prstGeom prst="rect">
            <a:avLst/>
          </a:prstGeom>
          <a:noFill/>
          <a:ln/>
        </p:spPr>
        <p:txBody>
          <a:bodyPr wrap="square" lIns="0" tIns="0" rIns="0" bIns="0" rtlCol="0" anchor="ctr"/>
          <a:lstStyle/>
          <a:p>
            <a:pPr algn="ctr" indent="0" marL="0">
              <a:buNone/>
            </a:pPr>
            <a:r>
              <a:rPr lang="en-US" sz="1600" b="1" dirty="0">
                <a:solidFill>
                  <a:srgbClr val="0E2841"/>
                </a:solidFill>
                <a:latin typeface="Malgun Gothic" pitchFamily="34" charset="0"/>
                <a:ea typeface="Malgun Gothic" pitchFamily="34" charset="-122"/>
                <a:cs typeface="Malgun Gothic" pitchFamily="34" charset="-120"/>
              </a:rPr>
              <a:t>Same money in. More pregnancies out. That is the whole business.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What is in the straw</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 7-day embryo, made in a laboratory from sexed semen</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 laboratory embryo is not a weak cow embryo. It is a different object — it holds more fat.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8</a:t>
            </a:r>
            <a:endParaRPr lang="en-US" sz="900" dirty="0"/>
          </a:p>
        </p:txBody>
      </p:sp>
      <p:sp>
        <p:nvSpPr>
          <p:cNvPr id="8" name="Shape 6"/>
          <p:cNvSpPr/>
          <p:nvPr/>
        </p:nvSpPr>
        <p:spPr>
          <a:xfrm>
            <a:off x="548640" y="1755648"/>
            <a:ext cx="2051914" cy="1097280"/>
          </a:xfrm>
          <a:prstGeom prst="roundRect">
            <a:avLst>
              <a:gd name="adj" fmla="val 5833"/>
            </a:avLst>
          </a:prstGeom>
          <a:solidFill>
            <a:srgbClr val="F2F5F7"/>
          </a:solidFill>
          <a:ln w="12700">
            <a:solidFill>
              <a:srgbClr val="C9D3DA"/>
            </a:solidFill>
            <a:prstDash val="solid"/>
          </a:ln>
        </p:spPr>
      </p:sp>
      <p:sp>
        <p:nvSpPr>
          <p:cNvPr id="9" name="Text 7"/>
          <p:cNvSpPr/>
          <p:nvPr/>
        </p:nvSpPr>
        <p:spPr>
          <a:xfrm>
            <a:off x="621792" y="184708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NEEDLE</a:t>
            </a:r>
            <a:endParaRPr lang="en-US" sz="1200" dirty="0"/>
          </a:p>
        </p:txBody>
      </p:sp>
      <p:sp>
        <p:nvSpPr>
          <p:cNvPr id="10" name="Text 8"/>
          <p:cNvSpPr/>
          <p:nvPr/>
        </p:nvSpPr>
        <p:spPr>
          <a:xfrm>
            <a:off x="621792" y="2157984"/>
            <a:ext cx="1905610" cy="60350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eggs taken from</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the ovary</a:t>
            </a:r>
            <a:endParaRPr lang="en-US" sz="1050" dirty="0"/>
          </a:p>
        </p:txBody>
      </p:sp>
      <p:sp>
        <p:nvSpPr>
          <p:cNvPr id="11" name="Shape 9"/>
          <p:cNvSpPr/>
          <p:nvPr/>
        </p:nvSpPr>
        <p:spPr>
          <a:xfrm>
            <a:off x="2637130" y="2203704"/>
            <a:ext cx="128016" cy="201168"/>
          </a:xfrm>
          <a:prstGeom prst="rightArrow">
            <a:avLst/>
          </a:prstGeom>
          <a:solidFill>
            <a:srgbClr val="156082"/>
          </a:solidFill>
          <a:ln w="12700">
            <a:solidFill>
              <a:srgbClr val="156082"/>
            </a:solidFill>
            <a:prstDash val="solid"/>
          </a:ln>
        </p:spPr>
      </p:sp>
      <p:sp>
        <p:nvSpPr>
          <p:cNvPr id="12" name="Shape 10"/>
          <p:cNvSpPr/>
          <p:nvPr/>
        </p:nvSpPr>
        <p:spPr>
          <a:xfrm>
            <a:off x="2801722" y="1755648"/>
            <a:ext cx="2051914" cy="1097280"/>
          </a:xfrm>
          <a:prstGeom prst="roundRect">
            <a:avLst>
              <a:gd name="adj" fmla="val 5833"/>
            </a:avLst>
          </a:prstGeom>
          <a:solidFill>
            <a:srgbClr val="F2F5F7"/>
          </a:solidFill>
          <a:ln w="12700">
            <a:solidFill>
              <a:srgbClr val="C9D3DA"/>
            </a:solidFill>
            <a:prstDash val="solid"/>
          </a:ln>
        </p:spPr>
      </p:sp>
      <p:sp>
        <p:nvSpPr>
          <p:cNvPr id="13" name="Text 11"/>
          <p:cNvSpPr/>
          <p:nvPr/>
        </p:nvSpPr>
        <p:spPr>
          <a:xfrm>
            <a:off x="2874874" y="184708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DISH</a:t>
            </a:r>
            <a:endParaRPr lang="en-US" sz="1200" dirty="0"/>
          </a:p>
        </p:txBody>
      </p:sp>
      <p:sp>
        <p:nvSpPr>
          <p:cNvPr id="14" name="Text 12"/>
          <p:cNvSpPr/>
          <p:nvPr/>
        </p:nvSpPr>
        <p:spPr>
          <a:xfrm>
            <a:off x="2874874" y="2157984"/>
            <a:ext cx="1905610" cy="60350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eggs meet</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sexed semen</a:t>
            </a:r>
            <a:endParaRPr lang="en-US" sz="1050" dirty="0"/>
          </a:p>
        </p:txBody>
      </p:sp>
      <p:sp>
        <p:nvSpPr>
          <p:cNvPr id="15" name="Shape 13"/>
          <p:cNvSpPr/>
          <p:nvPr/>
        </p:nvSpPr>
        <p:spPr>
          <a:xfrm>
            <a:off x="4890211" y="2203704"/>
            <a:ext cx="128016" cy="201168"/>
          </a:xfrm>
          <a:prstGeom prst="rightArrow">
            <a:avLst/>
          </a:prstGeom>
          <a:solidFill>
            <a:srgbClr val="156082"/>
          </a:solidFill>
          <a:ln w="12700">
            <a:solidFill>
              <a:srgbClr val="156082"/>
            </a:solidFill>
            <a:prstDash val="solid"/>
          </a:ln>
        </p:spPr>
      </p:sp>
      <p:sp>
        <p:nvSpPr>
          <p:cNvPr id="16" name="Shape 14"/>
          <p:cNvSpPr/>
          <p:nvPr/>
        </p:nvSpPr>
        <p:spPr>
          <a:xfrm>
            <a:off x="5054803" y="1755648"/>
            <a:ext cx="2051914" cy="1097280"/>
          </a:xfrm>
          <a:prstGeom prst="roundRect">
            <a:avLst>
              <a:gd name="adj" fmla="val 5833"/>
            </a:avLst>
          </a:prstGeom>
          <a:solidFill>
            <a:srgbClr val="F2F5F7"/>
          </a:solidFill>
          <a:ln w="12700">
            <a:solidFill>
              <a:srgbClr val="C9D3DA"/>
            </a:solidFill>
            <a:prstDash val="solid"/>
          </a:ln>
        </p:spPr>
      </p:sp>
      <p:sp>
        <p:nvSpPr>
          <p:cNvPr id="17" name="Text 15"/>
          <p:cNvSpPr/>
          <p:nvPr/>
        </p:nvSpPr>
        <p:spPr>
          <a:xfrm>
            <a:off x="5127955" y="184708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7 DAYS</a:t>
            </a:r>
            <a:endParaRPr lang="en-US" sz="1200" dirty="0"/>
          </a:p>
        </p:txBody>
      </p:sp>
      <p:sp>
        <p:nvSpPr>
          <p:cNvPr id="18" name="Text 16"/>
          <p:cNvSpPr/>
          <p:nvPr/>
        </p:nvSpPr>
        <p:spPr>
          <a:xfrm>
            <a:off x="5127955" y="2157984"/>
            <a:ext cx="1905610" cy="60350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grown in</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a machine</a:t>
            </a:r>
            <a:endParaRPr lang="en-US" sz="1050" dirty="0"/>
          </a:p>
        </p:txBody>
      </p:sp>
      <p:sp>
        <p:nvSpPr>
          <p:cNvPr id="19" name="Shape 17"/>
          <p:cNvSpPr/>
          <p:nvPr/>
        </p:nvSpPr>
        <p:spPr>
          <a:xfrm>
            <a:off x="7143293" y="2203704"/>
            <a:ext cx="128016" cy="201168"/>
          </a:xfrm>
          <a:prstGeom prst="rightArrow">
            <a:avLst/>
          </a:prstGeom>
          <a:solidFill>
            <a:srgbClr val="156082"/>
          </a:solidFill>
          <a:ln w="12700">
            <a:solidFill>
              <a:srgbClr val="156082"/>
            </a:solidFill>
            <a:prstDash val="solid"/>
          </a:ln>
        </p:spPr>
      </p:sp>
      <p:sp>
        <p:nvSpPr>
          <p:cNvPr id="20" name="Shape 18"/>
          <p:cNvSpPr/>
          <p:nvPr/>
        </p:nvSpPr>
        <p:spPr>
          <a:xfrm>
            <a:off x="7307885" y="1755648"/>
            <a:ext cx="2051914" cy="1097280"/>
          </a:xfrm>
          <a:prstGeom prst="roundRect">
            <a:avLst>
              <a:gd name="adj" fmla="val 5833"/>
            </a:avLst>
          </a:prstGeom>
          <a:solidFill>
            <a:srgbClr val="F2F5F7"/>
          </a:solidFill>
          <a:ln w="12700">
            <a:solidFill>
              <a:srgbClr val="C9D3DA"/>
            </a:solidFill>
            <a:prstDash val="solid"/>
          </a:ln>
        </p:spPr>
      </p:sp>
      <p:sp>
        <p:nvSpPr>
          <p:cNvPr id="21" name="Text 19"/>
          <p:cNvSpPr/>
          <p:nvPr/>
        </p:nvSpPr>
        <p:spPr>
          <a:xfrm>
            <a:off x="7381037" y="184708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GRADED</a:t>
            </a:r>
            <a:endParaRPr lang="en-US" sz="1200" dirty="0"/>
          </a:p>
        </p:txBody>
      </p:sp>
      <p:sp>
        <p:nvSpPr>
          <p:cNvPr id="22" name="Text 20"/>
          <p:cNvSpPr/>
          <p:nvPr/>
        </p:nvSpPr>
        <p:spPr>
          <a:xfrm>
            <a:off x="7381037" y="2157984"/>
            <a:ext cx="1905610" cy="60350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only the best</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are frozen</a:t>
            </a:r>
            <a:endParaRPr lang="en-US" sz="1050" dirty="0"/>
          </a:p>
        </p:txBody>
      </p:sp>
      <p:sp>
        <p:nvSpPr>
          <p:cNvPr id="23" name="Shape 21"/>
          <p:cNvSpPr/>
          <p:nvPr/>
        </p:nvSpPr>
        <p:spPr>
          <a:xfrm>
            <a:off x="9396374" y="2203704"/>
            <a:ext cx="128016" cy="201168"/>
          </a:xfrm>
          <a:prstGeom prst="rightArrow">
            <a:avLst/>
          </a:prstGeom>
          <a:solidFill>
            <a:srgbClr val="156082"/>
          </a:solidFill>
          <a:ln w="12700">
            <a:solidFill>
              <a:srgbClr val="156082"/>
            </a:solidFill>
            <a:prstDash val="solid"/>
          </a:ln>
        </p:spPr>
      </p:sp>
      <p:sp>
        <p:nvSpPr>
          <p:cNvPr id="24" name="Shape 22"/>
          <p:cNvSpPr/>
          <p:nvPr/>
        </p:nvSpPr>
        <p:spPr>
          <a:xfrm>
            <a:off x="9560966" y="1755648"/>
            <a:ext cx="2051914" cy="1097280"/>
          </a:xfrm>
          <a:prstGeom prst="roundRect">
            <a:avLst>
              <a:gd name="adj" fmla="val 5833"/>
            </a:avLst>
          </a:prstGeom>
          <a:solidFill>
            <a:srgbClr val="156082"/>
          </a:solidFill>
          <a:ln w="12700">
            <a:solidFill>
              <a:srgbClr val="156082"/>
            </a:solidFill>
            <a:prstDash val="solid"/>
          </a:ln>
        </p:spPr>
      </p:sp>
      <p:sp>
        <p:nvSpPr>
          <p:cNvPr id="25" name="Text 23"/>
          <p:cNvSpPr/>
          <p:nvPr/>
        </p:nvSpPr>
        <p:spPr>
          <a:xfrm>
            <a:off x="9634118" y="1847088"/>
            <a:ext cx="190561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STRAW</a:t>
            </a:r>
            <a:endParaRPr lang="en-US" sz="1200" dirty="0"/>
          </a:p>
        </p:txBody>
      </p:sp>
      <p:sp>
        <p:nvSpPr>
          <p:cNvPr id="26" name="Text 24"/>
          <p:cNvSpPr/>
          <p:nvPr/>
        </p:nvSpPr>
        <p:spPr>
          <a:xfrm>
            <a:off x="9634118" y="2157984"/>
            <a:ext cx="1905610" cy="603504"/>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frozen, shipped,</a:t>
            </a:r>
            <a:endParaRPr lang="en-US" sz="1050" dirty="0"/>
          </a:p>
          <a:p>
            <a:pPr algn="ctr" indent="0" marL="0">
              <a:buNone/>
            </a:pPr>
            <a:r>
              <a:rPr lang="en-US" sz="1050" dirty="0">
                <a:solidFill>
                  <a:srgbClr val="FFFFFF"/>
                </a:solidFill>
                <a:latin typeface="Malgun Gothic" pitchFamily="34" charset="0"/>
                <a:ea typeface="Malgun Gothic" pitchFamily="34" charset="-122"/>
                <a:cs typeface="Malgun Gothic" pitchFamily="34" charset="-120"/>
              </a:rPr>
              <a:t>in your tank</a:t>
            </a:r>
            <a:endParaRPr lang="en-US" sz="1050" dirty="0"/>
          </a:p>
        </p:txBody>
      </p:sp>
      <p:sp>
        <p:nvSpPr>
          <p:cNvPr id="27" name="Shape 25"/>
          <p:cNvSpPr/>
          <p:nvPr/>
        </p:nvSpPr>
        <p:spPr>
          <a:xfrm>
            <a:off x="548640" y="3172968"/>
            <a:ext cx="5394960" cy="2057400"/>
          </a:xfrm>
          <a:prstGeom prst="roundRect">
            <a:avLst>
              <a:gd name="adj" fmla="val 3111"/>
            </a:avLst>
          </a:prstGeom>
          <a:solidFill>
            <a:srgbClr val="FFFFFF"/>
          </a:solidFill>
          <a:ln w="12700">
            <a:solidFill>
              <a:srgbClr val="0F9ED5"/>
            </a:solidFill>
            <a:prstDash val="solid"/>
          </a:ln>
        </p:spPr>
      </p:sp>
      <p:sp>
        <p:nvSpPr>
          <p:cNvPr id="28" name="Shape 26"/>
          <p:cNvSpPr/>
          <p:nvPr/>
        </p:nvSpPr>
        <p:spPr>
          <a:xfrm>
            <a:off x="548640" y="3172968"/>
            <a:ext cx="5394960" cy="402336"/>
          </a:xfrm>
          <a:prstGeom prst="roundRect">
            <a:avLst>
              <a:gd name="adj" fmla="val 15909"/>
            </a:avLst>
          </a:prstGeom>
          <a:solidFill>
            <a:srgbClr val="0F9ED5"/>
          </a:solidFill>
          <a:ln w="12700">
            <a:solidFill>
              <a:srgbClr val="0F9ED5"/>
            </a:solidFill>
            <a:prstDash val="solid"/>
          </a:ln>
        </p:spPr>
      </p:sp>
      <p:sp>
        <p:nvSpPr>
          <p:cNvPr id="29" name="Text 27"/>
          <p:cNvSpPr/>
          <p:nvPr/>
        </p:nvSpPr>
        <p:spPr>
          <a:xfrm>
            <a:off x="548640" y="31729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GROWN INSIDE A COW</a:t>
            </a:r>
            <a:endParaRPr lang="en-US" sz="1300" dirty="0"/>
          </a:p>
        </p:txBody>
      </p:sp>
      <p:sp>
        <p:nvSpPr>
          <p:cNvPr id="30" name="Text 28"/>
          <p:cNvSpPr/>
          <p:nvPr/>
        </p:nvSpPr>
        <p:spPr>
          <a:xfrm>
            <a:off x="694944" y="3685032"/>
            <a:ext cx="5102352" cy="141732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Less fat inside</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Freezes well</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More forgiving if you are slow</a:t>
            </a:r>
            <a:endParaRPr lang="en-US" sz="1300" dirty="0"/>
          </a:p>
        </p:txBody>
      </p:sp>
      <p:sp>
        <p:nvSpPr>
          <p:cNvPr id="31" name="Shape 29"/>
          <p:cNvSpPr/>
          <p:nvPr/>
        </p:nvSpPr>
        <p:spPr>
          <a:xfrm>
            <a:off x="6217920" y="3172968"/>
            <a:ext cx="5394960" cy="2057400"/>
          </a:xfrm>
          <a:prstGeom prst="roundRect">
            <a:avLst>
              <a:gd name="adj" fmla="val 3111"/>
            </a:avLst>
          </a:prstGeom>
          <a:solidFill>
            <a:srgbClr val="FFFFFF"/>
          </a:solidFill>
          <a:ln w="12700">
            <a:solidFill>
              <a:srgbClr val="196B24"/>
            </a:solidFill>
            <a:prstDash val="solid"/>
          </a:ln>
        </p:spPr>
      </p:sp>
      <p:sp>
        <p:nvSpPr>
          <p:cNvPr id="32" name="Shape 30"/>
          <p:cNvSpPr/>
          <p:nvPr/>
        </p:nvSpPr>
        <p:spPr>
          <a:xfrm>
            <a:off x="6217920" y="3172968"/>
            <a:ext cx="5394960" cy="402336"/>
          </a:xfrm>
          <a:prstGeom prst="roundRect">
            <a:avLst>
              <a:gd name="adj" fmla="val 15909"/>
            </a:avLst>
          </a:prstGeom>
          <a:solidFill>
            <a:srgbClr val="196B24"/>
          </a:solidFill>
          <a:ln w="12700">
            <a:solidFill>
              <a:srgbClr val="196B24"/>
            </a:solidFill>
            <a:prstDash val="solid"/>
          </a:ln>
        </p:spPr>
      </p:sp>
      <p:sp>
        <p:nvSpPr>
          <p:cNvPr id="33" name="Text 31"/>
          <p:cNvSpPr/>
          <p:nvPr/>
        </p:nvSpPr>
        <p:spPr>
          <a:xfrm>
            <a:off x="6217920" y="31729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GROWN IN A LABORATORY  (what you receive)</a:t>
            </a:r>
            <a:endParaRPr lang="en-US" sz="1300" dirty="0"/>
          </a:p>
        </p:txBody>
      </p:sp>
      <p:sp>
        <p:nvSpPr>
          <p:cNvPr id="34" name="Text 32"/>
          <p:cNvSpPr/>
          <p:nvPr/>
        </p:nvSpPr>
        <p:spPr>
          <a:xfrm>
            <a:off x="6364224" y="3685032"/>
            <a:ext cx="5102352" cy="141732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More fat inside</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Freezes less well</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Thawing must be EXACT</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Made efficiently with sexed semen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Sexed — about 9 in 10 are heifers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Say it as a group number. Never promise it for one cow.</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Two bull calves in a row is normal bad luck. Promise a group, never an animal.</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9</a:t>
            </a:r>
            <a:endParaRPr lang="en-US" sz="900" dirty="0"/>
          </a:p>
        </p:txBody>
      </p:sp>
      <p:sp>
        <p:nvSpPr>
          <p:cNvPr id="8" name="Text 6"/>
          <p:cNvSpPr/>
          <p:nvPr/>
        </p:nvSpPr>
        <p:spPr>
          <a:xfrm>
            <a:off x="548640" y="1847088"/>
            <a:ext cx="11064240" cy="310896"/>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10 pregnancies from sexed embryos — the normal picture:</a:t>
            </a:r>
            <a:endParaRPr lang="en-US" sz="1400" dirty="0"/>
          </a:p>
        </p:txBody>
      </p:sp>
      <p:sp>
        <p:nvSpPr>
          <p:cNvPr id="9" name="Shape 7"/>
          <p:cNvSpPr/>
          <p:nvPr/>
        </p:nvSpPr>
        <p:spPr>
          <a:xfrm>
            <a:off x="548640" y="2258568"/>
            <a:ext cx="974750" cy="1188720"/>
          </a:xfrm>
          <a:prstGeom prst="roundRect">
            <a:avLst>
              <a:gd name="adj" fmla="val 6567"/>
            </a:avLst>
          </a:prstGeom>
          <a:solidFill>
            <a:srgbClr val="E7F1E8"/>
          </a:solidFill>
          <a:ln w="12700">
            <a:solidFill>
              <a:srgbClr val="196B24"/>
            </a:solidFill>
            <a:prstDash val="solid"/>
          </a:ln>
        </p:spPr>
      </p:sp>
      <p:sp>
        <p:nvSpPr>
          <p:cNvPr id="10" name="Text 8"/>
          <p:cNvSpPr/>
          <p:nvPr/>
        </p:nvSpPr>
        <p:spPr>
          <a:xfrm>
            <a:off x="548640"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11" name="Text 9"/>
          <p:cNvSpPr/>
          <p:nvPr/>
        </p:nvSpPr>
        <p:spPr>
          <a:xfrm>
            <a:off x="548640"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12" name="Shape 10"/>
          <p:cNvSpPr/>
          <p:nvPr/>
        </p:nvSpPr>
        <p:spPr>
          <a:xfrm>
            <a:off x="1669694" y="2258568"/>
            <a:ext cx="974750" cy="1188720"/>
          </a:xfrm>
          <a:prstGeom prst="roundRect">
            <a:avLst>
              <a:gd name="adj" fmla="val 6567"/>
            </a:avLst>
          </a:prstGeom>
          <a:solidFill>
            <a:srgbClr val="E7F1E8"/>
          </a:solidFill>
          <a:ln w="12700">
            <a:solidFill>
              <a:srgbClr val="196B24"/>
            </a:solidFill>
            <a:prstDash val="solid"/>
          </a:ln>
        </p:spPr>
      </p:sp>
      <p:sp>
        <p:nvSpPr>
          <p:cNvPr id="13" name="Text 11"/>
          <p:cNvSpPr/>
          <p:nvPr/>
        </p:nvSpPr>
        <p:spPr>
          <a:xfrm>
            <a:off x="1669694"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14" name="Text 12"/>
          <p:cNvSpPr/>
          <p:nvPr/>
        </p:nvSpPr>
        <p:spPr>
          <a:xfrm>
            <a:off x="1669694"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15" name="Shape 13"/>
          <p:cNvSpPr/>
          <p:nvPr/>
        </p:nvSpPr>
        <p:spPr>
          <a:xfrm>
            <a:off x="2790749" y="2258568"/>
            <a:ext cx="974750" cy="1188720"/>
          </a:xfrm>
          <a:prstGeom prst="roundRect">
            <a:avLst>
              <a:gd name="adj" fmla="val 6567"/>
            </a:avLst>
          </a:prstGeom>
          <a:solidFill>
            <a:srgbClr val="E7F1E8"/>
          </a:solidFill>
          <a:ln w="12700">
            <a:solidFill>
              <a:srgbClr val="196B24"/>
            </a:solidFill>
            <a:prstDash val="solid"/>
          </a:ln>
        </p:spPr>
      </p:sp>
      <p:sp>
        <p:nvSpPr>
          <p:cNvPr id="16" name="Text 14"/>
          <p:cNvSpPr/>
          <p:nvPr/>
        </p:nvSpPr>
        <p:spPr>
          <a:xfrm>
            <a:off x="2790749"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17" name="Text 15"/>
          <p:cNvSpPr/>
          <p:nvPr/>
        </p:nvSpPr>
        <p:spPr>
          <a:xfrm>
            <a:off x="2790749"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18" name="Shape 16"/>
          <p:cNvSpPr/>
          <p:nvPr/>
        </p:nvSpPr>
        <p:spPr>
          <a:xfrm>
            <a:off x="3911803" y="2258568"/>
            <a:ext cx="974750" cy="1188720"/>
          </a:xfrm>
          <a:prstGeom prst="roundRect">
            <a:avLst>
              <a:gd name="adj" fmla="val 6567"/>
            </a:avLst>
          </a:prstGeom>
          <a:solidFill>
            <a:srgbClr val="E7F1E8"/>
          </a:solidFill>
          <a:ln w="12700">
            <a:solidFill>
              <a:srgbClr val="196B24"/>
            </a:solidFill>
            <a:prstDash val="solid"/>
          </a:ln>
        </p:spPr>
      </p:sp>
      <p:sp>
        <p:nvSpPr>
          <p:cNvPr id="19" name="Text 17"/>
          <p:cNvSpPr/>
          <p:nvPr/>
        </p:nvSpPr>
        <p:spPr>
          <a:xfrm>
            <a:off x="3911803"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20" name="Text 18"/>
          <p:cNvSpPr/>
          <p:nvPr/>
        </p:nvSpPr>
        <p:spPr>
          <a:xfrm>
            <a:off x="3911803"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21" name="Shape 19"/>
          <p:cNvSpPr/>
          <p:nvPr/>
        </p:nvSpPr>
        <p:spPr>
          <a:xfrm>
            <a:off x="5032858" y="2258568"/>
            <a:ext cx="974750" cy="1188720"/>
          </a:xfrm>
          <a:prstGeom prst="roundRect">
            <a:avLst>
              <a:gd name="adj" fmla="val 6567"/>
            </a:avLst>
          </a:prstGeom>
          <a:solidFill>
            <a:srgbClr val="E7F1E8"/>
          </a:solidFill>
          <a:ln w="12700">
            <a:solidFill>
              <a:srgbClr val="196B24"/>
            </a:solidFill>
            <a:prstDash val="solid"/>
          </a:ln>
        </p:spPr>
      </p:sp>
      <p:sp>
        <p:nvSpPr>
          <p:cNvPr id="22" name="Text 20"/>
          <p:cNvSpPr/>
          <p:nvPr/>
        </p:nvSpPr>
        <p:spPr>
          <a:xfrm>
            <a:off x="5032858"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23" name="Text 21"/>
          <p:cNvSpPr/>
          <p:nvPr/>
        </p:nvSpPr>
        <p:spPr>
          <a:xfrm>
            <a:off x="5032858"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24" name="Shape 22"/>
          <p:cNvSpPr/>
          <p:nvPr/>
        </p:nvSpPr>
        <p:spPr>
          <a:xfrm>
            <a:off x="6153912" y="2258568"/>
            <a:ext cx="974750" cy="1188720"/>
          </a:xfrm>
          <a:prstGeom prst="roundRect">
            <a:avLst>
              <a:gd name="adj" fmla="val 6567"/>
            </a:avLst>
          </a:prstGeom>
          <a:solidFill>
            <a:srgbClr val="E7F1E8"/>
          </a:solidFill>
          <a:ln w="12700">
            <a:solidFill>
              <a:srgbClr val="196B24"/>
            </a:solidFill>
            <a:prstDash val="solid"/>
          </a:ln>
        </p:spPr>
      </p:sp>
      <p:sp>
        <p:nvSpPr>
          <p:cNvPr id="25" name="Text 23"/>
          <p:cNvSpPr/>
          <p:nvPr/>
        </p:nvSpPr>
        <p:spPr>
          <a:xfrm>
            <a:off x="6153912"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26" name="Text 24"/>
          <p:cNvSpPr/>
          <p:nvPr/>
        </p:nvSpPr>
        <p:spPr>
          <a:xfrm>
            <a:off x="6153912"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27" name="Shape 25"/>
          <p:cNvSpPr/>
          <p:nvPr/>
        </p:nvSpPr>
        <p:spPr>
          <a:xfrm>
            <a:off x="7274966" y="2258568"/>
            <a:ext cx="974750" cy="1188720"/>
          </a:xfrm>
          <a:prstGeom prst="roundRect">
            <a:avLst>
              <a:gd name="adj" fmla="val 6567"/>
            </a:avLst>
          </a:prstGeom>
          <a:solidFill>
            <a:srgbClr val="E7F1E8"/>
          </a:solidFill>
          <a:ln w="12700">
            <a:solidFill>
              <a:srgbClr val="196B24"/>
            </a:solidFill>
            <a:prstDash val="solid"/>
          </a:ln>
        </p:spPr>
      </p:sp>
      <p:sp>
        <p:nvSpPr>
          <p:cNvPr id="28" name="Text 26"/>
          <p:cNvSpPr/>
          <p:nvPr/>
        </p:nvSpPr>
        <p:spPr>
          <a:xfrm>
            <a:off x="7274966"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29" name="Text 27"/>
          <p:cNvSpPr/>
          <p:nvPr/>
        </p:nvSpPr>
        <p:spPr>
          <a:xfrm>
            <a:off x="7274966"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30" name="Shape 28"/>
          <p:cNvSpPr/>
          <p:nvPr/>
        </p:nvSpPr>
        <p:spPr>
          <a:xfrm>
            <a:off x="8396021" y="2258568"/>
            <a:ext cx="974750" cy="1188720"/>
          </a:xfrm>
          <a:prstGeom prst="roundRect">
            <a:avLst>
              <a:gd name="adj" fmla="val 6567"/>
            </a:avLst>
          </a:prstGeom>
          <a:solidFill>
            <a:srgbClr val="E7F1E8"/>
          </a:solidFill>
          <a:ln w="12700">
            <a:solidFill>
              <a:srgbClr val="196B24"/>
            </a:solidFill>
            <a:prstDash val="solid"/>
          </a:ln>
        </p:spPr>
      </p:sp>
      <p:sp>
        <p:nvSpPr>
          <p:cNvPr id="31" name="Text 29"/>
          <p:cNvSpPr/>
          <p:nvPr/>
        </p:nvSpPr>
        <p:spPr>
          <a:xfrm>
            <a:off x="8396021"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32" name="Text 30"/>
          <p:cNvSpPr/>
          <p:nvPr/>
        </p:nvSpPr>
        <p:spPr>
          <a:xfrm>
            <a:off x="8396021"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33" name="Shape 31"/>
          <p:cNvSpPr/>
          <p:nvPr/>
        </p:nvSpPr>
        <p:spPr>
          <a:xfrm>
            <a:off x="9517075" y="2258568"/>
            <a:ext cx="974750" cy="1188720"/>
          </a:xfrm>
          <a:prstGeom prst="roundRect">
            <a:avLst>
              <a:gd name="adj" fmla="val 6567"/>
            </a:avLst>
          </a:prstGeom>
          <a:solidFill>
            <a:srgbClr val="E7F1E8"/>
          </a:solidFill>
          <a:ln w="12700">
            <a:solidFill>
              <a:srgbClr val="196B24"/>
            </a:solidFill>
            <a:prstDash val="solid"/>
          </a:ln>
        </p:spPr>
      </p:sp>
      <p:sp>
        <p:nvSpPr>
          <p:cNvPr id="34" name="Text 32"/>
          <p:cNvSpPr/>
          <p:nvPr/>
        </p:nvSpPr>
        <p:spPr>
          <a:xfrm>
            <a:off x="9517075" y="2350008"/>
            <a:ext cx="974750" cy="640080"/>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a:t>
            </a:r>
            <a:endParaRPr lang="en-US" sz="3000" dirty="0"/>
          </a:p>
        </p:txBody>
      </p:sp>
      <p:sp>
        <p:nvSpPr>
          <p:cNvPr id="35" name="Text 33"/>
          <p:cNvSpPr/>
          <p:nvPr/>
        </p:nvSpPr>
        <p:spPr>
          <a:xfrm>
            <a:off x="9517075"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heifer</a:t>
            </a:r>
            <a:endParaRPr lang="en-US" sz="1100" dirty="0"/>
          </a:p>
        </p:txBody>
      </p:sp>
      <p:sp>
        <p:nvSpPr>
          <p:cNvPr id="36" name="Shape 34"/>
          <p:cNvSpPr/>
          <p:nvPr/>
        </p:nvSpPr>
        <p:spPr>
          <a:xfrm>
            <a:off x="10638130" y="2258568"/>
            <a:ext cx="974750" cy="1188720"/>
          </a:xfrm>
          <a:prstGeom prst="roundRect">
            <a:avLst>
              <a:gd name="adj" fmla="val 6567"/>
            </a:avLst>
          </a:prstGeom>
          <a:solidFill>
            <a:srgbClr val="FBEDE2"/>
          </a:solidFill>
          <a:ln w="12700">
            <a:solidFill>
              <a:srgbClr val="E97132"/>
            </a:solidFill>
            <a:prstDash val="solid"/>
          </a:ln>
        </p:spPr>
      </p:sp>
      <p:sp>
        <p:nvSpPr>
          <p:cNvPr id="37" name="Text 35"/>
          <p:cNvSpPr/>
          <p:nvPr/>
        </p:nvSpPr>
        <p:spPr>
          <a:xfrm>
            <a:off x="10638130" y="2350008"/>
            <a:ext cx="974750" cy="640080"/>
          </a:xfrm>
          <a:prstGeom prst="rect">
            <a:avLst/>
          </a:prstGeom>
          <a:noFill/>
          <a:ln/>
        </p:spPr>
        <p:txBody>
          <a:bodyPr wrap="square" lIns="0" tIns="0" rIns="0" bIns="0" rtlCol="0" anchor="ctr"/>
          <a:lstStyle/>
          <a:p>
            <a:pPr algn="ctr" indent="0" marL="0">
              <a:buNone/>
            </a:pPr>
            <a:r>
              <a:rPr lang="en-US" sz="3000" b="1" dirty="0">
                <a:solidFill>
                  <a:srgbClr val="E97132"/>
                </a:solidFill>
                <a:latin typeface="Malgun Gothic" pitchFamily="34" charset="0"/>
                <a:ea typeface="Malgun Gothic" pitchFamily="34" charset="-122"/>
                <a:cs typeface="Malgun Gothic" pitchFamily="34" charset="-120"/>
              </a:rPr>
              <a:t>♂</a:t>
            </a:r>
            <a:endParaRPr lang="en-US" sz="3000" dirty="0"/>
          </a:p>
        </p:txBody>
      </p:sp>
      <p:sp>
        <p:nvSpPr>
          <p:cNvPr id="38" name="Text 36"/>
          <p:cNvSpPr/>
          <p:nvPr/>
        </p:nvSpPr>
        <p:spPr>
          <a:xfrm>
            <a:off x="10638130" y="3017520"/>
            <a:ext cx="974750" cy="329184"/>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bull</a:t>
            </a:r>
            <a:endParaRPr lang="en-US" sz="1100" dirty="0"/>
          </a:p>
        </p:txBody>
      </p:sp>
      <p:sp>
        <p:nvSpPr>
          <p:cNvPr id="39" name="Shape 37"/>
          <p:cNvSpPr/>
          <p:nvPr/>
        </p:nvSpPr>
        <p:spPr>
          <a:xfrm>
            <a:off x="548640" y="3721608"/>
            <a:ext cx="11064240" cy="685800"/>
          </a:xfrm>
          <a:prstGeom prst="roundRect">
            <a:avLst>
              <a:gd name="adj" fmla="val 9333"/>
            </a:avLst>
          </a:prstGeom>
          <a:solidFill>
            <a:srgbClr val="E7F1E8"/>
          </a:solidFill>
          <a:ln w="12700">
            <a:solidFill>
              <a:srgbClr val="196B24"/>
            </a:solidFill>
            <a:prstDash val="solid"/>
          </a:ln>
        </p:spPr>
      </p:sp>
      <p:sp>
        <p:nvSpPr>
          <p:cNvPr id="40" name="Text 38"/>
          <p:cNvSpPr/>
          <p:nvPr/>
        </p:nvSpPr>
        <p:spPr>
          <a:xfrm>
            <a:off x="548640" y="3721608"/>
            <a:ext cx="11064240" cy="685800"/>
          </a:xfrm>
          <a:prstGeom prst="rect">
            <a:avLst/>
          </a:prstGeom>
          <a:noFill/>
          <a:ln/>
        </p:spPr>
        <p:txBody>
          <a:bodyPr wrap="square" lIns="0" tIns="0" rIns="0" bIns="0" rtlCol="0" anchor="ctr"/>
          <a:lstStyle/>
          <a:p>
            <a:pPr algn="ctr" indent="0" marL="0">
              <a:buNone/>
            </a:pPr>
            <a:r>
              <a:rPr lang="en-US" sz="1600" b="1" dirty="0">
                <a:solidFill>
                  <a:srgbClr val="196B24"/>
                </a:solidFill>
                <a:latin typeface="Malgun Gothic" pitchFamily="34" charset="0"/>
                <a:ea typeface="Malgun Gothic" pitchFamily="34" charset="-122"/>
                <a:cs typeface="Malgun Gothic" pitchFamily="34" charset="-120"/>
              </a:rPr>
              <a:t>SAY:   "About nine in ten, across the group."</a:t>
            </a:r>
            <a:endParaRPr lang="en-US" sz="1600" dirty="0"/>
          </a:p>
        </p:txBody>
      </p:sp>
      <p:sp>
        <p:nvSpPr>
          <p:cNvPr id="41" name="Shape 39"/>
          <p:cNvSpPr/>
          <p:nvPr/>
        </p:nvSpPr>
        <p:spPr>
          <a:xfrm>
            <a:off x="548640" y="4498848"/>
            <a:ext cx="11064240" cy="685800"/>
          </a:xfrm>
          <a:prstGeom prst="roundRect">
            <a:avLst>
              <a:gd name="adj" fmla="val 9333"/>
            </a:avLst>
          </a:prstGeom>
          <a:solidFill>
            <a:srgbClr val="FBEDE2"/>
          </a:solidFill>
          <a:ln w="12700">
            <a:solidFill>
              <a:srgbClr val="E97132"/>
            </a:solidFill>
            <a:prstDash val="solid"/>
          </a:ln>
        </p:spPr>
      </p:sp>
      <p:sp>
        <p:nvSpPr>
          <p:cNvPr id="42" name="Text 40"/>
          <p:cNvSpPr/>
          <p:nvPr/>
        </p:nvSpPr>
        <p:spPr>
          <a:xfrm>
            <a:off x="548640" y="4498848"/>
            <a:ext cx="11064240" cy="685800"/>
          </a:xfrm>
          <a:prstGeom prst="rect">
            <a:avLst/>
          </a:prstGeom>
          <a:noFill/>
          <a:ln/>
        </p:spPr>
        <p:txBody>
          <a:bodyPr wrap="square" lIns="0" tIns="0" rIns="0" bIns="0" rtlCol="0" anchor="ctr"/>
          <a:lstStyle/>
          <a:p>
            <a:pPr algn="ctr" indent="0" marL="0">
              <a:buNone/>
            </a:pPr>
            <a:r>
              <a:rPr lang="en-US" sz="1600" b="1" dirty="0">
                <a:solidFill>
                  <a:srgbClr val="E97132"/>
                </a:solidFill>
                <a:latin typeface="Malgun Gothic" pitchFamily="34" charset="0"/>
                <a:ea typeface="Malgun Gothic" pitchFamily="34" charset="-122"/>
                <a:cs typeface="Malgun Gothic" pitchFamily="34" charset="-120"/>
              </a:rPr>
              <a:t>NEVER SAY:   "This cow will have a heifer."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Reading the straw — six things must match</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If it does not match the paper, it is not transferred</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An embryo nobody can identify cannot be registered or sold. This is a property rule.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10</a:t>
            </a:r>
            <a:endParaRPr lang="en-US" sz="900" dirty="0"/>
          </a:p>
        </p:txBody>
      </p:sp>
      <p:sp>
        <p:nvSpPr>
          <p:cNvPr id="8" name="Shape 6"/>
          <p:cNvSpPr/>
          <p:nvPr/>
        </p:nvSpPr>
        <p:spPr>
          <a:xfrm>
            <a:off x="1280160" y="1801368"/>
            <a:ext cx="9601200" cy="1188720"/>
          </a:xfrm>
          <a:prstGeom prst="roundRect">
            <a:avLst>
              <a:gd name="adj" fmla="val 6154"/>
            </a:avLst>
          </a:prstGeom>
          <a:solidFill>
            <a:srgbClr val="F2F5F7"/>
          </a:solidFill>
          <a:ln w="12700">
            <a:solidFill>
              <a:srgbClr val="0E2841"/>
            </a:solidFill>
            <a:prstDash val="solid"/>
          </a:ln>
        </p:spPr>
      </p:sp>
      <p:sp>
        <p:nvSpPr>
          <p:cNvPr id="9" name="Text 7"/>
          <p:cNvSpPr/>
          <p:nvPr/>
        </p:nvSpPr>
        <p:spPr>
          <a:xfrm>
            <a:off x="1280160" y="1938528"/>
            <a:ext cx="1600200" cy="329184"/>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DONOR</a:t>
            </a:r>
            <a:endParaRPr lang="en-US" sz="1200" dirty="0"/>
          </a:p>
        </p:txBody>
      </p:sp>
      <p:sp>
        <p:nvSpPr>
          <p:cNvPr id="10" name="Text 8"/>
          <p:cNvSpPr/>
          <p:nvPr/>
        </p:nvSpPr>
        <p:spPr>
          <a:xfrm>
            <a:off x="1325880" y="2304288"/>
            <a:ext cx="1508760" cy="5486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mother cow ID</a:t>
            </a:r>
            <a:endParaRPr lang="en-US" sz="1100" dirty="0"/>
          </a:p>
        </p:txBody>
      </p:sp>
      <p:sp>
        <p:nvSpPr>
          <p:cNvPr id="11" name="Shape 9"/>
          <p:cNvSpPr/>
          <p:nvPr/>
        </p:nvSpPr>
        <p:spPr>
          <a:xfrm>
            <a:off x="2880360" y="1801368"/>
            <a:ext cx="0" cy="1188720"/>
          </a:xfrm>
          <a:prstGeom prst="line">
            <a:avLst/>
          </a:prstGeom>
          <a:noFill/>
          <a:ln w="12700">
            <a:solidFill>
              <a:srgbClr val="C9D3DA"/>
            </a:solidFill>
            <a:prstDash val="solid"/>
          </a:ln>
        </p:spPr>
      </p:sp>
      <p:sp>
        <p:nvSpPr>
          <p:cNvPr id="12" name="Text 10"/>
          <p:cNvSpPr/>
          <p:nvPr/>
        </p:nvSpPr>
        <p:spPr>
          <a:xfrm>
            <a:off x="2880360" y="1938528"/>
            <a:ext cx="1600200" cy="329184"/>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SIRE</a:t>
            </a:r>
            <a:endParaRPr lang="en-US" sz="1200" dirty="0"/>
          </a:p>
        </p:txBody>
      </p:sp>
      <p:sp>
        <p:nvSpPr>
          <p:cNvPr id="13" name="Text 11"/>
          <p:cNvSpPr/>
          <p:nvPr/>
        </p:nvSpPr>
        <p:spPr>
          <a:xfrm>
            <a:off x="2926080" y="2304288"/>
            <a:ext cx="1508760" cy="5486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father bull ID</a:t>
            </a:r>
            <a:endParaRPr lang="en-US" sz="1100" dirty="0"/>
          </a:p>
        </p:txBody>
      </p:sp>
      <p:sp>
        <p:nvSpPr>
          <p:cNvPr id="14" name="Shape 12"/>
          <p:cNvSpPr/>
          <p:nvPr/>
        </p:nvSpPr>
        <p:spPr>
          <a:xfrm>
            <a:off x="4480560" y="1801368"/>
            <a:ext cx="0" cy="1188720"/>
          </a:xfrm>
          <a:prstGeom prst="line">
            <a:avLst/>
          </a:prstGeom>
          <a:noFill/>
          <a:ln w="12700">
            <a:solidFill>
              <a:srgbClr val="C9D3DA"/>
            </a:solidFill>
            <a:prstDash val="solid"/>
          </a:ln>
        </p:spPr>
      </p:sp>
      <p:sp>
        <p:nvSpPr>
          <p:cNvPr id="15" name="Text 13"/>
          <p:cNvSpPr/>
          <p:nvPr/>
        </p:nvSpPr>
        <p:spPr>
          <a:xfrm>
            <a:off x="4480560" y="1938528"/>
            <a:ext cx="1600200" cy="329184"/>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GRADE</a:t>
            </a:r>
            <a:endParaRPr lang="en-US" sz="1200" dirty="0"/>
          </a:p>
        </p:txBody>
      </p:sp>
      <p:sp>
        <p:nvSpPr>
          <p:cNvPr id="16" name="Text 14"/>
          <p:cNvSpPr/>
          <p:nvPr/>
        </p:nvSpPr>
        <p:spPr>
          <a:xfrm>
            <a:off x="4526280" y="2304288"/>
            <a:ext cx="1508760" cy="5486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quality, e.g. 1</a:t>
            </a:r>
            <a:endParaRPr lang="en-US" sz="1100" dirty="0"/>
          </a:p>
        </p:txBody>
      </p:sp>
      <p:sp>
        <p:nvSpPr>
          <p:cNvPr id="17" name="Shape 15"/>
          <p:cNvSpPr/>
          <p:nvPr/>
        </p:nvSpPr>
        <p:spPr>
          <a:xfrm>
            <a:off x="6080760" y="1801368"/>
            <a:ext cx="0" cy="1188720"/>
          </a:xfrm>
          <a:prstGeom prst="line">
            <a:avLst/>
          </a:prstGeom>
          <a:noFill/>
          <a:ln w="12700">
            <a:solidFill>
              <a:srgbClr val="C9D3DA"/>
            </a:solidFill>
            <a:prstDash val="solid"/>
          </a:ln>
        </p:spPr>
      </p:sp>
      <p:sp>
        <p:nvSpPr>
          <p:cNvPr id="18" name="Text 16"/>
          <p:cNvSpPr/>
          <p:nvPr/>
        </p:nvSpPr>
        <p:spPr>
          <a:xfrm>
            <a:off x="6080760" y="1938528"/>
            <a:ext cx="1600200" cy="329184"/>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SEX</a:t>
            </a:r>
            <a:endParaRPr lang="en-US" sz="1200" dirty="0"/>
          </a:p>
        </p:txBody>
      </p:sp>
      <p:sp>
        <p:nvSpPr>
          <p:cNvPr id="19" name="Text 17"/>
          <p:cNvSpPr/>
          <p:nvPr/>
        </p:nvSpPr>
        <p:spPr>
          <a:xfrm>
            <a:off x="6126480" y="2304288"/>
            <a:ext cx="1508760" cy="5486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female</a:t>
            </a:r>
            <a:endParaRPr lang="en-US" sz="1100" dirty="0"/>
          </a:p>
        </p:txBody>
      </p:sp>
      <p:sp>
        <p:nvSpPr>
          <p:cNvPr id="20" name="Shape 18"/>
          <p:cNvSpPr/>
          <p:nvPr/>
        </p:nvSpPr>
        <p:spPr>
          <a:xfrm>
            <a:off x="7680960" y="1801368"/>
            <a:ext cx="0" cy="1188720"/>
          </a:xfrm>
          <a:prstGeom prst="line">
            <a:avLst/>
          </a:prstGeom>
          <a:noFill/>
          <a:ln w="12700">
            <a:solidFill>
              <a:srgbClr val="C9D3DA"/>
            </a:solidFill>
            <a:prstDash val="solid"/>
          </a:ln>
        </p:spPr>
      </p:sp>
      <p:sp>
        <p:nvSpPr>
          <p:cNvPr id="21" name="Text 19"/>
          <p:cNvSpPr/>
          <p:nvPr/>
        </p:nvSpPr>
        <p:spPr>
          <a:xfrm>
            <a:off x="7680960" y="1938528"/>
            <a:ext cx="1600200" cy="329184"/>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DATE</a:t>
            </a:r>
            <a:endParaRPr lang="en-US" sz="1200" dirty="0"/>
          </a:p>
        </p:txBody>
      </p:sp>
      <p:sp>
        <p:nvSpPr>
          <p:cNvPr id="22" name="Text 20"/>
          <p:cNvSpPr/>
          <p:nvPr/>
        </p:nvSpPr>
        <p:spPr>
          <a:xfrm>
            <a:off x="7726680" y="2304288"/>
            <a:ext cx="1508760" cy="5486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frozen on</a:t>
            </a:r>
            <a:endParaRPr lang="en-US" sz="1100" dirty="0"/>
          </a:p>
        </p:txBody>
      </p:sp>
      <p:sp>
        <p:nvSpPr>
          <p:cNvPr id="23" name="Shape 21"/>
          <p:cNvSpPr/>
          <p:nvPr/>
        </p:nvSpPr>
        <p:spPr>
          <a:xfrm>
            <a:off x="9281160" y="1801368"/>
            <a:ext cx="0" cy="1188720"/>
          </a:xfrm>
          <a:prstGeom prst="line">
            <a:avLst/>
          </a:prstGeom>
          <a:noFill/>
          <a:ln w="12700">
            <a:solidFill>
              <a:srgbClr val="C9D3DA"/>
            </a:solidFill>
            <a:prstDash val="solid"/>
          </a:ln>
        </p:spPr>
      </p:sp>
      <p:sp>
        <p:nvSpPr>
          <p:cNvPr id="24" name="Text 22"/>
          <p:cNvSpPr/>
          <p:nvPr/>
        </p:nvSpPr>
        <p:spPr>
          <a:xfrm>
            <a:off x="9281160" y="1938528"/>
            <a:ext cx="1600200" cy="329184"/>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METHOD</a:t>
            </a:r>
            <a:endParaRPr lang="en-US" sz="1200" dirty="0"/>
          </a:p>
        </p:txBody>
      </p:sp>
      <p:sp>
        <p:nvSpPr>
          <p:cNvPr id="25" name="Text 23"/>
          <p:cNvSpPr/>
          <p:nvPr/>
        </p:nvSpPr>
        <p:spPr>
          <a:xfrm>
            <a:off x="9326880" y="2304288"/>
            <a:ext cx="1508760" cy="5486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DT or vitrified</a:t>
            </a:r>
            <a:endParaRPr lang="en-US" sz="1100" dirty="0"/>
          </a:p>
        </p:txBody>
      </p:sp>
      <p:sp>
        <p:nvSpPr>
          <p:cNvPr id="26" name="Text 24"/>
          <p:cNvSpPr/>
          <p:nvPr/>
        </p:nvSpPr>
        <p:spPr>
          <a:xfrm>
            <a:off x="548640" y="1801368"/>
            <a:ext cx="731520" cy="1188720"/>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STRAW</a:t>
            </a:r>
            <a:endParaRPr lang="en-US" sz="1200" dirty="0"/>
          </a:p>
        </p:txBody>
      </p:sp>
      <p:sp>
        <p:nvSpPr>
          <p:cNvPr id="27" name="Shape 25"/>
          <p:cNvSpPr/>
          <p:nvPr/>
        </p:nvSpPr>
        <p:spPr>
          <a:xfrm>
            <a:off x="5897880" y="3081528"/>
            <a:ext cx="365760" cy="411480"/>
          </a:xfrm>
          <a:prstGeom prst="downArrow">
            <a:avLst/>
          </a:prstGeom>
          <a:solidFill>
            <a:srgbClr val="156082"/>
          </a:solidFill>
          <a:ln w="12700">
            <a:solidFill>
              <a:srgbClr val="156082"/>
            </a:solidFill>
            <a:prstDash val="solid"/>
          </a:ln>
        </p:spPr>
      </p:sp>
      <p:sp>
        <p:nvSpPr>
          <p:cNvPr id="28" name="Text 26"/>
          <p:cNvSpPr/>
          <p:nvPr/>
        </p:nvSpPr>
        <p:spPr>
          <a:xfrm>
            <a:off x="6400800" y="3127248"/>
            <a:ext cx="2194560"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all six must match</a:t>
            </a:r>
            <a:endParaRPr lang="en-US" sz="1200" dirty="0"/>
          </a:p>
        </p:txBody>
      </p:sp>
      <p:sp>
        <p:nvSpPr>
          <p:cNvPr id="29" name="Shape 27"/>
          <p:cNvSpPr/>
          <p:nvPr/>
        </p:nvSpPr>
        <p:spPr>
          <a:xfrm>
            <a:off x="1280160" y="3584448"/>
            <a:ext cx="9601200" cy="640080"/>
          </a:xfrm>
          <a:prstGeom prst="roundRect">
            <a:avLst>
              <a:gd name="adj" fmla="val 11429"/>
            </a:avLst>
          </a:prstGeom>
          <a:solidFill>
            <a:srgbClr val="E3ECF1"/>
          </a:solidFill>
          <a:ln w="12700">
            <a:solidFill>
              <a:srgbClr val="E3ECF1"/>
            </a:solidFill>
            <a:prstDash val="solid"/>
          </a:ln>
        </p:spPr>
      </p:sp>
      <p:sp>
        <p:nvSpPr>
          <p:cNvPr id="30" name="Text 28"/>
          <p:cNvSpPr/>
          <p:nvPr/>
        </p:nvSpPr>
        <p:spPr>
          <a:xfrm>
            <a:off x="1280160" y="3584448"/>
            <a:ext cx="9601200" cy="640080"/>
          </a:xfrm>
          <a:prstGeom prst="rect">
            <a:avLst/>
          </a:prstGeom>
          <a:noFill/>
          <a:ln/>
        </p:spPr>
        <p:txBody>
          <a:bodyPr wrap="square" lIns="0" tIns="0" rIns="0" bIns="0" rtlCol="0" anchor="ctr"/>
          <a:lstStyle/>
          <a:p>
            <a:pPr algn="ctr" indent="0" marL="0">
              <a:buNone/>
            </a:pPr>
            <a:r>
              <a:rPr lang="en-US" sz="1400" b="1" dirty="0">
                <a:solidFill>
                  <a:srgbClr val="0E2841"/>
                </a:solidFill>
                <a:latin typeface="Malgun Gothic" pitchFamily="34" charset="0"/>
                <a:ea typeface="Malgun Gothic" pitchFamily="34" charset="-122"/>
                <a:cs typeface="Malgun Gothic" pitchFamily="34" charset="-120"/>
              </a:rPr>
              <a:t>YOUR TRANSFER LIST  +  THE IMPORT DOCUMENTS</a:t>
            </a:r>
            <a:endParaRPr lang="en-US" sz="1400" dirty="0"/>
          </a:p>
        </p:txBody>
      </p:sp>
      <p:sp>
        <p:nvSpPr>
          <p:cNvPr id="31" name="Shape 29"/>
          <p:cNvSpPr/>
          <p:nvPr/>
        </p:nvSpPr>
        <p:spPr>
          <a:xfrm>
            <a:off x="548640" y="4453128"/>
            <a:ext cx="11064240" cy="777240"/>
          </a:xfrm>
          <a:prstGeom prst="roundRect">
            <a:avLst>
              <a:gd name="adj" fmla="val 9412"/>
            </a:avLst>
          </a:prstGeom>
          <a:solidFill>
            <a:srgbClr val="FBEDE2"/>
          </a:solidFill>
          <a:ln w="12700">
            <a:solidFill>
              <a:srgbClr val="E97132"/>
            </a:solidFill>
            <a:prstDash val="solid"/>
          </a:ln>
        </p:spPr>
      </p:sp>
      <p:sp>
        <p:nvSpPr>
          <p:cNvPr id="32" name="Text 30"/>
          <p:cNvSpPr/>
          <p:nvPr/>
        </p:nvSpPr>
        <p:spPr>
          <a:xfrm>
            <a:off x="548640" y="4453128"/>
            <a:ext cx="11064240" cy="777240"/>
          </a:xfrm>
          <a:prstGeom prst="rect">
            <a:avLst/>
          </a:prstGeom>
          <a:noFill/>
          <a:ln/>
        </p:spPr>
        <p:txBody>
          <a:bodyPr wrap="square" lIns="0" tIns="0" rIns="0" bIns="0" rtlCol="0" anchor="ctr"/>
          <a:lstStyle/>
          <a:p>
            <a:pPr algn="ctr" indent="0" marL="0">
              <a:buNone/>
            </a:pPr>
            <a:r>
              <a:rPr lang="en-US" sz="1500" b="1" dirty="0">
                <a:solidFill>
                  <a:srgbClr val="0E2841"/>
                </a:solidFill>
                <a:latin typeface="Malgun Gothic" pitchFamily="34" charset="0"/>
                <a:ea typeface="Malgun Gothic" pitchFamily="34" charset="-122"/>
                <a:cs typeface="Malgun Gothic" pitchFamily="34" charset="-120"/>
              </a:rPr>
              <a:t>Does not match  →  DO NOT TRANSFER.  Put it back and ask.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02</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Recipient synchronisation — the calendar</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65 minutes  ·  where Professor Yoon stops, we start</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three numbers you need to build a calendar</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Professor Yoon covered the physiology. These are the numbers you inject against.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PGF2a only works on a CL that is 6 to 17 days old. Every protocol is built around that one fact.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12</a:t>
            </a:r>
            <a:endParaRPr lang="en-US" sz="900" dirty="0"/>
          </a:p>
        </p:txBody>
      </p:sp>
      <p:sp>
        <p:nvSpPr>
          <p:cNvPr id="8" name="Shape 6"/>
          <p:cNvSpPr/>
          <p:nvPr/>
        </p:nvSpPr>
        <p:spPr>
          <a:xfrm>
            <a:off x="1280160" y="1755648"/>
            <a:ext cx="3029712" cy="1463040"/>
          </a:xfrm>
          <a:prstGeom prst="roundRect">
            <a:avLst>
              <a:gd name="adj" fmla="val 4375"/>
            </a:avLst>
          </a:prstGeom>
          <a:solidFill>
            <a:srgbClr val="F2F5F7"/>
          </a:solidFill>
          <a:ln w="12700">
            <a:solidFill>
              <a:srgbClr val="C9D3DA"/>
            </a:solidFill>
            <a:prstDash val="solid"/>
          </a:ln>
        </p:spPr>
      </p:sp>
      <p:sp>
        <p:nvSpPr>
          <p:cNvPr id="9" name="Text 7"/>
          <p:cNvSpPr/>
          <p:nvPr/>
        </p:nvSpPr>
        <p:spPr>
          <a:xfrm>
            <a:off x="1280160" y="1865376"/>
            <a:ext cx="3029712" cy="702259"/>
          </a:xfrm>
          <a:prstGeom prst="rect">
            <a:avLst/>
          </a:prstGeom>
          <a:noFill/>
          <a:ln/>
        </p:spPr>
        <p:txBody>
          <a:bodyPr wrap="square" lIns="0" tIns="0" rIns="0" bIns="0" rtlCol="0" anchor="ctr"/>
          <a:lstStyle/>
          <a:p>
            <a:pPr algn="ctr" indent="0" marL="0">
              <a:buNone/>
            </a:pPr>
            <a:r>
              <a:rPr lang="en-US" sz="3800" b="1" dirty="0">
                <a:solidFill>
                  <a:srgbClr val="156082"/>
                </a:solidFill>
                <a:latin typeface="Malgun Gothic" pitchFamily="34" charset="0"/>
                <a:ea typeface="Malgun Gothic" pitchFamily="34" charset="-122"/>
                <a:cs typeface="Malgun Gothic" pitchFamily="34" charset="-120"/>
              </a:rPr>
              <a:t>21</a:t>
            </a:r>
            <a:endParaRPr lang="en-US" sz="3800" dirty="0"/>
          </a:p>
        </p:txBody>
      </p:sp>
      <p:sp>
        <p:nvSpPr>
          <p:cNvPr id="10" name="Text 8"/>
          <p:cNvSpPr/>
          <p:nvPr/>
        </p:nvSpPr>
        <p:spPr>
          <a:xfrm>
            <a:off x="1371600" y="2604211"/>
            <a:ext cx="2846832" cy="526694"/>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days — one cycle</a:t>
            </a:r>
            <a:endParaRPr lang="en-US" sz="1100" dirty="0"/>
          </a:p>
        </p:txBody>
      </p:sp>
      <p:sp>
        <p:nvSpPr>
          <p:cNvPr id="11" name="Shape 9"/>
          <p:cNvSpPr/>
          <p:nvPr/>
        </p:nvSpPr>
        <p:spPr>
          <a:xfrm>
            <a:off x="4565904" y="1755648"/>
            <a:ext cx="3029712" cy="1463040"/>
          </a:xfrm>
          <a:prstGeom prst="roundRect">
            <a:avLst>
              <a:gd name="adj" fmla="val 4375"/>
            </a:avLst>
          </a:prstGeom>
          <a:solidFill>
            <a:srgbClr val="F2F5F7"/>
          </a:solidFill>
          <a:ln w="12700">
            <a:solidFill>
              <a:srgbClr val="C9D3DA"/>
            </a:solidFill>
            <a:prstDash val="solid"/>
          </a:ln>
        </p:spPr>
      </p:sp>
      <p:sp>
        <p:nvSpPr>
          <p:cNvPr id="12" name="Text 10"/>
          <p:cNvSpPr/>
          <p:nvPr/>
        </p:nvSpPr>
        <p:spPr>
          <a:xfrm>
            <a:off x="4565904" y="1865376"/>
            <a:ext cx="3029712" cy="702259"/>
          </a:xfrm>
          <a:prstGeom prst="rect">
            <a:avLst/>
          </a:prstGeom>
          <a:noFill/>
          <a:ln/>
        </p:spPr>
        <p:txBody>
          <a:bodyPr wrap="square" lIns="0" tIns="0" rIns="0" bIns="0" rtlCol="0" anchor="ctr"/>
          <a:lstStyle/>
          <a:p>
            <a:pPr algn="ctr" indent="0" marL="0">
              <a:buNone/>
            </a:pPr>
            <a:r>
              <a:rPr lang="en-US" sz="2800" b="1" dirty="0">
                <a:solidFill>
                  <a:srgbClr val="156082"/>
                </a:solidFill>
                <a:latin typeface="Malgun Gothic" pitchFamily="34" charset="0"/>
                <a:ea typeface="Malgun Gothic" pitchFamily="34" charset="-122"/>
                <a:cs typeface="Malgun Gothic" pitchFamily="34" charset="-120"/>
              </a:rPr>
              <a:t>24–32 h</a:t>
            </a:r>
            <a:endParaRPr lang="en-US" sz="2800" dirty="0"/>
          </a:p>
        </p:txBody>
      </p:sp>
      <p:sp>
        <p:nvSpPr>
          <p:cNvPr id="13" name="Text 11"/>
          <p:cNvSpPr/>
          <p:nvPr/>
        </p:nvSpPr>
        <p:spPr>
          <a:xfrm>
            <a:off x="4657344" y="2604211"/>
            <a:ext cx="2846832" cy="526694"/>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ovulation, after heat STARTS</a:t>
            </a:r>
            <a:endParaRPr lang="en-US" sz="1100" dirty="0"/>
          </a:p>
        </p:txBody>
      </p:sp>
      <p:sp>
        <p:nvSpPr>
          <p:cNvPr id="14" name="Shape 12"/>
          <p:cNvSpPr/>
          <p:nvPr/>
        </p:nvSpPr>
        <p:spPr>
          <a:xfrm>
            <a:off x="7851648" y="1755648"/>
            <a:ext cx="3029712" cy="1463040"/>
          </a:xfrm>
          <a:prstGeom prst="roundRect">
            <a:avLst>
              <a:gd name="adj" fmla="val 4375"/>
            </a:avLst>
          </a:prstGeom>
          <a:solidFill>
            <a:srgbClr val="F2F5F7"/>
          </a:solidFill>
          <a:ln w="12700">
            <a:solidFill>
              <a:srgbClr val="C9D3DA"/>
            </a:solidFill>
            <a:prstDash val="solid"/>
          </a:ln>
        </p:spPr>
      </p:sp>
      <p:sp>
        <p:nvSpPr>
          <p:cNvPr id="15" name="Text 13"/>
          <p:cNvSpPr/>
          <p:nvPr/>
        </p:nvSpPr>
        <p:spPr>
          <a:xfrm>
            <a:off x="7851648" y="1865376"/>
            <a:ext cx="3029712" cy="702259"/>
          </a:xfrm>
          <a:prstGeom prst="rect">
            <a:avLst/>
          </a:prstGeom>
          <a:noFill/>
          <a:ln/>
        </p:spPr>
        <p:txBody>
          <a:bodyPr wrap="square" lIns="0" tIns="0" rIns="0" bIns="0" rtlCol="0" anchor="ctr"/>
          <a:lstStyle/>
          <a:p>
            <a:pPr algn="ctr" indent="0" marL="0">
              <a:buNone/>
            </a:pPr>
            <a:r>
              <a:rPr lang="en-US" sz="3000" b="1" dirty="0">
                <a:solidFill>
                  <a:srgbClr val="E97132"/>
                </a:solidFill>
                <a:latin typeface="Malgun Gothic" pitchFamily="34" charset="0"/>
                <a:ea typeface="Malgun Gothic" pitchFamily="34" charset="-122"/>
                <a:cs typeface="Malgun Gothic" pitchFamily="34" charset="-120"/>
              </a:rPr>
              <a:t>6–17 d</a:t>
            </a:r>
            <a:endParaRPr lang="en-US" sz="3000" dirty="0"/>
          </a:p>
        </p:txBody>
      </p:sp>
      <p:sp>
        <p:nvSpPr>
          <p:cNvPr id="16" name="Text 14"/>
          <p:cNvSpPr/>
          <p:nvPr/>
        </p:nvSpPr>
        <p:spPr>
          <a:xfrm>
            <a:off x="7943088" y="2604211"/>
            <a:ext cx="2846832" cy="526694"/>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CL age when PGF2a works</a:t>
            </a:r>
            <a:endParaRPr lang="en-US" sz="1100" dirty="0"/>
          </a:p>
        </p:txBody>
      </p:sp>
      <p:sp>
        <p:nvSpPr>
          <p:cNvPr id="17" name="Shape 15"/>
          <p:cNvSpPr/>
          <p:nvPr/>
        </p:nvSpPr>
        <p:spPr>
          <a:xfrm>
            <a:off x="1371600" y="4087368"/>
            <a:ext cx="9418320" cy="0"/>
          </a:xfrm>
          <a:prstGeom prst="line">
            <a:avLst/>
          </a:prstGeom>
          <a:noFill/>
          <a:ln w="25400">
            <a:solidFill>
              <a:srgbClr val="0E2841"/>
            </a:solidFill>
            <a:prstDash val="solid"/>
          </a:ln>
        </p:spPr>
      </p:sp>
      <p:sp>
        <p:nvSpPr>
          <p:cNvPr id="18" name="Shape 16"/>
          <p:cNvSpPr/>
          <p:nvPr/>
        </p:nvSpPr>
        <p:spPr>
          <a:xfrm>
            <a:off x="1371600" y="4023360"/>
            <a:ext cx="0" cy="128016"/>
          </a:xfrm>
          <a:prstGeom prst="line">
            <a:avLst/>
          </a:prstGeom>
          <a:noFill/>
          <a:ln w="17780">
            <a:solidFill>
              <a:srgbClr val="0E2841"/>
            </a:solidFill>
            <a:prstDash val="solid"/>
          </a:ln>
        </p:spPr>
      </p:sp>
      <p:sp>
        <p:nvSpPr>
          <p:cNvPr id="19" name="Text 17"/>
          <p:cNvSpPr/>
          <p:nvPr/>
        </p:nvSpPr>
        <p:spPr>
          <a:xfrm>
            <a:off x="1078992"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0</a:t>
            </a:r>
            <a:endParaRPr lang="en-US" sz="1000" dirty="0"/>
          </a:p>
        </p:txBody>
      </p:sp>
      <p:sp>
        <p:nvSpPr>
          <p:cNvPr id="20" name="Shape 18"/>
          <p:cNvSpPr/>
          <p:nvPr/>
        </p:nvSpPr>
        <p:spPr>
          <a:xfrm>
            <a:off x="1820091" y="4023360"/>
            <a:ext cx="0" cy="128016"/>
          </a:xfrm>
          <a:prstGeom prst="line">
            <a:avLst/>
          </a:prstGeom>
          <a:noFill/>
          <a:ln w="10160">
            <a:solidFill>
              <a:srgbClr val="C9D3DA"/>
            </a:solidFill>
            <a:prstDash val="solid"/>
          </a:ln>
        </p:spPr>
      </p:sp>
      <p:sp>
        <p:nvSpPr>
          <p:cNvPr id="21" name="Shape 19"/>
          <p:cNvSpPr/>
          <p:nvPr/>
        </p:nvSpPr>
        <p:spPr>
          <a:xfrm>
            <a:off x="2268583" y="4023360"/>
            <a:ext cx="0" cy="128016"/>
          </a:xfrm>
          <a:prstGeom prst="line">
            <a:avLst/>
          </a:prstGeom>
          <a:noFill/>
          <a:ln w="10160">
            <a:solidFill>
              <a:srgbClr val="C9D3DA"/>
            </a:solidFill>
            <a:prstDash val="solid"/>
          </a:ln>
        </p:spPr>
      </p:sp>
      <p:sp>
        <p:nvSpPr>
          <p:cNvPr id="22" name="Shape 20"/>
          <p:cNvSpPr/>
          <p:nvPr/>
        </p:nvSpPr>
        <p:spPr>
          <a:xfrm>
            <a:off x="2717074" y="4023360"/>
            <a:ext cx="0" cy="128016"/>
          </a:xfrm>
          <a:prstGeom prst="line">
            <a:avLst/>
          </a:prstGeom>
          <a:noFill/>
          <a:ln w="17780">
            <a:solidFill>
              <a:srgbClr val="0E2841"/>
            </a:solidFill>
            <a:prstDash val="solid"/>
          </a:ln>
        </p:spPr>
      </p:sp>
      <p:sp>
        <p:nvSpPr>
          <p:cNvPr id="23" name="Text 21"/>
          <p:cNvSpPr/>
          <p:nvPr/>
        </p:nvSpPr>
        <p:spPr>
          <a:xfrm>
            <a:off x="2424466"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3</a:t>
            </a:r>
            <a:endParaRPr lang="en-US" sz="1000" dirty="0"/>
          </a:p>
        </p:txBody>
      </p:sp>
      <p:sp>
        <p:nvSpPr>
          <p:cNvPr id="24" name="Shape 22"/>
          <p:cNvSpPr/>
          <p:nvPr/>
        </p:nvSpPr>
        <p:spPr>
          <a:xfrm>
            <a:off x="3165566" y="4023360"/>
            <a:ext cx="0" cy="128016"/>
          </a:xfrm>
          <a:prstGeom prst="line">
            <a:avLst/>
          </a:prstGeom>
          <a:noFill/>
          <a:ln w="10160">
            <a:solidFill>
              <a:srgbClr val="C9D3DA"/>
            </a:solidFill>
            <a:prstDash val="solid"/>
          </a:ln>
        </p:spPr>
      </p:sp>
      <p:sp>
        <p:nvSpPr>
          <p:cNvPr id="25" name="Shape 23"/>
          <p:cNvSpPr/>
          <p:nvPr/>
        </p:nvSpPr>
        <p:spPr>
          <a:xfrm>
            <a:off x="3614057" y="4023360"/>
            <a:ext cx="0" cy="128016"/>
          </a:xfrm>
          <a:prstGeom prst="line">
            <a:avLst/>
          </a:prstGeom>
          <a:noFill/>
          <a:ln w="10160">
            <a:solidFill>
              <a:srgbClr val="C9D3DA"/>
            </a:solidFill>
            <a:prstDash val="solid"/>
          </a:ln>
        </p:spPr>
      </p:sp>
      <p:sp>
        <p:nvSpPr>
          <p:cNvPr id="26" name="Shape 24"/>
          <p:cNvSpPr/>
          <p:nvPr/>
        </p:nvSpPr>
        <p:spPr>
          <a:xfrm>
            <a:off x="4062549" y="4023360"/>
            <a:ext cx="0" cy="128016"/>
          </a:xfrm>
          <a:prstGeom prst="line">
            <a:avLst/>
          </a:prstGeom>
          <a:noFill/>
          <a:ln w="17780">
            <a:solidFill>
              <a:srgbClr val="0E2841"/>
            </a:solidFill>
            <a:prstDash val="solid"/>
          </a:ln>
        </p:spPr>
      </p:sp>
      <p:sp>
        <p:nvSpPr>
          <p:cNvPr id="27" name="Text 25"/>
          <p:cNvSpPr/>
          <p:nvPr/>
        </p:nvSpPr>
        <p:spPr>
          <a:xfrm>
            <a:off x="3769941"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6</a:t>
            </a:r>
            <a:endParaRPr lang="en-US" sz="1000" dirty="0"/>
          </a:p>
        </p:txBody>
      </p:sp>
      <p:sp>
        <p:nvSpPr>
          <p:cNvPr id="28" name="Shape 26"/>
          <p:cNvSpPr/>
          <p:nvPr/>
        </p:nvSpPr>
        <p:spPr>
          <a:xfrm>
            <a:off x="4511040" y="4023360"/>
            <a:ext cx="0" cy="128016"/>
          </a:xfrm>
          <a:prstGeom prst="line">
            <a:avLst/>
          </a:prstGeom>
          <a:noFill/>
          <a:ln w="10160">
            <a:solidFill>
              <a:srgbClr val="C9D3DA"/>
            </a:solidFill>
            <a:prstDash val="solid"/>
          </a:ln>
        </p:spPr>
      </p:sp>
      <p:sp>
        <p:nvSpPr>
          <p:cNvPr id="29" name="Shape 27"/>
          <p:cNvSpPr/>
          <p:nvPr/>
        </p:nvSpPr>
        <p:spPr>
          <a:xfrm>
            <a:off x="4959531" y="4023360"/>
            <a:ext cx="0" cy="128016"/>
          </a:xfrm>
          <a:prstGeom prst="line">
            <a:avLst/>
          </a:prstGeom>
          <a:noFill/>
          <a:ln w="10160">
            <a:solidFill>
              <a:srgbClr val="C9D3DA"/>
            </a:solidFill>
            <a:prstDash val="solid"/>
          </a:ln>
        </p:spPr>
      </p:sp>
      <p:sp>
        <p:nvSpPr>
          <p:cNvPr id="30" name="Shape 28"/>
          <p:cNvSpPr/>
          <p:nvPr/>
        </p:nvSpPr>
        <p:spPr>
          <a:xfrm>
            <a:off x="5408023" y="4023360"/>
            <a:ext cx="0" cy="128016"/>
          </a:xfrm>
          <a:prstGeom prst="line">
            <a:avLst/>
          </a:prstGeom>
          <a:noFill/>
          <a:ln w="17780">
            <a:solidFill>
              <a:srgbClr val="0E2841"/>
            </a:solidFill>
            <a:prstDash val="solid"/>
          </a:ln>
        </p:spPr>
      </p:sp>
      <p:sp>
        <p:nvSpPr>
          <p:cNvPr id="31" name="Text 29"/>
          <p:cNvSpPr/>
          <p:nvPr/>
        </p:nvSpPr>
        <p:spPr>
          <a:xfrm>
            <a:off x="5115415"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9</a:t>
            </a:r>
            <a:endParaRPr lang="en-US" sz="1000" dirty="0"/>
          </a:p>
        </p:txBody>
      </p:sp>
      <p:sp>
        <p:nvSpPr>
          <p:cNvPr id="32" name="Shape 30"/>
          <p:cNvSpPr/>
          <p:nvPr/>
        </p:nvSpPr>
        <p:spPr>
          <a:xfrm>
            <a:off x="5856514" y="4023360"/>
            <a:ext cx="0" cy="128016"/>
          </a:xfrm>
          <a:prstGeom prst="line">
            <a:avLst/>
          </a:prstGeom>
          <a:noFill/>
          <a:ln w="10160">
            <a:solidFill>
              <a:srgbClr val="C9D3DA"/>
            </a:solidFill>
            <a:prstDash val="solid"/>
          </a:ln>
        </p:spPr>
      </p:sp>
      <p:sp>
        <p:nvSpPr>
          <p:cNvPr id="33" name="Shape 31"/>
          <p:cNvSpPr/>
          <p:nvPr/>
        </p:nvSpPr>
        <p:spPr>
          <a:xfrm>
            <a:off x="6305006" y="4023360"/>
            <a:ext cx="0" cy="128016"/>
          </a:xfrm>
          <a:prstGeom prst="line">
            <a:avLst/>
          </a:prstGeom>
          <a:noFill/>
          <a:ln w="10160">
            <a:solidFill>
              <a:srgbClr val="C9D3DA"/>
            </a:solidFill>
            <a:prstDash val="solid"/>
          </a:ln>
        </p:spPr>
      </p:sp>
      <p:sp>
        <p:nvSpPr>
          <p:cNvPr id="34" name="Shape 32"/>
          <p:cNvSpPr/>
          <p:nvPr/>
        </p:nvSpPr>
        <p:spPr>
          <a:xfrm>
            <a:off x="6753497" y="4023360"/>
            <a:ext cx="0" cy="128016"/>
          </a:xfrm>
          <a:prstGeom prst="line">
            <a:avLst/>
          </a:prstGeom>
          <a:noFill/>
          <a:ln w="17780">
            <a:solidFill>
              <a:srgbClr val="0E2841"/>
            </a:solidFill>
            <a:prstDash val="solid"/>
          </a:ln>
        </p:spPr>
      </p:sp>
      <p:sp>
        <p:nvSpPr>
          <p:cNvPr id="35" name="Text 33"/>
          <p:cNvSpPr/>
          <p:nvPr/>
        </p:nvSpPr>
        <p:spPr>
          <a:xfrm>
            <a:off x="6460889"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12</a:t>
            </a:r>
            <a:endParaRPr lang="en-US" sz="1000" dirty="0"/>
          </a:p>
        </p:txBody>
      </p:sp>
      <p:sp>
        <p:nvSpPr>
          <p:cNvPr id="36" name="Shape 34"/>
          <p:cNvSpPr/>
          <p:nvPr/>
        </p:nvSpPr>
        <p:spPr>
          <a:xfrm>
            <a:off x="7201989" y="4023360"/>
            <a:ext cx="0" cy="128016"/>
          </a:xfrm>
          <a:prstGeom prst="line">
            <a:avLst/>
          </a:prstGeom>
          <a:noFill/>
          <a:ln w="10160">
            <a:solidFill>
              <a:srgbClr val="C9D3DA"/>
            </a:solidFill>
            <a:prstDash val="solid"/>
          </a:ln>
        </p:spPr>
      </p:sp>
      <p:sp>
        <p:nvSpPr>
          <p:cNvPr id="37" name="Shape 35"/>
          <p:cNvSpPr/>
          <p:nvPr/>
        </p:nvSpPr>
        <p:spPr>
          <a:xfrm>
            <a:off x="7650480" y="4023360"/>
            <a:ext cx="0" cy="128016"/>
          </a:xfrm>
          <a:prstGeom prst="line">
            <a:avLst/>
          </a:prstGeom>
          <a:noFill/>
          <a:ln w="10160">
            <a:solidFill>
              <a:srgbClr val="C9D3DA"/>
            </a:solidFill>
            <a:prstDash val="solid"/>
          </a:ln>
        </p:spPr>
      </p:sp>
      <p:sp>
        <p:nvSpPr>
          <p:cNvPr id="38" name="Shape 36"/>
          <p:cNvSpPr/>
          <p:nvPr/>
        </p:nvSpPr>
        <p:spPr>
          <a:xfrm>
            <a:off x="8098971" y="4023360"/>
            <a:ext cx="0" cy="128016"/>
          </a:xfrm>
          <a:prstGeom prst="line">
            <a:avLst/>
          </a:prstGeom>
          <a:noFill/>
          <a:ln w="17780">
            <a:solidFill>
              <a:srgbClr val="0E2841"/>
            </a:solidFill>
            <a:prstDash val="solid"/>
          </a:ln>
        </p:spPr>
      </p:sp>
      <p:sp>
        <p:nvSpPr>
          <p:cNvPr id="39" name="Text 37"/>
          <p:cNvSpPr/>
          <p:nvPr/>
        </p:nvSpPr>
        <p:spPr>
          <a:xfrm>
            <a:off x="7806363"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15</a:t>
            </a:r>
            <a:endParaRPr lang="en-US" sz="1000" dirty="0"/>
          </a:p>
        </p:txBody>
      </p:sp>
      <p:sp>
        <p:nvSpPr>
          <p:cNvPr id="40" name="Shape 38"/>
          <p:cNvSpPr/>
          <p:nvPr/>
        </p:nvSpPr>
        <p:spPr>
          <a:xfrm>
            <a:off x="8547463" y="4023360"/>
            <a:ext cx="0" cy="128016"/>
          </a:xfrm>
          <a:prstGeom prst="line">
            <a:avLst/>
          </a:prstGeom>
          <a:noFill/>
          <a:ln w="10160">
            <a:solidFill>
              <a:srgbClr val="C9D3DA"/>
            </a:solidFill>
            <a:prstDash val="solid"/>
          </a:ln>
        </p:spPr>
      </p:sp>
      <p:sp>
        <p:nvSpPr>
          <p:cNvPr id="41" name="Shape 39"/>
          <p:cNvSpPr/>
          <p:nvPr/>
        </p:nvSpPr>
        <p:spPr>
          <a:xfrm>
            <a:off x="8995954" y="4023360"/>
            <a:ext cx="0" cy="128016"/>
          </a:xfrm>
          <a:prstGeom prst="line">
            <a:avLst/>
          </a:prstGeom>
          <a:noFill/>
          <a:ln w="10160">
            <a:solidFill>
              <a:srgbClr val="C9D3DA"/>
            </a:solidFill>
            <a:prstDash val="solid"/>
          </a:ln>
        </p:spPr>
      </p:sp>
      <p:sp>
        <p:nvSpPr>
          <p:cNvPr id="42" name="Shape 40"/>
          <p:cNvSpPr/>
          <p:nvPr/>
        </p:nvSpPr>
        <p:spPr>
          <a:xfrm>
            <a:off x="9444446" y="4023360"/>
            <a:ext cx="0" cy="128016"/>
          </a:xfrm>
          <a:prstGeom prst="line">
            <a:avLst/>
          </a:prstGeom>
          <a:noFill/>
          <a:ln w="17780">
            <a:solidFill>
              <a:srgbClr val="0E2841"/>
            </a:solidFill>
            <a:prstDash val="solid"/>
          </a:ln>
        </p:spPr>
      </p:sp>
      <p:sp>
        <p:nvSpPr>
          <p:cNvPr id="43" name="Text 41"/>
          <p:cNvSpPr/>
          <p:nvPr/>
        </p:nvSpPr>
        <p:spPr>
          <a:xfrm>
            <a:off x="9151838"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18</a:t>
            </a:r>
            <a:endParaRPr lang="en-US" sz="1000" dirty="0"/>
          </a:p>
        </p:txBody>
      </p:sp>
      <p:sp>
        <p:nvSpPr>
          <p:cNvPr id="44" name="Shape 42"/>
          <p:cNvSpPr/>
          <p:nvPr/>
        </p:nvSpPr>
        <p:spPr>
          <a:xfrm>
            <a:off x="9892937" y="4023360"/>
            <a:ext cx="0" cy="128016"/>
          </a:xfrm>
          <a:prstGeom prst="line">
            <a:avLst/>
          </a:prstGeom>
          <a:noFill/>
          <a:ln w="10160">
            <a:solidFill>
              <a:srgbClr val="C9D3DA"/>
            </a:solidFill>
            <a:prstDash val="solid"/>
          </a:ln>
        </p:spPr>
      </p:sp>
      <p:sp>
        <p:nvSpPr>
          <p:cNvPr id="45" name="Shape 43"/>
          <p:cNvSpPr/>
          <p:nvPr/>
        </p:nvSpPr>
        <p:spPr>
          <a:xfrm>
            <a:off x="10341429" y="4023360"/>
            <a:ext cx="0" cy="128016"/>
          </a:xfrm>
          <a:prstGeom prst="line">
            <a:avLst/>
          </a:prstGeom>
          <a:noFill/>
          <a:ln w="10160">
            <a:solidFill>
              <a:srgbClr val="C9D3DA"/>
            </a:solidFill>
            <a:prstDash val="solid"/>
          </a:ln>
        </p:spPr>
      </p:sp>
      <p:sp>
        <p:nvSpPr>
          <p:cNvPr id="46" name="Shape 44"/>
          <p:cNvSpPr/>
          <p:nvPr/>
        </p:nvSpPr>
        <p:spPr>
          <a:xfrm>
            <a:off x="10789920" y="4023360"/>
            <a:ext cx="0" cy="128016"/>
          </a:xfrm>
          <a:prstGeom prst="line">
            <a:avLst/>
          </a:prstGeom>
          <a:noFill/>
          <a:ln w="17780">
            <a:solidFill>
              <a:srgbClr val="0E2841"/>
            </a:solidFill>
            <a:prstDash val="solid"/>
          </a:ln>
        </p:spPr>
      </p:sp>
      <p:sp>
        <p:nvSpPr>
          <p:cNvPr id="47" name="Text 45"/>
          <p:cNvSpPr/>
          <p:nvPr/>
        </p:nvSpPr>
        <p:spPr>
          <a:xfrm>
            <a:off x="10497312" y="417880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21</a:t>
            </a:r>
            <a:endParaRPr lang="en-US" sz="1000" dirty="0"/>
          </a:p>
        </p:txBody>
      </p:sp>
      <p:sp>
        <p:nvSpPr>
          <p:cNvPr id="48" name="Text 46"/>
          <p:cNvSpPr/>
          <p:nvPr/>
        </p:nvSpPr>
        <p:spPr>
          <a:xfrm>
            <a:off x="1371600" y="4654296"/>
            <a:ext cx="9418320" cy="237744"/>
          </a:xfrm>
          <a:prstGeom prst="rect">
            <a:avLst/>
          </a:prstGeom>
          <a:noFill/>
          <a:ln/>
        </p:spPr>
        <p:txBody>
          <a:bodyPr wrap="square" lIns="0" tIns="0" rIns="0" bIns="0" rtlCol="0" anchor="ctr"/>
          <a:lstStyle/>
          <a:p>
            <a:pPr algn="l" indent="0" marL="0">
              <a:buNone/>
            </a:pPr>
            <a:r>
              <a:rPr lang="en-US" sz="1000" dirty="0">
                <a:solidFill>
                  <a:srgbClr val="6B7280"/>
                </a:solidFill>
                <a:latin typeface="Malgun Gothic" pitchFamily="34" charset="0"/>
                <a:ea typeface="Malgun Gothic" pitchFamily="34" charset="-122"/>
                <a:cs typeface="Malgun Gothic" pitchFamily="34" charset="-120"/>
              </a:rPr>
              <a:t>day of the cycle</a:t>
            </a:r>
            <a:endParaRPr lang="en-US" sz="1000" dirty="0"/>
          </a:p>
        </p:txBody>
      </p:sp>
      <p:sp>
        <p:nvSpPr>
          <p:cNvPr id="49" name="Shape 47"/>
          <p:cNvSpPr/>
          <p:nvPr/>
        </p:nvSpPr>
        <p:spPr>
          <a:xfrm>
            <a:off x="1371600" y="3611880"/>
            <a:ext cx="2242457" cy="384048"/>
          </a:xfrm>
          <a:prstGeom prst="roundRect">
            <a:avLst>
              <a:gd name="adj" fmla="val 11905"/>
            </a:avLst>
          </a:prstGeom>
          <a:solidFill>
            <a:srgbClr val="FBEDE2"/>
          </a:solidFill>
          <a:ln w="12700">
            <a:solidFill>
              <a:srgbClr val="E97132"/>
            </a:solidFill>
            <a:prstDash val="solid"/>
          </a:ln>
        </p:spPr>
      </p:sp>
      <p:sp>
        <p:nvSpPr>
          <p:cNvPr id="50" name="Text 48"/>
          <p:cNvSpPr/>
          <p:nvPr/>
        </p:nvSpPr>
        <p:spPr>
          <a:xfrm>
            <a:off x="1371600" y="3611880"/>
            <a:ext cx="2242457" cy="384048"/>
          </a:xfrm>
          <a:prstGeom prst="rect">
            <a:avLst/>
          </a:prstGeom>
          <a:noFill/>
          <a:ln/>
        </p:spPr>
        <p:txBody>
          <a:bodyPr wrap="square" lIns="0" tIns="0" rIns="0" bIns="0" rtlCol="0" anchor="ctr"/>
          <a:lstStyle/>
          <a:p>
            <a:pPr algn="ctr" indent="0" marL="0">
              <a:buNone/>
            </a:pPr>
            <a:r>
              <a:rPr lang="en-US" sz="1000" b="1" dirty="0">
                <a:solidFill>
                  <a:srgbClr val="E97132"/>
                </a:solidFill>
                <a:latin typeface="Malgun Gothic" pitchFamily="34" charset="0"/>
                <a:ea typeface="Malgun Gothic" pitchFamily="34" charset="-122"/>
                <a:cs typeface="Malgun Gothic" pitchFamily="34" charset="-120"/>
              </a:rPr>
              <a:t>D0–5  CL too young — PGF does NOTHING</a:t>
            </a:r>
            <a:endParaRPr lang="en-US" sz="1000" dirty="0"/>
          </a:p>
        </p:txBody>
      </p:sp>
      <p:sp>
        <p:nvSpPr>
          <p:cNvPr id="51" name="Shape 49"/>
          <p:cNvSpPr/>
          <p:nvPr/>
        </p:nvSpPr>
        <p:spPr>
          <a:xfrm>
            <a:off x="4062549" y="3611880"/>
            <a:ext cx="4933406" cy="384048"/>
          </a:xfrm>
          <a:prstGeom prst="roundRect">
            <a:avLst>
              <a:gd name="adj" fmla="val 11905"/>
            </a:avLst>
          </a:prstGeom>
          <a:solidFill>
            <a:srgbClr val="E7F1E8"/>
          </a:solidFill>
          <a:ln w="12700">
            <a:solidFill>
              <a:srgbClr val="196B24"/>
            </a:solidFill>
            <a:prstDash val="solid"/>
          </a:ln>
        </p:spPr>
      </p:sp>
      <p:sp>
        <p:nvSpPr>
          <p:cNvPr id="52" name="Text 50"/>
          <p:cNvSpPr/>
          <p:nvPr/>
        </p:nvSpPr>
        <p:spPr>
          <a:xfrm>
            <a:off x="4062549" y="3611880"/>
            <a:ext cx="4933406" cy="384048"/>
          </a:xfrm>
          <a:prstGeom prst="rect">
            <a:avLst/>
          </a:prstGeom>
          <a:noFill/>
          <a:ln/>
        </p:spPr>
        <p:txBody>
          <a:bodyPr wrap="square" lIns="0" tIns="0" rIns="0" bIns="0" rtlCol="0" anchor="ctr"/>
          <a:lstStyle/>
          <a:p>
            <a:pPr algn="ctr" indent="0" marL="0">
              <a:buNone/>
            </a:pPr>
            <a:r>
              <a:rPr lang="en-US" sz="1200" b="1" dirty="0">
                <a:solidFill>
                  <a:srgbClr val="196B24"/>
                </a:solidFill>
                <a:latin typeface="Malgun Gothic" pitchFamily="34" charset="0"/>
                <a:ea typeface="Malgun Gothic" pitchFamily="34" charset="-122"/>
                <a:cs typeface="Malgun Gothic" pitchFamily="34" charset="-120"/>
              </a:rPr>
              <a:t>D6–17  PGF WORKS</a:t>
            </a:r>
            <a:endParaRPr lang="en-US" sz="1200" dirty="0"/>
          </a:p>
        </p:txBody>
      </p:sp>
      <p:sp>
        <p:nvSpPr>
          <p:cNvPr id="53" name="Shape 51"/>
          <p:cNvSpPr/>
          <p:nvPr/>
        </p:nvSpPr>
        <p:spPr>
          <a:xfrm>
            <a:off x="9444446" y="3611880"/>
            <a:ext cx="1345474" cy="384048"/>
          </a:xfrm>
          <a:prstGeom prst="roundRect">
            <a:avLst>
              <a:gd name="adj" fmla="val 11905"/>
            </a:avLst>
          </a:prstGeom>
          <a:solidFill>
            <a:srgbClr val="F2F5F7"/>
          </a:solidFill>
          <a:ln w="12700">
            <a:solidFill>
              <a:srgbClr val="C9D3DA"/>
            </a:solidFill>
            <a:prstDash val="solid"/>
          </a:ln>
        </p:spPr>
      </p:sp>
      <p:sp>
        <p:nvSpPr>
          <p:cNvPr id="54" name="Text 52"/>
          <p:cNvSpPr/>
          <p:nvPr/>
        </p:nvSpPr>
        <p:spPr>
          <a:xfrm>
            <a:off x="9444446" y="3611880"/>
            <a:ext cx="1345474"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CL dying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four tools — what each one actually does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Every protocol in the world is made of these four</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GnRH = reset.  PGF = kill the CL.  Device = a false CL.  eCG = help the thin cow.</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13</a:t>
            </a:r>
            <a:endParaRPr lang="en-US" sz="900" dirty="0"/>
          </a:p>
        </p:txBody>
      </p:sp>
      <p:sp>
        <p:nvSpPr>
          <p:cNvPr id="8" name="Shape 6"/>
          <p:cNvSpPr/>
          <p:nvPr/>
        </p:nvSpPr>
        <p:spPr>
          <a:xfrm>
            <a:off x="548640" y="1572768"/>
            <a:ext cx="2601468" cy="530352"/>
          </a:xfrm>
          <a:prstGeom prst="roundRect">
            <a:avLst>
              <a:gd name="adj" fmla="val 13793"/>
            </a:avLst>
          </a:prstGeom>
          <a:solidFill>
            <a:srgbClr val="156082"/>
          </a:solidFill>
          <a:ln w="12700">
            <a:solidFill>
              <a:srgbClr val="156082"/>
            </a:solidFill>
            <a:prstDash val="solid"/>
          </a:ln>
        </p:spPr>
      </p:sp>
      <p:sp>
        <p:nvSpPr>
          <p:cNvPr id="9" name="Text 7"/>
          <p:cNvSpPr/>
          <p:nvPr/>
        </p:nvSpPr>
        <p:spPr>
          <a:xfrm>
            <a:off x="548640" y="1572768"/>
            <a:ext cx="2601468"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GnRH</a:t>
            </a:r>
            <a:endParaRPr lang="en-US" sz="1600" dirty="0"/>
          </a:p>
        </p:txBody>
      </p:sp>
      <p:sp>
        <p:nvSpPr>
          <p:cNvPr id="10" name="Shape 8"/>
          <p:cNvSpPr/>
          <p:nvPr/>
        </p:nvSpPr>
        <p:spPr>
          <a:xfrm>
            <a:off x="548640" y="2103120"/>
            <a:ext cx="2601468" cy="2606040"/>
          </a:xfrm>
          <a:prstGeom prst="roundRect">
            <a:avLst>
              <a:gd name="adj" fmla="val 2812"/>
            </a:avLst>
          </a:prstGeom>
          <a:solidFill>
            <a:srgbClr val="F2F5F7"/>
          </a:solidFill>
          <a:ln w="12700">
            <a:solidFill>
              <a:srgbClr val="C9D3DA"/>
            </a:solidFill>
            <a:prstDash val="solid"/>
          </a:ln>
        </p:spPr>
      </p:sp>
      <p:sp>
        <p:nvSpPr>
          <p:cNvPr id="11" name="Text 9"/>
          <p:cNvSpPr/>
          <p:nvPr/>
        </p:nvSpPr>
        <p:spPr>
          <a:xfrm>
            <a:off x="694944" y="2267712"/>
            <a:ext cx="2308860" cy="228600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RESET.</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She ovulates the leader follicle.</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A new wave starts.</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Works on ANY day.</a:t>
            </a:r>
            <a:endParaRPr lang="en-US" sz="1250" dirty="0"/>
          </a:p>
        </p:txBody>
      </p:sp>
      <p:sp>
        <p:nvSpPr>
          <p:cNvPr id="12" name="Shape 10"/>
          <p:cNvSpPr/>
          <p:nvPr/>
        </p:nvSpPr>
        <p:spPr>
          <a:xfrm>
            <a:off x="3369564" y="1572768"/>
            <a:ext cx="2601468" cy="530352"/>
          </a:xfrm>
          <a:prstGeom prst="roundRect">
            <a:avLst>
              <a:gd name="adj" fmla="val 13793"/>
            </a:avLst>
          </a:prstGeom>
          <a:solidFill>
            <a:srgbClr val="E97132"/>
          </a:solidFill>
          <a:ln w="12700">
            <a:solidFill>
              <a:srgbClr val="E97132"/>
            </a:solidFill>
            <a:prstDash val="solid"/>
          </a:ln>
        </p:spPr>
      </p:sp>
      <p:sp>
        <p:nvSpPr>
          <p:cNvPr id="13" name="Text 11"/>
          <p:cNvSpPr/>
          <p:nvPr/>
        </p:nvSpPr>
        <p:spPr>
          <a:xfrm>
            <a:off x="3369564" y="1572768"/>
            <a:ext cx="2601468"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PGF2a</a:t>
            </a:r>
            <a:endParaRPr lang="en-US" sz="1600" dirty="0"/>
          </a:p>
        </p:txBody>
      </p:sp>
      <p:sp>
        <p:nvSpPr>
          <p:cNvPr id="14" name="Shape 12"/>
          <p:cNvSpPr/>
          <p:nvPr/>
        </p:nvSpPr>
        <p:spPr>
          <a:xfrm>
            <a:off x="3369564" y="2103120"/>
            <a:ext cx="2601468" cy="2606040"/>
          </a:xfrm>
          <a:prstGeom prst="roundRect">
            <a:avLst>
              <a:gd name="adj" fmla="val 2812"/>
            </a:avLst>
          </a:prstGeom>
          <a:solidFill>
            <a:srgbClr val="F2F5F7"/>
          </a:solidFill>
          <a:ln w="12700">
            <a:solidFill>
              <a:srgbClr val="C9D3DA"/>
            </a:solidFill>
            <a:prstDash val="solid"/>
          </a:ln>
        </p:spPr>
      </p:sp>
      <p:sp>
        <p:nvSpPr>
          <p:cNvPr id="15" name="Text 13"/>
          <p:cNvSpPr/>
          <p:nvPr/>
        </p:nvSpPr>
        <p:spPr>
          <a:xfrm>
            <a:off x="3515868" y="2267712"/>
            <a:ext cx="2308860" cy="228600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KILL THE CL.</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P4 falls → heat in 2–5 days.</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NEEDS a CL 6–17 days old.</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No CL = nothing happens.</a:t>
            </a:r>
            <a:endParaRPr lang="en-US" sz="1250" dirty="0"/>
          </a:p>
        </p:txBody>
      </p:sp>
      <p:sp>
        <p:nvSpPr>
          <p:cNvPr id="16" name="Shape 14"/>
          <p:cNvSpPr/>
          <p:nvPr/>
        </p:nvSpPr>
        <p:spPr>
          <a:xfrm>
            <a:off x="6190488" y="1572768"/>
            <a:ext cx="2601468" cy="530352"/>
          </a:xfrm>
          <a:prstGeom prst="roundRect">
            <a:avLst>
              <a:gd name="adj" fmla="val 13793"/>
            </a:avLst>
          </a:prstGeom>
          <a:solidFill>
            <a:srgbClr val="196B24"/>
          </a:solidFill>
          <a:ln w="12700">
            <a:solidFill>
              <a:srgbClr val="196B24"/>
            </a:solidFill>
            <a:prstDash val="solid"/>
          </a:ln>
        </p:spPr>
      </p:sp>
      <p:sp>
        <p:nvSpPr>
          <p:cNvPr id="17" name="Text 15"/>
          <p:cNvSpPr/>
          <p:nvPr/>
        </p:nvSpPr>
        <p:spPr>
          <a:xfrm>
            <a:off x="6190488" y="1572768"/>
            <a:ext cx="2601468"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DEVICE (CIDR)</a:t>
            </a:r>
            <a:endParaRPr lang="en-US" sz="1600" dirty="0"/>
          </a:p>
        </p:txBody>
      </p:sp>
      <p:sp>
        <p:nvSpPr>
          <p:cNvPr id="18" name="Shape 16"/>
          <p:cNvSpPr/>
          <p:nvPr/>
        </p:nvSpPr>
        <p:spPr>
          <a:xfrm>
            <a:off x="6190488" y="2103120"/>
            <a:ext cx="2601468" cy="2606040"/>
          </a:xfrm>
          <a:prstGeom prst="roundRect">
            <a:avLst>
              <a:gd name="adj" fmla="val 2812"/>
            </a:avLst>
          </a:prstGeom>
          <a:solidFill>
            <a:srgbClr val="F2F5F7"/>
          </a:solidFill>
          <a:ln w="12700">
            <a:solidFill>
              <a:srgbClr val="C9D3DA"/>
            </a:solidFill>
            <a:prstDash val="solid"/>
          </a:ln>
        </p:spPr>
      </p:sp>
      <p:sp>
        <p:nvSpPr>
          <p:cNvPr id="19" name="Text 17"/>
          <p:cNvSpPr/>
          <p:nvPr/>
        </p:nvSpPr>
        <p:spPr>
          <a:xfrm>
            <a:off x="6336792" y="2267712"/>
            <a:ext cx="2308860" cy="228600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A FALSE CL.</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Gives P4 with no CL present.</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Stops early heat.</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Wakes up non-cycling cows.</a:t>
            </a:r>
            <a:endParaRPr lang="en-US" sz="1250" dirty="0"/>
          </a:p>
        </p:txBody>
      </p:sp>
      <p:sp>
        <p:nvSpPr>
          <p:cNvPr id="20" name="Shape 18"/>
          <p:cNvSpPr/>
          <p:nvPr/>
        </p:nvSpPr>
        <p:spPr>
          <a:xfrm>
            <a:off x="9011412" y="1572768"/>
            <a:ext cx="2601468" cy="530352"/>
          </a:xfrm>
          <a:prstGeom prst="roundRect">
            <a:avLst>
              <a:gd name="adj" fmla="val 13793"/>
            </a:avLst>
          </a:prstGeom>
          <a:solidFill>
            <a:srgbClr val="A02B93"/>
          </a:solidFill>
          <a:ln w="12700">
            <a:solidFill>
              <a:srgbClr val="A02B93"/>
            </a:solidFill>
            <a:prstDash val="solid"/>
          </a:ln>
        </p:spPr>
      </p:sp>
      <p:sp>
        <p:nvSpPr>
          <p:cNvPr id="21" name="Text 19"/>
          <p:cNvSpPr/>
          <p:nvPr/>
        </p:nvSpPr>
        <p:spPr>
          <a:xfrm>
            <a:off x="9011412" y="1572768"/>
            <a:ext cx="2601468"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eCG</a:t>
            </a:r>
            <a:endParaRPr lang="en-US" sz="1600" dirty="0"/>
          </a:p>
        </p:txBody>
      </p:sp>
      <p:sp>
        <p:nvSpPr>
          <p:cNvPr id="22" name="Shape 20"/>
          <p:cNvSpPr/>
          <p:nvPr/>
        </p:nvSpPr>
        <p:spPr>
          <a:xfrm>
            <a:off x="9011412" y="2103120"/>
            <a:ext cx="2601468" cy="2606040"/>
          </a:xfrm>
          <a:prstGeom prst="roundRect">
            <a:avLst>
              <a:gd name="adj" fmla="val 2812"/>
            </a:avLst>
          </a:prstGeom>
          <a:solidFill>
            <a:srgbClr val="F2F5F7"/>
          </a:solidFill>
          <a:ln w="12700">
            <a:solidFill>
              <a:srgbClr val="C9D3DA"/>
            </a:solidFill>
            <a:prstDash val="solid"/>
          </a:ln>
        </p:spPr>
      </p:sp>
      <p:sp>
        <p:nvSpPr>
          <p:cNvPr id="23" name="Text 21"/>
          <p:cNvSpPr/>
          <p:nvPr/>
        </p:nvSpPr>
        <p:spPr>
          <a:xfrm>
            <a:off x="9157716" y="2267712"/>
            <a:ext cx="2308860" cy="228600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EXTRA PUSH.</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For thin and non-cycling cows.</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Give it when you PULL the device.</a:t>
            </a:r>
            <a:endParaRPr lang="en-US" sz="1250" dirty="0"/>
          </a:p>
        </p:txBody>
      </p:sp>
      <p:sp>
        <p:nvSpPr>
          <p:cNvPr id="24" name="Shape 22"/>
          <p:cNvSpPr/>
          <p:nvPr/>
        </p:nvSpPr>
        <p:spPr>
          <a:xfrm>
            <a:off x="548640" y="4864608"/>
            <a:ext cx="11064240" cy="438912"/>
          </a:xfrm>
          <a:prstGeom prst="roundRect">
            <a:avLst>
              <a:gd name="adj" fmla="val 12500"/>
            </a:avLst>
          </a:prstGeom>
          <a:solidFill>
            <a:srgbClr val="FBEDE2"/>
          </a:solidFill>
          <a:ln w="12700">
            <a:solidFill>
              <a:srgbClr val="E97132"/>
            </a:solidFill>
            <a:prstDash val="solid"/>
          </a:ln>
        </p:spPr>
      </p:sp>
      <p:sp>
        <p:nvSpPr>
          <p:cNvPr id="25" name="Text 23"/>
          <p:cNvSpPr/>
          <p:nvPr/>
        </p:nvSpPr>
        <p:spPr>
          <a:xfrm>
            <a:off x="731520" y="4864608"/>
            <a:ext cx="10698480" cy="438912"/>
          </a:xfrm>
          <a:prstGeom prst="rect">
            <a:avLst/>
          </a:prstGeom>
          <a:noFill/>
          <a:ln/>
        </p:spPr>
        <p:txBody>
          <a:bodyPr wrap="square" lIns="0" tIns="0" rIns="0" bIns="0" rtlCol="0" anchor="ctr"/>
          <a:lstStyle/>
          <a:p>
            <a:pPr algn="l" indent="0" marL="0">
              <a:buNone/>
            </a:pPr>
            <a:r>
              <a:rPr lang="en-US" sz="1250" b="1" dirty="0">
                <a:solidFill>
                  <a:srgbClr val="0E2841"/>
                </a:solidFill>
                <a:latin typeface="Malgun Gothic" pitchFamily="34" charset="0"/>
                <a:ea typeface="Malgun Gothic" pitchFamily="34" charset="-122"/>
                <a:cs typeface="Malgun Gothic" pitchFamily="34" charset="-120"/>
              </a:rPr>
              <a:t>SAFETY:  PGF2a is absorbed through skin.  Pregnant women and asthmatics must not handle it.  Gloves.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Protocol 1 — Double PGF</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Cheapest. Only for cows you know are cycling.</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11–14 days apart, so every cow that answered the first injection has a CL old enough for the second.</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14</a:t>
            </a:r>
            <a:endParaRPr lang="en-US" sz="900" dirty="0"/>
          </a:p>
        </p:txBody>
      </p:sp>
      <p:sp>
        <p:nvSpPr>
          <p:cNvPr id="8" name="Shape 6"/>
          <p:cNvSpPr/>
          <p:nvPr/>
        </p:nvSpPr>
        <p:spPr>
          <a:xfrm>
            <a:off x="1188720" y="3035808"/>
            <a:ext cx="9784080" cy="0"/>
          </a:xfrm>
          <a:prstGeom prst="line">
            <a:avLst/>
          </a:prstGeom>
          <a:noFill/>
          <a:ln w="25400">
            <a:solidFill>
              <a:srgbClr val="0E2841"/>
            </a:solidFill>
            <a:prstDash val="solid"/>
          </a:ln>
        </p:spPr>
      </p:sp>
      <p:sp>
        <p:nvSpPr>
          <p:cNvPr id="9" name="Shape 7"/>
          <p:cNvSpPr/>
          <p:nvPr/>
        </p:nvSpPr>
        <p:spPr>
          <a:xfrm>
            <a:off x="1188720" y="2971800"/>
            <a:ext cx="0" cy="128016"/>
          </a:xfrm>
          <a:prstGeom prst="line">
            <a:avLst/>
          </a:prstGeom>
          <a:noFill/>
          <a:ln w="17780">
            <a:solidFill>
              <a:srgbClr val="0E2841"/>
            </a:solidFill>
            <a:prstDash val="solid"/>
          </a:ln>
        </p:spPr>
      </p:sp>
      <p:sp>
        <p:nvSpPr>
          <p:cNvPr id="10" name="Text 8"/>
          <p:cNvSpPr/>
          <p:nvPr/>
        </p:nvSpPr>
        <p:spPr>
          <a:xfrm>
            <a:off x="89611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0</a:t>
            </a:r>
            <a:endParaRPr lang="en-US" sz="1000" dirty="0"/>
          </a:p>
        </p:txBody>
      </p:sp>
      <p:sp>
        <p:nvSpPr>
          <p:cNvPr id="11" name="Shape 9"/>
          <p:cNvSpPr/>
          <p:nvPr/>
        </p:nvSpPr>
        <p:spPr>
          <a:xfrm>
            <a:off x="1800225" y="2971800"/>
            <a:ext cx="0" cy="128016"/>
          </a:xfrm>
          <a:prstGeom prst="line">
            <a:avLst/>
          </a:prstGeom>
          <a:noFill/>
          <a:ln w="10160">
            <a:solidFill>
              <a:srgbClr val="C9D3DA"/>
            </a:solidFill>
            <a:prstDash val="solid"/>
          </a:ln>
        </p:spPr>
      </p:sp>
      <p:sp>
        <p:nvSpPr>
          <p:cNvPr id="12" name="Shape 10"/>
          <p:cNvSpPr/>
          <p:nvPr/>
        </p:nvSpPr>
        <p:spPr>
          <a:xfrm>
            <a:off x="2411730" y="2971800"/>
            <a:ext cx="0" cy="128016"/>
          </a:xfrm>
          <a:prstGeom prst="line">
            <a:avLst/>
          </a:prstGeom>
          <a:noFill/>
          <a:ln w="17780">
            <a:solidFill>
              <a:srgbClr val="0E2841"/>
            </a:solidFill>
            <a:prstDash val="solid"/>
          </a:ln>
        </p:spPr>
      </p:sp>
      <p:sp>
        <p:nvSpPr>
          <p:cNvPr id="13" name="Text 11"/>
          <p:cNvSpPr/>
          <p:nvPr/>
        </p:nvSpPr>
        <p:spPr>
          <a:xfrm>
            <a:off x="211912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2</a:t>
            </a:r>
            <a:endParaRPr lang="en-US" sz="1000" dirty="0"/>
          </a:p>
        </p:txBody>
      </p:sp>
      <p:sp>
        <p:nvSpPr>
          <p:cNvPr id="14" name="Shape 12"/>
          <p:cNvSpPr/>
          <p:nvPr/>
        </p:nvSpPr>
        <p:spPr>
          <a:xfrm>
            <a:off x="3023235" y="2971800"/>
            <a:ext cx="0" cy="128016"/>
          </a:xfrm>
          <a:prstGeom prst="line">
            <a:avLst/>
          </a:prstGeom>
          <a:noFill/>
          <a:ln w="10160">
            <a:solidFill>
              <a:srgbClr val="C9D3DA"/>
            </a:solidFill>
            <a:prstDash val="solid"/>
          </a:ln>
        </p:spPr>
      </p:sp>
      <p:sp>
        <p:nvSpPr>
          <p:cNvPr id="15" name="Shape 13"/>
          <p:cNvSpPr/>
          <p:nvPr/>
        </p:nvSpPr>
        <p:spPr>
          <a:xfrm>
            <a:off x="3634740" y="2971800"/>
            <a:ext cx="0" cy="128016"/>
          </a:xfrm>
          <a:prstGeom prst="line">
            <a:avLst/>
          </a:prstGeom>
          <a:noFill/>
          <a:ln w="17780">
            <a:solidFill>
              <a:srgbClr val="0E2841"/>
            </a:solidFill>
            <a:prstDash val="solid"/>
          </a:ln>
        </p:spPr>
      </p:sp>
      <p:sp>
        <p:nvSpPr>
          <p:cNvPr id="16" name="Text 14"/>
          <p:cNvSpPr/>
          <p:nvPr/>
        </p:nvSpPr>
        <p:spPr>
          <a:xfrm>
            <a:off x="334213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4</a:t>
            </a:r>
            <a:endParaRPr lang="en-US" sz="1000" dirty="0"/>
          </a:p>
        </p:txBody>
      </p:sp>
      <p:sp>
        <p:nvSpPr>
          <p:cNvPr id="17" name="Shape 15"/>
          <p:cNvSpPr/>
          <p:nvPr/>
        </p:nvSpPr>
        <p:spPr>
          <a:xfrm>
            <a:off x="4246245" y="2971800"/>
            <a:ext cx="0" cy="128016"/>
          </a:xfrm>
          <a:prstGeom prst="line">
            <a:avLst/>
          </a:prstGeom>
          <a:noFill/>
          <a:ln w="10160">
            <a:solidFill>
              <a:srgbClr val="C9D3DA"/>
            </a:solidFill>
            <a:prstDash val="solid"/>
          </a:ln>
        </p:spPr>
      </p:sp>
      <p:sp>
        <p:nvSpPr>
          <p:cNvPr id="18" name="Shape 16"/>
          <p:cNvSpPr/>
          <p:nvPr/>
        </p:nvSpPr>
        <p:spPr>
          <a:xfrm>
            <a:off x="4857750" y="2971800"/>
            <a:ext cx="0" cy="128016"/>
          </a:xfrm>
          <a:prstGeom prst="line">
            <a:avLst/>
          </a:prstGeom>
          <a:noFill/>
          <a:ln w="17780">
            <a:solidFill>
              <a:srgbClr val="0E2841"/>
            </a:solidFill>
            <a:prstDash val="solid"/>
          </a:ln>
        </p:spPr>
      </p:sp>
      <p:sp>
        <p:nvSpPr>
          <p:cNvPr id="19" name="Text 17"/>
          <p:cNvSpPr/>
          <p:nvPr/>
        </p:nvSpPr>
        <p:spPr>
          <a:xfrm>
            <a:off x="456514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6</a:t>
            </a:r>
            <a:endParaRPr lang="en-US" sz="1000" dirty="0"/>
          </a:p>
        </p:txBody>
      </p:sp>
      <p:sp>
        <p:nvSpPr>
          <p:cNvPr id="20" name="Shape 18"/>
          <p:cNvSpPr/>
          <p:nvPr/>
        </p:nvSpPr>
        <p:spPr>
          <a:xfrm>
            <a:off x="5469255" y="2971800"/>
            <a:ext cx="0" cy="128016"/>
          </a:xfrm>
          <a:prstGeom prst="line">
            <a:avLst/>
          </a:prstGeom>
          <a:noFill/>
          <a:ln w="10160">
            <a:solidFill>
              <a:srgbClr val="C9D3DA"/>
            </a:solidFill>
            <a:prstDash val="solid"/>
          </a:ln>
        </p:spPr>
      </p:sp>
      <p:sp>
        <p:nvSpPr>
          <p:cNvPr id="21" name="Shape 19"/>
          <p:cNvSpPr/>
          <p:nvPr/>
        </p:nvSpPr>
        <p:spPr>
          <a:xfrm>
            <a:off x="6080760" y="2971800"/>
            <a:ext cx="0" cy="128016"/>
          </a:xfrm>
          <a:prstGeom prst="line">
            <a:avLst/>
          </a:prstGeom>
          <a:noFill/>
          <a:ln w="17780">
            <a:solidFill>
              <a:srgbClr val="0E2841"/>
            </a:solidFill>
            <a:prstDash val="solid"/>
          </a:ln>
        </p:spPr>
      </p:sp>
      <p:sp>
        <p:nvSpPr>
          <p:cNvPr id="22" name="Text 20"/>
          <p:cNvSpPr/>
          <p:nvPr/>
        </p:nvSpPr>
        <p:spPr>
          <a:xfrm>
            <a:off x="578815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8</a:t>
            </a:r>
            <a:endParaRPr lang="en-US" sz="1000" dirty="0"/>
          </a:p>
        </p:txBody>
      </p:sp>
      <p:sp>
        <p:nvSpPr>
          <p:cNvPr id="23" name="Shape 21"/>
          <p:cNvSpPr/>
          <p:nvPr/>
        </p:nvSpPr>
        <p:spPr>
          <a:xfrm>
            <a:off x="6692265" y="2971800"/>
            <a:ext cx="0" cy="128016"/>
          </a:xfrm>
          <a:prstGeom prst="line">
            <a:avLst/>
          </a:prstGeom>
          <a:noFill/>
          <a:ln w="10160">
            <a:solidFill>
              <a:srgbClr val="C9D3DA"/>
            </a:solidFill>
            <a:prstDash val="solid"/>
          </a:ln>
        </p:spPr>
      </p:sp>
      <p:sp>
        <p:nvSpPr>
          <p:cNvPr id="24" name="Shape 22"/>
          <p:cNvSpPr/>
          <p:nvPr/>
        </p:nvSpPr>
        <p:spPr>
          <a:xfrm>
            <a:off x="7303770" y="2971800"/>
            <a:ext cx="0" cy="128016"/>
          </a:xfrm>
          <a:prstGeom prst="line">
            <a:avLst/>
          </a:prstGeom>
          <a:noFill/>
          <a:ln w="17780">
            <a:solidFill>
              <a:srgbClr val="0E2841"/>
            </a:solidFill>
            <a:prstDash val="solid"/>
          </a:ln>
        </p:spPr>
      </p:sp>
      <p:sp>
        <p:nvSpPr>
          <p:cNvPr id="25" name="Text 23"/>
          <p:cNvSpPr/>
          <p:nvPr/>
        </p:nvSpPr>
        <p:spPr>
          <a:xfrm>
            <a:off x="701116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10</a:t>
            </a:r>
            <a:endParaRPr lang="en-US" sz="1000" dirty="0"/>
          </a:p>
        </p:txBody>
      </p:sp>
      <p:sp>
        <p:nvSpPr>
          <p:cNvPr id="26" name="Shape 24"/>
          <p:cNvSpPr/>
          <p:nvPr/>
        </p:nvSpPr>
        <p:spPr>
          <a:xfrm>
            <a:off x="7915275" y="2971800"/>
            <a:ext cx="0" cy="128016"/>
          </a:xfrm>
          <a:prstGeom prst="line">
            <a:avLst/>
          </a:prstGeom>
          <a:noFill/>
          <a:ln w="10160">
            <a:solidFill>
              <a:srgbClr val="C9D3DA"/>
            </a:solidFill>
            <a:prstDash val="solid"/>
          </a:ln>
        </p:spPr>
      </p:sp>
      <p:sp>
        <p:nvSpPr>
          <p:cNvPr id="27" name="Shape 25"/>
          <p:cNvSpPr/>
          <p:nvPr/>
        </p:nvSpPr>
        <p:spPr>
          <a:xfrm>
            <a:off x="8526780" y="2971800"/>
            <a:ext cx="0" cy="128016"/>
          </a:xfrm>
          <a:prstGeom prst="line">
            <a:avLst/>
          </a:prstGeom>
          <a:noFill/>
          <a:ln w="17780">
            <a:solidFill>
              <a:srgbClr val="0E2841"/>
            </a:solidFill>
            <a:prstDash val="solid"/>
          </a:ln>
        </p:spPr>
      </p:sp>
      <p:sp>
        <p:nvSpPr>
          <p:cNvPr id="28" name="Text 26"/>
          <p:cNvSpPr/>
          <p:nvPr/>
        </p:nvSpPr>
        <p:spPr>
          <a:xfrm>
            <a:off x="823417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12</a:t>
            </a:r>
            <a:endParaRPr lang="en-US" sz="1000" dirty="0"/>
          </a:p>
        </p:txBody>
      </p:sp>
      <p:sp>
        <p:nvSpPr>
          <p:cNvPr id="29" name="Shape 27"/>
          <p:cNvSpPr/>
          <p:nvPr/>
        </p:nvSpPr>
        <p:spPr>
          <a:xfrm>
            <a:off x="9138285" y="2971800"/>
            <a:ext cx="0" cy="128016"/>
          </a:xfrm>
          <a:prstGeom prst="line">
            <a:avLst/>
          </a:prstGeom>
          <a:noFill/>
          <a:ln w="10160">
            <a:solidFill>
              <a:srgbClr val="C9D3DA"/>
            </a:solidFill>
            <a:prstDash val="solid"/>
          </a:ln>
        </p:spPr>
      </p:sp>
      <p:sp>
        <p:nvSpPr>
          <p:cNvPr id="30" name="Shape 28"/>
          <p:cNvSpPr/>
          <p:nvPr/>
        </p:nvSpPr>
        <p:spPr>
          <a:xfrm>
            <a:off x="9749790" y="2971800"/>
            <a:ext cx="0" cy="128016"/>
          </a:xfrm>
          <a:prstGeom prst="line">
            <a:avLst/>
          </a:prstGeom>
          <a:noFill/>
          <a:ln w="17780">
            <a:solidFill>
              <a:srgbClr val="0E2841"/>
            </a:solidFill>
            <a:prstDash val="solid"/>
          </a:ln>
        </p:spPr>
      </p:sp>
      <p:sp>
        <p:nvSpPr>
          <p:cNvPr id="31" name="Text 29"/>
          <p:cNvSpPr/>
          <p:nvPr/>
        </p:nvSpPr>
        <p:spPr>
          <a:xfrm>
            <a:off x="945718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14</a:t>
            </a:r>
            <a:endParaRPr lang="en-US" sz="1000" dirty="0"/>
          </a:p>
        </p:txBody>
      </p:sp>
      <p:sp>
        <p:nvSpPr>
          <p:cNvPr id="32" name="Shape 30"/>
          <p:cNvSpPr/>
          <p:nvPr/>
        </p:nvSpPr>
        <p:spPr>
          <a:xfrm>
            <a:off x="10361295" y="2971800"/>
            <a:ext cx="0" cy="128016"/>
          </a:xfrm>
          <a:prstGeom prst="line">
            <a:avLst/>
          </a:prstGeom>
          <a:noFill/>
          <a:ln w="10160">
            <a:solidFill>
              <a:srgbClr val="C9D3DA"/>
            </a:solidFill>
            <a:prstDash val="solid"/>
          </a:ln>
        </p:spPr>
      </p:sp>
      <p:sp>
        <p:nvSpPr>
          <p:cNvPr id="33" name="Shape 31"/>
          <p:cNvSpPr/>
          <p:nvPr/>
        </p:nvSpPr>
        <p:spPr>
          <a:xfrm>
            <a:off x="10972800" y="2971800"/>
            <a:ext cx="0" cy="128016"/>
          </a:xfrm>
          <a:prstGeom prst="line">
            <a:avLst/>
          </a:prstGeom>
          <a:noFill/>
          <a:ln w="17780">
            <a:solidFill>
              <a:srgbClr val="0E2841"/>
            </a:solidFill>
            <a:prstDash val="solid"/>
          </a:ln>
        </p:spPr>
      </p:sp>
      <p:sp>
        <p:nvSpPr>
          <p:cNvPr id="34" name="Text 32"/>
          <p:cNvSpPr/>
          <p:nvPr/>
        </p:nvSpPr>
        <p:spPr>
          <a:xfrm>
            <a:off x="10680192" y="312724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16</a:t>
            </a:r>
            <a:endParaRPr lang="en-US" sz="1000" dirty="0"/>
          </a:p>
        </p:txBody>
      </p:sp>
      <p:sp>
        <p:nvSpPr>
          <p:cNvPr id="35" name="Shape 33"/>
          <p:cNvSpPr/>
          <p:nvPr/>
        </p:nvSpPr>
        <p:spPr>
          <a:xfrm>
            <a:off x="1188720" y="2075688"/>
            <a:ext cx="0" cy="914400"/>
          </a:xfrm>
          <a:prstGeom prst="line">
            <a:avLst/>
          </a:prstGeom>
          <a:noFill/>
          <a:ln w="25400">
            <a:solidFill>
              <a:srgbClr val="E97132"/>
            </a:solidFill>
            <a:prstDash val="solid"/>
          </a:ln>
        </p:spPr>
      </p:sp>
      <p:sp>
        <p:nvSpPr>
          <p:cNvPr id="36" name="Shape 34"/>
          <p:cNvSpPr/>
          <p:nvPr/>
        </p:nvSpPr>
        <p:spPr>
          <a:xfrm>
            <a:off x="1115568" y="2962656"/>
            <a:ext cx="146304" cy="146304"/>
          </a:xfrm>
          <a:prstGeom prst="ellipse">
            <a:avLst/>
          </a:prstGeom>
          <a:solidFill>
            <a:srgbClr val="E97132"/>
          </a:solidFill>
          <a:ln w="12700">
            <a:solidFill>
              <a:srgbClr val="E97132"/>
            </a:solidFill>
            <a:prstDash val="solid"/>
          </a:ln>
        </p:spPr>
      </p:sp>
      <p:sp>
        <p:nvSpPr>
          <p:cNvPr id="37" name="Shape 35"/>
          <p:cNvSpPr/>
          <p:nvPr/>
        </p:nvSpPr>
        <p:spPr>
          <a:xfrm>
            <a:off x="621792" y="1682496"/>
            <a:ext cx="1133856" cy="384048"/>
          </a:xfrm>
          <a:prstGeom prst="roundRect">
            <a:avLst>
              <a:gd name="adj" fmla="val 14286"/>
            </a:avLst>
          </a:prstGeom>
          <a:solidFill>
            <a:srgbClr val="E97132"/>
          </a:solidFill>
          <a:ln w="12700">
            <a:solidFill>
              <a:srgbClr val="E97132"/>
            </a:solidFill>
            <a:prstDash val="solid"/>
          </a:ln>
        </p:spPr>
      </p:sp>
      <p:sp>
        <p:nvSpPr>
          <p:cNvPr id="38" name="Text 36"/>
          <p:cNvSpPr/>
          <p:nvPr/>
        </p:nvSpPr>
        <p:spPr>
          <a:xfrm>
            <a:off x="621792" y="168249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PGF</a:t>
            </a:r>
            <a:endParaRPr lang="en-US" sz="1100" dirty="0"/>
          </a:p>
        </p:txBody>
      </p:sp>
      <p:sp>
        <p:nvSpPr>
          <p:cNvPr id="39" name="Shape 37"/>
          <p:cNvSpPr/>
          <p:nvPr/>
        </p:nvSpPr>
        <p:spPr>
          <a:xfrm>
            <a:off x="8526780" y="2075688"/>
            <a:ext cx="0" cy="914400"/>
          </a:xfrm>
          <a:prstGeom prst="line">
            <a:avLst/>
          </a:prstGeom>
          <a:noFill/>
          <a:ln w="25400">
            <a:solidFill>
              <a:srgbClr val="E97132"/>
            </a:solidFill>
            <a:prstDash val="solid"/>
          </a:ln>
        </p:spPr>
      </p:sp>
      <p:sp>
        <p:nvSpPr>
          <p:cNvPr id="40" name="Shape 38"/>
          <p:cNvSpPr/>
          <p:nvPr/>
        </p:nvSpPr>
        <p:spPr>
          <a:xfrm>
            <a:off x="8453628" y="2962656"/>
            <a:ext cx="146304" cy="146304"/>
          </a:xfrm>
          <a:prstGeom prst="ellipse">
            <a:avLst/>
          </a:prstGeom>
          <a:solidFill>
            <a:srgbClr val="E97132"/>
          </a:solidFill>
          <a:ln w="12700">
            <a:solidFill>
              <a:srgbClr val="E97132"/>
            </a:solidFill>
            <a:prstDash val="solid"/>
          </a:ln>
        </p:spPr>
      </p:sp>
      <p:sp>
        <p:nvSpPr>
          <p:cNvPr id="41" name="Shape 39"/>
          <p:cNvSpPr/>
          <p:nvPr/>
        </p:nvSpPr>
        <p:spPr>
          <a:xfrm>
            <a:off x="7959852" y="1682496"/>
            <a:ext cx="1133856" cy="384048"/>
          </a:xfrm>
          <a:prstGeom prst="roundRect">
            <a:avLst>
              <a:gd name="adj" fmla="val 14286"/>
            </a:avLst>
          </a:prstGeom>
          <a:solidFill>
            <a:srgbClr val="E97132"/>
          </a:solidFill>
          <a:ln w="12700">
            <a:solidFill>
              <a:srgbClr val="E97132"/>
            </a:solidFill>
            <a:prstDash val="solid"/>
          </a:ln>
        </p:spPr>
      </p:sp>
      <p:sp>
        <p:nvSpPr>
          <p:cNvPr id="42" name="Text 40"/>
          <p:cNvSpPr/>
          <p:nvPr/>
        </p:nvSpPr>
        <p:spPr>
          <a:xfrm>
            <a:off x="7959852" y="168249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PGF</a:t>
            </a:r>
            <a:endParaRPr lang="en-US" sz="1100" dirty="0"/>
          </a:p>
        </p:txBody>
      </p:sp>
      <p:sp>
        <p:nvSpPr>
          <p:cNvPr id="43" name="Text 41"/>
          <p:cNvSpPr/>
          <p:nvPr/>
        </p:nvSpPr>
        <p:spPr>
          <a:xfrm>
            <a:off x="7749540" y="3346704"/>
            <a:ext cx="1554480" cy="402336"/>
          </a:xfrm>
          <a:prstGeom prst="rect">
            <a:avLst/>
          </a:prstGeom>
          <a:noFill/>
          <a:ln/>
        </p:spPr>
        <p:txBody>
          <a:bodyPr wrap="square" lIns="0" tIns="0" rIns="0" bIns="0" rtlCol="0" anchor="ctr"/>
          <a:lstStyle/>
          <a:p>
            <a:pPr algn="ctr" indent="0" marL="0">
              <a:buNone/>
            </a:pPr>
            <a:r>
              <a:rPr lang="en-US" sz="1000" b="1" dirty="0">
                <a:solidFill>
                  <a:srgbClr val="E97132"/>
                </a:solidFill>
                <a:latin typeface="Malgun Gothic" pitchFamily="34" charset="0"/>
                <a:ea typeface="Malgun Gothic" pitchFamily="34" charset="-122"/>
                <a:cs typeface="Malgun Gothic" pitchFamily="34" charset="-120"/>
              </a:rPr>
              <a:t>11–14 days later</a:t>
            </a:r>
            <a:endParaRPr lang="en-US" sz="1000" dirty="0"/>
          </a:p>
        </p:txBody>
      </p:sp>
      <p:sp>
        <p:nvSpPr>
          <p:cNvPr id="44" name="Text 42"/>
          <p:cNvSpPr/>
          <p:nvPr/>
        </p:nvSpPr>
        <p:spPr>
          <a:xfrm>
            <a:off x="1188720" y="3602736"/>
            <a:ext cx="9784080" cy="237744"/>
          </a:xfrm>
          <a:prstGeom prst="rect">
            <a:avLst/>
          </a:prstGeom>
          <a:noFill/>
          <a:ln/>
        </p:spPr>
        <p:txBody>
          <a:bodyPr wrap="square" lIns="0" tIns="0" rIns="0" bIns="0" rtlCol="0" anchor="ctr"/>
          <a:lstStyle/>
          <a:p>
            <a:pPr algn="l" indent="0" marL="0">
              <a:buNone/>
            </a:pPr>
            <a:r>
              <a:rPr lang="en-US" sz="1000" dirty="0">
                <a:solidFill>
                  <a:srgbClr val="6B7280"/>
                </a:solidFill>
                <a:latin typeface="Malgun Gothic" pitchFamily="34" charset="0"/>
                <a:ea typeface="Malgun Gothic" pitchFamily="34" charset="-122"/>
                <a:cs typeface="Malgun Gothic" pitchFamily="34" charset="-120"/>
              </a:rPr>
              <a:t>days</a:t>
            </a:r>
            <a:endParaRPr lang="en-US" sz="1000" dirty="0"/>
          </a:p>
        </p:txBody>
      </p:sp>
      <p:sp>
        <p:nvSpPr>
          <p:cNvPr id="45" name="Shape 43"/>
          <p:cNvSpPr/>
          <p:nvPr/>
        </p:nvSpPr>
        <p:spPr>
          <a:xfrm>
            <a:off x="6057900" y="3694176"/>
            <a:ext cx="4754880" cy="420624"/>
          </a:xfrm>
          <a:prstGeom prst="roundRect">
            <a:avLst>
              <a:gd name="adj" fmla="val 10870"/>
            </a:avLst>
          </a:prstGeom>
          <a:solidFill>
            <a:srgbClr val="E3ECF1"/>
          </a:solidFill>
          <a:ln w="12700">
            <a:solidFill>
              <a:srgbClr val="E3ECF1"/>
            </a:solidFill>
            <a:prstDash val="solid"/>
          </a:ln>
        </p:spPr>
      </p:sp>
      <p:sp>
        <p:nvSpPr>
          <p:cNvPr id="46" name="Text 44"/>
          <p:cNvSpPr/>
          <p:nvPr/>
        </p:nvSpPr>
        <p:spPr>
          <a:xfrm>
            <a:off x="6057900" y="3694176"/>
            <a:ext cx="4754880" cy="420624"/>
          </a:xfrm>
          <a:prstGeom prst="rect">
            <a:avLst/>
          </a:prstGeom>
          <a:noFill/>
          <a:ln/>
        </p:spPr>
        <p:txBody>
          <a:bodyPr wrap="square" lIns="0" tIns="0" rIns="0" bIns="0" rtlCol="0" anchor="ctr"/>
          <a:lstStyle/>
          <a:p>
            <a:pPr algn="ctr" indent="0" marL="0">
              <a:buNone/>
            </a:pPr>
            <a:r>
              <a:rPr lang="en-US" sz="1150" b="1" dirty="0">
                <a:solidFill>
                  <a:srgbClr val="0E2841"/>
                </a:solidFill>
                <a:latin typeface="Malgun Gothic" pitchFamily="34" charset="0"/>
                <a:ea typeface="Malgun Gothic" pitchFamily="34" charset="-122"/>
                <a:cs typeface="Malgun Gothic" pitchFamily="34" charset="-120"/>
              </a:rPr>
              <a:t>heat in 2–5 days  →  breed on heat, or fixed time at 72 h and 96 h</a:t>
            </a:r>
            <a:endParaRPr lang="en-US" sz="1150" dirty="0"/>
          </a:p>
        </p:txBody>
      </p:sp>
      <p:sp>
        <p:nvSpPr>
          <p:cNvPr id="47" name="Shape 45"/>
          <p:cNvSpPr/>
          <p:nvPr/>
        </p:nvSpPr>
        <p:spPr>
          <a:xfrm>
            <a:off x="548640" y="4270248"/>
            <a:ext cx="5394960" cy="1298448"/>
          </a:xfrm>
          <a:prstGeom prst="roundRect">
            <a:avLst>
              <a:gd name="adj" fmla="val 4930"/>
            </a:avLst>
          </a:prstGeom>
          <a:solidFill>
            <a:srgbClr val="FFFFFF"/>
          </a:solidFill>
          <a:ln w="12700">
            <a:solidFill>
              <a:srgbClr val="196B24"/>
            </a:solidFill>
            <a:prstDash val="solid"/>
          </a:ln>
        </p:spPr>
      </p:sp>
      <p:sp>
        <p:nvSpPr>
          <p:cNvPr id="48" name="Shape 46"/>
          <p:cNvSpPr/>
          <p:nvPr/>
        </p:nvSpPr>
        <p:spPr>
          <a:xfrm>
            <a:off x="548640" y="4270248"/>
            <a:ext cx="5394960" cy="402336"/>
          </a:xfrm>
          <a:prstGeom prst="roundRect">
            <a:avLst>
              <a:gd name="adj" fmla="val 15909"/>
            </a:avLst>
          </a:prstGeom>
          <a:solidFill>
            <a:srgbClr val="196B24"/>
          </a:solidFill>
          <a:ln w="12700">
            <a:solidFill>
              <a:srgbClr val="196B24"/>
            </a:solidFill>
            <a:prstDash val="solid"/>
          </a:ln>
        </p:spPr>
      </p:sp>
      <p:sp>
        <p:nvSpPr>
          <p:cNvPr id="49" name="Text 47"/>
          <p:cNvSpPr/>
          <p:nvPr/>
        </p:nvSpPr>
        <p:spPr>
          <a:xfrm>
            <a:off x="548640" y="42702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USE IT WHEN</a:t>
            </a:r>
            <a:endParaRPr lang="en-US" sz="1300" dirty="0"/>
          </a:p>
        </p:txBody>
      </p:sp>
      <p:sp>
        <p:nvSpPr>
          <p:cNvPr id="50" name="Text 48"/>
          <p:cNvSpPr/>
          <p:nvPr/>
        </p:nvSpPr>
        <p:spPr>
          <a:xfrm>
            <a:off x="694944" y="4782312"/>
            <a:ext cx="5102352" cy="658368"/>
          </a:xfrm>
          <a:prstGeom prst="rect">
            <a:avLst/>
          </a:prstGeom>
          <a:noFill/>
          <a:ln/>
        </p:spPr>
        <p:txBody>
          <a:bodyPr wrap="square" lIns="0" tIns="0" rIns="0" bIns="0" rtlCol="0" anchor="t"/>
          <a:lstStyle/>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Cows are cycling for certain</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Budget is tight</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You can watch for heat</a:t>
            </a:r>
            <a:endParaRPr lang="en-US" sz="1150" dirty="0"/>
          </a:p>
        </p:txBody>
      </p:sp>
      <p:sp>
        <p:nvSpPr>
          <p:cNvPr id="51" name="Shape 49"/>
          <p:cNvSpPr/>
          <p:nvPr/>
        </p:nvSpPr>
        <p:spPr>
          <a:xfrm>
            <a:off x="6217920" y="4270248"/>
            <a:ext cx="5394960" cy="1298448"/>
          </a:xfrm>
          <a:prstGeom prst="roundRect">
            <a:avLst>
              <a:gd name="adj" fmla="val 4930"/>
            </a:avLst>
          </a:prstGeom>
          <a:solidFill>
            <a:srgbClr val="FFFFFF"/>
          </a:solidFill>
          <a:ln w="12700">
            <a:solidFill>
              <a:srgbClr val="E97132"/>
            </a:solidFill>
            <a:prstDash val="solid"/>
          </a:ln>
        </p:spPr>
      </p:sp>
      <p:sp>
        <p:nvSpPr>
          <p:cNvPr id="52" name="Shape 50"/>
          <p:cNvSpPr/>
          <p:nvPr/>
        </p:nvSpPr>
        <p:spPr>
          <a:xfrm>
            <a:off x="6217920" y="4270248"/>
            <a:ext cx="5394960" cy="402336"/>
          </a:xfrm>
          <a:prstGeom prst="roundRect">
            <a:avLst>
              <a:gd name="adj" fmla="val 15909"/>
            </a:avLst>
          </a:prstGeom>
          <a:solidFill>
            <a:srgbClr val="E97132"/>
          </a:solidFill>
          <a:ln w="12700">
            <a:solidFill>
              <a:srgbClr val="E97132"/>
            </a:solidFill>
            <a:prstDash val="solid"/>
          </a:ln>
        </p:spPr>
      </p:sp>
      <p:sp>
        <p:nvSpPr>
          <p:cNvPr id="53" name="Text 51"/>
          <p:cNvSpPr/>
          <p:nvPr/>
        </p:nvSpPr>
        <p:spPr>
          <a:xfrm>
            <a:off x="6217920" y="42702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DO NOT USE WHEN</a:t>
            </a:r>
            <a:endParaRPr lang="en-US" sz="1300" dirty="0"/>
          </a:p>
        </p:txBody>
      </p:sp>
      <p:sp>
        <p:nvSpPr>
          <p:cNvPr id="54" name="Text 52"/>
          <p:cNvSpPr/>
          <p:nvPr/>
        </p:nvSpPr>
        <p:spPr>
          <a:xfrm>
            <a:off x="6364224" y="4782312"/>
            <a:ext cx="5102352" cy="658368"/>
          </a:xfrm>
          <a:prstGeom prst="rect">
            <a:avLst/>
          </a:prstGeom>
          <a:noFill/>
          <a:ln/>
        </p:spPr>
        <p:txBody>
          <a:bodyPr wrap="square" lIns="0" tIns="0" rIns="0" bIns="0" rtlCol="0" anchor="t"/>
          <a:lstStyle/>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Cows are thin or not cycling</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You do not know the cycle day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Protocol 2 — Ovsynch</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Fixed-time breeding. No heat watching.</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Reset → kill the CL → make her ovulate → breed at a fixed hour.</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15</a:t>
            </a:r>
            <a:endParaRPr lang="en-US" sz="900" dirty="0"/>
          </a:p>
        </p:txBody>
      </p:sp>
      <p:sp>
        <p:nvSpPr>
          <p:cNvPr id="8" name="Shape 6"/>
          <p:cNvSpPr/>
          <p:nvPr/>
        </p:nvSpPr>
        <p:spPr>
          <a:xfrm>
            <a:off x="1188720" y="3081528"/>
            <a:ext cx="9784080" cy="0"/>
          </a:xfrm>
          <a:prstGeom prst="line">
            <a:avLst/>
          </a:prstGeom>
          <a:noFill/>
          <a:ln w="25400">
            <a:solidFill>
              <a:srgbClr val="0E2841"/>
            </a:solidFill>
            <a:prstDash val="solid"/>
          </a:ln>
        </p:spPr>
      </p:sp>
      <p:sp>
        <p:nvSpPr>
          <p:cNvPr id="9" name="Shape 7"/>
          <p:cNvSpPr/>
          <p:nvPr/>
        </p:nvSpPr>
        <p:spPr>
          <a:xfrm>
            <a:off x="1188720" y="3017520"/>
            <a:ext cx="0" cy="128016"/>
          </a:xfrm>
          <a:prstGeom prst="line">
            <a:avLst/>
          </a:prstGeom>
          <a:noFill/>
          <a:ln w="17780">
            <a:solidFill>
              <a:srgbClr val="0E2841"/>
            </a:solidFill>
            <a:prstDash val="solid"/>
          </a:ln>
        </p:spPr>
      </p:sp>
      <p:sp>
        <p:nvSpPr>
          <p:cNvPr id="10" name="Text 8"/>
          <p:cNvSpPr/>
          <p:nvPr/>
        </p:nvSpPr>
        <p:spPr>
          <a:xfrm>
            <a:off x="896112"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0</a:t>
            </a:r>
            <a:endParaRPr lang="en-US" sz="1000" dirty="0"/>
          </a:p>
        </p:txBody>
      </p:sp>
      <p:sp>
        <p:nvSpPr>
          <p:cNvPr id="11" name="Shape 9"/>
          <p:cNvSpPr/>
          <p:nvPr/>
        </p:nvSpPr>
        <p:spPr>
          <a:xfrm>
            <a:off x="2078182" y="3017520"/>
            <a:ext cx="0" cy="128016"/>
          </a:xfrm>
          <a:prstGeom prst="line">
            <a:avLst/>
          </a:prstGeom>
          <a:noFill/>
          <a:ln w="17780">
            <a:solidFill>
              <a:srgbClr val="0E2841"/>
            </a:solidFill>
            <a:prstDash val="solid"/>
          </a:ln>
        </p:spPr>
      </p:sp>
      <p:sp>
        <p:nvSpPr>
          <p:cNvPr id="12" name="Text 10"/>
          <p:cNvSpPr/>
          <p:nvPr/>
        </p:nvSpPr>
        <p:spPr>
          <a:xfrm>
            <a:off x="1785574"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a:t>
            </a:r>
            <a:endParaRPr lang="en-US" sz="1000" dirty="0"/>
          </a:p>
        </p:txBody>
      </p:sp>
      <p:sp>
        <p:nvSpPr>
          <p:cNvPr id="13" name="Shape 11"/>
          <p:cNvSpPr/>
          <p:nvPr/>
        </p:nvSpPr>
        <p:spPr>
          <a:xfrm>
            <a:off x="2967644" y="3017520"/>
            <a:ext cx="0" cy="128016"/>
          </a:xfrm>
          <a:prstGeom prst="line">
            <a:avLst/>
          </a:prstGeom>
          <a:noFill/>
          <a:ln w="17780">
            <a:solidFill>
              <a:srgbClr val="0E2841"/>
            </a:solidFill>
            <a:prstDash val="solid"/>
          </a:ln>
        </p:spPr>
      </p:sp>
      <p:sp>
        <p:nvSpPr>
          <p:cNvPr id="14" name="Text 12"/>
          <p:cNvSpPr/>
          <p:nvPr/>
        </p:nvSpPr>
        <p:spPr>
          <a:xfrm>
            <a:off x="2675036"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2</a:t>
            </a:r>
            <a:endParaRPr lang="en-US" sz="1000" dirty="0"/>
          </a:p>
        </p:txBody>
      </p:sp>
      <p:sp>
        <p:nvSpPr>
          <p:cNvPr id="15" name="Shape 13"/>
          <p:cNvSpPr/>
          <p:nvPr/>
        </p:nvSpPr>
        <p:spPr>
          <a:xfrm>
            <a:off x="3857105" y="3017520"/>
            <a:ext cx="0" cy="128016"/>
          </a:xfrm>
          <a:prstGeom prst="line">
            <a:avLst/>
          </a:prstGeom>
          <a:noFill/>
          <a:ln w="17780">
            <a:solidFill>
              <a:srgbClr val="0E2841"/>
            </a:solidFill>
            <a:prstDash val="solid"/>
          </a:ln>
        </p:spPr>
      </p:sp>
      <p:sp>
        <p:nvSpPr>
          <p:cNvPr id="16" name="Text 14"/>
          <p:cNvSpPr/>
          <p:nvPr/>
        </p:nvSpPr>
        <p:spPr>
          <a:xfrm>
            <a:off x="3564497"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3</a:t>
            </a:r>
            <a:endParaRPr lang="en-US" sz="1000" dirty="0"/>
          </a:p>
        </p:txBody>
      </p:sp>
      <p:sp>
        <p:nvSpPr>
          <p:cNvPr id="17" name="Shape 15"/>
          <p:cNvSpPr/>
          <p:nvPr/>
        </p:nvSpPr>
        <p:spPr>
          <a:xfrm>
            <a:off x="4746567" y="3017520"/>
            <a:ext cx="0" cy="128016"/>
          </a:xfrm>
          <a:prstGeom prst="line">
            <a:avLst/>
          </a:prstGeom>
          <a:noFill/>
          <a:ln w="17780">
            <a:solidFill>
              <a:srgbClr val="0E2841"/>
            </a:solidFill>
            <a:prstDash val="solid"/>
          </a:ln>
        </p:spPr>
      </p:sp>
      <p:sp>
        <p:nvSpPr>
          <p:cNvPr id="18" name="Text 16"/>
          <p:cNvSpPr/>
          <p:nvPr/>
        </p:nvSpPr>
        <p:spPr>
          <a:xfrm>
            <a:off x="4453959"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4</a:t>
            </a:r>
            <a:endParaRPr lang="en-US" sz="1000" dirty="0"/>
          </a:p>
        </p:txBody>
      </p:sp>
      <p:sp>
        <p:nvSpPr>
          <p:cNvPr id="19" name="Shape 17"/>
          <p:cNvSpPr/>
          <p:nvPr/>
        </p:nvSpPr>
        <p:spPr>
          <a:xfrm>
            <a:off x="5636029" y="3017520"/>
            <a:ext cx="0" cy="128016"/>
          </a:xfrm>
          <a:prstGeom prst="line">
            <a:avLst/>
          </a:prstGeom>
          <a:noFill/>
          <a:ln w="17780">
            <a:solidFill>
              <a:srgbClr val="0E2841"/>
            </a:solidFill>
            <a:prstDash val="solid"/>
          </a:ln>
        </p:spPr>
      </p:sp>
      <p:sp>
        <p:nvSpPr>
          <p:cNvPr id="20" name="Text 18"/>
          <p:cNvSpPr/>
          <p:nvPr/>
        </p:nvSpPr>
        <p:spPr>
          <a:xfrm>
            <a:off x="5343421"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5</a:t>
            </a:r>
            <a:endParaRPr lang="en-US" sz="1000" dirty="0"/>
          </a:p>
        </p:txBody>
      </p:sp>
      <p:sp>
        <p:nvSpPr>
          <p:cNvPr id="21" name="Shape 19"/>
          <p:cNvSpPr/>
          <p:nvPr/>
        </p:nvSpPr>
        <p:spPr>
          <a:xfrm>
            <a:off x="6525491" y="3017520"/>
            <a:ext cx="0" cy="128016"/>
          </a:xfrm>
          <a:prstGeom prst="line">
            <a:avLst/>
          </a:prstGeom>
          <a:noFill/>
          <a:ln w="17780">
            <a:solidFill>
              <a:srgbClr val="0E2841"/>
            </a:solidFill>
            <a:prstDash val="solid"/>
          </a:ln>
        </p:spPr>
      </p:sp>
      <p:sp>
        <p:nvSpPr>
          <p:cNvPr id="22" name="Text 20"/>
          <p:cNvSpPr/>
          <p:nvPr/>
        </p:nvSpPr>
        <p:spPr>
          <a:xfrm>
            <a:off x="6232883"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6</a:t>
            </a:r>
            <a:endParaRPr lang="en-US" sz="1000" dirty="0"/>
          </a:p>
        </p:txBody>
      </p:sp>
      <p:sp>
        <p:nvSpPr>
          <p:cNvPr id="23" name="Shape 21"/>
          <p:cNvSpPr/>
          <p:nvPr/>
        </p:nvSpPr>
        <p:spPr>
          <a:xfrm>
            <a:off x="7414953" y="3017520"/>
            <a:ext cx="0" cy="128016"/>
          </a:xfrm>
          <a:prstGeom prst="line">
            <a:avLst/>
          </a:prstGeom>
          <a:noFill/>
          <a:ln w="17780">
            <a:solidFill>
              <a:srgbClr val="0E2841"/>
            </a:solidFill>
            <a:prstDash val="solid"/>
          </a:ln>
        </p:spPr>
      </p:sp>
      <p:sp>
        <p:nvSpPr>
          <p:cNvPr id="24" name="Text 22"/>
          <p:cNvSpPr/>
          <p:nvPr/>
        </p:nvSpPr>
        <p:spPr>
          <a:xfrm>
            <a:off x="7122345"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7</a:t>
            </a:r>
            <a:endParaRPr lang="en-US" sz="1000" dirty="0"/>
          </a:p>
        </p:txBody>
      </p:sp>
      <p:sp>
        <p:nvSpPr>
          <p:cNvPr id="25" name="Shape 23"/>
          <p:cNvSpPr/>
          <p:nvPr/>
        </p:nvSpPr>
        <p:spPr>
          <a:xfrm>
            <a:off x="8304415" y="3017520"/>
            <a:ext cx="0" cy="128016"/>
          </a:xfrm>
          <a:prstGeom prst="line">
            <a:avLst/>
          </a:prstGeom>
          <a:noFill/>
          <a:ln w="17780">
            <a:solidFill>
              <a:srgbClr val="0E2841"/>
            </a:solidFill>
            <a:prstDash val="solid"/>
          </a:ln>
        </p:spPr>
      </p:sp>
      <p:sp>
        <p:nvSpPr>
          <p:cNvPr id="26" name="Text 24"/>
          <p:cNvSpPr/>
          <p:nvPr/>
        </p:nvSpPr>
        <p:spPr>
          <a:xfrm>
            <a:off x="8011807"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8</a:t>
            </a:r>
            <a:endParaRPr lang="en-US" sz="1000" dirty="0"/>
          </a:p>
        </p:txBody>
      </p:sp>
      <p:sp>
        <p:nvSpPr>
          <p:cNvPr id="27" name="Shape 25"/>
          <p:cNvSpPr/>
          <p:nvPr/>
        </p:nvSpPr>
        <p:spPr>
          <a:xfrm>
            <a:off x="9193876" y="3017520"/>
            <a:ext cx="0" cy="128016"/>
          </a:xfrm>
          <a:prstGeom prst="line">
            <a:avLst/>
          </a:prstGeom>
          <a:noFill/>
          <a:ln w="17780">
            <a:solidFill>
              <a:srgbClr val="0E2841"/>
            </a:solidFill>
            <a:prstDash val="solid"/>
          </a:ln>
        </p:spPr>
      </p:sp>
      <p:sp>
        <p:nvSpPr>
          <p:cNvPr id="28" name="Text 26"/>
          <p:cNvSpPr/>
          <p:nvPr/>
        </p:nvSpPr>
        <p:spPr>
          <a:xfrm>
            <a:off x="8901268"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9</a:t>
            </a:r>
            <a:endParaRPr lang="en-US" sz="1000" dirty="0"/>
          </a:p>
        </p:txBody>
      </p:sp>
      <p:sp>
        <p:nvSpPr>
          <p:cNvPr id="29" name="Shape 27"/>
          <p:cNvSpPr/>
          <p:nvPr/>
        </p:nvSpPr>
        <p:spPr>
          <a:xfrm>
            <a:off x="10083338" y="3017520"/>
            <a:ext cx="0" cy="128016"/>
          </a:xfrm>
          <a:prstGeom prst="line">
            <a:avLst/>
          </a:prstGeom>
          <a:noFill/>
          <a:ln w="17780">
            <a:solidFill>
              <a:srgbClr val="0E2841"/>
            </a:solidFill>
            <a:prstDash val="solid"/>
          </a:ln>
        </p:spPr>
      </p:sp>
      <p:sp>
        <p:nvSpPr>
          <p:cNvPr id="30" name="Text 28"/>
          <p:cNvSpPr/>
          <p:nvPr/>
        </p:nvSpPr>
        <p:spPr>
          <a:xfrm>
            <a:off x="9790730"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10</a:t>
            </a:r>
            <a:endParaRPr lang="en-US" sz="1000" dirty="0"/>
          </a:p>
        </p:txBody>
      </p:sp>
      <p:sp>
        <p:nvSpPr>
          <p:cNvPr id="31" name="Shape 29"/>
          <p:cNvSpPr/>
          <p:nvPr/>
        </p:nvSpPr>
        <p:spPr>
          <a:xfrm>
            <a:off x="10972800" y="3017520"/>
            <a:ext cx="0" cy="128016"/>
          </a:xfrm>
          <a:prstGeom prst="line">
            <a:avLst/>
          </a:prstGeom>
          <a:noFill/>
          <a:ln w="17780">
            <a:solidFill>
              <a:srgbClr val="0E2841"/>
            </a:solidFill>
            <a:prstDash val="solid"/>
          </a:ln>
        </p:spPr>
      </p:sp>
      <p:sp>
        <p:nvSpPr>
          <p:cNvPr id="32" name="Text 30"/>
          <p:cNvSpPr/>
          <p:nvPr/>
        </p:nvSpPr>
        <p:spPr>
          <a:xfrm>
            <a:off x="10680192"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11</a:t>
            </a:r>
            <a:endParaRPr lang="en-US" sz="1000" dirty="0"/>
          </a:p>
        </p:txBody>
      </p:sp>
      <p:sp>
        <p:nvSpPr>
          <p:cNvPr id="33" name="Shape 31"/>
          <p:cNvSpPr/>
          <p:nvPr/>
        </p:nvSpPr>
        <p:spPr>
          <a:xfrm>
            <a:off x="1188720" y="2121408"/>
            <a:ext cx="0" cy="914400"/>
          </a:xfrm>
          <a:prstGeom prst="line">
            <a:avLst/>
          </a:prstGeom>
          <a:noFill/>
          <a:ln w="25400">
            <a:solidFill>
              <a:srgbClr val="156082"/>
            </a:solidFill>
            <a:prstDash val="solid"/>
          </a:ln>
        </p:spPr>
      </p:sp>
      <p:sp>
        <p:nvSpPr>
          <p:cNvPr id="34" name="Shape 32"/>
          <p:cNvSpPr/>
          <p:nvPr/>
        </p:nvSpPr>
        <p:spPr>
          <a:xfrm>
            <a:off x="1115568" y="3008376"/>
            <a:ext cx="146304" cy="146304"/>
          </a:xfrm>
          <a:prstGeom prst="ellipse">
            <a:avLst/>
          </a:prstGeom>
          <a:solidFill>
            <a:srgbClr val="156082"/>
          </a:solidFill>
          <a:ln w="12700">
            <a:solidFill>
              <a:srgbClr val="156082"/>
            </a:solidFill>
            <a:prstDash val="solid"/>
          </a:ln>
        </p:spPr>
      </p:sp>
      <p:sp>
        <p:nvSpPr>
          <p:cNvPr id="35" name="Shape 33"/>
          <p:cNvSpPr/>
          <p:nvPr/>
        </p:nvSpPr>
        <p:spPr>
          <a:xfrm>
            <a:off x="621792" y="1728216"/>
            <a:ext cx="1133856" cy="384048"/>
          </a:xfrm>
          <a:prstGeom prst="roundRect">
            <a:avLst>
              <a:gd name="adj" fmla="val 14286"/>
            </a:avLst>
          </a:prstGeom>
          <a:solidFill>
            <a:srgbClr val="156082"/>
          </a:solidFill>
          <a:ln w="12700">
            <a:solidFill>
              <a:srgbClr val="156082"/>
            </a:solidFill>
            <a:prstDash val="solid"/>
          </a:ln>
        </p:spPr>
      </p:sp>
      <p:sp>
        <p:nvSpPr>
          <p:cNvPr id="36" name="Text 34"/>
          <p:cNvSpPr/>
          <p:nvPr/>
        </p:nvSpPr>
        <p:spPr>
          <a:xfrm>
            <a:off x="621792"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GnRH</a:t>
            </a:r>
            <a:endParaRPr lang="en-US" sz="1100" dirty="0"/>
          </a:p>
        </p:txBody>
      </p:sp>
      <p:sp>
        <p:nvSpPr>
          <p:cNvPr id="37" name="Text 35"/>
          <p:cNvSpPr/>
          <p:nvPr/>
        </p:nvSpPr>
        <p:spPr>
          <a:xfrm>
            <a:off x="411480" y="3392424"/>
            <a:ext cx="1554480" cy="402336"/>
          </a:xfrm>
          <a:prstGeom prst="rect">
            <a:avLst/>
          </a:prstGeom>
          <a:noFill/>
          <a:ln/>
        </p:spPr>
        <p:txBody>
          <a:bodyPr wrap="square" lIns="0" tIns="0" rIns="0" bIns="0" rtlCol="0" anchor="ctr"/>
          <a:lstStyle/>
          <a:p>
            <a:pPr algn="ctr" indent="0" marL="0">
              <a:buNone/>
            </a:pPr>
            <a:r>
              <a:rPr lang="en-US" sz="1000" b="1" dirty="0">
                <a:solidFill>
                  <a:srgbClr val="156082"/>
                </a:solidFill>
                <a:latin typeface="Malgun Gothic" pitchFamily="34" charset="0"/>
                <a:ea typeface="Malgun Gothic" pitchFamily="34" charset="-122"/>
                <a:cs typeface="Malgun Gothic" pitchFamily="34" charset="-120"/>
              </a:rPr>
              <a:t>reset</a:t>
            </a:r>
            <a:endParaRPr lang="en-US" sz="1000" dirty="0"/>
          </a:p>
        </p:txBody>
      </p:sp>
      <p:sp>
        <p:nvSpPr>
          <p:cNvPr id="38" name="Shape 36"/>
          <p:cNvSpPr/>
          <p:nvPr/>
        </p:nvSpPr>
        <p:spPr>
          <a:xfrm>
            <a:off x="7414953" y="2121408"/>
            <a:ext cx="0" cy="914400"/>
          </a:xfrm>
          <a:prstGeom prst="line">
            <a:avLst/>
          </a:prstGeom>
          <a:noFill/>
          <a:ln w="25400">
            <a:solidFill>
              <a:srgbClr val="E97132"/>
            </a:solidFill>
            <a:prstDash val="solid"/>
          </a:ln>
        </p:spPr>
      </p:sp>
      <p:sp>
        <p:nvSpPr>
          <p:cNvPr id="39" name="Shape 37"/>
          <p:cNvSpPr/>
          <p:nvPr/>
        </p:nvSpPr>
        <p:spPr>
          <a:xfrm>
            <a:off x="7341801" y="3008376"/>
            <a:ext cx="146304" cy="146304"/>
          </a:xfrm>
          <a:prstGeom prst="ellipse">
            <a:avLst/>
          </a:prstGeom>
          <a:solidFill>
            <a:srgbClr val="E97132"/>
          </a:solidFill>
          <a:ln w="12700">
            <a:solidFill>
              <a:srgbClr val="E97132"/>
            </a:solidFill>
            <a:prstDash val="solid"/>
          </a:ln>
        </p:spPr>
      </p:sp>
      <p:sp>
        <p:nvSpPr>
          <p:cNvPr id="40" name="Shape 38"/>
          <p:cNvSpPr/>
          <p:nvPr/>
        </p:nvSpPr>
        <p:spPr>
          <a:xfrm>
            <a:off x="6848025" y="1728216"/>
            <a:ext cx="1133856" cy="384048"/>
          </a:xfrm>
          <a:prstGeom prst="roundRect">
            <a:avLst>
              <a:gd name="adj" fmla="val 14286"/>
            </a:avLst>
          </a:prstGeom>
          <a:solidFill>
            <a:srgbClr val="E97132"/>
          </a:solidFill>
          <a:ln w="12700">
            <a:solidFill>
              <a:srgbClr val="E97132"/>
            </a:solidFill>
            <a:prstDash val="solid"/>
          </a:ln>
        </p:spPr>
      </p:sp>
      <p:sp>
        <p:nvSpPr>
          <p:cNvPr id="41" name="Text 39"/>
          <p:cNvSpPr/>
          <p:nvPr/>
        </p:nvSpPr>
        <p:spPr>
          <a:xfrm>
            <a:off x="6848025"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PGF</a:t>
            </a:r>
            <a:endParaRPr lang="en-US" sz="1100" dirty="0"/>
          </a:p>
        </p:txBody>
      </p:sp>
      <p:sp>
        <p:nvSpPr>
          <p:cNvPr id="42" name="Text 40"/>
          <p:cNvSpPr/>
          <p:nvPr/>
        </p:nvSpPr>
        <p:spPr>
          <a:xfrm>
            <a:off x="6637713" y="3392424"/>
            <a:ext cx="1554480" cy="402336"/>
          </a:xfrm>
          <a:prstGeom prst="rect">
            <a:avLst/>
          </a:prstGeom>
          <a:noFill/>
          <a:ln/>
        </p:spPr>
        <p:txBody>
          <a:bodyPr wrap="square" lIns="0" tIns="0" rIns="0" bIns="0" rtlCol="0" anchor="ctr"/>
          <a:lstStyle/>
          <a:p>
            <a:pPr algn="ctr" indent="0" marL="0">
              <a:buNone/>
            </a:pPr>
            <a:r>
              <a:rPr lang="en-US" sz="1000" b="1" dirty="0">
                <a:solidFill>
                  <a:srgbClr val="E97132"/>
                </a:solidFill>
                <a:latin typeface="Malgun Gothic" pitchFamily="34" charset="0"/>
                <a:ea typeface="Malgun Gothic" pitchFamily="34" charset="-122"/>
                <a:cs typeface="Malgun Gothic" pitchFamily="34" charset="-120"/>
              </a:rPr>
              <a:t>kill the CL</a:t>
            </a:r>
            <a:endParaRPr lang="en-US" sz="1000" dirty="0"/>
          </a:p>
        </p:txBody>
      </p:sp>
      <p:sp>
        <p:nvSpPr>
          <p:cNvPr id="43" name="Shape 41"/>
          <p:cNvSpPr/>
          <p:nvPr/>
        </p:nvSpPr>
        <p:spPr>
          <a:xfrm>
            <a:off x="9193876" y="2121408"/>
            <a:ext cx="0" cy="914400"/>
          </a:xfrm>
          <a:prstGeom prst="line">
            <a:avLst/>
          </a:prstGeom>
          <a:noFill/>
          <a:ln w="25400">
            <a:solidFill>
              <a:srgbClr val="156082"/>
            </a:solidFill>
            <a:prstDash val="solid"/>
          </a:ln>
        </p:spPr>
      </p:sp>
      <p:sp>
        <p:nvSpPr>
          <p:cNvPr id="44" name="Shape 42"/>
          <p:cNvSpPr/>
          <p:nvPr/>
        </p:nvSpPr>
        <p:spPr>
          <a:xfrm>
            <a:off x="9120724" y="3008376"/>
            <a:ext cx="146304" cy="146304"/>
          </a:xfrm>
          <a:prstGeom prst="ellipse">
            <a:avLst/>
          </a:prstGeom>
          <a:solidFill>
            <a:srgbClr val="156082"/>
          </a:solidFill>
          <a:ln w="12700">
            <a:solidFill>
              <a:srgbClr val="156082"/>
            </a:solidFill>
            <a:prstDash val="solid"/>
          </a:ln>
        </p:spPr>
      </p:sp>
      <p:sp>
        <p:nvSpPr>
          <p:cNvPr id="45" name="Shape 43"/>
          <p:cNvSpPr/>
          <p:nvPr/>
        </p:nvSpPr>
        <p:spPr>
          <a:xfrm>
            <a:off x="8626948" y="1728216"/>
            <a:ext cx="1133856" cy="384048"/>
          </a:xfrm>
          <a:prstGeom prst="roundRect">
            <a:avLst>
              <a:gd name="adj" fmla="val 14286"/>
            </a:avLst>
          </a:prstGeom>
          <a:solidFill>
            <a:srgbClr val="156082"/>
          </a:solidFill>
          <a:ln w="12700">
            <a:solidFill>
              <a:srgbClr val="156082"/>
            </a:solidFill>
            <a:prstDash val="solid"/>
          </a:ln>
        </p:spPr>
      </p:sp>
      <p:sp>
        <p:nvSpPr>
          <p:cNvPr id="46" name="Text 44"/>
          <p:cNvSpPr/>
          <p:nvPr/>
        </p:nvSpPr>
        <p:spPr>
          <a:xfrm>
            <a:off x="8626948"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GnRH</a:t>
            </a:r>
            <a:endParaRPr lang="en-US" sz="1100" dirty="0"/>
          </a:p>
        </p:txBody>
      </p:sp>
      <p:sp>
        <p:nvSpPr>
          <p:cNvPr id="47" name="Text 45"/>
          <p:cNvSpPr/>
          <p:nvPr/>
        </p:nvSpPr>
        <p:spPr>
          <a:xfrm>
            <a:off x="8416636" y="3392424"/>
            <a:ext cx="1554480" cy="402336"/>
          </a:xfrm>
          <a:prstGeom prst="rect">
            <a:avLst/>
          </a:prstGeom>
          <a:noFill/>
          <a:ln/>
        </p:spPr>
        <p:txBody>
          <a:bodyPr wrap="square" lIns="0" tIns="0" rIns="0" bIns="0" rtlCol="0" anchor="ctr"/>
          <a:lstStyle/>
          <a:p>
            <a:pPr algn="ctr" indent="0" marL="0">
              <a:buNone/>
            </a:pPr>
            <a:r>
              <a:rPr lang="en-US" sz="1000" b="1" dirty="0">
                <a:solidFill>
                  <a:srgbClr val="156082"/>
                </a:solidFill>
                <a:latin typeface="Malgun Gothic" pitchFamily="34" charset="0"/>
                <a:ea typeface="Malgun Gothic" pitchFamily="34" charset="-122"/>
                <a:cs typeface="Malgun Gothic" pitchFamily="34" charset="-120"/>
              </a:rPr>
              <a:t>56 h after PGF</a:t>
            </a:r>
            <a:endParaRPr lang="en-US" sz="1000" dirty="0"/>
          </a:p>
        </p:txBody>
      </p:sp>
      <p:sp>
        <p:nvSpPr>
          <p:cNvPr id="48" name="Shape 46"/>
          <p:cNvSpPr/>
          <p:nvPr/>
        </p:nvSpPr>
        <p:spPr>
          <a:xfrm>
            <a:off x="10083338" y="2121408"/>
            <a:ext cx="0" cy="914400"/>
          </a:xfrm>
          <a:prstGeom prst="line">
            <a:avLst/>
          </a:prstGeom>
          <a:noFill/>
          <a:ln w="25400">
            <a:solidFill>
              <a:srgbClr val="196B24"/>
            </a:solidFill>
            <a:prstDash val="solid"/>
          </a:ln>
        </p:spPr>
      </p:sp>
      <p:sp>
        <p:nvSpPr>
          <p:cNvPr id="49" name="Shape 47"/>
          <p:cNvSpPr/>
          <p:nvPr/>
        </p:nvSpPr>
        <p:spPr>
          <a:xfrm>
            <a:off x="10010186" y="3008376"/>
            <a:ext cx="146304" cy="146304"/>
          </a:xfrm>
          <a:prstGeom prst="ellipse">
            <a:avLst/>
          </a:prstGeom>
          <a:solidFill>
            <a:srgbClr val="196B24"/>
          </a:solidFill>
          <a:ln w="12700">
            <a:solidFill>
              <a:srgbClr val="196B24"/>
            </a:solidFill>
            <a:prstDash val="solid"/>
          </a:ln>
        </p:spPr>
      </p:sp>
      <p:sp>
        <p:nvSpPr>
          <p:cNvPr id="50" name="Shape 48"/>
          <p:cNvSpPr/>
          <p:nvPr/>
        </p:nvSpPr>
        <p:spPr>
          <a:xfrm>
            <a:off x="9516410" y="1728216"/>
            <a:ext cx="1133856" cy="384048"/>
          </a:xfrm>
          <a:prstGeom prst="roundRect">
            <a:avLst>
              <a:gd name="adj" fmla="val 14286"/>
            </a:avLst>
          </a:prstGeom>
          <a:solidFill>
            <a:srgbClr val="196B24"/>
          </a:solidFill>
          <a:ln w="12700">
            <a:solidFill>
              <a:srgbClr val="196B24"/>
            </a:solidFill>
            <a:prstDash val="solid"/>
          </a:ln>
        </p:spPr>
      </p:sp>
      <p:sp>
        <p:nvSpPr>
          <p:cNvPr id="51" name="Text 49"/>
          <p:cNvSpPr/>
          <p:nvPr/>
        </p:nvSpPr>
        <p:spPr>
          <a:xfrm>
            <a:off x="9516410"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BREED</a:t>
            </a:r>
            <a:endParaRPr lang="en-US" sz="1100" dirty="0"/>
          </a:p>
        </p:txBody>
      </p:sp>
      <p:sp>
        <p:nvSpPr>
          <p:cNvPr id="52" name="Text 50"/>
          <p:cNvSpPr/>
          <p:nvPr/>
        </p:nvSpPr>
        <p:spPr>
          <a:xfrm>
            <a:off x="9306098" y="3392424"/>
            <a:ext cx="1554480" cy="402336"/>
          </a:xfrm>
          <a:prstGeom prst="rect">
            <a:avLst/>
          </a:prstGeom>
          <a:noFill/>
          <a:ln/>
        </p:spPr>
        <p:txBody>
          <a:bodyPr wrap="square" lIns="0" tIns="0" rIns="0" bIns="0" rtlCol="0" anchor="ctr"/>
          <a:lstStyle/>
          <a:p>
            <a:pPr algn="ctr" indent="0" marL="0">
              <a:buNone/>
            </a:pPr>
            <a:r>
              <a:rPr lang="en-US" sz="1000" b="1" dirty="0">
                <a:solidFill>
                  <a:srgbClr val="196B24"/>
                </a:solidFill>
                <a:latin typeface="Malgun Gothic" pitchFamily="34" charset="0"/>
                <a:ea typeface="Malgun Gothic" pitchFamily="34" charset="-122"/>
                <a:cs typeface="Malgun Gothic" pitchFamily="34" charset="-120"/>
              </a:rPr>
              <a:t>16–20 h later</a:t>
            </a:r>
            <a:endParaRPr lang="en-US" sz="1000" dirty="0"/>
          </a:p>
        </p:txBody>
      </p:sp>
      <p:sp>
        <p:nvSpPr>
          <p:cNvPr id="53" name="Text 51"/>
          <p:cNvSpPr/>
          <p:nvPr/>
        </p:nvSpPr>
        <p:spPr>
          <a:xfrm>
            <a:off x="1188720" y="3648456"/>
            <a:ext cx="9784080" cy="237744"/>
          </a:xfrm>
          <a:prstGeom prst="rect">
            <a:avLst/>
          </a:prstGeom>
          <a:noFill/>
          <a:ln/>
        </p:spPr>
        <p:txBody>
          <a:bodyPr wrap="square" lIns="0" tIns="0" rIns="0" bIns="0" rtlCol="0" anchor="ctr"/>
          <a:lstStyle/>
          <a:p>
            <a:pPr algn="l" indent="0" marL="0">
              <a:buNone/>
            </a:pPr>
            <a:r>
              <a:rPr lang="en-US" sz="1000" dirty="0">
                <a:solidFill>
                  <a:srgbClr val="6B7280"/>
                </a:solidFill>
                <a:latin typeface="Malgun Gothic" pitchFamily="34" charset="0"/>
                <a:ea typeface="Malgun Gothic" pitchFamily="34" charset="-122"/>
                <a:cs typeface="Malgun Gothic" pitchFamily="34" charset="-120"/>
              </a:rPr>
              <a:t>days</a:t>
            </a:r>
            <a:endParaRPr lang="en-US" sz="1000" dirty="0"/>
          </a:p>
        </p:txBody>
      </p:sp>
      <p:sp>
        <p:nvSpPr>
          <p:cNvPr id="54" name="Shape 52"/>
          <p:cNvSpPr/>
          <p:nvPr/>
        </p:nvSpPr>
        <p:spPr>
          <a:xfrm>
            <a:off x="548640" y="4133088"/>
            <a:ext cx="2434133" cy="347472"/>
          </a:xfrm>
          <a:prstGeom prst="roundRect">
            <a:avLst>
              <a:gd name="adj" fmla="val 7895"/>
            </a:avLst>
          </a:prstGeom>
          <a:solidFill>
            <a:srgbClr val="0E2841"/>
          </a:solidFill>
          <a:ln w="12700">
            <a:solidFill>
              <a:srgbClr val="0E2841"/>
            </a:solidFill>
            <a:prstDash val="solid"/>
          </a:ln>
        </p:spPr>
      </p:sp>
      <p:sp>
        <p:nvSpPr>
          <p:cNvPr id="55" name="Text 53"/>
          <p:cNvSpPr/>
          <p:nvPr/>
        </p:nvSpPr>
        <p:spPr>
          <a:xfrm>
            <a:off x="621792" y="4133088"/>
            <a:ext cx="2287829"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Day and injection</a:t>
            </a:r>
            <a:endParaRPr lang="en-US" sz="1200" dirty="0"/>
          </a:p>
        </p:txBody>
      </p:sp>
      <p:sp>
        <p:nvSpPr>
          <p:cNvPr id="56" name="Shape 54"/>
          <p:cNvSpPr/>
          <p:nvPr/>
        </p:nvSpPr>
        <p:spPr>
          <a:xfrm>
            <a:off x="2982773" y="4133088"/>
            <a:ext cx="8630107" cy="347472"/>
          </a:xfrm>
          <a:prstGeom prst="roundRect">
            <a:avLst>
              <a:gd name="adj" fmla="val 7895"/>
            </a:avLst>
          </a:prstGeom>
          <a:solidFill>
            <a:srgbClr val="0E2841"/>
          </a:solidFill>
          <a:ln w="12700">
            <a:solidFill>
              <a:srgbClr val="0E2841"/>
            </a:solidFill>
            <a:prstDash val="solid"/>
          </a:ln>
        </p:spPr>
      </p:sp>
      <p:sp>
        <p:nvSpPr>
          <p:cNvPr id="57" name="Text 55"/>
          <p:cNvSpPr/>
          <p:nvPr/>
        </p:nvSpPr>
        <p:spPr>
          <a:xfrm>
            <a:off x="3055925" y="4133088"/>
            <a:ext cx="8483803"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it does</a:t>
            </a:r>
            <a:endParaRPr lang="en-US" sz="1200" dirty="0"/>
          </a:p>
        </p:txBody>
      </p:sp>
      <p:sp>
        <p:nvSpPr>
          <p:cNvPr id="58" name="Shape 56"/>
          <p:cNvSpPr/>
          <p:nvPr/>
        </p:nvSpPr>
        <p:spPr>
          <a:xfrm>
            <a:off x="548640" y="4480560"/>
            <a:ext cx="2434133" cy="347472"/>
          </a:xfrm>
          <a:prstGeom prst="roundRect">
            <a:avLst>
              <a:gd name="adj" fmla="val 5263"/>
            </a:avLst>
          </a:prstGeom>
          <a:solidFill>
            <a:srgbClr val="FFFFFF"/>
          </a:solidFill>
          <a:ln w="12700">
            <a:solidFill>
              <a:srgbClr val="C9D3DA"/>
            </a:solidFill>
            <a:prstDash val="solid"/>
          </a:ln>
        </p:spPr>
      </p:sp>
      <p:sp>
        <p:nvSpPr>
          <p:cNvPr id="59" name="Text 57"/>
          <p:cNvSpPr/>
          <p:nvPr/>
        </p:nvSpPr>
        <p:spPr>
          <a:xfrm>
            <a:off x="621792" y="4480560"/>
            <a:ext cx="2287829"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D0  GnRH</a:t>
            </a:r>
            <a:endParaRPr lang="en-US" sz="1200" dirty="0"/>
          </a:p>
        </p:txBody>
      </p:sp>
      <p:sp>
        <p:nvSpPr>
          <p:cNvPr id="60" name="Shape 58"/>
          <p:cNvSpPr/>
          <p:nvPr/>
        </p:nvSpPr>
        <p:spPr>
          <a:xfrm>
            <a:off x="2982773" y="4480560"/>
            <a:ext cx="8630107" cy="347472"/>
          </a:xfrm>
          <a:prstGeom prst="roundRect">
            <a:avLst>
              <a:gd name="adj" fmla="val 5263"/>
            </a:avLst>
          </a:prstGeom>
          <a:solidFill>
            <a:srgbClr val="FFFFFF"/>
          </a:solidFill>
          <a:ln w="12700">
            <a:solidFill>
              <a:srgbClr val="C9D3DA"/>
            </a:solidFill>
            <a:prstDash val="solid"/>
          </a:ln>
        </p:spPr>
      </p:sp>
      <p:sp>
        <p:nvSpPr>
          <p:cNvPr id="61" name="Text 59"/>
          <p:cNvSpPr/>
          <p:nvPr/>
        </p:nvSpPr>
        <p:spPr>
          <a:xfrm>
            <a:off x="3055925" y="4480560"/>
            <a:ext cx="8483803"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Reset. She ovulates the leader follicle. New wave in ~2 days.</a:t>
            </a:r>
            <a:endParaRPr lang="en-US" sz="1200" dirty="0"/>
          </a:p>
        </p:txBody>
      </p:sp>
      <p:sp>
        <p:nvSpPr>
          <p:cNvPr id="62" name="Shape 60"/>
          <p:cNvSpPr/>
          <p:nvPr/>
        </p:nvSpPr>
        <p:spPr>
          <a:xfrm>
            <a:off x="548640" y="4828032"/>
            <a:ext cx="2434133" cy="347472"/>
          </a:xfrm>
          <a:prstGeom prst="roundRect">
            <a:avLst>
              <a:gd name="adj" fmla="val 5263"/>
            </a:avLst>
          </a:prstGeom>
          <a:solidFill>
            <a:srgbClr val="F2F5F7"/>
          </a:solidFill>
          <a:ln w="12700">
            <a:solidFill>
              <a:srgbClr val="C9D3DA"/>
            </a:solidFill>
            <a:prstDash val="solid"/>
          </a:ln>
        </p:spPr>
      </p:sp>
      <p:sp>
        <p:nvSpPr>
          <p:cNvPr id="63" name="Text 61"/>
          <p:cNvSpPr/>
          <p:nvPr/>
        </p:nvSpPr>
        <p:spPr>
          <a:xfrm>
            <a:off x="621792" y="4828032"/>
            <a:ext cx="2287829"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D7  PGF</a:t>
            </a:r>
            <a:endParaRPr lang="en-US" sz="1200" dirty="0"/>
          </a:p>
        </p:txBody>
      </p:sp>
      <p:sp>
        <p:nvSpPr>
          <p:cNvPr id="64" name="Shape 62"/>
          <p:cNvSpPr/>
          <p:nvPr/>
        </p:nvSpPr>
        <p:spPr>
          <a:xfrm>
            <a:off x="2982773" y="4828032"/>
            <a:ext cx="8630107" cy="347472"/>
          </a:xfrm>
          <a:prstGeom prst="roundRect">
            <a:avLst>
              <a:gd name="adj" fmla="val 5263"/>
            </a:avLst>
          </a:prstGeom>
          <a:solidFill>
            <a:srgbClr val="F2F5F7"/>
          </a:solidFill>
          <a:ln w="12700">
            <a:solidFill>
              <a:srgbClr val="C9D3DA"/>
            </a:solidFill>
            <a:prstDash val="solid"/>
          </a:ln>
        </p:spPr>
      </p:sp>
      <p:sp>
        <p:nvSpPr>
          <p:cNvPr id="65" name="Text 63"/>
          <p:cNvSpPr/>
          <p:nvPr/>
        </p:nvSpPr>
        <p:spPr>
          <a:xfrm>
            <a:off x="3055925" y="4828032"/>
            <a:ext cx="8483803"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Kills the CL — the old one and the small new one. P4 falls.</a:t>
            </a:r>
            <a:endParaRPr lang="en-US" sz="1200" dirty="0"/>
          </a:p>
        </p:txBody>
      </p:sp>
      <p:sp>
        <p:nvSpPr>
          <p:cNvPr id="66" name="Shape 64"/>
          <p:cNvSpPr/>
          <p:nvPr/>
        </p:nvSpPr>
        <p:spPr>
          <a:xfrm>
            <a:off x="548640" y="5175504"/>
            <a:ext cx="2434133" cy="347472"/>
          </a:xfrm>
          <a:prstGeom prst="roundRect">
            <a:avLst>
              <a:gd name="adj" fmla="val 5263"/>
            </a:avLst>
          </a:prstGeom>
          <a:solidFill>
            <a:srgbClr val="FFFFFF"/>
          </a:solidFill>
          <a:ln w="12700">
            <a:solidFill>
              <a:srgbClr val="C9D3DA"/>
            </a:solidFill>
            <a:prstDash val="solid"/>
          </a:ln>
        </p:spPr>
      </p:sp>
      <p:sp>
        <p:nvSpPr>
          <p:cNvPr id="67" name="Text 65"/>
          <p:cNvSpPr/>
          <p:nvPr/>
        </p:nvSpPr>
        <p:spPr>
          <a:xfrm>
            <a:off x="621792" y="5175504"/>
            <a:ext cx="2287829"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D9  GnRH</a:t>
            </a:r>
            <a:endParaRPr lang="en-US" sz="1200" dirty="0"/>
          </a:p>
        </p:txBody>
      </p:sp>
      <p:sp>
        <p:nvSpPr>
          <p:cNvPr id="68" name="Shape 66"/>
          <p:cNvSpPr/>
          <p:nvPr/>
        </p:nvSpPr>
        <p:spPr>
          <a:xfrm>
            <a:off x="2982773" y="5175504"/>
            <a:ext cx="8630107" cy="347472"/>
          </a:xfrm>
          <a:prstGeom prst="roundRect">
            <a:avLst>
              <a:gd name="adj" fmla="val 5263"/>
            </a:avLst>
          </a:prstGeom>
          <a:solidFill>
            <a:srgbClr val="FFFFFF"/>
          </a:solidFill>
          <a:ln w="12700">
            <a:solidFill>
              <a:srgbClr val="C9D3DA"/>
            </a:solidFill>
            <a:prstDash val="solid"/>
          </a:ln>
        </p:spPr>
      </p:sp>
      <p:sp>
        <p:nvSpPr>
          <p:cNvPr id="69" name="Text 67"/>
          <p:cNvSpPr/>
          <p:nvPr/>
        </p:nvSpPr>
        <p:spPr>
          <a:xfrm>
            <a:off x="3055925" y="5175504"/>
            <a:ext cx="8483803"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She ovulates the new follicle. It is the right size now.</a:t>
            </a:r>
            <a:endParaRPr lang="en-US" sz="1200" dirty="0"/>
          </a:p>
        </p:txBody>
      </p:sp>
      <p:sp>
        <p:nvSpPr>
          <p:cNvPr id="70" name="Shape 68"/>
          <p:cNvSpPr/>
          <p:nvPr/>
        </p:nvSpPr>
        <p:spPr>
          <a:xfrm>
            <a:off x="548640" y="5522976"/>
            <a:ext cx="2434133" cy="347472"/>
          </a:xfrm>
          <a:prstGeom prst="roundRect">
            <a:avLst>
              <a:gd name="adj" fmla="val 5263"/>
            </a:avLst>
          </a:prstGeom>
          <a:solidFill>
            <a:srgbClr val="F2F5F7"/>
          </a:solidFill>
          <a:ln w="12700">
            <a:solidFill>
              <a:srgbClr val="C9D3DA"/>
            </a:solidFill>
            <a:prstDash val="solid"/>
          </a:ln>
        </p:spPr>
      </p:sp>
      <p:sp>
        <p:nvSpPr>
          <p:cNvPr id="71" name="Text 69"/>
          <p:cNvSpPr/>
          <p:nvPr/>
        </p:nvSpPr>
        <p:spPr>
          <a:xfrm>
            <a:off x="621792" y="5522976"/>
            <a:ext cx="2287829"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D10 BREED</a:t>
            </a:r>
            <a:endParaRPr lang="en-US" sz="1200" dirty="0"/>
          </a:p>
        </p:txBody>
      </p:sp>
      <p:sp>
        <p:nvSpPr>
          <p:cNvPr id="72" name="Shape 70"/>
          <p:cNvSpPr/>
          <p:nvPr/>
        </p:nvSpPr>
        <p:spPr>
          <a:xfrm>
            <a:off x="2982773" y="5522976"/>
            <a:ext cx="8630107" cy="347472"/>
          </a:xfrm>
          <a:prstGeom prst="roundRect">
            <a:avLst>
              <a:gd name="adj" fmla="val 5263"/>
            </a:avLst>
          </a:prstGeom>
          <a:solidFill>
            <a:srgbClr val="F2F5F7"/>
          </a:solidFill>
          <a:ln w="12700">
            <a:solidFill>
              <a:srgbClr val="C9D3DA"/>
            </a:solidFill>
            <a:prstDash val="solid"/>
          </a:ln>
        </p:spPr>
      </p:sp>
      <p:sp>
        <p:nvSpPr>
          <p:cNvPr id="73" name="Text 71"/>
          <p:cNvSpPr/>
          <p:nvPr/>
        </p:nvSpPr>
        <p:spPr>
          <a:xfrm>
            <a:off x="3055925" y="5522976"/>
            <a:ext cx="8483803"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16–20 h later. Sperm are ready before the egg arrives.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Protocol 3 — 7-day CO-Synch + CIDR</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default for recipient cows. Use this one.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The device works even when there is no CL. That is why it is the default in your herds.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16</a:t>
            </a:r>
            <a:endParaRPr lang="en-US" sz="900" dirty="0"/>
          </a:p>
        </p:txBody>
      </p:sp>
      <p:sp>
        <p:nvSpPr>
          <p:cNvPr id="8" name="Shape 6"/>
          <p:cNvSpPr/>
          <p:nvPr/>
        </p:nvSpPr>
        <p:spPr>
          <a:xfrm>
            <a:off x="1188720" y="3081528"/>
            <a:ext cx="9784080" cy="0"/>
          </a:xfrm>
          <a:prstGeom prst="line">
            <a:avLst/>
          </a:prstGeom>
          <a:noFill/>
          <a:ln w="25400">
            <a:solidFill>
              <a:srgbClr val="0E2841"/>
            </a:solidFill>
            <a:prstDash val="solid"/>
          </a:ln>
        </p:spPr>
      </p:sp>
      <p:sp>
        <p:nvSpPr>
          <p:cNvPr id="9" name="Shape 7"/>
          <p:cNvSpPr/>
          <p:nvPr/>
        </p:nvSpPr>
        <p:spPr>
          <a:xfrm>
            <a:off x="1188720" y="3017520"/>
            <a:ext cx="0" cy="128016"/>
          </a:xfrm>
          <a:prstGeom prst="line">
            <a:avLst/>
          </a:prstGeom>
          <a:noFill/>
          <a:ln w="17780">
            <a:solidFill>
              <a:srgbClr val="0E2841"/>
            </a:solidFill>
            <a:prstDash val="solid"/>
          </a:ln>
        </p:spPr>
      </p:sp>
      <p:sp>
        <p:nvSpPr>
          <p:cNvPr id="10" name="Text 8"/>
          <p:cNvSpPr/>
          <p:nvPr/>
        </p:nvSpPr>
        <p:spPr>
          <a:xfrm>
            <a:off x="896112"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0</a:t>
            </a:r>
            <a:endParaRPr lang="en-US" sz="1000" dirty="0"/>
          </a:p>
        </p:txBody>
      </p:sp>
      <p:sp>
        <p:nvSpPr>
          <p:cNvPr id="11" name="Shape 9"/>
          <p:cNvSpPr/>
          <p:nvPr/>
        </p:nvSpPr>
        <p:spPr>
          <a:xfrm>
            <a:off x="2078182" y="3017520"/>
            <a:ext cx="0" cy="128016"/>
          </a:xfrm>
          <a:prstGeom prst="line">
            <a:avLst/>
          </a:prstGeom>
          <a:noFill/>
          <a:ln w="17780">
            <a:solidFill>
              <a:srgbClr val="0E2841"/>
            </a:solidFill>
            <a:prstDash val="solid"/>
          </a:ln>
        </p:spPr>
      </p:sp>
      <p:sp>
        <p:nvSpPr>
          <p:cNvPr id="12" name="Text 10"/>
          <p:cNvSpPr/>
          <p:nvPr/>
        </p:nvSpPr>
        <p:spPr>
          <a:xfrm>
            <a:off x="1785574"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a:t>
            </a:r>
            <a:endParaRPr lang="en-US" sz="1000" dirty="0"/>
          </a:p>
        </p:txBody>
      </p:sp>
      <p:sp>
        <p:nvSpPr>
          <p:cNvPr id="13" name="Shape 11"/>
          <p:cNvSpPr/>
          <p:nvPr/>
        </p:nvSpPr>
        <p:spPr>
          <a:xfrm>
            <a:off x="2967644" y="3017520"/>
            <a:ext cx="0" cy="128016"/>
          </a:xfrm>
          <a:prstGeom prst="line">
            <a:avLst/>
          </a:prstGeom>
          <a:noFill/>
          <a:ln w="17780">
            <a:solidFill>
              <a:srgbClr val="0E2841"/>
            </a:solidFill>
            <a:prstDash val="solid"/>
          </a:ln>
        </p:spPr>
      </p:sp>
      <p:sp>
        <p:nvSpPr>
          <p:cNvPr id="14" name="Text 12"/>
          <p:cNvSpPr/>
          <p:nvPr/>
        </p:nvSpPr>
        <p:spPr>
          <a:xfrm>
            <a:off x="2675036"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2</a:t>
            </a:r>
            <a:endParaRPr lang="en-US" sz="1000" dirty="0"/>
          </a:p>
        </p:txBody>
      </p:sp>
      <p:sp>
        <p:nvSpPr>
          <p:cNvPr id="15" name="Shape 13"/>
          <p:cNvSpPr/>
          <p:nvPr/>
        </p:nvSpPr>
        <p:spPr>
          <a:xfrm>
            <a:off x="3857105" y="3017520"/>
            <a:ext cx="0" cy="128016"/>
          </a:xfrm>
          <a:prstGeom prst="line">
            <a:avLst/>
          </a:prstGeom>
          <a:noFill/>
          <a:ln w="17780">
            <a:solidFill>
              <a:srgbClr val="0E2841"/>
            </a:solidFill>
            <a:prstDash val="solid"/>
          </a:ln>
        </p:spPr>
      </p:sp>
      <p:sp>
        <p:nvSpPr>
          <p:cNvPr id="16" name="Text 14"/>
          <p:cNvSpPr/>
          <p:nvPr/>
        </p:nvSpPr>
        <p:spPr>
          <a:xfrm>
            <a:off x="3564497"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3</a:t>
            </a:r>
            <a:endParaRPr lang="en-US" sz="1000" dirty="0"/>
          </a:p>
        </p:txBody>
      </p:sp>
      <p:sp>
        <p:nvSpPr>
          <p:cNvPr id="17" name="Shape 15"/>
          <p:cNvSpPr/>
          <p:nvPr/>
        </p:nvSpPr>
        <p:spPr>
          <a:xfrm>
            <a:off x="4746567" y="3017520"/>
            <a:ext cx="0" cy="128016"/>
          </a:xfrm>
          <a:prstGeom prst="line">
            <a:avLst/>
          </a:prstGeom>
          <a:noFill/>
          <a:ln w="17780">
            <a:solidFill>
              <a:srgbClr val="0E2841"/>
            </a:solidFill>
            <a:prstDash val="solid"/>
          </a:ln>
        </p:spPr>
      </p:sp>
      <p:sp>
        <p:nvSpPr>
          <p:cNvPr id="18" name="Text 16"/>
          <p:cNvSpPr/>
          <p:nvPr/>
        </p:nvSpPr>
        <p:spPr>
          <a:xfrm>
            <a:off x="4453959"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4</a:t>
            </a:r>
            <a:endParaRPr lang="en-US" sz="1000" dirty="0"/>
          </a:p>
        </p:txBody>
      </p:sp>
      <p:sp>
        <p:nvSpPr>
          <p:cNvPr id="19" name="Shape 17"/>
          <p:cNvSpPr/>
          <p:nvPr/>
        </p:nvSpPr>
        <p:spPr>
          <a:xfrm>
            <a:off x="5636029" y="3017520"/>
            <a:ext cx="0" cy="128016"/>
          </a:xfrm>
          <a:prstGeom prst="line">
            <a:avLst/>
          </a:prstGeom>
          <a:noFill/>
          <a:ln w="17780">
            <a:solidFill>
              <a:srgbClr val="0E2841"/>
            </a:solidFill>
            <a:prstDash val="solid"/>
          </a:ln>
        </p:spPr>
      </p:sp>
      <p:sp>
        <p:nvSpPr>
          <p:cNvPr id="20" name="Text 18"/>
          <p:cNvSpPr/>
          <p:nvPr/>
        </p:nvSpPr>
        <p:spPr>
          <a:xfrm>
            <a:off x="5343421"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5</a:t>
            </a:r>
            <a:endParaRPr lang="en-US" sz="1000" dirty="0"/>
          </a:p>
        </p:txBody>
      </p:sp>
      <p:sp>
        <p:nvSpPr>
          <p:cNvPr id="21" name="Shape 19"/>
          <p:cNvSpPr/>
          <p:nvPr/>
        </p:nvSpPr>
        <p:spPr>
          <a:xfrm>
            <a:off x="6525491" y="3017520"/>
            <a:ext cx="0" cy="128016"/>
          </a:xfrm>
          <a:prstGeom prst="line">
            <a:avLst/>
          </a:prstGeom>
          <a:noFill/>
          <a:ln w="17780">
            <a:solidFill>
              <a:srgbClr val="0E2841"/>
            </a:solidFill>
            <a:prstDash val="solid"/>
          </a:ln>
        </p:spPr>
      </p:sp>
      <p:sp>
        <p:nvSpPr>
          <p:cNvPr id="22" name="Text 20"/>
          <p:cNvSpPr/>
          <p:nvPr/>
        </p:nvSpPr>
        <p:spPr>
          <a:xfrm>
            <a:off x="6232883"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6</a:t>
            </a:r>
            <a:endParaRPr lang="en-US" sz="1000" dirty="0"/>
          </a:p>
        </p:txBody>
      </p:sp>
      <p:sp>
        <p:nvSpPr>
          <p:cNvPr id="23" name="Shape 21"/>
          <p:cNvSpPr/>
          <p:nvPr/>
        </p:nvSpPr>
        <p:spPr>
          <a:xfrm>
            <a:off x="7414953" y="3017520"/>
            <a:ext cx="0" cy="128016"/>
          </a:xfrm>
          <a:prstGeom prst="line">
            <a:avLst/>
          </a:prstGeom>
          <a:noFill/>
          <a:ln w="17780">
            <a:solidFill>
              <a:srgbClr val="0E2841"/>
            </a:solidFill>
            <a:prstDash val="solid"/>
          </a:ln>
        </p:spPr>
      </p:sp>
      <p:sp>
        <p:nvSpPr>
          <p:cNvPr id="24" name="Text 22"/>
          <p:cNvSpPr/>
          <p:nvPr/>
        </p:nvSpPr>
        <p:spPr>
          <a:xfrm>
            <a:off x="7122345"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7</a:t>
            </a:r>
            <a:endParaRPr lang="en-US" sz="1000" dirty="0"/>
          </a:p>
        </p:txBody>
      </p:sp>
      <p:sp>
        <p:nvSpPr>
          <p:cNvPr id="25" name="Shape 23"/>
          <p:cNvSpPr/>
          <p:nvPr/>
        </p:nvSpPr>
        <p:spPr>
          <a:xfrm>
            <a:off x="8304415" y="3017520"/>
            <a:ext cx="0" cy="128016"/>
          </a:xfrm>
          <a:prstGeom prst="line">
            <a:avLst/>
          </a:prstGeom>
          <a:noFill/>
          <a:ln w="17780">
            <a:solidFill>
              <a:srgbClr val="0E2841"/>
            </a:solidFill>
            <a:prstDash val="solid"/>
          </a:ln>
        </p:spPr>
      </p:sp>
      <p:sp>
        <p:nvSpPr>
          <p:cNvPr id="26" name="Text 24"/>
          <p:cNvSpPr/>
          <p:nvPr/>
        </p:nvSpPr>
        <p:spPr>
          <a:xfrm>
            <a:off x="8011807"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8</a:t>
            </a:r>
            <a:endParaRPr lang="en-US" sz="1000" dirty="0"/>
          </a:p>
        </p:txBody>
      </p:sp>
      <p:sp>
        <p:nvSpPr>
          <p:cNvPr id="27" name="Shape 25"/>
          <p:cNvSpPr/>
          <p:nvPr/>
        </p:nvSpPr>
        <p:spPr>
          <a:xfrm>
            <a:off x="9193876" y="3017520"/>
            <a:ext cx="0" cy="128016"/>
          </a:xfrm>
          <a:prstGeom prst="line">
            <a:avLst/>
          </a:prstGeom>
          <a:noFill/>
          <a:ln w="17780">
            <a:solidFill>
              <a:srgbClr val="0E2841"/>
            </a:solidFill>
            <a:prstDash val="solid"/>
          </a:ln>
        </p:spPr>
      </p:sp>
      <p:sp>
        <p:nvSpPr>
          <p:cNvPr id="28" name="Text 26"/>
          <p:cNvSpPr/>
          <p:nvPr/>
        </p:nvSpPr>
        <p:spPr>
          <a:xfrm>
            <a:off x="8901268"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9</a:t>
            </a:r>
            <a:endParaRPr lang="en-US" sz="1000" dirty="0"/>
          </a:p>
        </p:txBody>
      </p:sp>
      <p:sp>
        <p:nvSpPr>
          <p:cNvPr id="29" name="Shape 27"/>
          <p:cNvSpPr/>
          <p:nvPr/>
        </p:nvSpPr>
        <p:spPr>
          <a:xfrm>
            <a:off x="10083338" y="3017520"/>
            <a:ext cx="0" cy="128016"/>
          </a:xfrm>
          <a:prstGeom prst="line">
            <a:avLst/>
          </a:prstGeom>
          <a:noFill/>
          <a:ln w="17780">
            <a:solidFill>
              <a:srgbClr val="0E2841"/>
            </a:solidFill>
            <a:prstDash val="solid"/>
          </a:ln>
        </p:spPr>
      </p:sp>
      <p:sp>
        <p:nvSpPr>
          <p:cNvPr id="30" name="Text 28"/>
          <p:cNvSpPr/>
          <p:nvPr/>
        </p:nvSpPr>
        <p:spPr>
          <a:xfrm>
            <a:off x="9790730"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10</a:t>
            </a:r>
            <a:endParaRPr lang="en-US" sz="1000" dirty="0"/>
          </a:p>
        </p:txBody>
      </p:sp>
      <p:sp>
        <p:nvSpPr>
          <p:cNvPr id="31" name="Shape 29"/>
          <p:cNvSpPr/>
          <p:nvPr/>
        </p:nvSpPr>
        <p:spPr>
          <a:xfrm>
            <a:off x="10972800" y="3017520"/>
            <a:ext cx="0" cy="128016"/>
          </a:xfrm>
          <a:prstGeom prst="line">
            <a:avLst/>
          </a:prstGeom>
          <a:noFill/>
          <a:ln w="17780">
            <a:solidFill>
              <a:srgbClr val="0E2841"/>
            </a:solidFill>
            <a:prstDash val="solid"/>
          </a:ln>
        </p:spPr>
      </p:sp>
      <p:sp>
        <p:nvSpPr>
          <p:cNvPr id="32" name="Text 30"/>
          <p:cNvSpPr/>
          <p:nvPr/>
        </p:nvSpPr>
        <p:spPr>
          <a:xfrm>
            <a:off x="10680192" y="317296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11</a:t>
            </a:r>
            <a:endParaRPr lang="en-US" sz="1000" dirty="0"/>
          </a:p>
        </p:txBody>
      </p:sp>
      <p:sp>
        <p:nvSpPr>
          <p:cNvPr id="33" name="Shape 31"/>
          <p:cNvSpPr/>
          <p:nvPr/>
        </p:nvSpPr>
        <p:spPr>
          <a:xfrm>
            <a:off x="1188720" y="2121408"/>
            <a:ext cx="0" cy="914400"/>
          </a:xfrm>
          <a:prstGeom prst="line">
            <a:avLst/>
          </a:prstGeom>
          <a:noFill/>
          <a:ln w="25400">
            <a:solidFill>
              <a:srgbClr val="156082"/>
            </a:solidFill>
            <a:prstDash val="solid"/>
          </a:ln>
        </p:spPr>
      </p:sp>
      <p:sp>
        <p:nvSpPr>
          <p:cNvPr id="34" name="Shape 32"/>
          <p:cNvSpPr/>
          <p:nvPr/>
        </p:nvSpPr>
        <p:spPr>
          <a:xfrm>
            <a:off x="1115568" y="3008376"/>
            <a:ext cx="146304" cy="146304"/>
          </a:xfrm>
          <a:prstGeom prst="ellipse">
            <a:avLst/>
          </a:prstGeom>
          <a:solidFill>
            <a:srgbClr val="156082"/>
          </a:solidFill>
          <a:ln w="12700">
            <a:solidFill>
              <a:srgbClr val="156082"/>
            </a:solidFill>
            <a:prstDash val="solid"/>
          </a:ln>
        </p:spPr>
      </p:sp>
      <p:sp>
        <p:nvSpPr>
          <p:cNvPr id="35" name="Shape 33"/>
          <p:cNvSpPr/>
          <p:nvPr/>
        </p:nvSpPr>
        <p:spPr>
          <a:xfrm>
            <a:off x="621792" y="1728216"/>
            <a:ext cx="1133856" cy="384048"/>
          </a:xfrm>
          <a:prstGeom prst="roundRect">
            <a:avLst>
              <a:gd name="adj" fmla="val 14286"/>
            </a:avLst>
          </a:prstGeom>
          <a:solidFill>
            <a:srgbClr val="156082"/>
          </a:solidFill>
          <a:ln w="12700">
            <a:solidFill>
              <a:srgbClr val="156082"/>
            </a:solidFill>
            <a:prstDash val="solid"/>
          </a:ln>
        </p:spPr>
      </p:sp>
      <p:sp>
        <p:nvSpPr>
          <p:cNvPr id="36" name="Text 34"/>
          <p:cNvSpPr/>
          <p:nvPr/>
        </p:nvSpPr>
        <p:spPr>
          <a:xfrm>
            <a:off x="621792"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GnRH + CIDR</a:t>
            </a:r>
            <a:endParaRPr lang="en-US" sz="1100" dirty="0"/>
          </a:p>
        </p:txBody>
      </p:sp>
      <p:sp>
        <p:nvSpPr>
          <p:cNvPr id="37" name="Text 35"/>
          <p:cNvSpPr/>
          <p:nvPr/>
        </p:nvSpPr>
        <p:spPr>
          <a:xfrm>
            <a:off x="411480" y="3392424"/>
            <a:ext cx="1554480" cy="402336"/>
          </a:xfrm>
          <a:prstGeom prst="rect">
            <a:avLst/>
          </a:prstGeom>
          <a:noFill/>
          <a:ln/>
        </p:spPr>
        <p:txBody>
          <a:bodyPr wrap="square" lIns="0" tIns="0" rIns="0" bIns="0" rtlCol="0" anchor="ctr"/>
          <a:lstStyle/>
          <a:p>
            <a:pPr algn="ctr" indent="0" marL="0">
              <a:buNone/>
            </a:pPr>
            <a:r>
              <a:rPr lang="en-US" sz="1000" b="1" dirty="0">
                <a:solidFill>
                  <a:srgbClr val="156082"/>
                </a:solidFill>
                <a:latin typeface="Malgun Gothic" pitchFamily="34" charset="0"/>
                <a:ea typeface="Malgun Gothic" pitchFamily="34" charset="-122"/>
                <a:cs typeface="Malgun Gothic" pitchFamily="34" charset="-120"/>
              </a:rPr>
              <a:t>device IN</a:t>
            </a:r>
            <a:endParaRPr lang="en-US" sz="1000" dirty="0"/>
          </a:p>
        </p:txBody>
      </p:sp>
      <p:sp>
        <p:nvSpPr>
          <p:cNvPr id="38" name="Shape 36"/>
          <p:cNvSpPr/>
          <p:nvPr/>
        </p:nvSpPr>
        <p:spPr>
          <a:xfrm>
            <a:off x="7414953" y="2121408"/>
            <a:ext cx="0" cy="914400"/>
          </a:xfrm>
          <a:prstGeom prst="line">
            <a:avLst/>
          </a:prstGeom>
          <a:noFill/>
          <a:ln w="25400">
            <a:solidFill>
              <a:srgbClr val="E97132"/>
            </a:solidFill>
            <a:prstDash val="solid"/>
          </a:ln>
        </p:spPr>
      </p:sp>
      <p:sp>
        <p:nvSpPr>
          <p:cNvPr id="39" name="Shape 37"/>
          <p:cNvSpPr/>
          <p:nvPr/>
        </p:nvSpPr>
        <p:spPr>
          <a:xfrm>
            <a:off x="7341801" y="3008376"/>
            <a:ext cx="146304" cy="146304"/>
          </a:xfrm>
          <a:prstGeom prst="ellipse">
            <a:avLst/>
          </a:prstGeom>
          <a:solidFill>
            <a:srgbClr val="E97132"/>
          </a:solidFill>
          <a:ln w="12700">
            <a:solidFill>
              <a:srgbClr val="E97132"/>
            </a:solidFill>
            <a:prstDash val="solid"/>
          </a:ln>
        </p:spPr>
      </p:sp>
      <p:sp>
        <p:nvSpPr>
          <p:cNvPr id="40" name="Shape 38"/>
          <p:cNvSpPr/>
          <p:nvPr/>
        </p:nvSpPr>
        <p:spPr>
          <a:xfrm>
            <a:off x="6848025" y="1728216"/>
            <a:ext cx="1133856" cy="384048"/>
          </a:xfrm>
          <a:prstGeom prst="roundRect">
            <a:avLst>
              <a:gd name="adj" fmla="val 14286"/>
            </a:avLst>
          </a:prstGeom>
          <a:solidFill>
            <a:srgbClr val="E97132"/>
          </a:solidFill>
          <a:ln w="12700">
            <a:solidFill>
              <a:srgbClr val="E97132"/>
            </a:solidFill>
            <a:prstDash val="solid"/>
          </a:ln>
        </p:spPr>
      </p:sp>
      <p:sp>
        <p:nvSpPr>
          <p:cNvPr id="41" name="Text 39"/>
          <p:cNvSpPr/>
          <p:nvPr/>
        </p:nvSpPr>
        <p:spPr>
          <a:xfrm>
            <a:off x="6848025"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CIDR out + PGF</a:t>
            </a:r>
            <a:endParaRPr lang="en-US" sz="1100" dirty="0"/>
          </a:p>
        </p:txBody>
      </p:sp>
      <p:sp>
        <p:nvSpPr>
          <p:cNvPr id="42" name="Text 40"/>
          <p:cNvSpPr/>
          <p:nvPr/>
        </p:nvSpPr>
        <p:spPr>
          <a:xfrm>
            <a:off x="6637713" y="3392424"/>
            <a:ext cx="1554480" cy="402336"/>
          </a:xfrm>
          <a:prstGeom prst="rect">
            <a:avLst/>
          </a:prstGeom>
          <a:noFill/>
          <a:ln/>
        </p:spPr>
        <p:txBody>
          <a:bodyPr wrap="square" lIns="0" tIns="0" rIns="0" bIns="0" rtlCol="0" anchor="ctr"/>
          <a:lstStyle/>
          <a:p>
            <a:pPr algn="ctr" indent="0" marL="0">
              <a:buNone/>
            </a:pPr>
            <a:r>
              <a:rPr lang="en-US" sz="1000" b="1" dirty="0">
                <a:solidFill>
                  <a:srgbClr val="E97132"/>
                </a:solidFill>
                <a:latin typeface="Malgun Gothic" pitchFamily="34" charset="0"/>
                <a:ea typeface="Malgun Gothic" pitchFamily="34" charset="-122"/>
                <a:cs typeface="Malgun Gothic" pitchFamily="34" charset="-120"/>
              </a:rPr>
              <a:t>+ eCG if thin</a:t>
            </a:r>
            <a:endParaRPr lang="en-US" sz="1000" dirty="0"/>
          </a:p>
        </p:txBody>
      </p:sp>
      <p:sp>
        <p:nvSpPr>
          <p:cNvPr id="43" name="Shape 41"/>
          <p:cNvSpPr/>
          <p:nvPr/>
        </p:nvSpPr>
        <p:spPr>
          <a:xfrm>
            <a:off x="9193876" y="2121408"/>
            <a:ext cx="0" cy="914400"/>
          </a:xfrm>
          <a:prstGeom prst="line">
            <a:avLst/>
          </a:prstGeom>
          <a:noFill/>
          <a:ln w="25400">
            <a:solidFill>
              <a:srgbClr val="156082"/>
            </a:solidFill>
            <a:prstDash val="solid"/>
          </a:ln>
        </p:spPr>
      </p:sp>
      <p:sp>
        <p:nvSpPr>
          <p:cNvPr id="44" name="Shape 42"/>
          <p:cNvSpPr/>
          <p:nvPr/>
        </p:nvSpPr>
        <p:spPr>
          <a:xfrm>
            <a:off x="9120724" y="3008376"/>
            <a:ext cx="146304" cy="146304"/>
          </a:xfrm>
          <a:prstGeom prst="ellipse">
            <a:avLst/>
          </a:prstGeom>
          <a:solidFill>
            <a:srgbClr val="156082"/>
          </a:solidFill>
          <a:ln w="12700">
            <a:solidFill>
              <a:srgbClr val="156082"/>
            </a:solidFill>
            <a:prstDash val="solid"/>
          </a:ln>
        </p:spPr>
      </p:sp>
      <p:sp>
        <p:nvSpPr>
          <p:cNvPr id="45" name="Shape 43"/>
          <p:cNvSpPr/>
          <p:nvPr/>
        </p:nvSpPr>
        <p:spPr>
          <a:xfrm>
            <a:off x="8626948" y="1728216"/>
            <a:ext cx="1133856" cy="384048"/>
          </a:xfrm>
          <a:prstGeom prst="roundRect">
            <a:avLst>
              <a:gd name="adj" fmla="val 14286"/>
            </a:avLst>
          </a:prstGeom>
          <a:solidFill>
            <a:srgbClr val="156082"/>
          </a:solidFill>
          <a:ln w="12700">
            <a:solidFill>
              <a:srgbClr val="156082"/>
            </a:solidFill>
            <a:prstDash val="solid"/>
          </a:ln>
        </p:spPr>
      </p:sp>
      <p:sp>
        <p:nvSpPr>
          <p:cNvPr id="46" name="Text 44"/>
          <p:cNvSpPr/>
          <p:nvPr/>
        </p:nvSpPr>
        <p:spPr>
          <a:xfrm>
            <a:off x="8626948" y="172821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GnRH</a:t>
            </a:r>
            <a:endParaRPr lang="en-US" sz="1100" dirty="0"/>
          </a:p>
        </p:txBody>
      </p:sp>
      <p:sp>
        <p:nvSpPr>
          <p:cNvPr id="47" name="Text 45"/>
          <p:cNvSpPr/>
          <p:nvPr/>
        </p:nvSpPr>
        <p:spPr>
          <a:xfrm>
            <a:off x="8416636" y="3392424"/>
            <a:ext cx="1554480" cy="402336"/>
          </a:xfrm>
          <a:prstGeom prst="rect">
            <a:avLst/>
          </a:prstGeom>
          <a:noFill/>
          <a:ln/>
        </p:spPr>
        <p:txBody>
          <a:bodyPr wrap="square" lIns="0" tIns="0" rIns="0" bIns="0" rtlCol="0" anchor="ctr"/>
          <a:lstStyle/>
          <a:p>
            <a:pPr algn="ctr" indent="0" marL="0">
              <a:buNone/>
            </a:pPr>
            <a:r>
              <a:rPr lang="en-US" sz="1000" b="1" dirty="0">
                <a:solidFill>
                  <a:srgbClr val="156082"/>
                </a:solidFill>
                <a:latin typeface="Malgun Gothic" pitchFamily="34" charset="0"/>
                <a:ea typeface="Malgun Gothic" pitchFamily="34" charset="-122"/>
                <a:cs typeface="Malgun Gothic" pitchFamily="34" charset="-120"/>
              </a:rPr>
              <a:t>ovulation</a:t>
            </a:r>
            <a:endParaRPr lang="en-US" sz="1000" dirty="0"/>
          </a:p>
        </p:txBody>
      </p:sp>
      <p:sp>
        <p:nvSpPr>
          <p:cNvPr id="48" name="Text 46"/>
          <p:cNvSpPr/>
          <p:nvPr/>
        </p:nvSpPr>
        <p:spPr>
          <a:xfrm>
            <a:off x="1188720" y="3648456"/>
            <a:ext cx="9784080" cy="237744"/>
          </a:xfrm>
          <a:prstGeom prst="rect">
            <a:avLst/>
          </a:prstGeom>
          <a:noFill/>
          <a:ln/>
        </p:spPr>
        <p:txBody>
          <a:bodyPr wrap="square" lIns="0" tIns="0" rIns="0" bIns="0" rtlCol="0" anchor="ctr"/>
          <a:lstStyle/>
          <a:p>
            <a:pPr algn="l" indent="0" marL="0">
              <a:buNone/>
            </a:pPr>
            <a:r>
              <a:rPr lang="en-US" sz="1000" dirty="0">
                <a:solidFill>
                  <a:srgbClr val="6B7280"/>
                </a:solidFill>
                <a:latin typeface="Malgun Gothic" pitchFamily="34" charset="0"/>
                <a:ea typeface="Malgun Gothic" pitchFamily="34" charset="-122"/>
                <a:cs typeface="Malgun Gothic" pitchFamily="34" charset="-120"/>
              </a:rPr>
              <a:t>days</a:t>
            </a:r>
            <a:endParaRPr lang="en-US" sz="1000" dirty="0"/>
          </a:p>
        </p:txBody>
      </p:sp>
      <p:sp>
        <p:nvSpPr>
          <p:cNvPr id="49" name="Shape 47"/>
          <p:cNvSpPr/>
          <p:nvPr/>
        </p:nvSpPr>
        <p:spPr>
          <a:xfrm>
            <a:off x="1188720" y="3767328"/>
            <a:ext cx="6226233" cy="402336"/>
          </a:xfrm>
          <a:prstGeom prst="roundRect">
            <a:avLst>
              <a:gd name="adj" fmla="val 11364"/>
            </a:avLst>
          </a:prstGeom>
          <a:solidFill>
            <a:srgbClr val="196B24"/>
          </a:solidFill>
          <a:ln w="12700">
            <a:solidFill>
              <a:srgbClr val="196B24"/>
            </a:solidFill>
            <a:prstDash val="solid"/>
          </a:ln>
        </p:spPr>
      </p:sp>
      <p:sp>
        <p:nvSpPr>
          <p:cNvPr id="50" name="Text 48"/>
          <p:cNvSpPr/>
          <p:nvPr/>
        </p:nvSpPr>
        <p:spPr>
          <a:xfrm>
            <a:off x="1188720" y="3767328"/>
            <a:ext cx="6226233"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DEVICE IN — P4 high, nobody comes in heat early</a:t>
            </a:r>
            <a:endParaRPr lang="en-US" sz="1200" dirty="0"/>
          </a:p>
        </p:txBody>
      </p:sp>
      <p:sp>
        <p:nvSpPr>
          <p:cNvPr id="51" name="Shape 49"/>
          <p:cNvSpPr/>
          <p:nvPr/>
        </p:nvSpPr>
        <p:spPr>
          <a:xfrm>
            <a:off x="548640" y="4270248"/>
            <a:ext cx="5394960" cy="1298448"/>
          </a:xfrm>
          <a:prstGeom prst="roundRect">
            <a:avLst>
              <a:gd name="adj" fmla="val 4930"/>
            </a:avLst>
          </a:prstGeom>
          <a:solidFill>
            <a:srgbClr val="FFFFFF"/>
          </a:solidFill>
          <a:ln w="12700">
            <a:solidFill>
              <a:srgbClr val="196B24"/>
            </a:solidFill>
            <a:prstDash val="solid"/>
          </a:ln>
        </p:spPr>
      </p:sp>
      <p:sp>
        <p:nvSpPr>
          <p:cNvPr id="52" name="Shape 50"/>
          <p:cNvSpPr/>
          <p:nvPr/>
        </p:nvSpPr>
        <p:spPr>
          <a:xfrm>
            <a:off x="548640" y="4270248"/>
            <a:ext cx="5394960" cy="402336"/>
          </a:xfrm>
          <a:prstGeom prst="roundRect">
            <a:avLst>
              <a:gd name="adj" fmla="val 15909"/>
            </a:avLst>
          </a:prstGeom>
          <a:solidFill>
            <a:srgbClr val="196B24"/>
          </a:solidFill>
          <a:ln w="12700">
            <a:solidFill>
              <a:srgbClr val="196B24"/>
            </a:solidFill>
            <a:prstDash val="solid"/>
          </a:ln>
        </p:spPr>
      </p:sp>
      <p:sp>
        <p:nvSpPr>
          <p:cNvPr id="53" name="Text 51"/>
          <p:cNvSpPr/>
          <p:nvPr/>
        </p:nvSpPr>
        <p:spPr>
          <a:xfrm>
            <a:off x="548640" y="42702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Why the device wins here</a:t>
            </a:r>
            <a:endParaRPr lang="en-US" sz="1300" dirty="0"/>
          </a:p>
        </p:txBody>
      </p:sp>
      <p:sp>
        <p:nvSpPr>
          <p:cNvPr id="54" name="Text 52"/>
          <p:cNvSpPr/>
          <p:nvPr/>
        </p:nvSpPr>
        <p:spPr>
          <a:xfrm>
            <a:off x="694944" y="4782312"/>
            <a:ext cx="5102352" cy="658368"/>
          </a:xfrm>
          <a:prstGeom prst="rect">
            <a:avLst/>
          </a:prstGeom>
          <a:noFill/>
          <a:ln/>
        </p:spPr>
        <p:txBody>
          <a:bodyPr wrap="square" lIns="0" tIns="0" rIns="0" bIns="0" rtlCol="0" anchor="t"/>
          <a:lstStyle/>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Works with NO CL — Ovsynch cannot</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Wakes up non-cycling cows</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Tight, predictable group</a:t>
            </a:r>
            <a:endParaRPr lang="en-US" sz="1150" dirty="0"/>
          </a:p>
        </p:txBody>
      </p:sp>
      <p:sp>
        <p:nvSpPr>
          <p:cNvPr id="55" name="Shape 53"/>
          <p:cNvSpPr/>
          <p:nvPr/>
        </p:nvSpPr>
        <p:spPr>
          <a:xfrm>
            <a:off x="6217920" y="4270248"/>
            <a:ext cx="5394960" cy="1298448"/>
          </a:xfrm>
          <a:prstGeom prst="roundRect">
            <a:avLst>
              <a:gd name="adj" fmla="val 4930"/>
            </a:avLst>
          </a:prstGeom>
          <a:solidFill>
            <a:srgbClr val="FFFFFF"/>
          </a:solidFill>
          <a:ln w="12700">
            <a:solidFill>
              <a:srgbClr val="156082"/>
            </a:solidFill>
            <a:prstDash val="solid"/>
          </a:ln>
        </p:spPr>
      </p:sp>
      <p:sp>
        <p:nvSpPr>
          <p:cNvPr id="56" name="Shape 54"/>
          <p:cNvSpPr/>
          <p:nvPr/>
        </p:nvSpPr>
        <p:spPr>
          <a:xfrm>
            <a:off x="6217920" y="4270248"/>
            <a:ext cx="5394960" cy="402336"/>
          </a:xfrm>
          <a:prstGeom prst="roundRect">
            <a:avLst>
              <a:gd name="adj" fmla="val 15909"/>
            </a:avLst>
          </a:prstGeom>
          <a:solidFill>
            <a:srgbClr val="156082"/>
          </a:solidFill>
          <a:ln w="12700">
            <a:solidFill>
              <a:srgbClr val="156082"/>
            </a:solidFill>
            <a:prstDash val="solid"/>
          </a:ln>
        </p:spPr>
      </p:sp>
      <p:sp>
        <p:nvSpPr>
          <p:cNvPr id="57" name="Text 55"/>
          <p:cNvSpPr/>
          <p:nvPr/>
        </p:nvSpPr>
        <p:spPr>
          <a:xfrm>
            <a:off x="6217920" y="42702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Rules for the device</a:t>
            </a:r>
            <a:endParaRPr lang="en-US" sz="1300" dirty="0"/>
          </a:p>
        </p:txBody>
      </p:sp>
      <p:sp>
        <p:nvSpPr>
          <p:cNvPr id="58" name="Text 56"/>
          <p:cNvSpPr/>
          <p:nvPr/>
        </p:nvSpPr>
        <p:spPr>
          <a:xfrm>
            <a:off x="6364224" y="4782312"/>
            <a:ext cx="5102352" cy="658368"/>
          </a:xfrm>
          <a:prstGeom prst="rect">
            <a:avLst/>
          </a:prstGeom>
          <a:noFill/>
          <a:ln/>
        </p:spPr>
        <p:txBody>
          <a:bodyPr wrap="square" lIns="0" tIns="0" rIns="0" bIns="0" rtlCol="0" anchor="t"/>
          <a:lstStyle/>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ALWAYS give GnRH with it — never alone</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Clean the applicator between cows</a:t>
            </a:r>
            <a:endParaRPr lang="en-US" sz="1150" dirty="0"/>
          </a:p>
          <a:p>
            <a:pPr indent="0" marL="0">
              <a:lnSpc>
                <a:spcPct val="118000"/>
              </a:lnSpc>
              <a:buNone/>
            </a:pPr>
            <a:r>
              <a:rPr lang="en-US" sz="1150" dirty="0">
                <a:solidFill>
                  <a:srgbClr val="0E2841"/>
                </a:solidFill>
                <a:latin typeface="Malgun Gothic" pitchFamily="34" charset="0"/>
                <a:ea typeface="Malgun Gothic" pitchFamily="34" charset="-122"/>
                <a:cs typeface="Malgun Gothic" pitchFamily="34" charset="-120"/>
              </a:rPr>
              <a:t>•  CHECK it is still there when you pull it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Which protocol for which cow</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Choose by the cow standing in front of you</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Thin or not cycling → the device is not optional. It is the only thing that works.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17</a:t>
            </a:r>
            <a:endParaRPr lang="en-US" sz="900" dirty="0"/>
          </a:p>
        </p:txBody>
      </p:sp>
      <p:sp>
        <p:nvSpPr>
          <p:cNvPr id="8" name="Shape 6"/>
          <p:cNvSpPr/>
          <p:nvPr/>
        </p:nvSpPr>
        <p:spPr>
          <a:xfrm>
            <a:off x="548640" y="1892808"/>
            <a:ext cx="3540557" cy="676656"/>
          </a:xfrm>
          <a:prstGeom prst="roundRect">
            <a:avLst>
              <a:gd name="adj" fmla="val 4054"/>
            </a:avLst>
          </a:prstGeom>
          <a:solidFill>
            <a:srgbClr val="0E2841"/>
          </a:solidFill>
          <a:ln w="12700">
            <a:solidFill>
              <a:srgbClr val="0E2841"/>
            </a:solidFill>
            <a:prstDash val="solid"/>
          </a:ln>
        </p:spPr>
      </p:sp>
      <p:sp>
        <p:nvSpPr>
          <p:cNvPr id="9" name="Text 7"/>
          <p:cNvSpPr/>
          <p:nvPr/>
        </p:nvSpPr>
        <p:spPr>
          <a:xfrm>
            <a:off x="621792" y="1892808"/>
            <a:ext cx="3394253" cy="676656"/>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The cow in front of you</a:t>
            </a:r>
            <a:endParaRPr lang="en-US" sz="1200" dirty="0"/>
          </a:p>
        </p:txBody>
      </p:sp>
      <p:sp>
        <p:nvSpPr>
          <p:cNvPr id="10" name="Shape 8"/>
          <p:cNvSpPr/>
          <p:nvPr/>
        </p:nvSpPr>
        <p:spPr>
          <a:xfrm>
            <a:off x="4089197" y="1892808"/>
            <a:ext cx="3319272" cy="676656"/>
          </a:xfrm>
          <a:prstGeom prst="roundRect">
            <a:avLst>
              <a:gd name="adj" fmla="val 4054"/>
            </a:avLst>
          </a:prstGeom>
          <a:solidFill>
            <a:srgbClr val="0E2841"/>
          </a:solidFill>
          <a:ln w="12700">
            <a:solidFill>
              <a:srgbClr val="0E2841"/>
            </a:solidFill>
            <a:prstDash val="solid"/>
          </a:ln>
        </p:spPr>
      </p:sp>
      <p:sp>
        <p:nvSpPr>
          <p:cNvPr id="11" name="Text 9"/>
          <p:cNvSpPr/>
          <p:nvPr/>
        </p:nvSpPr>
        <p:spPr>
          <a:xfrm>
            <a:off x="4162349" y="1892808"/>
            <a:ext cx="3172968" cy="676656"/>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Protocol</a:t>
            </a:r>
            <a:endParaRPr lang="en-US" sz="1200" dirty="0"/>
          </a:p>
        </p:txBody>
      </p:sp>
      <p:sp>
        <p:nvSpPr>
          <p:cNvPr id="12" name="Shape 10"/>
          <p:cNvSpPr/>
          <p:nvPr/>
        </p:nvSpPr>
        <p:spPr>
          <a:xfrm>
            <a:off x="7408469" y="1892808"/>
            <a:ext cx="4204411" cy="676656"/>
          </a:xfrm>
          <a:prstGeom prst="roundRect">
            <a:avLst>
              <a:gd name="adj" fmla="val 4054"/>
            </a:avLst>
          </a:prstGeom>
          <a:solidFill>
            <a:srgbClr val="0E2841"/>
          </a:solidFill>
          <a:ln w="12700">
            <a:solidFill>
              <a:srgbClr val="0E2841"/>
            </a:solidFill>
            <a:prstDash val="solid"/>
          </a:ln>
        </p:spPr>
      </p:sp>
      <p:sp>
        <p:nvSpPr>
          <p:cNvPr id="13" name="Text 11"/>
          <p:cNvSpPr/>
          <p:nvPr/>
        </p:nvSpPr>
        <p:spPr>
          <a:xfrm>
            <a:off x="7481621" y="1892808"/>
            <a:ext cx="4058107" cy="676656"/>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Why</a:t>
            </a:r>
            <a:endParaRPr lang="en-US" sz="1200" dirty="0"/>
          </a:p>
        </p:txBody>
      </p:sp>
      <p:sp>
        <p:nvSpPr>
          <p:cNvPr id="14" name="Shape 12"/>
          <p:cNvSpPr/>
          <p:nvPr/>
        </p:nvSpPr>
        <p:spPr>
          <a:xfrm>
            <a:off x="548640" y="2569464"/>
            <a:ext cx="3540557" cy="676656"/>
          </a:xfrm>
          <a:prstGeom prst="roundRect">
            <a:avLst>
              <a:gd name="adj" fmla="val 2703"/>
            </a:avLst>
          </a:prstGeom>
          <a:solidFill>
            <a:srgbClr val="FFFFFF"/>
          </a:solidFill>
          <a:ln w="12700">
            <a:solidFill>
              <a:srgbClr val="C9D3DA"/>
            </a:solidFill>
            <a:prstDash val="solid"/>
          </a:ln>
        </p:spPr>
      </p:sp>
      <p:sp>
        <p:nvSpPr>
          <p:cNvPr id="15" name="Text 13"/>
          <p:cNvSpPr/>
          <p:nvPr/>
        </p:nvSpPr>
        <p:spPr>
          <a:xfrm>
            <a:off x="621792" y="2569464"/>
            <a:ext cx="3394253" cy="676656"/>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Cycling, you can watch heat</a:t>
            </a:r>
            <a:endParaRPr lang="en-US" sz="1200" dirty="0"/>
          </a:p>
        </p:txBody>
      </p:sp>
      <p:sp>
        <p:nvSpPr>
          <p:cNvPr id="16" name="Shape 14"/>
          <p:cNvSpPr/>
          <p:nvPr/>
        </p:nvSpPr>
        <p:spPr>
          <a:xfrm>
            <a:off x="4089197" y="2569464"/>
            <a:ext cx="3319272" cy="676656"/>
          </a:xfrm>
          <a:prstGeom prst="roundRect">
            <a:avLst>
              <a:gd name="adj" fmla="val 2703"/>
            </a:avLst>
          </a:prstGeom>
          <a:solidFill>
            <a:srgbClr val="FFFFFF"/>
          </a:solidFill>
          <a:ln w="12700">
            <a:solidFill>
              <a:srgbClr val="C9D3DA"/>
            </a:solidFill>
            <a:prstDash val="solid"/>
          </a:ln>
        </p:spPr>
      </p:sp>
      <p:sp>
        <p:nvSpPr>
          <p:cNvPr id="17" name="Text 15"/>
          <p:cNvSpPr/>
          <p:nvPr/>
        </p:nvSpPr>
        <p:spPr>
          <a:xfrm>
            <a:off x="4162349" y="2569464"/>
            <a:ext cx="3172968" cy="67665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Double PGF</a:t>
            </a:r>
            <a:endParaRPr lang="en-US" sz="1200" dirty="0"/>
          </a:p>
        </p:txBody>
      </p:sp>
      <p:sp>
        <p:nvSpPr>
          <p:cNvPr id="18" name="Shape 16"/>
          <p:cNvSpPr/>
          <p:nvPr/>
        </p:nvSpPr>
        <p:spPr>
          <a:xfrm>
            <a:off x="7408469" y="2569464"/>
            <a:ext cx="4204411" cy="676656"/>
          </a:xfrm>
          <a:prstGeom prst="roundRect">
            <a:avLst>
              <a:gd name="adj" fmla="val 2703"/>
            </a:avLst>
          </a:prstGeom>
          <a:solidFill>
            <a:srgbClr val="FFFFFF"/>
          </a:solidFill>
          <a:ln w="12700">
            <a:solidFill>
              <a:srgbClr val="C9D3DA"/>
            </a:solidFill>
            <a:prstDash val="solid"/>
          </a:ln>
        </p:spPr>
      </p:sp>
      <p:sp>
        <p:nvSpPr>
          <p:cNvPr id="19" name="Text 17"/>
          <p:cNvSpPr/>
          <p:nvPr/>
        </p:nvSpPr>
        <p:spPr>
          <a:xfrm>
            <a:off x="7481621" y="2569464"/>
            <a:ext cx="4058107" cy="67665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Cheapest. Breed on observed heat.</a:t>
            </a:r>
            <a:endParaRPr lang="en-US" sz="1200" dirty="0"/>
          </a:p>
        </p:txBody>
      </p:sp>
      <p:sp>
        <p:nvSpPr>
          <p:cNvPr id="20" name="Shape 18"/>
          <p:cNvSpPr/>
          <p:nvPr/>
        </p:nvSpPr>
        <p:spPr>
          <a:xfrm>
            <a:off x="548640" y="3246120"/>
            <a:ext cx="3540557" cy="676656"/>
          </a:xfrm>
          <a:prstGeom prst="roundRect">
            <a:avLst>
              <a:gd name="adj" fmla="val 2703"/>
            </a:avLst>
          </a:prstGeom>
          <a:solidFill>
            <a:srgbClr val="F2F5F7"/>
          </a:solidFill>
          <a:ln w="12700">
            <a:solidFill>
              <a:srgbClr val="C9D3DA"/>
            </a:solidFill>
            <a:prstDash val="solid"/>
          </a:ln>
        </p:spPr>
      </p:sp>
      <p:sp>
        <p:nvSpPr>
          <p:cNvPr id="21" name="Text 19"/>
          <p:cNvSpPr/>
          <p:nvPr/>
        </p:nvSpPr>
        <p:spPr>
          <a:xfrm>
            <a:off x="621792" y="3246120"/>
            <a:ext cx="3394253" cy="676656"/>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Cycling, milking, no heat watching</a:t>
            </a:r>
            <a:endParaRPr lang="en-US" sz="1200" dirty="0"/>
          </a:p>
        </p:txBody>
      </p:sp>
      <p:sp>
        <p:nvSpPr>
          <p:cNvPr id="22" name="Shape 20"/>
          <p:cNvSpPr/>
          <p:nvPr/>
        </p:nvSpPr>
        <p:spPr>
          <a:xfrm>
            <a:off x="4089197" y="3246120"/>
            <a:ext cx="3319272" cy="676656"/>
          </a:xfrm>
          <a:prstGeom prst="roundRect">
            <a:avLst>
              <a:gd name="adj" fmla="val 2703"/>
            </a:avLst>
          </a:prstGeom>
          <a:solidFill>
            <a:srgbClr val="F2F5F7"/>
          </a:solidFill>
          <a:ln w="12700">
            <a:solidFill>
              <a:srgbClr val="C9D3DA"/>
            </a:solidFill>
            <a:prstDash val="solid"/>
          </a:ln>
        </p:spPr>
      </p:sp>
      <p:sp>
        <p:nvSpPr>
          <p:cNvPr id="23" name="Text 21"/>
          <p:cNvSpPr/>
          <p:nvPr/>
        </p:nvSpPr>
        <p:spPr>
          <a:xfrm>
            <a:off x="4162349" y="3246120"/>
            <a:ext cx="3172968" cy="67665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Ovsynch</a:t>
            </a:r>
            <a:endParaRPr lang="en-US" sz="1200" dirty="0"/>
          </a:p>
        </p:txBody>
      </p:sp>
      <p:sp>
        <p:nvSpPr>
          <p:cNvPr id="24" name="Shape 22"/>
          <p:cNvSpPr/>
          <p:nvPr/>
        </p:nvSpPr>
        <p:spPr>
          <a:xfrm>
            <a:off x="7408469" y="3246120"/>
            <a:ext cx="4204411" cy="676656"/>
          </a:xfrm>
          <a:prstGeom prst="roundRect">
            <a:avLst>
              <a:gd name="adj" fmla="val 2703"/>
            </a:avLst>
          </a:prstGeom>
          <a:solidFill>
            <a:srgbClr val="F2F5F7"/>
          </a:solidFill>
          <a:ln w="12700">
            <a:solidFill>
              <a:srgbClr val="C9D3DA"/>
            </a:solidFill>
            <a:prstDash val="solid"/>
          </a:ln>
        </p:spPr>
      </p:sp>
      <p:sp>
        <p:nvSpPr>
          <p:cNvPr id="25" name="Text 23"/>
          <p:cNvSpPr/>
          <p:nvPr/>
        </p:nvSpPr>
        <p:spPr>
          <a:xfrm>
            <a:off x="7481621" y="3246120"/>
            <a:ext cx="4058107" cy="67665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Fixed-time breeding.</a:t>
            </a:r>
            <a:endParaRPr lang="en-US" sz="1200" dirty="0"/>
          </a:p>
        </p:txBody>
      </p:sp>
      <p:sp>
        <p:nvSpPr>
          <p:cNvPr id="26" name="Shape 24"/>
          <p:cNvSpPr/>
          <p:nvPr/>
        </p:nvSpPr>
        <p:spPr>
          <a:xfrm>
            <a:off x="548640" y="3922776"/>
            <a:ext cx="3540557" cy="676656"/>
          </a:xfrm>
          <a:prstGeom prst="roundRect">
            <a:avLst>
              <a:gd name="adj" fmla="val 2703"/>
            </a:avLst>
          </a:prstGeom>
          <a:solidFill>
            <a:srgbClr val="FFFFFF"/>
          </a:solidFill>
          <a:ln w="12700">
            <a:solidFill>
              <a:srgbClr val="C9D3DA"/>
            </a:solidFill>
            <a:prstDash val="solid"/>
          </a:ln>
        </p:spPr>
      </p:sp>
      <p:sp>
        <p:nvSpPr>
          <p:cNvPr id="27" name="Text 25"/>
          <p:cNvSpPr/>
          <p:nvPr/>
        </p:nvSpPr>
        <p:spPr>
          <a:xfrm>
            <a:off x="621792" y="3922776"/>
            <a:ext cx="3394253" cy="676656"/>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Thin / no heat / unknown</a:t>
            </a:r>
            <a:endParaRPr lang="en-US" sz="1200" dirty="0"/>
          </a:p>
        </p:txBody>
      </p:sp>
      <p:sp>
        <p:nvSpPr>
          <p:cNvPr id="28" name="Shape 26"/>
          <p:cNvSpPr/>
          <p:nvPr/>
        </p:nvSpPr>
        <p:spPr>
          <a:xfrm>
            <a:off x="4089197" y="3922776"/>
            <a:ext cx="3319272" cy="676656"/>
          </a:xfrm>
          <a:prstGeom prst="roundRect">
            <a:avLst>
              <a:gd name="adj" fmla="val 2703"/>
            </a:avLst>
          </a:prstGeom>
          <a:solidFill>
            <a:srgbClr val="FFFFFF"/>
          </a:solidFill>
          <a:ln w="12700">
            <a:solidFill>
              <a:srgbClr val="C9D3DA"/>
            </a:solidFill>
            <a:prstDash val="solid"/>
          </a:ln>
        </p:spPr>
      </p:sp>
      <p:sp>
        <p:nvSpPr>
          <p:cNvPr id="29" name="Text 27"/>
          <p:cNvSpPr/>
          <p:nvPr/>
        </p:nvSpPr>
        <p:spPr>
          <a:xfrm>
            <a:off x="4162349" y="3922776"/>
            <a:ext cx="3172968" cy="676656"/>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7-day CO-Synch + CIDR  (+ eCG)</a:t>
            </a:r>
            <a:endParaRPr lang="en-US" sz="1200" dirty="0"/>
          </a:p>
        </p:txBody>
      </p:sp>
      <p:sp>
        <p:nvSpPr>
          <p:cNvPr id="30" name="Shape 28"/>
          <p:cNvSpPr/>
          <p:nvPr/>
        </p:nvSpPr>
        <p:spPr>
          <a:xfrm>
            <a:off x="7408469" y="3922776"/>
            <a:ext cx="4204411" cy="676656"/>
          </a:xfrm>
          <a:prstGeom prst="roundRect">
            <a:avLst>
              <a:gd name="adj" fmla="val 2703"/>
            </a:avLst>
          </a:prstGeom>
          <a:solidFill>
            <a:srgbClr val="FFFFFF"/>
          </a:solidFill>
          <a:ln w="12700">
            <a:solidFill>
              <a:srgbClr val="C9D3DA"/>
            </a:solidFill>
            <a:prstDash val="solid"/>
          </a:ln>
        </p:spPr>
      </p:sp>
      <p:sp>
        <p:nvSpPr>
          <p:cNvPr id="31" name="Text 29"/>
          <p:cNvSpPr/>
          <p:nvPr/>
        </p:nvSpPr>
        <p:spPr>
          <a:xfrm>
            <a:off x="7481621" y="3922776"/>
            <a:ext cx="4058107" cy="67665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The device is the only thing that works.</a:t>
            </a:r>
            <a:endParaRPr lang="en-US" sz="1200" dirty="0"/>
          </a:p>
        </p:txBody>
      </p:sp>
      <p:sp>
        <p:nvSpPr>
          <p:cNvPr id="32" name="Shape 30"/>
          <p:cNvSpPr/>
          <p:nvPr/>
        </p:nvSpPr>
        <p:spPr>
          <a:xfrm>
            <a:off x="548640" y="4599432"/>
            <a:ext cx="3540557" cy="676656"/>
          </a:xfrm>
          <a:prstGeom prst="roundRect">
            <a:avLst>
              <a:gd name="adj" fmla="val 2703"/>
            </a:avLst>
          </a:prstGeom>
          <a:solidFill>
            <a:srgbClr val="F2F5F7"/>
          </a:solidFill>
          <a:ln w="12700">
            <a:solidFill>
              <a:srgbClr val="C9D3DA"/>
            </a:solidFill>
            <a:prstDash val="solid"/>
          </a:ln>
        </p:spPr>
      </p:sp>
      <p:sp>
        <p:nvSpPr>
          <p:cNvPr id="33" name="Text 31"/>
          <p:cNvSpPr/>
          <p:nvPr/>
        </p:nvSpPr>
        <p:spPr>
          <a:xfrm>
            <a:off x="621792" y="4599432"/>
            <a:ext cx="3394253" cy="676656"/>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She will carry an EMBRYO</a:t>
            </a:r>
            <a:endParaRPr lang="en-US" sz="1200" dirty="0"/>
          </a:p>
        </p:txBody>
      </p:sp>
      <p:sp>
        <p:nvSpPr>
          <p:cNvPr id="34" name="Shape 32"/>
          <p:cNvSpPr/>
          <p:nvPr/>
        </p:nvSpPr>
        <p:spPr>
          <a:xfrm>
            <a:off x="4089197" y="4599432"/>
            <a:ext cx="3319272" cy="676656"/>
          </a:xfrm>
          <a:prstGeom prst="roundRect">
            <a:avLst>
              <a:gd name="adj" fmla="val 2703"/>
            </a:avLst>
          </a:prstGeom>
          <a:solidFill>
            <a:srgbClr val="F2F5F7"/>
          </a:solidFill>
          <a:ln w="12700">
            <a:solidFill>
              <a:srgbClr val="C9D3DA"/>
            </a:solidFill>
            <a:prstDash val="solid"/>
          </a:ln>
        </p:spPr>
      </p:sp>
      <p:sp>
        <p:nvSpPr>
          <p:cNvPr id="35" name="Text 33"/>
          <p:cNvSpPr/>
          <p:nvPr/>
        </p:nvSpPr>
        <p:spPr>
          <a:xfrm>
            <a:off x="4162349" y="4599432"/>
            <a:ext cx="3172968" cy="676656"/>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7-day CO-Synch + CIDR</a:t>
            </a:r>
            <a:endParaRPr lang="en-US" sz="1200" dirty="0"/>
          </a:p>
        </p:txBody>
      </p:sp>
      <p:sp>
        <p:nvSpPr>
          <p:cNvPr id="36" name="Shape 34"/>
          <p:cNvSpPr/>
          <p:nvPr/>
        </p:nvSpPr>
        <p:spPr>
          <a:xfrm>
            <a:off x="7408469" y="4599432"/>
            <a:ext cx="4204411" cy="676656"/>
          </a:xfrm>
          <a:prstGeom prst="roundRect">
            <a:avLst>
              <a:gd name="adj" fmla="val 2703"/>
            </a:avLst>
          </a:prstGeom>
          <a:solidFill>
            <a:srgbClr val="F2F5F7"/>
          </a:solidFill>
          <a:ln w="12700">
            <a:solidFill>
              <a:srgbClr val="C9D3DA"/>
            </a:solidFill>
            <a:prstDash val="solid"/>
          </a:ln>
        </p:spPr>
      </p:sp>
      <p:sp>
        <p:nvSpPr>
          <p:cNvPr id="37" name="Text 35"/>
          <p:cNvSpPr/>
          <p:nvPr/>
        </p:nvSpPr>
        <p:spPr>
          <a:xfrm>
            <a:off x="7481621" y="4599432"/>
            <a:ext cx="4058107" cy="67665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Always. Then check the CL on day 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300" b="1" dirty="0">
                <a:solidFill>
                  <a:srgbClr val="0E2841"/>
                </a:solidFill>
                <a:latin typeface="Malgun Gothic" pitchFamily="34" charset="0"/>
                <a:ea typeface="Malgun Gothic" pitchFamily="34" charset="-122"/>
                <a:cs typeface="Malgun Gothic" pitchFamily="34" charset="-120"/>
              </a:rPr>
              <a:t>Synchrony — the embryo and the cow must be the same age</a:t>
            </a:r>
            <a:endParaRPr lang="en-US" sz="23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 7-day embryo needs a cow that is also on day 7</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More than one day apart and the pregnancy rate falls. This is why we count backwards.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18</a:t>
            </a:r>
            <a:endParaRPr lang="en-US" sz="900" dirty="0"/>
          </a:p>
        </p:txBody>
      </p:sp>
      <p:sp>
        <p:nvSpPr>
          <p:cNvPr id="8" name="Shape 6"/>
          <p:cNvSpPr/>
          <p:nvPr/>
        </p:nvSpPr>
        <p:spPr>
          <a:xfrm>
            <a:off x="1371600" y="2898648"/>
            <a:ext cx="9418320" cy="0"/>
          </a:xfrm>
          <a:prstGeom prst="line">
            <a:avLst/>
          </a:prstGeom>
          <a:noFill/>
          <a:ln w="25400">
            <a:solidFill>
              <a:srgbClr val="0E2841"/>
            </a:solidFill>
            <a:prstDash val="solid"/>
          </a:ln>
        </p:spPr>
      </p:sp>
      <p:sp>
        <p:nvSpPr>
          <p:cNvPr id="9" name="Shape 7"/>
          <p:cNvSpPr/>
          <p:nvPr/>
        </p:nvSpPr>
        <p:spPr>
          <a:xfrm>
            <a:off x="1371600" y="2834640"/>
            <a:ext cx="0" cy="128016"/>
          </a:xfrm>
          <a:prstGeom prst="line">
            <a:avLst/>
          </a:prstGeom>
          <a:noFill/>
          <a:ln w="17780">
            <a:solidFill>
              <a:srgbClr val="0E2841"/>
            </a:solidFill>
            <a:prstDash val="solid"/>
          </a:ln>
        </p:spPr>
      </p:sp>
      <p:sp>
        <p:nvSpPr>
          <p:cNvPr id="10" name="Text 8"/>
          <p:cNvSpPr/>
          <p:nvPr/>
        </p:nvSpPr>
        <p:spPr>
          <a:xfrm>
            <a:off x="107899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3</a:t>
            </a:r>
            <a:endParaRPr lang="en-US" sz="1000" dirty="0"/>
          </a:p>
        </p:txBody>
      </p:sp>
      <p:sp>
        <p:nvSpPr>
          <p:cNvPr id="11" name="Shape 9"/>
          <p:cNvSpPr/>
          <p:nvPr/>
        </p:nvSpPr>
        <p:spPr>
          <a:xfrm>
            <a:off x="2548890" y="2834640"/>
            <a:ext cx="0" cy="128016"/>
          </a:xfrm>
          <a:prstGeom prst="line">
            <a:avLst/>
          </a:prstGeom>
          <a:noFill/>
          <a:ln w="17780">
            <a:solidFill>
              <a:srgbClr val="0E2841"/>
            </a:solidFill>
            <a:prstDash val="solid"/>
          </a:ln>
        </p:spPr>
      </p:sp>
      <p:sp>
        <p:nvSpPr>
          <p:cNvPr id="12" name="Text 10"/>
          <p:cNvSpPr/>
          <p:nvPr/>
        </p:nvSpPr>
        <p:spPr>
          <a:xfrm>
            <a:off x="225628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4</a:t>
            </a:r>
            <a:endParaRPr lang="en-US" sz="1000" dirty="0"/>
          </a:p>
        </p:txBody>
      </p:sp>
      <p:sp>
        <p:nvSpPr>
          <p:cNvPr id="13" name="Shape 11"/>
          <p:cNvSpPr/>
          <p:nvPr/>
        </p:nvSpPr>
        <p:spPr>
          <a:xfrm>
            <a:off x="3726180" y="2834640"/>
            <a:ext cx="0" cy="128016"/>
          </a:xfrm>
          <a:prstGeom prst="line">
            <a:avLst/>
          </a:prstGeom>
          <a:noFill/>
          <a:ln w="17780">
            <a:solidFill>
              <a:srgbClr val="0E2841"/>
            </a:solidFill>
            <a:prstDash val="solid"/>
          </a:ln>
        </p:spPr>
      </p:sp>
      <p:sp>
        <p:nvSpPr>
          <p:cNvPr id="14" name="Text 12"/>
          <p:cNvSpPr/>
          <p:nvPr/>
        </p:nvSpPr>
        <p:spPr>
          <a:xfrm>
            <a:off x="343357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5</a:t>
            </a:r>
            <a:endParaRPr lang="en-US" sz="1000" dirty="0"/>
          </a:p>
        </p:txBody>
      </p:sp>
      <p:sp>
        <p:nvSpPr>
          <p:cNvPr id="15" name="Shape 13"/>
          <p:cNvSpPr/>
          <p:nvPr/>
        </p:nvSpPr>
        <p:spPr>
          <a:xfrm>
            <a:off x="4903470" y="2834640"/>
            <a:ext cx="0" cy="128016"/>
          </a:xfrm>
          <a:prstGeom prst="line">
            <a:avLst/>
          </a:prstGeom>
          <a:noFill/>
          <a:ln w="17780">
            <a:solidFill>
              <a:srgbClr val="0E2841"/>
            </a:solidFill>
            <a:prstDash val="solid"/>
          </a:ln>
        </p:spPr>
      </p:sp>
      <p:sp>
        <p:nvSpPr>
          <p:cNvPr id="16" name="Text 14"/>
          <p:cNvSpPr/>
          <p:nvPr/>
        </p:nvSpPr>
        <p:spPr>
          <a:xfrm>
            <a:off x="461086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6</a:t>
            </a:r>
            <a:endParaRPr lang="en-US" sz="1000" dirty="0"/>
          </a:p>
        </p:txBody>
      </p:sp>
      <p:sp>
        <p:nvSpPr>
          <p:cNvPr id="17" name="Shape 15"/>
          <p:cNvSpPr/>
          <p:nvPr/>
        </p:nvSpPr>
        <p:spPr>
          <a:xfrm>
            <a:off x="6080760" y="2834640"/>
            <a:ext cx="0" cy="128016"/>
          </a:xfrm>
          <a:prstGeom prst="line">
            <a:avLst/>
          </a:prstGeom>
          <a:noFill/>
          <a:ln w="17780">
            <a:solidFill>
              <a:srgbClr val="0E2841"/>
            </a:solidFill>
            <a:prstDash val="solid"/>
          </a:ln>
        </p:spPr>
      </p:sp>
      <p:sp>
        <p:nvSpPr>
          <p:cNvPr id="18" name="Text 16"/>
          <p:cNvSpPr/>
          <p:nvPr/>
        </p:nvSpPr>
        <p:spPr>
          <a:xfrm>
            <a:off x="578815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7</a:t>
            </a:r>
            <a:endParaRPr lang="en-US" sz="1000" dirty="0"/>
          </a:p>
        </p:txBody>
      </p:sp>
      <p:sp>
        <p:nvSpPr>
          <p:cNvPr id="19" name="Shape 17"/>
          <p:cNvSpPr/>
          <p:nvPr/>
        </p:nvSpPr>
        <p:spPr>
          <a:xfrm>
            <a:off x="7258050" y="2834640"/>
            <a:ext cx="0" cy="128016"/>
          </a:xfrm>
          <a:prstGeom prst="line">
            <a:avLst/>
          </a:prstGeom>
          <a:noFill/>
          <a:ln w="17780">
            <a:solidFill>
              <a:srgbClr val="0E2841"/>
            </a:solidFill>
            <a:prstDash val="solid"/>
          </a:ln>
        </p:spPr>
      </p:sp>
      <p:sp>
        <p:nvSpPr>
          <p:cNvPr id="20" name="Text 18"/>
          <p:cNvSpPr/>
          <p:nvPr/>
        </p:nvSpPr>
        <p:spPr>
          <a:xfrm>
            <a:off x="696544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8</a:t>
            </a:r>
            <a:endParaRPr lang="en-US" sz="1000" dirty="0"/>
          </a:p>
        </p:txBody>
      </p:sp>
      <p:sp>
        <p:nvSpPr>
          <p:cNvPr id="21" name="Shape 19"/>
          <p:cNvSpPr/>
          <p:nvPr/>
        </p:nvSpPr>
        <p:spPr>
          <a:xfrm>
            <a:off x="8435340" y="2834640"/>
            <a:ext cx="0" cy="128016"/>
          </a:xfrm>
          <a:prstGeom prst="line">
            <a:avLst/>
          </a:prstGeom>
          <a:noFill/>
          <a:ln w="17780">
            <a:solidFill>
              <a:srgbClr val="0E2841"/>
            </a:solidFill>
            <a:prstDash val="solid"/>
          </a:ln>
        </p:spPr>
      </p:sp>
      <p:sp>
        <p:nvSpPr>
          <p:cNvPr id="22" name="Text 20"/>
          <p:cNvSpPr/>
          <p:nvPr/>
        </p:nvSpPr>
        <p:spPr>
          <a:xfrm>
            <a:off x="814273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9</a:t>
            </a:r>
            <a:endParaRPr lang="en-US" sz="1000" dirty="0"/>
          </a:p>
        </p:txBody>
      </p:sp>
      <p:sp>
        <p:nvSpPr>
          <p:cNvPr id="23" name="Shape 21"/>
          <p:cNvSpPr/>
          <p:nvPr/>
        </p:nvSpPr>
        <p:spPr>
          <a:xfrm>
            <a:off x="9612630" y="2834640"/>
            <a:ext cx="0" cy="128016"/>
          </a:xfrm>
          <a:prstGeom prst="line">
            <a:avLst/>
          </a:prstGeom>
          <a:noFill/>
          <a:ln w="17780">
            <a:solidFill>
              <a:srgbClr val="0E2841"/>
            </a:solidFill>
            <a:prstDash val="solid"/>
          </a:ln>
        </p:spPr>
      </p:sp>
      <p:sp>
        <p:nvSpPr>
          <p:cNvPr id="24" name="Text 22"/>
          <p:cNvSpPr/>
          <p:nvPr/>
        </p:nvSpPr>
        <p:spPr>
          <a:xfrm>
            <a:off x="932002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10</a:t>
            </a:r>
            <a:endParaRPr lang="en-US" sz="1000" dirty="0"/>
          </a:p>
        </p:txBody>
      </p:sp>
      <p:sp>
        <p:nvSpPr>
          <p:cNvPr id="25" name="Shape 23"/>
          <p:cNvSpPr/>
          <p:nvPr/>
        </p:nvSpPr>
        <p:spPr>
          <a:xfrm>
            <a:off x="10789920" y="2834640"/>
            <a:ext cx="0" cy="128016"/>
          </a:xfrm>
          <a:prstGeom prst="line">
            <a:avLst/>
          </a:prstGeom>
          <a:noFill/>
          <a:ln w="17780">
            <a:solidFill>
              <a:srgbClr val="0E2841"/>
            </a:solidFill>
            <a:prstDash val="solid"/>
          </a:ln>
        </p:spPr>
      </p:sp>
      <p:sp>
        <p:nvSpPr>
          <p:cNvPr id="26" name="Text 24"/>
          <p:cNvSpPr/>
          <p:nvPr/>
        </p:nvSpPr>
        <p:spPr>
          <a:xfrm>
            <a:off x="10497312" y="2990088"/>
            <a:ext cx="585216" cy="219456"/>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11</a:t>
            </a:r>
            <a:endParaRPr lang="en-US" sz="1000" dirty="0"/>
          </a:p>
        </p:txBody>
      </p:sp>
      <p:sp>
        <p:nvSpPr>
          <p:cNvPr id="27" name="Shape 25"/>
          <p:cNvSpPr/>
          <p:nvPr/>
        </p:nvSpPr>
        <p:spPr>
          <a:xfrm>
            <a:off x="6080760" y="1938528"/>
            <a:ext cx="0" cy="914400"/>
          </a:xfrm>
          <a:prstGeom prst="line">
            <a:avLst/>
          </a:prstGeom>
          <a:noFill/>
          <a:ln w="25400">
            <a:solidFill>
              <a:srgbClr val="196B24"/>
            </a:solidFill>
            <a:prstDash val="solid"/>
          </a:ln>
        </p:spPr>
      </p:sp>
      <p:sp>
        <p:nvSpPr>
          <p:cNvPr id="28" name="Shape 26"/>
          <p:cNvSpPr/>
          <p:nvPr/>
        </p:nvSpPr>
        <p:spPr>
          <a:xfrm>
            <a:off x="6007608" y="2825496"/>
            <a:ext cx="146304" cy="146304"/>
          </a:xfrm>
          <a:prstGeom prst="ellipse">
            <a:avLst/>
          </a:prstGeom>
          <a:solidFill>
            <a:srgbClr val="196B24"/>
          </a:solidFill>
          <a:ln w="12700">
            <a:solidFill>
              <a:srgbClr val="196B24"/>
            </a:solidFill>
            <a:prstDash val="solid"/>
          </a:ln>
        </p:spPr>
      </p:sp>
      <p:sp>
        <p:nvSpPr>
          <p:cNvPr id="29" name="Shape 27"/>
          <p:cNvSpPr/>
          <p:nvPr/>
        </p:nvSpPr>
        <p:spPr>
          <a:xfrm>
            <a:off x="5513832" y="1545336"/>
            <a:ext cx="1133856" cy="384048"/>
          </a:xfrm>
          <a:prstGeom prst="roundRect">
            <a:avLst>
              <a:gd name="adj" fmla="val 14286"/>
            </a:avLst>
          </a:prstGeom>
          <a:solidFill>
            <a:srgbClr val="196B24"/>
          </a:solidFill>
          <a:ln w="12700">
            <a:solidFill>
              <a:srgbClr val="196B24"/>
            </a:solidFill>
            <a:prstDash val="solid"/>
          </a:ln>
        </p:spPr>
      </p:sp>
      <p:sp>
        <p:nvSpPr>
          <p:cNvPr id="30" name="Text 28"/>
          <p:cNvSpPr/>
          <p:nvPr/>
        </p:nvSpPr>
        <p:spPr>
          <a:xfrm>
            <a:off x="5513832" y="1545336"/>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TRANSFER</a:t>
            </a:r>
            <a:endParaRPr lang="en-US" sz="1100" dirty="0"/>
          </a:p>
        </p:txBody>
      </p:sp>
      <p:sp>
        <p:nvSpPr>
          <p:cNvPr id="31" name="Text 29"/>
          <p:cNvSpPr/>
          <p:nvPr/>
        </p:nvSpPr>
        <p:spPr>
          <a:xfrm>
            <a:off x="5303520" y="3209544"/>
            <a:ext cx="1554480" cy="402336"/>
          </a:xfrm>
          <a:prstGeom prst="rect">
            <a:avLst/>
          </a:prstGeom>
          <a:noFill/>
          <a:ln/>
        </p:spPr>
        <p:txBody>
          <a:bodyPr wrap="square" lIns="0" tIns="0" rIns="0" bIns="0" rtlCol="0" anchor="ctr"/>
          <a:lstStyle/>
          <a:p>
            <a:pPr algn="ctr" indent="0" marL="0">
              <a:buNone/>
            </a:pPr>
            <a:r>
              <a:rPr lang="en-US" sz="1000" b="1" dirty="0">
                <a:solidFill>
                  <a:srgbClr val="196B24"/>
                </a:solidFill>
                <a:latin typeface="Malgun Gothic" pitchFamily="34" charset="0"/>
                <a:ea typeface="Malgun Gothic" pitchFamily="34" charset="-122"/>
                <a:cs typeface="Malgun Gothic" pitchFamily="34" charset="-120"/>
              </a:rPr>
              <a:t>embryo is day 7</a:t>
            </a:r>
            <a:endParaRPr lang="en-US" sz="1000" dirty="0"/>
          </a:p>
        </p:txBody>
      </p:sp>
      <p:sp>
        <p:nvSpPr>
          <p:cNvPr id="32" name="Text 30"/>
          <p:cNvSpPr/>
          <p:nvPr/>
        </p:nvSpPr>
        <p:spPr>
          <a:xfrm>
            <a:off x="1371600" y="3465576"/>
            <a:ext cx="9418320" cy="237744"/>
          </a:xfrm>
          <a:prstGeom prst="rect">
            <a:avLst/>
          </a:prstGeom>
          <a:noFill/>
          <a:ln/>
        </p:spPr>
        <p:txBody>
          <a:bodyPr wrap="square" lIns="0" tIns="0" rIns="0" bIns="0" rtlCol="0" anchor="ctr"/>
          <a:lstStyle/>
          <a:p>
            <a:pPr algn="l" indent="0" marL="0">
              <a:buNone/>
            </a:pPr>
            <a:r>
              <a:rPr lang="en-US" sz="1000" dirty="0">
                <a:solidFill>
                  <a:srgbClr val="6B7280"/>
                </a:solidFill>
                <a:latin typeface="Malgun Gothic" pitchFamily="34" charset="0"/>
                <a:ea typeface="Malgun Gothic" pitchFamily="34" charset="-122"/>
                <a:cs typeface="Malgun Gothic" pitchFamily="34" charset="-120"/>
              </a:rPr>
              <a:t>day of the recipient — days after SHE ovulated</a:t>
            </a:r>
            <a:endParaRPr lang="en-US" sz="1000" dirty="0"/>
          </a:p>
        </p:txBody>
      </p:sp>
      <p:sp>
        <p:nvSpPr>
          <p:cNvPr id="33" name="Shape 31"/>
          <p:cNvSpPr/>
          <p:nvPr/>
        </p:nvSpPr>
        <p:spPr>
          <a:xfrm>
            <a:off x="4903470" y="3858768"/>
            <a:ext cx="2354580" cy="457200"/>
          </a:xfrm>
          <a:prstGeom prst="roundRect">
            <a:avLst>
              <a:gd name="adj" fmla="val 10000"/>
            </a:avLst>
          </a:prstGeom>
          <a:solidFill>
            <a:srgbClr val="E7F1E8"/>
          </a:solidFill>
          <a:ln w="12700">
            <a:solidFill>
              <a:srgbClr val="196B24"/>
            </a:solidFill>
            <a:prstDash val="solid"/>
          </a:ln>
        </p:spPr>
      </p:sp>
      <p:sp>
        <p:nvSpPr>
          <p:cNvPr id="34" name="Text 32"/>
          <p:cNvSpPr/>
          <p:nvPr/>
        </p:nvSpPr>
        <p:spPr>
          <a:xfrm>
            <a:off x="4903470" y="3858768"/>
            <a:ext cx="2354580" cy="457200"/>
          </a:xfrm>
          <a:prstGeom prst="rect">
            <a:avLst/>
          </a:prstGeom>
          <a:noFill/>
          <a:ln/>
        </p:spPr>
        <p:txBody>
          <a:bodyPr wrap="square" lIns="0" tIns="0" rIns="0" bIns="0" rtlCol="0" anchor="ctr"/>
          <a:lstStyle/>
          <a:p>
            <a:pPr algn="ctr" indent="0" marL="0">
              <a:buNone/>
            </a:pPr>
            <a:r>
              <a:rPr lang="en-US" sz="1300" b="1" dirty="0">
                <a:solidFill>
                  <a:srgbClr val="196B24"/>
                </a:solidFill>
                <a:latin typeface="Malgun Gothic" pitchFamily="34" charset="0"/>
                <a:ea typeface="Malgun Gothic" pitchFamily="34" charset="-122"/>
                <a:cs typeface="Malgun Gothic" pitchFamily="34" charset="-120"/>
              </a:rPr>
              <a:t>DAY 6–8   acceptable</a:t>
            </a:r>
            <a:endParaRPr lang="en-US" sz="1300" dirty="0"/>
          </a:p>
        </p:txBody>
      </p:sp>
      <p:sp>
        <p:nvSpPr>
          <p:cNvPr id="35" name="Shape 33"/>
          <p:cNvSpPr/>
          <p:nvPr/>
        </p:nvSpPr>
        <p:spPr>
          <a:xfrm>
            <a:off x="1371600" y="3858768"/>
            <a:ext cx="3531870" cy="457200"/>
          </a:xfrm>
          <a:prstGeom prst="roundRect">
            <a:avLst>
              <a:gd name="adj" fmla="val 10000"/>
            </a:avLst>
          </a:prstGeom>
          <a:solidFill>
            <a:srgbClr val="FBEDE2"/>
          </a:solidFill>
          <a:ln w="12700">
            <a:solidFill>
              <a:srgbClr val="E97132"/>
            </a:solidFill>
            <a:prstDash val="solid"/>
          </a:ln>
        </p:spPr>
      </p:sp>
      <p:sp>
        <p:nvSpPr>
          <p:cNvPr id="36" name="Text 34"/>
          <p:cNvSpPr/>
          <p:nvPr/>
        </p:nvSpPr>
        <p:spPr>
          <a:xfrm>
            <a:off x="1371600" y="3858768"/>
            <a:ext cx="3531870" cy="457200"/>
          </a:xfrm>
          <a:prstGeom prst="rect">
            <a:avLst/>
          </a:prstGeom>
          <a:noFill/>
          <a:ln/>
        </p:spPr>
        <p:txBody>
          <a:bodyPr wrap="square" lIns="0" tIns="0" rIns="0" bIns="0" rtlCol="0" anchor="ctr"/>
          <a:lstStyle/>
          <a:p>
            <a:pPr algn="ctr" indent="0" marL="0">
              <a:buNone/>
            </a:pPr>
            <a:r>
              <a:rPr lang="en-US" sz="1150" b="1" dirty="0">
                <a:solidFill>
                  <a:srgbClr val="E97132"/>
                </a:solidFill>
                <a:latin typeface="Malgun Gothic" pitchFamily="34" charset="0"/>
                <a:ea typeface="Malgun Gothic" pitchFamily="34" charset="-122"/>
                <a:cs typeface="Malgun Gothic" pitchFamily="34" charset="-120"/>
              </a:rPr>
              <a:t>too early — womb not ready</a:t>
            </a:r>
            <a:endParaRPr lang="en-US" sz="1150" dirty="0"/>
          </a:p>
        </p:txBody>
      </p:sp>
      <p:sp>
        <p:nvSpPr>
          <p:cNvPr id="37" name="Shape 35"/>
          <p:cNvSpPr/>
          <p:nvPr/>
        </p:nvSpPr>
        <p:spPr>
          <a:xfrm>
            <a:off x="7258050" y="3858768"/>
            <a:ext cx="3531870" cy="457200"/>
          </a:xfrm>
          <a:prstGeom prst="roundRect">
            <a:avLst>
              <a:gd name="adj" fmla="val 10000"/>
            </a:avLst>
          </a:prstGeom>
          <a:solidFill>
            <a:srgbClr val="FBEDE2"/>
          </a:solidFill>
          <a:ln w="12700">
            <a:solidFill>
              <a:srgbClr val="E97132"/>
            </a:solidFill>
            <a:prstDash val="solid"/>
          </a:ln>
        </p:spPr>
      </p:sp>
      <p:sp>
        <p:nvSpPr>
          <p:cNvPr id="38" name="Text 36"/>
          <p:cNvSpPr/>
          <p:nvPr/>
        </p:nvSpPr>
        <p:spPr>
          <a:xfrm>
            <a:off x="7258050" y="3858768"/>
            <a:ext cx="3531870" cy="457200"/>
          </a:xfrm>
          <a:prstGeom prst="rect">
            <a:avLst/>
          </a:prstGeom>
          <a:noFill/>
          <a:ln/>
        </p:spPr>
        <p:txBody>
          <a:bodyPr wrap="square" lIns="0" tIns="0" rIns="0" bIns="0" rtlCol="0" anchor="ctr"/>
          <a:lstStyle/>
          <a:p>
            <a:pPr algn="ctr" indent="0" marL="0">
              <a:buNone/>
            </a:pPr>
            <a:r>
              <a:rPr lang="en-US" sz="1150" b="1" dirty="0">
                <a:solidFill>
                  <a:srgbClr val="E97132"/>
                </a:solidFill>
                <a:latin typeface="Malgun Gothic" pitchFamily="34" charset="0"/>
                <a:ea typeface="Malgun Gothic" pitchFamily="34" charset="-122"/>
                <a:cs typeface="Malgun Gothic" pitchFamily="34" charset="-120"/>
              </a:rPr>
              <a:t>too late — womb has moved on</a:t>
            </a:r>
            <a:endParaRPr lang="en-US" sz="1150" dirty="0"/>
          </a:p>
        </p:txBody>
      </p:sp>
      <p:sp>
        <p:nvSpPr>
          <p:cNvPr id="39" name="Shape 37"/>
          <p:cNvSpPr/>
          <p:nvPr/>
        </p:nvSpPr>
        <p:spPr>
          <a:xfrm>
            <a:off x="548640" y="4544568"/>
            <a:ext cx="11064240" cy="685800"/>
          </a:xfrm>
          <a:prstGeom prst="roundRect">
            <a:avLst>
              <a:gd name="adj" fmla="val 10667"/>
            </a:avLst>
          </a:prstGeom>
          <a:solidFill>
            <a:srgbClr val="0E2841"/>
          </a:solidFill>
          <a:ln w="12700">
            <a:solidFill>
              <a:srgbClr val="0E2841"/>
            </a:solidFill>
            <a:prstDash val="solid"/>
          </a:ln>
        </p:spPr>
      </p:sp>
      <p:sp>
        <p:nvSpPr>
          <p:cNvPr id="40" name="Text 38"/>
          <p:cNvSpPr/>
          <p:nvPr/>
        </p:nvSpPr>
        <p:spPr>
          <a:xfrm>
            <a:off x="548640" y="4544568"/>
            <a:ext cx="1106424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OVULATION DAY  =  TRANSFER DAY  −  7</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Counting backwards — a worked example</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10 embryos arrive, transfer is fixed for 20 October</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Fix the transfer date first. Then count backwards. Never start the protocol before the shipment is confirmed.</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19</a:t>
            </a:r>
            <a:endParaRPr lang="en-US" sz="900" dirty="0"/>
          </a:p>
        </p:txBody>
      </p:sp>
      <p:sp>
        <p:nvSpPr>
          <p:cNvPr id="8" name="Shape 6"/>
          <p:cNvSpPr/>
          <p:nvPr/>
        </p:nvSpPr>
        <p:spPr>
          <a:xfrm>
            <a:off x="548640" y="1618488"/>
            <a:ext cx="1770278" cy="502920"/>
          </a:xfrm>
          <a:prstGeom prst="roundRect">
            <a:avLst>
              <a:gd name="adj" fmla="val 5455"/>
            </a:avLst>
          </a:prstGeom>
          <a:solidFill>
            <a:srgbClr val="0E2841"/>
          </a:solidFill>
          <a:ln w="12700">
            <a:solidFill>
              <a:srgbClr val="0E2841"/>
            </a:solidFill>
            <a:prstDash val="solid"/>
          </a:ln>
        </p:spPr>
      </p:sp>
      <p:sp>
        <p:nvSpPr>
          <p:cNvPr id="9" name="Text 7"/>
          <p:cNvSpPr/>
          <p:nvPr/>
        </p:nvSpPr>
        <p:spPr>
          <a:xfrm>
            <a:off x="621792" y="1618488"/>
            <a:ext cx="1623974"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Date</a:t>
            </a:r>
            <a:endParaRPr lang="en-US" sz="1200" dirty="0"/>
          </a:p>
        </p:txBody>
      </p:sp>
      <p:sp>
        <p:nvSpPr>
          <p:cNvPr id="10" name="Shape 8"/>
          <p:cNvSpPr/>
          <p:nvPr/>
        </p:nvSpPr>
        <p:spPr>
          <a:xfrm>
            <a:off x="2318918" y="1618488"/>
            <a:ext cx="4425696" cy="502920"/>
          </a:xfrm>
          <a:prstGeom prst="roundRect">
            <a:avLst>
              <a:gd name="adj" fmla="val 5455"/>
            </a:avLst>
          </a:prstGeom>
          <a:solidFill>
            <a:srgbClr val="0E2841"/>
          </a:solidFill>
          <a:ln w="12700">
            <a:solidFill>
              <a:srgbClr val="0E2841"/>
            </a:solidFill>
            <a:prstDash val="solid"/>
          </a:ln>
        </p:spPr>
      </p:sp>
      <p:sp>
        <p:nvSpPr>
          <p:cNvPr id="11" name="Text 9"/>
          <p:cNvSpPr/>
          <p:nvPr/>
        </p:nvSpPr>
        <p:spPr>
          <a:xfrm>
            <a:off x="2392070" y="1618488"/>
            <a:ext cx="4279392"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happens</a:t>
            </a:r>
            <a:endParaRPr lang="en-US" sz="1200" dirty="0"/>
          </a:p>
        </p:txBody>
      </p:sp>
      <p:sp>
        <p:nvSpPr>
          <p:cNvPr id="12" name="Shape 10"/>
          <p:cNvSpPr/>
          <p:nvPr/>
        </p:nvSpPr>
        <p:spPr>
          <a:xfrm>
            <a:off x="6744614" y="1618488"/>
            <a:ext cx="4868266" cy="502920"/>
          </a:xfrm>
          <a:prstGeom prst="roundRect">
            <a:avLst>
              <a:gd name="adj" fmla="val 5455"/>
            </a:avLst>
          </a:prstGeom>
          <a:solidFill>
            <a:srgbClr val="0E2841"/>
          </a:solidFill>
          <a:ln w="12700">
            <a:solidFill>
              <a:srgbClr val="0E2841"/>
            </a:solidFill>
            <a:prstDash val="solid"/>
          </a:ln>
        </p:spPr>
      </p:sp>
      <p:sp>
        <p:nvSpPr>
          <p:cNvPr id="13" name="Text 11"/>
          <p:cNvSpPr/>
          <p:nvPr/>
        </p:nvSpPr>
        <p:spPr>
          <a:xfrm>
            <a:off x="6817766" y="1618488"/>
            <a:ext cx="4721962"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Note</a:t>
            </a:r>
            <a:endParaRPr lang="en-US" sz="1200" dirty="0"/>
          </a:p>
        </p:txBody>
      </p:sp>
      <p:sp>
        <p:nvSpPr>
          <p:cNvPr id="14" name="Shape 12"/>
          <p:cNvSpPr/>
          <p:nvPr/>
        </p:nvSpPr>
        <p:spPr>
          <a:xfrm>
            <a:off x="548640" y="2121408"/>
            <a:ext cx="1770278" cy="502920"/>
          </a:xfrm>
          <a:prstGeom prst="roundRect">
            <a:avLst>
              <a:gd name="adj" fmla="val 3636"/>
            </a:avLst>
          </a:prstGeom>
          <a:solidFill>
            <a:srgbClr val="FFFFFF"/>
          </a:solidFill>
          <a:ln w="12700">
            <a:solidFill>
              <a:srgbClr val="C9D3DA"/>
            </a:solidFill>
            <a:prstDash val="solid"/>
          </a:ln>
        </p:spPr>
      </p:sp>
      <p:sp>
        <p:nvSpPr>
          <p:cNvPr id="15" name="Text 13"/>
          <p:cNvSpPr/>
          <p:nvPr/>
        </p:nvSpPr>
        <p:spPr>
          <a:xfrm>
            <a:off x="621792" y="2121408"/>
            <a:ext cx="1623974" cy="50292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20 Oct</a:t>
            </a:r>
            <a:endParaRPr lang="en-US" sz="1200" dirty="0"/>
          </a:p>
        </p:txBody>
      </p:sp>
      <p:sp>
        <p:nvSpPr>
          <p:cNvPr id="16" name="Shape 14"/>
          <p:cNvSpPr/>
          <p:nvPr/>
        </p:nvSpPr>
        <p:spPr>
          <a:xfrm>
            <a:off x="2318918" y="2121408"/>
            <a:ext cx="4425696" cy="502920"/>
          </a:xfrm>
          <a:prstGeom prst="roundRect">
            <a:avLst>
              <a:gd name="adj" fmla="val 3636"/>
            </a:avLst>
          </a:prstGeom>
          <a:solidFill>
            <a:srgbClr val="FFFFFF"/>
          </a:solidFill>
          <a:ln w="12700">
            <a:solidFill>
              <a:srgbClr val="C9D3DA"/>
            </a:solidFill>
            <a:prstDash val="solid"/>
          </a:ln>
        </p:spPr>
      </p:sp>
      <p:sp>
        <p:nvSpPr>
          <p:cNvPr id="17" name="Text 15"/>
          <p:cNvSpPr/>
          <p:nvPr/>
        </p:nvSpPr>
        <p:spPr>
          <a:xfrm>
            <a:off x="2392070" y="2121408"/>
            <a:ext cx="4279392"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TRANSFER DAY</a:t>
            </a:r>
            <a:endParaRPr lang="en-US" sz="1200" dirty="0"/>
          </a:p>
        </p:txBody>
      </p:sp>
      <p:sp>
        <p:nvSpPr>
          <p:cNvPr id="18" name="Shape 16"/>
          <p:cNvSpPr/>
          <p:nvPr/>
        </p:nvSpPr>
        <p:spPr>
          <a:xfrm>
            <a:off x="6744614" y="2121408"/>
            <a:ext cx="4868266" cy="502920"/>
          </a:xfrm>
          <a:prstGeom prst="roundRect">
            <a:avLst>
              <a:gd name="adj" fmla="val 3636"/>
            </a:avLst>
          </a:prstGeom>
          <a:solidFill>
            <a:srgbClr val="FFFFFF"/>
          </a:solidFill>
          <a:ln w="12700">
            <a:solidFill>
              <a:srgbClr val="C9D3DA"/>
            </a:solidFill>
            <a:prstDash val="solid"/>
          </a:ln>
        </p:spPr>
      </p:sp>
      <p:sp>
        <p:nvSpPr>
          <p:cNvPr id="19" name="Text 17"/>
          <p:cNvSpPr/>
          <p:nvPr/>
        </p:nvSpPr>
        <p:spPr>
          <a:xfrm>
            <a:off x="6817766" y="2121408"/>
            <a:ext cx="4721962" cy="502920"/>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Check the CL. Transfer.</a:t>
            </a:r>
            <a:endParaRPr lang="en-US" sz="1200" dirty="0"/>
          </a:p>
        </p:txBody>
      </p:sp>
      <p:sp>
        <p:nvSpPr>
          <p:cNvPr id="20" name="Shape 18"/>
          <p:cNvSpPr/>
          <p:nvPr/>
        </p:nvSpPr>
        <p:spPr>
          <a:xfrm>
            <a:off x="548640" y="2624328"/>
            <a:ext cx="1770278" cy="502920"/>
          </a:xfrm>
          <a:prstGeom prst="roundRect">
            <a:avLst>
              <a:gd name="adj" fmla="val 3636"/>
            </a:avLst>
          </a:prstGeom>
          <a:solidFill>
            <a:srgbClr val="F2F5F7"/>
          </a:solidFill>
          <a:ln w="12700">
            <a:solidFill>
              <a:srgbClr val="C9D3DA"/>
            </a:solidFill>
            <a:prstDash val="solid"/>
          </a:ln>
        </p:spPr>
      </p:sp>
      <p:sp>
        <p:nvSpPr>
          <p:cNvPr id="21" name="Text 19"/>
          <p:cNvSpPr/>
          <p:nvPr/>
        </p:nvSpPr>
        <p:spPr>
          <a:xfrm>
            <a:off x="621792" y="2624328"/>
            <a:ext cx="1623974" cy="502920"/>
          </a:xfrm>
          <a:prstGeom prst="rect">
            <a:avLst/>
          </a:prstGeom>
          <a:noFill/>
          <a:ln/>
        </p:spPr>
        <p:txBody>
          <a:bodyPr wrap="square" lIns="0" tIns="0" rIns="0" bIns="0" rtlCol="0" anchor="ctr"/>
          <a:lstStyle/>
          <a:p>
            <a:pPr algn="ctr" indent="0" marL="0">
              <a:buNone/>
            </a:pPr>
            <a:r>
              <a:rPr lang="en-US" sz="1200" b="1" dirty="0">
                <a:solidFill>
                  <a:srgbClr val="196B24"/>
                </a:solidFill>
                <a:latin typeface="Malgun Gothic" pitchFamily="34" charset="0"/>
                <a:ea typeface="Malgun Gothic" pitchFamily="34" charset="-122"/>
                <a:cs typeface="Malgun Gothic" pitchFamily="34" charset="-120"/>
              </a:rPr>
              <a:t>13 Oct</a:t>
            </a:r>
            <a:endParaRPr lang="en-US" sz="1200" dirty="0"/>
          </a:p>
        </p:txBody>
      </p:sp>
      <p:sp>
        <p:nvSpPr>
          <p:cNvPr id="22" name="Shape 20"/>
          <p:cNvSpPr/>
          <p:nvPr/>
        </p:nvSpPr>
        <p:spPr>
          <a:xfrm>
            <a:off x="2318918" y="2624328"/>
            <a:ext cx="4425696" cy="502920"/>
          </a:xfrm>
          <a:prstGeom prst="roundRect">
            <a:avLst>
              <a:gd name="adj" fmla="val 3636"/>
            </a:avLst>
          </a:prstGeom>
          <a:solidFill>
            <a:srgbClr val="F2F5F7"/>
          </a:solidFill>
          <a:ln w="12700">
            <a:solidFill>
              <a:srgbClr val="C9D3DA"/>
            </a:solidFill>
            <a:prstDash val="solid"/>
          </a:ln>
        </p:spPr>
      </p:sp>
      <p:sp>
        <p:nvSpPr>
          <p:cNvPr id="23" name="Text 21"/>
          <p:cNvSpPr/>
          <p:nvPr/>
        </p:nvSpPr>
        <p:spPr>
          <a:xfrm>
            <a:off x="2392070" y="2624328"/>
            <a:ext cx="4279392"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Ovulation  (transfer − 7)</a:t>
            </a:r>
            <a:endParaRPr lang="en-US" sz="1200" dirty="0"/>
          </a:p>
        </p:txBody>
      </p:sp>
      <p:sp>
        <p:nvSpPr>
          <p:cNvPr id="24" name="Shape 22"/>
          <p:cNvSpPr/>
          <p:nvPr/>
        </p:nvSpPr>
        <p:spPr>
          <a:xfrm>
            <a:off x="6744614" y="2624328"/>
            <a:ext cx="4868266" cy="502920"/>
          </a:xfrm>
          <a:prstGeom prst="roundRect">
            <a:avLst>
              <a:gd name="adj" fmla="val 3636"/>
            </a:avLst>
          </a:prstGeom>
          <a:solidFill>
            <a:srgbClr val="F2F5F7"/>
          </a:solidFill>
          <a:ln w="12700">
            <a:solidFill>
              <a:srgbClr val="C9D3DA"/>
            </a:solidFill>
            <a:prstDash val="solid"/>
          </a:ln>
        </p:spPr>
      </p:sp>
      <p:sp>
        <p:nvSpPr>
          <p:cNvPr id="25" name="Text 23"/>
          <p:cNvSpPr/>
          <p:nvPr/>
        </p:nvSpPr>
        <p:spPr>
          <a:xfrm>
            <a:off x="6817766" y="2624328"/>
            <a:ext cx="4721962" cy="502920"/>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This is recipient day 0</a:t>
            </a:r>
            <a:endParaRPr lang="en-US" sz="1200" dirty="0"/>
          </a:p>
        </p:txBody>
      </p:sp>
      <p:sp>
        <p:nvSpPr>
          <p:cNvPr id="26" name="Shape 24"/>
          <p:cNvSpPr/>
          <p:nvPr/>
        </p:nvSpPr>
        <p:spPr>
          <a:xfrm>
            <a:off x="548640" y="3127248"/>
            <a:ext cx="1770278" cy="502920"/>
          </a:xfrm>
          <a:prstGeom prst="roundRect">
            <a:avLst>
              <a:gd name="adj" fmla="val 3636"/>
            </a:avLst>
          </a:prstGeom>
          <a:solidFill>
            <a:srgbClr val="FFFFFF"/>
          </a:solidFill>
          <a:ln w="12700">
            <a:solidFill>
              <a:srgbClr val="C9D3DA"/>
            </a:solidFill>
            <a:prstDash val="solid"/>
          </a:ln>
        </p:spPr>
      </p:sp>
      <p:sp>
        <p:nvSpPr>
          <p:cNvPr id="27" name="Text 25"/>
          <p:cNvSpPr/>
          <p:nvPr/>
        </p:nvSpPr>
        <p:spPr>
          <a:xfrm>
            <a:off x="621792" y="3127248"/>
            <a:ext cx="1623974"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12–13 Oct</a:t>
            </a:r>
            <a:endParaRPr lang="en-US" sz="1200" dirty="0"/>
          </a:p>
        </p:txBody>
      </p:sp>
      <p:sp>
        <p:nvSpPr>
          <p:cNvPr id="28" name="Shape 26"/>
          <p:cNvSpPr/>
          <p:nvPr/>
        </p:nvSpPr>
        <p:spPr>
          <a:xfrm>
            <a:off x="2318918" y="3127248"/>
            <a:ext cx="4425696" cy="502920"/>
          </a:xfrm>
          <a:prstGeom prst="roundRect">
            <a:avLst>
              <a:gd name="adj" fmla="val 3636"/>
            </a:avLst>
          </a:prstGeom>
          <a:solidFill>
            <a:srgbClr val="FFFFFF"/>
          </a:solidFill>
          <a:ln w="12700">
            <a:solidFill>
              <a:srgbClr val="C9D3DA"/>
            </a:solidFill>
            <a:prstDash val="solid"/>
          </a:ln>
        </p:spPr>
      </p:sp>
      <p:sp>
        <p:nvSpPr>
          <p:cNvPr id="29" name="Text 27"/>
          <p:cNvSpPr/>
          <p:nvPr/>
        </p:nvSpPr>
        <p:spPr>
          <a:xfrm>
            <a:off x="2392070" y="3127248"/>
            <a:ext cx="4279392"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GnRH</a:t>
            </a:r>
            <a:endParaRPr lang="en-US" sz="1200" dirty="0"/>
          </a:p>
        </p:txBody>
      </p:sp>
      <p:sp>
        <p:nvSpPr>
          <p:cNvPr id="30" name="Shape 28"/>
          <p:cNvSpPr/>
          <p:nvPr/>
        </p:nvSpPr>
        <p:spPr>
          <a:xfrm>
            <a:off x="6744614" y="3127248"/>
            <a:ext cx="4868266" cy="502920"/>
          </a:xfrm>
          <a:prstGeom prst="roundRect">
            <a:avLst>
              <a:gd name="adj" fmla="val 3636"/>
            </a:avLst>
          </a:prstGeom>
          <a:solidFill>
            <a:srgbClr val="FFFFFF"/>
          </a:solidFill>
          <a:ln w="12700">
            <a:solidFill>
              <a:srgbClr val="C9D3DA"/>
            </a:solidFill>
            <a:prstDash val="solid"/>
          </a:ln>
        </p:spPr>
      </p:sp>
      <p:sp>
        <p:nvSpPr>
          <p:cNvPr id="31" name="Text 29"/>
          <p:cNvSpPr/>
          <p:nvPr/>
        </p:nvSpPr>
        <p:spPr>
          <a:xfrm>
            <a:off x="6817766" y="3127248"/>
            <a:ext cx="4721962" cy="502920"/>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48–60 h after the device came out</a:t>
            </a:r>
            <a:endParaRPr lang="en-US" sz="1200" dirty="0"/>
          </a:p>
        </p:txBody>
      </p:sp>
      <p:sp>
        <p:nvSpPr>
          <p:cNvPr id="32" name="Shape 30"/>
          <p:cNvSpPr/>
          <p:nvPr/>
        </p:nvSpPr>
        <p:spPr>
          <a:xfrm>
            <a:off x="548640" y="3630168"/>
            <a:ext cx="1770278" cy="502920"/>
          </a:xfrm>
          <a:prstGeom prst="roundRect">
            <a:avLst>
              <a:gd name="adj" fmla="val 3636"/>
            </a:avLst>
          </a:prstGeom>
          <a:solidFill>
            <a:srgbClr val="F2F5F7"/>
          </a:solidFill>
          <a:ln w="12700">
            <a:solidFill>
              <a:srgbClr val="C9D3DA"/>
            </a:solidFill>
            <a:prstDash val="solid"/>
          </a:ln>
        </p:spPr>
      </p:sp>
      <p:sp>
        <p:nvSpPr>
          <p:cNvPr id="33" name="Text 31"/>
          <p:cNvSpPr/>
          <p:nvPr/>
        </p:nvSpPr>
        <p:spPr>
          <a:xfrm>
            <a:off x="621792" y="3630168"/>
            <a:ext cx="1623974"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10 Oct</a:t>
            </a:r>
            <a:endParaRPr lang="en-US" sz="1200" dirty="0"/>
          </a:p>
        </p:txBody>
      </p:sp>
      <p:sp>
        <p:nvSpPr>
          <p:cNvPr id="34" name="Shape 32"/>
          <p:cNvSpPr/>
          <p:nvPr/>
        </p:nvSpPr>
        <p:spPr>
          <a:xfrm>
            <a:off x="2318918" y="3630168"/>
            <a:ext cx="4425696" cy="502920"/>
          </a:xfrm>
          <a:prstGeom prst="roundRect">
            <a:avLst>
              <a:gd name="adj" fmla="val 3636"/>
            </a:avLst>
          </a:prstGeom>
          <a:solidFill>
            <a:srgbClr val="F2F5F7"/>
          </a:solidFill>
          <a:ln w="12700">
            <a:solidFill>
              <a:srgbClr val="C9D3DA"/>
            </a:solidFill>
            <a:prstDash val="solid"/>
          </a:ln>
        </p:spPr>
      </p:sp>
      <p:sp>
        <p:nvSpPr>
          <p:cNvPr id="35" name="Text 33"/>
          <p:cNvSpPr/>
          <p:nvPr/>
        </p:nvSpPr>
        <p:spPr>
          <a:xfrm>
            <a:off x="2392070" y="3630168"/>
            <a:ext cx="4279392"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Device OUT + PGF</a:t>
            </a:r>
            <a:endParaRPr lang="en-US" sz="1200" dirty="0"/>
          </a:p>
        </p:txBody>
      </p:sp>
      <p:sp>
        <p:nvSpPr>
          <p:cNvPr id="36" name="Shape 34"/>
          <p:cNvSpPr/>
          <p:nvPr/>
        </p:nvSpPr>
        <p:spPr>
          <a:xfrm>
            <a:off x="6744614" y="3630168"/>
            <a:ext cx="4868266" cy="502920"/>
          </a:xfrm>
          <a:prstGeom prst="roundRect">
            <a:avLst>
              <a:gd name="adj" fmla="val 3636"/>
            </a:avLst>
          </a:prstGeom>
          <a:solidFill>
            <a:srgbClr val="F2F5F7"/>
          </a:solidFill>
          <a:ln w="12700">
            <a:solidFill>
              <a:srgbClr val="C9D3DA"/>
            </a:solidFill>
            <a:prstDash val="solid"/>
          </a:ln>
        </p:spPr>
      </p:sp>
      <p:sp>
        <p:nvSpPr>
          <p:cNvPr id="37" name="Text 35"/>
          <p:cNvSpPr/>
          <p:nvPr/>
        </p:nvSpPr>
        <p:spPr>
          <a:xfrm>
            <a:off x="6817766" y="3630168"/>
            <a:ext cx="4721962" cy="502920"/>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 eCG for thin cows)</a:t>
            </a:r>
            <a:endParaRPr lang="en-US" sz="1200" dirty="0"/>
          </a:p>
        </p:txBody>
      </p:sp>
      <p:sp>
        <p:nvSpPr>
          <p:cNvPr id="38" name="Shape 36"/>
          <p:cNvSpPr/>
          <p:nvPr/>
        </p:nvSpPr>
        <p:spPr>
          <a:xfrm>
            <a:off x="548640" y="4133088"/>
            <a:ext cx="1770278" cy="502920"/>
          </a:xfrm>
          <a:prstGeom prst="roundRect">
            <a:avLst>
              <a:gd name="adj" fmla="val 3636"/>
            </a:avLst>
          </a:prstGeom>
          <a:solidFill>
            <a:srgbClr val="FFFFFF"/>
          </a:solidFill>
          <a:ln w="12700">
            <a:solidFill>
              <a:srgbClr val="C9D3DA"/>
            </a:solidFill>
            <a:prstDash val="solid"/>
          </a:ln>
        </p:spPr>
      </p:sp>
      <p:sp>
        <p:nvSpPr>
          <p:cNvPr id="39" name="Text 37"/>
          <p:cNvSpPr/>
          <p:nvPr/>
        </p:nvSpPr>
        <p:spPr>
          <a:xfrm>
            <a:off x="621792" y="4133088"/>
            <a:ext cx="1623974"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3 Oct</a:t>
            </a:r>
            <a:endParaRPr lang="en-US" sz="1200" dirty="0"/>
          </a:p>
        </p:txBody>
      </p:sp>
      <p:sp>
        <p:nvSpPr>
          <p:cNvPr id="40" name="Shape 38"/>
          <p:cNvSpPr/>
          <p:nvPr/>
        </p:nvSpPr>
        <p:spPr>
          <a:xfrm>
            <a:off x="2318918" y="4133088"/>
            <a:ext cx="4425696" cy="502920"/>
          </a:xfrm>
          <a:prstGeom prst="roundRect">
            <a:avLst>
              <a:gd name="adj" fmla="val 3636"/>
            </a:avLst>
          </a:prstGeom>
          <a:solidFill>
            <a:srgbClr val="FFFFFF"/>
          </a:solidFill>
          <a:ln w="12700">
            <a:solidFill>
              <a:srgbClr val="C9D3DA"/>
            </a:solidFill>
            <a:prstDash val="solid"/>
          </a:ln>
        </p:spPr>
      </p:sp>
      <p:sp>
        <p:nvSpPr>
          <p:cNvPr id="41" name="Text 39"/>
          <p:cNvSpPr/>
          <p:nvPr/>
        </p:nvSpPr>
        <p:spPr>
          <a:xfrm>
            <a:off x="2392070" y="4133088"/>
            <a:ext cx="4279392"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Device IN + GnRH</a:t>
            </a:r>
            <a:endParaRPr lang="en-US" sz="1200" dirty="0"/>
          </a:p>
        </p:txBody>
      </p:sp>
      <p:sp>
        <p:nvSpPr>
          <p:cNvPr id="42" name="Shape 40"/>
          <p:cNvSpPr/>
          <p:nvPr/>
        </p:nvSpPr>
        <p:spPr>
          <a:xfrm>
            <a:off x="6744614" y="4133088"/>
            <a:ext cx="4868266" cy="502920"/>
          </a:xfrm>
          <a:prstGeom prst="roundRect">
            <a:avLst>
              <a:gd name="adj" fmla="val 3636"/>
            </a:avLst>
          </a:prstGeom>
          <a:solidFill>
            <a:srgbClr val="FFFFFF"/>
          </a:solidFill>
          <a:ln w="12700">
            <a:solidFill>
              <a:srgbClr val="C9D3DA"/>
            </a:solidFill>
            <a:prstDash val="solid"/>
          </a:ln>
        </p:spPr>
      </p:sp>
      <p:sp>
        <p:nvSpPr>
          <p:cNvPr id="43" name="Text 41"/>
          <p:cNvSpPr/>
          <p:nvPr/>
        </p:nvSpPr>
        <p:spPr>
          <a:xfrm>
            <a:off x="6817766" y="4133088"/>
            <a:ext cx="4721962" cy="502920"/>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Protocol starts here</a:t>
            </a:r>
            <a:endParaRPr lang="en-US" sz="1200" dirty="0"/>
          </a:p>
        </p:txBody>
      </p:sp>
      <p:sp>
        <p:nvSpPr>
          <p:cNvPr id="44" name="Shape 42"/>
          <p:cNvSpPr/>
          <p:nvPr/>
        </p:nvSpPr>
        <p:spPr>
          <a:xfrm>
            <a:off x="548640" y="4636008"/>
            <a:ext cx="1770278" cy="502920"/>
          </a:xfrm>
          <a:prstGeom prst="roundRect">
            <a:avLst>
              <a:gd name="adj" fmla="val 3636"/>
            </a:avLst>
          </a:prstGeom>
          <a:solidFill>
            <a:srgbClr val="F2F5F7"/>
          </a:solidFill>
          <a:ln w="12700">
            <a:solidFill>
              <a:srgbClr val="C9D3DA"/>
            </a:solidFill>
            <a:prstDash val="solid"/>
          </a:ln>
        </p:spPr>
      </p:sp>
      <p:sp>
        <p:nvSpPr>
          <p:cNvPr id="45" name="Text 43"/>
          <p:cNvSpPr/>
          <p:nvPr/>
        </p:nvSpPr>
        <p:spPr>
          <a:xfrm>
            <a:off x="621792" y="4636008"/>
            <a:ext cx="1623974" cy="502920"/>
          </a:xfrm>
          <a:prstGeom prst="rect">
            <a:avLst/>
          </a:prstGeom>
          <a:noFill/>
          <a:ln/>
        </p:spPr>
        <p:txBody>
          <a:bodyPr wrap="square" lIns="0" tIns="0" rIns="0" bIns="0" rtlCol="0" anchor="ctr"/>
          <a:lstStyle/>
          <a:p>
            <a:pPr algn="ctr" indent="0" marL="0">
              <a:buNone/>
            </a:pPr>
            <a:r>
              <a:rPr lang="en-US" sz="1200" b="1" dirty="0">
                <a:solidFill>
                  <a:srgbClr val="A02B93"/>
                </a:solidFill>
                <a:latin typeface="Malgun Gothic" pitchFamily="34" charset="0"/>
                <a:ea typeface="Malgun Gothic" pitchFamily="34" charset="-122"/>
                <a:cs typeface="Malgun Gothic" pitchFamily="34" charset="-120"/>
              </a:rPr>
              <a:t>early Sept</a:t>
            </a:r>
            <a:endParaRPr lang="en-US" sz="1200" dirty="0"/>
          </a:p>
        </p:txBody>
      </p:sp>
      <p:sp>
        <p:nvSpPr>
          <p:cNvPr id="46" name="Shape 44"/>
          <p:cNvSpPr/>
          <p:nvPr/>
        </p:nvSpPr>
        <p:spPr>
          <a:xfrm>
            <a:off x="2318918" y="4636008"/>
            <a:ext cx="4425696" cy="502920"/>
          </a:xfrm>
          <a:prstGeom prst="roundRect">
            <a:avLst>
              <a:gd name="adj" fmla="val 3636"/>
            </a:avLst>
          </a:prstGeom>
          <a:solidFill>
            <a:srgbClr val="F2F5F7"/>
          </a:solidFill>
          <a:ln w="12700">
            <a:solidFill>
              <a:srgbClr val="C9D3DA"/>
            </a:solidFill>
            <a:prstDash val="solid"/>
          </a:ln>
        </p:spPr>
      </p:sp>
      <p:sp>
        <p:nvSpPr>
          <p:cNvPr id="47" name="Text 45"/>
          <p:cNvSpPr/>
          <p:nvPr/>
        </p:nvSpPr>
        <p:spPr>
          <a:xfrm>
            <a:off x="2392070" y="4636008"/>
            <a:ext cx="4279392"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Choose cows · start feeding</a:t>
            </a:r>
            <a:endParaRPr lang="en-US" sz="1200" dirty="0"/>
          </a:p>
        </p:txBody>
      </p:sp>
      <p:sp>
        <p:nvSpPr>
          <p:cNvPr id="48" name="Shape 46"/>
          <p:cNvSpPr/>
          <p:nvPr/>
        </p:nvSpPr>
        <p:spPr>
          <a:xfrm>
            <a:off x="6744614" y="4636008"/>
            <a:ext cx="4868266" cy="502920"/>
          </a:xfrm>
          <a:prstGeom prst="roundRect">
            <a:avLst>
              <a:gd name="adj" fmla="val 3636"/>
            </a:avLst>
          </a:prstGeom>
          <a:solidFill>
            <a:srgbClr val="F2F5F7"/>
          </a:solidFill>
          <a:ln w="12700">
            <a:solidFill>
              <a:srgbClr val="C9D3DA"/>
            </a:solidFill>
            <a:prstDash val="solid"/>
          </a:ln>
        </p:spPr>
      </p:sp>
      <p:sp>
        <p:nvSpPr>
          <p:cNvPr id="49" name="Text 47"/>
          <p:cNvSpPr/>
          <p:nvPr/>
        </p:nvSpPr>
        <p:spPr>
          <a:xfrm>
            <a:off x="6817766" y="4636008"/>
            <a:ext cx="4721962" cy="502920"/>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Body condition takes WEEKS</a:t>
            </a:r>
            <a:endParaRPr lang="en-US" sz="1200" dirty="0"/>
          </a:p>
        </p:txBody>
      </p:sp>
      <p:sp>
        <p:nvSpPr>
          <p:cNvPr id="50" name="Shape 48"/>
          <p:cNvSpPr/>
          <p:nvPr/>
        </p:nvSpPr>
        <p:spPr>
          <a:xfrm>
            <a:off x="548640" y="4773168"/>
            <a:ext cx="11064240" cy="502920"/>
          </a:xfrm>
          <a:prstGeom prst="roundRect">
            <a:avLst>
              <a:gd name="adj" fmla="val 12727"/>
            </a:avLst>
          </a:prstGeom>
          <a:solidFill>
            <a:srgbClr val="FBEDE2"/>
          </a:solidFill>
          <a:ln w="12700">
            <a:solidFill>
              <a:srgbClr val="E97132"/>
            </a:solidFill>
            <a:prstDash val="solid"/>
          </a:ln>
        </p:spPr>
      </p:sp>
      <p:sp>
        <p:nvSpPr>
          <p:cNvPr id="51" name="Text 49"/>
          <p:cNvSpPr/>
          <p:nvPr/>
        </p:nvSpPr>
        <p:spPr>
          <a:xfrm>
            <a:off x="731520" y="4773168"/>
            <a:ext cx="10698480" cy="502920"/>
          </a:xfrm>
          <a:prstGeom prst="rect">
            <a:avLst/>
          </a:prstGeom>
          <a:noFill/>
          <a:ln/>
        </p:spPr>
        <p:txBody>
          <a:bodyPr wrap="square" lIns="0" tIns="0" rIns="0" bIns="0" rtlCol="0" anchor="ctr"/>
          <a:lstStyle/>
          <a:p>
            <a:pPr algn="l" indent="0" marL="0">
              <a:buNone/>
            </a:pPr>
            <a:r>
              <a:rPr lang="en-US" sz="1250" b="1" dirty="0">
                <a:solidFill>
                  <a:srgbClr val="0E2841"/>
                </a:solidFill>
                <a:latin typeface="Malgun Gothic" pitchFamily="34" charset="0"/>
                <a:ea typeface="Malgun Gothic" pitchFamily="34" charset="-122"/>
                <a:cs typeface="Malgun Gothic" pitchFamily="34" charset="-120"/>
              </a:rPr>
              <a:t>NEVER start the protocol before the shipment date is confirmed in writing. Customs delays lose the whole group.</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Enrol 125% — the embryo will not wait</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Not every synchronised cow has a usable CL on the day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10 embryos → synchronise 13 cows. Below 70% usable is a warning about your cows.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20</a:t>
            </a:r>
            <a:endParaRPr lang="en-US" sz="900" dirty="0"/>
          </a:p>
        </p:txBody>
      </p:sp>
      <p:sp>
        <p:nvSpPr>
          <p:cNvPr id="8" name="Text 6"/>
          <p:cNvSpPr/>
          <p:nvPr/>
        </p:nvSpPr>
        <p:spPr>
          <a:xfrm>
            <a:off x="548640" y="1709928"/>
            <a:ext cx="11064240" cy="31089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Synchronise 13 cows to transfer 10 embryos</a:t>
            </a:r>
            <a:endParaRPr lang="en-US" sz="1500" dirty="0"/>
          </a:p>
        </p:txBody>
      </p:sp>
      <p:sp>
        <p:nvSpPr>
          <p:cNvPr id="9" name="Shape 7"/>
          <p:cNvSpPr/>
          <p:nvPr/>
        </p:nvSpPr>
        <p:spPr>
          <a:xfrm>
            <a:off x="548640" y="2121408"/>
            <a:ext cx="749808" cy="1143000"/>
          </a:xfrm>
          <a:prstGeom prst="roundRect">
            <a:avLst>
              <a:gd name="adj" fmla="val 8537"/>
            </a:avLst>
          </a:prstGeom>
          <a:solidFill>
            <a:srgbClr val="E7F1E8"/>
          </a:solidFill>
          <a:ln w="12700">
            <a:solidFill>
              <a:srgbClr val="196B24"/>
            </a:solidFill>
            <a:prstDash val="solid"/>
          </a:ln>
        </p:spPr>
      </p:sp>
      <p:sp>
        <p:nvSpPr>
          <p:cNvPr id="10" name="Text 8"/>
          <p:cNvSpPr/>
          <p:nvPr/>
        </p:nvSpPr>
        <p:spPr>
          <a:xfrm>
            <a:off x="548640"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11" name="Text 9"/>
          <p:cNvSpPr/>
          <p:nvPr/>
        </p:nvSpPr>
        <p:spPr>
          <a:xfrm>
            <a:off x="548640"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12" name="Shape 10"/>
          <p:cNvSpPr/>
          <p:nvPr/>
        </p:nvSpPr>
        <p:spPr>
          <a:xfrm>
            <a:off x="1408176" y="2121408"/>
            <a:ext cx="749808" cy="1143000"/>
          </a:xfrm>
          <a:prstGeom prst="roundRect">
            <a:avLst>
              <a:gd name="adj" fmla="val 8537"/>
            </a:avLst>
          </a:prstGeom>
          <a:solidFill>
            <a:srgbClr val="E7F1E8"/>
          </a:solidFill>
          <a:ln w="12700">
            <a:solidFill>
              <a:srgbClr val="196B24"/>
            </a:solidFill>
            <a:prstDash val="solid"/>
          </a:ln>
        </p:spPr>
      </p:sp>
      <p:sp>
        <p:nvSpPr>
          <p:cNvPr id="13" name="Text 11"/>
          <p:cNvSpPr/>
          <p:nvPr/>
        </p:nvSpPr>
        <p:spPr>
          <a:xfrm>
            <a:off x="1408176"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14" name="Text 12"/>
          <p:cNvSpPr/>
          <p:nvPr/>
        </p:nvSpPr>
        <p:spPr>
          <a:xfrm>
            <a:off x="1408176"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15" name="Shape 13"/>
          <p:cNvSpPr/>
          <p:nvPr/>
        </p:nvSpPr>
        <p:spPr>
          <a:xfrm>
            <a:off x="2267712" y="2121408"/>
            <a:ext cx="749808" cy="1143000"/>
          </a:xfrm>
          <a:prstGeom prst="roundRect">
            <a:avLst>
              <a:gd name="adj" fmla="val 8537"/>
            </a:avLst>
          </a:prstGeom>
          <a:solidFill>
            <a:srgbClr val="E7F1E8"/>
          </a:solidFill>
          <a:ln w="12700">
            <a:solidFill>
              <a:srgbClr val="196B24"/>
            </a:solidFill>
            <a:prstDash val="solid"/>
          </a:ln>
        </p:spPr>
      </p:sp>
      <p:sp>
        <p:nvSpPr>
          <p:cNvPr id="16" name="Text 14"/>
          <p:cNvSpPr/>
          <p:nvPr/>
        </p:nvSpPr>
        <p:spPr>
          <a:xfrm>
            <a:off x="2267712"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17" name="Text 15"/>
          <p:cNvSpPr/>
          <p:nvPr/>
        </p:nvSpPr>
        <p:spPr>
          <a:xfrm>
            <a:off x="2267712"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18" name="Shape 16"/>
          <p:cNvSpPr/>
          <p:nvPr/>
        </p:nvSpPr>
        <p:spPr>
          <a:xfrm>
            <a:off x="3127248" y="2121408"/>
            <a:ext cx="749808" cy="1143000"/>
          </a:xfrm>
          <a:prstGeom prst="roundRect">
            <a:avLst>
              <a:gd name="adj" fmla="val 8537"/>
            </a:avLst>
          </a:prstGeom>
          <a:solidFill>
            <a:srgbClr val="E7F1E8"/>
          </a:solidFill>
          <a:ln w="12700">
            <a:solidFill>
              <a:srgbClr val="196B24"/>
            </a:solidFill>
            <a:prstDash val="solid"/>
          </a:ln>
        </p:spPr>
      </p:sp>
      <p:sp>
        <p:nvSpPr>
          <p:cNvPr id="19" name="Text 17"/>
          <p:cNvSpPr/>
          <p:nvPr/>
        </p:nvSpPr>
        <p:spPr>
          <a:xfrm>
            <a:off x="3127248"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20" name="Text 18"/>
          <p:cNvSpPr/>
          <p:nvPr/>
        </p:nvSpPr>
        <p:spPr>
          <a:xfrm>
            <a:off x="3127248"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21" name="Shape 19"/>
          <p:cNvSpPr/>
          <p:nvPr/>
        </p:nvSpPr>
        <p:spPr>
          <a:xfrm>
            <a:off x="3986784" y="2121408"/>
            <a:ext cx="749808" cy="1143000"/>
          </a:xfrm>
          <a:prstGeom prst="roundRect">
            <a:avLst>
              <a:gd name="adj" fmla="val 8537"/>
            </a:avLst>
          </a:prstGeom>
          <a:solidFill>
            <a:srgbClr val="E7F1E8"/>
          </a:solidFill>
          <a:ln w="12700">
            <a:solidFill>
              <a:srgbClr val="196B24"/>
            </a:solidFill>
            <a:prstDash val="solid"/>
          </a:ln>
        </p:spPr>
      </p:sp>
      <p:sp>
        <p:nvSpPr>
          <p:cNvPr id="22" name="Text 20"/>
          <p:cNvSpPr/>
          <p:nvPr/>
        </p:nvSpPr>
        <p:spPr>
          <a:xfrm>
            <a:off x="3986784"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23" name="Text 21"/>
          <p:cNvSpPr/>
          <p:nvPr/>
        </p:nvSpPr>
        <p:spPr>
          <a:xfrm>
            <a:off x="3986784"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24" name="Shape 22"/>
          <p:cNvSpPr/>
          <p:nvPr/>
        </p:nvSpPr>
        <p:spPr>
          <a:xfrm>
            <a:off x="4846320" y="2121408"/>
            <a:ext cx="749808" cy="1143000"/>
          </a:xfrm>
          <a:prstGeom prst="roundRect">
            <a:avLst>
              <a:gd name="adj" fmla="val 8537"/>
            </a:avLst>
          </a:prstGeom>
          <a:solidFill>
            <a:srgbClr val="E7F1E8"/>
          </a:solidFill>
          <a:ln w="12700">
            <a:solidFill>
              <a:srgbClr val="196B24"/>
            </a:solidFill>
            <a:prstDash val="solid"/>
          </a:ln>
        </p:spPr>
      </p:sp>
      <p:sp>
        <p:nvSpPr>
          <p:cNvPr id="25" name="Text 23"/>
          <p:cNvSpPr/>
          <p:nvPr/>
        </p:nvSpPr>
        <p:spPr>
          <a:xfrm>
            <a:off x="4846320"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26" name="Text 24"/>
          <p:cNvSpPr/>
          <p:nvPr/>
        </p:nvSpPr>
        <p:spPr>
          <a:xfrm>
            <a:off x="4846320"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27" name="Shape 25"/>
          <p:cNvSpPr/>
          <p:nvPr/>
        </p:nvSpPr>
        <p:spPr>
          <a:xfrm>
            <a:off x="5705856" y="2121408"/>
            <a:ext cx="749808" cy="1143000"/>
          </a:xfrm>
          <a:prstGeom prst="roundRect">
            <a:avLst>
              <a:gd name="adj" fmla="val 8537"/>
            </a:avLst>
          </a:prstGeom>
          <a:solidFill>
            <a:srgbClr val="E7F1E8"/>
          </a:solidFill>
          <a:ln w="12700">
            <a:solidFill>
              <a:srgbClr val="196B24"/>
            </a:solidFill>
            <a:prstDash val="solid"/>
          </a:ln>
        </p:spPr>
      </p:sp>
      <p:sp>
        <p:nvSpPr>
          <p:cNvPr id="28" name="Text 26"/>
          <p:cNvSpPr/>
          <p:nvPr/>
        </p:nvSpPr>
        <p:spPr>
          <a:xfrm>
            <a:off x="5705856"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29" name="Text 27"/>
          <p:cNvSpPr/>
          <p:nvPr/>
        </p:nvSpPr>
        <p:spPr>
          <a:xfrm>
            <a:off x="5705856"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30" name="Shape 28"/>
          <p:cNvSpPr/>
          <p:nvPr/>
        </p:nvSpPr>
        <p:spPr>
          <a:xfrm>
            <a:off x="6565392" y="2121408"/>
            <a:ext cx="749808" cy="1143000"/>
          </a:xfrm>
          <a:prstGeom prst="roundRect">
            <a:avLst>
              <a:gd name="adj" fmla="val 8537"/>
            </a:avLst>
          </a:prstGeom>
          <a:solidFill>
            <a:srgbClr val="E7F1E8"/>
          </a:solidFill>
          <a:ln w="12700">
            <a:solidFill>
              <a:srgbClr val="196B24"/>
            </a:solidFill>
            <a:prstDash val="solid"/>
          </a:ln>
        </p:spPr>
      </p:sp>
      <p:sp>
        <p:nvSpPr>
          <p:cNvPr id="31" name="Text 29"/>
          <p:cNvSpPr/>
          <p:nvPr/>
        </p:nvSpPr>
        <p:spPr>
          <a:xfrm>
            <a:off x="6565392"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32" name="Text 30"/>
          <p:cNvSpPr/>
          <p:nvPr/>
        </p:nvSpPr>
        <p:spPr>
          <a:xfrm>
            <a:off x="6565392"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33" name="Shape 31"/>
          <p:cNvSpPr/>
          <p:nvPr/>
        </p:nvSpPr>
        <p:spPr>
          <a:xfrm>
            <a:off x="7424928" y="2121408"/>
            <a:ext cx="749808" cy="1143000"/>
          </a:xfrm>
          <a:prstGeom prst="roundRect">
            <a:avLst>
              <a:gd name="adj" fmla="val 8537"/>
            </a:avLst>
          </a:prstGeom>
          <a:solidFill>
            <a:srgbClr val="E7F1E8"/>
          </a:solidFill>
          <a:ln w="12700">
            <a:solidFill>
              <a:srgbClr val="196B24"/>
            </a:solidFill>
            <a:prstDash val="solid"/>
          </a:ln>
        </p:spPr>
      </p:sp>
      <p:sp>
        <p:nvSpPr>
          <p:cNvPr id="34" name="Text 32"/>
          <p:cNvSpPr/>
          <p:nvPr/>
        </p:nvSpPr>
        <p:spPr>
          <a:xfrm>
            <a:off x="7424928"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35" name="Text 33"/>
          <p:cNvSpPr/>
          <p:nvPr/>
        </p:nvSpPr>
        <p:spPr>
          <a:xfrm>
            <a:off x="7424928"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36" name="Shape 34"/>
          <p:cNvSpPr/>
          <p:nvPr/>
        </p:nvSpPr>
        <p:spPr>
          <a:xfrm>
            <a:off x="8284464" y="2121408"/>
            <a:ext cx="749808" cy="1143000"/>
          </a:xfrm>
          <a:prstGeom prst="roundRect">
            <a:avLst>
              <a:gd name="adj" fmla="val 8537"/>
            </a:avLst>
          </a:prstGeom>
          <a:solidFill>
            <a:srgbClr val="E7F1E8"/>
          </a:solidFill>
          <a:ln w="12700">
            <a:solidFill>
              <a:srgbClr val="196B24"/>
            </a:solidFill>
            <a:prstDash val="solid"/>
          </a:ln>
        </p:spPr>
      </p:sp>
      <p:sp>
        <p:nvSpPr>
          <p:cNvPr id="37" name="Text 35"/>
          <p:cNvSpPr/>
          <p:nvPr/>
        </p:nvSpPr>
        <p:spPr>
          <a:xfrm>
            <a:off x="8284464"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38" name="Text 36"/>
          <p:cNvSpPr/>
          <p:nvPr/>
        </p:nvSpPr>
        <p:spPr>
          <a:xfrm>
            <a:off x="8284464"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39" name="Shape 37"/>
          <p:cNvSpPr/>
          <p:nvPr/>
        </p:nvSpPr>
        <p:spPr>
          <a:xfrm>
            <a:off x="9144000" y="2121408"/>
            <a:ext cx="749808" cy="1143000"/>
          </a:xfrm>
          <a:prstGeom prst="roundRect">
            <a:avLst>
              <a:gd name="adj" fmla="val 8537"/>
            </a:avLst>
          </a:prstGeom>
          <a:solidFill>
            <a:srgbClr val="E7F1E8"/>
          </a:solidFill>
          <a:ln w="12700">
            <a:solidFill>
              <a:srgbClr val="196B24"/>
            </a:solidFill>
            <a:prstDash val="solid"/>
          </a:ln>
        </p:spPr>
      </p:sp>
      <p:sp>
        <p:nvSpPr>
          <p:cNvPr id="40" name="Text 38"/>
          <p:cNvSpPr/>
          <p:nvPr/>
        </p:nvSpPr>
        <p:spPr>
          <a:xfrm>
            <a:off x="9144000" y="2249424"/>
            <a:ext cx="749808" cy="475488"/>
          </a:xfrm>
          <a:prstGeom prst="rect">
            <a:avLst/>
          </a:prstGeom>
          <a:noFill/>
          <a:ln/>
        </p:spPr>
        <p:txBody>
          <a:bodyPr wrap="square" lIns="0" tIns="0" rIns="0" bIns="0" rtlCol="0" anchor="ctr"/>
          <a:lstStyle/>
          <a:p>
            <a:pPr algn="ctr" indent="0" marL="0">
              <a:buNone/>
            </a:pPr>
            <a:r>
              <a:rPr lang="en-US" sz="1500" b="1" dirty="0">
                <a:solidFill>
                  <a:srgbClr val="196B24"/>
                </a:solidFill>
                <a:latin typeface="Malgun Gothic" pitchFamily="34" charset="0"/>
                <a:ea typeface="Malgun Gothic" pitchFamily="34" charset="-122"/>
                <a:cs typeface="Malgun Gothic" pitchFamily="34" charset="-120"/>
              </a:rPr>
              <a:t>CL</a:t>
            </a:r>
            <a:endParaRPr lang="en-US" sz="1500" dirty="0"/>
          </a:p>
        </p:txBody>
      </p:sp>
      <p:sp>
        <p:nvSpPr>
          <p:cNvPr id="41" name="Text 39"/>
          <p:cNvSpPr/>
          <p:nvPr/>
        </p:nvSpPr>
        <p:spPr>
          <a:xfrm>
            <a:off x="9144000"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usable</a:t>
            </a:r>
            <a:endParaRPr lang="en-US" sz="1000" dirty="0"/>
          </a:p>
        </p:txBody>
      </p:sp>
      <p:sp>
        <p:nvSpPr>
          <p:cNvPr id="42" name="Shape 40"/>
          <p:cNvSpPr/>
          <p:nvPr/>
        </p:nvSpPr>
        <p:spPr>
          <a:xfrm>
            <a:off x="10003536" y="2121408"/>
            <a:ext cx="749808" cy="1143000"/>
          </a:xfrm>
          <a:prstGeom prst="roundRect">
            <a:avLst>
              <a:gd name="adj" fmla="val 8537"/>
            </a:avLst>
          </a:prstGeom>
          <a:solidFill>
            <a:srgbClr val="FBEDE2"/>
          </a:solidFill>
          <a:ln w="12700">
            <a:solidFill>
              <a:srgbClr val="E97132"/>
            </a:solidFill>
            <a:prstDash val="solid"/>
          </a:ln>
        </p:spPr>
      </p:sp>
      <p:sp>
        <p:nvSpPr>
          <p:cNvPr id="43" name="Text 41"/>
          <p:cNvSpPr/>
          <p:nvPr/>
        </p:nvSpPr>
        <p:spPr>
          <a:xfrm>
            <a:off x="10003536" y="2249424"/>
            <a:ext cx="749808" cy="475488"/>
          </a:xfrm>
          <a:prstGeom prst="rect">
            <a:avLst/>
          </a:prstGeom>
          <a:noFill/>
          <a:ln/>
        </p:spPr>
        <p:txBody>
          <a:bodyPr wrap="square" lIns="0" tIns="0" rIns="0" bIns="0" rtlCol="0" anchor="ctr"/>
          <a:lstStyle/>
          <a:p>
            <a:pPr algn="ctr" indent="0" marL="0">
              <a:buNone/>
            </a:pPr>
            <a:r>
              <a:rPr lang="en-US" sz="1500" b="1" dirty="0">
                <a:solidFill>
                  <a:srgbClr val="E97132"/>
                </a:solidFill>
                <a:latin typeface="Malgun Gothic" pitchFamily="34" charset="0"/>
                <a:ea typeface="Malgun Gothic" pitchFamily="34" charset="-122"/>
                <a:cs typeface="Malgun Gothic" pitchFamily="34" charset="-120"/>
              </a:rPr>
              <a:t>no</a:t>
            </a:r>
            <a:endParaRPr lang="en-US" sz="1500" dirty="0"/>
          </a:p>
        </p:txBody>
      </p:sp>
      <p:sp>
        <p:nvSpPr>
          <p:cNvPr id="44" name="Text 42"/>
          <p:cNvSpPr/>
          <p:nvPr/>
        </p:nvSpPr>
        <p:spPr>
          <a:xfrm>
            <a:off x="10003536"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reject</a:t>
            </a:r>
            <a:endParaRPr lang="en-US" sz="1000" dirty="0"/>
          </a:p>
        </p:txBody>
      </p:sp>
      <p:sp>
        <p:nvSpPr>
          <p:cNvPr id="45" name="Shape 43"/>
          <p:cNvSpPr/>
          <p:nvPr/>
        </p:nvSpPr>
        <p:spPr>
          <a:xfrm>
            <a:off x="10863072" y="2121408"/>
            <a:ext cx="749808" cy="1143000"/>
          </a:xfrm>
          <a:prstGeom prst="roundRect">
            <a:avLst>
              <a:gd name="adj" fmla="val 8537"/>
            </a:avLst>
          </a:prstGeom>
          <a:solidFill>
            <a:srgbClr val="FBEDE2"/>
          </a:solidFill>
          <a:ln w="12700">
            <a:solidFill>
              <a:srgbClr val="E97132"/>
            </a:solidFill>
            <a:prstDash val="solid"/>
          </a:ln>
        </p:spPr>
      </p:sp>
      <p:sp>
        <p:nvSpPr>
          <p:cNvPr id="46" name="Text 44"/>
          <p:cNvSpPr/>
          <p:nvPr/>
        </p:nvSpPr>
        <p:spPr>
          <a:xfrm>
            <a:off x="10863072" y="2249424"/>
            <a:ext cx="749808" cy="475488"/>
          </a:xfrm>
          <a:prstGeom prst="rect">
            <a:avLst/>
          </a:prstGeom>
          <a:noFill/>
          <a:ln/>
        </p:spPr>
        <p:txBody>
          <a:bodyPr wrap="square" lIns="0" tIns="0" rIns="0" bIns="0" rtlCol="0" anchor="ctr"/>
          <a:lstStyle/>
          <a:p>
            <a:pPr algn="ctr" indent="0" marL="0">
              <a:buNone/>
            </a:pPr>
            <a:r>
              <a:rPr lang="en-US" sz="1500" b="1" dirty="0">
                <a:solidFill>
                  <a:srgbClr val="E97132"/>
                </a:solidFill>
                <a:latin typeface="Malgun Gothic" pitchFamily="34" charset="0"/>
                <a:ea typeface="Malgun Gothic" pitchFamily="34" charset="-122"/>
                <a:cs typeface="Malgun Gothic" pitchFamily="34" charset="-120"/>
              </a:rPr>
              <a:t>no</a:t>
            </a:r>
            <a:endParaRPr lang="en-US" sz="1500" dirty="0"/>
          </a:p>
        </p:txBody>
      </p:sp>
      <p:sp>
        <p:nvSpPr>
          <p:cNvPr id="47" name="Text 45"/>
          <p:cNvSpPr/>
          <p:nvPr/>
        </p:nvSpPr>
        <p:spPr>
          <a:xfrm>
            <a:off x="10863072" y="2743200"/>
            <a:ext cx="749808" cy="384048"/>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reject</a:t>
            </a:r>
            <a:endParaRPr lang="en-US" sz="1000" dirty="0"/>
          </a:p>
        </p:txBody>
      </p:sp>
      <p:sp>
        <p:nvSpPr>
          <p:cNvPr id="48" name="Shape 46"/>
          <p:cNvSpPr/>
          <p:nvPr/>
        </p:nvSpPr>
        <p:spPr>
          <a:xfrm>
            <a:off x="1920240" y="3584448"/>
            <a:ext cx="2602992" cy="1280160"/>
          </a:xfrm>
          <a:prstGeom prst="roundRect">
            <a:avLst>
              <a:gd name="adj" fmla="val 5000"/>
            </a:avLst>
          </a:prstGeom>
          <a:solidFill>
            <a:srgbClr val="F2F5F7"/>
          </a:solidFill>
          <a:ln w="12700">
            <a:solidFill>
              <a:srgbClr val="C9D3DA"/>
            </a:solidFill>
            <a:prstDash val="solid"/>
          </a:ln>
        </p:spPr>
      </p:sp>
      <p:sp>
        <p:nvSpPr>
          <p:cNvPr id="49" name="Text 47"/>
          <p:cNvSpPr/>
          <p:nvPr/>
        </p:nvSpPr>
        <p:spPr>
          <a:xfrm>
            <a:off x="1920240" y="3694176"/>
            <a:ext cx="2602992" cy="614477"/>
          </a:xfrm>
          <a:prstGeom prst="rect">
            <a:avLst/>
          </a:prstGeom>
          <a:noFill/>
          <a:ln/>
        </p:spPr>
        <p:txBody>
          <a:bodyPr wrap="square" lIns="0" tIns="0" rIns="0" bIns="0" rtlCol="0" anchor="ctr"/>
          <a:lstStyle/>
          <a:p>
            <a:pPr algn="ctr" indent="0" marL="0">
              <a:buNone/>
            </a:pPr>
            <a:r>
              <a:rPr lang="en-US" sz="3200" b="1" dirty="0">
                <a:solidFill>
                  <a:srgbClr val="156082"/>
                </a:solidFill>
                <a:latin typeface="Malgun Gothic" pitchFamily="34" charset="0"/>
                <a:ea typeface="Malgun Gothic" pitchFamily="34" charset="-122"/>
                <a:cs typeface="Malgun Gothic" pitchFamily="34" charset="-120"/>
              </a:rPr>
              <a:t>125%</a:t>
            </a:r>
            <a:endParaRPr lang="en-US" sz="3200" dirty="0"/>
          </a:p>
        </p:txBody>
      </p:sp>
      <p:sp>
        <p:nvSpPr>
          <p:cNvPr id="50" name="Text 48"/>
          <p:cNvSpPr/>
          <p:nvPr/>
        </p:nvSpPr>
        <p:spPr>
          <a:xfrm>
            <a:off x="2011680" y="4326941"/>
            <a:ext cx="2420112" cy="460858"/>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cows to enrol per embryo batch</a:t>
            </a:r>
            <a:endParaRPr lang="en-US" sz="1100" dirty="0"/>
          </a:p>
        </p:txBody>
      </p:sp>
      <p:sp>
        <p:nvSpPr>
          <p:cNvPr id="51" name="Shape 49"/>
          <p:cNvSpPr/>
          <p:nvPr/>
        </p:nvSpPr>
        <p:spPr>
          <a:xfrm>
            <a:off x="4779264" y="3584448"/>
            <a:ext cx="2602992" cy="1280160"/>
          </a:xfrm>
          <a:prstGeom prst="roundRect">
            <a:avLst>
              <a:gd name="adj" fmla="val 5000"/>
            </a:avLst>
          </a:prstGeom>
          <a:solidFill>
            <a:srgbClr val="F2F5F7"/>
          </a:solidFill>
          <a:ln w="12700">
            <a:solidFill>
              <a:srgbClr val="C9D3DA"/>
            </a:solidFill>
            <a:prstDash val="solid"/>
          </a:ln>
        </p:spPr>
      </p:sp>
      <p:sp>
        <p:nvSpPr>
          <p:cNvPr id="52" name="Text 50"/>
          <p:cNvSpPr/>
          <p:nvPr/>
        </p:nvSpPr>
        <p:spPr>
          <a:xfrm>
            <a:off x="4779264" y="3694176"/>
            <a:ext cx="2602992" cy="614477"/>
          </a:xfrm>
          <a:prstGeom prst="rect">
            <a:avLst/>
          </a:prstGeom>
          <a:noFill/>
          <a:ln/>
        </p:spPr>
        <p:txBody>
          <a:bodyPr wrap="square" lIns="0" tIns="0" rIns="0" bIns="0" rtlCol="0" anchor="ctr"/>
          <a:lstStyle/>
          <a:p>
            <a:pPr algn="ctr" indent="0" marL="0">
              <a:buNone/>
            </a:pPr>
            <a:r>
              <a:rPr lang="en-US" sz="3000" b="1" dirty="0">
                <a:solidFill>
                  <a:srgbClr val="196B24"/>
                </a:solidFill>
                <a:latin typeface="Malgun Gothic" pitchFamily="34" charset="0"/>
                <a:ea typeface="Malgun Gothic" pitchFamily="34" charset="-122"/>
                <a:cs typeface="Malgun Gothic" pitchFamily="34" charset="-120"/>
              </a:rPr>
              <a:t>70–85%</a:t>
            </a:r>
            <a:endParaRPr lang="en-US" sz="3000" dirty="0"/>
          </a:p>
        </p:txBody>
      </p:sp>
      <p:sp>
        <p:nvSpPr>
          <p:cNvPr id="53" name="Text 51"/>
          <p:cNvSpPr/>
          <p:nvPr/>
        </p:nvSpPr>
        <p:spPr>
          <a:xfrm>
            <a:off x="4870704" y="4326941"/>
            <a:ext cx="2420112" cy="460858"/>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usually usable on the day</a:t>
            </a:r>
            <a:endParaRPr lang="en-US" sz="1100" dirty="0"/>
          </a:p>
        </p:txBody>
      </p:sp>
      <p:sp>
        <p:nvSpPr>
          <p:cNvPr id="54" name="Shape 52"/>
          <p:cNvSpPr/>
          <p:nvPr/>
        </p:nvSpPr>
        <p:spPr>
          <a:xfrm>
            <a:off x="7638288" y="3584448"/>
            <a:ext cx="2602992" cy="1280160"/>
          </a:xfrm>
          <a:prstGeom prst="roundRect">
            <a:avLst>
              <a:gd name="adj" fmla="val 5000"/>
            </a:avLst>
          </a:prstGeom>
          <a:solidFill>
            <a:srgbClr val="F2F5F7"/>
          </a:solidFill>
          <a:ln w="12700">
            <a:solidFill>
              <a:srgbClr val="C9D3DA"/>
            </a:solidFill>
            <a:prstDash val="solid"/>
          </a:ln>
        </p:spPr>
      </p:sp>
      <p:sp>
        <p:nvSpPr>
          <p:cNvPr id="55" name="Text 53"/>
          <p:cNvSpPr/>
          <p:nvPr/>
        </p:nvSpPr>
        <p:spPr>
          <a:xfrm>
            <a:off x="7638288" y="3694176"/>
            <a:ext cx="2602992" cy="614477"/>
          </a:xfrm>
          <a:prstGeom prst="rect">
            <a:avLst/>
          </a:prstGeom>
          <a:noFill/>
          <a:ln/>
        </p:spPr>
        <p:txBody>
          <a:bodyPr wrap="square" lIns="0" tIns="0" rIns="0" bIns="0" rtlCol="0" anchor="ctr"/>
          <a:lstStyle/>
          <a:p>
            <a:pPr algn="ctr" indent="0" marL="0">
              <a:buNone/>
            </a:pPr>
            <a:r>
              <a:rPr lang="en-US" sz="2400" b="1" dirty="0">
                <a:solidFill>
                  <a:srgbClr val="E97132"/>
                </a:solidFill>
                <a:latin typeface="Malgun Gothic" pitchFamily="34" charset="0"/>
                <a:ea typeface="Malgun Gothic" pitchFamily="34" charset="-122"/>
                <a:cs typeface="Malgun Gothic" pitchFamily="34" charset="-120"/>
              </a:rPr>
              <a:t>below 70%</a:t>
            </a:r>
            <a:endParaRPr lang="en-US" sz="2400" dirty="0"/>
          </a:p>
        </p:txBody>
      </p:sp>
      <p:sp>
        <p:nvSpPr>
          <p:cNvPr id="56" name="Text 54"/>
          <p:cNvSpPr/>
          <p:nvPr/>
        </p:nvSpPr>
        <p:spPr>
          <a:xfrm>
            <a:off x="7729728" y="4326941"/>
            <a:ext cx="2420112" cy="460858"/>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warning — feed, cycling, or protocol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Cold chain — the invisible failure</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One cow fails → look at the cow. The whole group fails → look at the bottle.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 hormone that sat in a hot truck is not the drug written on the label any more.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21</a:t>
            </a:r>
            <a:endParaRPr lang="en-US" sz="900" dirty="0"/>
          </a:p>
        </p:txBody>
      </p:sp>
      <p:sp>
        <p:nvSpPr>
          <p:cNvPr id="8" name="Shape 6"/>
          <p:cNvSpPr/>
          <p:nvPr/>
        </p:nvSpPr>
        <p:spPr>
          <a:xfrm>
            <a:off x="548640" y="1984248"/>
            <a:ext cx="2560320" cy="1234440"/>
          </a:xfrm>
          <a:prstGeom prst="roundRect">
            <a:avLst>
              <a:gd name="adj" fmla="val 5185"/>
            </a:avLst>
          </a:prstGeom>
          <a:solidFill>
            <a:srgbClr val="F2F5F7"/>
          </a:solidFill>
          <a:ln w="12700">
            <a:solidFill>
              <a:srgbClr val="C9D3DA"/>
            </a:solidFill>
            <a:prstDash val="solid"/>
          </a:ln>
        </p:spPr>
      </p:sp>
      <p:sp>
        <p:nvSpPr>
          <p:cNvPr id="9" name="Text 7"/>
          <p:cNvSpPr/>
          <p:nvPr/>
        </p:nvSpPr>
        <p:spPr>
          <a:xfrm>
            <a:off x="621792" y="2075688"/>
            <a:ext cx="241401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STORE</a:t>
            </a:r>
            <a:endParaRPr lang="en-US" sz="1200" dirty="0"/>
          </a:p>
        </p:txBody>
      </p:sp>
      <p:sp>
        <p:nvSpPr>
          <p:cNvPr id="10" name="Text 8"/>
          <p:cNvSpPr/>
          <p:nvPr/>
        </p:nvSpPr>
        <p:spPr>
          <a:xfrm>
            <a:off x="621792" y="2386584"/>
            <a:ext cx="2414016" cy="74066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2–8 °C</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Do not freeze</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Out of the light</a:t>
            </a:r>
            <a:endParaRPr lang="en-US" sz="1050" dirty="0"/>
          </a:p>
        </p:txBody>
      </p:sp>
      <p:sp>
        <p:nvSpPr>
          <p:cNvPr id="11" name="Shape 9"/>
          <p:cNvSpPr/>
          <p:nvPr/>
        </p:nvSpPr>
        <p:spPr>
          <a:xfrm>
            <a:off x="3145536" y="2500884"/>
            <a:ext cx="201168" cy="201168"/>
          </a:xfrm>
          <a:prstGeom prst="rightArrow">
            <a:avLst/>
          </a:prstGeom>
          <a:solidFill>
            <a:srgbClr val="156082"/>
          </a:solidFill>
          <a:ln w="12700">
            <a:solidFill>
              <a:srgbClr val="156082"/>
            </a:solidFill>
            <a:prstDash val="solid"/>
          </a:ln>
        </p:spPr>
      </p:sp>
      <p:sp>
        <p:nvSpPr>
          <p:cNvPr id="12" name="Shape 10"/>
          <p:cNvSpPr/>
          <p:nvPr/>
        </p:nvSpPr>
        <p:spPr>
          <a:xfrm>
            <a:off x="3383280" y="1984248"/>
            <a:ext cx="2560320" cy="1234440"/>
          </a:xfrm>
          <a:prstGeom prst="roundRect">
            <a:avLst>
              <a:gd name="adj" fmla="val 5185"/>
            </a:avLst>
          </a:prstGeom>
          <a:solidFill>
            <a:srgbClr val="F2F5F7"/>
          </a:solidFill>
          <a:ln w="12700">
            <a:solidFill>
              <a:srgbClr val="C9D3DA"/>
            </a:solidFill>
            <a:prstDash val="solid"/>
          </a:ln>
        </p:spPr>
      </p:sp>
      <p:sp>
        <p:nvSpPr>
          <p:cNvPr id="13" name="Text 11"/>
          <p:cNvSpPr/>
          <p:nvPr/>
        </p:nvSpPr>
        <p:spPr>
          <a:xfrm>
            <a:off x="3456432" y="2075688"/>
            <a:ext cx="241401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CARRY</a:t>
            </a:r>
            <a:endParaRPr lang="en-US" sz="1200" dirty="0"/>
          </a:p>
        </p:txBody>
      </p:sp>
      <p:sp>
        <p:nvSpPr>
          <p:cNvPr id="14" name="Text 12"/>
          <p:cNvSpPr/>
          <p:nvPr/>
        </p:nvSpPr>
        <p:spPr>
          <a:xfrm>
            <a:off x="3456432" y="2386584"/>
            <a:ext cx="2414016" cy="74066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Cool box</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Ice pack NOT touching</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the bottle</a:t>
            </a:r>
            <a:endParaRPr lang="en-US" sz="1050" dirty="0"/>
          </a:p>
        </p:txBody>
      </p:sp>
      <p:sp>
        <p:nvSpPr>
          <p:cNvPr id="15" name="Shape 13"/>
          <p:cNvSpPr/>
          <p:nvPr/>
        </p:nvSpPr>
        <p:spPr>
          <a:xfrm>
            <a:off x="5980176" y="2500884"/>
            <a:ext cx="201168" cy="201168"/>
          </a:xfrm>
          <a:prstGeom prst="rightArrow">
            <a:avLst/>
          </a:prstGeom>
          <a:solidFill>
            <a:srgbClr val="156082"/>
          </a:solidFill>
          <a:ln w="12700">
            <a:solidFill>
              <a:srgbClr val="156082"/>
            </a:solidFill>
            <a:prstDash val="solid"/>
          </a:ln>
        </p:spPr>
      </p:sp>
      <p:sp>
        <p:nvSpPr>
          <p:cNvPr id="16" name="Shape 14"/>
          <p:cNvSpPr/>
          <p:nvPr/>
        </p:nvSpPr>
        <p:spPr>
          <a:xfrm>
            <a:off x="6217920" y="1984248"/>
            <a:ext cx="2560320" cy="1234440"/>
          </a:xfrm>
          <a:prstGeom prst="roundRect">
            <a:avLst>
              <a:gd name="adj" fmla="val 5185"/>
            </a:avLst>
          </a:prstGeom>
          <a:solidFill>
            <a:srgbClr val="F2F5F7"/>
          </a:solidFill>
          <a:ln w="12700">
            <a:solidFill>
              <a:srgbClr val="C9D3DA"/>
            </a:solidFill>
            <a:prstDash val="solid"/>
          </a:ln>
        </p:spPr>
      </p:sp>
      <p:sp>
        <p:nvSpPr>
          <p:cNvPr id="17" name="Text 15"/>
          <p:cNvSpPr/>
          <p:nvPr/>
        </p:nvSpPr>
        <p:spPr>
          <a:xfrm>
            <a:off x="6291072" y="2075688"/>
            <a:ext cx="241401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IN THE FIELD</a:t>
            </a:r>
            <a:endParaRPr lang="en-US" sz="1200" dirty="0"/>
          </a:p>
        </p:txBody>
      </p:sp>
      <p:sp>
        <p:nvSpPr>
          <p:cNvPr id="18" name="Text 16"/>
          <p:cNvSpPr/>
          <p:nvPr/>
        </p:nvSpPr>
        <p:spPr>
          <a:xfrm>
            <a:off x="6291072" y="2386584"/>
            <a:ext cx="2414016" cy="74066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Insulated bag</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NEVER the dashboard</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NEVER a closed car</a:t>
            </a:r>
            <a:endParaRPr lang="en-US" sz="1050" dirty="0"/>
          </a:p>
        </p:txBody>
      </p:sp>
      <p:sp>
        <p:nvSpPr>
          <p:cNvPr id="19" name="Shape 17"/>
          <p:cNvSpPr/>
          <p:nvPr/>
        </p:nvSpPr>
        <p:spPr>
          <a:xfrm>
            <a:off x="8814816" y="2500884"/>
            <a:ext cx="201168" cy="201168"/>
          </a:xfrm>
          <a:prstGeom prst="rightArrow">
            <a:avLst/>
          </a:prstGeom>
          <a:solidFill>
            <a:srgbClr val="156082"/>
          </a:solidFill>
          <a:ln w="12700">
            <a:solidFill>
              <a:srgbClr val="156082"/>
            </a:solidFill>
            <a:prstDash val="solid"/>
          </a:ln>
        </p:spPr>
      </p:sp>
      <p:sp>
        <p:nvSpPr>
          <p:cNvPr id="20" name="Shape 18"/>
          <p:cNvSpPr/>
          <p:nvPr/>
        </p:nvSpPr>
        <p:spPr>
          <a:xfrm>
            <a:off x="9052560" y="1984248"/>
            <a:ext cx="2560320" cy="1234440"/>
          </a:xfrm>
          <a:prstGeom prst="roundRect">
            <a:avLst>
              <a:gd name="adj" fmla="val 5185"/>
            </a:avLst>
          </a:prstGeom>
          <a:solidFill>
            <a:srgbClr val="F2F5F7"/>
          </a:solidFill>
          <a:ln w="12700">
            <a:solidFill>
              <a:srgbClr val="C9D3DA"/>
            </a:solidFill>
            <a:prstDash val="solid"/>
          </a:ln>
        </p:spPr>
      </p:sp>
      <p:sp>
        <p:nvSpPr>
          <p:cNvPr id="21" name="Text 19"/>
          <p:cNvSpPr/>
          <p:nvPr/>
        </p:nvSpPr>
        <p:spPr>
          <a:xfrm>
            <a:off x="9125712" y="2075688"/>
            <a:ext cx="241401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RECORD</a:t>
            </a:r>
            <a:endParaRPr lang="en-US" sz="1200" dirty="0"/>
          </a:p>
        </p:txBody>
      </p:sp>
      <p:sp>
        <p:nvSpPr>
          <p:cNvPr id="22" name="Text 20"/>
          <p:cNvSpPr/>
          <p:nvPr/>
        </p:nvSpPr>
        <p:spPr>
          <a:xfrm>
            <a:off x="9125712" y="2386584"/>
            <a:ext cx="2414016" cy="74066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Product, BATCH number</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dose, date, cow, operator</a:t>
            </a:r>
            <a:endParaRPr lang="en-US" sz="1050" dirty="0"/>
          </a:p>
        </p:txBody>
      </p:sp>
      <p:sp>
        <p:nvSpPr>
          <p:cNvPr id="23" name="Shape 21"/>
          <p:cNvSpPr/>
          <p:nvPr/>
        </p:nvSpPr>
        <p:spPr>
          <a:xfrm>
            <a:off x="548640" y="3584448"/>
            <a:ext cx="11064240" cy="1234440"/>
          </a:xfrm>
          <a:prstGeom prst="roundRect">
            <a:avLst>
              <a:gd name="adj" fmla="val 5926"/>
            </a:avLst>
          </a:prstGeom>
          <a:solidFill>
            <a:srgbClr val="FBEDE2"/>
          </a:solidFill>
          <a:ln w="12700">
            <a:solidFill>
              <a:srgbClr val="E97132"/>
            </a:solidFill>
            <a:prstDash val="solid"/>
          </a:ln>
        </p:spPr>
      </p:sp>
      <p:sp>
        <p:nvSpPr>
          <p:cNvPr id="24" name="Text 22"/>
          <p:cNvSpPr/>
          <p:nvPr/>
        </p:nvSpPr>
        <p:spPr>
          <a:xfrm>
            <a:off x="548640" y="3749040"/>
            <a:ext cx="11064240" cy="420624"/>
          </a:xfrm>
          <a:prstGeom prst="rect">
            <a:avLst/>
          </a:prstGeom>
          <a:noFill/>
          <a:ln/>
        </p:spPr>
        <p:txBody>
          <a:bodyPr wrap="square" lIns="0" tIns="0" rIns="0" bIns="0" rtlCol="0" anchor="ctr"/>
          <a:lstStyle/>
          <a:p>
            <a:pPr algn="ctr" indent="0" marL="0">
              <a:buNone/>
            </a:pPr>
            <a:r>
              <a:rPr lang="en-US" sz="1800" b="1" dirty="0">
                <a:solidFill>
                  <a:srgbClr val="0E2841"/>
                </a:solidFill>
                <a:latin typeface="Malgun Gothic" pitchFamily="34" charset="0"/>
                <a:ea typeface="Malgun Gothic" pitchFamily="34" charset="-122"/>
                <a:cs typeface="Malgun Gothic" pitchFamily="34" charset="-120"/>
              </a:rPr>
              <a:t>One cow fails  →  look at the COW.</a:t>
            </a:r>
            <a:endParaRPr lang="en-US" sz="1800" dirty="0"/>
          </a:p>
        </p:txBody>
      </p:sp>
      <p:sp>
        <p:nvSpPr>
          <p:cNvPr id="25" name="Text 23"/>
          <p:cNvSpPr/>
          <p:nvPr/>
        </p:nvSpPr>
        <p:spPr>
          <a:xfrm>
            <a:off x="548640" y="4206240"/>
            <a:ext cx="11064240" cy="420624"/>
          </a:xfrm>
          <a:prstGeom prst="rect">
            <a:avLst/>
          </a:prstGeom>
          <a:noFill/>
          <a:ln/>
        </p:spPr>
        <p:txBody>
          <a:bodyPr wrap="square" lIns="0" tIns="0" rIns="0" bIns="0" rtlCol="0" anchor="ctr"/>
          <a:lstStyle/>
          <a:p>
            <a:pPr algn="ctr" indent="0" marL="0">
              <a:buNone/>
            </a:pPr>
            <a:r>
              <a:rPr lang="en-US" sz="1800" b="1" dirty="0">
                <a:solidFill>
                  <a:srgbClr val="0E2841"/>
                </a:solidFill>
                <a:latin typeface="Malgun Gothic" pitchFamily="34" charset="0"/>
                <a:ea typeface="Malgun Gothic" pitchFamily="34" charset="-122"/>
                <a:cs typeface="Malgun Gothic" pitchFamily="34" charset="-120"/>
              </a:rPr>
              <a:t>The whole group fails  →  look at the BOTTLE.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When it fails, look in this order</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Most people start at number 4. Start at number 1.</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The cow. The cold chain. The calendar. Then your hands.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22</a:t>
            </a:r>
            <a:endParaRPr lang="en-US" sz="900" dirty="0"/>
          </a:p>
        </p:txBody>
      </p:sp>
      <p:sp>
        <p:nvSpPr>
          <p:cNvPr id="8" name="Shape 6"/>
          <p:cNvSpPr/>
          <p:nvPr/>
        </p:nvSpPr>
        <p:spPr>
          <a:xfrm>
            <a:off x="548640" y="1801368"/>
            <a:ext cx="777240" cy="777240"/>
          </a:xfrm>
          <a:prstGeom prst="roundRect">
            <a:avLst>
              <a:gd name="adj" fmla="val 9412"/>
            </a:avLst>
          </a:prstGeom>
          <a:solidFill>
            <a:srgbClr val="156082"/>
          </a:solidFill>
          <a:ln w="12700">
            <a:solidFill>
              <a:srgbClr val="156082"/>
            </a:solidFill>
            <a:prstDash val="solid"/>
          </a:ln>
        </p:spPr>
      </p:sp>
      <p:sp>
        <p:nvSpPr>
          <p:cNvPr id="9" name="Text 7"/>
          <p:cNvSpPr/>
          <p:nvPr/>
        </p:nvSpPr>
        <p:spPr>
          <a:xfrm>
            <a:off x="548640" y="1801368"/>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1</a:t>
            </a:r>
            <a:endParaRPr lang="en-US" sz="3000" dirty="0"/>
          </a:p>
        </p:txBody>
      </p:sp>
      <p:sp>
        <p:nvSpPr>
          <p:cNvPr id="10" name="Shape 8"/>
          <p:cNvSpPr/>
          <p:nvPr/>
        </p:nvSpPr>
        <p:spPr>
          <a:xfrm>
            <a:off x="1463040" y="1801368"/>
            <a:ext cx="10149840" cy="777240"/>
          </a:xfrm>
          <a:prstGeom prst="roundRect">
            <a:avLst>
              <a:gd name="adj" fmla="val 9412"/>
            </a:avLst>
          </a:prstGeom>
          <a:solidFill>
            <a:srgbClr val="F2F5F7"/>
          </a:solidFill>
          <a:ln w="12700">
            <a:solidFill>
              <a:srgbClr val="C9D3DA"/>
            </a:solidFill>
            <a:prstDash val="solid"/>
          </a:ln>
        </p:spPr>
      </p:sp>
      <p:sp>
        <p:nvSpPr>
          <p:cNvPr id="11" name="Text 9"/>
          <p:cNvSpPr/>
          <p:nvPr/>
        </p:nvSpPr>
        <p:spPr>
          <a:xfrm>
            <a:off x="1691640" y="1801368"/>
            <a:ext cx="3017520" cy="777240"/>
          </a:xfrm>
          <a:prstGeom prst="rect">
            <a:avLst/>
          </a:prstGeom>
          <a:noFill/>
          <a:ln/>
        </p:spPr>
        <p:txBody>
          <a:bodyPr wrap="square" lIns="0" tIns="0" rIns="0" bIns="0" rtlCol="0" anchor="ctr"/>
          <a:lstStyle/>
          <a:p>
            <a:pPr algn="l" indent="0" marL="0">
              <a:buNone/>
            </a:pPr>
            <a:r>
              <a:rPr lang="en-US" sz="1500" b="1" dirty="0">
                <a:solidFill>
                  <a:srgbClr val="156082"/>
                </a:solidFill>
                <a:latin typeface="Malgun Gothic" pitchFamily="34" charset="0"/>
                <a:ea typeface="Malgun Gothic" pitchFamily="34" charset="-122"/>
                <a:cs typeface="Malgun Gothic" pitchFamily="34" charset="-120"/>
              </a:rPr>
              <a:t>THE COW</a:t>
            </a:r>
            <a:endParaRPr lang="en-US" sz="1500" dirty="0"/>
          </a:p>
        </p:txBody>
      </p:sp>
      <p:sp>
        <p:nvSpPr>
          <p:cNvPr id="12" name="Text 10"/>
          <p:cNvSpPr/>
          <p:nvPr/>
        </p:nvSpPr>
        <p:spPr>
          <a:xfrm>
            <a:off x="4754880" y="1801368"/>
            <a:ext cx="6629400" cy="777240"/>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CL present? Cycling? Fed? Healthy?</a:t>
            </a:r>
            <a:endParaRPr lang="en-US" sz="1300" dirty="0"/>
          </a:p>
        </p:txBody>
      </p:sp>
      <p:sp>
        <p:nvSpPr>
          <p:cNvPr id="13" name="Shape 11"/>
          <p:cNvSpPr/>
          <p:nvPr/>
        </p:nvSpPr>
        <p:spPr>
          <a:xfrm>
            <a:off x="548640" y="2715768"/>
            <a:ext cx="777240" cy="777240"/>
          </a:xfrm>
          <a:prstGeom prst="roundRect">
            <a:avLst>
              <a:gd name="adj" fmla="val 9412"/>
            </a:avLst>
          </a:prstGeom>
          <a:solidFill>
            <a:srgbClr val="E97132"/>
          </a:solidFill>
          <a:ln w="12700">
            <a:solidFill>
              <a:srgbClr val="E97132"/>
            </a:solidFill>
            <a:prstDash val="solid"/>
          </a:ln>
        </p:spPr>
      </p:sp>
      <p:sp>
        <p:nvSpPr>
          <p:cNvPr id="14" name="Text 12"/>
          <p:cNvSpPr/>
          <p:nvPr/>
        </p:nvSpPr>
        <p:spPr>
          <a:xfrm>
            <a:off x="548640" y="2715768"/>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2</a:t>
            </a:r>
            <a:endParaRPr lang="en-US" sz="3000" dirty="0"/>
          </a:p>
        </p:txBody>
      </p:sp>
      <p:sp>
        <p:nvSpPr>
          <p:cNvPr id="15" name="Shape 13"/>
          <p:cNvSpPr/>
          <p:nvPr/>
        </p:nvSpPr>
        <p:spPr>
          <a:xfrm>
            <a:off x="1463040" y="2715768"/>
            <a:ext cx="10149840" cy="777240"/>
          </a:xfrm>
          <a:prstGeom prst="roundRect">
            <a:avLst>
              <a:gd name="adj" fmla="val 9412"/>
            </a:avLst>
          </a:prstGeom>
          <a:solidFill>
            <a:srgbClr val="F2F5F7"/>
          </a:solidFill>
          <a:ln w="12700">
            <a:solidFill>
              <a:srgbClr val="C9D3DA"/>
            </a:solidFill>
            <a:prstDash val="solid"/>
          </a:ln>
        </p:spPr>
      </p:sp>
      <p:sp>
        <p:nvSpPr>
          <p:cNvPr id="16" name="Text 14"/>
          <p:cNvSpPr/>
          <p:nvPr/>
        </p:nvSpPr>
        <p:spPr>
          <a:xfrm>
            <a:off x="1691640" y="2715768"/>
            <a:ext cx="3017520" cy="777240"/>
          </a:xfrm>
          <a:prstGeom prst="rect">
            <a:avLst/>
          </a:prstGeom>
          <a:noFill/>
          <a:ln/>
        </p:spPr>
        <p:txBody>
          <a:bodyPr wrap="square" lIns="0" tIns="0" rIns="0" bIns="0" rtlCol="0" anchor="ctr"/>
          <a:lstStyle/>
          <a:p>
            <a:pPr algn="l" indent="0" marL="0">
              <a:buNone/>
            </a:pPr>
            <a:r>
              <a:rPr lang="en-US" sz="1500" b="1" dirty="0">
                <a:solidFill>
                  <a:srgbClr val="E97132"/>
                </a:solidFill>
                <a:latin typeface="Malgun Gothic" pitchFamily="34" charset="0"/>
                <a:ea typeface="Malgun Gothic" pitchFamily="34" charset="-122"/>
                <a:cs typeface="Malgun Gothic" pitchFamily="34" charset="-120"/>
              </a:rPr>
              <a:t>THE COLD CHAIN</a:t>
            </a:r>
            <a:endParaRPr lang="en-US" sz="1500" dirty="0"/>
          </a:p>
        </p:txBody>
      </p:sp>
      <p:sp>
        <p:nvSpPr>
          <p:cNvPr id="17" name="Text 15"/>
          <p:cNvSpPr/>
          <p:nvPr/>
        </p:nvSpPr>
        <p:spPr>
          <a:xfrm>
            <a:off x="4754880" y="2715768"/>
            <a:ext cx="6629400" cy="777240"/>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Where was the bottle? Was it hot? Batch number?</a:t>
            </a:r>
            <a:endParaRPr lang="en-US" sz="1300" dirty="0"/>
          </a:p>
        </p:txBody>
      </p:sp>
      <p:sp>
        <p:nvSpPr>
          <p:cNvPr id="18" name="Shape 16"/>
          <p:cNvSpPr/>
          <p:nvPr/>
        </p:nvSpPr>
        <p:spPr>
          <a:xfrm>
            <a:off x="548640" y="3630168"/>
            <a:ext cx="777240" cy="777240"/>
          </a:xfrm>
          <a:prstGeom prst="roundRect">
            <a:avLst>
              <a:gd name="adj" fmla="val 9412"/>
            </a:avLst>
          </a:prstGeom>
          <a:solidFill>
            <a:srgbClr val="196B24"/>
          </a:solidFill>
          <a:ln w="12700">
            <a:solidFill>
              <a:srgbClr val="196B24"/>
            </a:solidFill>
            <a:prstDash val="solid"/>
          </a:ln>
        </p:spPr>
      </p:sp>
      <p:sp>
        <p:nvSpPr>
          <p:cNvPr id="19" name="Text 17"/>
          <p:cNvSpPr/>
          <p:nvPr/>
        </p:nvSpPr>
        <p:spPr>
          <a:xfrm>
            <a:off x="548640" y="3630168"/>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3</a:t>
            </a:r>
            <a:endParaRPr lang="en-US" sz="3000" dirty="0"/>
          </a:p>
        </p:txBody>
      </p:sp>
      <p:sp>
        <p:nvSpPr>
          <p:cNvPr id="20" name="Shape 18"/>
          <p:cNvSpPr/>
          <p:nvPr/>
        </p:nvSpPr>
        <p:spPr>
          <a:xfrm>
            <a:off x="1463040" y="3630168"/>
            <a:ext cx="10149840" cy="777240"/>
          </a:xfrm>
          <a:prstGeom prst="roundRect">
            <a:avLst>
              <a:gd name="adj" fmla="val 9412"/>
            </a:avLst>
          </a:prstGeom>
          <a:solidFill>
            <a:srgbClr val="F2F5F7"/>
          </a:solidFill>
          <a:ln w="12700">
            <a:solidFill>
              <a:srgbClr val="C9D3DA"/>
            </a:solidFill>
            <a:prstDash val="solid"/>
          </a:ln>
        </p:spPr>
      </p:sp>
      <p:sp>
        <p:nvSpPr>
          <p:cNvPr id="21" name="Text 19"/>
          <p:cNvSpPr/>
          <p:nvPr/>
        </p:nvSpPr>
        <p:spPr>
          <a:xfrm>
            <a:off x="1691640" y="3630168"/>
            <a:ext cx="3017520" cy="777240"/>
          </a:xfrm>
          <a:prstGeom prst="rect">
            <a:avLst/>
          </a:prstGeom>
          <a:noFill/>
          <a:ln/>
        </p:spPr>
        <p:txBody>
          <a:bodyPr wrap="square" lIns="0" tIns="0" rIns="0" bIns="0" rtlCol="0" anchor="ctr"/>
          <a:lstStyle/>
          <a:p>
            <a:pPr algn="l" indent="0" marL="0">
              <a:buNone/>
            </a:pPr>
            <a:r>
              <a:rPr lang="en-US" sz="1500" b="1" dirty="0">
                <a:solidFill>
                  <a:srgbClr val="196B24"/>
                </a:solidFill>
                <a:latin typeface="Malgun Gothic" pitchFamily="34" charset="0"/>
                <a:ea typeface="Malgun Gothic" pitchFamily="34" charset="-122"/>
                <a:cs typeface="Malgun Gothic" pitchFamily="34" charset="-120"/>
              </a:rPr>
              <a:t>THE CALENDAR</a:t>
            </a:r>
            <a:endParaRPr lang="en-US" sz="1500" dirty="0"/>
          </a:p>
        </p:txBody>
      </p:sp>
      <p:sp>
        <p:nvSpPr>
          <p:cNvPr id="22" name="Text 20"/>
          <p:cNvSpPr/>
          <p:nvPr/>
        </p:nvSpPr>
        <p:spPr>
          <a:xfrm>
            <a:off x="4754880" y="3630168"/>
            <a:ext cx="6629400" cy="777240"/>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Right day? Right hour? Any injection missed or late?</a:t>
            </a:r>
            <a:endParaRPr lang="en-US" sz="1300" dirty="0"/>
          </a:p>
        </p:txBody>
      </p:sp>
      <p:sp>
        <p:nvSpPr>
          <p:cNvPr id="23" name="Shape 21"/>
          <p:cNvSpPr/>
          <p:nvPr/>
        </p:nvSpPr>
        <p:spPr>
          <a:xfrm>
            <a:off x="548640" y="4544568"/>
            <a:ext cx="777240" cy="777240"/>
          </a:xfrm>
          <a:prstGeom prst="roundRect">
            <a:avLst>
              <a:gd name="adj" fmla="val 9412"/>
            </a:avLst>
          </a:prstGeom>
          <a:solidFill>
            <a:srgbClr val="6B7280"/>
          </a:solidFill>
          <a:ln w="12700">
            <a:solidFill>
              <a:srgbClr val="6B7280"/>
            </a:solidFill>
            <a:prstDash val="solid"/>
          </a:ln>
        </p:spPr>
      </p:sp>
      <p:sp>
        <p:nvSpPr>
          <p:cNvPr id="24" name="Text 22"/>
          <p:cNvSpPr/>
          <p:nvPr/>
        </p:nvSpPr>
        <p:spPr>
          <a:xfrm>
            <a:off x="548640" y="4544568"/>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4</a:t>
            </a:r>
            <a:endParaRPr lang="en-US" sz="3000" dirty="0"/>
          </a:p>
        </p:txBody>
      </p:sp>
      <p:sp>
        <p:nvSpPr>
          <p:cNvPr id="25" name="Shape 23"/>
          <p:cNvSpPr/>
          <p:nvPr/>
        </p:nvSpPr>
        <p:spPr>
          <a:xfrm>
            <a:off x="1463040" y="4544568"/>
            <a:ext cx="10149840" cy="777240"/>
          </a:xfrm>
          <a:prstGeom prst="roundRect">
            <a:avLst>
              <a:gd name="adj" fmla="val 9412"/>
            </a:avLst>
          </a:prstGeom>
          <a:solidFill>
            <a:srgbClr val="F2F5F7"/>
          </a:solidFill>
          <a:ln w="12700">
            <a:solidFill>
              <a:srgbClr val="C9D3DA"/>
            </a:solidFill>
            <a:prstDash val="solid"/>
          </a:ln>
        </p:spPr>
      </p:sp>
      <p:sp>
        <p:nvSpPr>
          <p:cNvPr id="26" name="Text 24"/>
          <p:cNvSpPr/>
          <p:nvPr/>
        </p:nvSpPr>
        <p:spPr>
          <a:xfrm>
            <a:off x="1691640" y="4544568"/>
            <a:ext cx="3017520" cy="777240"/>
          </a:xfrm>
          <a:prstGeom prst="rect">
            <a:avLst/>
          </a:prstGeom>
          <a:noFill/>
          <a:ln/>
        </p:spPr>
        <p:txBody>
          <a:bodyPr wrap="square" lIns="0" tIns="0" rIns="0" bIns="0" rtlCol="0" anchor="ctr"/>
          <a:lstStyle/>
          <a:p>
            <a:pPr algn="l" indent="0" marL="0">
              <a:buNone/>
            </a:pPr>
            <a:r>
              <a:rPr lang="en-US" sz="1500" b="1" dirty="0">
                <a:solidFill>
                  <a:srgbClr val="6B7280"/>
                </a:solidFill>
                <a:latin typeface="Malgun Gothic" pitchFamily="34" charset="0"/>
                <a:ea typeface="Malgun Gothic" pitchFamily="34" charset="-122"/>
                <a:cs typeface="Malgun Gothic" pitchFamily="34" charset="-120"/>
              </a:rPr>
              <a:t>YOUR HANDS</a:t>
            </a:r>
            <a:endParaRPr lang="en-US" sz="1500" dirty="0"/>
          </a:p>
        </p:txBody>
      </p:sp>
      <p:sp>
        <p:nvSpPr>
          <p:cNvPr id="27" name="Text 25"/>
          <p:cNvSpPr/>
          <p:nvPr/>
        </p:nvSpPr>
        <p:spPr>
          <a:xfrm>
            <a:off x="4754880" y="4544568"/>
            <a:ext cx="6629400" cy="777240"/>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Technique and handling — only after 1, 2 and 3.</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03</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The recipient and the corpus luteum</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50 minutes  ·  the variable that decides 40–50% of your result</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Where the pregnancy rate is decided</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An estimate across several large data sets — not an exact split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Nearly half of your result is decided before you open the tank.</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24</a:t>
            </a:r>
            <a:endParaRPr lang="en-US" sz="900" dirty="0"/>
          </a:p>
        </p:txBody>
      </p:sp>
      <p:sp>
        <p:nvSpPr>
          <p:cNvPr id="8" name="Shape 6"/>
          <p:cNvSpPr/>
          <p:nvPr/>
        </p:nvSpPr>
        <p:spPr>
          <a:xfrm>
            <a:off x="548640" y="2029968"/>
            <a:ext cx="4924044" cy="1417320"/>
          </a:xfrm>
          <a:prstGeom prst="roundRect">
            <a:avLst>
              <a:gd name="adj" fmla="val 3871"/>
            </a:avLst>
          </a:prstGeom>
          <a:solidFill>
            <a:srgbClr val="156082"/>
          </a:solidFill>
          <a:ln w="12700">
            <a:solidFill>
              <a:srgbClr val="156082"/>
            </a:solidFill>
            <a:prstDash val="solid"/>
          </a:ln>
        </p:spPr>
      </p:sp>
      <p:sp>
        <p:nvSpPr>
          <p:cNvPr id="9" name="Text 7"/>
          <p:cNvSpPr/>
          <p:nvPr/>
        </p:nvSpPr>
        <p:spPr>
          <a:xfrm>
            <a:off x="548640" y="2176272"/>
            <a:ext cx="4924044"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45%</a:t>
            </a:r>
            <a:endParaRPr lang="en-US" sz="2600" dirty="0"/>
          </a:p>
        </p:txBody>
      </p:sp>
      <p:sp>
        <p:nvSpPr>
          <p:cNvPr id="10" name="Text 8"/>
          <p:cNvSpPr/>
          <p:nvPr/>
        </p:nvSpPr>
        <p:spPr>
          <a:xfrm>
            <a:off x="603504" y="2761488"/>
            <a:ext cx="481431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THE RECIPIENT COW</a:t>
            </a:r>
            <a:endParaRPr lang="en-US" sz="1150" dirty="0"/>
          </a:p>
        </p:txBody>
      </p:sp>
      <p:sp>
        <p:nvSpPr>
          <p:cNvPr id="11" name="Text 9"/>
          <p:cNvSpPr/>
          <p:nvPr/>
        </p:nvSpPr>
        <p:spPr>
          <a:xfrm>
            <a:off x="603504" y="3054096"/>
            <a:ext cx="481431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Malgun Gothic" pitchFamily="34" charset="0"/>
                <a:ea typeface="Malgun Gothic" pitchFamily="34" charset="-122"/>
                <a:cs typeface="Malgun Gothic" pitchFamily="34" charset="-120"/>
              </a:rPr>
              <a:t>body · womb · CL · health</a:t>
            </a:r>
            <a:endParaRPr lang="en-US" sz="1000" dirty="0"/>
          </a:p>
        </p:txBody>
      </p:sp>
      <p:sp>
        <p:nvSpPr>
          <p:cNvPr id="12" name="Shape 10"/>
          <p:cNvSpPr/>
          <p:nvPr/>
        </p:nvSpPr>
        <p:spPr>
          <a:xfrm>
            <a:off x="5527548" y="2029968"/>
            <a:ext cx="2157984" cy="1417320"/>
          </a:xfrm>
          <a:prstGeom prst="roundRect">
            <a:avLst>
              <a:gd name="adj" fmla="val 3871"/>
            </a:avLst>
          </a:prstGeom>
          <a:solidFill>
            <a:srgbClr val="0F9ED5"/>
          </a:solidFill>
          <a:ln w="12700">
            <a:solidFill>
              <a:srgbClr val="0F9ED5"/>
            </a:solidFill>
            <a:prstDash val="solid"/>
          </a:ln>
        </p:spPr>
      </p:sp>
      <p:sp>
        <p:nvSpPr>
          <p:cNvPr id="13" name="Text 11"/>
          <p:cNvSpPr/>
          <p:nvPr/>
        </p:nvSpPr>
        <p:spPr>
          <a:xfrm>
            <a:off x="5527548" y="2176272"/>
            <a:ext cx="2157984"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20%</a:t>
            </a:r>
            <a:endParaRPr lang="en-US" sz="2600" dirty="0"/>
          </a:p>
        </p:txBody>
      </p:sp>
      <p:sp>
        <p:nvSpPr>
          <p:cNvPr id="14" name="Text 12"/>
          <p:cNvSpPr/>
          <p:nvPr/>
        </p:nvSpPr>
        <p:spPr>
          <a:xfrm>
            <a:off x="5582412" y="2761488"/>
            <a:ext cx="204825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THE EMBRYO</a:t>
            </a:r>
            <a:endParaRPr lang="en-US" sz="1150" dirty="0"/>
          </a:p>
        </p:txBody>
      </p:sp>
      <p:sp>
        <p:nvSpPr>
          <p:cNvPr id="15" name="Text 13"/>
          <p:cNvSpPr/>
          <p:nvPr/>
        </p:nvSpPr>
        <p:spPr>
          <a:xfrm>
            <a:off x="5582412" y="3054096"/>
            <a:ext cx="204825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Malgun Gothic" pitchFamily="34" charset="0"/>
                <a:ea typeface="Malgun Gothic" pitchFamily="34" charset="-122"/>
                <a:cs typeface="Malgun Gothic" pitchFamily="34" charset="-120"/>
              </a:rPr>
              <a:t>grade · freezing method</a:t>
            </a:r>
            <a:endParaRPr lang="en-US" sz="1000" dirty="0"/>
          </a:p>
        </p:txBody>
      </p:sp>
      <p:sp>
        <p:nvSpPr>
          <p:cNvPr id="16" name="Shape 14"/>
          <p:cNvSpPr/>
          <p:nvPr/>
        </p:nvSpPr>
        <p:spPr>
          <a:xfrm>
            <a:off x="7740396" y="2029968"/>
            <a:ext cx="2157984" cy="1417320"/>
          </a:xfrm>
          <a:prstGeom prst="roundRect">
            <a:avLst>
              <a:gd name="adj" fmla="val 3871"/>
            </a:avLst>
          </a:prstGeom>
          <a:solidFill>
            <a:srgbClr val="E97132"/>
          </a:solidFill>
          <a:ln w="12700">
            <a:solidFill>
              <a:srgbClr val="E97132"/>
            </a:solidFill>
            <a:prstDash val="solid"/>
          </a:ln>
        </p:spPr>
      </p:sp>
      <p:sp>
        <p:nvSpPr>
          <p:cNvPr id="17" name="Text 15"/>
          <p:cNvSpPr/>
          <p:nvPr/>
        </p:nvSpPr>
        <p:spPr>
          <a:xfrm>
            <a:off x="7740396" y="2176272"/>
            <a:ext cx="2157984"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20%</a:t>
            </a:r>
            <a:endParaRPr lang="en-US" sz="2600" dirty="0"/>
          </a:p>
        </p:txBody>
      </p:sp>
      <p:sp>
        <p:nvSpPr>
          <p:cNvPr id="18" name="Text 16"/>
          <p:cNvSpPr/>
          <p:nvPr/>
        </p:nvSpPr>
        <p:spPr>
          <a:xfrm>
            <a:off x="7795260" y="2761488"/>
            <a:ext cx="204825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YOU</a:t>
            </a:r>
            <a:endParaRPr lang="en-US" sz="1150" dirty="0"/>
          </a:p>
        </p:txBody>
      </p:sp>
      <p:sp>
        <p:nvSpPr>
          <p:cNvPr id="19" name="Text 17"/>
          <p:cNvSpPr/>
          <p:nvPr/>
        </p:nvSpPr>
        <p:spPr>
          <a:xfrm>
            <a:off x="7795260" y="3054096"/>
            <a:ext cx="2048256" cy="310896"/>
          </a:xfrm>
          <a:prstGeom prst="rect">
            <a:avLst/>
          </a:prstGeom>
          <a:noFill/>
          <a:ln/>
        </p:spPr>
        <p:txBody>
          <a:bodyPr wrap="square" lIns="0" tIns="0" rIns="0" bIns="0" rtlCol="0" anchor="ctr"/>
          <a:lstStyle/>
          <a:p>
            <a:pPr algn="ctr" indent="0" marL="0">
              <a:buNone/>
            </a:pPr>
            <a:r>
              <a:rPr lang="en-US" sz="1000" dirty="0">
                <a:solidFill>
                  <a:srgbClr val="FFFFFF"/>
                </a:solidFill>
                <a:latin typeface="Malgun Gothic" pitchFamily="34" charset="0"/>
                <a:ea typeface="Malgun Gothic" pitchFamily="34" charset="-122"/>
                <a:cs typeface="Malgun Gothic" pitchFamily="34" charset="-120"/>
              </a:rPr>
              <a:t>timing · hygiene · hands</a:t>
            </a:r>
            <a:endParaRPr lang="en-US" sz="1000" dirty="0"/>
          </a:p>
        </p:txBody>
      </p:sp>
      <p:sp>
        <p:nvSpPr>
          <p:cNvPr id="20" name="Shape 18"/>
          <p:cNvSpPr/>
          <p:nvPr/>
        </p:nvSpPr>
        <p:spPr>
          <a:xfrm>
            <a:off x="9953244" y="2029968"/>
            <a:ext cx="1604772" cy="1417320"/>
          </a:xfrm>
          <a:prstGeom prst="roundRect">
            <a:avLst>
              <a:gd name="adj" fmla="val 3871"/>
            </a:avLst>
          </a:prstGeom>
          <a:solidFill>
            <a:srgbClr val="6B7280"/>
          </a:solidFill>
          <a:ln w="12700">
            <a:solidFill>
              <a:srgbClr val="6B7280"/>
            </a:solidFill>
            <a:prstDash val="solid"/>
          </a:ln>
        </p:spPr>
      </p:sp>
      <p:sp>
        <p:nvSpPr>
          <p:cNvPr id="21" name="Text 19"/>
          <p:cNvSpPr/>
          <p:nvPr/>
        </p:nvSpPr>
        <p:spPr>
          <a:xfrm>
            <a:off x="9953244" y="2176272"/>
            <a:ext cx="1604772"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15%</a:t>
            </a:r>
            <a:endParaRPr lang="en-US" sz="2600" dirty="0"/>
          </a:p>
        </p:txBody>
      </p:sp>
      <p:sp>
        <p:nvSpPr>
          <p:cNvPr id="22" name="Text 20"/>
          <p:cNvSpPr/>
          <p:nvPr/>
        </p:nvSpPr>
        <p:spPr>
          <a:xfrm>
            <a:off x="10008108" y="2761488"/>
            <a:ext cx="149504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FARM &amp; WEATHER</a:t>
            </a:r>
            <a:endParaRPr lang="en-US" sz="1150" dirty="0"/>
          </a:p>
        </p:txBody>
      </p:sp>
      <p:sp>
        <p:nvSpPr>
          <p:cNvPr id="23" name="Text 21"/>
          <p:cNvSpPr/>
          <p:nvPr/>
        </p:nvSpPr>
        <p:spPr>
          <a:xfrm>
            <a:off x="10008108" y="3054096"/>
            <a:ext cx="1495044" cy="310896"/>
          </a:xfrm>
          <a:prstGeom prst="rect">
            <a:avLst/>
          </a:prstGeom>
          <a:noFill/>
          <a:ln/>
        </p:spPr>
        <p:txBody>
          <a:bodyPr wrap="square" lIns="0" tIns="0" rIns="0" bIns="0" rtlCol="0" anchor="ctr"/>
          <a:lstStyle/>
          <a:p>
            <a:pPr algn="ctr" indent="0" marL="0">
              <a:buNone/>
            </a:pPr>
            <a:r>
              <a:rPr lang="en-US" sz="1000" dirty="0">
                <a:solidFill>
                  <a:srgbClr val="FFFFFF"/>
                </a:solidFill>
                <a:latin typeface="Malgun Gothic" pitchFamily="34" charset="0"/>
                <a:ea typeface="Malgun Gothic" pitchFamily="34" charset="-122"/>
                <a:cs typeface="Malgun Gothic" pitchFamily="34" charset="-120"/>
              </a:rPr>
              <a:t>feed · heat · moving cows</a:t>
            </a:r>
            <a:endParaRPr lang="en-US" sz="1000" dirty="0"/>
          </a:p>
        </p:txBody>
      </p:sp>
      <p:sp>
        <p:nvSpPr>
          <p:cNvPr id="24" name="Shape 22"/>
          <p:cNvSpPr/>
          <p:nvPr/>
        </p:nvSpPr>
        <p:spPr>
          <a:xfrm>
            <a:off x="548640" y="3950208"/>
            <a:ext cx="11064240" cy="1005840"/>
          </a:xfrm>
          <a:prstGeom prst="roundRect">
            <a:avLst>
              <a:gd name="adj" fmla="val 7273"/>
            </a:avLst>
          </a:prstGeom>
          <a:solidFill>
            <a:srgbClr val="F2F5F7"/>
          </a:solidFill>
          <a:ln w="12700">
            <a:solidFill>
              <a:srgbClr val="C9D3DA"/>
            </a:solidFill>
            <a:prstDash val="solid"/>
          </a:ln>
        </p:spPr>
      </p:sp>
      <p:sp>
        <p:nvSpPr>
          <p:cNvPr id="25" name="Text 23"/>
          <p:cNvSpPr/>
          <p:nvPr/>
        </p:nvSpPr>
        <p:spPr>
          <a:xfrm>
            <a:off x="548640" y="3950208"/>
            <a:ext cx="11064240" cy="1005840"/>
          </a:xfrm>
          <a:prstGeom prst="rect">
            <a:avLst/>
          </a:prstGeom>
          <a:noFill/>
          <a:ln/>
        </p:spPr>
        <p:txBody>
          <a:bodyPr wrap="square" lIns="0" tIns="0" rIns="0" bIns="0" rtlCol="0" anchor="ctr"/>
          <a:lstStyle/>
          <a:p>
            <a:pPr algn="ctr" indent="0" marL="0">
              <a:buNone/>
            </a:pPr>
            <a:r>
              <a:rPr lang="en-US" sz="1800" b="1" dirty="0">
                <a:solidFill>
                  <a:srgbClr val="0E2841"/>
                </a:solidFill>
                <a:latin typeface="Malgun Gothic" pitchFamily="34" charset="0"/>
                <a:ea typeface="Malgun Gothic" pitchFamily="34" charset="-122"/>
                <a:cs typeface="Malgun Gothic" pitchFamily="34" charset="-120"/>
              </a:rPr>
              <a:t>Bad result?   Look at the COW before you look at your hands.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Seven checks — one fail means NO</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Apply all seven when you ENROL her, four weeks before — not on transfer day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On transfer day it is too late to discover she calved 40 days ago.</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25</a:t>
            </a:r>
            <a:endParaRPr lang="en-US" sz="900" dirty="0"/>
          </a:p>
        </p:txBody>
      </p:sp>
      <p:sp>
        <p:nvSpPr>
          <p:cNvPr id="8" name="Shape 6"/>
          <p:cNvSpPr/>
          <p:nvPr/>
        </p:nvSpPr>
        <p:spPr>
          <a:xfrm>
            <a:off x="548640" y="1572768"/>
            <a:ext cx="663854" cy="502920"/>
          </a:xfrm>
          <a:prstGeom prst="roundRect">
            <a:avLst>
              <a:gd name="adj" fmla="val 5455"/>
            </a:avLst>
          </a:prstGeom>
          <a:solidFill>
            <a:srgbClr val="0E2841"/>
          </a:solidFill>
          <a:ln w="12700">
            <a:solidFill>
              <a:srgbClr val="0E2841"/>
            </a:solidFill>
            <a:prstDash val="solid"/>
          </a:ln>
        </p:spPr>
      </p:sp>
      <p:sp>
        <p:nvSpPr>
          <p:cNvPr id="9" name="Text 7"/>
          <p:cNvSpPr/>
          <p:nvPr/>
        </p:nvSpPr>
        <p:spPr>
          <a:xfrm>
            <a:off x="621792" y="1572768"/>
            <a:ext cx="51755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a:t>
            </a:r>
            <a:endParaRPr lang="en-US" sz="1200" dirty="0"/>
          </a:p>
        </p:txBody>
      </p:sp>
      <p:sp>
        <p:nvSpPr>
          <p:cNvPr id="10" name="Shape 8"/>
          <p:cNvSpPr/>
          <p:nvPr/>
        </p:nvSpPr>
        <p:spPr>
          <a:xfrm>
            <a:off x="1212494" y="1572768"/>
            <a:ext cx="2876702" cy="502920"/>
          </a:xfrm>
          <a:prstGeom prst="roundRect">
            <a:avLst>
              <a:gd name="adj" fmla="val 5455"/>
            </a:avLst>
          </a:prstGeom>
          <a:solidFill>
            <a:srgbClr val="0E2841"/>
          </a:solidFill>
          <a:ln w="12700">
            <a:solidFill>
              <a:srgbClr val="0E2841"/>
            </a:solidFill>
            <a:prstDash val="solid"/>
          </a:ln>
        </p:spPr>
      </p:sp>
      <p:sp>
        <p:nvSpPr>
          <p:cNvPr id="11" name="Text 9"/>
          <p:cNvSpPr/>
          <p:nvPr/>
        </p:nvSpPr>
        <p:spPr>
          <a:xfrm>
            <a:off x="1285646" y="1572768"/>
            <a:ext cx="2730398"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Check</a:t>
            </a:r>
            <a:endParaRPr lang="en-US" sz="1200" dirty="0"/>
          </a:p>
        </p:txBody>
      </p:sp>
      <p:sp>
        <p:nvSpPr>
          <p:cNvPr id="12" name="Shape 10"/>
          <p:cNvSpPr/>
          <p:nvPr/>
        </p:nvSpPr>
        <p:spPr>
          <a:xfrm>
            <a:off x="4089197" y="1572768"/>
            <a:ext cx="7523683" cy="502920"/>
          </a:xfrm>
          <a:prstGeom prst="roundRect">
            <a:avLst>
              <a:gd name="adj" fmla="val 5455"/>
            </a:avLst>
          </a:prstGeom>
          <a:solidFill>
            <a:srgbClr val="0E2841"/>
          </a:solidFill>
          <a:ln w="12700">
            <a:solidFill>
              <a:srgbClr val="0E2841"/>
            </a:solidFill>
            <a:prstDash val="solid"/>
          </a:ln>
        </p:spPr>
      </p:sp>
      <p:sp>
        <p:nvSpPr>
          <p:cNvPr id="13" name="Text 11"/>
          <p:cNvSpPr/>
          <p:nvPr/>
        </p:nvSpPr>
        <p:spPr>
          <a:xfrm>
            <a:off x="4162349" y="1572768"/>
            <a:ext cx="7377379"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She must be</a:t>
            </a:r>
            <a:endParaRPr lang="en-US" sz="1200" dirty="0"/>
          </a:p>
        </p:txBody>
      </p:sp>
      <p:sp>
        <p:nvSpPr>
          <p:cNvPr id="14" name="Shape 12"/>
          <p:cNvSpPr/>
          <p:nvPr/>
        </p:nvSpPr>
        <p:spPr>
          <a:xfrm>
            <a:off x="548640" y="2075688"/>
            <a:ext cx="663854" cy="502920"/>
          </a:xfrm>
          <a:prstGeom prst="roundRect">
            <a:avLst>
              <a:gd name="adj" fmla="val 3636"/>
            </a:avLst>
          </a:prstGeom>
          <a:solidFill>
            <a:srgbClr val="FFFFFF"/>
          </a:solidFill>
          <a:ln w="12700">
            <a:solidFill>
              <a:srgbClr val="C9D3DA"/>
            </a:solidFill>
            <a:prstDash val="solid"/>
          </a:ln>
        </p:spPr>
      </p:sp>
      <p:sp>
        <p:nvSpPr>
          <p:cNvPr id="15" name="Text 13"/>
          <p:cNvSpPr/>
          <p:nvPr/>
        </p:nvSpPr>
        <p:spPr>
          <a:xfrm>
            <a:off x="621792" y="2075688"/>
            <a:ext cx="517550"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1</a:t>
            </a:r>
            <a:endParaRPr lang="en-US" sz="1200" dirty="0"/>
          </a:p>
        </p:txBody>
      </p:sp>
      <p:sp>
        <p:nvSpPr>
          <p:cNvPr id="16" name="Shape 14"/>
          <p:cNvSpPr/>
          <p:nvPr/>
        </p:nvSpPr>
        <p:spPr>
          <a:xfrm>
            <a:off x="1212494" y="2075688"/>
            <a:ext cx="2876702" cy="502920"/>
          </a:xfrm>
          <a:prstGeom prst="roundRect">
            <a:avLst>
              <a:gd name="adj" fmla="val 3636"/>
            </a:avLst>
          </a:prstGeom>
          <a:solidFill>
            <a:srgbClr val="FFFFFF"/>
          </a:solidFill>
          <a:ln w="12700">
            <a:solidFill>
              <a:srgbClr val="C9D3DA"/>
            </a:solidFill>
            <a:prstDash val="solid"/>
          </a:ln>
        </p:spPr>
      </p:sp>
      <p:sp>
        <p:nvSpPr>
          <p:cNvPr id="17" name="Text 15"/>
          <p:cNvSpPr/>
          <p:nvPr/>
        </p:nvSpPr>
        <p:spPr>
          <a:xfrm>
            <a:off x="1285646" y="2075688"/>
            <a:ext cx="2730398"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Heat</a:t>
            </a:r>
            <a:endParaRPr lang="en-US" sz="1200" dirty="0"/>
          </a:p>
        </p:txBody>
      </p:sp>
      <p:sp>
        <p:nvSpPr>
          <p:cNvPr id="18" name="Shape 16"/>
          <p:cNvSpPr/>
          <p:nvPr/>
        </p:nvSpPr>
        <p:spPr>
          <a:xfrm>
            <a:off x="4089197" y="2075688"/>
            <a:ext cx="7523683" cy="502920"/>
          </a:xfrm>
          <a:prstGeom prst="roundRect">
            <a:avLst>
              <a:gd name="adj" fmla="val 3636"/>
            </a:avLst>
          </a:prstGeom>
          <a:solidFill>
            <a:srgbClr val="FFFFFF"/>
          </a:solidFill>
          <a:ln w="12700">
            <a:solidFill>
              <a:srgbClr val="C9D3DA"/>
            </a:solidFill>
            <a:prstDash val="solid"/>
          </a:ln>
        </p:spPr>
      </p:sp>
      <p:sp>
        <p:nvSpPr>
          <p:cNvPr id="19" name="Text 17"/>
          <p:cNvSpPr/>
          <p:nvPr/>
        </p:nvSpPr>
        <p:spPr>
          <a:xfrm>
            <a:off x="4162349" y="2075688"/>
            <a:ext cx="7377379"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She has shown heat at least once</a:t>
            </a:r>
            <a:endParaRPr lang="en-US" sz="1200" dirty="0"/>
          </a:p>
        </p:txBody>
      </p:sp>
      <p:sp>
        <p:nvSpPr>
          <p:cNvPr id="20" name="Shape 18"/>
          <p:cNvSpPr/>
          <p:nvPr/>
        </p:nvSpPr>
        <p:spPr>
          <a:xfrm>
            <a:off x="548640" y="2578608"/>
            <a:ext cx="663854" cy="502920"/>
          </a:xfrm>
          <a:prstGeom prst="roundRect">
            <a:avLst>
              <a:gd name="adj" fmla="val 3636"/>
            </a:avLst>
          </a:prstGeom>
          <a:solidFill>
            <a:srgbClr val="F2F5F7"/>
          </a:solidFill>
          <a:ln w="12700">
            <a:solidFill>
              <a:srgbClr val="C9D3DA"/>
            </a:solidFill>
            <a:prstDash val="solid"/>
          </a:ln>
        </p:spPr>
      </p:sp>
      <p:sp>
        <p:nvSpPr>
          <p:cNvPr id="21" name="Text 19"/>
          <p:cNvSpPr/>
          <p:nvPr/>
        </p:nvSpPr>
        <p:spPr>
          <a:xfrm>
            <a:off x="621792" y="2578608"/>
            <a:ext cx="517550"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2</a:t>
            </a:r>
            <a:endParaRPr lang="en-US" sz="1200" dirty="0"/>
          </a:p>
        </p:txBody>
      </p:sp>
      <p:sp>
        <p:nvSpPr>
          <p:cNvPr id="22" name="Shape 20"/>
          <p:cNvSpPr/>
          <p:nvPr/>
        </p:nvSpPr>
        <p:spPr>
          <a:xfrm>
            <a:off x="1212494" y="2578608"/>
            <a:ext cx="2876702" cy="502920"/>
          </a:xfrm>
          <a:prstGeom prst="roundRect">
            <a:avLst>
              <a:gd name="adj" fmla="val 3636"/>
            </a:avLst>
          </a:prstGeom>
          <a:solidFill>
            <a:srgbClr val="F2F5F7"/>
          </a:solidFill>
          <a:ln w="12700">
            <a:solidFill>
              <a:srgbClr val="C9D3DA"/>
            </a:solidFill>
            <a:prstDash val="solid"/>
          </a:ln>
        </p:spPr>
      </p:sp>
      <p:sp>
        <p:nvSpPr>
          <p:cNvPr id="23" name="Text 21"/>
          <p:cNvSpPr/>
          <p:nvPr/>
        </p:nvSpPr>
        <p:spPr>
          <a:xfrm>
            <a:off x="1285646" y="2578608"/>
            <a:ext cx="2730398"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Body condition</a:t>
            </a:r>
            <a:endParaRPr lang="en-US" sz="1200" dirty="0"/>
          </a:p>
        </p:txBody>
      </p:sp>
      <p:sp>
        <p:nvSpPr>
          <p:cNvPr id="24" name="Shape 22"/>
          <p:cNvSpPr/>
          <p:nvPr/>
        </p:nvSpPr>
        <p:spPr>
          <a:xfrm>
            <a:off x="4089197" y="2578608"/>
            <a:ext cx="7523683" cy="502920"/>
          </a:xfrm>
          <a:prstGeom prst="roundRect">
            <a:avLst>
              <a:gd name="adj" fmla="val 3636"/>
            </a:avLst>
          </a:prstGeom>
          <a:solidFill>
            <a:srgbClr val="F2F5F7"/>
          </a:solidFill>
          <a:ln w="12700">
            <a:solidFill>
              <a:srgbClr val="C9D3DA"/>
            </a:solidFill>
            <a:prstDash val="solid"/>
          </a:ln>
        </p:spPr>
      </p:sp>
      <p:sp>
        <p:nvSpPr>
          <p:cNvPr id="25" name="Text 23"/>
          <p:cNvSpPr/>
          <p:nvPr/>
        </p:nvSpPr>
        <p:spPr>
          <a:xfrm>
            <a:off x="4162349" y="2578608"/>
            <a:ext cx="7377379"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Not thin, not fat. 2.75–3.25 of 5. Steady or rising</a:t>
            </a:r>
            <a:endParaRPr lang="en-US" sz="1200" dirty="0"/>
          </a:p>
        </p:txBody>
      </p:sp>
      <p:sp>
        <p:nvSpPr>
          <p:cNvPr id="26" name="Shape 24"/>
          <p:cNvSpPr/>
          <p:nvPr/>
        </p:nvSpPr>
        <p:spPr>
          <a:xfrm>
            <a:off x="548640" y="3081528"/>
            <a:ext cx="663854" cy="502920"/>
          </a:xfrm>
          <a:prstGeom prst="roundRect">
            <a:avLst>
              <a:gd name="adj" fmla="val 3636"/>
            </a:avLst>
          </a:prstGeom>
          <a:solidFill>
            <a:srgbClr val="FFFFFF"/>
          </a:solidFill>
          <a:ln w="12700">
            <a:solidFill>
              <a:srgbClr val="C9D3DA"/>
            </a:solidFill>
            <a:prstDash val="solid"/>
          </a:ln>
        </p:spPr>
      </p:sp>
      <p:sp>
        <p:nvSpPr>
          <p:cNvPr id="27" name="Text 25"/>
          <p:cNvSpPr/>
          <p:nvPr/>
        </p:nvSpPr>
        <p:spPr>
          <a:xfrm>
            <a:off x="621792" y="3081528"/>
            <a:ext cx="517550"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3</a:t>
            </a:r>
            <a:endParaRPr lang="en-US" sz="1200" dirty="0"/>
          </a:p>
        </p:txBody>
      </p:sp>
      <p:sp>
        <p:nvSpPr>
          <p:cNvPr id="28" name="Shape 26"/>
          <p:cNvSpPr/>
          <p:nvPr/>
        </p:nvSpPr>
        <p:spPr>
          <a:xfrm>
            <a:off x="1212494" y="3081528"/>
            <a:ext cx="2876702" cy="502920"/>
          </a:xfrm>
          <a:prstGeom prst="roundRect">
            <a:avLst>
              <a:gd name="adj" fmla="val 3636"/>
            </a:avLst>
          </a:prstGeom>
          <a:solidFill>
            <a:srgbClr val="FFFFFF"/>
          </a:solidFill>
          <a:ln w="12700">
            <a:solidFill>
              <a:srgbClr val="C9D3DA"/>
            </a:solidFill>
            <a:prstDash val="solid"/>
          </a:ln>
        </p:spPr>
      </p:sp>
      <p:sp>
        <p:nvSpPr>
          <p:cNvPr id="29" name="Text 27"/>
          <p:cNvSpPr/>
          <p:nvPr/>
        </p:nvSpPr>
        <p:spPr>
          <a:xfrm>
            <a:off x="1285646" y="3081528"/>
            <a:ext cx="2730398"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Days since calving</a:t>
            </a:r>
            <a:endParaRPr lang="en-US" sz="1200" dirty="0"/>
          </a:p>
        </p:txBody>
      </p:sp>
      <p:sp>
        <p:nvSpPr>
          <p:cNvPr id="30" name="Shape 28"/>
          <p:cNvSpPr/>
          <p:nvPr/>
        </p:nvSpPr>
        <p:spPr>
          <a:xfrm>
            <a:off x="4089197" y="3081528"/>
            <a:ext cx="7523683" cy="502920"/>
          </a:xfrm>
          <a:prstGeom prst="roundRect">
            <a:avLst>
              <a:gd name="adj" fmla="val 3636"/>
            </a:avLst>
          </a:prstGeom>
          <a:solidFill>
            <a:srgbClr val="FFFFFF"/>
          </a:solidFill>
          <a:ln w="12700">
            <a:solidFill>
              <a:srgbClr val="C9D3DA"/>
            </a:solidFill>
            <a:prstDash val="solid"/>
          </a:ln>
        </p:spPr>
      </p:sp>
      <p:sp>
        <p:nvSpPr>
          <p:cNvPr id="31" name="Text 29"/>
          <p:cNvSpPr/>
          <p:nvPr/>
        </p:nvSpPr>
        <p:spPr>
          <a:xfrm>
            <a:off x="4162349" y="3081528"/>
            <a:ext cx="7377379"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At least 50–60 days</a:t>
            </a:r>
            <a:endParaRPr lang="en-US" sz="1200" dirty="0"/>
          </a:p>
        </p:txBody>
      </p:sp>
      <p:sp>
        <p:nvSpPr>
          <p:cNvPr id="32" name="Shape 30"/>
          <p:cNvSpPr/>
          <p:nvPr/>
        </p:nvSpPr>
        <p:spPr>
          <a:xfrm>
            <a:off x="548640" y="3584448"/>
            <a:ext cx="663854" cy="502920"/>
          </a:xfrm>
          <a:prstGeom prst="roundRect">
            <a:avLst>
              <a:gd name="adj" fmla="val 3636"/>
            </a:avLst>
          </a:prstGeom>
          <a:solidFill>
            <a:srgbClr val="F2F5F7"/>
          </a:solidFill>
          <a:ln w="12700">
            <a:solidFill>
              <a:srgbClr val="C9D3DA"/>
            </a:solidFill>
            <a:prstDash val="solid"/>
          </a:ln>
        </p:spPr>
      </p:sp>
      <p:sp>
        <p:nvSpPr>
          <p:cNvPr id="33" name="Text 31"/>
          <p:cNvSpPr/>
          <p:nvPr/>
        </p:nvSpPr>
        <p:spPr>
          <a:xfrm>
            <a:off x="621792" y="3584448"/>
            <a:ext cx="517550"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4</a:t>
            </a:r>
            <a:endParaRPr lang="en-US" sz="1200" dirty="0"/>
          </a:p>
        </p:txBody>
      </p:sp>
      <p:sp>
        <p:nvSpPr>
          <p:cNvPr id="34" name="Shape 32"/>
          <p:cNvSpPr/>
          <p:nvPr/>
        </p:nvSpPr>
        <p:spPr>
          <a:xfrm>
            <a:off x="1212494" y="3584448"/>
            <a:ext cx="2876702" cy="502920"/>
          </a:xfrm>
          <a:prstGeom prst="roundRect">
            <a:avLst>
              <a:gd name="adj" fmla="val 3636"/>
            </a:avLst>
          </a:prstGeom>
          <a:solidFill>
            <a:srgbClr val="F2F5F7"/>
          </a:solidFill>
          <a:ln w="12700">
            <a:solidFill>
              <a:srgbClr val="C9D3DA"/>
            </a:solidFill>
            <a:prstDash val="solid"/>
          </a:ln>
        </p:spPr>
      </p:sp>
      <p:sp>
        <p:nvSpPr>
          <p:cNvPr id="35" name="Text 33"/>
          <p:cNvSpPr/>
          <p:nvPr/>
        </p:nvSpPr>
        <p:spPr>
          <a:xfrm>
            <a:off x="1285646" y="3584448"/>
            <a:ext cx="2730398"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Womb</a:t>
            </a:r>
            <a:endParaRPr lang="en-US" sz="1200" dirty="0"/>
          </a:p>
        </p:txBody>
      </p:sp>
      <p:sp>
        <p:nvSpPr>
          <p:cNvPr id="36" name="Shape 34"/>
          <p:cNvSpPr/>
          <p:nvPr/>
        </p:nvSpPr>
        <p:spPr>
          <a:xfrm>
            <a:off x="4089197" y="3584448"/>
            <a:ext cx="7523683" cy="502920"/>
          </a:xfrm>
          <a:prstGeom prst="roundRect">
            <a:avLst>
              <a:gd name="adj" fmla="val 3636"/>
            </a:avLst>
          </a:prstGeom>
          <a:solidFill>
            <a:srgbClr val="F2F5F7"/>
          </a:solidFill>
          <a:ln w="12700">
            <a:solidFill>
              <a:srgbClr val="C9D3DA"/>
            </a:solidFill>
            <a:prstDash val="solid"/>
          </a:ln>
        </p:spPr>
      </p:sp>
      <p:sp>
        <p:nvSpPr>
          <p:cNvPr id="37" name="Text 35"/>
          <p:cNvSpPr/>
          <p:nvPr/>
        </p:nvSpPr>
        <p:spPr>
          <a:xfrm>
            <a:off x="4162349" y="3584448"/>
            <a:ext cx="7377379"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Clean. No pus, no bad smell</a:t>
            </a:r>
            <a:endParaRPr lang="en-US" sz="1200" dirty="0"/>
          </a:p>
        </p:txBody>
      </p:sp>
      <p:sp>
        <p:nvSpPr>
          <p:cNvPr id="38" name="Shape 36"/>
          <p:cNvSpPr/>
          <p:nvPr/>
        </p:nvSpPr>
        <p:spPr>
          <a:xfrm>
            <a:off x="548640" y="4087368"/>
            <a:ext cx="663854" cy="502920"/>
          </a:xfrm>
          <a:prstGeom prst="roundRect">
            <a:avLst>
              <a:gd name="adj" fmla="val 3636"/>
            </a:avLst>
          </a:prstGeom>
          <a:solidFill>
            <a:srgbClr val="FFFFFF"/>
          </a:solidFill>
          <a:ln w="12700">
            <a:solidFill>
              <a:srgbClr val="C9D3DA"/>
            </a:solidFill>
            <a:prstDash val="solid"/>
          </a:ln>
        </p:spPr>
      </p:sp>
      <p:sp>
        <p:nvSpPr>
          <p:cNvPr id="39" name="Text 37"/>
          <p:cNvSpPr/>
          <p:nvPr/>
        </p:nvSpPr>
        <p:spPr>
          <a:xfrm>
            <a:off x="621792" y="4087368"/>
            <a:ext cx="517550"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5</a:t>
            </a:r>
            <a:endParaRPr lang="en-US" sz="1200" dirty="0"/>
          </a:p>
        </p:txBody>
      </p:sp>
      <p:sp>
        <p:nvSpPr>
          <p:cNvPr id="40" name="Shape 38"/>
          <p:cNvSpPr/>
          <p:nvPr/>
        </p:nvSpPr>
        <p:spPr>
          <a:xfrm>
            <a:off x="1212494" y="4087368"/>
            <a:ext cx="2876702" cy="502920"/>
          </a:xfrm>
          <a:prstGeom prst="roundRect">
            <a:avLst>
              <a:gd name="adj" fmla="val 3636"/>
            </a:avLst>
          </a:prstGeom>
          <a:solidFill>
            <a:srgbClr val="FFFFFF"/>
          </a:solidFill>
          <a:ln w="12700">
            <a:solidFill>
              <a:srgbClr val="C9D3DA"/>
            </a:solidFill>
            <a:prstDash val="solid"/>
          </a:ln>
        </p:spPr>
      </p:sp>
      <p:sp>
        <p:nvSpPr>
          <p:cNvPr id="41" name="Text 39"/>
          <p:cNvSpPr/>
          <p:nvPr/>
        </p:nvSpPr>
        <p:spPr>
          <a:xfrm>
            <a:off x="1285646" y="4087368"/>
            <a:ext cx="2730398"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General health</a:t>
            </a:r>
            <a:endParaRPr lang="en-US" sz="1200" dirty="0"/>
          </a:p>
        </p:txBody>
      </p:sp>
      <p:sp>
        <p:nvSpPr>
          <p:cNvPr id="42" name="Shape 40"/>
          <p:cNvSpPr/>
          <p:nvPr/>
        </p:nvSpPr>
        <p:spPr>
          <a:xfrm>
            <a:off x="4089197" y="4087368"/>
            <a:ext cx="7523683" cy="502920"/>
          </a:xfrm>
          <a:prstGeom prst="roundRect">
            <a:avLst>
              <a:gd name="adj" fmla="val 3636"/>
            </a:avLst>
          </a:prstGeom>
          <a:solidFill>
            <a:srgbClr val="FFFFFF"/>
          </a:solidFill>
          <a:ln w="12700">
            <a:solidFill>
              <a:srgbClr val="C9D3DA"/>
            </a:solidFill>
            <a:prstDash val="solid"/>
          </a:ln>
        </p:spPr>
      </p:sp>
      <p:sp>
        <p:nvSpPr>
          <p:cNvPr id="43" name="Text 41"/>
          <p:cNvSpPr/>
          <p:nvPr/>
        </p:nvSpPr>
        <p:spPr>
          <a:xfrm>
            <a:off x="4162349" y="4087368"/>
            <a:ext cx="7377379"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No fever. Not lame. No hot udder</a:t>
            </a:r>
            <a:endParaRPr lang="en-US" sz="1200" dirty="0"/>
          </a:p>
        </p:txBody>
      </p:sp>
      <p:sp>
        <p:nvSpPr>
          <p:cNvPr id="44" name="Shape 42"/>
          <p:cNvSpPr/>
          <p:nvPr/>
        </p:nvSpPr>
        <p:spPr>
          <a:xfrm>
            <a:off x="548640" y="4590288"/>
            <a:ext cx="663854" cy="502920"/>
          </a:xfrm>
          <a:prstGeom prst="roundRect">
            <a:avLst>
              <a:gd name="adj" fmla="val 3636"/>
            </a:avLst>
          </a:prstGeom>
          <a:solidFill>
            <a:srgbClr val="F2F5F7"/>
          </a:solidFill>
          <a:ln w="12700">
            <a:solidFill>
              <a:srgbClr val="C9D3DA"/>
            </a:solidFill>
            <a:prstDash val="solid"/>
          </a:ln>
        </p:spPr>
      </p:sp>
      <p:sp>
        <p:nvSpPr>
          <p:cNvPr id="45" name="Text 43"/>
          <p:cNvSpPr/>
          <p:nvPr/>
        </p:nvSpPr>
        <p:spPr>
          <a:xfrm>
            <a:off x="621792" y="4590288"/>
            <a:ext cx="517550" cy="502920"/>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6</a:t>
            </a:r>
            <a:endParaRPr lang="en-US" sz="1200" dirty="0"/>
          </a:p>
        </p:txBody>
      </p:sp>
      <p:sp>
        <p:nvSpPr>
          <p:cNvPr id="46" name="Shape 44"/>
          <p:cNvSpPr/>
          <p:nvPr/>
        </p:nvSpPr>
        <p:spPr>
          <a:xfrm>
            <a:off x="1212494" y="4590288"/>
            <a:ext cx="2876702" cy="502920"/>
          </a:xfrm>
          <a:prstGeom prst="roundRect">
            <a:avLst>
              <a:gd name="adj" fmla="val 3636"/>
            </a:avLst>
          </a:prstGeom>
          <a:solidFill>
            <a:srgbClr val="F2F5F7"/>
          </a:solidFill>
          <a:ln w="12700">
            <a:solidFill>
              <a:srgbClr val="C9D3DA"/>
            </a:solidFill>
            <a:prstDash val="solid"/>
          </a:ln>
        </p:spPr>
      </p:sp>
      <p:sp>
        <p:nvSpPr>
          <p:cNvPr id="47" name="Text 45"/>
          <p:cNvSpPr/>
          <p:nvPr/>
        </p:nvSpPr>
        <p:spPr>
          <a:xfrm>
            <a:off x="1285646" y="4590288"/>
            <a:ext cx="2730398" cy="502920"/>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Age</a:t>
            </a:r>
            <a:endParaRPr lang="en-US" sz="1200" dirty="0"/>
          </a:p>
        </p:txBody>
      </p:sp>
      <p:sp>
        <p:nvSpPr>
          <p:cNvPr id="48" name="Shape 46"/>
          <p:cNvSpPr/>
          <p:nvPr/>
        </p:nvSpPr>
        <p:spPr>
          <a:xfrm>
            <a:off x="4089197" y="4590288"/>
            <a:ext cx="7523683" cy="502920"/>
          </a:xfrm>
          <a:prstGeom prst="roundRect">
            <a:avLst>
              <a:gd name="adj" fmla="val 3636"/>
            </a:avLst>
          </a:prstGeom>
          <a:solidFill>
            <a:srgbClr val="F2F5F7"/>
          </a:solidFill>
          <a:ln w="12700">
            <a:solidFill>
              <a:srgbClr val="C9D3DA"/>
            </a:solidFill>
            <a:prstDash val="solid"/>
          </a:ln>
        </p:spPr>
      </p:sp>
      <p:sp>
        <p:nvSpPr>
          <p:cNvPr id="49" name="Text 47"/>
          <p:cNvSpPr/>
          <p:nvPr/>
        </p:nvSpPr>
        <p:spPr>
          <a:xfrm>
            <a:off x="4162349" y="4590288"/>
            <a:ext cx="7377379"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Heifer 14–15 months and big enough · Cow 1st to 5th calf</a:t>
            </a:r>
            <a:endParaRPr lang="en-US" sz="1200" dirty="0"/>
          </a:p>
        </p:txBody>
      </p:sp>
      <p:sp>
        <p:nvSpPr>
          <p:cNvPr id="50" name="Shape 48"/>
          <p:cNvSpPr/>
          <p:nvPr/>
        </p:nvSpPr>
        <p:spPr>
          <a:xfrm>
            <a:off x="548640" y="5093208"/>
            <a:ext cx="663854" cy="502920"/>
          </a:xfrm>
          <a:prstGeom prst="roundRect">
            <a:avLst>
              <a:gd name="adj" fmla="val 3636"/>
            </a:avLst>
          </a:prstGeom>
          <a:solidFill>
            <a:srgbClr val="FFFFFF"/>
          </a:solidFill>
          <a:ln w="12700">
            <a:solidFill>
              <a:srgbClr val="C9D3DA"/>
            </a:solidFill>
            <a:prstDash val="solid"/>
          </a:ln>
        </p:spPr>
      </p:sp>
      <p:sp>
        <p:nvSpPr>
          <p:cNvPr id="51" name="Text 49"/>
          <p:cNvSpPr/>
          <p:nvPr/>
        </p:nvSpPr>
        <p:spPr>
          <a:xfrm>
            <a:off x="621792" y="5093208"/>
            <a:ext cx="517550" cy="502920"/>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7</a:t>
            </a:r>
            <a:endParaRPr lang="en-US" sz="1200" dirty="0"/>
          </a:p>
        </p:txBody>
      </p:sp>
      <p:sp>
        <p:nvSpPr>
          <p:cNvPr id="52" name="Shape 50"/>
          <p:cNvSpPr/>
          <p:nvPr/>
        </p:nvSpPr>
        <p:spPr>
          <a:xfrm>
            <a:off x="1212494" y="5093208"/>
            <a:ext cx="2876702" cy="502920"/>
          </a:xfrm>
          <a:prstGeom prst="roundRect">
            <a:avLst>
              <a:gd name="adj" fmla="val 3636"/>
            </a:avLst>
          </a:prstGeom>
          <a:solidFill>
            <a:srgbClr val="FFFFFF"/>
          </a:solidFill>
          <a:ln w="12700">
            <a:solidFill>
              <a:srgbClr val="C9D3DA"/>
            </a:solidFill>
            <a:prstDash val="solid"/>
          </a:ln>
        </p:spPr>
      </p:sp>
      <p:sp>
        <p:nvSpPr>
          <p:cNvPr id="53" name="Text 51"/>
          <p:cNvSpPr/>
          <p:nvPr/>
        </p:nvSpPr>
        <p:spPr>
          <a:xfrm>
            <a:off x="1285646" y="5093208"/>
            <a:ext cx="2730398" cy="50292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CL on the day</a:t>
            </a:r>
            <a:endParaRPr lang="en-US" sz="1200" dirty="0"/>
          </a:p>
        </p:txBody>
      </p:sp>
      <p:sp>
        <p:nvSpPr>
          <p:cNvPr id="54" name="Shape 52"/>
          <p:cNvSpPr/>
          <p:nvPr/>
        </p:nvSpPr>
        <p:spPr>
          <a:xfrm>
            <a:off x="4089197" y="5093208"/>
            <a:ext cx="7523683" cy="502920"/>
          </a:xfrm>
          <a:prstGeom prst="roundRect">
            <a:avLst>
              <a:gd name="adj" fmla="val 3636"/>
            </a:avLst>
          </a:prstGeom>
          <a:solidFill>
            <a:srgbClr val="FFFFFF"/>
          </a:solidFill>
          <a:ln w="12700">
            <a:solidFill>
              <a:srgbClr val="C9D3DA"/>
            </a:solidFill>
            <a:prstDash val="solid"/>
          </a:ln>
        </p:spPr>
      </p:sp>
      <p:sp>
        <p:nvSpPr>
          <p:cNvPr id="55" name="Text 53"/>
          <p:cNvSpPr/>
          <p:nvPr/>
        </p:nvSpPr>
        <p:spPr>
          <a:xfrm>
            <a:off x="4162349" y="5093208"/>
            <a:ext cx="7377379" cy="50292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You can feel it. If not — STOP</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300" b="1" dirty="0">
                <a:solidFill>
                  <a:srgbClr val="0E2841"/>
                </a:solidFill>
                <a:latin typeface="Malgun Gothic" pitchFamily="34" charset="0"/>
                <a:ea typeface="Malgun Gothic" pitchFamily="34" charset="-122"/>
                <a:cs typeface="Malgun Gothic" pitchFamily="34" charset="-120"/>
              </a:rPr>
              <a:t>Body condition — direction matters more than the number</a:t>
            </a:r>
            <a:endParaRPr lang="en-US" sz="23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3.0 and falling is worse than 2.75 and rising</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Feeding takes weeks. If she is thin today, transfer next month — not today.</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26</a:t>
            </a:r>
            <a:endParaRPr lang="en-US" sz="900" dirty="0"/>
          </a:p>
        </p:txBody>
      </p:sp>
      <p:sp>
        <p:nvSpPr>
          <p:cNvPr id="8" name="Shape 6"/>
          <p:cNvSpPr/>
          <p:nvPr/>
        </p:nvSpPr>
        <p:spPr>
          <a:xfrm>
            <a:off x="548640" y="1755648"/>
            <a:ext cx="3535680" cy="502920"/>
          </a:xfrm>
          <a:prstGeom prst="roundRect">
            <a:avLst>
              <a:gd name="adj" fmla="val 12727"/>
            </a:avLst>
          </a:prstGeom>
          <a:solidFill>
            <a:srgbClr val="E97132"/>
          </a:solidFill>
          <a:ln w="12700">
            <a:solidFill>
              <a:srgbClr val="E97132"/>
            </a:solidFill>
            <a:prstDash val="solid"/>
          </a:ln>
        </p:spPr>
      </p:sp>
      <p:sp>
        <p:nvSpPr>
          <p:cNvPr id="9" name="Text 7"/>
          <p:cNvSpPr/>
          <p:nvPr/>
        </p:nvSpPr>
        <p:spPr>
          <a:xfrm>
            <a:off x="548640" y="1755648"/>
            <a:ext cx="3535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TOO THIN   2.0</a:t>
            </a:r>
            <a:endParaRPr lang="en-US" sz="1500" dirty="0"/>
          </a:p>
        </p:txBody>
      </p:sp>
      <p:sp>
        <p:nvSpPr>
          <p:cNvPr id="10" name="Shape 8"/>
          <p:cNvSpPr/>
          <p:nvPr/>
        </p:nvSpPr>
        <p:spPr>
          <a:xfrm>
            <a:off x="548640" y="2258568"/>
            <a:ext cx="3535680" cy="1234440"/>
          </a:xfrm>
          <a:prstGeom prst="roundRect">
            <a:avLst>
              <a:gd name="adj" fmla="val 5185"/>
            </a:avLst>
          </a:prstGeom>
          <a:solidFill>
            <a:srgbClr val="F2F5F7"/>
          </a:solidFill>
          <a:ln w="12700">
            <a:solidFill>
              <a:srgbClr val="C9D3DA"/>
            </a:solidFill>
            <a:prstDash val="solid"/>
          </a:ln>
        </p:spPr>
      </p:sp>
      <p:sp>
        <p:nvSpPr>
          <p:cNvPr id="11" name="Text 9"/>
          <p:cNvSpPr/>
          <p:nvPr/>
        </p:nvSpPr>
        <p:spPr>
          <a:xfrm>
            <a:off x="694944" y="2395728"/>
            <a:ext cx="3243072" cy="960120"/>
          </a:xfrm>
          <a:prstGeom prst="rect">
            <a:avLst/>
          </a:prstGeom>
          <a:noFill/>
          <a:ln/>
        </p:spPr>
        <p:txBody>
          <a:bodyPr wrap="square" lIns="0" tIns="0" rIns="0" bIns="0" rtlCol="0" anchor="ctr"/>
          <a:lstStyle/>
          <a:p>
            <a:pPr algn="ctr" indent="0" marL="0">
              <a:buNone/>
            </a:pPr>
            <a:r>
              <a:rPr lang="en-US" sz="1300" dirty="0">
                <a:solidFill>
                  <a:srgbClr val="0E2841"/>
                </a:solidFill>
                <a:latin typeface="Malgun Gothic" pitchFamily="34" charset="0"/>
                <a:ea typeface="Malgun Gothic" pitchFamily="34" charset="-122"/>
                <a:cs typeface="Malgun Gothic" pitchFamily="34" charset="-120"/>
              </a:rPr>
              <a:t>Ribs and hips sharp</a:t>
            </a:r>
            <a:endParaRPr lang="en-US" sz="1300" dirty="0"/>
          </a:p>
          <a:p>
            <a:pPr algn="ctr" indent="0" marL="0">
              <a:buNone/>
            </a:pPr>
            <a:r>
              <a:rPr lang="en-US" sz="1300" dirty="0">
                <a:solidFill>
                  <a:srgbClr val="0E2841"/>
                </a:solidFill>
                <a:latin typeface="Malgun Gothic" pitchFamily="34" charset="0"/>
                <a:ea typeface="Malgun Gothic" pitchFamily="34" charset="-122"/>
                <a:cs typeface="Malgun Gothic" pitchFamily="34" charset="-120"/>
              </a:rPr>
              <a:t>She loses the pregnancy</a:t>
            </a:r>
            <a:endParaRPr lang="en-US" sz="1300" dirty="0"/>
          </a:p>
        </p:txBody>
      </p:sp>
      <p:sp>
        <p:nvSpPr>
          <p:cNvPr id="12" name="Shape 10"/>
          <p:cNvSpPr/>
          <p:nvPr/>
        </p:nvSpPr>
        <p:spPr>
          <a:xfrm>
            <a:off x="4312920" y="1755648"/>
            <a:ext cx="3535680" cy="502920"/>
          </a:xfrm>
          <a:prstGeom prst="roundRect">
            <a:avLst>
              <a:gd name="adj" fmla="val 12727"/>
            </a:avLst>
          </a:prstGeom>
          <a:solidFill>
            <a:srgbClr val="196B24"/>
          </a:solidFill>
          <a:ln w="12700">
            <a:solidFill>
              <a:srgbClr val="196B24"/>
            </a:solidFill>
            <a:prstDash val="solid"/>
          </a:ln>
        </p:spPr>
      </p:sp>
      <p:sp>
        <p:nvSpPr>
          <p:cNvPr id="13" name="Text 11"/>
          <p:cNvSpPr/>
          <p:nvPr/>
        </p:nvSpPr>
        <p:spPr>
          <a:xfrm>
            <a:off x="4312920" y="1755648"/>
            <a:ext cx="3535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TARGET   2.75 – 3.25</a:t>
            </a:r>
            <a:endParaRPr lang="en-US" sz="1500" dirty="0"/>
          </a:p>
        </p:txBody>
      </p:sp>
      <p:sp>
        <p:nvSpPr>
          <p:cNvPr id="14" name="Shape 12"/>
          <p:cNvSpPr/>
          <p:nvPr/>
        </p:nvSpPr>
        <p:spPr>
          <a:xfrm>
            <a:off x="4312920" y="2258568"/>
            <a:ext cx="3535680" cy="1234440"/>
          </a:xfrm>
          <a:prstGeom prst="roundRect">
            <a:avLst>
              <a:gd name="adj" fmla="val 5185"/>
            </a:avLst>
          </a:prstGeom>
          <a:solidFill>
            <a:srgbClr val="F2F5F7"/>
          </a:solidFill>
          <a:ln w="12700">
            <a:solidFill>
              <a:srgbClr val="C9D3DA"/>
            </a:solidFill>
            <a:prstDash val="solid"/>
          </a:ln>
        </p:spPr>
      </p:sp>
      <p:sp>
        <p:nvSpPr>
          <p:cNvPr id="15" name="Text 13"/>
          <p:cNvSpPr/>
          <p:nvPr/>
        </p:nvSpPr>
        <p:spPr>
          <a:xfrm>
            <a:off x="4459224" y="2395728"/>
            <a:ext cx="3243072" cy="960120"/>
          </a:xfrm>
          <a:prstGeom prst="rect">
            <a:avLst/>
          </a:prstGeom>
          <a:noFill/>
          <a:ln/>
        </p:spPr>
        <p:txBody>
          <a:bodyPr wrap="square" lIns="0" tIns="0" rIns="0" bIns="0" rtlCol="0" anchor="ctr"/>
          <a:lstStyle/>
          <a:p>
            <a:pPr algn="ctr" indent="0" marL="0">
              <a:buNone/>
            </a:pPr>
            <a:r>
              <a:rPr lang="en-US" sz="1300" dirty="0">
                <a:solidFill>
                  <a:srgbClr val="0E2841"/>
                </a:solidFill>
                <a:latin typeface="Malgun Gothic" pitchFamily="34" charset="0"/>
                <a:ea typeface="Malgun Gothic" pitchFamily="34" charset="-122"/>
                <a:cs typeface="Malgun Gothic" pitchFamily="34" charset="-120"/>
              </a:rPr>
              <a:t>Ribs felt with light pressure</a:t>
            </a:r>
            <a:endParaRPr lang="en-US" sz="1300" dirty="0"/>
          </a:p>
          <a:p>
            <a:pPr algn="ctr" indent="0" marL="0">
              <a:buNone/>
            </a:pPr>
            <a:r>
              <a:rPr lang="en-US" sz="1300" dirty="0">
                <a:solidFill>
                  <a:srgbClr val="0E2841"/>
                </a:solidFill>
                <a:latin typeface="Malgun Gothic" pitchFamily="34" charset="0"/>
                <a:ea typeface="Malgun Gothic" pitchFamily="34" charset="-122"/>
                <a:cs typeface="Malgun Gothic" pitchFamily="34" charset="-120"/>
              </a:rPr>
              <a:t>Steady or gaining</a:t>
            </a:r>
            <a:endParaRPr lang="en-US" sz="1300" dirty="0"/>
          </a:p>
        </p:txBody>
      </p:sp>
      <p:sp>
        <p:nvSpPr>
          <p:cNvPr id="16" name="Shape 14"/>
          <p:cNvSpPr/>
          <p:nvPr/>
        </p:nvSpPr>
        <p:spPr>
          <a:xfrm>
            <a:off x="8077200" y="1755648"/>
            <a:ext cx="3535680" cy="502920"/>
          </a:xfrm>
          <a:prstGeom prst="roundRect">
            <a:avLst>
              <a:gd name="adj" fmla="val 12727"/>
            </a:avLst>
          </a:prstGeom>
          <a:solidFill>
            <a:srgbClr val="E97132"/>
          </a:solidFill>
          <a:ln w="12700">
            <a:solidFill>
              <a:srgbClr val="E97132"/>
            </a:solidFill>
            <a:prstDash val="solid"/>
          </a:ln>
        </p:spPr>
      </p:sp>
      <p:sp>
        <p:nvSpPr>
          <p:cNvPr id="17" name="Text 15"/>
          <p:cNvSpPr/>
          <p:nvPr/>
        </p:nvSpPr>
        <p:spPr>
          <a:xfrm>
            <a:off x="8077200" y="1755648"/>
            <a:ext cx="3535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TOO FAT   4.0</a:t>
            </a:r>
            <a:endParaRPr lang="en-US" sz="1500" dirty="0"/>
          </a:p>
        </p:txBody>
      </p:sp>
      <p:sp>
        <p:nvSpPr>
          <p:cNvPr id="18" name="Shape 16"/>
          <p:cNvSpPr/>
          <p:nvPr/>
        </p:nvSpPr>
        <p:spPr>
          <a:xfrm>
            <a:off x="8077200" y="2258568"/>
            <a:ext cx="3535680" cy="1234440"/>
          </a:xfrm>
          <a:prstGeom prst="roundRect">
            <a:avLst>
              <a:gd name="adj" fmla="val 5185"/>
            </a:avLst>
          </a:prstGeom>
          <a:solidFill>
            <a:srgbClr val="F2F5F7"/>
          </a:solidFill>
          <a:ln w="12700">
            <a:solidFill>
              <a:srgbClr val="C9D3DA"/>
            </a:solidFill>
            <a:prstDash val="solid"/>
          </a:ln>
        </p:spPr>
      </p:sp>
      <p:sp>
        <p:nvSpPr>
          <p:cNvPr id="19" name="Text 17"/>
          <p:cNvSpPr/>
          <p:nvPr/>
        </p:nvSpPr>
        <p:spPr>
          <a:xfrm>
            <a:off x="8223504" y="2395728"/>
            <a:ext cx="3243072" cy="960120"/>
          </a:xfrm>
          <a:prstGeom prst="rect">
            <a:avLst/>
          </a:prstGeom>
          <a:noFill/>
          <a:ln/>
        </p:spPr>
        <p:txBody>
          <a:bodyPr wrap="square" lIns="0" tIns="0" rIns="0" bIns="0" rtlCol="0" anchor="ctr"/>
          <a:lstStyle/>
          <a:p>
            <a:pPr algn="ctr" indent="0" marL="0">
              <a:buNone/>
            </a:pPr>
            <a:r>
              <a:rPr lang="en-US" sz="1300" dirty="0">
                <a:solidFill>
                  <a:srgbClr val="0E2841"/>
                </a:solidFill>
                <a:latin typeface="Malgun Gothic" pitchFamily="34" charset="0"/>
                <a:ea typeface="Malgun Gothic" pitchFamily="34" charset="-122"/>
                <a:cs typeface="Malgun Gothic" pitchFamily="34" charset="-120"/>
              </a:rPr>
              <a:t>Bones hard to feel</a:t>
            </a:r>
            <a:endParaRPr lang="en-US" sz="1300" dirty="0"/>
          </a:p>
          <a:p>
            <a:pPr algn="ctr" indent="0" marL="0">
              <a:buNone/>
            </a:pPr>
            <a:r>
              <a:rPr lang="en-US" sz="1300" dirty="0">
                <a:solidFill>
                  <a:srgbClr val="0E2841"/>
                </a:solidFill>
                <a:latin typeface="Malgun Gothic" pitchFamily="34" charset="0"/>
                <a:ea typeface="Malgun Gothic" pitchFamily="34" charset="-122"/>
                <a:cs typeface="Malgun Gothic" pitchFamily="34" charset="-120"/>
              </a:rPr>
              <a:t>Calving and metabolic trouble</a:t>
            </a:r>
            <a:endParaRPr lang="en-US" sz="1300" dirty="0"/>
          </a:p>
        </p:txBody>
      </p:sp>
      <p:sp>
        <p:nvSpPr>
          <p:cNvPr id="20" name="Shape 18"/>
          <p:cNvSpPr/>
          <p:nvPr/>
        </p:nvSpPr>
        <p:spPr>
          <a:xfrm>
            <a:off x="548640" y="3767328"/>
            <a:ext cx="11064240" cy="1188720"/>
          </a:xfrm>
          <a:prstGeom prst="roundRect">
            <a:avLst>
              <a:gd name="adj" fmla="val 6154"/>
            </a:avLst>
          </a:prstGeom>
          <a:solidFill>
            <a:srgbClr val="E3ECF1"/>
          </a:solidFill>
          <a:ln w="12700">
            <a:solidFill>
              <a:srgbClr val="E3ECF1"/>
            </a:solidFill>
            <a:prstDash val="solid"/>
          </a:ln>
        </p:spPr>
      </p:sp>
      <p:sp>
        <p:nvSpPr>
          <p:cNvPr id="21" name="Text 19"/>
          <p:cNvSpPr/>
          <p:nvPr/>
        </p:nvSpPr>
        <p:spPr>
          <a:xfrm>
            <a:off x="548640" y="3877056"/>
            <a:ext cx="11064240" cy="402336"/>
          </a:xfrm>
          <a:prstGeom prst="rect">
            <a:avLst/>
          </a:prstGeom>
          <a:noFill/>
          <a:ln/>
        </p:spPr>
        <p:txBody>
          <a:bodyPr wrap="square" lIns="0" tIns="0" rIns="0" bIns="0" rtlCol="0" anchor="ctr"/>
          <a:lstStyle/>
          <a:p>
            <a:pPr algn="ctr" indent="0" marL="0">
              <a:buNone/>
            </a:pPr>
            <a:r>
              <a:rPr lang="en-US" sz="1800" b="1" dirty="0">
                <a:solidFill>
                  <a:srgbClr val="0E2841"/>
                </a:solidFill>
                <a:latin typeface="Malgun Gothic" pitchFamily="34" charset="0"/>
                <a:ea typeface="Malgun Gothic" pitchFamily="34" charset="-122"/>
                <a:cs typeface="Malgun Gothic" pitchFamily="34" charset="-120"/>
              </a:rPr>
              <a:t>DIRECTION beats NUMBER</a:t>
            </a:r>
            <a:endParaRPr lang="en-US" sz="1800" dirty="0"/>
          </a:p>
        </p:txBody>
      </p:sp>
      <p:sp>
        <p:nvSpPr>
          <p:cNvPr id="22" name="Text 20"/>
          <p:cNvSpPr/>
          <p:nvPr/>
        </p:nvSpPr>
        <p:spPr>
          <a:xfrm>
            <a:off x="548640" y="4334256"/>
            <a:ext cx="11064240" cy="402336"/>
          </a:xfrm>
          <a:prstGeom prst="rect">
            <a:avLst/>
          </a:prstGeom>
          <a:noFill/>
          <a:ln/>
        </p:spPr>
        <p:txBody>
          <a:bodyPr wrap="square" lIns="0" tIns="0" rIns="0" bIns="0" rtlCol="0" anchor="ctr"/>
          <a:lstStyle/>
          <a:p>
            <a:pPr algn="ctr" indent="0" marL="0">
              <a:buNone/>
            </a:pPr>
            <a:r>
              <a:rPr lang="en-US" sz="1500" dirty="0">
                <a:solidFill>
                  <a:srgbClr val="0E2841"/>
                </a:solidFill>
                <a:latin typeface="Malgun Gothic" pitchFamily="34" charset="0"/>
                <a:ea typeface="Malgun Gothic" pitchFamily="34" charset="-122"/>
                <a:cs typeface="Malgun Gothic" pitchFamily="34" charset="-120"/>
              </a:rPr>
              <a:t>3.0 and going DOWN  →  worse                    2.75 and going UP  →  better</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corpus luteum — what your hand is looking for</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 firm button on the ovary where the egg came out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No CL means no pregnancy hormone. The embryo goes in, finds nothing, and dies.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27</a:t>
            </a:r>
            <a:endParaRPr lang="en-US" sz="900" dirty="0"/>
          </a:p>
        </p:txBody>
      </p:sp>
      <p:sp>
        <p:nvSpPr>
          <p:cNvPr id="8" name="Shape 6"/>
          <p:cNvSpPr/>
          <p:nvPr/>
        </p:nvSpPr>
        <p:spPr>
          <a:xfrm>
            <a:off x="1554480" y="2029968"/>
            <a:ext cx="2377440" cy="1737360"/>
          </a:xfrm>
          <a:prstGeom prst="ellipse">
            <a:avLst/>
          </a:prstGeom>
          <a:solidFill>
            <a:srgbClr val="FFFFFF"/>
          </a:solidFill>
          <a:ln w="20320">
            <a:solidFill>
              <a:srgbClr val="0E2841"/>
            </a:solidFill>
            <a:prstDash val="solid"/>
          </a:ln>
        </p:spPr>
      </p:sp>
      <p:sp>
        <p:nvSpPr>
          <p:cNvPr id="9" name="Shape 7"/>
          <p:cNvSpPr/>
          <p:nvPr/>
        </p:nvSpPr>
        <p:spPr>
          <a:xfrm>
            <a:off x="2743200" y="2307946"/>
            <a:ext cx="799186" cy="799186"/>
          </a:xfrm>
          <a:prstGeom prst="ellipse">
            <a:avLst/>
          </a:prstGeom>
          <a:solidFill>
            <a:srgbClr val="E97132"/>
          </a:solidFill>
          <a:ln w="12700">
            <a:solidFill>
              <a:srgbClr val="E97132"/>
            </a:solidFill>
            <a:prstDash val="solid"/>
          </a:ln>
        </p:spPr>
      </p:sp>
      <p:sp>
        <p:nvSpPr>
          <p:cNvPr id="10" name="Text 8"/>
          <p:cNvSpPr/>
          <p:nvPr/>
        </p:nvSpPr>
        <p:spPr>
          <a:xfrm>
            <a:off x="2743200" y="2307946"/>
            <a:ext cx="799186" cy="799186"/>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CL</a:t>
            </a:r>
            <a:endParaRPr lang="en-US" sz="1100" dirty="0"/>
          </a:p>
        </p:txBody>
      </p:sp>
      <p:sp>
        <p:nvSpPr>
          <p:cNvPr id="11" name="Text 9"/>
          <p:cNvSpPr/>
          <p:nvPr/>
        </p:nvSpPr>
        <p:spPr>
          <a:xfrm>
            <a:off x="1554480" y="3803904"/>
            <a:ext cx="2377440" cy="237744"/>
          </a:xfrm>
          <a:prstGeom prst="rect">
            <a:avLst/>
          </a:prstGeom>
          <a:noFill/>
          <a:ln/>
        </p:spPr>
        <p:txBody>
          <a:bodyPr wrap="square" lIns="0" tIns="0" rIns="0" bIns="0" rtlCol="0" anchor="ctr"/>
          <a:lstStyle/>
          <a:p>
            <a:pPr algn="ctr" indent="0" marL="0">
              <a:buNone/>
            </a:pPr>
            <a:r>
              <a:rPr lang="en-US" sz="1100" b="1" dirty="0">
                <a:solidFill>
                  <a:srgbClr val="196B24"/>
                </a:solidFill>
                <a:latin typeface="Malgun Gothic" pitchFamily="34" charset="0"/>
                <a:ea typeface="Malgun Gothic" pitchFamily="34" charset="-122"/>
                <a:cs typeface="Malgun Gothic" pitchFamily="34" charset="-120"/>
              </a:rPr>
              <a:t>CL PRESENT  →  GO</a:t>
            </a:r>
            <a:endParaRPr lang="en-US" sz="1100" dirty="0"/>
          </a:p>
        </p:txBody>
      </p:sp>
      <p:sp>
        <p:nvSpPr>
          <p:cNvPr id="12" name="Shape 10"/>
          <p:cNvSpPr/>
          <p:nvPr/>
        </p:nvSpPr>
        <p:spPr>
          <a:xfrm>
            <a:off x="5120640" y="2029968"/>
            <a:ext cx="2377440" cy="1737360"/>
          </a:xfrm>
          <a:prstGeom prst="ellipse">
            <a:avLst/>
          </a:prstGeom>
          <a:solidFill>
            <a:srgbClr val="FFFFFF"/>
          </a:solidFill>
          <a:ln w="20320">
            <a:solidFill>
              <a:srgbClr val="0E2841"/>
            </a:solidFill>
            <a:prstDash val="solid"/>
          </a:ln>
        </p:spPr>
      </p:sp>
      <p:sp>
        <p:nvSpPr>
          <p:cNvPr id="13" name="Shape 11"/>
          <p:cNvSpPr/>
          <p:nvPr/>
        </p:nvSpPr>
        <p:spPr>
          <a:xfrm>
            <a:off x="5358384" y="2933395"/>
            <a:ext cx="521208" cy="521208"/>
          </a:xfrm>
          <a:prstGeom prst="ellipse">
            <a:avLst/>
          </a:prstGeom>
          <a:solidFill>
            <a:srgbClr val="0F9ED5"/>
          </a:solidFill>
          <a:ln w="12700">
            <a:solidFill>
              <a:srgbClr val="0F9ED5"/>
            </a:solidFill>
            <a:prstDash val="solid"/>
          </a:ln>
        </p:spPr>
      </p:sp>
      <p:sp>
        <p:nvSpPr>
          <p:cNvPr id="14" name="Text 12"/>
          <p:cNvSpPr/>
          <p:nvPr/>
        </p:nvSpPr>
        <p:spPr>
          <a:xfrm>
            <a:off x="5120640" y="3803904"/>
            <a:ext cx="2377440" cy="237744"/>
          </a:xfrm>
          <a:prstGeom prst="rect">
            <a:avLst/>
          </a:prstGeom>
          <a:noFill/>
          <a:ln/>
        </p:spPr>
        <p:txBody>
          <a:bodyPr wrap="square" lIns="0" tIns="0" rIns="0" bIns="0" rtlCol="0" anchor="ctr"/>
          <a:lstStyle/>
          <a:p>
            <a:pPr algn="ctr" indent="0" marL="0">
              <a:buNone/>
            </a:pPr>
            <a:r>
              <a:rPr lang="en-US" sz="1100" b="1" dirty="0">
                <a:solidFill>
                  <a:srgbClr val="E97132"/>
                </a:solidFill>
                <a:latin typeface="Malgun Gothic" pitchFamily="34" charset="0"/>
                <a:ea typeface="Malgun Gothic" pitchFamily="34" charset="-122"/>
                <a:cs typeface="Malgun Gothic" pitchFamily="34" charset="-120"/>
              </a:rPr>
              <a:t>ONLY A FOLLICLE  →  STOP</a:t>
            </a:r>
            <a:endParaRPr lang="en-US" sz="1100" dirty="0"/>
          </a:p>
        </p:txBody>
      </p:sp>
      <p:sp>
        <p:nvSpPr>
          <p:cNvPr id="15" name="Shape 13"/>
          <p:cNvSpPr/>
          <p:nvPr/>
        </p:nvSpPr>
        <p:spPr>
          <a:xfrm>
            <a:off x="8686800" y="2029968"/>
            <a:ext cx="2377440" cy="1737360"/>
          </a:xfrm>
          <a:prstGeom prst="ellipse">
            <a:avLst/>
          </a:prstGeom>
          <a:solidFill>
            <a:srgbClr val="FFFFFF"/>
          </a:solidFill>
          <a:ln w="20320">
            <a:solidFill>
              <a:srgbClr val="0E2841"/>
            </a:solidFill>
            <a:prstDash val="solid"/>
          </a:ln>
        </p:spPr>
      </p:sp>
      <p:sp>
        <p:nvSpPr>
          <p:cNvPr id="16" name="Text 14"/>
          <p:cNvSpPr/>
          <p:nvPr/>
        </p:nvSpPr>
        <p:spPr>
          <a:xfrm>
            <a:off x="8686800" y="3803904"/>
            <a:ext cx="2377440" cy="237744"/>
          </a:xfrm>
          <a:prstGeom prst="rect">
            <a:avLst/>
          </a:prstGeom>
          <a:noFill/>
          <a:ln/>
        </p:spPr>
        <p:txBody>
          <a:bodyPr wrap="square" lIns="0" tIns="0" rIns="0" bIns="0" rtlCol="0" anchor="ctr"/>
          <a:lstStyle/>
          <a:p>
            <a:pPr algn="ctr" indent="0" marL="0">
              <a:buNone/>
            </a:pPr>
            <a:r>
              <a:rPr lang="en-US" sz="1100" b="1" dirty="0">
                <a:solidFill>
                  <a:srgbClr val="E97132"/>
                </a:solidFill>
                <a:latin typeface="Malgun Gothic" pitchFamily="34" charset="0"/>
                <a:ea typeface="Malgun Gothic" pitchFamily="34" charset="-122"/>
                <a:cs typeface="Malgun Gothic" pitchFamily="34" charset="-120"/>
              </a:rPr>
              <a:t>NOTHING  →  STOP</a:t>
            </a:r>
            <a:endParaRPr lang="en-US" sz="1100" dirty="0"/>
          </a:p>
        </p:txBody>
      </p:sp>
      <p:sp>
        <p:nvSpPr>
          <p:cNvPr id="17" name="Shape 15"/>
          <p:cNvSpPr/>
          <p:nvPr/>
        </p:nvSpPr>
        <p:spPr>
          <a:xfrm>
            <a:off x="548640" y="4315968"/>
            <a:ext cx="11064240" cy="914400"/>
          </a:xfrm>
          <a:prstGeom prst="roundRect">
            <a:avLst>
              <a:gd name="adj" fmla="val 8000"/>
            </a:avLst>
          </a:prstGeom>
          <a:solidFill>
            <a:srgbClr val="0E2841"/>
          </a:solidFill>
          <a:ln w="12700">
            <a:solidFill>
              <a:srgbClr val="0E2841"/>
            </a:solidFill>
            <a:prstDash val="solid"/>
          </a:ln>
        </p:spPr>
      </p:sp>
      <p:sp>
        <p:nvSpPr>
          <p:cNvPr id="18" name="Text 16"/>
          <p:cNvSpPr/>
          <p:nvPr/>
        </p:nvSpPr>
        <p:spPr>
          <a:xfrm>
            <a:off x="548640" y="4315968"/>
            <a:ext cx="1106424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NO  CL   =   NO  TRANSFER</a:t>
            </a:r>
            <a:endParaRPr lang="en-US"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GO or NO-GO — and the order matters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Feel first. Decide. Then walk to the tank.</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If you thaw first and then find no CL, you have thrown the embryo away.</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28</a:t>
            </a:r>
            <a:endParaRPr lang="en-US" sz="900" dirty="0"/>
          </a:p>
        </p:txBody>
      </p:sp>
      <p:sp>
        <p:nvSpPr>
          <p:cNvPr id="8" name="Shape 6"/>
          <p:cNvSpPr/>
          <p:nvPr/>
        </p:nvSpPr>
        <p:spPr>
          <a:xfrm>
            <a:off x="548640" y="1709928"/>
            <a:ext cx="11064240" cy="457200"/>
          </a:xfrm>
          <a:prstGeom prst="roundRect">
            <a:avLst>
              <a:gd name="adj" fmla="val 14000"/>
            </a:avLst>
          </a:prstGeom>
          <a:solidFill>
            <a:srgbClr val="0E2841"/>
          </a:solidFill>
          <a:ln w="12700">
            <a:solidFill>
              <a:srgbClr val="0E2841"/>
            </a:solidFill>
            <a:prstDash val="solid"/>
          </a:ln>
        </p:spPr>
      </p:sp>
      <p:sp>
        <p:nvSpPr>
          <p:cNvPr id="9" name="Text 7"/>
          <p:cNvSpPr/>
          <p:nvPr/>
        </p:nvSpPr>
        <p:spPr>
          <a:xfrm>
            <a:off x="548640" y="1709928"/>
            <a:ext cx="110642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Put your hand in. Can you feel a firm CL on one of the ovaries?</a:t>
            </a:r>
            <a:endParaRPr lang="en-US" sz="1400" dirty="0"/>
          </a:p>
        </p:txBody>
      </p:sp>
      <p:sp>
        <p:nvSpPr>
          <p:cNvPr id="10" name="Shape 8"/>
          <p:cNvSpPr/>
          <p:nvPr/>
        </p:nvSpPr>
        <p:spPr>
          <a:xfrm>
            <a:off x="548640" y="2386584"/>
            <a:ext cx="5394960" cy="2432304"/>
          </a:xfrm>
          <a:prstGeom prst="roundRect">
            <a:avLst>
              <a:gd name="adj" fmla="val 2632"/>
            </a:avLst>
          </a:prstGeom>
          <a:solidFill>
            <a:srgbClr val="E7F1E8"/>
          </a:solidFill>
          <a:ln w="12700">
            <a:solidFill>
              <a:srgbClr val="196B24"/>
            </a:solidFill>
            <a:prstDash val="solid"/>
          </a:ln>
        </p:spPr>
      </p:sp>
      <p:sp>
        <p:nvSpPr>
          <p:cNvPr id="11" name="Text 9"/>
          <p:cNvSpPr/>
          <p:nvPr/>
        </p:nvSpPr>
        <p:spPr>
          <a:xfrm>
            <a:off x="548640" y="2459736"/>
            <a:ext cx="5394960" cy="310896"/>
          </a:xfrm>
          <a:prstGeom prst="rect">
            <a:avLst/>
          </a:prstGeom>
          <a:noFill/>
          <a:ln/>
        </p:spPr>
        <p:txBody>
          <a:bodyPr wrap="square" lIns="0" tIns="0" rIns="0" bIns="0" rtlCol="0" anchor="ctr"/>
          <a:lstStyle/>
          <a:p>
            <a:pPr algn="ctr" indent="0" marL="0">
              <a:buNone/>
            </a:pPr>
            <a:r>
              <a:rPr lang="en-US" sz="1300" b="1" dirty="0">
                <a:solidFill>
                  <a:srgbClr val="196B24"/>
                </a:solidFill>
                <a:latin typeface="Malgun Gothic" pitchFamily="34" charset="0"/>
                <a:ea typeface="Malgun Gothic" pitchFamily="34" charset="-122"/>
                <a:cs typeface="Malgun Gothic" pitchFamily="34" charset="-120"/>
              </a:rPr>
              <a:t>YES  →  GO</a:t>
            </a:r>
            <a:endParaRPr lang="en-US" sz="1300" dirty="0"/>
          </a:p>
        </p:txBody>
      </p:sp>
      <p:sp>
        <p:nvSpPr>
          <p:cNvPr id="12" name="Text 10"/>
          <p:cNvSpPr/>
          <p:nvPr/>
        </p:nvSpPr>
        <p:spPr>
          <a:xfrm>
            <a:off x="694944" y="2807208"/>
            <a:ext cx="5102352" cy="1920240"/>
          </a:xfrm>
          <a:prstGeom prst="rect">
            <a:avLst/>
          </a:prstGeom>
          <a:noFill/>
          <a:ln/>
        </p:spPr>
        <p:txBody>
          <a:bodyPr wrap="square" lIns="0" tIns="0" rIns="0" bIns="0" rtlCol="0" anchor="t"/>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Write down the side — left or right.</a:t>
            </a:r>
            <a:endParaRPr lang="en-US" sz="1200" dirty="0"/>
          </a:p>
          <a:p>
            <a:pPr algn="l" indent="0" marL="0">
              <a:buNone/>
            </a:pPr>
            <a:r>
              <a:rPr lang="en-US" sz="1200" dirty="0">
                <a:solidFill>
                  <a:srgbClr val="0E2841"/>
                </a:solidFill>
                <a:latin typeface="Malgun Gothic" pitchFamily="34" charset="0"/>
                <a:ea typeface="Malgun Gothic" pitchFamily="34" charset="-122"/>
                <a:cs typeface="Malgun Gothic" pitchFamily="34" charset="-120"/>
              </a:rPr>
              <a:t>Now walk to the tank.</a:t>
            </a:r>
            <a:endParaRPr lang="en-US" sz="1200" dirty="0"/>
          </a:p>
          <a:p>
            <a:pPr algn="l" indent="0" marL="0">
              <a:buNone/>
            </a:pPr>
            <a:r>
              <a:rPr lang="en-US" sz="1200" dirty="0">
                <a:solidFill>
                  <a:srgbClr val="0E2841"/>
                </a:solidFill>
                <a:latin typeface="Malgun Gothic" pitchFamily="34" charset="0"/>
                <a:ea typeface="Malgun Gothic" pitchFamily="34" charset="-122"/>
                <a:cs typeface="Malgun Gothic" pitchFamily="34" charset="-120"/>
              </a:rPr>
              <a:t>Thaw the straw.</a:t>
            </a:r>
            <a:endParaRPr lang="en-US" sz="1200" dirty="0"/>
          </a:p>
          <a:p>
            <a:pPr algn="l" indent="0" marL="0">
              <a:buNone/>
            </a:pPr>
            <a:r>
              <a:rPr lang="en-US" sz="1200" dirty="0">
                <a:solidFill>
                  <a:srgbClr val="0E2841"/>
                </a:solidFill>
                <a:latin typeface="Malgun Gothic" pitchFamily="34" charset="0"/>
                <a:ea typeface="Malgun Gothic" pitchFamily="34" charset="-122"/>
                <a:cs typeface="Malgun Gothic" pitchFamily="34" charset="-120"/>
              </a:rPr>
              <a:t>Transfer into the horn on the SAME side.</a:t>
            </a:r>
            <a:endParaRPr lang="en-US" sz="1200" dirty="0"/>
          </a:p>
        </p:txBody>
      </p:sp>
      <p:sp>
        <p:nvSpPr>
          <p:cNvPr id="13" name="Shape 11"/>
          <p:cNvSpPr/>
          <p:nvPr/>
        </p:nvSpPr>
        <p:spPr>
          <a:xfrm>
            <a:off x="6217920" y="2386584"/>
            <a:ext cx="5394960" cy="2432304"/>
          </a:xfrm>
          <a:prstGeom prst="roundRect">
            <a:avLst>
              <a:gd name="adj" fmla="val 2632"/>
            </a:avLst>
          </a:prstGeom>
          <a:solidFill>
            <a:srgbClr val="FBEDE2"/>
          </a:solidFill>
          <a:ln w="12700">
            <a:solidFill>
              <a:srgbClr val="E97132"/>
            </a:solidFill>
            <a:prstDash val="solid"/>
          </a:ln>
        </p:spPr>
      </p:sp>
      <p:sp>
        <p:nvSpPr>
          <p:cNvPr id="14" name="Text 12"/>
          <p:cNvSpPr/>
          <p:nvPr/>
        </p:nvSpPr>
        <p:spPr>
          <a:xfrm>
            <a:off x="6217920" y="2459736"/>
            <a:ext cx="5394960" cy="310896"/>
          </a:xfrm>
          <a:prstGeom prst="rect">
            <a:avLst/>
          </a:prstGeom>
          <a:noFill/>
          <a:ln/>
        </p:spPr>
        <p:txBody>
          <a:bodyPr wrap="square" lIns="0" tIns="0" rIns="0" bIns="0" rtlCol="0" anchor="ctr"/>
          <a:lstStyle/>
          <a:p>
            <a:pPr algn="ctr" indent="0" marL="0">
              <a:buNone/>
            </a:pPr>
            <a:r>
              <a:rPr lang="en-US" sz="1300" b="1" dirty="0">
                <a:solidFill>
                  <a:srgbClr val="E97132"/>
                </a:solidFill>
                <a:latin typeface="Malgun Gothic" pitchFamily="34" charset="0"/>
                <a:ea typeface="Malgun Gothic" pitchFamily="34" charset="-122"/>
                <a:cs typeface="Malgun Gothic" pitchFamily="34" charset="-120"/>
              </a:rPr>
              <a:t>NO  →  STOP</a:t>
            </a:r>
            <a:endParaRPr lang="en-US" sz="1300" dirty="0"/>
          </a:p>
        </p:txBody>
      </p:sp>
      <p:sp>
        <p:nvSpPr>
          <p:cNvPr id="15" name="Text 13"/>
          <p:cNvSpPr/>
          <p:nvPr/>
        </p:nvSpPr>
        <p:spPr>
          <a:xfrm>
            <a:off x="6364224" y="2807208"/>
            <a:ext cx="5102352" cy="1920240"/>
          </a:xfrm>
          <a:prstGeom prst="rect">
            <a:avLst/>
          </a:prstGeom>
          <a:noFill/>
          <a:ln/>
        </p:spPr>
        <p:txBody>
          <a:bodyPr wrap="square" lIns="0" tIns="0" rIns="0" bIns="0" rtlCol="0" anchor="t"/>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Do NOT thaw the straw.</a:t>
            </a:r>
            <a:endParaRPr lang="en-US" sz="1200" dirty="0"/>
          </a:p>
          <a:p>
            <a:pPr algn="l" indent="0" marL="0">
              <a:buNone/>
            </a:pPr>
            <a:r>
              <a:rPr lang="en-US" sz="1200" dirty="0">
                <a:solidFill>
                  <a:srgbClr val="0E2841"/>
                </a:solidFill>
                <a:latin typeface="Malgun Gothic" pitchFamily="34" charset="0"/>
                <a:ea typeface="Malgun Gothic" pitchFamily="34" charset="-122"/>
                <a:cs typeface="Malgun Gothic" pitchFamily="34" charset="-120"/>
              </a:rPr>
              <a:t>Send this cow out.</a:t>
            </a:r>
            <a:endParaRPr lang="en-US" sz="1200" dirty="0"/>
          </a:p>
          <a:p>
            <a:pPr algn="l" indent="0" marL="0">
              <a:buNone/>
            </a:pPr>
            <a:r>
              <a:rPr lang="en-US" sz="1200" dirty="0">
                <a:solidFill>
                  <a:srgbClr val="0E2841"/>
                </a:solidFill>
                <a:latin typeface="Malgun Gothic" pitchFamily="34" charset="0"/>
                <a:ea typeface="Malgun Gothic" pitchFamily="34" charset="-122"/>
                <a:cs typeface="Malgun Gothic" pitchFamily="34" charset="-120"/>
              </a:rPr>
              <a:t>Bring the next cow.</a:t>
            </a:r>
            <a:endParaRPr lang="en-US" sz="1200" dirty="0"/>
          </a:p>
          <a:p>
            <a:pPr algn="l" indent="0" marL="0">
              <a:buNone/>
            </a:pPr>
            <a:r>
              <a:rPr lang="en-US" sz="1200" dirty="0">
                <a:solidFill>
                  <a:srgbClr val="0E2841"/>
                </a:solidFill>
                <a:latin typeface="Malgun Gothic" pitchFamily="34" charset="0"/>
                <a:ea typeface="Malgun Gothic" pitchFamily="34" charset="-122"/>
                <a:cs typeface="Malgun Gothic" pitchFamily="34" charset="-120"/>
              </a:rPr>
              <a:t>Put her back in the programme for the next batch.</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Same side as the CL</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CL supplies the horn beside it through local blood vessels</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Wrong side is not a small mistake. It is a lost pregnancy, and nobody will ever see why.</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29</a:t>
            </a:r>
            <a:endParaRPr lang="en-US" sz="900" dirty="0"/>
          </a:p>
        </p:txBody>
      </p:sp>
      <p:sp>
        <p:nvSpPr>
          <p:cNvPr id="8" name="Shape 6"/>
          <p:cNvSpPr/>
          <p:nvPr/>
        </p:nvSpPr>
        <p:spPr>
          <a:xfrm>
            <a:off x="5806440" y="3317443"/>
            <a:ext cx="548640" cy="1115568"/>
          </a:xfrm>
          <a:prstGeom prst="roundRect">
            <a:avLst>
              <a:gd name="adj" fmla="val 16667"/>
            </a:avLst>
          </a:prstGeom>
          <a:solidFill>
            <a:srgbClr val="F2F5F7"/>
          </a:solidFill>
          <a:ln w="17780">
            <a:solidFill>
              <a:srgbClr val="0E2841"/>
            </a:solidFill>
            <a:prstDash val="solid"/>
          </a:ln>
        </p:spPr>
      </p:sp>
      <p:sp>
        <p:nvSpPr>
          <p:cNvPr id="9" name="Text 7"/>
          <p:cNvSpPr/>
          <p:nvPr/>
        </p:nvSpPr>
        <p:spPr>
          <a:xfrm>
            <a:off x="5394960" y="4377233"/>
            <a:ext cx="1371600" cy="219456"/>
          </a:xfrm>
          <a:prstGeom prst="rect">
            <a:avLst/>
          </a:prstGeom>
          <a:noFill/>
          <a:ln/>
        </p:spPr>
        <p:txBody>
          <a:bodyPr wrap="square" lIns="0" tIns="0" rIns="0" bIns="0" rtlCol="0" anchor="ctr"/>
          <a:lstStyle/>
          <a:p>
            <a:pPr algn="ctr" indent="0" marL="0">
              <a:buNone/>
            </a:pPr>
            <a:r>
              <a:rPr lang="en-US" sz="900" dirty="0">
                <a:solidFill>
                  <a:srgbClr val="6B7280"/>
                </a:solidFill>
                <a:latin typeface="Malgun Gothic" pitchFamily="34" charset="0"/>
                <a:ea typeface="Malgun Gothic" pitchFamily="34" charset="-122"/>
                <a:cs typeface="Malgun Gothic" pitchFamily="34" charset="-120"/>
              </a:rPr>
              <a:t>cervix</a:t>
            </a:r>
            <a:endParaRPr lang="en-US" sz="900" dirty="0"/>
          </a:p>
        </p:txBody>
      </p:sp>
      <p:sp>
        <p:nvSpPr>
          <p:cNvPr id="10" name="Shape 8"/>
          <p:cNvSpPr/>
          <p:nvPr/>
        </p:nvSpPr>
        <p:spPr>
          <a:xfrm flipV="1">
            <a:off x="4937760" y="2592324"/>
            <a:ext cx="886968" cy="780898"/>
          </a:xfrm>
          <a:prstGeom prst="line">
            <a:avLst/>
          </a:prstGeom>
          <a:noFill/>
          <a:ln w="63500">
            <a:solidFill>
              <a:srgbClr val="6B7280"/>
            </a:solidFill>
            <a:prstDash val="solid"/>
          </a:ln>
        </p:spPr>
      </p:sp>
      <p:sp>
        <p:nvSpPr>
          <p:cNvPr id="11" name="Shape 9"/>
          <p:cNvSpPr/>
          <p:nvPr/>
        </p:nvSpPr>
        <p:spPr>
          <a:xfrm flipV="1">
            <a:off x="4389120" y="2034540"/>
            <a:ext cx="548640" cy="557784"/>
          </a:xfrm>
          <a:prstGeom prst="line">
            <a:avLst/>
          </a:prstGeom>
          <a:noFill/>
          <a:ln w="63500">
            <a:solidFill>
              <a:srgbClr val="6B7280"/>
            </a:solidFill>
            <a:prstDash val="solid"/>
          </a:ln>
        </p:spPr>
      </p:sp>
      <p:sp>
        <p:nvSpPr>
          <p:cNvPr id="12" name="Shape 10"/>
          <p:cNvSpPr/>
          <p:nvPr/>
        </p:nvSpPr>
        <p:spPr>
          <a:xfrm>
            <a:off x="3950208" y="1811426"/>
            <a:ext cx="512064" cy="365760"/>
          </a:xfrm>
          <a:prstGeom prst="ellipse">
            <a:avLst/>
          </a:prstGeom>
          <a:solidFill>
            <a:srgbClr val="FFFFFF"/>
          </a:solidFill>
          <a:ln w="20320">
            <a:solidFill>
              <a:srgbClr val="0E2841"/>
            </a:solidFill>
            <a:prstDash val="solid"/>
          </a:ln>
        </p:spPr>
      </p:sp>
      <p:sp>
        <p:nvSpPr>
          <p:cNvPr id="13" name="Shape 11"/>
          <p:cNvSpPr/>
          <p:nvPr/>
        </p:nvSpPr>
        <p:spPr>
          <a:xfrm>
            <a:off x="4001414" y="2001622"/>
            <a:ext cx="109728" cy="109728"/>
          </a:xfrm>
          <a:prstGeom prst="ellipse">
            <a:avLst/>
          </a:prstGeom>
          <a:solidFill>
            <a:srgbClr val="0F9ED5"/>
          </a:solidFill>
          <a:ln w="12700">
            <a:solidFill>
              <a:srgbClr val="0F9ED5"/>
            </a:solidFill>
            <a:prstDash val="solid"/>
          </a:ln>
        </p:spPr>
      </p:sp>
      <p:sp>
        <p:nvSpPr>
          <p:cNvPr id="14" name="Text 12"/>
          <p:cNvSpPr/>
          <p:nvPr/>
        </p:nvSpPr>
        <p:spPr>
          <a:xfrm>
            <a:off x="4069080" y="2982773"/>
            <a:ext cx="1554480" cy="237744"/>
          </a:xfrm>
          <a:prstGeom prst="rect">
            <a:avLst/>
          </a:prstGeom>
          <a:no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LEFT horn</a:t>
            </a:r>
            <a:endParaRPr lang="en-US" sz="1000" dirty="0"/>
          </a:p>
        </p:txBody>
      </p:sp>
      <p:sp>
        <p:nvSpPr>
          <p:cNvPr id="15" name="Shape 13"/>
          <p:cNvSpPr/>
          <p:nvPr/>
        </p:nvSpPr>
        <p:spPr>
          <a:xfrm flipV="1">
            <a:off x="6336792" y="2592324"/>
            <a:ext cx="886968" cy="780898"/>
          </a:xfrm>
          <a:prstGeom prst="line">
            <a:avLst/>
          </a:prstGeom>
          <a:noFill/>
          <a:ln w="88900">
            <a:solidFill>
              <a:srgbClr val="196B24"/>
            </a:solidFill>
            <a:prstDash val="solid"/>
          </a:ln>
        </p:spPr>
      </p:sp>
      <p:sp>
        <p:nvSpPr>
          <p:cNvPr id="16" name="Shape 14"/>
          <p:cNvSpPr/>
          <p:nvPr/>
        </p:nvSpPr>
        <p:spPr>
          <a:xfrm flipV="1">
            <a:off x="7223760" y="2034540"/>
            <a:ext cx="548640" cy="557784"/>
          </a:xfrm>
          <a:prstGeom prst="line">
            <a:avLst/>
          </a:prstGeom>
          <a:noFill/>
          <a:ln w="88900">
            <a:solidFill>
              <a:srgbClr val="196B24"/>
            </a:solidFill>
            <a:prstDash val="solid"/>
          </a:ln>
        </p:spPr>
      </p:sp>
      <p:sp>
        <p:nvSpPr>
          <p:cNvPr id="17" name="Shape 15"/>
          <p:cNvSpPr/>
          <p:nvPr/>
        </p:nvSpPr>
        <p:spPr>
          <a:xfrm>
            <a:off x="7699248" y="1811426"/>
            <a:ext cx="512064" cy="365760"/>
          </a:xfrm>
          <a:prstGeom prst="ellipse">
            <a:avLst/>
          </a:prstGeom>
          <a:solidFill>
            <a:srgbClr val="FFFFFF"/>
          </a:solidFill>
          <a:ln w="20320">
            <a:solidFill>
              <a:srgbClr val="0E2841"/>
            </a:solidFill>
            <a:prstDash val="solid"/>
          </a:ln>
        </p:spPr>
      </p:sp>
      <p:sp>
        <p:nvSpPr>
          <p:cNvPr id="18" name="Shape 16"/>
          <p:cNvSpPr/>
          <p:nvPr/>
        </p:nvSpPr>
        <p:spPr>
          <a:xfrm>
            <a:off x="7955280" y="1869948"/>
            <a:ext cx="168250" cy="168250"/>
          </a:xfrm>
          <a:prstGeom prst="ellipse">
            <a:avLst/>
          </a:prstGeom>
          <a:solidFill>
            <a:srgbClr val="E97132"/>
          </a:solidFill>
          <a:ln w="12700">
            <a:solidFill>
              <a:srgbClr val="E97132"/>
            </a:solidFill>
            <a:prstDash val="solid"/>
          </a:ln>
        </p:spPr>
      </p:sp>
      <p:sp>
        <p:nvSpPr>
          <p:cNvPr id="19" name="Text 17"/>
          <p:cNvSpPr/>
          <p:nvPr/>
        </p:nvSpPr>
        <p:spPr>
          <a:xfrm>
            <a:off x="7955280" y="1869948"/>
            <a:ext cx="168250" cy="16825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CL</a:t>
            </a:r>
            <a:endParaRPr lang="en-US" sz="1100" dirty="0"/>
          </a:p>
        </p:txBody>
      </p:sp>
      <p:sp>
        <p:nvSpPr>
          <p:cNvPr id="20" name="Shape 18"/>
          <p:cNvSpPr/>
          <p:nvPr/>
        </p:nvSpPr>
        <p:spPr>
          <a:xfrm>
            <a:off x="7406640" y="2194103"/>
            <a:ext cx="182880" cy="182880"/>
          </a:xfrm>
          <a:prstGeom prst="ellipse">
            <a:avLst/>
          </a:prstGeom>
          <a:solidFill>
            <a:srgbClr val="E97132"/>
          </a:solidFill>
          <a:ln w="12700">
            <a:solidFill>
              <a:srgbClr val="E97132"/>
            </a:solidFill>
            <a:prstDash val="solid"/>
          </a:ln>
        </p:spPr>
      </p:sp>
      <p:sp>
        <p:nvSpPr>
          <p:cNvPr id="21" name="Text 19"/>
          <p:cNvSpPr/>
          <p:nvPr/>
        </p:nvSpPr>
        <p:spPr>
          <a:xfrm>
            <a:off x="6309360" y="1718615"/>
            <a:ext cx="2377440" cy="274320"/>
          </a:xfrm>
          <a:prstGeom prst="rect">
            <a:avLst/>
          </a:prstGeom>
          <a:noFill/>
          <a:ln/>
        </p:spPr>
        <p:txBody>
          <a:bodyPr wrap="square" lIns="0" tIns="0" rIns="0" bIns="0" rtlCol="0" anchor="ctr"/>
          <a:lstStyle/>
          <a:p>
            <a:pPr algn="ctr" indent="0" marL="0">
              <a:buNone/>
            </a:pPr>
            <a:r>
              <a:rPr lang="en-US" sz="1000" b="1" dirty="0">
                <a:solidFill>
                  <a:srgbClr val="E97132"/>
                </a:solidFill>
                <a:latin typeface="Malgun Gothic" pitchFamily="34" charset="0"/>
                <a:ea typeface="Malgun Gothic" pitchFamily="34" charset="-122"/>
                <a:cs typeface="Malgun Gothic" pitchFamily="34" charset="-120"/>
              </a:rPr>
              <a:t>PUT EMBRYO HERE</a:t>
            </a:r>
            <a:endParaRPr lang="en-US" sz="1000" dirty="0"/>
          </a:p>
        </p:txBody>
      </p:sp>
      <p:sp>
        <p:nvSpPr>
          <p:cNvPr id="22" name="Text 20"/>
          <p:cNvSpPr/>
          <p:nvPr/>
        </p:nvSpPr>
        <p:spPr>
          <a:xfrm>
            <a:off x="6537960" y="2982773"/>
            <a:ext cx="1554480" cy="237744"/>
          </a:xfrm>
          <a:prstGeom prst="rect">
            <a:avLst/>
          </a:prstGeom>
          <a:noFill/>
          <a:ln/>
        </p:spPr>
        <p:txBody>
          <a:bodyPr wrap="square" lIns="0" tIns="0" rIns="0" bIns="0" rtlCol="0" anchor="ctr"/>
          <a:lstStyle/>
          <a:p>
            <a:pPr algn="ctr" indent="0" marL="0">
              <a:buNone/>
            </a:pPr>
            <a:r>
              <a:rPr lang="en-US" sz="1000" b="1" dirty="0">
                <a:solidFill>
                  <a:srgbClr val="196B24"/>
                </a:solidFill>
                <a:latin typeface="Malgun Gothic" pitchFamily="34" charset="0"/>
                <a:ea typeface="Malgun Gothic" pitchFamily="34" charset="-122"/>
                <a:cs typeface="Malgun Gothic" pitchFamily="34" charset="-120"/>
              </a:rPr>
              <a:t>RIGHT horn</a:t>
            </a:r>
            <a:endParaRPr lang="en-US" sz="1000" dirty="0"/>
          </a:p>
        </p:txBody>
      </p:sp>
      <p:sp>
        <p:nvSpPr>
          <p:cNvPr id="23" name="Shape 21"/>
          <p:cNvSpPr/>
          <p:nvPr/>
        </p:nvSpPr>
        <p:spPr>
          <a:xfrm>
            <a:off x="548640" y="4727448"/>
            <a:ext cx="11064240" cy="530352"/>
          </a:xfrm>
          <a:prstGeom prst="roundRect">
            <a:avLst>
              <a:gd name="adj" fmla="val 10345"/>
            </a:avLst>
          </a:prstGeom>
          <a:solidFill>
            <a:srgbClr val="FBEDE2"/>
          </a:solidFill>
          <a:ln w="12700">
            <a:solidFill>
              <a:srgbClr val="E97132"/>
            </a:solidFill>
            <a:prstDash val="solid"/>
          </a:ln>
        </p:spPr>
      </p:sp>
      <p:sp>
        <p:nvSpPr>
          <p:cNvPr id="24" name="Text 22"/>
          <p:cNvSpPr/>
          <p:nvPr/>
        </p:nvSpPr>
        <p:spPr>
          <a:xfrm>
            <a:off x="548640" y="4727448"/>
            <a:ext cx="11064240" cy="530352"/>
          </a:xfrm>
          <a:prstGeom prst="rect">
            <a:avLst/>
          </a:prstGeom>
          <a:noFill/>
          <a:ln/>
        </p:spPr>
        <p:txBody>
          <a:bodyPr wrap="square" lIns="0" tIns="0" rIns="0" bIns="0" rtlCol="0" anchor="ctr"/>
          <a:lstStyle/>
          <a:p>
            <a:pPr algn="ctr" indent="0" marL="0">
              <a:buNone/>
            </a:pPr>
            <a:r>
              <a:rPr lang="en-US" sz="1400" b="1" dirty="0">
                <a:solidFill>
                  <a:srgbClr val="0E2841"/>
                </a:solidFill>
                <a:latin typeface="Malgun Gothic" pitchFamily="34" charset="0"/>
                <a:ea typeface="Malgun Gothic" pitchFamily="34" charset="-122"/>
                <a:cs typeface="Malgun Gothic" pitchFamily="34" charset="-120"/>
              </a:rPr>
              <a:t>Feel the CL  →  say the side out loud  →  then pass the gun.  Confirm once more before you go in.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04</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The tank, freezing and thawing</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30 minutes  ·  where physics sets the rules</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Two kinds of freezing — the straw tells you which</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This is the most dangerous thing to get wrong today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Direct transfer: warm it and put it in. Vitrified: follow the card in the box. Never mix them.</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31</a:t>
            </a:r>
            <a:endParaRPr lang="en-US" sz="900" dirty="0"/>
          </a:p>
        </p:txBody>
      </p:sp>
      <p:sp>
        <p:nvSpPr>
          <p:cNvPr id="8" name="Shape 6"/>
          <p:cNvSpPr/>
          <p:nvPr/>
        </p:nvSpPr>
        <p:spPr>
          <a:xfrm>
            <a:off x="548640" y="1801368"/>
            <a:ext cx="5394960" cy="2468880"/>
          </a:xfrm>
          <a:prstGeom prst="roundRect">
            <a:avLst>
              <a:gd name="adj" fmla="val 2593"/>
            </a:avLst>
          </a:prstGeom>
          <a:solidFill>
            <a:srgbClr val="FFFFFF"/>
          </a:solidFill>
          <a:ln w="12700">
            <a:solidFill>
              <a:srgbClr val="196B24"/>
            </a:solidFill>
            <a:prstDash val="solid"/>
          </a:ln>
        </p:spPr>
      </p:sp>
      <p:sp>
        <p:nvSpPr>
          <p:cNvPr id="9" name="Shape 7"/>
          <p:cNvSpPr/>
          <p:nvPr/>
        </p:nvSpPr>
        <p:spPr>
          <a:xfrm>
            <a:off x="548640" y="1801368"/>
            <a:ext cx="5394960" cy="402336"/>
          </a:xfrm>
          <a:prstGeom prst="roundRect">
            <a:avLst>
              <a:gd name="adj" fmla="val 15909"/>
            </a:avLst>
          </a:prstGeom>
          <a:solidFill>
            <a:srgbClr val="196B24"/>
          </a:solidFill>
          <a:ln w="12700">
            <a:solidFill>
              <a:srgbClr val="196B24"/>
            </a:solidFill>
            <a:prstDash val="solid"/>
          </a:ln>
        </p:spPr>
      </p:sp>
      <p:sp>
        <p:nvSpPr>
          <p:cNvPr id="10" name="Text 8"/>
          <p:cNvSpPr/>
          <p:nvPr/>
        </p:nvSpPr>
        <p:spPr>
          <a:xfrm>
            <a:off x="54864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DIRECT TRANSFER  (DT)  —  slow frozen</a:t>
            </a:r>
            <a:endParaRPr lang="en-US" sz="1300" dirty="0"/>
          </a:p>
        </p:txBody>
      </p:sp>
      <p:sp>
        <p:nvSpPr>
          <p:cNvPr id="11" name="Text 9"/>
          <p:cNvSpPr/>
          <p:nvPr/>
        </p:nvSpPr>
        <p:spPr>
          <a:xfrm>
            <a:off x="694944" y="2313432"/>
            <a:ext cx="5102352" cy="182880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Warm it and put it straight in the cow</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No dish, no microscope, no solutions</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Water pot + thermometer + watch</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You can do this in a barn</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This is the field standard</a:t>
            </a:r>
            <a:endParaRPr lang="en-US" sz="1300" dirty="0"/>
          </a:p>
        </p:txBody>
      </p:sp>
      <p:sp>
        <p:nvSpPr>
          <p:cNvPr id="12" name="Shape 10"/>
          <p:cNvSpPr/>
          <p:nvPr/>
        </p:nvSpPr>
        <p:spPr>
          <a:xfrm>
            <a:off x="6217920" y="1801368"/>
            <a:ext cx="5394960" cy="2468880"/>
          </a:xfrm>
          <a:prstGeom prst="roundRect">
            <a:avLst>
              <a:gd name="adj" fmla="val 2593"/>
            </a:avLst>
          </a:prstGeom>
          <a:solidFill>
            <a:srgbClr val="FFFFFF"/>
          </a:solidFill>
          <a:ln w="12700">
            <a:solidFill>
              <a:srgbClr val="E97132"/>
            </a:solidFill>
            <a:prstDash val="solid"/>
          </a:ln>
        </p:spPr>
      </p:sp>
      <p:sp>
        <p:nvSpPr>
          <p:cNvPr id="13" name="Shape 11"/>
          <p:cNvSpPr/>
          <p:nvPr/>
        </p:nvSpPr>
        <p:spPr>
          <a:xfrm>
            <a:off x="6217920" y="1801368"/>
            <a:ext cx="5394960" cy="402336"/>
          </a:xfrm>
          <a:prstGeom prst="roundRect">
            <a:avLst>
              <a:gd name="adj" fmla="val 15909"/>
            </a:avLst>
          </a:prstGeom>
          <a:solidFill>
            <a:srgbClr val="E97132"/>
          </a:solidFill>
          <a:ln w="12700">
            <a:solidFill>
              <a:srgbClr val="E97132"/>
            </a:solidFill>
            <a:prstDash val="solid"/>
          </a:ln>
        </p:spPr>
      </p:sp>
      <p:sp>
        <p:nvSpPr>
          <p:cNvPr id="14" name="Text 12"/>
          <p:cNvSpPr/>
          <p:nvPr/>
        </p:nvSpPr>
        <p:spPr>
          <a:xfrm>
            <a:off x="621792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VITRIFIED  —  fast frozen</a:t>
            </a:r>
            <a:endParaRPr lang="en-US" sz="1300" dirty="0"/>
          </a:p>
        </p:txBody>
      </p:sp>
      <p:sp>
        <p:nvSpPr>
          <p:cNvPr id="15" name="Text 13"/>
          <p:cNvSpPr/>
          <p:nvPr/>
        </p:nvSpPr>
        <p:spPr>
          <a:xfrm>
            <a:off x="6364224" y="2313432"/>
            <a:ext cx="5102352" cy="182880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Step-by-step warming in solutions</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Follow the card that came in the box</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Cannot be done without preparation</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Common for laboratory (IVP) embryos</a:t>
            </a:r>
            <a:endParaRPr lang="en-US" sz="1300" dirty="0"/>
          </a:p>
        </p:txBody>
      </p:sp>
      <p:sp>
        <p:nvSpPr>
          <p:cNvPr id="16" name="Shape 14"/>
          <p:cNvSpPr/>
          <p:nvPr/>
        </p:nvSpPr>
        <p:spPr>
          <a:xfrm>
            <a:off x="548640" y="4453128"/>
            <a:ext cx="11064240" cy="804672"/>
          </a:xfrm>
          <a:prstGeom prst="roundRect">
            <a:avLst>
              <a:gd name="adj" fmla="val 9091"/>
            </a:avLst>
          </a:prstGeom>
          <a:solidFill>
            <a:srgbClr val="0E2841"/>
          </a:solidFill>
          <a:ln w="12700">
            <a:solidFill>
              <a:srgbClr val="0E2841"/>
            </a:solidFill>
            <a:prstDash val="solid"/>
          </a:ln>
        </p:spPr>
      </p:sp>
      <p:sp>
        <p:nvSpPr>
          <p:cNvPr id="17" name="Text 15"/>
          <p:cNvSpPr/>
          <p:nvPr/>
        </p:nvSpPr>
        <p:spPr>
          <a:xfrm>
            <a:off x="548640" y="4453128"/>
            <a:ext cx="11064240" cy="804672"/>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READ THE STRAW.   FOLLOW THE CARD IN THE BOX.</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300" b="1" dirty="0">
                <a:solidFill>
                  <a:srgbClr val="0E2841"/>
                </a:solidFill>
                <a:latin typeface="Malgun Gothic" pitchFamily="34" charset="0"/>
                <a:ea typeface="Malgun Gothic" pitchFamily="34" charset="-122"/>
                <a:cs typeface="Malgun Gothic" pitchFamily="34" charset="-120"/>
              </a:rPr>
              <a:t>Liquid nitrogen — it is not poison, it takes your oxygen</a:t>
            </a:r>
            <a:endParaRPr lang="en-US" sz="23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−196 °C  ·  one litre of liquid becomes 700 litres of gas</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Never open a tank in a closed room or a closed car. You will not feel it coming.</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32</a:t>
            </a:r>
            <a:endParaRPr lang="en-US" sz="900" dirty="0"/>
          </a:p>
        </p:txBody>
      </p:sp>
      <p:sp>
        <p:nvSpPr>
          <p:cNvPr id="8" name="Shape 6"/>
          <p:cNvSpPr/>
          <p:nvPr/>
        </p:nvSpPr>
        <p:spPr>
          <a:xfrm>
            <a:off x="548640" y="1847088"/>
            <a:ext cx="3517392" cy="1417320"/>
          </a:xfrm>
          <a:prstGeom prst="roundRect">
            <a:avLst>
              <a:gd name="adj" fmla="val 4516"/>
            </a:avLst>
          </a:prstGeom>
          <a:solidFill>
            <a:srgbClr val="F2F5F7"/>
          </a:solidFill>
          <a:ln w="12700">
            <a:solidFill>
              <a:srgbClr val="C9D3DA"/>
            </a:solidFill>
            <a:prstDash val="solid"/>
          </a:ln>
        </p:spPr>
      </p:sp>
      <p:sp>
        <p:nvSpPr>
          <p:cNvPr id="9" name="Text 7"/>
          <p:cNvSpPr/>
          <p:nvPr/>
        </p:nvSpPr>
        <p:spPr>
          <a:xfrm>
            <a:off x="548640" y="1956816"/>
            <a:ext cx="3517392" cy="680314"/>
          </a:xfrm>
          <a:prstGeom prst="rect">
            <a:avLst/>
          </a:prstGeom>
          <a:noFill/>
          <a:ln/>
        </p:spPr>
        <p:txBody>
          <a:bodyPr wrap="square" lIns="0" tIns="0" rIns="0" bIns="0" rtlCol="0" anchor="ctr"/>
          <a:lstStyle/>
          <a:p>
            <a:pPr algn="ctr" indent="0" marL="0">
              <a:buNone/>
            </a:pPr>
            <a:r>
              <a:rPr lang="en-US" sz="3200" b="1" dirty="0">
                <a:solidFill>
                  <a:srgbClr val="156082"/>
                </a:solidFill>
                <a:latin typeface="Malgun Gothic" pitchFamily="34" charset="0"/>
                <a:ea typeface="Malgun Gothic" pitchFamily="34" charset="-122"/>
                <a:cs typeface="Malgun Gothic" pitchFamily="34" charset="-120"/>
              </a:rPr>
              <a:t>−196°C</a:t>
            </a:r>
            <a:endParaRPr lang="en-US" sz="3200" dirty="0"/>
          </a:p>
        </p:txBody>
      </p:sp>
      <p:sp>
        <p:nvSpPr>
          <p:cNvPr id="10" name="Text 8"/>
          <p:cNvSpPr/>
          <p:nvPr/>
        </p:nvSpPr>
        <p:spPr>
          <a:xfrm>
            <a:off x="640080" y="2669134"/>
            <a:ext cx="3334512" cy="510235"/>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touching it burns the skin at once</a:t>
            </a:r>
            <a:endParaRPr lang="en-US" sz="1100" dirty="0"/>
          </a:p>
        </p:txBody>
      </p:sp>
      <p:sp>
        <p:nvSpPr>
          <p:cNvPr id="11" name="Shape 9"/>
          <p:cNvSpPr/>
          <p:nvPr/>
        </p:nvSpPr>
        <p:spPr>
          <a:xfrm>
            <a:off x="4322064" y="1847088"/>
            <a:ext cx="3517392" cy="1417320"/>
          </a:xfrm>
          <a:prstGeom prst="roundRect">
            <a:avLst>
              <a:gd name="adj" fmla="val 4516"/>
            </a:avLst>
          </a:prstGeom>
          <a:solidFill>
            <a:srgbClr val="F2F5F7"/>
          </a:solidFill>
          <a:ln w="12700">
            <a:solidFill>
              <a:srgbClr val="C9D3DA"/>
            </a:solidFill>
            <a:prstDash val="solid"/>
          </a:ln>
        </p:spPr>
      </p:sp>
      <p:sp>
        <p:nvSpPr>
          <p:cNvPr id="12" name="Text 10"/>
          <p:cNvSpPr/>
          <p:nvPr/>
        </p:nvSpPr>
        <p:spPr>
          <a:xfrm>
            <a:off x="4322064" y="1956816"/>
            <a:ext cx="3517392" cy="680314"/>
          </a:xfrm>
          <a:prstGeom prst="rect">
            <a:avLst/>
          </a:prstGeom>
          <a:noFill/>
          <a:ln/>
        </p:spPr>
        <p:txBody>
          <a:bodyPr wrap="square" lIns="0" tIns="0" rIns="0" bIns="0" rtlCol="0" anchor="ctr"/>
          <a:lstStyle/>
          <a:p>
            <a:pPr algn="ctr" indent="0" marL="0">
              <a:buNone/>
            </a:pPr>
            <a:r>
              <a:rPr lang="en-US" sz="3400" b="1" dirty="0">
                <a:solidFill>
                  <a:srgbClr val="E97132"/>
                </a:solidFill>
                <a:latin typeface="Malgun Gothic" pitchFamily="34" charset="0"/>
                <a:ea typeface="Malgun Gothic" pitchFamily="34" charset="-122"/>
                <a:cs typeface="Malgun Gothic" pitchFamily="34" charset="-120"/>
              </a:rPr>
              <a:t>× 700</a:t>
            </a:r>
            <a:endParaRPr lang="en-US" sz="3400" dirty="0"/>
          </a:p>
        </p:txBody>
      </p:sp>
      <p:sp>
        <p:nvSpPr>
          <p:cNvPr id="13" name="Text 11"/>
          <p:cNvSpPr/>
          <p:nvPr/>
        </p:nvSpPr>
        <p:spPr>
          <a:xfrm>
            <a:off x="4413504" y="2669134"/>
            <a:ext cx="3334512" cy="510235"/>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bigger when it turns to gas</a:t>
            </a:r>
            <a:endParaRPr lang="en-US" sz="1100" dirty="0"/>
          </a:p>
        </p:txBody>
      </p:sp>
      <p:sp>
        <p:nvSpPr>
          <p:cNvPr id="14" name="Shape 12"/>
          <p:cNvSpPr/>
          <p:nvPr/>
        </p:nvSpPr>
        <p:spPr>
          <a:xfrm>
            <a:off x="8095488" y="1847088"/>
            <a:ext cx="3517392" cy="1417320"/>
          </a:xfrm>
          <a:prstGeom prst="roundRect">
            <a:avLst>
              <a:gd name="adj" fmla="val 4516"/>
            </a:avLst>
          </a:prstGeom>
          <a:solidFill>
            <a:srgbClr val="F2F5F7"/>
          </a:solidFill>
          <a:ln w="12700">
            <a:solidFill>
              <a:srgbClr val="C9D3DA"/>
            </a:solidFill>
            <a:prstDash val="solid"/>
          </a:ln>
        </p:spPr>
      </p:sp>
      <p:sp>
        <p:nvSpPr>
          <p:cNvPr id="15" name="Text 13"/>
          <p:cNvSpPr/>
          <p:nvPr/>
        </p:nvSpPr>
        <p:spPr>
          <a:xfrm>
            <a:off x="8095488" y="1956816"/>
            <a:ext cx="3517392" cy="680314"/>
          </a:xfrm>
          <a:prstGeom prst="rect">
            <a:avLst/>
          </a:prstGeom>
          <a:noFill/>
          <a:ln/>
        </p:spPr>
        <p:txBody>
          <a:bodyPr wrap="square" lIns="0" tIns="0" rIns="0" bIns="0" rtlCol="0" anchor="ctr"/>
          <a:lstStyle/>
          <a:p>
            <a:pPr algn="ctr" indent="0" marL="0">
              <a:buNone/>
            </a:pPr>
            <a:r>
              <a:rPr lang="en-US" sz="3200" b="1" dirty="0">
                <a:solidFill>
                  <a:srgbClr val="E97132"/>
                </a:solidFill>
                <a:latin typeface="Malgun Gothic" pitchFamily="34" charset="0"/>
                <a:ea typeface="Malgun Gothic" pitchFamily="34" charset="-122"/>
                <a:cs typeface="Malgun Gothic" pitchFamily="34" charset="-120"/>
              </a:rPr>
              <a:t>19.5%</a:t>
            </a:r>
            <a:endParaRPr lang="en-US" sz="3200" dirty="0"/>
          </a:p>
        </p:txBody>
      </p:sp>
      <p:sp>
        <p:nvSpPr>
          <p:cNvPr id="16" name="Text 14"/>
          <p:cNvSpPr/>
          <p:nvPr/>
        </p:nvSpPr>
        <p:spPr>
          <a:xfrm>
            <a:off x="8186928" y="2669134"/>
            <a:ext cx="3334512" cy="510235"/>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oxygen below this = danger to YOU</a:t>
            </a:r>
            <a:endParaRPr lang="en-US" sz="1100" dirty="0"/>
          </a:p>
        </p:txBody>
      </p:sp>
      <p:sp>
        <p:nvSpPr>
          <p:cNvPr id="17" name="Shape 15"/>
          <p:cNvSpPr/>
          <p:nvPr/>
        </p:nvSpPr>
        <p:spPr>
          <a:xfrm>
            <a:off x="548640" y="3538728"/>
            <a:ext cx="2434133" cy="438912"/>
          </a:xfrm>
          <a:prstGeom prst="roundRect">
            <a:avLst>
              <a:gd name="adj" fmla="val 4167"/>
            </a:avLst>
          </a:prstGeom>
          <a:solidFill>
            <a:srgbClr val="FFFFFF"/>
          </a:solidFill>
          <a:ln w="12700">
            <a:solidFill>
              <a:srgbClr val="C9D3DA"/>
            </a:solidFill>
            <a:prstDash val="solid"/>
          </a:ln>
        </p:spPr>
      </p:sp>
      <p:sp>
        <p:nvSpPr>
          <p:cNvPr id="18" name="Text 16"/>
          <p:cNvSpPr/>
          <p:nvPr/>
        </p:nvSpPr>
        <p:spPr>
          <a:xfrm>
            <a:off x="621792" y="3538728"/>
            <a:ext cx="2287829"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Ventilation</a:t>
            </a:r>
            <a:endParaRPr lang="en-US" sz="1200" dirty="0"/>
          </a:p>
        </p:txBody>
      </p:sp>
      <p:sp>
        <p:nvSpPr>
          <p:cNvPr id="19" name="Shape 17"/>
          <p:cNvSpPr/>
          <p:nvPr/>
        </p:nvSpPr>
        <p:spPr>
          <a:xfrm>
            <a:off x="2982773" y="3538728"/>
            <a:ext cx="8630107" cy="438912"/>
          </a:xfrm>
          <a:prstGeom prst="roundRect">
            <a:avLst>
              <a:gd name="adj" fmla="val 4167"/>
            </a:avLst>
          </a:prstGeom>
          <a:solidFill>
            <a:srgbClr val="FFFFFF"/>
          </a:solidFill>
          <a:ln w="12700">
            <a:solidFill>
              <a:srgbClr val="C9D3DA"/>
            </a:solidFill>
            <a:prstDash val="solid"/>
          </a:ln>
        </p:spPr>
      </p:sp>
      <p:sp>
        <p:nvSpPr>
          <p:cNvPr id="20" name="Text 18"/>
          <p:cNvSpPr/>
          <p:nvPr/>
        </p:nvSpPr>
        <p:spPr>
          <a:xfrm>
            <a:off x="3055925" y="3538728"/>
            <a:ext cx="8483803"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Open air, or a room with real air movement</a:t>
            </a:r>
            <a:endParaRPr lang="en-US" sz="1200" dirty="0"/>
          </a:p>
        </p:txBody>
      </p:sp>
      <p:sp>
        <p:nvSpPr>
          <p:cNvPr id="21" name="Shape 19"/>
          <p:cNvSpPr/>
          <p:nvPr/>
        </p:nvSpPr>
        <p:spPr>
          <a:xfrm>
            <a:off x="548640" y="3977640"/>
            <a:ext cx="2434133" cy="438912"/>
          </a:xfrm>
          <a:prstGeom prst="roundRect">
            <a:avLst>
              <a:gd name="adj" fmla="val 4167"/>
            </a:avLst>
          </a:prstGeom>
          <a:solidFill>
            <a:srgbClr val="F2F5F7"/>
          </a:solidFill>
          <a:ln w="12700">
            <a:solidFill>
              <a:srgbClr val="C9D3DA"/>
            </a:solidFill>
            <a:prstDash val="solid"/>
          </a:ln>
        </p:spPr>
      </p:sp>
      <p:sp>
        <p:nvSpPr>
          <p:cNvPr id="22" name="Text 20"/>
          <p:cNvSpPr/>
          <p:nvPr/>
        </p:nvSpPr>
        <p:spPr>
          <a:xfrm>
            <a:off x="621792" y="3977640"/>
            <a:ext cx="2287829"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Gloves and eyes</a:t>
            </a:r>
            <a:endParaRPr lang="en-US" sz="1200" dirty="0"/>
          </a:p>
        </p:txBody>
      </p:sp>
      <p:sp>
        <p:nvSpPr>
          <p:cNvPr id="23" name="Shape 21"/>
          <p:cNvSpPr/>
          <p:nvPr/>
        </p:nvSpPr>
        <p:spPr>
          <a:xfrm>
            <a:off x="2982773" y="3977640"/>
            <a:ext cx="8630107" cy="438912"/>
          </a:xfrm>
          <a:prstGeom prst="roundRect">
            <a:avLst>
              <a:gd name="adj" fmla="val 4167"/>
            </a:avLst>
          </a:prstGeom>
          <a:solidFill>
            <a:srgbClr val="F2F5F7"/>
          </a:solidFill>
          <a:ln w="12700">
            <a:solidFill>
              <a:srgbClr val="C9D3DA"/>
            </a:solidFill>
            <a:prstDash val="solid"/>
          </a:ln>
        </p:spPr>
      </p:sp>
      <p:sp>
        <p:nvSpPr>
          <p:cNvPr id="24" name="Text 22"/>
          <p:cNvSpPr/>
          <p:nvPr/>
        </p:nvSpPr>
        <p:spPr>
          <a:xfrm>
            <a:off x="3055925" y="3977640"/>
            <a:ext cx="8483803"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Loose cryo gloves so you can throw them off. Eye protection.</a:t>
            </a:r>
            <a:endParaRPr lang="en-US" sz="1200" dirty="0"/>
          </a:p>
        </p:txBody>
      </p:sp>
      <p:sp>
        <p:nvSpPr>
          <p:cNvPr id="25" name="Shape 23"/>
          <p:cNvSpPr/>
          <p:nvPr/>
        </p:nvSpPr>
        <p:spPr>
          <a:xfrm>
            <a:off x="548640" y="4416552"/>
            <a:ext cx="2434133" cy="438912"/>
          </a:xfrm>
          <a:prstGeom prst="roundRect">
            <a:avLst>
              <a:gd name="adj" fmla="val 4167"/>
            </a:avLst>
          </a:prstGeom>
          <a:solidFill>
            <a:srgbClr val="FFFFFF"/>
          </a:solidFill>
          <a:ln w="12700">
            <a:solidFill>
              <a:srgbClr val="C9D3DA"/>
            </a:solidFill>
            <a:prstDash val="solid"/>
          </a:ln>
        </p:spPr>
      </p:sp>
      <p:sp>
        <p:nvSpPr>
          <p:cNvPr id="26" name="Text 24"/>
          <p:cNvSpPr/>
          <p:nvPr/>
        </p:nvSpPr>
        <p:spPr>
          <a:xfrm>
            <a:off x="621792" y="4416552"/>
            <a:ext cx="2287829"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Transport</a:t>
            </a:r>
            <a:endParaRPr lang="en-US" sz="1200" dirty="0"/>
          </a:p>
        </p:txBody>
      </p:sp>
      <p:sp>
        <p:nvSpPr>
          <p:cNvPr id="27" name="Shape 25"/>
          <p:cNvSpPr/>
          <p:nvPr/>
        </p:nvSpPr>
        <p:spPr>
          <a:xfrm>
            <a:off x="2982773" y="4416552"/>
            <a:ext cx="8630107" cy="438912"/>
          </a:xfrm>
          <a:prstGeom prst="roundRect">
            <a:avLst>
              <a:gd name="adj" fmla="val 4167"/>
            </a:avLst>
          </a:prstGeom>
          <a:solidFill>
            <a:srgbClr val="FFFFFF"/>
          </a:solidFill>
          <a:ln w="12700">
            <a:solidFill>
              <a:srgbClr val="C9D3DA"/>
            </a:solidFill>
            <a:prstDash val="solid"/>
          </a:ln>
        </p:spPr>
      </p:sp>
      <p:sp>
        <p:nvSpPr>
          <p:cNvPr id="28" name="Text 26"/>
          <p:cNvSpPr/>
          <p:nvPr/>
        </p:nvSpPr>
        <p:spPr>
          <a:xfrm>
            <a:off x="3055925" y="4416552"/>
            <a:ext cx="8483803"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Never a closed car. Open a window. Tank upright and secured.</a:t>
            </a:r>
            <a:endParaRPr lang="en-US" sz="1200" dirty="0"/>
          </a:p>
        </p:txBody>
      </p:sp>
      <p:sp>
        <p:nvSpPr>
          <p:cNvPr id="29" name="Shape 27"/>
          <p:cNvSpPr/>
          <p:nvPr/>
        </p:nvSpPr>
        <p:spPr>
          <a:xfrm>
            <a:off x="548640" y="4855464"/>
            <a:ext cx="2434133" cy="438912"/>
          </a:xfrm>
          <a:prstGeom prst="roundRect">
            <a:avLst>
              <a:gd name="adj" fmla="val 4167"/>
            </a:avLst>
          </a:prstGeom>
          <a:solidFill>
            <a:srgbClr val="F2F5F7"/>
          </a:solidFill>
          <a:ln w="12700">
            <a:solidFill>
              <a:srgbClr val="C9D3DA"/>
            </a:solidFill>
            <a:prstDash val="solid"/>
          </a:ln>
        </p:spPr>
      </p:sp>
      <p:sp>
        <p:nvSpPr>
          <p:cNvPr id="30" name="Text 28"/>
          <p:cNvSpPr/>
          <p:nvPr/>
        </p:nvSpPr>
        <p:spPr>
          <a:xfrm>
            <a:off x="621792" y="4855464"/>
            <a:ext cx="2287829"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Check weekly</a:t>
            </a:r>
            <a:endParaRPr lang="en-US" sz="1200" dirty="0"/>
          </a:p>
        </p:txBody>
      </p:sp>
      <p:sp>
        <p:nvSpPr>
          <p:cNvPr id="31" name="Shape 29"/>
          <p:cNvSpPr/>
          <p:nvPr/>
        </p:nvSpPr>
        <p:spPr>
          <a:xfrm>
            <a:off x="2982773" y="4855464"/>
            <a:ext cx="8630107" cy="438912"/>
          </a:xfrm>
          <a:prstGeom prst="roundRect">
            <a:avLst>
              <a:gd name="adj" fmla="val 4167"/>
            </a:avLst>
          </a:prstGeom>
          <a:solidFill>
            <a:srgbClr val="F2F5F7"/>
          </a:solidFill>
          <a:ln w="12700">
            <a:solidFill>
              <a:srgbClr val="C9D3DA"/>
            </a:solidFill>
            <a:prstDash val="solid"/>
          </a:ln>
        </p:spPr>
      </p:sp>
      <p:sp>
        <p:nvSpPr>
          <p:cNvPr id="32" name="Text 30"/>
          <p:cNvSpPr/>
          <p:nvPr/>
        </p:nvSpPr>
        <p:spPr>
          <a:xfrm>
            <a:off x="3055925" y="4855464"/>
            <a:ext cx="8483803"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Frost on the outside = the tank is failing. Write the level down.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Keep the straw low in the neck</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temperature rises very fast as you lift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Above the frost line the straw warms in seconds. Read the label DOWN in the neck.</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33</a:t>
            </a:r>
            <a:endParaRPr lang="en-US" sz="900" dirty="0"/>
          </a:p>
        </p:txBody>
      </p:sp>
      <p:sp>
        <p:nvSpPr>
          <p:cNvPr id="8" name="Shape 6"/>
          <p:cNvSpPr/>
          <p:nvPr/>
        </p:nvSpPr>
        <p:spPr>
          <a:xfrm>
            <a:off x="3474720" y="1709928"/>
            <a:ext cx="2377440" cy="3383280"/>
          </a:xfrm>
          <a:prstGeom prst="roundRect">
            <a:avLst>
              <a:gd name="adj" fmla="val 3846"/>
            </a:avLst>
          </a:prstGeom>
          <a:solidFill>
            <a:srgbClr val="F2F5F7"/>
          </a:solidFill>
          <a:ln w="12700">
            <a:solidFill>
              <a:srgbClr val="0E2841"/>
            </a:solidFill>
            <a:prstDash val="solid"/>
          </a:ln>
        </p:spPr>
      </p:sp>
      <p:sp>
        <p:nvSpPr>
          <p:cNvPr id="9" name="Shape 7"/>
          <p:cNvSpPr/>
          <p:nvPr/>
        </p:nvSpPr>
        <p:spPr>
          <a:xfrm>
            <a:off x="3547872" y="1764792"/>
            <a:ext cx="2231136" cy="923544"/>
          </a:xfrm>
          <a:prstGeom prst="roundRect">
            <a:avLst>
              <a:gd name="adj" fmla="val 5941"/>
            </a:avLst>
          </a:prstGeom>
          <a:solidFill>
            <a:srgbClr val="E97132"/>
          </a:solidFill>
          <a:ln w="12700">
            <a:solidFill>
              <a:srgbClr val="E97132"/>
            </a:solidFill>
            <a:prstDash val="solid"/>
          </a:ln>
        </p:spPr>
      </p:sp>
      <p:sp>
        <p:nvSpPr>
          <p:cNvPr id="10" name="Text 8"/>
          <p:cNvSpPr/>
          <p:nvPr/>
        </p:nvSpPr>
        <p:spPr>
          <a:xfrm>
            <a:off x="3547872" y="1819656"/>
            <a:ext cx="223113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top of neck</a:t>
            </a:r>
            <a:endParaRPr lang="en-US" sz="1100" dirty="0"/>
          </a:p>
        </p:txBody>
      </p:sp>
      <p:sp>
        <p:nvSpPr>
          <p:cNvPr id="11" name="Text 9"/>
          <p:cNvSpPr/>
          <p:nvPr/>
        </p:nvSpPr>
        <p:spPr>
          <a:xfrm>
            <a:off x="3547872" y="2112264"/>
            <a:ext cx="223113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warmer than −50 °C</a:t>
            </a:r>
            <a:endParaRPr lang="en-US" sz="1200" dirty="0"/>
          </a:p>
        </p:txBody>
      </p:sp>
      <p:sp>
        <p:nvSpPr>
          <p:cNvPr id="12" name="Shape 10"/>
          <p:cNvSpPr/>
          <p:nvPr/>
        </p:nvSpPr>
        <p:spPr>
          <a:xfrm>
            <a:off x="3547872" y="2779776"/>
            <a:ext cx="2231136" cy="991210"/>
          </a:xfrm>
          <a:prstGeom prst="roundRect">
            <a:avLst>
              <a:gd name="adj" fmla="val 5535"/>
            </a:avLst>
          </a:prstGeom>
          <a:solidFill>
            <a:srgbClr val="0F9ED5"/>
          </a:solidFill>
          <a:ln w="12700">
            <a:solidFill>
              <a:srgbClr val="0F9ED5"/>
            </a:solidFill>
            <a:prstDash val="solid"/>
          </a:ln>
        </p:spPr>
      </p:sp>
      <p:sp>
        <p:nvSpPr>
          <p:cNvPr id="13" name="Text 11"/>
          <p:cNvSpPr/>
          <p:nvPr/>
        </p:nvSpPr>
        <p:spPr>
          <a:xfrm>
            <a:off x="3547872" y="2834640"/>
            <a:ext cx="223113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mid neck</a:t>
            </a:r>
            <a:endParaRPr lang="en-US" sz="1100" dirty="0"/>
          </a:p>
        </p:txBody>
      </p:sp>
      <p:sp>
        <p:nvSpPr>
          <p:cNvPr id="14" name="Text 12"/>
          <p:cNvSpPr/>
          <p:nvPr/>
        </p:nvSpPr>
        <p:spPr>
          <a:xfrm>
            <a:off x="3547872" y="3127248"/>
            <a:ext cx="223113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−150 to −100 °C</a:t>
            </a:r>
            <a:endParaRPr lang="en-US" sz="1200" dirty="0"/>
          </a:p>
        </p:txBody>
      </p:sp>
      <p:sp>
        <p:nvSpPr>
          <p:cNvPr id="15" name="Shape 13"/>
          <p:cNvSpPr/>
          <p:nvPr/>
        </p:nvSpPr>
        <p:spPr>
          <a:xfrm>
            <a:off x="3547872" y="3862426"/>
            <a:ext cx="2231136" cy="1194206"/>
          </a:xfrm>
          <a:prstGeom prst="roundRect">
            <a:avLst>
              <a:gd name="adj" fmla="val 4594"/>
            </a:avLst>
          </a:prstGeom>
          <a:solidFill>
            <a:srgbClr val="156082"/>
          </a:solidFill>
          <a:ln w="12700">
            <a:solidFill>
              <a:srgbClr val="156082"/>
            </a:solidFill>
            <a:prstDash val="solid"/>
          </a:ln>
        </p:spPr>
      </p:sp>
      <p:sp>
        <p:nvSpPr>
          <p:cNvPr id="16" name="Text 14"/>
          <p:cNvSpPr/>
          <p:nvPr/>
        </p:nvSpPr>
        <p:spPr>
          <a:xfrm>
            <a:off x="3547872" y="3917290"/>
            <a:ext cx="223113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liquid surface</a:t>
            </a:r>
            <a:endParaRPr lang="en-US" sz="1100" dirty="0"/>
          </a:p>
        </p:txBody>
      </p:sp>
      <p:sp>
        <p:nvSpPr>
          <p:cNvPr id="17" name="Text 15"/>
          <p:cNvSpPr/>
          <p:nvPr/>
        </p:nvSpPr>
        <p:spPr>
          <a:xfrm>
            <a:off x="3547872" y="4209898"/>
            <a:ext cx="2231136"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−196 °C</a:t>
            </a:r>
            <a:endParaRPr lang="en-US" sz="1200" dirty="0"/>
          </a:p>
        </p:txBody>
      </p:sp>
      <p:sp>
        <p:nvSpPr>
          <p:cNvPr id="18" name="Shape 16"/>
          <p:cNvSpPr/>
          <p:nvPr/>
        </p:nvSpPr>
        <p:spPr>
          <a:xfrm>
            <a:off x="6400800" y="2029968"/>
            <a:ext cx="1980590" cy="566928"/>
          </a:xfrm>
          <a:prstGeom prst="roundRect">
            <a:avLst>
              <a:gd name="adj" fmla="val 3226"/>
            </a:avLst>
          </a:prstGeom>
          <a:solidFill>
            <a:srgbClr val="FFFFFF"/>
          </a:solidFill>
          <a:ln w="12700">
            <a:solidFill>
              <a:srgbClr val="C9D3DA"/>
            </a:solidFill>
            <a:prstDash val="solid"/>
          </a:ln>
        </p:spPr>
      </p:sp>
      <p:sp>
        <p:nvSpPr>
          <p:cNvPr id="19" name="Text 17"/>
          <p:cNvSpPr/>
          <p:nvPr/>
        </p:nvSpPr>
        <p:spPr>
          <a:xfrm>
            <a:off x="6473952" y="2029968"/>
            <a:ext cx="1834286" cy="56692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Read the label</a:t>
            </a:r>
            <a:endParaRPr lang="en-US" sz="1200" dirty="0"/>
          </a:p>
        </p:txBody>
      </p:sp>
      <p:sp>
        <p:nvSpPr>
          <p:cNvPr id="20" name="Shape 18"/>
          <p:cNvSpPr/>
          <p:nvPr/>
        </p:nvSpPr>
        <p:spPr>
          <a:xfrm>
            <a:off x="8381390" y="2029968"/>
            <a:ext cx="3231490" cy="566928"/>
          </a:xfrm>
          <a:prstGeom prst="roundRect">
            <a:avLst>
              <a:gd name="adj" fmla="val 3226"/>
            </a:avLst>
          </a:prstGeom>
          <a:solidFill>
            <a:srgbClr val="FFFFFF"/>
          </a:solidFill>
          <a:ln w="12700">
            <a:solidFill>
              <a:srgbClr val="C9D3DA"/>
            </a:solidFill>
            <a:prstDash val="solid"/>
          </a:ln>
        </p:spPr>
      </p:sp>
      <p:sp>
        <p:nvSpPr>
          <p:cNvPr id="21" name="Text 19"/>
          <p:cNvSpPr/>
          <p:nvPr/>
        </p:nvSpPr>
        <p:spPr>
          <a:xfrm>
            <a:off x="8454542" y="2029968"/>
            <a:ext cx="3085186" cy="56692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DOWN in the neck — never lifted out</a:t>
            </a:r>
            <a:endParaRPr lang="en-US" sz="1200" dirty="0"/>
          </a:p>
        </p:txBody>
      </p:sp>
      <p:sp>
        <p:nvSpPr>
          <p:cNvPr id="22" name="Shape 20"/>
          <p:cNvSpPr/>
          <p:nvPr/>
        </p:nvSpPr>
        <p:spPr>
          <a:xfrm>
            <a:off x="6400800" y="2596896"/>
            <a:ext cx="1980590" cy="566928"/>
          </a:xfrm>
          <a:prstGeom prst="roundRect">
            <a:avLst>
              <a:gd name="adj" fmla="val 3226"/>
            </a:avLst>
          </a:prstGeom>
          <a:solidFill>
            <a:srgbClr val="F2F5F7"/>
          </a:solidFill>
          <a:ln w="12700">
            <a:solidFill>
              <a:srgbClr val="C9D3DA"/>
            </a:solidFill>
            <a:prstDash val="solid"/>
          </a:ln>
        </p:spPr>
      </p:sp>
      <p:sp>
        <p:nvSpPr>
          <p:cNvPr id="23" name="Text 21"/>
          <p:cNvSpPr/>
          <p:nvPr/>
        </p:nvSpPr>
        <p:spPr>
          <a:xfrm>
            <a:off x="6473952" y="2596896"/>
            <a:ext cx="1834286" cy="56692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Working limit</a:t>
            </a:r>
            <a:endParaRPr lang="en-US" sz="1200" dirty="0"/>
          </a:p>
        </p:txBody>
      </p:sp>
      <p:sp>
        <p:nvSpPr>
          <p:cNvPr id="24" name="Shape 22"/>
          <p:cNvSpPr/>
          <p:nvPr/>
        </p:nvSpPr>
        <p:spPr>
          <a:xfrm>
            <a:off x="8381390" y="2596896"/>
            <a:ext cx="3231490" cy="566928"/>
          </a:xfrm>
          <a:prstGeom prst="roundRect">
            <a:avLst>
              <a:gd name="adj" fmla="val 3226"/>
            </a:avLst>
          </a:prstGeom>
          <a:solidFill>
            <a:srgbClr val="F2F5F7"/>
          </a:solidFill>
          <a:ln w="12700">
            <a:solidFill>
              <a:srgbClr val="C9D3DA"/>
            </a:solidFill>
            <a:prstDash val="solid"/>
          </a:ln>
        </p:spPr>
      </p:sp>
      <p:sp>
        <p:nvSpPr>
          <p:cNvPr id="25" name="Text 23"/>
          <p:cNvSpPr/>
          <p:nvPr/>
        </p:nvSpPr>
        <p:spPr>
          <a:xfrm>
            <a:off x="8454542" y="2596896"/>
            <a:ext cx="3085186" cy="56692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about 10 seconds above the frost line</a:t>
            </a:r>
            <a:endParaRPr lang="en-US" sz="1200" dirty="0"/>
          </a:p>
        </p:txBody>
      </p:sp>
      <p:sp>
        <p:nvSpPr>
          <p:cNvPr id="26" name="Shape 24"/>
          <p:cNvSpPr/>
          <p:nvPr/>
        </p:nvSpPr>
        <p:spPr>
          <a:xfrm>
            <a:off x="6400800" y="3163824"/>
            <a:ext cx="1980590" cy="566928"/>
          </a:xfrm>
          <a:prstGeom prst="roundRect">
            <a:avLst>
              <a:gd name="adj" fmla="val 3226"/>
            </a:avLst>
          </a:prstGeom>
          <a:solidFill>
            <a:srgbClr val="FFFFFF"/>
          </a:solidFill>
          <a:ln w="12700">
            <a:solidFill>
              <a:srgbClr val="C9D3DA"/>
            </a:solidFill>
            <a:prstDash val="solid"/>
          </a:ln>
        </p:spPr>
      </p:sp>
      <p:sp>
        <p:nvSpPr>
          <p:cNvPr id="27" name="Text 25"/>
          <p:cNvSpPr/>
          <p:nvPr/>
        </p:nvSpPr>
        <p:spPr>
          <a:xfrm>
            <a:off x="6473952" y="3163824"/>
            <a:ext cx="1834286" cy="56692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Never</a:t>
            </a:r>
            <a:endParaRPr lang="en-US" sz="1200" dirty="0"/>
          </a:p>
        </p:txBody>
      </p:sp>
      <p:sp>
        <p:nvSpPr>
          <p:cNvPr id="28" name="Shape 26"/>
          <p:cNvSpPr/>
          <p:nvPr/>
        </p:nvSpPr>
        <p:spPr>
          <a:xfrm>
            <a:off x="8381390" y="3163824"/>
            <a:ext cx="3231490" cy="566928"/>
          </a:xfrm>
          <a:prstGeom prst="roundRect">
            <a:avLst>
              <a:gd name="adj" fmla="val 3226"/>
            </a:avLst>
          </a:prstGeom>
          <a:solidFill>
            <a:srgbClr val="FFFFFF"/>
          </a:solidFill>
          <a:ln w="12700">
            <a:solidFill>
              <a:srgbClr val="C9D3DA"/>
            </a:solidFill>
            <a:prstDash val="solid"/>
          </a:ln>
        </p:spPr>
      </p:sp>
      <p:sp>
        <p:nvSpPr>
          <p:cNvPr id="29" name="Text 27"/>
          <p:cNvSpPr/>
          <p:nvPr/>
        </p:nvSpPr>
        <p:spPr>
          <a:xfrm>
            <a:off x="8454542" y="3163824"/>
            <a:ext cx="3085186" cy="56692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lift the whole basket up to read labels</a:t>
            </a:r>
            <a:endParaRPr lang="en-US" sz="1200" dirty="0"/>
          </a:p>
        </p:txBody>
      </p:sp>
      <p:sp>
        <p:nvSpPr>
          <p:cNvPr id="30" name="Shape 28"/>
          <p:cNvSpPr/>
          <p:nvPr/>
        </p:nvSpPr>
        <p:spPr>
          <a:xfrm>
            <a:off x="6400800" y="3730752"/>
            <a:ext cx="1980590" cy="566928"/>
          </a:xfrm>
          <a:prstGeom prst="roundRect">
            <a:avLst>
              <a:gd name="adj" fmla="val 3226"/>
            </a:avLst>
          </a:prstGeom>
          <a:solidFill>
            <a:srgbClr val="F2F5F7"/>
          </a:solidFill>
          <a:ln w="12700">
            <a:solidFill>
              <a:srgbClr val="C9D3DA"/>
            </a:solidFill>
            <a:prstDash val="solid"/>
          </a:ln>
        </p:spPr>
      </p:sp>
      <p:sp>
        <p:nvSpPr>
          <p:cNvPr id="31" name="Text 29"/>
          <p:cNvSpPr/>
          <p:nvPr/>
        </p:nvSpPr>
        <p:spPr>
          <a:xfrm>
            <a:off x="6473952" y="3730752"/>
            <a:ext cx="1834286" cy="566928"/>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If you do</a:t>
            </a:r>
            <a:endParaRPr lang="en-US" sz="1200" dirty="0"/>
          </a:p>
        </p:txBody>
      </p:sp>
      <p:sp>
        <p:nvSpPr>
          <p:cNvPr id="32" name="Shape 30"/>
          <p:cNvSpPr/>
          <p:nvPr/>
        </p:nvSpPr>
        <p:spPr>
          <a:xfrm>
            <a:off x="8381390" y="3730752"/>
            <a:ext cx="3231490" cy="566928"/>
          </a:xfrm>
          <a:prstGeom prst="roundRect">
            <a:avLst>
              <a:gd name="adj" fmla="val 3226"/>
            </a:avLst>
          </a:prstGeom>
          <a:solidFill>
            <a:srgbClr val="F2F5F7"/>
          </a:solidFill>
          <a:ln w="12700">
            <a:solidFill>
              <a:srgbClr val="C9D3DA"/>
            </a:solidFill>
            <a:prstDash val="solid"/>
          </a:ln>
        </p:spPr>
      </p:sp>
      <p:sp>
        <p:nvSpPr>
          <p:cNvPr id="33" name="Text 31"/>
          <p:cNvSpPr/>
          <p:nvPr/>
        </p:nvSpPr>
        <p:spPr>
          <a:xfrm>
            <a:off x="8454542" y="3730752"/>
            <a:ext cx="3085186" cy="566928"/>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EVERY straw in that basket is damaged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Thawing a direct-transfer straw</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Measure the water with a thermometer. A bath judged by hand is not acceptable.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Air 3–5 seconds. Water 37 °C for 20–30 seconds. Then 10 minutes to finish.</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34</a:t>
            </a:r>
            <a:endParaRPr lang="en-US" sz="900" dirty="0"/>
          </a:p>
        </p:txBody>
      </p:sp>
      <p:sp>
        <p:nvSpPr>
          <p:cNvPr id="8" name="Shape 6"/>
          <p:cNvSpPr/>
          <p:nvPr/>
        </p:nvSpPr>
        <p:spPr>
          <a:xfrm>
            <a:off x="548640" y="1801368"/>
            <a:ext cx="1706880" cy="1371600"/>
          </a:xfrm>
          <a:prstGeom prst="roundRect">
            <a:avLst>
              <a:gd name="adj" fmla="val 4667"/>
            </a:avLst>
          </a:prstGeom>
          <a:solidFill>
            <a:srgbClr val="F2F5F7"/>
          </a:solidFill>
          <a:ln w="12700">
            <a:solidFill>
              <a:srgbClr val="C9D3DA"/>
            </a:solidFill>
            <a:prstDash val="solid"/>
          </a:ln>
        </p:spPr>
      </p:sp>
      <p:sp>
        <p:nvSpPr>
          <p:cNvPr id="9" name="Text 7"/>
          <p:cNvSpPr/>
          <p:nvPr/>
        </p:nvSpPr>
        <p:spPr>
          <a:xfrm>
            <a:off x="621792" y="1892808"/>
            <a:ext cx="156057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1. FIND</a:t>
            </a:r>
            <a:endParaRPr lang="en-US" sz="1200" dirty="0"/>
          </a:p>
        </p:txBody>
      </p:sp>
      <p:sp>
        <p:nvSpPr>
          <p:cNvPr id="10" name="Text 8"/>
          <p:cNvSpPr/>
          <p:nvPr/>
        </p:nvSpPr>
        <p:spPr>
          <a:xfrm>
            <a:off x="621792" y="2203704"/>
            <a:ext cx="1560576" cy="87782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Read the straw DOWN</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in the neck</a:t>
            </a:r>
            <a:endParaRPr lang="en-US" sz="1050" dirty="0"/>
          </a:p>
        </p:txBody>
      </p:sp>
      <p:sp>
        <p:nvSpPr>
          <p:cNvPr id="11" name="Shape 9"/>
          <p:cNvSpPr/>
          <p:nvPr/>
        </p:nvSpPr>
        <p:spPr>
          <a:xfrm>
            <a:off x="2292096" y="2386584"/>
            <a:ext cx="91440" cy="201168"/>
          </a:xfrm>
          <a:prstGeom prst="rightArrow">
            <a:avLst/>
          </a:prstGeom>
          <a:solidFill>
            <a:srgbClr val="156082"/>
          </a:solidFill>
          <a:ln w="12700">
            <a:solidFill>
              <a:srgbClr val="156082"/>
            </a:solidFill>
            <a:prstDash val="solid"/>
          </a:ln>
        </p:spPr>
      </p:sp>
      <p:sp>
        <p:nvSpPr>
          <p:cNvPr id="12" name="Shape 10"/>
          <p:cNvSpPr/>
          <p:nvPr/>
        </p:nvSpPr>
        <p:spPr>
          <a:xfrm>
            <a:off x="2420112" y="1801368"/>
            <a:ext cx="1706880" cy="1371600"/>
          </a:xfrm>
          <a:prstGeom prst="roundRect">
            <a:avLst>
              <a:gd name="adj" fmla="val 4667"/>
            </a:avLst>
          </a:prstGeom>
          <a:solidFill>
            <a:srgbClr val="0F9ED5"/>
          </a:solidFill>
          <a:ln w="12700">
            <a:solidFill>
              <a:srgbClr val="0F9ED5"/>
            </a:solidFill>
            <a:prstDash val="solid"/>
          </a:ln>
        </p:spPr>
      </p:sp>
      <p:sp>
        <p:nvSpPr>
          <p:cNvPr id="13" name="Text 11"/>
          <p:cNvSpPr/>
          <p:nvPr/>
        </p:nvSpPr>
        <p:spPr>
          <a:xfrm>
            <a:off x="2493264" y="1892808"/>
            <a:ext cx="15605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 AIR</a:t>
            </a:r>
            <a:endParaRPr lang="en-US" sz="1200" dirty="0"/>
          </a:p>
        </p:txBody>
      </p:sp>
      <p:sp>
        <p:nvSpPr>
          <p:cNvPr id="14" name="Text 12"/>
          <p:cNvSpPr/>
          <p:nvPr/>
        </p:nvSpPr>
        <p:spPr>
          <a:xfrm>
            <a:off x="2493264" y="2203704"/>
            <a:ext cx="1560576" cy="877824"/>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3–5 seconds</a:t>
            </a:r>
            <a:endParaRPr lang="en-US" sz="1050" dirty="0"/>
          </a:p>
        </p:txBody>
      </p:sp>
      <p:sp>
        <p:nvSpPr>
          <p:cNvPr id="15" name="Shape 13"/>
          <p:cNvSpPr/>
          <p:nvPr/>
        </p:nvSpPr>
        <p:spPr>
          <a:xfrm>
            <a:off x="4163568" y="2386584"/>
            <a:ext cx="91440" cy="201168"/>
          </a:xfrm>
          <a:prstGeom prst="rightArrow">
            <a:avLst/>
          </a:prstGeom>
          <a:solidFill>
            <a:srgbClr val="156082"/>
          </a:solidFill>
          <a:ln w="12700">
            <a:solidFill>
              <a:srgbClr val="156082"/>
            </a:solidFill>
            <a:prstDash val="solid"/>
          </a:ln>
        </p:spPr>
      </p:sp>
      <p:sp>
        <p:nvSpPr>
          <p:cNvPr id="16" name="Shape 14"/>
          <p:cNvSpPr/>
          <p:nvPr/>
        </p:nvSpPr>
        <p:spPr>
          <a:xfrm>
            <a:off x="4291584" y="1801368"/>
            <a:ext cx="1706880" cy="1371600"/>
          </a:xfrm>
          <a:prstGeom prst="roundRect">
            <a:avLst>
              <a:gd name="adj" fmla="val 4667"/>
            </a:avLst>
          </a:prstGeom>
          <a:solidFill>
            <a:srgbClr val="156082"/>
          </a:solidFill>
          <a:ln w="12700">
            <a:solidFill>
              <a:srgbClr val="156082"/>
            </a:solidFill>
            <a:prstDash val="solid"/>
          </a:ln>
        </p:spPr>
      </p:sp>
      <p:sp>
        <p:nvSpPr>
          <p:cNvPr id="17" name="Text 15"/>
          <p:cNvSpPr/>
          <p:nvPr/>
        </p:nvSpPr>
        <p:spPr>
          <a:xfrm>
            <a:off x="4364736" y="1892808"/>
            <a:ext cx="15605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 WATER</a:t>
            </a:r>
            <a:endParaRPr lang="en-US" sz="1200" dirty="0"/>
          </a:p>
        </p:txBody>
      </p:sp>
      <p:sp>
        <p:nvSpPr>
          <p:cNvPr id="18" name="Text 16"/>
          <p:cNvSpPr/>
          <p:nvPr/>
        </p:nvSpPr>
        <p:spPr>
          <a:xfrm>
            <a:off x="4364736" y="2203704"/>
            <a:ext cx="1560576" cy="877824"/>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37 °C</a:t>
            </a:r>
            <a:endParaRPr lang="en-US" sz="1050" dirty="0"/>
          </a:p>
          <a:p>
            <a:pPr algn="ctr" indent="0" marL="0">
              <a:buNone/>
            </a:pPr>
            <a:r>
              <a:rPr lang="en-US" sz="1050" dirty="0">
                <a:solidFill>
                  <a:srgbClr val="FFFFFF"/>
                </a:solidFill>
                <a:latin typeface="Malgun Gothic" pitchFamily="34" charset="0"/>
                <a:ea typeface="Malgun Gothic" pitchFamily="34" charset="-122"/>
                <a:cs typeface="Malgun Gothic" pitchFamily="34" charset="-120"/>
              </a:rPr>
              <a:t>20–30 seconds</a:t>
            </a:r>
            <a:endParaRPr lang="en-US" sz="1050" dirty="0"/>
          </a:p>
        </p:txBody>
      </p:sp>
      <p:sp>
        <p:nvSpPr>
          <p:cNvPr id="19" name="Shape 17"/>
          <p:cNvSpPr/>
          <p:nvPr/>
        </p:nvSpPr>
        <p:spPr>
          <a:xfrm>
            <a:off x="6035040" y="2386584"/>
            <a:ext cx="91440" cy="201168"/>
          </a:xfrm>
          <a:prstGeom prst="rightArrow">
            <a:avLst/>
          </a:prstGeom>
          <a:solidFill>
            <a:srgbClr val="156082"/>
          </a:solidFill>
          <a:ln w="12700">
            <a:solidFill>
              <a:srgbClr val="156082"/>
            </a:solidFill>
            <a:prstDash val="solid"/>
          </a:ln>
        </p:spPr>
      </p:sp>
      <p:sp>
        <p:nvSpPr>
          <p:cNvPr id="20" name="Shape 18"/>
          <p:cNvSpPr/>
          <p:nvPr/>
        </p:nvSpPr>
        <p:spPr>
          <a:xfrm>
            <a:off x="6163056" y="1801368"/>
            <a:ext cx="1706880" cy="1371600"/>
          </a:xfrm>
          <a:prstGeom prst="roundRect">
            <a:avLst>
              <a:gd name="adj" fmla="val 4667"/>
            </a:avLst>
          </a:prstGeom>
          <a:solidFill>
            <a:srgbClr val="F2F5F7"/>
          </a:solidFill>
          <a:ln w="12700">
            <a:solidFill>
              <a:srgbClr val="C9D3DA"/>
            </a:solidFill>
            <a:prstDash val="solid"/>
          </a:ln>
        </p:spPr>
      </p:sp>
      <p:sp>
        <p:nvSpPr>
          <p:cNvPr id="21" name="Text 19"/>
          <p:cNvSpPr/>
          <p:nvPr/>
        </p:nvSpPr>
        <p:spPr>
          <a:xfrm>
            <a:off x="6236208" y="1892808"/>
            <a:ext cx="156057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4. DRY &amp; CUT</a:t>
            </a:r>
            <a:endParaRPr lang="en-US" sz="1200" dirty="0"/>
          </a:p>
        </p:txBody>
      </p:sp>
      <p:sp>
        <p:nvSpPr>
          <p:cNvPr id="22" name="Text 20"/>
          <p:cNvSpPr/>
          <p:nvPr/>
        </p:nvSpPr>
        <p:spPr>
          <a:xfrm>
            <a:off x="6236208" y="2203704"/>
            <a:ext cx="1560576" cy="87782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Dry fully</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Cut end straight</a:t>
            </a:r>
            <a:endParaRPr lang="en-US" sz="1050" dirty="0"/>
          </a:p>
        </p:txBody>
      </p:sp>
      <p:sp>
        <p:nvSpPr>
          <p:cNvPr id="23" name="Shape 21"/>
          <p:cNvSpPr/>
          <p:nvPr/>
        </p:nvSpPr>
        <p:spPr>
          <a:xfrm>
            <a:off x="7906512" y="2386584"/>
            <a:ext cx="91440" cy="201168"/>
          </a:xfrm>
          <a:prstGeom prst="rightArrow">
            <a:avLst/>
          </a:prstGeom>
          <a:solidFill>
            <a:srgbClr val="156082"/>
          </a:solidFill>
          <a:ln w="12700">
            <a:solidFill>
              <a:srgbClr val="156082"/>
            </a:solidFill>
            <a:prstDash val="solid"/>
          </a:ln>
        </p:spPr>
      </p:sp>
      <p:sp>
        <p:nvSpPr>
          <p:cNvPr id="24" name="Shape 22"/>
          <p:cNvSpPr/>
          <p:nvPr/>
        </p:nvSpPr>
        <p:spPr>
          <a:xfrm>
            <a:off x="8034528" y="1801368"/>
            <a:ext cx="1706880" cy="1371600"/>
          </a:xfrm>
          <a:prstGeom prst="roundRect">
            <a:avLst>
              <a:gd name="adj" fmla="val 4667"/>
            </a:avLst>
          </a:prstGeom>
          <a:solidFill>
            <a:srgbClr val="F2F5F7"/>
          </a:solidFill>
          <a:ln w="12700">
            <a:solidFill>
              <a:srgbClr val="C9D3DA"/>
            </a:solidFill>
            <a:prstDash val="solid"/>
          </a:ln>
        </p:spPr>
      </p:sp>
      <p:sp>
        <p:nvSpPr>
          <p:cNvPr id="25" name="Text 23"/>
          <p:cNvSpPr/>
          <p:nvPr/>
        </p:nvSpPr>
        <p:spPr>
          <a:xfrm>
            <a:off x="8107680" y="1892808"/>
            <a:ext cx="1560576"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5. LOAD</a:t>
            </a:r>
            <a:endParaRPr lang="en-US" sz="1200" dirty="0"/>
          </a:p>
        </p:txBody>
      </p:sp>
      <p:sp>
        <p:nvSpPr>
          <p:cNvPr id="26" name="Text 24"/>
          <p:cNvSpPr/>
          <p:nvPr/>
        </p:nvSpPr>
        <p:spPr>
          <a:xfrm>
            <a:off x="8107680" y="2203704"/>
            <a:ext cx="1560576" cy="87782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Gun + sheath</a:t>
            </a:r>
            <a:endParaRPr lang="en-US" sz="1050" dirty="0"/>
          </a:p>
        </p:txBody>
      </p:sp>
      <p:sp>
        <p:nvSpPr>
          <p:cNvPr id="27" name="Shape 25"/>
          <p:cNvSpPr/>
          <p:nvPr/>
        </p:nvSpPr>
        <p:spPr>
          <a:xfrm>
            <a:off x="9777984" y="2386584"/>
            <a:ext cx="91440" cy="201168"/>
          </a:xfrm>
          <a:prstGeom prst="rightArrow">
            <a:avLst/>
          </a:prstGeom>
          <a:solidFill>
            <a:srgbClr val="156082"/>
          </a:solidFill>
          <a:ln w="12700">
            <a:solidFill>
              <a:srgbClr val="156082"/>
            </a:solidFill>
            <a:prstDash val="solid"/>
          </a:ln>
        </p:spPr>
      </p:sp>
      <p:sp>
        <p:nvSpPr>
          <p:cNvPr id="28" name="Shape 26"/>
          <p:cNvSpPr/>
          <p:nvPr/>
        </p:nvSpPr>
        <p:spPr>
          <a:xfrm>
            <a:off x="9906000" y="1801368"/>
            <a:ext cx="1706880" cy="1371600"/>
          </a:xfrm>
          <a:prstGeom prst="roundRect">
            <a:avLst>
              <a:gd name="adj" fmla="val 4667"/>
            </a:avLst>
          </a:prstGeom>
          <a:solidFill>
            <a:srgbClr val="E97132"/>
          </a:solidFill>
          <a:ln w="12700">
            <a:solidFill>
              <a:srgbClr val="E97132"/>
            </a:solidFill>
            <a:prstDash val="solid"/>
          </a:ln>
        </p:spPr>
      </p:sp>
      <p:sp>
        <p:nvSpPr>
          <p:cNvPr id="29" name="Text 27"/>
          <p:cNvSpPr/>
          <p:nvPr/>
        </p:nvSpPr>
        <p:spPr>
          <a:xfrm>
            <a:off x="9979152" y="1892808"/>
            <a:ext cx="15605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 GO</a:t>
            </a:r>
            <a:endParaRPr lang="en-US" sz="1200" dirty="0"/>
          </a:p>
        </p:txBody>
      </p:sp>
      <p:sp>
        <p:nvSpPr>
          <p:cNvPr id="30" name="Text 28"/>
          <p:cNvSpPr/>
          <p:nvPr/>
        </p:nvSpPr>
        <p:spPr>
          <a:xfrm>
            <a:off x="9979152" y="2203704"/>
            <a:ext cx="1560576" cy="877824"/>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Within 10 minutes</a:t>
            </a:r>
            <a:endParaRPr lang="en-US" sz="1050" dirty="0"/>
          </a:p>
          <a:p>
            <a:pPr algn="ctr" indent="0" marL="0">
              <a:buNone/>
            </a:pPr>
            <a:r>
              <a:rPr lang="en-US" sz="1050" dirty="0">
                <a:solidFill>
                  <a:srgbClr val="FFFFFF"/>
                </a:solidFill>
                <a:latin typeface="Malgun Gothic" pitchFamily="34" charset="0"/>
                <a:ea typeface="Malgun Gothic" pitchFamily="34" charset="-122"/>
                <a:cs typeface="Malgun Gothic" pitchFamily="34" charset="-120"/>
              </a:rPr>
              <a:t>No sun, no wind</a:t>
            </a:r>
            <a:endParaRPr lang="en-US" sz="1050" dirty="0"/>
          </a:p>
        </p:txBody>
      </p:sp>
      <p:sp>
        <p:nvSpPr>
          <p:cNvPr id="31" name="Shape 29"/>
          <p:cNvSpPr/>
          <p:nvPr/>
        </p:nvSpPr>
        <p:spPr>
          <a:xfrm>
            <a:off x="548640" y="3538728"/>
            <a:ext cx="11064240" cy="777240"/>
          </a:xfrm>
          <a:prstGeom prst="roundRect">
            <a:avLst>
              <a:gd name="adj" fmla="val 9412"/>
            </a:avLst>
          </a:prstGeom>
          <a:solidFill>
            <a:srgbClr val="0E2841"/>
          </a:solidFill>
          <a:ln w="12700">
            <a:solidFill>
              <a:srgbClr val="0E2841"/>
            </a:solidFill>
            <a:prstDash val="solid"/>
          </a:ln>
        </p:spPr>
      </p:sp>
      <p:sp>
        <p:nvSpPr>
          <p:cNvPr id="32" name="Text 30"/>
          <p:cNvSpPr/>
          <p:nvPr/>
        </p:nvSpPr>
        <p:spPr>
          <a:xfrm>
            <a:off x="548640" y="3538728"/>
            <a:ext cx="11064240" cy="777240"/>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AIR 3–5 SEC        WATER 37 °C FOR 20–30 SEC        THEN 10 MINUTES</a:t>
            </a:r>
            <a:endParaRPr lang="en-US" sz="1900" dirty="0"/>
          </a:p>
        </p:txBody>
      </p:sp>
      <p:sp>
        <p:nvSpPr>
          <p:cNvPr id="33" name="Shape 31"/>
          <p:cNvSpPr/>
          <p:nvPr/>
        </p:nvSpPr>
        <p:spPr>
          <a:xfrm>
            <a:off x="548640" y="4453128"/>
            <a:ext cx="4978908" cy="329184"/>
          </a:xfrm>
          <a:prstGeom prst="roundRect">
            <a:avLst>
              <a:gd name="adj" fmla="val 8333"/>
            </a:avLst>
          </a:prstGeom>
          <a:solidFill>
            <a:srgbClr val="0E2841"/>
          </a:solidFill>
          <a:ln w="12700">
            <a:solidFill>
              <a:srgbClr val="0E2841"/>
            </a:solidFill>
            <a:prstDash val="solid"/>
          </a:ln>
        </p:spPr>
      </p:sp>
      <p:sp>
        <p:nvSpPr>
          <p:cNvPr id="34" name="Text 32"/>
          <p:cNvSpPr/>
          <p:nvPr/>
        </p:nvSpPr>
        <p:spPr>
          <a:xfrm>
            <a:off x="621792" y="4453128"/>
            <a:ext cx="4832604" cy="329184"/>
          </a:xfrm>
          <a:prstGeom prst="rect">
            <a:avLst/>
          </a:prstGeom>
          <a:noFill/>
          <a:ln/>
        </p:spPr>
        <p:txBody>
          <a:bodyPr wrap="square" lIns="0" tIns="0" rIns="0" bIns="0" rtlCol="0" anchor="ct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Common mistake</a:t>
            </a:r>
            <a:endParaRPr lang="en-US" sz="1150" dirty="0"/>
          </a:p>
        </p:txBody>
      </p:sp>
      <p:sp>
        <p:nvSpPr>
          <p:cNvPr id="35" name="Shape 33"/>
          <p:cNvSpPr/>
          <p:nvPr/>
        </p:nvSpPr>
        <p:spPr>
          <a:xfrm>
            <a:off x="5527548" y="4453128"/>
            <a:ext cx="6085332" cy="329184"/>
          </a:xfrm>
          <a:prstGeom prst="roundRect">
            <a:avLst>
              <a:gd name="adj" fmla="val 8333"/>
            </a:avLst>
          </a:prstGeom>
          <a:solidFill>
            <a:srgbClr val="0E2841"/>
          </a:solidFill>
          <a:ln w="12700">
            <a:solidFill>
              <a:srgbClr val="0E2841"/>
            </a:solidFill>
            <a:prstDash val="solid"/>
          </a:ln>
        </p:spPr>
      </p:sp>
      <p:sp>
        <p:nvSpPr>
          <p:cNvPr id="36" name="Text 34"/>
          <p:cNvSpPr/>
          <p:nvPr/>
        </p:nvSpPr>
        <p:spPr>
          <a:xfrm>
            <a:off x="5600700" y="4453128"/>
            <a:ext cx="5939028" cy="329184"/>
          </a:xfrm>
          <a:prstGeom prst="rect">
            <a:avLst/>
          </a:prstGeom>
          <a:noFill/>
          <a:ln/>
        </p:spPr>
        <p:txBody>
          <a:bodyPr wrap="square" lIns="0" tIns="0" rIns="0" bIns="0" rtlCol="0" anchor="ctr"/>
          <a:lstStyle/>
          <a:p>
            <a:pPr algn="l" indent="0" marL="0">
              <a:buNone/>
            </a:pPr>
            <a:r>
              <a:rPr lang="en-US" sz="1150" b="1" dirty="0">
                <a:solidFill>
                  <a:srgbClr val="FFFFFF"/>
                </a:solidFill>
                <a:latin typeface="Malgun Gothic" pitchFamily="34" charset="0"/>
                <a:ea typeface="Malgun Gothic" pitchFamily="34" charset="-122"/>
                <a:cs typeface="Malgun Gothic" pitchFamily="34" charset="-120"/>
              </a:rPr>
              <a:t>What happens</a:t>
            </a:r>
            <a:endParaRPr lang="en-US" sz="1150" dirty="0"/>
          </a:p>
        </p:txBody>
      </p:sp>
      <p:sp>
        <p:nvSpPr>
          <p:cNvPr id="37" name="Shape 35"/>
          <p:cNvSpPr/>
          <p:nvPr/>
        </p:nvSpPr>
        <p:spPr>
          <a:xfrm>
            <a:off x="548640" y="4782312"/>
            <a:ext cx="4978908" cy="329184"/>
          </a:xfrm>
          <a:prstGeom prst="roundRect">
            <a:avLst>
              <a:gd name="adj" fmla="val 5556"/>
            </a:avLst>
          </a:prstGeom>
          <a:solidFill>
            <a:srgbClr val="FFFFFF"/>
          </a:solidFill>
          <a:ln w="12700">
            <a:solidFill>
              <a:srgbClr val="C9D3DA"/>
            </a:solidFill>
            <a:prstDash val="solid"/>
          </a:ln>
        </p:spPr>
      </p:sp>
      <p:sp>
        <p:nvSpPr>
          <p:cNvPr id="38" name="Text 36"/>
          <p:cNvSpPr/>
          <p:nvPr/>
        </p:nvSpPr>
        <p:spPr>
          <a:xfrm>
            <a:off x="621792" y="4782312"/>
            <a:ext cx="4832604" cy="329184"/>
          </a:xfrm>
          <a:prstGeom prst="rect">
            <a:avLst/>
          </a:prstGeom>
          <a:noFill/>
          <a:ln/>
        </p:spPr>
        <p:txBody>
          <a:bodyPr wrap="square" lIns="0" tIns="0" rIns="0" bIns="0" rtlCol="0" anchor="ctr"/>
          <a:lstStyle/>
          <a:p>
            <a:pPr algn="l" indent="0" marL="0">
              <a:buNone/>
            </a:pPr>
            <a:r>
              <a:rPr lang="en-US" sz="1150" b="1" dirty="0">
                <a:solidFill>
                  <a:srgbClr val="E97132"/>
                </a:solidFill>
                <a:latin typeface="Malgun Gothic" pitchFamily="34" charset="0"/>
                <a:ea typeface="Malgun Gothic" pitchFamily="34" charset="-122"/>
                <a:cs typeface="Malgun Gothic" pitchFamily="34" charset="-120"/>
              </a:rPr>
              <a:t>Lifting the basket to read labels</a:t>
            </a:r>
            <a:endParaRPr lang="en-US" sz="1150" dirty="0"/>
          </a:p>
        </p:txBody>
      </p:sp>
      <p:sp>
        <p:nvSpPr>
          <p:cNvPr id="39" name="Shape 37"/>
          <p:cNvSpPr/>
          <p:nvPr/>
        </p:nvSpPr>
        <p:spPr>
          <a:xfrm>
            <a:off x="5527548" y="4782312"/>
            <a:ext cx="6085332" cy="329184"/>
          </a:xfrm>
          <a:prstGeom prst="roundRect">
            <a:avLst>
              <a:gd name="adj" fmla="val 5556"/>
            </a:avLst>
          </a:prstGeom>
          <a:solidFill>
            <a:srgbClr val="FFFFFF"/>
          </a:solidFill>
          <a:ln w="12700">
            <a:solidFill>
              <a:srgbClr val="C9D3DA"/>
            </a:solidFill>
            <a:prstDash val="solid"/>
          </a:ln>
        </p:spPr>
      </p:sp>
      <p:sp>
        <p:nvSpPr>
          <p:cNvPr id="40" name="Text 38"/>
          <p:cNvSpPr/>
          <p:nvPr/>
        </p:nvSpPr>
        <p:spPr>
          <a:xfrm>
            <a:off x="5600700" y="4782312"/>
            <a:ext cx="5939028" cy="32918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Every straw in it is damaged</a:t>
            </a:r>
            <a:endParaRPr lang="en-US" sz="1150" dirty="0"/>
          </a:p>
        </p:txBody>
      </p:sp>
      <p:sp>
        <p:nvSpPr>
          <p:cNvPr id="41" name="Shape 39"/>
          <p:cNvSpPr/>
          <p:nvPr/>
        </p:nvSpPr>
        <p:spPr>
          <a:xfrm>
            <a:off x="548640" y="5111496"/>
            <a:ext cx="4978908" cy="329184"/>
          </a:xfrm>
          <a:prstGeom prst="roundRect">
            <a:avLst>
              <a:gd name="adj" fmla="val 5556"/>
            </a:avLst>
          </a:prstGeom>
          <a:solidFill>
            <a:srgbClr val="F2F5F7"/>
          </a:solidFill>
          <a:ln w="12700">
            <a:solidFill>
              <a:srgbClr val="C9D3DA"/>
            </a:solidFill>
            <a:prstDash val="solid"/>
          </a:ln>
        </p:spPr>
      </p:sp>
      <p:sp>
        <p:nvSpPr>
          <p:cNvPr id="42" name="Text 40"/>
          <p:cNvSpPr/>
          <p:nvPr/>
        </p:nvSpPr>
        <p:spPr>
          <a:xfrm>
            <a:off x="621792" y="5111496"/>
            <a:ext cx="4832604" cy="329184"/>
          </a:xfrm>
          <a:prstGeom prst="rect">
            <a:avLst/>
          </a:prstGeom>
          <a:noFill/>
          <a:ln/>
        </p:spPr>
        <p:txBody>
          <a:bodyPr wrap="square" lIns="0" tIns="0" rIns="0" bIns="0" rtlCol="0" anchor="ctr"/>
          <a:lstStyle/>
          <a:p>
            <a:pPr algn="l" indent="0" marL="0">
              <a:buNone/>
            </a:pPr>
            <a:r>
              <a:rPr lang="en-US" sz="1150" b="1" dirty="0">
                <a:solidFill>
                  <a:srgbClr val="E97132"/>
                </a:solidFill>
                <a:latin typeface="Malgun Gothic" pitchFamily="34" charset="0"/>
                <a:ea typeface="Malgun Gothic" pitchFamily="34" charset="-122"/>
                <a:cs typeface="Malgun Gothic" pitchFamily="34" charset="-120"/>
              </a:rPr>
              <a:t>Judging the water by hand</a:t>
            </a:r>
            <a:endParaRPr lang="en-US" sz="1150" dirty="0"/>
          </a:p>
        </p:txBody>
      </p:sp>
      <p:sp>
        <p:nvSpPr>
          <p:cNvPr id="43" name="Shape 41"/>
          <p:cNvSpPr/>
          <p:nvPr/>
        </p:nvSpPr>
        <p:spPr>
          <a:xfrm>
            <a:off x="5527548" y="5111496"/>
            <a:ext cx="6085332" cy="329184"/>
          </a:xfrm>
          <a:prstGeom prst="roundRect">
            <a:avLst>
              <a:gd name="adj" fmla="val 5556"/>
            </a:avLst>
          </a:prstGeom>
          <a:solidFill>
            <a:srgbClr val="F2F5F7"/>
          </a:solidFill>
          <a:ln w="12700">
            <a:solidFill>
              <a:srgbClr val="C9D3DA"/>
            </a:solidFill>
            <a:prstDash val="solid"/>
          </a:ln>
        </p:spPr>
      </p:sp>
      <p:sp>
        <p:nvSpPr>
          <p:cNvPr id="44" name="Text 42"/>
          <p:cNvSpPr/>
          <p:nvPr/>
        </p:nvSpPr>
        <p:spPr>
          <a:xfrm>
            <a:off x="5600700" y="5111496"/>
            <a:ext cx="5939028" cy="32918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Too hot kills. Too cold kills.</a:t>
            </a:r>
            <a:endParaRPr lang="en-US" sz="1150" dirty="0"/>
          </a:p>
        </p:txBody>
      </p:sp>
      <p:sp>
        <p:nvSpPr>
          <p:cNvPr id="45" name="Shape 43"/>
          <p:cNvSpPr/>
          <p:nvPr/>
        </p:nvSpPr>
        <p:spPr>
          <a:xfrm>
            <a:off x="548640" y="5440680"/>
            <a:ext cx="4978908" cy="329184"/>
          </a:xfrm>
          <a:prstGeom prst="roundRect">
            <a:avLst>
              <a:gd name="adj" fmla="val 5556"/>
            </a:avLst>
          </a:prstGeom>
          <a:solidFill>
            <a:srgbClr val="FFFFFF"/>
          </a:solidFill>
          <a:ln w="12700">
            <a:solidFill>
              <a:srgbClr val="C9D3DA"/>
            </a:solidFill>
            <a:prstDash val="solid"/>
          </a:ln>
        </p:spPr>
      </p:sp>
      <p:sp>
        <p:nvSpPr>
          <p:cNvPr id="46" name="Text 44"/>
          <p:cNvSpPr/>
          <p:nvPr/>
        </p:nvSpPr>
        <p:spPr>
          <a:xfrm>
            <a:off x="621792" y="5440680"/>
            <a:ext cx="4832604" cy="329184"/>
          </a:xfrm>
          <a:prstGeom prst="rect">
            <a:avLst/>
          </a:prstGeom>
          <a:noFill/>
          <a:ln/>
        </p:spPr>
        <p:txBody>
          <a:bodyPr wrap="square" lIns="0" tIns="0" rIns="0" bIns="0" rtlCol="0" anchor="ctr"/>
          <a:lstStyle/>
          <a:p>
            <a:pPr algn="l" indent="0" marL="0">
              <a:buNone/>
            </a:pPr>
            <a:r>
              <a:rPr lang="en-US" sz="1150" b="1" dirty="0">
                <a:solidFill>
                  <a:srgbClr val="E97132"/>
                </a:solidFill>
                <a:latin typeface="Malgun Gothic" pitchFamily="34" charset="0"/>
                <a:ea typeface="Malgun Gothic" pitchFamily="34" charset="-122"/>
                <a:cs typeface="Malgun Gothic" pitchFamily="34" charset="-120"/>
              </a:rPr>
              <a:t>Not drying the straw</a:t>
            </a:r>
            <a:endParaRPr lang="en-US" sz="1150" dirty="0"/>
          </a:p>
        </p:txBody>
      </p:sp>
      <p:sp>
        <p:nvSpPr>
          <p:cNvPr id="47" name="Shape 45"/>
          <p:cNvSpPr/>
          <p:nvPr/>
        </p:nvSpPr>
        <p:spPr>
          <a:xfrm>
            <a:off x="5527548" y="5440680"/>
            <a:ext cx="6085332" cy="329184"/>
          </a:xfrm>
          <a:prstGeom prst="roundRect">
            <a:avLst>
              <a:gd name="adj" fmla="val 5556"/>
            </a:avLst>
          </a:prstGeom>
          <a:solidFill>
            <a:srgbClr val="FFFFFF"/>
          </a:solidFill>
          <a:ln w="12700">
            <a:solidFill>
              <a:srgbClr val="C9D3DA"/>
            </a:solidFill>
            <a:prstDash val="solid"/>
          </a:ln>
        </p:spPr>
      </p:sp>
      <p:sp>
        <p:nvSpPr>
          <p:cNvPr id="48" name="Text 46"/>
          <p:cNvSpPr/>
          <p:nvPr/>
        </p:nvSpPr>
        <p:spPr>
          <a:xfrm>
            <a:off x="5600700" y="5440680"/>
            <a:ext cx="5939028" cy="32918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Water carries dirt into the womb</a:t>
            </a:r>
            <a:endParaRPr lang="en-US" sz="1150" dirty="0"/>
          </a:p>
        </p:txBody>
      </p:sp>
      <p:sp>
        <p:nvSpPr>
          <p:cNvPr id="49" name="Shape 47"/>
          <p:cNvSpPr/>
          <p:nvPr/>
        </p:nvSpPr>
        <p:spPr>
          <a:xfrm>
            <a:off x="548640" y="5769864"/>
            <a:ext cx="4978908" cy="329184"/>
          </a:xfrm>
          <a:prstGeom prst="roundRect">
            <a:avLst>
              <a:gd name="adj" fmla="val 5556"/>
            </a:avLst>
          </a:prstGeom>
          <a:solidFill>
            <a:srgbClr val="F2F5F7"/>
          </a:solidFill>
          <a:ln w="12700">
            <a:solidFill>
              <a:srgbClr val="C9D3DA"/>
            </a:solidFill>
            <a:prstDash val="solid"/>
          </a:ln>
        </p:spPr>
      </p:sp>
      <p:sp>
        <p:nvSpPr>
          <p:cNvPr id="50" name="Text 48"/>
          <p:cNvSpPr/>
          <p:nvPr/>
        </p:nvSpPr>
        <p:spPr>
          <a:xfrm>
            <a:off x="621792" y="5769864"/>
            <a:ext cx="4832604" cy="329184"/>
          </a:xfrm>
          <a:prstGeom prst="rect">
            <a:avLst/>
          </a:prstGeom>
          <a:noFill/>
          <a:ln/>
        </p:spPr>
        <p:txBody>
          <a:bodyPr wrap="square" lIns="0" tIns="0" rIns="0" bIns="0" rtlCol="0" anchor="ctr"/>
          <a:lstStyle/>
          <a:p>
            <a:pPr algn="l" indent="0" marL="0">
              <a:buNone/>
            </a:pPr>
            <a:r>
              <a:rPr lang="en-US" sz="1150" b="1" dirty="0">
                <a:solidFill>
                  <a:srgbClr val="E97132"/>
                </a:solidFill>
                <a:latin typeface="Malgun Gothic" pitchFamily="34" charset="0"/>
                <a:ea typeface="Malgun Gothic" pitchFamily="34" charset="-122"/>
                <a:cs typeface="Malgun Gothic" pitchFamily="34" charset="-120"/>
              </a:rPr>
              <a:t>Thawing before catching the cow</a:t>
            </a:r>
            <a:endParaRPr lang="en-US" sz="1150" dirty="0"/>
          </a:p>
        </p:txBody>
      </p:sp>
      <p:sp>
        <p:nvSpPr>
          <p:cNvPr id="51" name="Shape 49"/>
          <p:cNvSpPr/>
          <p:nvPr/>
        </p:nvSpPr>
        <p:spPr>
          <a:xfrm>
            <a:off x="5527548" y="5769864"/>
            <a:ext cx="6085332" cy="329184"/>
          </a:xfrm>
          <a:prstGeom prst="roundRect">
            <a:avLst>
              <a:gd name="adj" fmla="val 5556"/>
            </a:avLst>
          </a:prstGeom>
          <a:solidFill>
            <a:srgbClr val="F2F5F7"/>
          </a:solidFill>
          <a:ln w="12700">
            <a:solidFill>
              <a:srgbClr val="C9D3DA"/>
            </a:solidFill>
            <a:prstDash val="solid"/>
          </a:ln>
        </p:spPr>
      </p:sp>
      <p:sp>
        <p:nvSpPr>
          <p:cNvPr id="52" name="Text 50"/>
          <p:cNvSpPr/>
          <p:nvPr/>
        </p:nvSpPr>
        <p:spPr>
          <a:xfrm>
            <a:off x="5600700" y="5769864"/>
            <a:ext cx="5939028" cy="32918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Catch the cow FIRST. Thaw LAST.</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05</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Non-surgical transfer</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30 minutes  ·  hygiene, the cervix, the deposition site</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day-7 womb is open and defenceless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same thing that lets the embryo live also lets bacteria live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At heat the womb cleans itself. On day 7 it cannot. Whatever you carry in, stays in.</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36</a:t>
            </a:r>
            <a:endParaRPr lang="en-US" sz="900" dirty="0"/>
          </a:p>
        </p:txBody>
      </p:sp>
      <p:sp>
        <p:nvSpPr>
          <p:cNvPr id="8" name="Shape 6"/>
          <p:cNvSpPr/>
          <p:nvPr/>
        </p:nvSpPr>
        <p:spPr>
          <a:xfrm>
            <a:off x="548640" y="1801368"/>
            <a:ext cx="5394960" cy="2514600"/>
          </a:xfrm>
          <a:prstGeom prst="roundRect">
            <a:avLst>
              <a:gd name="adj" fmla="val 2545"/>
            </a:avLst>
          </a:prstGeom>
          <a:solidFill>
            <a:srgbClr val="FFFFFF"/>
          </a:solidFill>
          <a:ln w="12700">
            <a:solidFill>
              <a:srgbClr val="156082"/>
            </a:solidFill>
            <a:prstDash val="solid"/>
          </a:ln>
        </p:spPr>
      </p:sp>
      <p:sp>
        <p:nvSpPr>
          <p:cNvPr id="9" name="Shape 7"/>
          <p:cNvSpPr/>
          <p:nvPr/>
        </p:nvSpPr>
        <p:spPr>
          <a:xfrm>
            <a:off x="548640" y="1801368"/>
            <a:ext cx="5394960" cy="402336"/>
          </a:xfrm>
          <a:prstGeom prst="roundRect">
            <a:avLst>
              <a:gd name="adj" fmla="val 15909"/>
            </a:avLst>
          </a:prstGeom>
          <a:solidFill>
            <a:srgbClr val="156082"/>
          </a:solidFill>
          <a:ln w="12700">
            <a:solidFill>
              <a:srgbClr val="156082"/>
            </a:solidFill>
            <a:prstDash val="solid"/>
          </a:ln>
        </p:spPr>
      </p:sp>
      <p:sp>
        <p:nvSpPr>
          <p:cNvPr id="10" name="Text 8"/>
          <p:cNvSpPr/>
          <p:nvPr/>
        </p:nvSpPr>
        <p:spPr>
          <a:xfrm>
            <a:off x="54864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WOMB AT HEAT  (AI day)</a:t>
            </a:r>
            <a:endParaRPr lang="en-US" sz="1300" dirty="0"/>
          </a:p>
        </p:txBody>
      </p:sp>
      <p:sp>
        <p:nvSpPr>
          <p:cNvPr id="11" name="Text 9"/>
          <p:cNvSpPr/>
          <p:nvPr/>
        </p:nvSpPr>
        <p:spPr>
          <a:xfrm>
            <a:off x="694944" y="2313432"/>
            <a:ext cx="5102352" cy="187452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The womb contracts and pushes out</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White cells are active</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It can clean up a small mistake</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A small error is often forgiven</a:t>
            </a:r>
            <a:endParaRPr lang="en-US" sz="1300" dirty="0"/>
          </a:p>
        </p:txBody>
      </p:sp>
      <p:sp>
        <p:nvSpPr>
          <p:cNvPr id="12" name="Shape 10"/>
          <p:cNvSpPr/>
          <p:nvPr/>
        </p:nvSpPr>
        <p:spPr>
          <a:xfrm>
            <a:off x="6217920" y="1801368"/>
            <a:ext cx="5394960" cy="2514600"/>
          </a:xfrm>
          <a:prstGeom prst="roundRect">
            <a:avLst>
              <a:gd name="adj" fmla="val 2545"/>
            </a:avLst>
          </a:prstGeom>
          <a:solidFill>
            <a:srgbClr val="FFFFFF"/>
          </a:solidFill>
          <a:ln w="12700">
            <a:solidFill>
              <a:srgbClr val="E97132"/>
            </a:solidFill>
            <a:prstDash val="solid"/>
          </a:ln>
        </p:spPr>
      </p:sp>
      <p:sp>
        <p:nvSpPr>
          <p:cNvPr id="13" name="Shape 11"/>
          <p:cNvSpPr/>
          <p:nvPr/>
        </p:nvSpPr>
        <p:spPr>
          <a:xfrm>
            <a:off x="6217920" y="1801368"/>
            <a:ext cx="5394960" cy="402336"/>
          </a:xfrm>
          <a:prstGeom prst="roundRect">
            <a:avLst>
              <a:gd name="adj" fmla="val 15909"/>
            </a:avLst>
          </a:prstGeom>
          <a:solidFill>
            <a:srgbClr val="E97132"/>
          </a:solidFill>
          <a:ln w="12700">
            <a:solidFill>
              <a:srgbClr val="E97132"/>
            </a:solidFill>
            <a:prstDash val="solid"/>
          </a:ln>
        </p:spPr>
      </p:sp>
      <p:sp>
        <p:nvSpPr>
          <p:cNvPr id="14" name="Text 12"/>
          <p:cNvSpPr/>
          <p:nvPr/>
        </p:nvSpPr>
        <p:spPr>
          <a:xfrm>
            <a:off x="621792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WOMB ON DAY 7  (transfer day)</a:t>
            </a:r>
            <a:endParaRPr lang="en-US" sz="1300" dirty="0"/>
          </a:p>
        </p:txBody>
      </p:sp>
      <p:sp>
        <p:nvSpPr>
          <p:cNvPr id="15" name="Text 13"/>
          <p:cNvSpPr/>
          <p:nvPr/>
        </p:nvSpPr>
        <p:spPr>
          <a:xfrm>
            <a:off x="6364224" y="2313432"/>
            <a:ext cx="5102352" cy="187452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The womb is quiet — no contractions</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Defence is deliberately lowered</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It CANNOT clean itself</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Whatever goes in, stays in</a:t>
            </a:r>
            <a:endParaRPr lang="en-US" sz="1300" dirty="0"/>
          </a:p>
        </p:txBody>
      </p:sp>
      <p:sp>
        <p:nvSpPr>
          <p:cNvPr id="16" name="Shape 14"/>
          <p:cNvSpPr/>
          <p:nvPr/>
        </p:nvSpPr>
        <p:spPr>
          <a:xfrm>
            <a:off x="548640" y="4498848"/>
            <a:ext cx="11064240" cy="749808"/>
          </a:xfrm>
          <a:prstGeom prst="roundRect">
            <a:avLst>
              <a:gd name="adj" fmla="val 9756"/>
            </a:avLst>
          </a:prstGeom>
          <a:solidFill>
            <a:srgbClr val="0E2841"/>
          </a:solidFill>
          <a:ln w="12700">
            <a:solidFill>
              <a:srgbClr val="0E2841"/>
            </a:solidFill>
            <a:prstDash val="solid"/>
          </a:ln>
        </p:spPr>
      </p:sp>
      <p:sp>
        <p:nvSpPr>
          <p:cNvPr id="17" name="Text 15"/>
          <p:cNvSpPr/>
          <p:nvPr/>
        </p:nvSpPr>
        <p:spPr>
          <a:xfrm>
            <a:off x="548640" y="4498848"/>
            <a:ext cx="11064240" cy="749808"/>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One sheath  &lt;  one embryo  &lt;  one pregnancy.   Never re-use a sheath.</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double sheath — the clean chain</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outer cover is pierced only after you are past the cervix</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The vagina is always dirty. The outer cover protects the tip until you are inside the womb.</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37</a:t>
            </a:r>
            <a:endParaRPr lang="en-US" sz="900" dirty="0"/>
          </a:p>
        </p:txBody>
      </p:sp>
      <p:sp>
        <p:nvSpPr>
          <p:cNvPr id="8" name="Shape 6"/>
          <p:cNvSpPr/>
          <p:nvPr/>
        </p:nvSpPr>
        <p:spPr>
          <a:xfrm>
            <a:off x="548640" y="2029968"/>
            <a:ext cx="2051914" cy="1188720"/>
          </a:xfrm>
          <a:prstGeom prst="roundRect">
            <a:avLst>
              <a:gd name="adj" fmla="val 5385"/>
            </a:avLst>
          </a:prstGeom>
          <a:solidFill>
            <a:srgbClr val="F2F5F7"/>
          </a:solidFill>
          <a:ln w="12700">
            <a:solidFill>
              <a:srgbClr val="C9D3DA"/>
            </a:solidFill>
            <a:prstDash val="solid"/>
          </a:ln>
        </p:spPr>
      </p:sp>
      <p:sp>
        <p:nvSpPr>
          <p:cNvPr id="9" name="Text 7"/>
          <p:cNvSpPr/>
          <p:nvPr/>
        </p:nvSpPr>
        <p:spPr>
          <a:xfrm>
            <a:off x="621792" y="212140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VULVA</a:t>
            </a:r>
            <a:endParaRPr lang="en-US" sz="1200" dirty="0"/>
          </a:p>
        </p:txBody>
      </p:sp>
      <p:sp>
        <p:nvSpPr>
          <p:cNvPr id="10" name="Text 8"/>
          <p:cNvSpPr/>
          <p:nvPr/>
        </p:nvSpPr>
        <p:spPr>
          <a:xfrm>
            <a:off x="621792" y="2432304"/>
            <a:ext cx="1905610" cy="69494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Clean and DRY it.</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A wet cloth spreads dirt.</a:t>
            </a:r>
            <a:endParaRPr lang="en-US" sz="1050" dirty="0"/>
          </a:p>
        </p:txBody>
      </p:sp>
      <p:sp>
        <p:nvSpPr>
          <p:cNvPr id="11" name="Shape 9"/>
          <p:cNvSpPr/>
          <p:nvPr/>
        </p:nvSpPr>
        <p:spPr>
          <a:xfrm>
            <a:off x="2637130" y="2523744"/>
            <a:ext cx="128016" cy="201168"/>
          </a:xfrm>
          <a:prstGeom prst="rightArrow">
            <a:avLst/>
          </a:prstGeom>
          <a:solidFill>
            <a:srgbClr val="156082"/>
          </a:solidFill>
          <a:ln w="12700">
            <a:solidFill>
              <a:srgbClr val="156082"/>
            </a:solidFill>
            <a:prstDash val="solid"/>
          </a:ln>
        </p:spPr>
      </p:sp>
      <p:sp>
        <p:nvSpPr>
          <p:cNvPr id="12" name="Shape 10"/>
          <p:cNvSpPr/>
          <p:nvPr/>
        </p:nvSpPr>
        <p:spPr>
          <a:xfrm>
            <a:off x="2801722" y="2029968"/>
            <a:ext cx="2051914" cy="1188720"/>
          </a:xfrm>
          <a:prstGeom prst="roundRect">
            <a:avLst>
              <a:gd name="adj" fmla="val 5385"/>
            </a:avLst>
          </a:prstGeom>
          <a:solidFill>
            <a:srgbClr val="F2F5F7"/>
          </a:solidFill>
          <a:ln w="12700">
            <a:solidFill>
              <a:srgbClr val="C9D3DA"/>
            </a:solidFill>
            <a:prstDash val="solid"/>
          </a:ln>
        </p:spPr>
      </p:sp>
      <p:sp>
        <p:nvSpPr>
          <p:cNvPr id="13" name="Text 11"/>
          <p:cNvSpPr/>
          <p:nvPr/>
        </p:nvSpPr>
        <p:spPr>
          <a:xfrm>
            <a:off x="2874874" y="212140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VAGINA</a:t>
            </a:r>
            <a:endParaRPr lang="en-US" sz="1200" dirty="0"/>
          </a:p>
        </p:txBody>
      </p:sp>
      <p:sp>
        <p:nvSpPr>
          <p:cNvPr id="14" name="Text 12"/>
          <p:cNvSpPr/>
          <p:nvPr/>
        </p:nvSpPr>
        <p:spPr>
          <a:xfrm>
            <a:off x="2874874" y="2432304"/>
            <a:ext cx="1905610" cy="69494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Dirty — always.</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Outer cover protects the tip.</a:t>
            </a:r>
            <a:endParaRPr lang="en-US" sz="1050" dirty="0"/>
          </a:p>
        </p:txBody>
      </p:sp>
      <p:sp>
        <p:nvSpPr>
          <p:cNvPr id="15" name="Shape 13"/>
          <p:cNvSpPr/>
          <p:nvPr/>
        </p:nvSpPr>
        <p:spPr>
          <a:xfrm>
            <a:off x="4890211" y="2523744"/>
            <a:ext cx="128016" cy="201168"/>
          </a:xfrm>
          <a:prstGeom prst="rightArrow">
            <a:avLst/>
          </a:prstGeom>
          <a:solidFill>
            <a:srgbClr val="156082"/>
          </a:solidFill>
          <a:ln w="12700">
            <a:solidFill>
              <a:srgbClr val="156082"/>
            </a:solidFill>
            <a:prstDash val="solid"/>
          </a:ln>
        </p:spPr>
      </p:sp>
      <p:sp>
        <p:nvSpPr>
          <p:cNvPr id="16" name="Shape 14"/>
          <p:cNvSpPr/>
          <p:nvPr/>
        </p:nvSpPr>
        <p:spPr>
          <a:xfrm>
            <a:off x="5054803" y="2029968"/>
            <a:ext cx="2051914" cy="1188720"/>
          </a:xfrm>
          <a:prstGeom prst="roundRect">
            <a:avLst>
              <a:gd name="adj" fmla="val 5385"/>
            </a:avLst>
          </a:prstGeom>
          <a:solidFill>
            <a:srgbClr val="F2F5F7"/>
          </a:solidFill>
          <a:ln w="12700">
            <a:solidFill>
              <a:srgbClr val="C9D3DA"/>
            </a:solidFill>
            <a:prstDash val="solid"/>
          </a:ln>
        </p:spPr>
      </p:sp>
      <p:sp>
        <p:nvSpPr>
          <p:cNvPr id="17" name="Text 15"/>
          <p:cNvSpPr/>
          <p:nvPr/>
        </p:nvSpPr>
        <p:spPr>
          <a:xfrm>
            <a:off x="5127955" y="2121408"/>
            <a:ext cx="1905610" cy="310896"/>
          </a:xfrm>
          <a:prstGeom prst="rect">
            <a:avLst/>
          </a:prstGeom>
          <a:noFill/>
          <a:ln/>
        </p:spPr>
        <p:txBody>
          <a:bodyPr wrap="square" lIns="0" tIns="0" rIns="0" bIns="0" rtlCol="0" anchor="ctr"/>
          <a:lstStyle/>
          <a:p>
            <a:pPr algn="ctr" indent="0" marL="0">
              <a:buNone/>
            </a:pPr>
            <a:r>
              <a:rPr lang="en-US" sz="1200" b="1" dirty="0">
                <a:solidFill>
                  <a:srgbClr val="0E2841"/>
                </a:solidFill>
                <a:latin typeface="Malgun Gothic" pitchFamily="34" charset="0"/>
                <a:ea typeface="Malgun Gothic" pitchFamily="34" charset="-122"/>
                <a:cs typeface="Malgun Gothic" pitchFamily="34" charset="-120"/>
              </a:rPr>
              <a:t>CERVIX</a:t>
            </a:r>
            <a:endParaRPr lang="en-US" sz="1200" dirty="0"/>
          </a:p>
        </p:txBody>
      </p:sp>
      <p:sp>
        <p:nvSpPr>
          <p:cNvPr id="18" name="Text 16"/>
          <p:cNvSpPr/>
          <p:nvPr/>
        </p:nvSpPr>
        <p:spPr>
          <a:xfrm>
            <a:off x="5127955" y="2432304"/>
            <a:ext cx="1905610" cy="694944"/>
          </a:xfrm>
          <a:prstGeom prst="rect">
            <a:avLst/>
          </a:prstGeom>
          <a:noFill/>
          <a:ln/>
        </p:spPr>
        <p:txBody>
          <a:bodyPr wrap="square" lIns="0" tIns="0" rIns="0" bIns="0" rtlCol="0" anchor="ctr"/>
          <a:lstStyle/>
          <a:p>
            <a:pPr algn="ctr" indent="0" marL="0">
              <a:buNone/>
            </a:pPr>
            <a:r>
              <a:rPr lang="en-US" sz="1050" dirty="0">
                <a:solidFill>
                  <a:srgbClr val="6B7280"/>
                </a:solidFill>
                <a:latin typeface="Malgun Gothic" pitchFamily="34" charset="0"/>
                <a:ea typeface="Malgun Gothic" pitchFamily="34" charset="-122"/>
                <a:cs typeface="Malgun Gothic" pitchFamily="34" charset="-120"/>
              </a:rPr>
              <a:t>Pass gently.</a:t>
            </a:r>
            <a:endParaRPr lang="en-US" sz="1050" dirty="0"/>
          </a:p>
          <a:p>
            <a:pPr algn="ctr" indent="0" marL="0">
              <a:buNone/>
            </a:pPr>
            <a:r>
              <a:rPr lang="en-US" sz="1050" dirty="0">
                <a:solidFill>
                  <a:srgbClr val="6B7280"/>
                </a:solidFill>
                <a:latin typeface="Malgun Gothic" pitchFamily="34" charset="0"/>
                <a:ea typeface="Malgun Gothic" pitchFamily="34" charset="-122"/>
                <a:cs typeface="Malgun Gothic" pitchFamily="34" charset="-120"/>
              </a:rPr>
              <a:t>Cover still closed.</a:t>
            </a:r>
            <a:endParaRPr lang="en-US" sz="1050" dirty="0"/>
          </a:p>
        </p:txBody>
      </p:sp>
      <p:sp>
        <p:nvSpPr>
          <p:cNvPr id="19" name="Shape 17"/>
          <p:cNvSpPr/>
          <p:nvPr/>
        </p:nvSpPr>
        <p:spPr>
          <a:xfrm>
            <a:off x="7143293" y="2523744"/>
            <a:ext cx="128016" cy="201168"/>
          </a:xfrm>
          <a:prstGeom prst="rightArrow">
            <a:avLst/>
          </a:prstGeom>
          <a:solidFill>
            <a:srgbClr val="156082"/>
          </a:solidFill>
          <a:ln w="12700">
            <a:solidFill>
              <a:srgbClr val="156082"/>
            </a:solidFill>
            <a:prstDash val="solid"/>
          </a:ln>
        </p:spPr>
      </p:sp>
      <p:sp>
        <p:nvSpPr>
          <p:cNvPr id="20" name="Shape 18"/>
          <p:cNvSpPr/>
          <p:nvPr/>
        </p:nvSpPr>
        <p:spPr>
          <a:xfrm>
            <a:off x="7307885" y="2029968"/>
            <a:ext cx="2051914" cy="1188720"/>
          </a:xfrm>
          <a:prstGeom prst="roundRect">
            <a:avLst>
              <a:gd name="adj" fmla="val 5385"/>
            </a:avLst>
          </a:prstGeom>
          <a:solidFill>
            <a:srgbClr val="196B24"/>
          </a:solidFill>
          <a:ln w="12700">
            <a:solidFill>
              <a:srgbClr val="196B24"/>
            </a:solidFill>
            <a:prstDash val="solid"/>
          </a:ln>
        </p:spPr>
      </p:sp>
      <p:sp>
        <p:nvSpPr>
          <p:cNvPr id="21" name="Text 19"/>
          <p:cNvSpPr/>
          <p:nvPr/>
        </p:nvSpPr>
        <p:spPr>
          <a:xfrm>
            <a:off x="7381037" y="2121408"/>
            <a:ext cx="190561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IN THE WOMB</a:t>
            </a:r>
            <a:endParaRPr lang="en-US" sz="1200" dirty="0"/>
          </a:p>
        </p:txBody>
      </p:sp>
      <p:sp>
        <p:nvSpPr>
          <p:cNvPr id="22" name="Text 20"/>
          <p:cNvSpPr/>
          <p:nvPr/>
        </p:nvSpPr>
        <p:spPr>
          <a:xfrm>
            <a:off x="7381037" y="2432304"/>
            <a:ext cx="1905610" cy="694944"/>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NOW pierce the cover.</a:t>
            </a:r>
            <a:endParaRPr lang="en-US" sz="1050" dirty="0"/>
          </a:p>
          <a:p>
            <a:pPr algn="ctr" indent="0" marL="0">
              <a:buNone/>
            </a:pPr>
            <a:r>
              <a:rPr lang="en-US" sz="1050" dirty="0">
                <a:solidFill>
                  <a:srgbClr val="FFFFFF"/>
                </a:solidFill>
                <a:latin typeface="Malgun Gothic" pitchFamily="34" charset="0"/>
                <a:ea typeface="Malgun Gothic" pitchFamily="34" charset="-122"/>
                <a:cs typeface="Malgun Gothic" pitchFamily="34" charset="-120"/>
              </a:rPr>
              <a:t>Inner sheath goes forward.</a:t>
            </a:r>
            <a:endParaRPr lang="en-US" sz="1050" dirty="0"/>
          </a:p>
        </p:txBody>
      </p:sp>
      <p:sp>
        <p:nvSpPr>
          <p:cNvPr id="23" name="Shape 21"/>
          <p:cNvSpPr/>
          <p:nvPr/>
        </p:nvSpPr>
        <p:spPr>
          <a:xfrm>
            <a:off x="9396374" y="2523744"/>
            <a:ext cx="128016" cy="201168"/>
          </a:xfrm>
          <a:prstGeom prst="rightArrow">
            <a:avLst/>
          </a:prstGeom>
          <a:solidFill>
            <a:srgbClr val="156082"/>
          </a:solidFill>
          <a:ln w="12700">
            <a:solidFill>
              <a:srgbClr val="156082"/>
            </a:solidFill>
            <a:prstDash val="solid"/>
          </a:ln>
        </p:spPr>
      </p:sp>
      <p:sp>
        <p:nvSpPr>
          <p:cNvPr id="24" name="Shape 22"/>
          <p:cNvSpPr/>
          <p:nvPr/>
        </p:nvSpPr>
        <p:spPr>
          <a:xfrm>
            <a:off x="9560966" y="2029968"/>
            <a:ext cx="2051914" cy="1188720"/>
          </a:xfrm>
          <a:prstGeom prst="roundRect">
            <a:avLst>
              <a:gd name="adj" fmla="val 5385"/>
            </a:avLst>
          </a:prstGeom>
          <a:solidFill>
            <a:srgbClr val="E97132"/>
          </a:solidFill>
          <a:ln w="12700">
            <a:solidFill>
              <a:srgbClr val="E97132"/>
            </a:solidFill>
            <a:prstDash val="solid"/>
          </a:ln>
        </p:spPr>
      </p:sp>
      <p:sp>
        <p:nvSpPr>
          <p:cNvPr id="25" name="Text 23"/>
          <p:cNvSpPr/>
          <p:nvPr/>
        </p:nvSpPr>
        <p:spPr>
          <a:xfrm>
            <a:off x="9634118" y="2121408"/>
            <a:ext cx="190561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DEPOSIT</a:t>
            </a:r>
            <a:endParaRPr lang="en-US" sz="1200" dirty="0"/>
          </a:p>
        </p:txBody>
      </p:sp>
      <p:sp>
        <p:nvSpPr>
          <p:cNvPr id="26" name="Text 24"/>
          <p:cNvSpPr/>
          <p:nvPr/>
        </p:nvSpPr>
        <p:spPr>
          <a:xfrm>
            <a:off x="9634118" y="2432304"/>
            <a:ext cx="1905610" cy="694944"/>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Front third of the horn,</a:t>
            </a:r>
            <a:endParaRPr lang="en-US" sz="1050" dirty="0"/>
          </a:p>
          <a:p>
            <a:pPr algn="ctr" indent="0" marL="0">
              <a:buNone/>
            </a:pPr>
            <a:r>
              <a:rPr lang="en-US" sz="1050" dirty="0">
                <a:solidFill>
                  <a:srgbClr val="FFFFFF"/>
                </a:solidFill>
                <a:latin typeface="Malgun Gothic" pitchFamily="34" charset="0"/>
                <a:ea typeface="Malgun Gothic" pitchFamily="34" charset="-122"/>
                <a:cs typeface="Malgun Gothic" pitchFamily="34" charset="-120"/>
              </a:rPr>
              <a:t>same side as the CL.</a:t>
            </a:r>
            <a:endParaRPr lang="en-US" sz="1050" dirty="0"/>
          </a:p>
        </p:txBody>
      </p:sp>
      <p:sp>
        <p:nvSpPr>
          <p:cNvPr id="27" name="Shape 25"/>
          <p:cNvSpPr/>
          <p:nvPr/>
        </p:nvSpPr>
        <p:spPr>
          <a:xfrm>
            <a:off x="548640" y="3630168"/>
            <a:ext cx="4425696" cy="402336"/>
          </a:xfrm>
          <a:prstGeom prst="roundRect">
            <a:avLst>
              <a:gd name="adj" fmla="val 4545"/>
            </a:avLst>
          </a:prstGeom>
          <a:solidFill>
            <a:srgbClr val="FFFFFF"/>
          </a:solidFill>
          <a:ln w="12700">
            <a:solidFill>
              <a:srgbClr val="C9D3DA"/>
            </a:solidFill>
            <a:prstDash val="solid"/>
          </a:ln>
        </p:spPr>
      </p:sp>
      <p:sp>
        <p:nvSpPr>
          <p:cNvPr id="28" name="Text 26"/>
          <p:cNvSpPr/>
          <p:nvPr/>
        </p:nvSpPr>
        <p:spPr>
          <a:xfrm>
            <a:off x="621792" y="3630168"/>
            <a:ext cx="4279392" cy="40233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New sheath every cow</a:t>
            </a:r>
            <a:endParaRPr lang="en-US" sz="1200" dirty="0"/>
          </a:p>
        </p:txBody>
      </p:sp>
      <p:sp>
        <p:nvSpPr>
          <p:cNvPr id="29" name="Shape 27"/>
          <p:cNvSpPr/>
          <p:nvPr/>
        </p:nvSpPr>
        <p:spPr>
          <a:xfrm>
            <a:off x="4974336" y="3630168"/>
            <a:ext cx="6638544" cy="402336"/>
          </a:xfrm>
          <a:prstGeom prst="roundRect">
            <a:avLst>
              <a:gd name="adj" fmla="val 4545"/>
            </a:avLst>
          </a:prstGeom>
          <a:solidFill>
            <a:srgbClr val="FFFFFF"/>
          </a:solidFill>
          <a:ln w="12700">
            <a:solidFill>
              <a:srgbClr val="C9D3DA"/>
            </a:solidFill>
            <a:prstDash val="solid"/>
          </a:ln>
        </p:spPr>
      </p:sp>
      <p:sp>
        <p:nvSpPr>
          <p:cNvPr id="30" name="Text 28"/>
          <p:cNvSpPr/>
          <p:nvPr/>
        </p:nvSpPr>
        <p:spPr>
          <a:xfrm>
            <a:off x="5047488" y="3630168"/>
            <a:ext cx="6492240" cy="40233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 sheath costs almost nothing next to a lost pregnancy</a:t>
            </a:r>
            <a:endParaRPr lang="en-US" sz="1200" dirty="0"/>
          </a:p>
        </p:txBody>
      </p:sp>
      <p:sp>
        <p:nvSpPr>
          <p:cNvPr id="31" name="Shape 29"/>
          <p:cNvSpPr/>
          <p:nvPr/>
        </p:nvSpPr>
        <p:spPr>
          <a:xfrm>
            <a:off x="548640" y="4032504"/>
            <a:ext cx="4425696" cy="402336"/>
          </a:xfrm>
          <a:prstGeom prst="roundRect">
            <a:avLst>
              <a:gd name="adj" fmla="val 4545"/>
            </a:avLst>
          </a:prstGeom>
          <a:solidFill>
            <a:srgbClr val="F2F5F7"/>
          </a:solidFill>
          <a:ln w="12700">
            <a:solidFill>
              <a:srgbClr val="C9D3DA"/>
            </a:solidFill>
            <a:prstDash val="solid"/>
          </a:ln>
        </p:spPr>
      </p:sp>
      <p:sp>
        <p:nvSpPr>
          <p:cNvPr id="32" name="Text 30"/>
          <p:cNvSpPr/>
          <p:nvPr/>
        </p:nvSpPr>
        <p:spPr>
          <a:xfrm>
            <a:off x="621792" y="4032504"/>
            <a:ext cx="4279392" cy="40233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Clean AND DRY the back end</a:t>
            </a:r>
            <a:endParaRPr lang="en-US" sz="1200" dirty="0"/>
          </a:p>
        </p:txBody>
      </p:sp>
      <p:sp>
        <p:nvSpPr>
          <p:cNvPr id="33" name="Shape 31"/>
          <p:cNvSpPr/>
          <p:nvPr/>
        </p:nvSpPr>
        <p:spPr>
          <a:xfrm>
            <a:off x="4974336" y="4032504"/>
            <a:ext cx="6638544" cy="402336"/>
          </a:xfrm>
          <a:prstGeom prst="roundRect">
            <a:avLst>
              <a:gd name="adj" fmla="val 4545"/>
            </a:avLst>
          </a:prstGeom>
          <a:solidFill>
            <a:srgbClr val="F2F5F7"/>
          </a:solidFill>
          <a:ln w="12700">
            <a:solidFill>
              <a:srgbClr val="C9D3DA"/>
            </a:solidFill>
            <a:prstDash val="solid"/>
          </a:ln>
        </p:spPr>
      </p:sp>
      <p:sp>
        <p:nvSpPr>
          <p:cNvPr id="34" name="Text 32"/>
          <p:cNvSpPr/>
          <p:nvPr/>
        </p:nvSpPr>
        <p:spPr>
          <a:xfrm>
            <a:off x="5047488" y="4032504"/>
            <a:ext cx="6492240" cy="40233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Water runs dirt into the vulva</a:t>
            </a:r>
            <a:endParaRPr lang="en-US" sz="1200" dirty="0"/>
          </a:p>
        </p:txBody>
      </p:sp>
      <p:sp>
        <p:nvSpPr>
          <p:cNvPr id="35" name="Shape 33"/>
          <p:cNvSpPr/>
          <p:nvPr/>
        </p:nvSpPr>
        <p:spPr>
          <a:xfrm>
            <a:off x="548640" y="4434840"/>
            <a:ext cx="4425696" cy="402336"/>
          </a:xfrm>
          <a:prstGeom prst="roundRect">
            <a:avLst>
              <a:gd name="adj" fmla="val 4545"/>
            </a:avLst>
          </a:prstGeom>
          <a:solidFill>
            <a:srgbClr val="FFFFFF"/>
          </a:solidFill>
          <a:ln w="12700">
            <a:solidFill>
              <a:srgbClr val="C9D3DA"/>
            </a:solidFill>
            <a:prstDash val="solid"/>
          </a:ln>
        </p:spPr>
      </p:sp>
      <p:sp>
        <p:nvSpPr>
          <p:cNvPr id="36" name="Text 34"/>
          <p:cNvSpPr/>
          <p:nvPr/>
        </p:nvSpPr>
        <p:spPr>
          <a:xfrm>
            <a:off x="621792" y="4434840"/>
            <a:ext cx="4279392" cy="40233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Never rest the gun on the rail or the ground</a:t>
            </a:r>
            <a:endParaRPr lang="en-US" sz="1200" dirty="0"/>
          </a:p>
        </p:txBody>
      </p:sp>
      <p:sp>
        <p:nvSpPr>
          <p:cNvPr id="37" name="Shape 35"/>
          <p:cNvSpPr/>
          <p:nvPr/>
        </p:nvSpPr>
        <p:spPr>
          <a:xfrm>
            <a:off x="4974336" y="4434840"/>
            <a:ext cx="6638544" cy="402336"/>
          </a:xfrm>
          <a:prstGeom prst="roundRect">
            <a:avLst>
              <a:gd name="adj" fmla="val 4545"/>
            </a:avLst>
          </a:prstGeom>
          <a:solidFill>
            <a:srgbClr val="FFFFFF"/>
          </a:solidFill>
          <a:ln w="12700">
            <a:solidFill>
              <a:srgbClr val="C9D3DA"/>
            </a:solidFill>
            <a:prstDash val="solid"/>
          </a:ln>
        </p:spPr>
      </p:sp>
      <p:sp>
        <p:nvSpPr>
          <p:cNvPr id="38" name="Text 36"/>
          <p:cNvSpPr/>
          <p:nvPr/>
        </p:nvSpPr>
        <p:spPr>
          <a:xfrm>
            <a:off x="5047488" y="4434840"/>
            <a:ext cx="6492240" cy="40233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Keep it in a closed clean case</a:t>
            </a:r>
            <a:endParaRPr lang="en-US" sz="1200" dirty="0"/>
          </a:p>
        </p:txBody>
      </p:sp>
      <p:sp>
        <p:nvSpPr>
          <p:cNvPr id="39" name="Shape 37"/>
          <p:cNvSpPr/>
          <p:nvPr/>
        </p:nvSpPr>
        <p:spPr>
          <a:xfrm>
            <a:off x="548640" y="4837176"/>
            <a:ext cx="4425696" cy="402336"/>
          </a:xfrm>
          <a:prstGeom prst="roundRect">
            <a:avLst>
              <a:gd name="adj" fmla="val 4545"/>
            </a:avLst>
          </a:prstGeom>
          <a:solidFill>
            <a:srgbClr val="F2F5F7"/>
          </a:solidFill>
          <a:ln w="12700">
            <a:solidFill>
              <a:srgbClr val="C9D3DA"/>
            </a:solidFill>
            <a:prstDash val="solid"/>
          </a:ln>
        </p:spPr>
      </p:sp>
      <p:sp>
        <p:nvSpPr>
          <p:cNvPr id="40" name="Text 38"/>
          <p:cNvSpPr/>
          <p:nvPr/>
        </p:nvSpPr>
        <p:spPr>
          <a:xfrm>
            <a:off x="621792" y="4837176"/>
            <a:ext cx="4279392" cy="40233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Two guns on transfer day</a:t>
            </a:r>
            <a:endParaRPr lang="en-US" sz="1200" dirty="0"/>
          </a:p>
        </p:txBody>
      </p:sp>
      <p:sp>
        <p:nvSpPr>
          <p:cNvPr id="41" name="Shape 39"/>
          <p:cNvSpPr/>
          <p:nvPr/>
        </p:nvSpPr>
        <p:spPr>
          <a:xfrm>
            <a:off x="4974336" y="4837176"/>
            <a:ext cx="6638544" cy="402336"/>
          </a:xfrm>
          <a:prstGeom prst="roundRect">
            <a:avLst>
              <a:gd name="adj" fmla="val 4545"/>
            </a:avLst>
          </a:prstGeom>
          <a:solidFill>
            <a:srgbClr val="F2F5F7"/>
          </a:solidFill>
          <a:ln w="12700">
            <a:solidFill>
              <a:srgbClr val="C9D3DA"/>
            </a:solidFill>
            <a:prstDash val="solid"/>
          </a:ln>
        </p:spPr>
      </p:sp>
      <p:sp>
        <p:nvSpPr>
          <p:cNvPr id="42" name="Text 40"/>
          <p:cNvSpPr/>
          <p:nvPr/>
        </p:nvSpPr>
        <p:spPr>
          <a:xfrm>
            <a:off x="5047488" y="4837176"/>
            <a:ext cx="6492240" cy="40233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If one breaks, the whole day stops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Passing the cervix — do not push, sheathe</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Three or four rings, and they are not in a straight line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The moment you force it, the tissue tears between the rings. Blood means you have lost this one.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38</a:t>
            </a:r>
            <a:endParaRPr lang="en-US" sz="900" dirty="0"/>
          </a:p>
        </p:txBody>
      </p:sp>
      <p:sp>
        <p:nvSpPr>
          <p:cNvPr id="8" name="Text 6"/>
          <p:cNvSpPr/>
          <p:nvPr/>
        </p:nvSpPr>
        <p:spPr>
          <a:xfrm>
            <a:off x="822960" y="1984248"/>
            <a:ext cx="4937760" cy="310896"/>
          </a:xfrm>
          <a:prstGeom prst="rect">
            <a:avLst/>
          </a:prstGeom>
          <a:noFill/>
          <a:ln/>
        </p:spPr>
        <p:txBody>
          <a:bodyPr wrap="square" lIns="0" tIns="0" rIns="0" bIns="0" rtlCol="0" anchor="ctr"/>
          <a:lstStyle/>
          <a:p>
            <a:pPr algn="l" indent="0" marL="0">
              <a:buNone/>
            </a:pPr>
            <a:r>
              <a:rPr lang="en-US" sz="1400" b="1" dirty="0">
                <a:solidFill>
                  <a:srgbClr val="E97132"/>
                </a:solidFill>
                <a:latin typeface="Malgun Gothic" pitchFamily="34" charset="0"/>
                <a:ea typeface="Malgun Gothic" pitchFamily="34" charset="-122"/>
                <a:cs typeface="Malgun Gothic" pitchFamily="34" charset="-120"/>
              </a:rPr>
              <a:t>WRONG — pushing the gun through</a:t>
            </a:r>
            <a:endParaRPr lang="en-US" sz="1400" dirty="0"/>
          </a:p>
        </p:txBody>
      </p:sp>
      <p:sp>
        <p:nvSpPr>
          <p:cNvPr id="9" name="Text 7"/>
          <p:cNvSpPr/>
          <p:nvPr/>
        </p:nvSpPr>
        <p:spPr>
          <a:xfrm>
            <a:off x="6400800" y="1984248"/>
            <a:ext cx="4937760" cy="310896"/>
          </a:xfrm>
          <a:prstGeom prst="rect">
            <a:avLst/>
          </a:prstGeom>
          <a:noFill/>
          <a:ln/>
        </p:spPr>
        <p:txBody>
          <a:bodyPr wrap="square" lIns="0" tIns="0" rIns="0" bIns="0" rtlCol="0" anchor="ctr"/>
          <a:lstStyle/>
          <a:p>
            <a:pPr algn="l" indent="0" marL="0">
              <a:buNone/>
            </a:pPr>
            <a:r>
              <a:rPr lang="en-US" sz="1400" b="1" dirty="0">
                <a:solidFill>
                  <a:srgbClr val="196B24"/>
                </a:solidFill>
                <a:latin typeface="Malgun Gothic" pitchFamily="34" charset="0"/>
                <a:ea typeface="Malgun Gothic" pitchFamily="34" charset="-122"/>
                <a:cs typeface="Malgun Gothic" pitchFamily="34" charset="-120"/>
              </a:rPr>
              <a:t>CORRECT — pulling the cervix onto the gun</a:t>
            </a:r>
            <a:endParaRPr lang="en-US" sz="1400" dirty="0"/>
          </a:p>
        </p:txBody>
      </p:sp>
      <p:sp>
        <p:nvSpPr>
          <p:cNvPr id="10" name="Shape 8"/>
          <p:cNvSpPr/>
          <p:nvPr/>
        </p:nvSpPr>
        <p:spPr>
          <a:xfrm>
            <a:off x="822960" y="2386584"/>
            <a:ext cx="4937760" cy="1234440"/>
          </a:xfrm>
          <a:prstGeom prst="roundRect">
            <a:avLst>
              <a:gd name="adj" fmla="val 5926"/>
            </a:avLst>
          </a:prstGeom>
          <a:solidFill>
            <a:srgbClr val="F2F5F7"/>
          </a:solidFill>
          <a:ln w="12700">
            <a:solidFill>
              <a:srgbClr val="C9D3DA"/>
            </a:solidFill>
            <a:prstDash val="solid"/>
          </a:ln>
        </p:spPr>
      </p:sp>
      <p:sp>
        <p:nvSpPr>
          <p:cNvPr id="11" name="Shape 9"/>
          <p:cNvSpPr/>
          <p:nvPr/>
        </p:nvSpPr>
        <p:spPr>
          <a:xfrm>
            <a:off x="1645920" y="2496312"/>
            <a:ext cx="384048" cy="731520"/>
          </a:xfrm>
          <a:prstGeom prst="ellipse">
            <a:avLst/>
          </a:prstGeom>
          <a:solidFill>
            <a:srgbClr val="FFFFFF"/>
          </a:solidFill>
          <a:ln w="25400">
            <a:solidFill>
              <a:srgbClr val="E97132"/>
            </a:solidFill>
            <a:prstDash val="solid"/>
          </a:ln>
        </p:spPr>
      </p:sp>
      <p:sp>
        <p:nvSpPr>
          <p:cNvPr id="12" name="Shape 10"/>
          <p:cNvSpPr/>
          <p:nvPr/>
        </p:nvSpPr>
        <p:spPr>
          <a:xfrm>
            <a:off x="2423160" y="2788920"/>
            <a:ext cx="384048" cy="731520"/>
          </a:xfrm>
          <a:prstGeom prst="ellipse">
            <a:avLst/>
          </a:prstGeom>
          <a:solidFill>
            <a:srgbClr val="FFFFFF"/>
          </a:solidFill>
          <a:ln w="25400">
            <a:solidFill>
              <a:srgbClr val="E97132"/>
            </a:solidFill>
            <a:prstDash val="solid"/>
          </a:ln>
        </p:spPr>
      </p:sp>
      <p:sp>
        <p:nvSpPr>
          <p:cNvPr id="13" name="Shape 11"/>
          <p:cNvSpPr/>
          <p:nvPr/>
        </p:nvSpPr>
        <p:spPr>
          <a:xfrm>
            <a:off x="3200400" y="2496312"/>
            <a:ext cx="384048" cy="731520"/>
          </a:xfrm>
          <a:prstGeom prst="ellipse">
            <a:avLst/>
          </a:prstGeom>
          <a:solidFill>
            <a:srgbClr val="FFFFFF"/>
          </a:solidFill>
          <a:ln w="25400">
            <a:solidFill>
              <a:srgbClr val="E97132"/>
            </a:solidFill>
            <a:prstDash val="solid"/>
          </a:ln>
        </p:spPr>
      </p:sp>
      <p:sp>
        <p:nvSpPr>
          <p:cNvPr id="14" name="Shape 12"/>
          <p:cNvSpPr/>
          <p:nvPr/>
        </p:nvSpPr>
        <p:spPr>
          <a:xfrm>
            <a:off x="3977640" y="2788920"/>
            <a:ext cx="384048" cy="731520"/>
          </a:xfrm>
          <a:prstGeom prst="ellipse">
            <a:avLst/>
          </a:prstGeom>
          <a:solidFill>
            <a:srgbClr val="FFFFFF"/>
          </a:solidFill>
          <a:ln w="25400">
            <a:solidFill>
              <a:srgbClr val="E97132"/>
            </a:solidFill>
            <a:prstDash val="solid"/>
          </a:ln>
        </p:spPr>
      </p:sp>
      <p:sp>
        <p:nvSpPr>
          <p:cNvPr id="15" name="Shape 13"/>
          <p:cNvSpPr/>
          <p:nvPr/>
        </p:nvSpPr>
        <p:spPr>
          <a:xfrm>
            <a:off x="1051560" y="3008376"/>
            <a:ext cx="3657600" cy="0"/>
          </a:xfrm>
          <a:prstGeom prst="line">
            <a:avLst/>
          </a:prstGeom>
          <a:noFill/>
          <a:ln w="50800">
            <a:solidFill>
              <a:srgbClr val="E97132"/>
            </a:solidFill>
            <a:prstDash val="solid"/>
          </a:ln>
        </p:spPr>
      </p:sp>
      <p:sp>
        <p:nvSpPr>
          <p:cNvPr id="16" name="Text 14"/>
          <p:cNvSpPr/>
          <p:nvPr/>
        </p:nvSpPr>
        <p:spPr>
          <a:xfrm>
            <a:off x="822960" y="3675888"/>
            <a:ext cx="4937760" cy="274320"/>
          </a:xfrm>
          <a:prstGeom prst="rect">
            <a:avLst/>
          </a:prstGeom>
          <a:noFill/>
          <a:ln/>
        </p:spPr>
        <p:txBody>
          <a:bodyPr wrap="square" lIns="0" tIns="0" rIns="0" bIns="0" rtlCol="0" anchor="ctr"/>
          <a:lstStyle/>
          <a:p>
            <a:pPr algn="ctr" indent="0" marL="0">
              <a:buNone/>
            </a:pPr>
            <a:r>
              <a:rPr lang="en-US" sz="1150" b="1" dirty="0">
                <a:solidFill>
                  <a:srgbClr val="E97132"/>
                </a:solidFill>
                <a:latin typeface="Malgun Gothic" pitchFamily="34" charset="0"/>
                <a:ea typeface="Malgun Gothic" pitchFamily="34" charset="-122"/>
                <a:cs typeface="Malgun Gothic" pitchFamily="34" charset="-120"/>
              </a:rPr>
              <a:t>rings offset — the tip catches and tears</a:t>
            </a:r>
            <a:endParaRPr lang="en-US" sz="1150" dirty="0"/>
          </a:p>
        </p:txBody>
      </p:sp>
      <p:sp>
        <p:nvSpPr>
          <p:cNvPr id="17" name="Shape 15"/>
          <p:cNvSpPr/>
          <p:nvPr/>
        </p:nvSpPr>
        <p:spPr>
          <a:xfrm>
            <a:off x="6400800" y="2386584"/>
            <a:ext cx="4937760" cy="1234440"/>
          </a:xfrm>
          <a:prstGeom prst="roundRect">
            <a:avLst>
              <a:gd name="adj" fmla="val 5926"/>
            </a:avLst>
          </a:prstGeom>
          <a:solidFill>
            <a:srgbClr val="F2F5F7"/>
          </a:solidFill>
          <a:ln w="12700">
            <a:solidFill>
              <a:srgbClr val="C9D3DA"/>
            </a:solidFill>
            <a:prstDash val="solid"/>
          </a:ln>
        </p:spPr>
      </p:sp>
      <p:sp>
        <p:nvSpPr>
          <p:cNvPr id="18" name="Shape 16"/>
          <p:cNvSpPr/>
          <p:nvPr/>
        </p:nvSpPr>
        <p:spPr>
          <a:xfrm>
            <a:off x="7223760" y="2642616"/>
            <a:ext cx="384048" cy="731520"/>
          </a:xfrm>
          <a:prstGeom prst="ellipse">
            <a:avLst/>
          </a:prstGeom>
          <a:solidFill>
            <a:srgbClr val="FFFFFF"/>
          </a:solidFill>
          <a:ln w="25400">
            <a:solidFill>
              <a:srgbClr val="196B24"/>
            </a:solidFill>
            <a:prstDash val="solid"/>
          </a:ln>
        </p:spPr>
      </p:sp>
      <p:sp>
        <p:nvSpPr>
          <p:cNvPr id="19" name="Shape 17"/>
          <p:cNvSpPr/>
          <p:nvPr/>
        </p:nvSpPr>
        <p:spPr>
          <a:xfrm>
            <a:off x="8001000" y="2642616"/>
            <a:ext cx="384048" cy="731520"/>
          </a:xfrm>
          <a:prstGeom prst="ellipse">
            <a:avLst/>
          </a:prstGeom>
          <a:solidFill>
            <a:srgbClr val="FFFFFF"/>
          </a:solidFill>
          <a:ln w="25400">
            <a:solidFill>
              <a:srgbClr val="196B24"/>
            </a:solidFill>
            <a:prstDash val="solid"/>
          </a:ln>
        </p:spPr>
      </p:sp>
      <p:sp>
        <p:nvSpPr>
          <p:cNvPr id="20" name="Shape 18"/>
          <p:cNvSpPr/>
          <p:nvPr/>
        </p:nvSpPr>
        <p:spPr>
          <a:xfrm>
            <a:off x="8778240" y="2642616"/>
            <a:ext cx="384048" cy="731520"/>
          </a:xfrm>
          <a:prstGeom prst="ellipse">
            <a:avLst/>
          </a:prstGeom>
          <a:solidFill>
            <a:srgbClr val="FFFFFF"/>
          </a:solidFill>
          <a:ln w="25400">
            <a:solidFill>
              <a:srgbClr val="196B24"/>
            </a:solidFill>
            <a:prstDash val="solid"/>
          </a:ln>
        </p:spPr>
      </p:sp>
      <p:sp>
        <p:nvSpPr>
          <p:cNvPr id="21" name="Shape 19"/>
          <p:cNvSpPr/>
          <p:nvPr/>
        </p:nvSpPr>
        <p:spPr>
          <a:xfrm>
            <a:off x="9555480" y="2642616"/>
            <a:ext cx="384048" cy="731520"/>
          </a:xfrm>
          <a:prstGeom prst="ellipse">
            <a:avLst/>
          </a:prstGeom>
          <a:solidFill>
            <a:srgbClr val="FFFFFF"/>
          </a:solidFill>
          <a:ln w="25400">
            <a:solidFill>
              <a:srgbClr val="196B24"/>
            </a:solidFill>
            <a:prstDash val="solid"/>
          </a:ln>
        </p:spPr>
      </p:sp>
      <p:sp>
        <p:nvSpPr>
          <p:cNvPr id="22" name="Shape 20"/>
          <p:cNvSpPr/>
          <p:nvPr/>
        </p:nvSpPr>
        <p:spPr>
          <a:xfrm>
            <a:off x="6629400" y="3008376"/>
            <a:ext cx="3657600" cy="0"/>
          </a:xfrm>
          <a:prstGeom prst="line">
            <a:avLst/>
          </a:prstGeom>
          <a:noFill/>
          <a:ln w="50800">
            <a:solidFill>
              <a:srgbClr val="196B24"/>
            </a:solidFill>
            <a:prstDash val="solid"/>
          </a:ln>
        </p:spPr>
      </p:sp>
      <p:sp>
        <p:nvSpPr>
          <p:cNvPr id="23" name="Text 21"/>
          <p:cNvSpPr/>
          <p:nvPr/>
        </p:nvSpPr>
        <p:spPr>
          <a:xfrm>
            <a:off x="6400800" y="3675888"/>
            <a:ext cx="4937760" cy="274320"/>
          </a:xfrm>
          <a:prstGeom prst="rect">
            <a:avLst/>
          </a:prstGeom>
          <a:noFill/>
          <a:ln/>
        </p:spPr>
        <p:txBody>
          <a:bodyPr wrap="square" lIns="0" tIns="0" rIns="0" bIns="0" rtlCol="0" anchor="ctr"/>
          <a:lstStyle/>
          <a:p>
            <a:pPr algn="ctr" indent="0" marL="0">
              <a:buNone/>
            </a:pPr>
            <a:r>
              <a:rPr lang="en-US" sz="1150" b="1" dirty="0">
                <a:solidFill>
                  <a:srgbClr val="196B24"/>
                </a:solidFill>
                <a:latin typeface="Malgun Gothic" pitchFamily="34" charset="0"/>
                <a:ea typeface="Malgun Gothic" pitchFamily="34" charset="-122"/>
                <a:cs typeface="Malgun Gothic" pitchFamily="34" charset="-120"/>
              </a:rPr>
              <a:t>rings lined up — it slides through</a:t>
            </a:r>
            <a:endParaRPr lang="en-US" sz="1150" dirty="0"/>
          </a:p>
        </p:txBody>
      </p:sp>
      <p:sp>
        <p:nvSpPr>
          <p:cNvPr id="24" name="Text 22"/>
          <p:cNvSpPr/>
          <p:nvPr/>
        </p:nvSpPr>
        <p:spPr>
          <a:xfrm>
            <a:off x="548640" y="3950208"/>
            <a:ext cx="11064240" cy="292608"/>
          </a:xfrm>
          <a:prstGeom prst="rect">
            <a:avLst/>
          </a:prstGeom>
          <a:noFill/>
          <a:ln/>
        </p:spPr>
        <p:txBody>
          <a:bodyPr wrap="square" lIns="0" tIns="0" rIns="0" bIns="0" rtlCol="0" anchor="ctr"/>
          <a:lstStyle/>
          <a:p>
            <a:pPr algn="l" indent="0" marL="0">
              <a:buNone/>
            </a:pPr>
            <a:r>
              <a:rPr lang="en-US" sz="1400" b="1" dirty="0">
                <a:solidFill>
                  <a:srgbClr val="E97132"/>
                </a:solidFill>
                <a:latin typeface="Malgun Gothic" pitchFamily="34" charset="0"/>
                <a:ea typeface="Malgun Gothic" pitchFamily="34" charset="-122"/>
                <a:cs typeface="Malgun Gothic" pitchFamily="34" charset="-120"/>
              </a:rPr>
              <a:t>What blood costs you — three things at once</a:t>
            </a:r>
            <a:endParaRPr lang="en-US" sz="1400" dirty="0"/>
          </a:p>
        </p:txBody>
      </p:sp>
      <p:sp>
        <p:nvSpPr>
          <p:cNvPr id="25" name="Shape 23"/>
          <p:cNvSpPr/>
          <p:nvPr/>
        </p:nvSpPr>
        <p:spPr>
          <a:xfrm>
            <a:off x="548640" y="4288536"/>
            <a:ext cx="3319272" cy="329184"/>
          </a:xfrm>
          <a:prstGeom prst="roundRect">
            <a:avLst>
              <a:gd name="adj" fmla="val 5556"/>
            </a:avLst>
          </a:prstGeom>
          <a:solidFill>
            <a:srgbClr val="FFFFFF"/>
          </a:solidFill>
          <a:ln w="12700">
            <a:solidFill>
              <a:srgbClr val="C9D3DA"/>
            </a:solidFill>
            <a:prstDash val="solid"/>
          </a:ln>
        </p:spPr>
      </p:sp>
      <p:sp>
        <p:nvSpPr>
          <p:cNvPr id="26" name="Text 24"/>
          <p:cNvSpPr/>
          <p:nvPr/>
        </p:nvSpPr>
        <p:spPr>
          <a:xfrm>
            <a:off x="621792" y="4288536"/>
            <a:ext cx="3172968" cy="329184"/>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Blood in the womb</a:t>
            </a:r>
            <a:endParaRPr lang="en-US" sz="1200" dirty="0"/>
          </a:p>
        </p:txBody>
      </p:sp>
      <p:sp>
        <p:nvSpPr>
          <p:cNvPr id="27" name="Shape 25"/>
          <p:cNvSpPr/>
          <p:nvPr/>
        </p:nvSpPr>
        <p:spPr>
          <a:xfrm>
            <a:off x="3867912" y="4288536"/>
            <a:ext cx="7744968" cy="329184"/>
          </a:xfrm>
          <a:prstGeom prst="roundRect">
            <a:avLst>
              <a:gd name="adj" fmla="val 5556"/>
            </a:avLst>
          </a:prstGeom>
          <a:solidFill>
            <a:srgbClr val="FFFFFF"/>
          </a:solidFill>
          <a:ln w="12700">
            <a:solidFill>
              <a:srgbClr val="C9D3DA"/>
            </a:solidFill>
            <a:prstDash val="solid"/>
          </a:ln>
        </p:spPr>
      </p:sp>
      <p:sp>
        <p:nvSpPr>
          <p:cNvPr id="28" name="Text 26"/>
          <p:cNvSpPr/>
          <p:nvPr/>
        </p:nvSpPr>
        <p:spPr>
          <a:xfrm>
            <a:off x="3941064" y="4288536"/>
            <a:ext cx="7598664" cy="329184"/>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Prostaglandin is released — the CL can die</a:t>
            </a:r>
            <a:endParaRPr lang="en-US" sz="1200" dirty="0"/>
          </a:p>
        </p:txBody>
      </p:sp>
      <p:sp>
        <p:nvSpPr>
          <p:cNvPr id="29" name="Shape 27"/>
          <p:cNvSpPr/>
          <p:nvPr/>
        </p:nvSpPr>
        <p:spPr>
          <a:xfrm>
            <a:off x="548640" y="4617720"/>
            <a:ext cx="3319272" cy="329184"/>
          </a:xfrm>
          <a:prstGeom prst="roundRect">
            <a:avLst>
              <a:gd name="adj" fmla="val 5556"/>
            </a:avLst>
          </a:prstGeom>
          <a:solidFill>
            <a:srgbClr val="F2F5F7"/>
          </a:solidFill>
          <a:ln w="12700">
            <a:solidFill>
              <a:srgbClr val="C9D3DA"/>
            </a:solidFill>
            <a:prstDash val="solid"/>
          </a:ln>
        </p:spPr>
      </p:sp>
      <p:sp>
        <p:nvSpPr>
          <p:cNvPr id="30" name="Text 28"/>
          <p:cNvSpPr/>
          <p:nvPr/>
        </p:nvSpPr>
        <p:spPr>
          <a:xfrm>
            <a:off x="621792" y="4617720"/>
            <a:ext cx="3172968" cy="329184"/>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Bacteria go in</a:t>
            </a:r>
            <a:endParaRPr lang="en-US" sz="1200" dirty="0"/>
          </a:p>
        </p:txBody>
      </p:sp>
      <p:sp>
        <p:nvSpPr>
          <p:cNvPr id="31" name="Shape 29"/>
          <p:cNvSpPr/>
          <p:nvPr/>
        </p:nvSpPr>
        <p:spPr>
          <a:xfrm>
            <a:off x="3867912" y="4617720"/>
            <a:ext cx="7744968" cy="329184"/>
          </a:xfrm>
          <a:prstGeom prst="roundRect">
            <a:avLst>
              <a:gd name="adj" fmla="val 5556"/>
            </a:avLst>
          </a:prstGeom>
          <a:solidFill>
            <a:srgbClr val="F2F5F7"/>
          </a:solidFill>
          <a:ln w="12700">
            <a:solidFill>
              <a:srgbClr val="C9D3DA"/>
            </a:solidFill>
            <a:prstDash val="solid"/>
          </a:ln>
        </p:spPr>
      </p:sp>
      <p:sp>
        <p:nvSpPr>
          <p:cNvPr id="32" name="Text 30"/>
          <p:cNvSpPr/>
          <p:nvPr/>
        </p:nvSpPr>
        <p:spPr>
          <a:xfrm>
            <a:off x="3941064" y="4617720"/>
            <a:ext cx="7598664" cy="329184"/>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 quiet day-7 womb cannot clear them</a:t>
            </a:r>
            <a:endParaRPr lang="en-US" sz="1200" dirty="0"/>
          </a:p>
        </p:txBody>
      </p:sp>
      <p:sp>
        <p:nvSpPr>
          <p:cNvPr id="33" name="Shape 31"/>
          <p:cNvSpPr/>
          <p:nvPr/>
        </p:nvSpPr>
        <p:spPr>
          <a:xfrm>
            <a:off x="548640" y="4946904"/>
            <a:ext cx="3319272" cy="329184"/>
          </a:xfrm>
          <a:prstGeom prst="roundRect">
            <a:avLst>
              <a:gd name="adj" fmla="val 5556"/>
            </a:avLst>
          </a:prstGeom>
          <a:solidFill>
            <a:srgbClr val="FFFFFF"/>
          </a:solidFill>
          <a:ln w="12700">
            <a:solidFill>
              <a:srgbClr val="C9D3DA"/>
            </a:solidFill>
            <a:prstDash val="solid"/>
          </a:ln>
        </p:spPr>
      </p:sp>
      <p:sp>
        <p:nvSpPr>
          <p:cNvPr id="34" name="Text 32"/>
          <p:cNvSpPr/>
          <p:nvPr/>
        </p:nvSpPr>
        <p:spPr>
          <a:xfrm>
            <a:off x="621792" y="4946904"/>
            <a:ext cx="3172968" cy="329184"/>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Damage and swelling</a:t>
            </a:r>
            <a:endParaRPr lang="en-US" sz="1200" dirty="0"/>
          </a:p>
        </p:txBody>
      </p:sp>
      <p:sp>
        <p:nvSpPr>
          <p:cNvPr id="35" name="Shape 33"/>
          <p:cNvSpPr/>
          <p:nvPr/>
        </p:nvSpPr>
        <p:spPr>
          <a:xfrm>
            <a:off x="3867912" y="4946904"/>
            <a:ext cx="7744968" cy="329184"/>
          </a:xfrm>
          <a:prstGeom prst="roundRect">
            <a:avLst>
              <a:gd name="adj" fmla="val 5556"/>
            </a:avLst>
          </a:prstGeom>
          <a:solidFill>
            <a:srgbClr val="FFFFFF"/>
          </a:solidFill>
          <a:ln w="12700">
            <a:solidFill>
              <a:srgbClr val="C9D3DA"/>
            </a:solidFill>
            <a:prstDash val="solid"/>
          </a:ln>
        </p:spPr>
      </p:sp>
      <p:sp>
        <p:nvSpPr>
          <p:cNvPr id="36" name="Text 34"/>
          <p:cNvSpPr/>
          <p:nvPr/>
        </p:nvSpPr>
        <p:spPr>
          <a:xfrm>
            <a:off x="3941064" y="4946904"/>
            <a:ext cx="7598664" cy="329184"/>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The place the embryo must attach is injured</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Where exactly to put it</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front third of the horn</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Too shallow and the embryo is pushed back toward the body of the womb.</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39</a:t>
            </a:r>
            <a:endParaRPr lang="en-US" sz="900" dirty="0"/>
          </a:p>
        </p:txBody>
      </p:sp>
      <p:sp>
        <p:nvSpPr>
          <p:cNvPr id="8" name="Shape 6"/>
          <p:cNvSpPr/>
          <p:nvPr/>
        </p:nvSpPr>
        <p:spPr>
          <a:xfrm>
            <a:off x="1463040" y="2441448"/>
            <a:ext cx="9235440" cy="1005840"/>
          </a:xfrm>
          <a:prstGeom prst="roundRect">
            <a:avLst>
              <a:gd name="adj" fmla="val 45455"/>
            </a:avLst>
          </a:prstGeom>
          <a:solidFill>
            <a:srgbClr val="F2F5F7"/>
          </a:solidFill>
          <a:ln w="20320">
            <a:solidFill>
              <a:srgbClr val="0E2841"/>
            </a:solidFill>
            <a:prstDash val="solid"/>
          </a:ln>
        </p:spPr>
      </p:sp>
      <p:sp>
        <p:nvSpPr>
          <p:cNvPr id="9" name="Shape 7"/>
          <p:cNvSpPr/>
          <p:nvPr/>
        </p:nvSpPr>
        <p:spPr>
          <a:xfrm>
            <a:off x="1499616" y="2505456"/>
            <a:ext cx="2974543" cy="877824"/>
          </a:xfrm>
          <a:prstGeom prst="roundRect">
            <a:avLst>
              <a:gd name="adj" fmla="val 36458"/>
            </a:avLst>
          </a:prstGeom>
          <a:solidFill>
            <a:srgbClr val="E97132"/>
          </a:solidFill>
          <a:ln w="12700">
            <a:solidFill>
              <a:srgbClr val="E97132"/>
            </a:solidFill>
            <a:prstDash val="solid"/>
          </a:ln>
        </p:spPr>
      </p:sp>
      <p:sp>
        <p:nvSpPr>
          <p:cNvPr id="10" name="Text 8"/>
          <p:cNvSpPr/>
          <p:nvPr/>
        </p:nvSpPr>
        <p:spPr>
          <a:xfrm>
            <a:off x="1499616" y="2596896"/>
            <a:ext cx="2974543"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BODY / BASE</a:t>
            </a:r>
            <a:endParaRPr lang="en-US" sz="1250" dirty="0"/>
          </a:p>
        </p:txBody>
      </p:sp>
      <p:sp>
        <p:nvSpPr>
          <p:cNvPr id="11" name="Text 9"/>
          <p:cNvSpPr/>
          <p:nvPr/>
        </p:nvSpPr>
        <p:spPr>
          <a:xfrm>
            <a:off x="1499616" y="2944368"/>
            <a:ext cx="297454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too shallow — pushed back</a:t>
            </a:r>
            <a:endParaRPr lang="en-US" sz="1050" dirty="0"/>
          </a:p>
        </p:txBody>
      </p:sp>
      <p:sp>
        <p:nvSpPr>
          <p:cNvPr id="12" name="Shape 10"/>
          <p:cNvSpPr/>
          <p:nvPr/>
        </p:nvSpPr>
        <p:spPr>
          <a:xfrm>
            <a:off x="4547311" y="2505456"/>
            <a:ext cx="2974543" cy="877824"/>
          </a:xfrm>
          <a:prstGeom prst="roundRect">
            <a:avLst>
              <a:gd name="adj" fmla="val 36458"/>
            </a:avLst>
          </a:prstGeom>
          <a:solidFill>
            <a:srgbClr val="0F9ED5"/>
          </a:solidFill>
          <a:ln w="12700">
            <a:solidFill>
              <a:srgbClr val="0F9ED5"/>
            </a:solidFill>
            <a:prstDash val="solid"/>
          </a:ln>
        </p:spPr>
      </p:sp>
      <p:sp>
        <p:nvSpPr>
          <p:cNvPr id="13" name="Text 11"/>
          <p:cNvSpPr/>
          <p:nvPr/>
        </p:nvSpPr>
        <p:spPr>
          <a:xfrm>
            <a:off x="4547311" y="2596896"/>
            <a:ext cx="2974543"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MIDDLE</a:t>
            </a:r>
            <a:endParaRPr lang="en-US" sz="1250" dirty="0"/>
          </a:p>
        </p:txBody>
      </p:sp>
      <p:sp>
        <p:nvSpPr>
          <p:cNvPr id="14" name="Text 12"/>
          <p:cNvSpPr/>
          <p:nvPr/>
        </p:nvSpPr>
        <p:spPr>
          <a:xfrm>
            <a:off x="4547311" y="2944368"/>
            <a:ext cx="297454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acceptable</a:t>
            </a:r>
            <a:endParaRPr lang="en-US" sz="1050" dirty="0"/>
          </a:p>
        </p:txBody>
      </p:sp>
      <p:sp>
        <p:nvSpPr>
          <p:cNvPr id="15" name="Shape 13"/>
          <p:cNvSpPr/>
          <p:nvPr/>
        </p:nvSpPr>
        <p:spPr>
          <a:xfrm>
            <a:off x="7595006" y="2505456"/>
            <a:ext cx="3066898" cy="877824"/>
          </a:xfrm>
          <a:prstGeom prst="roundRect">
            <a:avLst>
              <a:gd name="adj" fmla="val 36458"/>
            </a:avLst>
          </a:prstGeom>
          <a:solidFill>
            <a:srgbClr val="196B24"/>
          </a:solidFill>
          <a:ln w="12700">
            <a:solidFill>
              <a:srgbClr val="196B24"/>
            </a:solidFill>
            <a:prstDash val="solid"/>
          </a:ln>
        </p:spPr>
      </p:sp>
      <p:sp>
        <p:nvSpPr>
          <p:cNvPr id="16" name="Text 14"/>
          <p:cNvSpPr/>
          <p:nvPr/>
        </p:nvSpPr>
        <p:spPr>
          <a:xfrm>
            <a:off x="7595006" y="2596896"/>
            <a:ext cx="3066898"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FRONT THIRD</a:t>
            </a:r>
            <a:endParaRPr lang="en-US" sz="1250" dirty="0"/>
          </a:p>
        </p:txBody>
      </p:sp>
      <p:sp>
        <p:nvSpPr>
          <p:cNvPr id="17" name="Text 15"/>
          <p:cNvSpPr/>
          <p:nvPr/>
        </p:nvSpPr>
        <p:spPr>
          <a:xfrm>
            <a:off x="7595006" y="2944368"/>
            <a:ext cx="3066898" cy="347472"/>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CORRECT — put it here</a:t>
            </a:r>
            <a:endParaRPr lang="en-US" sz="1050" dirty="0"/>
          </a:p>
        </p:txBody>
      </p:sp>
      <p:sp>
        <p:nvSpPr>
          <p:cNvPr id="18" name="Text 16"/>
          <p:cNvSpPr/>
          <p:nvPr/>
        </p:nvSpPr>
        <p:spPr>
          <a:xfrm>
            <a:off x="1417320" y="3511296"/>
            <a:ext cx="822960" cy="256032"/>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cervix</a:t>
            </a:r>
            <a:endParaRPr lang="en-US" sz="1000" dirty="0"/>
          </a:p>
        </p:txBody>
      </p:sp>
      <p:sp>
        <p:nvSpPr>
          <p:cNvPr id="19" name="Text 17"/>
          <p:cNvSpPr/>
          <p:nvPr/>
        </p:nvSpPr>
        <p:spPr>
          <a:xfrm>
            <a:off x="9509760" y="3511296"/>
            <a:ext cx="1280160" cy="256032"/>
          </a:xfrm>
          <a:prstGeom prst="rect">
            <a:avLst/>
          </a:prstGeom>
          <a:noFill/>
          <a:ln/>
        </p:spPr>
        <p:txBody>
          <a:bodyPr wrap="square" lIns="0" tIns="0" rIns="0" bIns="0" rtlCol="0" anchor="ctr"/>
          <a:lstStyle/>
          <a:p>
            <a:pPr algn="ctr" indent="0" marL="0">
              <a:buNone/>
            </a:pPr>
            <a:r>
              <a:rPr lang="en-US" sz="1000" dirty="0">
                <a:solidFill>
                  <a:srgbClr val="6B7280"/>
                </a:solidFill>
                <a:latin typeface="Malgun Gothic" pitchFamily="34" charset="0"/>
                <a:ea typeface="Malgun Gothic" pitchFamily="34" charset="-122"/>
                <a:cs typeface="Malgun Gothic" pitchFamily="34" charset="-120"/>
              </a:rPr>
              <a:t>tip of the horn</a:t>
            </a:r>
            <a:endParaRPr lang="en-US" sz="1000" dirty="0"/>
          </a:p>
        </p:txBody>
      </p:sp>
      <p:sp>
        <p:nvSpPr>
          <p:cNvPr id="20" name="Shape 18"/>
          <p:cNvSpPr/>
          <p:nvPr/>
        </p:nvSpPr>
        <p:spPr>
          <a:xfrm>
            <a:off x="1463040" y="3813048"/>
            <a:ext cx="1662379" cy="347472"/>
          </a:xfrm>
          <a:prstGeom prst="roundRect">
            <a:avLst>
              <a:gd name="adj" fmla="val 5263"/>
            </a:avLst>
          </a:prstGeom>
          <a:solidFill>
            <a:srgbClr val="FFFFFF"/>
          </a:solidFill>
          <a:ln w="12700">
            <a:solidFill>
              <a:srgbClr val="C9D3DA"/>
            </a:solidFill>
            <a:prstDash val="solid"/>
          </a:ln>
        </p:spPr>
      </p:sp>
      <p:sp>
        <p:nvSpPr>
          <p:cNvPr id="21" name="Text 19"/>
          <p:cNvSpPr/>
          <p:nvPr/>
        </p:nvSpPr>
        <p:spPr>
          <a:xfrm>
            <a:off x="1536192" y="3813048"/>
            <a:ext cx="1516075"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Push</a:t>
            </a:r>
            <a:endParaRPr lang="en-US" sz="1200" dirty="0"/>
          </a:p>
        </p:txBody>
      </p:sp>
      <p:sp>
        <p:nvSpPr>
          <p:cNvPr id="22" name="Shape 20"/>
          <p:cNvSpPr/>
          <p:nvPr/>
        </p:nvSpPr>
        <p:spPr>
          <a:xfrm>
            <a:off x="3125419" y="3813048"/>
            <a:ext cx="7573061" cy="347472"/>
          </a:xfrm>
          <a:prstGeom prst="roundRect">
            <a:avLst>
              <a:gd name="adj" fmla="val 5263"/>
            </a:avLst>
          </a:prstGeom>
          <a:solidFill>
            <a:srgbClr val="FFFFFF"/>
          </a:solidFill>
          <a:ln w="12700">
            <a:solidFill>
              <a:srgbClr val="C9D3DA"/>
            </a:solidFill>
            <a:prstDash val="solid"/>
          </a:ln>
        </p:spPr>
      </p:sp>
      <p:sp>
        <p:nvSpPr>
          <p:cNvPr id="23" name="Text 21"/>
          <p:cNvSpPr/>
          <p:nvPr/>
        </p:nvSpPr>
        <p:spPr>
          <a:xfrm>
            <a:off x="3198571" y="3813048"/>
            <a:ext cx="7426757"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Slowly. All the way. Do not stop halfway.</a:t>
            </a:r>
            <a:endParaRPr lang="en-US" sz="1200" dirty="0"/>
          </a:p>
        </p:txBody>
      </p:sp>
      <p:sp>
        <p:nvSpPr>
          <p:cNvPr id="24" name="Shape 22"/>
          <p:cNvSpPr/>
          <p:nvPr/>
        </p:nvSpPr>
        <p:spPr>
          <a:xfrm>
            <a:off x="1463040" y="4160520"/>
            <a:ext cx="1662379" cy="347472"/>
          </a:xfrm>
          <a:prstGeom prst="roundRect">
            <a:avLst>
              <a:gd name="adj" fmla="val 5263"/>
            </a:avLst>
          </a:prstGeom>
          <a:solidFill>
            <a:srgbClr val="F2F5F7"/>
          </a:solidFill>
          <a:ln w="12700">
            <a:solidFill>
              <a:srgbClr val="C9D3DA"/>
            </a:solidFill>
            <a:prstDash val="solid"/>
          </a:ln>
        </p:spPr>
      </p:sp>
      <p:sp>
        <p:nvSpPr>
          <p:cNvPr id="25" name="Text 23"/>
          <p:cNvSpPr/>
          <p:nvPr/>
        </p:nvSpPr>
        <p:spPr>
          <a:xfrm>
            <a:off x="1536192" y="4160520"/>
            <a:ext cx="1516075"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Withdraw</a:t>
            </a:r>
            <a:endParaRPr lang="en-US" sz="1200" dirty="0"/>
          </a:p>
        </p:txBody>
      </p:sp>
      <p:sp>
        <p:nvSpPr>
          <p:cNvPr id="26" name="Shape 24"/>
          <p:cNvSpPr/>
          <p:nvPr/>
        </p:nvSpPr>
        <p:spPr>
          <a:xfrm>
            <a:off x="3125419" y="4160520"/>
            <a:ext cx="7573061" cy="347472"/>
          </a:xfrm>
          <a:prstGeom prst="roundRect">
            <a:avLst>
              <a:gd name="adj" fmla="val 5263"/>
            </a:avLst>
          </a:prstGeom>
          <a:solidFill>
            <a:srgbClr val="F2F5F7"/>
          </a:solidFill>
          <a:ln w="12700">
            <a:solidFill>
              <a:srgbClr val="C9D3DA"/>
            </a:solidFill>
            <a:prstDash val="solid"/>
          </a:ln>
        </p:spPr>
      </p:sp>
      <p:sp>
        <p:nvSpPr>
          <p:cNvPr id="27" name="Text 25"/>
          <p:cNvSpPr/>
          <p:nvPr/>
        </p:nvSpPr>
        <p:spPr>
          <a:xfrm>
            <a:off x="3198571" y="4160520"/>
            <a:ext cx="7426757"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Straight out. Do not twist.</a:t>
            </a:r>
            <a:endParaRPr lang="en-US" sz="1200" dirty="0"/>
          </a:p>
        </p:txBody>
      </p:sp>
      <p:sp>
        <p:nvSpPr>
          <p:cNvPr id="28" name="Shape 26"/>
          <p:cNvSpPr/>
          <p:nvPr/>
        </p:nvSpPr>
        <p:spPr>
          <a:xfrm>
            <a:off x="1463040" y="4507992"/>
            <a:ext cx="1662379" cy="347472"/>
          </a:xfrm>
          <a:prstGeom prst="roundRect">
            <a:avLst>
              <a:gd name="adj" fmla="val 5263"/>
            </a:avLst>
          </a:prstGeom>
          <a:solidFill>
            <a:srgbClr val="FFFFFF"/>
          </a:solidFill>
          <a:ln w="12700">
            <a:solidFill>
              <a:srgbClr val="C9D3DA"/>
            </a:solidFill>
            <a:prstDash val="solid"/>
          </a:ln>
        </p:spPr>
      </p:sp>
      <p:sp>
        <p:nvSpPr>
          <p:cNvPr id="29" name="Text 27"/>
          <p:cNvSpPr/>
          <p:nvPr/>
        </p:nvSpPr>
        <p:spPr>
          <a:xfrm>
            <a:off x="1536192" y="4507992"/>
            <a:ext cx="1516075"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Check</a:t>
            </a:r>
            <a:endParaRPr lang="en-US" sz="1200" dirty="0"/>
          </a:p>
        </p:txBody>
      </p:sp>
      <p:sp>
        <p:nvSpPr>
          <p:cNvPr id="30" name="Shape 28"/>
          <p:cNvSpPr/>
          <p:nvPr/>
        </p:nvSpPr>
        <p:spPr>
          <a:xfrm>
            <a:off x="3125419" y="4507992"/>
            <a:ext cx="7573061" cy="347472"/>
          </a:xfrm>
          <a:prstGeom prst="roundRect">
            <a:avLst>
              <a:gd name="adj" fmla="val 5263"/>
            </a:avLst>
          </a:prstGeom>
          <a:solidFill>
            <a:srgbClr val="FFFFFF"/>
          </a:solidFill>
          <a:ln w="12700">
            <a:solidFill>
              <a:srgbClr val="C9D3DA"/>
            </a:solidFill>
            <a:prstDash val="solid"/>
          </a:ln>
        </p:spPr>
      </p:sp>
      <p:sp>
        <p:nvSpPr>
          <p:cNvPr id="31" name="Text 29"/>
          <p:cNvSpPr/>
          <p:nvPr/>
        </p:nvSpPr>
        <p:spPr>
          <a:xfrm>
            <a:off x="3198571" y="4507992"/>
            <a:ext cx="7426757"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Look inside the straw. Is it empty?</a:t>
            </a:r>
            <a:endParaRPr lang="en-US" sz="1200" dirty="0"/>
          </a:p>
        </p:txBody>
      </p:sp>
      <p:sp>
        <p:nvSpPr>
          <p:cNvPr id="32" name="Shape 30"/>
          <p:cNvSpPr/>
          <p:nvPr/>
        </p:nvSpPr>
        <p:spPr>
          <a:xfrm>
            <a:off x="1463040" y="4855464"/>
            <a:ext cx="1662379" cy="347472"/>
          </a:xfrm>
          <a:prstGeom prst="roundRect">
            <a:avLst>
              <a:gd name="adj" fmla="val 5263"/>
            </a:avLst>
          </a:prstGeom>
          <a:solidFill>
            <a:srgbClr val="F2F5F7"/>
          </a:solidFill>
          <a:ln w="12700">
            <a:solidFill>
              <a:srgbClr val="C9D3DA"/>
            </a:solidFill>
            <a:prstDash val="solid"/>
          </a:ln>
        </p:spPr>
      </p:sp>
      <p:sp>
        <p:nvSpPr>
          <p:cNvPr id="33" name="Text 31"/>
          <p:cNvSpPr/>
          <p:nvPr/>
        </p:nvSpPr>
        <p:spPr>
          <a:xfrm>
            <a:off x="1536192" y="4855464"/>
            <a:ext cx="1516075" cy="34747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Record</a:t>
            </a:r>
            <a:endParaRPr lang="en-US" sz="1200" dirty="0"/>
          </a:p>
        </p:txBody>
      </p:sp>
      <p:sp>
        <p:nvSpPr>
          <p:cNvPr id="34" name="Shape 32"/>
          <p:cNvSpPr/>
          <p:nvPr/>
        </p:nvSpPr>
        <p:spPr>
          <a:xfrm>
            <a:off x="3125419" y="4855464"/>
            <a:ext cx="7573061" cy="347472"/>
          </a:xfrm>
          <a:prstGeom prst="roundRect">
            <a:avLst>
              <a:gd name="adj" fmla="val 5263"/>
            </a:avLst>
          </a:prstGeom>
          <a:solidFill>
            <a:srgbClr val="F2F5F7"/>
          </a:solidFill>
          <a:ln w="12700">
            <a:solidFill>
              <a:srgbClr val="C9D3DA"/>
            </a:solidFill>
            <a:prstDash val="solid"/>
          </a:ln>
        </p:spPr>
      </p:sp>
      <p:sp>
        <p:nvSpPr>
          <p:cNvPr id="35" name="Text 33"/>
          <p:cNvSpPr/>
          <p:nvPr/>
        </p:nvSpPr>
        <p:spPr>
          <a:xfrm>
            <a:off x="3198571" y="4855464"/>
            <a:ext cx="7426757" cy="34747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Write it NOW. Not tonight. Memory is not a record.</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Score yourself every single time</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You work alone. This is how you supervise yourself.</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More than 1 in 10 at score 3 means the problem is your hands, not the embryos.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40</a:t>
            </a:r>
            <a:endParaRPr lang="en-US" sz="900" dirty="0"/>
          </a:p>
        </p:txBody>
      </p:sp>
      <p:sp>
        <p:nvSpPr>
          <p:cNvPr id="8" name="Shape 6"/>
          <p:cNvSpPr/>
          <p:nvPr/>
        </p:nvSpPr>
        <p:spPr>
          <a:xfrm>
            <a:off x="548640" y="1847088"/>
            <a:ext cx="1106424" cy="566928"/>
          </a:xfrm>
          <a:prstGeom prst="roundRect">
            <a:avLst>
              <a:gd name="adj" fmla="val 4839"/>
            </a:avLst>
          </a:prstGeom>
          <a:solidFill>
            <a:srgbClr val="0E2841"/>
          </a:solidFill>
          <a:ln w="12700">
            <a:solidFill>
              <a:srgbClr val="0E2841"/>
            </a:solidFill>
            <a:prstDash val="solid"/>
          </a:ln>
        </p:spPr>
      </p:sp>
      <p:sp>
        <p:nvSpPr>
          <p:cNvPr id="9" name="Text 7"/>
          <p:cNvSpPr/>
          <p:nvPr/>
        </p:nvSpPr>
        <p:spPr>
          <a:xfrm>
            <a:off x="621792" y="1847088"/>
            <a:ext cx="960120"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Score</a:t>
            </a:r>
            <a:endParaRPr lang="en-US" sz="1200" dirty="0"/>
          </a:p>
        </p:txBody>
      </p:sp>
      <p:sp>
        <p:nvSpPr>
          <p:cNvPr id="10" name="Shape 8"/>
          <p:cNvSpPr/>
          <p:nvPr/>
        </p:nvSpPr>
        <p:spPr>
          <a:xfrm>
            <a:off x="1655064" y="1847088"/>
            <a:ext cx="4646981" cy="566928"/>
          </a:xfrm>
          <a:prstGeom prst="roundRect">
            <a:avLst>
              <a:gd name="adj" fmla="val 4839"/>
            </a:avLst>
          </a:prstGeom>
          <a:solidFill>
            <a:srgbClr val="0E2841"/>
          </a:solidFill>
          <a:ln w="12700">
            <a:solidFill>
              <a:srgbClr val="0E2841"/>
            </a:solidFill>
            <a:prstDash val="solid"/>
          </a:ln>
        </p:spPr>
      </p:sp>
      <p:sp>
        <p:nvSpPr>
          <p:cNvPr id="11" name="Text 9"/>
          <p:cNvSpPr/>
          <p:nvPr/>
        </p:nvSpPr>
        <p:spPr>
          <a:xfrm>
            <a:off x="1728216" y="1847088"/>
            <a:ext cx="4500677"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happened</a:t>
            </a:r>
            <a:endParaRPr lang="en-US" sz="1200" dirty="0"/>
          </a:p>
        </p:txBody>
      </p:sp>
      <p:sp>
        <p:nvSpPr>
          <p:cNvPr id="12" name="Shape 10"/>
          <p:cNvSpPr/>
          <p:nvPr/>
        </p:nvSpPr>
        <p:spPr>
          <a:xfrm>
            <a:off x="6302045" y="1847088"/>
            <a:ext cx="5310835" cy="566928"/>
          </a:xfrm>
          <a:prstGeom prst="roundRect">
            <a:avLst>
              <a:gd name="adj" fmla="val 4839"/>
            </a:avLst>
          </a:prstGeom>
          <a:solidFill>
            <a:srgbClr val="0E2841"/>
          </a:solidFill>
          <a:ln w="12700">
            <a:solidFill>
              <a:srgbClr val="0E2841"/>
            </a:solidFill>
            <a:prstDash val="solid"/>
          </a:ln>
        </p:spPr>
      </p:sp>
      <p:sp>
        <p:nvSpPr>
          <p:cNvPr id="13" name="Text 11"/>
          <p:cNvSpPr/>
          <p:nvPr/>
        </p:nvSpPr>
        <p:spPr>
          <a:xfrm>
            <a:off x="6375197" y="1847088"/>
            <a:ext cx="5164531" cy="56692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it means</a:t>
            </a:r>
            <a:endParaRPr lang="en-US" sz="1200" dirty="0"/>
          </a:p>
        </p:txBody>
      </p:sp>
      <p:sp>
        <p:nvSpPr>
          <p:cNvPr id="14" name="Shape 12"/>
          <p:cNvSpPr/>
          <p:nvPr/>
        </p:nvSpPr>
        <p:spPr>
          <a:xfrm>
            <a:off x="548640" y="2414016"/>
            <a:ext cx="1106424" cy="566928"/>
          </a:xfrm>
          <a:prstGeom prst="roundRect">
            <a:avLst>
              <a:gd name="adj" fmla="val 3226"/>
            </a:avLst>
          </a:prstGeom>
          <a:solidFill>
            <a:srgbClr val="FFFFFF"/>
          </a:solidFill>
          <a:ln w="12700">
            <a:solidFill>
              <a:srgbClr val="C9D3DA"/>
            </a:solidFill>
            <a:prstDash val="solid"/>
          </a:ln>
        </p:spPr>
      </p:sp>
      <p:sp>
        <p:nvSpPr>
          <p:cNvPr id="15" name="Text 13"/>
          <p:cNvSpPr/>
          <p:nvPr/>
        </p:nvSpPr>
        <p:spPr>
          <a:xfrm>
            <a:off x="621792" y="2414016"/>
            <a:ext cx="960120" cy="566928"/>
          </a:xfrm>
          <a:prstGeom prst="rect">
            <a:avLst/>
          </a:prstGeom>
          <a:noFill/>
          <a:ln/>
        </p:spPr>
        <p:txBody>
          <a:bodyPr wrap="square" lIns="0" tIns="0" rIns="0" bIns="0" rtlCol="0" anchor="ctr"/>
          <a:lstStyle/>
          <a:p>
            <a:pPr algn="ctr" indent="0" marL="0">
              <a:buNone/>
            </a:pPr>
            <a:r>
              <a:rPr lang="en-US" sz="1600" b="1" dirty="0">
                <a:solidFill>
                  <a:srgbClr val="196B24"/>
                </a:solidFill>
                <a:latin typeface="Malgun Gothic" pitchFamily="34" charset="0"/>
                <a:ea typeface="Malgun Gothic" pitchFamily="34" charset="-122"/>
                <a:cs typeface="Malgun Gothic" pitchFamily="34" charset="-120"/>
              </a:rPr>
              <a:t>1</a:t>
            </a:r>
            <a:endParaRPr lang="en-US" sz="1600" dirty="0"/>
          </a:p>
        </p:txBody>
      </p:sp>
      <p:sp>
        <p:nvSpPr>
          <p:cNvPr id="16" name="Shape 14"/>
          <p:cNvSpPr/>
          <p:nvPr/>
        </p:nvSpPr>
        <p:spPr>
          <a:xfrm>
            <a:off x="1655064" y="2414016"/>
            <a:ext cx="4646981" cy="566928"/>
          </a:xfrm>
          <a:prstGeom prst="roundRect">
            <a:avLst>
              <a:gd name="adj" fmla="val 3226"/>
            </a:avLst>
          </a:prstGeom>
          <a:solidFill>
            <a:srgbClr val="FFFFFF"/>
          </a:solidFill>
          <a:ln w="12700">
            <a:solidFill>
              <a:srgbClr val="C9D3DA"/>
            </a:solidFill>
            <a:prstDash val="solid"/>
          </a:ln>
        </p:spPr>
      </p:sp>
      <p:sp>
        <p:nvSpPr>
          <p:cNvPr id="17" name="Text 15"/>
          <p:cNvSpPr/>
          <p:nvPr/>
        </p:nvSpPr>
        <p:spPr>
          <a:xfrm>
            <a:off x="1728216" y="2414016"/>
            <a:ext cx="4500677" cy="566928"/>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Passed easily. No blood.</a:t>
            </a:r>
            <a:endParaRPr lang="en-US" sz="1200" dirty="0"/>
          </a:p>
        </p:txBody>
      </p:sp>
      <p:sp>
        <p:nvSpPr>
          <p:cNvPr id="18" name="Shape 16"/>
          <p:cNvSpPr/>
          <p:nvPr/>
        </p:nvSpPr>
        <p:spPr>
          <a:xfrm>
            <a:off x="6302045" y="2414016"/>
            <a:ext cx="5310835" cy="566928"/>
          </a:xfrm>
          <a:prstGeom prst="roundRect">
            <a:avLst>
              <a:gd name="adj" fmla="val 3226"/>
            </a:avLst>
          </a:prstGeom>
          <a:solidFill>
            <a:srgbClr val="FFFFFF"/>
          </a:solidFill>
          <a:ln w="12700">
            <a:solidFill>
              <a:srgbClr val="C9D3DA"/>
            </a:solidFill>
            <a:prstDash val="solid"/>
          </a:ln>
        </p:spPr>
      </p:sp>
      <p:sp>
        <p:nvSpPr>
          <p:cNvPr id="19" name="Text 17"/>
          <p:cNvSpPr/>
          <p:nvPr/>
        </p:nvSpPr>
        <p:spPr>
          <a:xfrm>
            <a:off x="6375197" y="2414016"/>
            <a:ext cx="5164531" cy="566928"/>
          </a:xfrm>
          <a:prstGeom prst="rect">
            <a:avLst/>
          </a:prstGeom>
          <a:noFill/>
          <a:ln/>
        </p:spPr>
        <p:txBody>
          <a:bodyPr wrap="square" lIns="0" tIns="0" rIns="0" bIns="0" rtlCol="0" anchor="ctr"/>
          <a:lstStyle/>
          <a:p>
            <a:pPr algn="l" indent="0" marL="0">
              <a:buNone/>
            </a:pPr>
            <a:r>
              <a:rPr lang="en-US" sz="1200" dirty="0">
                <a:solidFill>
                  <a:srgbClr val="196B24"/>
                </a:solidFill>
                <a:latin typeface="Malgun Gothic" pitchFamily="34" charset="0"/>
                <a:ea typeface="Malgun Gothic" pitchFamily="34" charset="-122"/>
                <a:cs typeface="Malgun Gothic" pitchFamily="34" charset="-120"/>
              </a:rPr>
              <a:t>Normal. Change nothing.</a:t>
            </a:r>
            <a:endParaRPr lang="en-US" sz="1200" dirty="0"/>
          </a:p>
        </p:txBody>
      </p:sp>
      <p:sp>
        <p:nvSpPr>
          <p:cNvPr id="20" name="Shape 18"/>
          <p:cNvSpPr/>
          <p:nvPr/>
        </p:nvSpPr>
        <p:spPr>
          <a:xfrm>
            <a:off x="548640" y="2980944"/>
            <a:ext cx="1106424" cy="566928"/>
          </a:xfrm>
          <a:prstGeom prst="roundRect">
            <a:avLst>
              <a:gd name="adj" fmla="val 3226"/>
            </a:avLst>
          </a:prstGeom>
          <a:solidFill>
            <a:srgbClr val="F2F5F7"/>
          </a:solidFill>
          <a:ln w="12700">
            <a:solidFill>
              <a:srgbClr val="C9D3DA"/>
            </a:solidFill>
            <a:prstDash val="solid"/>
          </a:ln>
        </p:spPr>
      </p:sp>
      <p:sp>
        <p:nvSpPr>
          <p:cNvPr id="21" name="Text 19"/>
          <p:cNvSpPr/>
          <p:nvPr/>
        </p:nvSpPr>
        <p:spPr>
          <a:xfrm>
            <a:off x="621792" y="2980944"/>
            <a:ext cx="960120" cy="566928"/>
          </a:xfrm>
          <a:prstGeom prst="rect">
            <a:avLst/>
          </a:prstGeom>
          <a:noFill/>
          <a:ln/>
        </p:spPr>
        <p:txBody>
          <a:bodyPr wrap="square" lIns="0" tIns="0" rIns="0" bIns="0" rtlCol="0" anchor="ctr"/>
          <a:lstStyle/>
          <a:p>
            <a:pPr algn="ctr" indent="0" marL="0">
              <a:buNone/>
            </a:pPr>
            <a:r>
              <a:rPr lang="en-US" sz="1600" b="1" dirty="0">
                <a:solidFill>
                  <a:srgbClr val="0F9ED5"/>
                </a:solidFill>
                <a:latin typeface="Malgun Gothic" pitchFamily="34" charset="0"/>
                <a:ea typeface="Malgun Gothic" pitchFamily="34" charset="-122"/>
                <a:cs typeface="Malgun Gothic" pitchFamily="34" charset="-120"/>
              </a:rPr>
              <a:t>2</a:t>
            </a:r>
            <a:endParaRPr lang="en-US" sz="1600" dirty="0"/>
          </a:p>
        </p:txBody>
      </p:sp>
      <p:sp>
        <p:nvSpPr>
          <p:cNvPr id="22" name="Shape 20"/>
          <p:cNvSpPr/>
          <p:nvPr/>
        </p:nvSpPr>
        <p:spPr>
          <a:xfrm>
            <a:off x="1655064" y="2980944"/>
            <a:ext cx="4646981" cy="566928"/>
          </a:xfrm>
          <a:prstGeom prst="roundRect">
            <a:avLst>
              <a:gd name="adj" fmla="val 3226"/>
            </a:avLst>
          </a:prstGeom>
          <a:solidFill>
            <a:srgbClr val="F2F5F7"/>
          </a:solidFill>
          <a:ln w="12700">
            <a:solidFill>
              <a:srgbClr val="C9D3DA"/>
            </a:solidFill>
            <a:prstDash val="solid"/>
          </a:ln>
        </p:spPr>
      </p:sp>
      <p:sp>
        <p:nvSpPr>
          <p:cNvPr id="23" name="Text 21"/>
          <p:cNvSpPr/>
          <p:nvPr/>
        </p:nvSpPr>
        <p:spPr>
          <a:xfrm>
            <a:off x="1728216" y="2980944"/>
            <a:ext cx="4500677" cy="566928"/>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A bit tight. No blood.</a:t>
            </a:r>
            <a:endParaRPr lang="en-US" sz="1200" dirty="0"/>
          </a:p>
        </p:txBody>
      </p:sp>
      <p:sp>
        <p:nvSpPr>
          <p:cNvPr id="24" name="Shape 22"/>
          <p:cNvSpPr/>
          <p:nvPr/>
        </p:nvSpPr>
        <p:spPr>
          <a:xfrm>
            <a:off x="6302045" y="2980944"/>
            <a:ext cx="5310835" cy="566928"/>
          </a:xfrm>
          <a:prstGeom prst="roundRect">
            <a:avLst>
              <a:gd name="adj" fmla="val 3226"/>
            </a:avLst>
          </a:prstGeom>
          <a:solidFill>
            <a:srgbClr val="F2F5F7"/>
          </a:solidFill>
          <a:ln w="12700">
            <a:solidFill>
              <a:srgbClr val="C9D3DA"/>
            </a:solidFill>
            <a:prstDash val="solid"/>
          </a:ln>
        </p:spPr>
      </p:sp>
      <p:sp>
        <p:nvSpPr>
          <p:cNvPr id="25" name="Text 23"/>
          <p:cNvSpPr/>
          <p:nvPr/>
        </p:nvSpPr>
        <p:spPr>
          <a:xfrm>
            <a:off x="6375197" y="2980944"/>
            <a:ext cx="5164531" cy="566928"/>
          </a:xfrm>
          <a:prstGeom prst="rect">
            <a:avLst/>
          </a:prstGeom>
          <a:noFill/>
          <a:ln/>
        </p:spPr>
        <p:txBody>
          <a:bodyPr wrap="square" lIns="0" tIns="0" rIns="0" bIns="0" rtlCol="0" anchor="ctr"/>
          <a:lstStyle/>
          <a:p>
            <a:pPr algn="l" indent="0" marL="0">
              <a:buNone/>
            </a:pPr>
            <a:r>
              <a:rPr lang="en-US" sz="1200" dirty="0">
                <a:solidFill>
                  <a:srgbClr val="0F9ED5"/>
                </a:solidFill>
                <a:latin typeface="Malgun Gothic" pitchFamily="34" charset="0"/>
                <a:ea typeface="Malgun Gothic" pitchFamily="34" charset="-122"/>
                <a:cs typeface="Malgun Gothic" pitchFamily="34" charset="-120"/>
              </a:rPr>
              <a:t>Check lubricant, restraint, patience.</a:t>
            </a:r>
            <a:endParaRPr lang="en-US" sz="1200" dirty="0"/>
          </a:p>
        </p:txBody>
      </p:sp>
      <p:sp>
        <p:nvSpPr>
          <p:cNvPr id="26" name="Shape 24"/>
          <p:cNvSpPr/>
          <p:nvPr/>
        </p:nvSpPr>
        <p:spPr>
          <a:xfrm>
            <a:off x="548640" y="3547872"/>
            <a:ext cx="1106424" cy="566928"/>
          </a:xfrm>
          <a:prstGeom prst="roundRect">
            <a:avLst>
              <a:gd name="adj" fmla="val 3226"/>
            </a:avLst>
          </a:prstGeom>
          <a:solidFill>
            <a:srgbClr val="FFFFFF"/>
          </a:solidFill>
          <a:ln w="12700">
            <a:solidFill>
              <a:srgbClr val="C9D3DA"/>
            </a:solidFill>
            <a:prstDash val="solid"/>
          </a:ln>
        </p:spPr>
      </p:sp>
      <p:sp>
        <p:nvSpPr>
          <p:cNvPr id="27" name="Text 25"/>
          <p:cNvSpPr/>
          <p:nvPr/>
        </p:nvSpPr>
        <p:spPr>
          <a:xfrm>
            <a:off x="621792" y="3547872"/>
            <a:ext cx="960120" cy="566928"/>
          </a:xfrm>
          <a:prstGeom prst="rect">
            <a:avLst/>
          </a:prstGeom>
          <a:noFill/>
          <a:ln/>
        </p:spPr>
        <p:txBody>
          <a:bodyPr wrap="square" lIns="0" tIns="0" rIns="0" bIns="0" rtlCol="0" anchor="ctr"/>
          <a:lstStyle/>
          <a:p>
            <a:pPr algn="ctr" indent="0" marL="0">
              <a:buNone/>
            </a:pPr>
            <a:r>
              <a:rPr lang="en-US" sz="1600" b="1" dirty="0">
                <a:solidFill>
                  <a:srgbClr val="E97132"/>
                </a:solidFill>
                <a:latin typeface="Malgun Gothic" pitchFamily="34" charset="0"/>
                <a:ea typeface="Malgun Gothic" pitchFamily="34" charset="-122"/>
                <a:cs typeface="Malgun Gothic" pitchFamily="34" charset="-120"/>
              </a:rPr>
              <a:t>3</a:t>
            </a:r>
            <a:endParaRPr lang="en-US" sz="1600" dirty="0"/>
          </a:p>
        </p:txBody>
      </p:sp>
      <p:sp>
        <p:nvSpPr>
          <p:cNvPr id="28" name="Shape 26"/>
          <p:cNvSpPr/>
          <p:nvPr/>
        </p:nvSpPr>
        <p:spPr>
          <a:xfrm>
            <a:off x="1655064" y="3547872"/>
            <a:ext cx="4646981" cy="566928"/>
          </a:xfrm>
          <a:prstGeom prst="roundRect">
            <a:avLst>
              <a:gd name="adj" fmla="val 3226"/>
            </a:avLst>
          </a:prstGeom>
          <a:solidFill>
            <a:srgbClr val="FFFFFF"/>
          </a:solidFill>
          <a:ln w="12700">
            <a:solidFill>
              <a:srgbClr val="C9D3DA"/>
            </a:solidFill>
            <a:prstDash val="solid"/>
          </a:ln>
        </p:spPr>
      </p:sp>
      <p:sp>
        <p:nvSpPr>
          <p:cNvPr id="29" name="Text 27"/>
          <p:cNvSpPr/>
          <p:nvPr/>
        </p:nvSpPr>
        <p:spPr>
          <a:xfrm>
            <a:off x="1728216" y="3547872"/>
            <a:ext cx="4500677" cy="566928"/>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Hard. Blood on the sheath. Many tries.</a:t>
            </a:r>
            <a:endParaRPr lang="en-US" sz="1200" dirty="0"/>
          </a:p>
        </p:txBody>
      </p:sp>
      <p:sp>
        <p:nvSpPr>
          <p:cNvPr id="30" name="Shape 28"/>
          <p:cNvSpPr/>
          <p:nvPr/>
        </p:nvSpPr>
        <p:spPr>
          <a:xfrm>
            <a:off x="6302045" y="3547872"/>
            <a:ext cx="5310835" cy="566928"/>
          </a:xfrm>
          <a:prstGeom prst="roundRect">
            <a:avLst>
              <a:gd name="adj" fmla="val 3226"/>
            </a:avLst>
          </a:prstGeom>
          <a:solidFill>
            <a:srgbClr val="FFFFFF"/>
          </a:solidFill>
          <a:ln w="12700">
            <a:solidFill>
              <a:srgbClr val="C9D3DA"/>
            </a:solidFill>
            <a:prstDash val="solid"/>
          </a:ln>
        </p:spPr>
      </p:sp>
      <p:sp>
        <p:nvSpPr>
          <p:cNvPr id="31" name="Text 29"/>
          <p:cNvSpPr/>
          <p:nvPr/>
        </p:nvSpPr>
        <p:spPr>
          <a:xfrm>
            <a:off x="6375197" y="3547872"/>
            <a:ext cx="5164531" cy="566928"/>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Expect a lower pregnancy rate. Retrain.</a:t>
            </a:r>
            <a:endParaRPr lang="en-US" sz="1200" dirty="0"/>
          </a:p>
        </p:txBody>
      </p:sp>
      <p:sp>
        <p:nvSpPr>
          <p:cNvPr id="32" name="Shape 30"/>
          <p:cNvSpPr/>
          <p:nvPr/>
        </p:nvSpPr>
        <p:spPr>
          <a:xfrm>
            <a:off x="548640" y="3813048"/>
            <a:ext cx="11064240" cy="1417320"/>
          </a:xfrm>
          <a:prstGeom prst="roundRect">
            <a:avLst>
              <a:gd name="adj" fmla="val 5161"/>
            </a:avLst>
          </a:prstGeom>
          <a:solidFill>
            <a:srgbClr val="F2F5F7"/>
          </a:solidFill>
          <a:ln w="12700">
            <a:solidFill>
              <a:srgbClr val="C9D3DA"/>
            </a:solidFill>
            <a:prstDash val="solid"/>
          </a:ln>
        </p:spPr>
      </p:sp>
      <p:sp>
        <p:nvSpPr>
          <p:cNvPr id="33" name="Text 31"/>
          <p:cNvSpPr/>
          <p:nvPr/>
        </p:nvSpPr>
        <p:spPr>
          <a:xfrm>
            <a:off x="548640" y="3950208"/>
            <a:ext cx="11064240" cy="402336"/>
          </a:xfrm>
          <a:prstGeom prst="rect">
            <a:avLst/>
          </a:prstGeom>
          <a:noFill/>
          <a:ln/>
        </p:spPr>
        <p:txBody>
          <a:bodyPr wrap="square" lIns="0" tIns="0" rIns="0" bIns="0" rtlCol="0" anchor="ctr"/>
          <a:lstStyle/>
          <a:p>
            <a:pPr algn="ctr" indent="0" marL="0">
              <a:buNone/>
            </a:pPr>
            <a:r>
              <a:rPr lang="en-US" sz="1800" b="1" dirty="0">
                <a:solidFill>
                  <a:srgbClr val="0E2841"/>
                </a:solidFill>
                <a:latin typeface="Malgun Gothic" pitchFamily="34" charset="0"/>
                <a:ea typeface="Malgun Gothic" pitchFamily="34" charset="-122"/>
                <a:cs typeface="Malgun Gothic" pitchFamily="34" charset="-120"/>
              </a:rPr>
              <a:t>Count your score 3s once a month</a:t>
            </a:r>
            <a:endParaRPr lang="en-US" sz="1800" dirty="0"/>
          </a:p>
        </p:txBody>
      </p:sp>
      <p:sp>
        <p:nvSpPr>
          <p:cNvPr id="34" name="Text 32"/>
          <p:cNvSpPr/>
          <p:nvPr/>
        </p:nvSpPr>
        <p:spPr>
          <a:xfrm>
            <a:off x="548640" y="4407408"/>
            <a:ext cx="11064240" cy="402336"/>
          </a:xfrm>
          <a:prstGeom prst="rect">
            <a:avLst/>
          </a:prstGeom>
          <a:noFill/>
          <a:ln/>
        </p:spPr>
        <p:txBody>
          <a:bodyPr wrap="square" lIns="0" tIns="0" rIns="0" bIns="0" rtlCol="0" anchor="ctr"/>
          <a:lstStyle/>
          <a:p>
            <a:pPr algn="ctr" indent="0" marL="0">
              <a:buNone/>
            </a:pPr>
            <a:r>
              <a:rPr lang="en-US" sz="1450" dirty="0">
                <a:solidFill>
                  <a:srgbClr val="0E2841"/>
                </a:solidFill>
                <a:latin typeface="Malgun Gothic" pitchFamily="34" charset="0"/>
                <a:ea typeface="Malgun Gothic" pitchFamily="34" charset="-122"/>
                <a:cs typeface="Malgun Gothic" pitchFamily="34" charset="-120"/>
              </a:rPr>
              <a:t>More than 1 in 10  →  it is not the embryo company and not the cows.  It is your hands.</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full chain on transfer day</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No link may be skipped, and the order is fixed</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Cow caught → CL confirmed → side written → then and only then, thaw.</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41</a:t>
            </a:r>
            <a:endParaRPr lang="en-US" sz="900" dirty="0"/>
          </a:p>
        </p:txBody>
      </p:sp>
      <p:sp>
        <p:nvSpPr>
          <p:cNvPr id="8" name="Shape 6"/>
          <p:cNvSpPr/>
          <p:nvPr/>
        </p:nvSpPr>
        <p:spPr>
          <a:xfrm>
            <a:off x="548640" y="1709928"/>
            <a:ext cx="3566160" cy="1024128"/>
          </a:xfrm>
          <a:prstGeom prst="roundRect">
            <a:avLst>
              <a:gd name="adj" fmla="val 7143"/>
            </a:avLst>
          </a:prstGeom>
          <a:solidFill>
            <a:srgbClr val="F2F5F7"/>
          </a:solidFill>
          <a:ln w="12700">
            <a:solidFill>
              <a:srgbClr val="C9D3DA"/>
            </a:solidFill>
            <a:prstDash val="solid"/>
          </a:ln>
        </p:spPr>
      </p:sp>
      <p:sp>
        <p:nvSpPr>
          <p:cNvPr id="9" name="Shape 7"/>
          <p:cNvSpPr/>
          <p:nvPr/>
        </p:nvSpPr>
        <p:spPr>
          <a:xfrm>
            <a:off x="676656" y="1856232"/>
            <a:ext cx="475488" cy="475488"/>
          </a:xfrm>
          <a:prstGeom prst="roundRect">
            <a:avLst>
              <a:gd name="adj" fmla="val 50000"/>
            </a:avLst>
          </a:prstGeom>
          <a:solidFill>
            <a:srgbClr val="156082"/>
          </a:solidFill>
          <a:ln w="12700">
            <a:solidFill>
              <a:srgbClr val="156082"/>
            </a:solidFill>
            <a:prstDash val="solid"/>
          </a:ln>
        </p:spPr>
      </p:sp>
      <p:sp>
        <p:nvSpPr>
          <p:cNvPr id="10" name="Text 8"/>
          <p:cNvSpPr/>
          <p:nvPr/>
        </p:nvSpPr>
        <p:spPr>
          <a:xfrm>
            <a:off x="676656" y="185623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11" name="Text 9"/>
          <p:cNvSpPr/>
          <p:nvPr/>
        </p:nvSpPr>
        <p:spPr>
          <a:xfrm>
            <a:off x="1243584" y="1783080"/>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Catch and restrain</a:t>
            </a:r>
            <a:endParaRPr lang="en-US" sz="1300" dirty="0"/>
          </a:p>
        </p:txBody>
      </p:sp>
      <p:sp>
        <p:nvSpPr>
          <p:cNvPr id="12" name="Shape 10"/>
          <p:cNvSpPr/>
          <p:nvPr/>
        </p:nvSpPr>
        <p:spPr>
          <a:xfrm>
            <a:off x="4297680" y="1709928"/>
            <a:ext cx="3566160" cy="1024128"/>
          </a:xfrm>
          <a:prstGeom prst="roundRect">
            <a:avLst>
              <a:gd name="adj" fmla="val 7143"/>
            </a:avLst>
          </a:prstGeom>
          <a:solidFill>
            <a:srgbClr val="F2F5F7"/>
          </a:solidFill>
          <a:ln w="12700">
            <a:solidFill>
              <a:srgbClr val="C9D3DA"/>
            </a:solidFill>
            <a:prstDash val="solid"/>
          </a:ln>
        </p:spPr>
      </p:sp>
      <p:sp>
        <p:nvSpPr>
          <p:cNvPr id="13" name="Shape 11"/>
          <p:cNvSpPr/>
          <p:nvPr/>
        </p:nvSpPr>
        <p:spPr>
          <a:xfrm>
            <a:off x="4425696" y="1856232"/>
            <a:ext cx="475488" cy="475488"/>
          </a:xfrm>
          <a:prstGeom prst="roundRect">
            <a:avLst>
              <a:gd name="adj" fmla="val 50000"/>
            </a:avLst>
          </a:prstGeom>
          <a:solidFill>
            <a:srgbClr val="156082"/>
          </a:solidFill>
          <a:ln w="12700">
            <a:solidFill>
              <a:srgbClr val="156082"/>
            </a:solidFill>
            <a:prstDash val="solid"/>
          </a:ln>
        </p:spPr>
      </p:sp>
      <p:sp>
        <p:nvSpPr>
          <p:cNvPr id="14" name="Text 12"/>
          <p:cNvSpPr/>
          <p:nvPr/>
        </p:nvSpPr>
        <p:spPr>
          <a:xfrm>
            <a:off x="4425696" y="185623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5" name="Text 13"/>
          <p:cNvSpPr/>
          <p:nvPr/>
        </p:nvSpPr>
        <p:spPr>
          <a:xfrm>
            <a:off x="4992624" y="1783080"/>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Numb the tail</a:t>
            </a:r>
            <a:endParaRPr lang="en-US" sz="1300" dirty="0"/>
          </a:p>
        </p:txBody>
      </p:sp>
      <p:sp>
        <p:nvSpPr>
          <p:cNvPr id="16" name="Shape 14"/>
          <p:cNvSpPr/>
          <p:nvPr/>
        </p:nvSpPr>
        <p:spPr>
          <a:xfrm>
            <a:off x="8046720" y="1709928"/>
            <a:ext cx="3566160" cy="1024128"/>
          </a:xfrm>
          <a:prstGeom prst="roundRect">
            <a:avLst>
              <a:gd name="adj" fmla="val 7143"/>
            </a:avLst>
          </a:prstGeom>
          <a:solidFill>
            <a:srgbClr val="F2F5F7"/>
          </a:solidFill>
          <a:ln w="12700">
            <a:solidFill>
              <a:srgbClr val="C9D3DA"/>
            </a:solidFill>
            <a:prstDash val="solid"/>
          </a:ln>
        </p:spPr>
      </p:sp>
      <p:sp>
        <p:nvSpPr>
          <p:cNvPr id="17" name="Shape 15"/>
          <p:cNvSpPr/>
          <p:nvPr/>
        </p:nvSpPr>
        <p:spPr>
          <a:xfrm>
            <a:off x="8174736" y="1856232"/>
            <a:ext cx="475488" cy="475488"/>
          </a:xfrm>
          <a:prstGeom prst="roundRect">
            <a:avLst>
              <a:gd name="adj" fmla="val 50000"/>
            </a:avLst>
          </a:prstGeom>
          <a:solidFill>
            <a:srgbClr val="156082"/>
          </a:solidFill>
          <a:ln w="12700">
            <a:solidFill>
              <a:srgbClr val="156082"/>
            </a:solidFill>
            <a:prstDash val="solid"/>
          </a:ln>
        </p:spPr>
      </p:sp>
      <p:sp>
        <p:nvSpPr>
          <p:cNvPr id="18" name="Text 16"/>
          <p:cNvSpPr/>
          <p:nvPr/>
        </p:nvSpPr>
        <p:spPr>
          <a:xfrm>
            <a:off x="8174736" y="185623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9" name="Text 17"/>
          <p:cNvSpPr/>
          <p:nvPr/>
        </p:nvSpPr>
        <p:spPr>
          <a:xfrm>
            <a:off x="8741664" y="1783080"/>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Confirm the CL — say the side</a:t>
            </a:r>
            <a:endParaRPr lang="en-US" sz="1300" dirty="0"/>
          </a:p>
        </p:txBody>
      </p:sp>
      <p:sp>
        <p:nvSpPr>
          <p:cNvPr id="20" name="Shape 18"/>
          <p:cNvSpPr/>
          <p:nvPr/>
        </p:nvSpPr>
        <p:spPr>
          <a:xfrm>
            <a:off x="548640" y="2935224"/>
            <a:ext cx="3566160" cy="1024128"/>
          </a:xfrm>
          <a:prstGeom prst="roundRect">
            <a:avLst>
              <a:gd name="adj" fmla="val 7143"/>
            </a:avLst>
          </a:prstGeom>
          <a:solidFill>
            <a:srgbClr val="F2F5F7"/>
          </a:solidFill>
          <a:ln w="12700">
            <a:solidFill>
              <a:srgbClr val="C9D3DA"/>
            </a:solidFill>
            <a:prstDash val="solid"/>
          </a:ln>
        </p:spPr>
      </p:sp>
      <p:sp>
        <p:nvSpPr>
          <p:cNvPr id="21" name="Shape 19"/>
          <p:cNvSpPr/>
          <p:nvPr/>
        </p:nvSpPr>
        <p:spPr>
          <a:xfrm>
            <a:off x="676656" y="3081528"/>
            <a:ext cx="475488" cy="475488"/>
          </a:xfrm>
          <a:prstGeom prst="roundRect">
            <a:avLst>
              <a:gd name="adj" fmla="val 50000"/>
            </a:avLst>
          </a:prstGeom>
          <a:solidFill>
            <a:srgbClr val="156082"/>
          </a:solidFill>
          <a:ln w="12700">
            <a:solidFill>
              <a:srgbClr val="156082"/>
            </a:solidFill>
            <a:prstDash val="solid"/>
          </a:ln>
        </p:spPr>
      </p:sp>
      <p:sp>
        <p:nvSpPr>
          <p:cNvPr id="22" name="Text 20"/>
          <p:cNvSpPr/>
          <p:nvPr/>
        </p:nvSpPr>
        <p:spPr>
          <a:xfrm>
            <a:off x="676656" y="30815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3" name="Text 21"/>
          <p:cNvSpPr/>
          <p:nvPr/>
        </p:nvSpPr>
        <p:spPr>
          <a:xfrm>
            <a:off x="1243584" y="3008376"/>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Clean and DRY</a:t>
            </a:r>
            <a:endParaRPr lang="en-US" sz="1300" dirty="0"/>
          </a:p>
        </p:txBody>
      </p:sp>
      <p:sp>
        <p:nvSpPr>
          <p:cNvPr id="24" name="Shape 22"/>
          <p:cNvSpPr/>
          <p:nvPr/>
        </p:nvSpPr>
        <p:spPr>
          <a:xfrm>
            <a:off x="4297680" y="2935224"/>
            <a:ext cx="3566160" cy="1024128"/>
          </a:xfrm>
          <a:prstGeom prst="roundRect">
            <a:avLst>
              <a:gd name="adj" fmla="val 7143"/>
            </a:avLst>
          </a:prstGeom>
          <a:solidFill>
            <a:srgbClr val="0E2841"/>
          </a:solidFill>
          <a:ln w="12700">
            <a:solidFill>
              <a:srgbClr val="0E2841"/>
            </a:solidFill>
            <a:prstDash val="solid"/>
          </a:ln>
        </p:spPr>
      </p:sp>
      <p:sp>
        <p:nvSpPr>
          <p:cNvPr id="25" name="Shape 23"/>
          <p:cNvSpPr/>
          <p:nvPr/>
        </p:nvSpPr>
        <p:spPr>
          <a:xfrm>
            <a:off x="4425696" y="3081528"/>
            <a:ext cx="475488" cy="475488"/>
          </a:xfrm>
          <a:prstGeom prst="roundRect">
            <a:avLst>
              <a:gd name="adj" fmla="val 50000"/>
            </a:avLst>
          </a:prstGeom>
          <a:solidFill>
            <a:srgbClr val="E97132"/>
          </a:solidFill>
          <a:ln w="12700">
            <a:solidFill>
              <a:srgbClr val="E97132"/>
            </a:solidFill>
            <a:prstDash val="solid"/>
          </a:ln>
        </p:spPr>
      </p:sp>
      <p:sp>
        <p:nvSpPr>
          <p:cNvPr id="26" name="Text 24"/>
          <p:cNvSpPr/>
          <p:nvPr/>
        </p:nvSpPr>
        <p:spPr>
          <a:xfrm>
            <a:off x="4425696" y="30815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27" name="Text 25"/>
          <p:cNvSpPr/>
          <p:nvPr/>
        </p:nvSpPr>
        <p:spPr>
          <a:xfrm>
            <a:off x="4992624" y="3008376"/>
            <a:ext cx="2743200" cy="877824"/>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NOW thaw the straw</a:t>
            </a:r>
            <a:endParaRPr lang="en-US" sz="1300" dirty="0"/>
          </a:p>
        </p:txBody>
      </p:sp>
      <p:sp>
        <p:nvSpPr>
          <p:cNvPr id="28" name="Shape 26"/>
          <p:cNvSpPr/>
          <p:nvPr/>
        </p:nvSpPr>
        <p:spPr>
          <a:xfrm>
            <a:off x="8046720" y="2935224"/>
            <a:ext cx="3566160" cy="1024128"/>
          </a:xfrm>
          <a:prstGeom prst="roundRect">
            <a:avLst>
              <a:gd name="adj" fmla="val 7143"/>
            </a:avLst>
          </a:prstGeom>
          <a:solidFill>
            <a:srgbClr val="F2F5F7"/>
          </a:solidFill>
          <a:ln w="12700">
            <a:solidFill>
              <a:srgbClr val="C9D3DA"/>
            </a:solidFill>
            <a:prstDash val="solid"/>
          </a:ln>
        </p:spPr>
      </p:sp>
      <p:sp>
        <p:nvSpPr>
          <p:cNvPr id="29" name="Shape 27"/>
          <p:cNvSpPr/>
          <p:nvPr/>
        </p:nvSpPr>
        <p:spPr>
          <a:xfrm>
            <a:off x="8174736" y="3081528"/>
            <a:ext cx="475488" cy="475488"/>
          </a:xfrm>
          <a:prstGeom prst="roundRect">
            <a:avLst>
              <a:gd name="adj" fmla="val 50000"/>
            </a:avLst>
          </a:prstGeom>
          <a:solidFill>
            <a:srgbClr val="156082"/>
          </a:solidFill>
          <a:ln w="12700">
            <a:solidFill>
              <a:srgbClr val="156082"/>
            </a:solidFill>
            <a:prstDash val="solid"/>
          </a:ln>
        </p:spPr>
      </p:sp>
      <p:sp>
        <p:nvSpPr>
          <p:cNvPr id="30" name="Text 28"/>
          <p:cNvSpPr/>
          <p:nvPr/>
        </p:nvSpPr>
        <p:spPr>
          <a:xfrm>
            <a:off x="8174736" y="30815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6</a:t>
            </a:r>
            <a:endParaRPr lang="en-US" sz="1600" dirty="0"/>
          </a:p>
        </p:txBody>
      </p:sp>
      <p:sp>
        <p:nvSpPr>
          <p:cNvPr id="31" name="Text 29"/>
          <p:cNvSpPr/>
          <p:nvPr/>
        </p:nvSpPr>
        <p:spPr>
          <a:xfrm>
            <a:off x="8741664" y="3008376"/>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Load the gun + sheath</a:t>
            </a:r>
            <a:endParaRPr lang="en-US" sz="1300" dirty="0"/>
          </a:p>
        </p:txBody>
      </p:sp>
      <p:sp>
        <p:nvSpPr>
          <p:cNvPr id="32" name="Shape 30"/>
          <p:cNvSpPr/>
          <p:nvPr/>
        </p:nvSpPr>
        <p:spPr>
          <a:xfrm>
            <a:off x="548640" y="4160520"/>
            <a:ext cx="3566160" cy="1024128"/>
          </a:xfrm>
          <a:prstGeom prst="roundRect">
            <a:avLst>
              <a:gd name="adj" fmla="val 7143"/>
            </a:avLst>
          </a:prstGeom>
          <a:solidFill>
            <a:srgbClr val="F2F5F7"/>
          </a:solidFill>
          <a:ln w="12700">
            <a:solidFill>
              <a:srgbClr val="C9D3DA"/>
            </a:solidFill>
            <a:prstDash val="solid"/>
          </a:ln>
        </p:spPr>
      </p:sp>
      <p:sp>
        <p:nvSpPr>
          <p:cNvPr id="33" name="Shape 31"/>
          <p:cNvSpPr/>
          <p:nvPr/>
        </p:nvSpPr>
        <p:spPr>
          <a:xfrm>
            <a:off x="676656" y="4306824"/>
            <a:ext cx="475488" cy="475488"/>
          </a:xfrm>
          <a:prstGeom prst="roundRect">
            <a:avLst>
              <a:gd name="adj" fmla="val 50000"/>
            </a:avLst>
          </a:prstGeom>
          <a:solidFill>
            <a:srgbClr val="156082"/>
          </a:solidFill>
          <a:ln w="12700">
            <a:solidFill>
              <a:srgbClr val="156082"/>
            </a:solidFill>
            <a:prstDash val="solid"/>
          </a:ln>
        </p:spPr>
      </p:sp>
      <p:sp>
        <p:nvSpPr>
          <p:cNvPr id="34" name="Text 32"/>
          <p:cNvSpPr/>
          <p:nvPr/>
        </p:nvSpPr>
        <p:spPr>
          <a:xfrm>
            <a:off x="676656" y="4306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7</a:t>
            </a:r>
            <a:endParaRPr lang="en-US" sz="1600" dirty="0"/>
          </a:p>
        </p:txBody>
      </p:sp>
      <p:sp>
        <p:nvSpPr>
          <p:cNvPr id="35" name="Text 33"/>
          <p:cNvSpPr/>
          <p:nvPr/>
        </p:nvSpPr>
        <p:spPr>
          <a:xfrm>
            <a:off x="1243584" y="4233672"/>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Pass the cervix gently</a:t>
            </a:r>
            <a:endParaRPr lang="en-US" sz="1300" dirty="0"/>
          </a:p>
        </p:txBody>
      </p:sp>
      <p:sp>
        <p:nvSpPr>
          <p:cNvPr id="36" name="Shape 34"/>
          <p:cNvSpPr/>
          <p:nvPr/>
        </p:nvSpPr>
        <p:spPr>
          <a:xfrm>
            <a:off x="4297680" y="4160520"/>
            <a:ext cx="3566160" cy="1024128"/>
          </a:xfrm>
          <a:prstGeom prst="roundRect">
            <a:avLst>
              <a:gd name="adj" fmla="val 7143"/>
            </a:avLst>
          </a:prstGeom>
          <a:solidFill>
            <a:srgbClr val="F2F5F7"/>
          </a:solidFill>
          <a:ln w="12700">
            <a:solidFill>
              <a:srgbClr val="C9D3DA"/>
            </a:solidFill>
            <a:prstDash val="solid"/>
          </a:ln>
        </p:spPr>
      </p:sp>
      <p:sp>
        <p:nvSpPr>
          <p:cNvPr id="37" name="Shape 35"/>
          <p:cNvSpPr/>
          <p:nvPr/>
        </p:nvSpPr>
        <p:spPr>
          <a:xfrm>
            <a:off x="4425696" y="4306824"/>
            <a:ext cx="475488" cy="475488"/>
          </a:xfrm>
          <a:prstGeom prst="roundRect">
            <a:avLst>
              <a:gd name="adj" fmla="val 50000"/>
            </a:avLst>
          </a:prstGeom>
          <a:solidFill>
            <a:srgbClr val="156082"/>
          </a:solidFill>
          <a:ln w="12700">
            <a:solidFill>
              <a:srgbClr val="156082"/>
            </a:solidFill>
            <a:prstDash val="solid"/>
          </a:ln>
        </p:spPr>
      </p:sp>
      <p:sp>
        <p:nvSpPr>
          <p:cNvPr id="38" name="Text 36"/>
          <p:cNvSpPr/>
          <p:nvPr/>
        </p:nvSpPr>
        <p:spPr>
          <a:xfrm>
            <a:off x="4425696" y="4306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8</a:t>
            </a:r>
            <a:endParaRPr lang="en-US" sz="1600" dirty="0"/>
          </a:p>
        </p:txBody>
      </p:sp>
      <p:sp>
        <p:nvSpPr>
          <p:cNvPr id="39" name="Text 37"/>
          <p:cNvSpPr/>
          <p:nvPr/>
        </p:nvSpPr>
        <p:spPr>
          <a:xfrm>
            <a:off x="4992624" y="4233672"/>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Front third, correct horn</a:t>
            </a:r>
            <a:endParaRPr lang="en-US" sz="1300" dirty="0"/>
          </a:p>
        </p:txBody>
      </p:sp>
      <p:sp>
        <p:nvSpPr>
          <p:cNvPr id="40" name="Shape 38"/>
          <p:cNvSpPr/>
          <p:nvPr/>
        </p:nvSpPr>
        <p:spPr>
          <a:xfrm>
            <a:off x="8046720" y="4160520"/>
            <a:ext cx="3566160" cy="1024128"/>
          </a:xfrm>
          <a:prstGeom prst="roundRect">
            <a:avLst>
              <a:gd name="adj" fmla="val 7143"/>
            </a:avLst>
          </a:prstGeom>
          <a:solidFill>
            <a:srgbClr val="F2F5F7"/>
          </a:solidFill>
          <a:ln w="12700">
            <a:solidFill>
              <a:srgbClr val="C9D3DA"/>
            </a:solidFill>
            <a:prstDash val="solid"/>
          </a:ln>
        </p:spPr>
      </p:sp>
      <p:sp>
        <p:nvSpPr>
          <p:cNvPr id="41" name="Shape 39"/>
          <p:cNvSpPr/>
          <p:nvPr/>
        </p:nvSpPr>
        <p:spPr>
          <a:xfrm>
            <a:off x="8174736" y="4306824"/>
            <a:ext cx="475488" cy="475488"/>
          </a:xfrm>
          <a:prstGeom prst="roundRect">
            <a:avLst>
              <a:gd name="adj" fmla="val 50000"/>
            </a:avLst>
          </a:prstGeom>
          <a:solidFill>
            <a:srgbClr val="156082"/>
          </a:solidFill>
          <a:ln w="12700">
            <a:solidFill>
              <a:srgbClr val="156082"/>
            </a:solidFill>
            <a:prstDash val="solid"/>
          </a:ln>
        </p:spPr>
      </p:sp>
      <p:sp>
        <p:nvSpPr>
          <p:cNvPr id="42" name="Text 40"/>
          <p:cNvSpPr/>
          <p:nvPr/>
        </p:nvSpPr>
        <p:spPr>
          <a:xfrm>
            <a:off x="8174736" y="43068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9</a:t>
            </a:r>
            <a:endParaRPr lang="en-US" sz="1600" dirty="0"/>
          </a:p>
        </p:txBody>
      </p:sp>
      <p:sp>
        <p:nvSpPr>
          <p:cNvPr id="43" name="Text 41"/>
          <p:cNvSpPr/>
          <p:nvPr/>
        </p:nvSpPr>
        <p:spPr>
          <a:xfrm>
            <a:off x="8741664" y="4233672"/>
            <a:ext cx="2743200" cy="877824"/>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Check straw empty + record</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06</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Rumen and nutrition-related disease</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70 minutes  ·  diagnosis, treatment, management</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cow does not digest feed — her bugs do</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And the fibre bugs are the fragile ones</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Too much grain → the stomach goes sour → the fibre bugs die → butterfat falls first.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43</a:t>
            </a:r>
            <a:endParaRPr lang="en-US" sz="900" dirty="0"/>
          </a:p>
        </p:txBody>
      </p:sp>
      <p:sp>
        <p:nvSpPr>
          <p:cNvPr id="8" name="Shape 6"/>
          <p:cNvSpPr/>
          <p:nvPr/>
        </p:nvSpPr>
        <p:spPr>
          <a:xfrm>
            <a:off x="548640" y="1755648"/>
            <a:ext cx="5394960" cy="2057400"/>
          </a:xfrm>
          <a:prstGeom prst="roundRect">
            <a:avLst>
              <a:gd name="adj" fmla="val 3111"/>
            </a:avLst>
          </a:prstGeom>
          <a:solidFill>
            <a:srgbClr val="FFFFFF"/>
          </a:solidFill>
          <a:ln w="12700">
            <a:solidFill>
              <a:srgbClr val="196B24"/>
            </a:solidFill>
            <a:prstDash val="solid"/>
          </a:ln>
        </p:spPr>
      </p:sp>
      <p:sp>
        <p:nvSpPr>
          <p:cNvPr id="9" name="Shape 7"/>
          <p:cNvSpPr/>
          <p:nvPr/>
        </p:nvSpPr>
        <p:spPr>
          <a:xfrm>
            <a:off x="548640" y="1755648"/>
            <a:ext cx="5394960" cy="402336"/>
          </a:xfrm>
          <a:prstGeom prst="roundRect">
            <a:avLst>
              <a:gd name="adj" fmla="val 15909"/>
            </a:avLst>
          </a:prstGeom>
          <a:solidFill>
            <a:srgbClr val="196B24"/>
          </a:solidFill>
          <a:ln w="12700">
            <a:solidFill>
              <a:srgbClr val="196B24"/>
            </a:solidFill>
            <a:prstDash val="solid"/>
          </a:ln>
        </p:spPr>
      </p:sp>
      <p:sp>
        <p:nvSpPr>
          <p:cNvPr id="10" name="Text 8"/>
          <p:cNvSpPr/>
          <p:nvPr/>
        </p:nvSpPr>
        <p:spPr>
          <a:xfrm>
            <a:off x="548640" y="17556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FIBRE BUGS  —  fragile</a:t>
            </a:r>
            <a:endParaRPr lang="en-US" sz="1300" dirty="0"/>
          </a:p>
        </p:txBody>
      </p:sp>
      <p:sp>
        <p:nvSpPr>
          <p:cNvPr id="11" name="Text 9"/>
          <p:cNvSpPr/>
          <p:nvPr/>
        </p:nvSpPr>
        <p:spPr>
          <a:xfrm>
            <a:off x="694944" y="2267712"/>
            <a:ext cx="5102352" cy="141732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Need a sweet stomach (pH 6.2–6.8)</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Eat grass, straw, hay</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Make the acid that becomes BUTTERFAT</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They die FIRST when it goes sour</a:t>
            </a:r>
            <a:endParaRPr lang="en-US" sz="1300" dirty="0"/>
          </a:p>
        </p:txBody>
      </p:sp>
      <p:sp>
        <p:nvSpPr>
          <p:cNvPr id="12" name="Shape 10"/>
          <p:cNvSpPr/>
          <p:nvPr/>
        </p:nvSpPr>
        <p:spPr>
          <a:xfrm>
            <a:off x="6217920" y="1755648"/>
            <a:ext cx="5394960" cy="2057400"/>
          </a:xfrm>
          <a:prstGeom prst="roundRect">
            <a:avLst>
              <a:gd name="adj" fmla="val 3111"/>
            </a:avLst>
          </a:prstGeom>
          <a:solidFill>
            <a:srgbClr val="FFFFFF"/>
          </a:solidFill>
          <a:ln w="12700">
            <a:solidFill>
              <a:srgbClr val="E97132"/>
            </a:solidFill>
            <a:prstDash val="solid"/>
          </a:ln>
        </p:spPr>
      </p:sp>
      <p:sp>
        <p:nvSpPr>
          <p:cNvPr id="13" name="Shape 11"/>
          <p:cNvSpPr/>
          <p:nvPr/>
        </p:nvSpPr>
        <p:spPr>
          <a:xfrm>
            <a:off x="6217920" y="1755648"/>
            <a:ext cx="5394960" cy="402336"/>
          </a:xfrm>
          <a:prstGeom prst="roundRect">
            <a:avLst>
              <a:gd name="adj" fmla="val 15909"/>
            </a:avLst>
          </a:prstGeom>
          <a:solidFill>
            <a:srgbClr val="E97132"/>
          </a:solidFill>
          <a:ln w="12700">
            <a:solidFill>
              <a:srgbClr val="E97132"/>
            </a:solidFill>
            <a:prstDash val="solid"/>
          </a:ln>
        </p:spPr>
      </p:sp>
      <p:sp>
        <p:nvSpPr>
          <p:cNvPr id="14" name="Text 12"/>
          <p:cNvSpPr/>
          <p:nvPr/>
        </p:nvSpPr>
        <p:spPr>
          <a:xfrm>
            <a:off x="6217920" y="17556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GRAIN BUGS  —  tough</a:t>
            </a:r>
            <a:endParaRPr lang="en-US" sz="1300" dirty="0"/>
          </a:p>
        </p:txBody>
      </p:sp>
      <p:sp>
        <p:nvSpPr>
          <p:cNvPr id="15" name="Text 13"/>
          <p:cNvSpPr/>
          <p:nvPr/>
        </p:nvSpPr>
        <p:spPr>
          <a:xfrm>
            <a:off x="6364224" y="2267712"/>
            <a:ext cx="5102352" cy="1417320"/>
          </a:xfrm>
          <a:prstGeom prst="rect">
            <a:avLst/>
          </a:prstGeom>
          <a:noFill/>
          <a:ln/>
        </p:spPr>
        <p:txBody>
          <a:bodyPr wrap="square" lIns="0" tIns="0" rIns="0" bIns="0" rtlCol="0" anchor="t"/>
          <a:lstStyle/>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Happy in a sour stomach (pH 5.5)</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Eat grain, molasses, cassava</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Make the acid that becomes MILK VOLUME</a:t>
            </a:r>
            <a:endParaRPr lang="en-US" sz="1300" dirty="0"/>
          </a:p>
          <a:p>
            <a:pPr indent="0" marL="0">
              <a:lnSpc>
                <a:spcPct val="118000"/>
              </a:lnSpc>
              <a:buNone/>
            </a:pPr>
            <a:r>
              <a:rPr lang="en-US" sz="1300" dirty="0">
                <a:solidFill>
                  <a:srgbClr val="0E2841"/>
                </a:solidFill>
                <a:latin typeface="Malgun Gothic" pitchFamily="34" charset="0"/>
                <a:ea typeface="Malgun Gothic" pitchFamily="34" charset="-122"/>
                <a:cs typeface="Malgun Gothic" pitchFamily="34" charset="-120"/>
              </a:rPr>
              <a:t>•  They take over when it goes sour</a:t>
            </a:r>
            <a:endParaRPr lang="en-US" sz="1300" dirty="0"/>
          </a:p>
        </p:txBody>
      </p:sp>
      <p:sp>
        <p:nvSpPr>
          <p:cNvPr id="16" name="Text 14"/>
          <p:cNvSpPr/>
          <p:nvPr/>
        </p:nvSpPr>
        <p:spPr>
          <a:xfrm>
            <a:off x="548640" y="3995928"/>
            <a:ext cx="11064240" cy="274320"/>
          </a:xfrm>
          <a:prstGeom prst="rect">
            <a:avLst/>
          </a:prstGeom>
          <a:noFill/>
          <a:ln/>
        </p:spPr>
        <p:txBody>
          <a:bodyPr wrap="square" lIns="0" tIns="0" rIns="0" bIns="0" rtlCol="0" anchor="ctr"/>
          <a:lstStyle/>
          <a:p>
            <a:pPr algn="l" indent="0" marL="0">
              <a:buNone/>
            </a:pPr>
            <a:r>
              <a:rPr lang="en-US" sz="1300" b="1" dirty="0">
                <a:solidFill>
                  <a:srgbClr val="0E2841"/>
                </a:solidFill>
                <a:latin typeface="Malgun Gothic" pitchFamily="34" charset="0"/>
                <a:ea typeface="Malgun Gothic" pitchFamily="34" charset="-122"/>
                <a:cs typeface="Malgun Gothic" pitchFamily="34" charset="-120"/>
              </a:rPr>
              <a:t>How sour is the stomach?</a:t>
            </a:r>
            <a:endParaRPr lang="en-US" sz="1300" dirty="0"/>
          </a:p>
        </p:txBody>
      </p:sp>
      <p:sp>
        <p:nvSpPr>
          <p:cNvPr id="17" name="Shape 15"/>
          <p:cNvSpPr/>
          <p:nvPr/>
        </p:nvSpPr>
        <p:spPr>
          <a:xfrm>
            <a:off x="731520" y="4343400"/>
            <a:ext cx="2995574" cy="566928"/>
          </a:xfrm>
          <a:prstGeom prst="roundRect">
            <a:avLst>
              <a:gd name="adj" fmla="val 8065"/>
            </a:avLst>
          </a:prstGeom>
          <a:solidFill>
            <a:srgbClr val="E97132"/>
          </a:solidFill>
          <a:ln w="12700">
            <a:solidFill>
              <a:srgbClr val="E97132"/>
            </a:solidFill>
            <a:prstDash val="solid"/>
          </a:ln>
        </p:spPr>
      </p:sp>
      <p:sp>
        <p:nvSpPr>
          <p:cNvPr id="18" name="Shape 16"/>
          <p:cNvSpPr/>
          <p:nvPr/>
        </p:nvSpPr>
        <p:spPr>
          <a:xfrm>
            <a:off x="3727094" y="4343400"/>
            <a:ext cx="2353666" cy="566928"/>
          </a:xfrm>
          <a:prstGeom prst="roundRect">
            <a:avLst>
              <a:gd name="adj" fmla="val 8065"/>
            </a:avLst>
          </a:prstGeom>
          <a:solidFill>
            <a:srgbClr val="0F9ED5"/>
          </a:solidFill>
          <a:ln w="12700">
            <a:solidFill>
              <a:srgbClr val="0F9ED5"/>
            </a:solidFill>
            <a:prstDash val="solid"/>
          </a:ln>
        </p:spPr>
      </p:sp>
      <p:sp>
        <p:nvSpPr>
          <p:cNvPr id="19" name="Shape 17"/>
          <p:cNvSpPr/>
          <p:nvPr/>
        </p:nvSpPr>
        <p:spPr>
          <a:xfrm>
            <a:off x="6080760" y="4343400"/>
            <a:ext cx="5349240" cy="566928"/>
          </a:xfrm>
          <a:prstGeom prst="roundRect">
            <a:avLst>
              <a:gd name="adj" fmla="val 8065"/>
            </a:avLst>
          </a:prstGeom>
          <a:solidFill>
            <a:srgbClr val="196B24"/>
          </a:solidFill>
          <a:ln w="12700">
            <a:solidFill>
              <a:srgbClr val="196B24"/>
            </a:solidFill>
            <a:prstDash val="solid"/>
          </a:ln>
        </p:spPr>
      </p:sp>
      <p:sp>
        <p:nvSpPr>
          <p:cNvPr id="20" name="Text 18"/>
          <p:cNvSpPr/>
          <p:nvPr/>
        </p:nvSpPr>
        <p:spPr>
          <a:xfrm>
            <a:off x="731520" y="4343400"/>
            <a:ext cx="2995574"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BELOW 5.6  sour stomach</a:t>
            </a:r>
            <a:endParaRPr lang="en-US" sz="1200" dirty="0"/>
          </a:p>
        </p:txBody>
      </p:sp>
      <p:sp>
        <p:nvSpPr>
          <p:cNvPr id="21" name="Text 19"/>
          <p:cNvSpPr/>
          <p:nvPr/>
        </p:nvSpPr>
        <p:spPr>
          <a:xfrm>
            <a:off x="3727094" y="4343400"/>
            <a:ext cx="2353666"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5.6–6.2  edge</a:t>
            </a:r>
            <a:endParaRPr lang="en-US" sz="1200" dirty="0"/>
          </a:p>
        </p:txBody>
      </p:sp>
      <p:sp>
        <p:nvSpPr>
          <p:cNvPr id="22" name="Text 20"/>
          <p:cNvSpPr/>
          <p:nvPr/>
        </p:nvSpPr>
        <p:spPr>
          <a:xfrm>
            <a:off x="6080760" y="4343400"/>
            <a:ext cx="53492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6.2–6.8  NORMAL — fibre bugs alive</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Sour stomach (SARA) — how to diagnose it on the farm</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cow never looks sick. The farm just performs badly.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Butterfat below protein in fresh cows + bubbly manure with grain in it. Look at the ration.</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44</a:t>
            </a:r>
            <a:endParaRPr lang="en-US" sz="900" dirty="0"/>
          </a:p>
        </p:txBody>
      </p:sp>
      <p:sp>
        <p:nvSpPr>
          <p:cNvPr id="8" name="Shape 6"/>
          <p:cNvSpPr/>
          <p:nvPr/>
        </p:nvSpPr>
        <p:spPr>
          <a:xfrm>
            <a:off x="548640" y="1755648"/>
            <a:ext cx="4646981" cy="475488"/>
          </a:xfrm>
          <a:prstGeom prst="roundRect">
            <a:avLst>
              <a:gd name="adj" fmla="val 5769"/>
            </a:avLst>
          </a:prstGeom>
          <a:solidFill>
            <a:srgbClr val="0E2841"/>
          </a:solidFill>
          <a:ln w="12700">
            <a:solidFill>
              <a:srgbClr val="0E2841"/>
            </a:solidFill>
            <a:prstDash val="solid"/>
          </a:ln>
        </p:spPr>
      </p:sp>
      <p:sp>
        <p:nvSpPr>
          <p:cNvPr id="9" name="Text 7"/>
          <p:cNvSpPr/>
          <p:nvPr/>
        </p:nvSpPr>
        <p:spPr>
          <a:xfrm>
            <a:off x="621792" y="1755648"/>
            <a:ext cx="4500677"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you see</a:t>
            </a:r>
            <a:endParaRPr lang="en-US" sz="1200" dirty="0"/>
          </a:p>
        </p:txBody>
      </p:sp>
      <p:sp>
        <p:nvSpPr>
          <p:cNvPr id="10" name="Shape 8"/>
          <p:cNvSpPr/>
          <p:nvPr/>
        </p:nvSpPr>
        <p:spPr>
          <a:xfrm>
            <a:off x="5195621" y="1755648"/>
            <a:ext cx="6417259" cy="475488"/>
          </a:xfrm>
          <a:prstGeom prst="roundRect">
            <a:avLst>
              <a:gd name="adj" fmla="val 5769"/>
            </a:avLst>
          </a:prstGeom>
          <a:solidFill>
            <a:srgbClr val="0E2841"/>
          </a:solidFill>
          <a:ln w="12700">
            <a:solidFill>
              <a:srgbClr val="0E2841"/>
            </a:solidFill>
            <a:prstDash val="solid"/>
          </a:ln>
        </p:spPr>
      </p:sp>
      <p:sp>
        <p:nvSpPr>
          <p:cNvPr id="11" name="Text 9"/>
          <p:cNvSpPr/>
          <p:nvPr/>
        </p:nvSpPr>
        <p:spPr>
          <a:xfrm>
            <a:off x="5268773" y="1755648"/>
            <a:ext cx="6270955"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it means</a:t>
            </a:r>
            <a:endParaRPr lang="en-US" sz="1200" dirty="0"/>
          </a:p>
        </p:txBody>
      </p:sp>
      <p:sp>
        <p:nvSpPr>
          <p:cNvPr id="12" name="Shape 10"/>
          <p:cNvSpPr/>
          <p:nvPr/>
        </p:nvSpPr>
        <p:spPr>
          <a:xfrm>
            <a:off x="548640" y="2231136"/>
            <a:ext cx="4646981" cy="475488"/>
          </a:xfrm>
          <a:prstGeom prst="roundRect">
            <a:avLst>
              <a:gd name="adj" fmla="val 3846"/>
            </a:avLst>
          </a:prstGeom>
          <a:solidFill>
            <a:srgbClr val="FFFFFF"/>
          </a:solidFill>
          <a:ln w="12700">
            <a:solidFill>
              <a:srgbClr val="C9D3DA"/>
            </a:solidFill>
            <a:prstDash val="solid"/>
          </a:ln>
        </p:spPr>
      </p:sp>
      <p:sp>
        <p:nvSpPr>
          <p:cNvPr id="13" name="Text 11"/>
          <p:cNvSpPr/>
          <p:nvPr/>
        </p:nvSpPr>
        <p:spPr>
          <a:xfrm>
            <a:off x="621792" y="2231136"/>
            <a:ext cx="4500677" cy="475488"/>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Butterfat falls BELOW protein</a:t>
            </a:r>
            <a:endParaRPr lang="en-US" sz="1200" dirty="0"/>
          </a:p>
        </p:txBody>
      </p:sp>
      <p:sp>
        <p:nvSpPr>
          <p:cNvPr id="14" name="Shape 12"/>
          <p:cNvSpPr/>
          <p:nvPr/>
        </p:nvSpPr>
        <p:spPr>
          <a:xfrm>
            <a:off x="5195621" y="2231136"/>
            <a:ext cx="6417259" cy="475488"/>
          </a:xfrm>
          <a:prstGeom prst="roundRect">
            <a:avLst>
              <a:gd name="adj" fmla="val 3846"/>
            </a:avLst>
          </a:prstGeom>
          <a:solidFill>
            <a:srgbClr val="FFFFFF"/>
          </a:solidFill>
          <a:ln w="12700">
            <a:solidFill>
              <a:srgbClr val="C9D3DA"/>
            </a:solidFill>
            <a:prstDash val="solid"/>
          </a:ln>
        </p:spPr>
      </p:sp>
      <p:sp>
        <p:nvSpPr>
          <p:cNvPr id="15" name="Text 13"/>
          <p:cNvSpPr/>
          <p:nvPr/>
        </p:nvSpPr>
        <p:spPr>
          <a:xfrm>
            <a:off x="5268773" y="2231136"/>
            <a:ext cx="6270955"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in fresh cows — the first warning</a:t>
            </a:r>
            <a:endParaRPr lang="en-US" sz="1200" dirty="0"/>
          </a:p>
        </p:txBody>
      </p:sp>
      <p:sp>
        <p:nvSpPr>
          <p:cNvPr id="16" name="Shape 14"/>
          <p:cNvSpPr/>
          <p:nvPr/>
        </p:nvSpPr>
        <p:spPr>
          <a:xfrm>
            <a:off x="548640" y="2706624"/>
            <a:ext cx="4646981" cy="475488"/>
          </a:xfrm>
          <a:prstGeom prst="roundRect">
            <a:avLst>
              <a:gd name="adj" fmla="val 3846"/>
            </a:avLst>
          </a:prstGeom>
          <a:solidFill>
            <a:srgbClr val="F2F5F7"/>
          </a:solidFill>
          <a:ln w="12700">
            <a:solidFill>
              <a:srgbClr val="C9D3DA"/>
            </a:solidFill>
            <a:prstDash val="solid"/>
          </a:ln>
        </p:spPr>
      </p:sp>
      <p:sp>
        <p:nvSpPr>
          <p:cNvPr id="17" name="Text 15"/>
          <p:cNvSpPr/>
          <p:nvPr/>
        </p:nvSpPr>
        <p:spPr>
          <a:xfrm>
            <a:off x="621792" y="2706624"/>
            <a:ext cx="4500677" cy="475488"/>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Loose manure, gas bubbles</a:t>
            </a:r>
            <a:endParaRPr lang="en-US" sz="1200" dirty="0"/>
          </a:p>
        </p:txBody>
      </p:sp>
      <p:sp>
        <p:nvSpPr>
          <p:cNvPr id="18" name="Shape 16"/>
          <p:cNvSpPr/>
          <p:nvPr/>
        </p:nvSpPr>
        <p:spPr>
          <a:xfrm>
            <a:off x="5195621" y="2706624"/>
            <a:ext cx="6417259" cy="475488"/>
          </a:xfrm>
          <a:prstGeom prst="roundRect">
            <a:avLst>
              <a:gd name="adj" fmla="val 3846"/>
            </a:avLst>
          </a:prstGeom>
          <a:solidFill>
            <a:srgbClr val="F2F5F7"/>
          </a:solidFill>
          <a:ln w="12700">
            <a:solidFill>
              <a:srgbClr val="C9D3DA"/>
            </a:solidFill>
            <a:prstDash val="solid"/>
          </a:ln>
        </p:spPr>
      </p:sp>
      <p:sp>
        <p:nvSpPr>
          <p:cNvPr id="19" name="Text 17"/>
          <p:cNvSpPr/>
          <p:nvPr/>
        </p:nvSpPr>
        <p:spPr>
          <a:xfrm>
            <a:off x="5268773" y="2706624"/>
            <a:ext cx="6270955"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and whole grains you can see</a:t>
            </a:r>
            <a:endParaRPr lang="en-US" sz="1200" dirty="0"/>
          </a:p>
        </p:txBody>
      </p:sp>
      <p:sp>
        <p:nvSpPr>
          <p:cNvPr id="20" name="Shape 18"/>
          <p:cNvSpPr/>
          <p:nvPr/>
        </p:nvSpPr>
        <p:spPr>
          <a:xfrm>
            <a:off x="548640" y="3182112"/>
            <a:ext cx="4646981" cy="475488"/>
          </a:xfrm>
          <a:prstGeom prst="roundRect">
            <a:avLst>
              <a:gd name="adj" fmla="val 3846"/>
            </a:avLst>
          </a:prstGeom>
          <a:solidFill>
            <a:srgbClr val="FFFFFF"/>
          </a:solidFill>
          <a:ln w="12700">
            <a:solidFill>
              <a:srgbClr val="C9D3DA"/>
            </a:solidFill>
            <a:prstDash val="solid"/>
          </a:ln>
        </p:spPr>
      </p:sp>
      <p:sp>
        <p:nvSpPr>
          <p:cNvPr id="21" name="Text 19"/>
          <p:cNvSpPr/>
          <p:nvPr/>
        </p:nvSpPr>
        <p:spPr>
          <a:xfrm>
            <a:off x="621792" y="3182112"/>
            <a:ext cx="4500677" cy="47548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Fewer cows chewing the cud</a:t>
            </a:r>
            <a:endParaRPr lang="en-US" sz="1200" dirty="0"/>
          </a:p>
        </p:txBody>
      </p:sp>
      <p:sp>
        <p:nvSpPr>
          <p:cNvPr id="22" name="Shape 20"/>
          <p:cNvSpPr/>
          <p:nvPr/>
        </p:nvSpPr>
        <p:spPr>
          <a:xfrm>
            <a:off x="5195621" y="3182112"/>
            <a:ext cx="6417259" cy="475488"/>
          </a:xfrm>
          <a:prstGeom prst="roundRect">
            <a:avLst>
              <a:gd name="adj" fmla="val 3846"/>
            </a:avLst>
          </a:prstGeom>
          <a:solidFill>
            <a:srgbClr val="FFFFFF"/>
          </a:solidFill>
          <a:ln w="12700">
            <a:solidFill>
              <a:srgbClr val="C9D3DA"/>
            </a:solidFill>
            <a:prstDash val="solid"/>
          </a:ln>
        </p:spPr>
      </p:sp>
      <p:sp>
        <p:nvSpPr>
          <p:cNvPr id="23" name="Text 21"/>
          <p:cNvSpPr/>
          <p:nvPr/>
        </p:nvSpPr>
        <p:spPr>
          <a:xfrm>
            <a:off x="5268773" y="3182112"/>
            <a:ext cx="6270955"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under 6 in 10 lying cows = warning</a:t>
            </a:r>
            <a:endParaRPr lang="en-US" sz="1200" dirty="0"/>
          </a:p>
        </p:txBody>
      </p:sp>
      <p:sp>
        <p:nvSpPr>
          <p:cNvPr id="24" name="Shape 22"/>
          <p:cNvSpPr/>
          <p:nvPr/>
        </p:nvSpPr>
        <p:spPr>
          <a:xfrm>
            <a:off x="548640" y="3657600"/>
            <a:ext cx="4646981" cy="475488"/>
          </a:xfrm>
          <a:prstGeom prst="roundRect">
            <a:avLst>
              <a:gd name="adj" fmla="val 3846"/>
            </a:avLst>
          </a:prstGeom>
          <a:solidFill>
            <a:srgbClr val="F2F5F7"/>
          </a:solidFill>
          <a:ln w="12700">
            <a:solidFill>
              <a:srgbClr val="C9D3DA"/>
            </a:solidFill>
            <a:prstDash val="solid"/>
          </a:ln>
        </p:spPr>
      </p:sp>
      <p:sp>
        <p:nvSpPr>
          <p:cNvPr id="25" name="Text 23"/>
          <p:cNvSpPr/>
          <p:nvPr/>
        </p:nvSpPr>
        <p:spPr>
          <a:xfrm>
            <a:off x="621792" y="3657600"/>
            <a:ext cx="4500677" cy="47548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Intake goes up and down</a:t>
            </a:r>
            <a:endParaRPr lang="en-US" sz="1200" dirty="0"/>
          </a:p>
        </p:txBody>
      </p:sp>
      <p:sp>
        <p:nvSpPr>
          <p:cNvPr id="26" name="Shape 24"/>
          <p:cNvSpPr/>
          <p:nvPr/>
        </p:nvSpPr>
        <p:spPr>
          <a:xfrm>
            <a:off x="5195621" y="3657600"/>
            <a:ext cx="6417259" cy="475488"/>
          </a:xfrm>
          <a:prstGeom prst="roundRect">
            <a:avLst>
              <a:gd name="adj" fmla="val 3846"/>
            </a:avLst>
          </a:prstGeom>
          <a:solidFill>
            <a:srgbClr val="F2F5F7"/>
          </a:solidFill>
          <a:ln w="12700">
            <a:solidFill>
              <a:srgbClr val="C9D3DA"/>
            </a:solidFill>
            <a:prstDash val="solid"/>
          </a:ln>
        </p:spPr>
      </p:sp>
      <p:sp>
        <p:nvSpPr>
          <p:cNvPr id="27" name="Text 25"/>
          <p:cNvSpPr/>
          <p:nvPr/>
        </p:nvSpPr>
        <p:spPr>
          <a:xfrm>
            <a:off x="5268773" y="3657600"/>
            <a:ext cx="6270955"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she eats, stops, eats again</a:t>
            </a:r>
            <a:endParaRPr lang="en-US" sz="1200" dirty="0"/>
          </a:p>
        </p:txBody>
      </p:sp>
      <p:sp>
        <p:nvSpPr>
          <p:cNvPr id="28" name="Shape 26"/>
          <p:cNvSpPr/>
          <p:nvPr/>
        </p:nvSpPr>
        <p:spPr>
          <a:xfrm>
            <a:off x="548640" y="4133088"/>
            <a:ext cx="4646981" cy="475488"/>
          </a:xfrm>
          <a:prstGeom prst="roundRect">
            <a:avLst>
              <a:gd name="adj" fmla="val 3846"/>
            </a:avLst>
          </a:prstGeom>
          <a:solidFill>
            <a:srgbClr val="FFFFFF"/>
          </a:solidFill>
          <a:ln w="12700">
            <a:solidFill>
              <a:srgbClr val="C9D3DA"/>
            </a:solidFill>
            <a:prstDash val="solid"/>
          </a:ln>
        </p:spPr>
      </p:sp>
      <p:sp>
        <p:nvSpPr>
          <p:cNvPr id="29" name="Text 27"/>
          <p:cNvSpPr/>
          <p:nvPr/>
        </p:nvSpPr>
        <p:spPr>
          <a:xfrm>
            <a:off x="621792" y="4133088"/>
            <a:ext cx="4500677" cy="475488"/>
          </a:xfrm>
          <a:prstGeom prst="rect">
            <a:avLst/>
          </a:prstGeom>
          <a:noFill/>
          <a:ln/>
        </p:spPr>
        <p:txBody>
          <a:bodyPr wrap="square" lIns="0" tIns="0" rIns="0" bIns="0" rtlCol="0" anchor="ctr"/>
          <a:lstStyle/>
          <a:p>
            <a:pPr algn="l" indent="0" marL="0">
              <a:buNone/>
            </a:pPr>
            <a:r>
              <a:rPr lang="en-US" sz="1200" b="1" dirty="0">
                <a:solidFill>
                  <a:srgbClr val="A02B93"/>
                </a:solidFill>
                <a:latin typeface="Malgun Gothic" pitchFamily="34" charset="0"/>
                <a:ea typeface="Malgun Gothic" pitchFamily="34" charset="-122"/>
                <a:cs typeface="Malgun Gothic" pitchFamily="34" charset="-120"/>
              </a:rPr>
              <a:t>Sore feet weeks later</a:t>
            </a:r>
            <a:endParaRPr lang="en-US" sz="1200" dirty="0"/>
          </a:p>
        </p:txBody>
      </p:sp>
      <p:sp>
        <p:nvSpPr>
          <p:cNvPr id="30" name="Shape 28"/>
          <p:cNvSpPr/>
          <p:nvPr/>
        </p:nvSpPr>
        <p:spPr>
          <a:xfrm>
            <a:off x="5195621" y="4133088"/>
            <a:ext cx="6417259" cy="475488"/>
          </a:xfrm>
          <a:prstGeom prst="roundRect">
            <a:avLst>
              <a:gd name="adj" fmla="val 3846"/>
            </a:avLst>
          </a:prstGeom>
          <a:solidFill>
            <a:srgbClr val="FFFFFF"/>
          </a:solidFill>
          <a:ln w="12700">
            <a:solidFill>
              <a:srgbClr val="C9D3DA"/>
            </a:solidFill>
            <a:prstDash val="solid"/>
          </a:ln>
        </p:spPr>
      </p:sp>
      <p:sp>
        <p:nvSpPr>
          <p:cNvPr id="31" name="Text 29"/>
          <p:cNvSpPr/>
          <p:nvPr/>
        </p:nvSpPr>
        <p:spPr>
          <a:xfrm>
            <a:off x="5268773" y="4133088"/>
            <a:ext cx="6270955"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 lame cow will not stand to be mounted</a:t>
            </a:r>
            <a:endParaRPr lang="en-US" sz="1200" dirty="0"/>
          </a:p>
        </p:txBody>
      </p:sp>
      <p:sp>
        <p:nvSpPr>
          <p:cNvPr id="32" name="Shape 30"/>
          <p:cNvSpPr/>
          <p:nvPr/>
        </p:nvSpPr>
        <p:spPr>
          <a:xfrm>
            <a:off x="548640" y="4453128"/>
            <a:ext cx="11064240" cy="777240"/>
          </a:xfrm>
          <a:prstGeom prst="roundRect">
            <a:avLst>
              <a:gd name="adj" fmla="val 9412"/>
            </a:avLst>
          </a:prstGeom>
          <a:solidFill>
            <a:srgbClr val="E3ECF1"/>
          </a:solidFill>
          <a:ln w="12700">
            <a:solidFill>
              <a:srgbClr val="E3ECF1"/>
            </a:solidFill>
            <a:prstDash val="solid"/>
          </a:ln>
        </p:spPr>
      </p:sp>
      <p:sp>
        <p:nvSpPr>
          <p:cNvPr id="33" name="Text 31"/>
          <p:cNvSpPr/>
          <p:nvPr/>
        </p:nvSpPr>
        <p:spPr>
          <a:xfrm>
            <a:off x="548640" y="4453128"/>
            <a:ext cx="11064240" cy="777240"/>
          </a:xfrm>
          <a:prstGeom prst="rect">
            <a:avLst/>
          </a:prstGeom>
          <a:noFill/>
          <a:ln/>
        </p:spPr>
        <p:txBody>
          <a:bodyPr wrap="square" lIns="0" tIns="0" rIns="0" bIns="0" rtlCol="0" anchor="ctr"/>
          <a:lstStyle/>
          <a:p>
            <a:pPr algn="ctr" indent="0" marL="0">
              <a:buNone/>
            </a:pPr>
            <a:r>
              <a:rPr lang="en-US" sz="1450" b="1" dirty="0">
                <a:solidFill>
                  <a:srgbClr val="0E2841"/>
                </a:solidFill>
                <a:latin typeface="Malgun Gothic" pitchFamily="34" charset="0"/>
                <a:ea typeface="Malgun Gothic" pitchFamily="34" charset="-122"/>
                <a:cs typeface="Malgun Gothic" pitchFamily="34" charset="-120"/>
              </a:rPr>
              <a:t>Three roads to infertility:  less energy  ·  lame cows show no heat  ·  poor body condition</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Sour stomach — treatment and management</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There is no medicine for this. The ration IS the treatment.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Longer fibre. Smaller grain meals. Clean water. Change the feeding, not the cow.</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45</a:t>
            </a:r>
            <a:endParaRPr lang="en-US" sz="900" dirty="0"/>
          </a:p>
        </p:txBody>
      </p:sp>
      <p:sp>
        <p:nvSpPr>
          <p:cNvPr id="8" name="Shape 6"/>
          <p:cNvSpPr/>
          <p:nvPr/>
        </p:nvSpPr>
        <p:spPr>
          <a:xfrm>
            <a:off x="548640" y="1709928"/>
            <a:ext cx="2655418" cy="475488"/>
          </a:xfrm>
          <a:prstGeom prst="roundRect">
            <a:avLst>
              <a:gd name="adj" fmla="val 5769"/>
            </a:avLst>
          </a:prstGeom>
          <a:solidFill>
            <a:srgbClr val="0E2841"/>
          </a:solidFill>
          <a:ln w="12700">
            <a:solidFill>
              <a:srgbClr val="0E2841"/>
            </a:solidFill>
            <a:prstDash val="solid"/>
          </a:ln>
        </p:spPr>
      </p:sp>
      <p:sp>
        <p:nvSpPr>
          <p:cNvPr id="9" name="Text 7"/>
          <p:cNvSpPr/>
          <p:nvPr/>
        </p:nvSpPr>
        <p:spPr>
          <a:xfrm>
            <a:off x="621792" y="1709928"/>
            <a:ext cx="2509114"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Management</a:t>
            </a:r>
            <a:endParaRPr lang="en-US" sz="1200" dirty="0"/>
          </a:p>
        </p:txBody>
      </p:sp>
      <p:sp>
        <p:nvSpPr>
          <p:cNvPr id="10" name="Shape 8"/>
          <p:cNvSpPr/>
          <p:nvPr/>
        </p:nvSpPr>
        <p:spPr>
          <a:xfrm>
            <a:off x="3204058" y="1709928"/>
            <a:ext cx="8408822" cy="475488"/>
          </a:xfrm>
          <a:prstGeom prst="roundRect">
            <a:avLst>
              <a:gd name="adj" fmla="val 5769"/>
            </a:avLst>
          </a:prstGeom>
          <a:solidFill>
            <a:srgbClr val="0E2841"/>
          </a:solidFill>
          <a:ln w="12700">
            <a:solidFill>
              <a:srgbClr val="0E2841"/>
            </a:solidFill>
            <a:prstDash val="solid"/>
          </a:ln>
        </p:spPr>
      </p:sp>
      <p:sp>
        <p:nvSpPr>
          <p:cNvPr id="11" name="Text 9"/>
          <p:cNvSpPr/>
          <p:nvPr/>
        </p:nvSpPr>
        <p:spPr>
          <a:xfrm>
            <a:off x="3277210" y="1709928"/>
            <a:ext cx="8262518" cy="475488"/>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to do</a:t>
            </a:r>
            <a:endParaRPr lang="en-US" sz="1200" dirty="0"/>
          </a:p>
        </p:txBody>
      </p:sp>
      <p:sp>
        <p:nvSpPr>
          <p:cNvPr id="12" name="Shape 10"/>
          <p:cNvSpPr/>
          <p:nvPr/>
        </p:nvSpPr>
        <p:spPr>
          <a:xfrm>
            <a:off x="548640" y="2185416"/>
            <a:ext cx="2655418" cy="475488"/>
          </a:xfrm>
          <a:prstGeom prst="roundRect">
            <a:avLst>
              <a:gd name="adj" fmla="val 3846"/>
            </a:avLst>
          </a:prstGeom>
          <a:solidFill>
            <a:srgbClr val="FFFFFF"/>
          </a:solidFill>
          <a:ln w="12700">
            <a:solidFill>
              <a:srgbClr val="C9D3DA"/>
            </a:solidFill>
            <a:prstDash val="solid"/>
          </a:ln>
        </p:spPr>
      </p:sp>
      <p:sp>
        <p:nvSpPr>
          <p:cNvPr id="13" name="Text 11"/>
          <p:cNvSpPr/>
          <p:nvPr/>
        </p:nvSpPr>
        <p:spPr>
          <a:xfrm>
            <a:off x="621792" y="2185416"/>
            <a:ext cx="2509114" cy="475488"/>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Longer fibre</a:t>
            </a:r>
            <a:endParaRPr lang="en-US" sz="1200" dirty="0"/>
          </a:p>
        </p:txBody>
      </p:sp>
      <p:sp>
        <p:nvSpPr>
          <p:cNvPr id="14" name="Shape 12"/>
          <p:cNvSpPr/>
          <p:nvPr/>
        </p:nvSpPr>
        <p:spPr>
          <a:xfrm>
            <a:off x="3204058" y="2185416"/>
            <a:ext cx="8408822" cy="475488"/>
          </a:xfrm>
          <a:prstGeom prst="roundRect">
            <a:avLst>
              <a:gd name="adj" fmla="val 3846"/>
            </a:avLst>
          </a:prstGeom>
          <a:solidFill>
            <a:srgbClr val="FFFFFF"/>
          </a:solidFill>
          <a:ln w="12700">
            <a:solidFill>
              <a:srgbClr val="C9D3DA"/>
            </a:solidFill>
            <a:prstDash val="solid"/>
          </a:ln>
        </p:spPr>
      </p:sp>
      <p:sp>
        <p:nvSpPr>
          <p:cNvPr id="15" name="Text 13"/>
          <p:cNvSpPr/>
          <p:nvPr/>
        </p:nvSpPr>
        <p:spPr>
          <a:xfrm>
            <a:off x="3277210" y="2185416"/>
            <a:ext cx="8262518"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Fibre long enough to make her chew. Do not chop everything fine.</a:t>
            </a:r>
            <a:endParaRPr lang="en-US" sz="1200" dirty="0"/>
          </a:p>
        </p:txBody>
      </p:sp>
      <p:sp>
        <p:nvSpPr>
          <p:cNvPr id="16" name="Shape 14"/>
          <p:cNvSpPr/>
          <p:nvPr/>
        </p:nvSpPr>
        <p:spPr>
          <a:xfrm>
            <a:off x="548640" y="2660904"/>
            <a:ext cx="2655418" cy="475488"/>
          </a:xfrm>
          <a:prstGeom prst="roundRect">
            <a:avLst>
              <a:gd name="adj" fmla="val 3846"/>
            </a:avLst>
          </a:prstGeom>
          <a:solidFill>
            <a:srgbClr val="F2F5F7"/>
          </a:solidFill>
          <a:ln w="12700">
            <a:solidFill>
              <a:srgbClr val="C9D3DA"/>
            </a:solidFill>
            <a:prstDash val="solid"/>
          </a:ln>
        </p:spPr>
      </p:sp>
      <p:sp>
        <p:nvSpPr>
          <p:cNvPr id="17" name="Text 15"/>
          <p:cNvSpPr/>
          <p:nvPr/>
        </p:nvSpPr>
        <p:spPr>
          <a:xfrm>
            <a:off x="621792" y="2660904"/>
            <a:ext cx="2509114" cy="475488"/>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Split the grain</a:t>
            </a:r>
            <a:endParaRPr lang="en-US" sz="1200" dirty="0"/>
          </a:p>
        </p:txBody>
      </p:sp>
      <p:sp>
        <p:nvSpPr>
          <p:cNvPr id="18" name="Shape 16"/>
          <p:cNvSpPr/>
          <p:nvPr/>
        </p:nvSpPr>
        <p:spPr>
          <a:xfrm>
            <a:off x="3204058" y="2660904"/>
            <a:ext cx="8408822" cy="475488"/>
          </a:xfrm>
          <a:prstGeom prst="roundRect">
            <a:avLst>
              <a:gd name="adj" fmla="val 3846"/>
            </a:avLst>
          </a:prstGeom>
          <a:solidFill>
            <a:srgbClr val="F2F5F7"/>
          </a:solidFill>
          <a:ln w="12700">
            <a:solidFill>
              <a:srgbClr val="C9D3DA"/>
            </a:solidFill>
            <a:prstDash val="solid"/>
          </a:ln>
        </p:spPr>
      </p:sp>
      <p:sp>
        <p:nvSpPr>
          <p:cNvPr id="19" name="Text 17"/>
          <p:cNvSpPr/>
          <p:nvPr/>
        </p:nvSpPr>
        <p:spPr>
          <a:xfrm>
            <a:off x="3277210" y="2660904"/>
            <a:ext cx="8262518"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Two or three small meals, never one big meal. This is FREE.</a:t>
            </a:r>
            <a:endParaRPr lang="en-US" sz="1200" dirty="0"/>
          </a:p>
        </p:txBody>
      </p:sp>
      <p:sp>
        <p:nvSpPr>
          <p:cNvPr id="20" name="Shape 18"/>
          <p:cNvSpPr/>
          <p:nvPr/>
        </p:nvSpPr>
        <p:spPr>
          <a:xfrm>
            <a:off x="548640" y="3136392"/>
            <a:ext cx="2655418" cy="475488"/>
          </a:xfrm>
          <a:prstGeom prst="roundRect">
            <a:avLst>
              <a:gd name="adj" fmla="val 3846"/>
            </a:avLst>
          </a:prstGeom>
          <a:solidFill>
            <a:srgbClr val="FFFFFF"/>
          </a:solidFill>
          <a:ln w="12700">
            <a:solidFill>
              <a:srgbClr val="C9D3DA"/>
            </a:solidFill>
            <a:prstDash val="solid"/>
          </a:ln>
        </p:spPr>
      </p:sp>
      <p:sp>
        <p:nvSpPr>
          <p:cNvPr id="21" name="Text 19"/>
          <p:cNvSpPr/>
          <p:nvPr/>
        </p:nvSpPr>
        <p:spPr>
          <a:xfrm>
            <a:off x="621792" y="3136392"/>
            <a:ext cx="2509114" cy="475488"/>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Mix, do not separate</a:t>
            </a:r>
            <a:endParaRPr lang="en-US" sz="1200" dirty="0"/>
          </a:p>
        </p:txBody>
      </p:sp>
      <p:sp>
        <p:nvSpPr>
          <p:cNvPr id="22" name="Shape 20"/>
          <p:cNvSpPr/>
          <p:nvPr/>
        </p:nvSpPr>
        <p:spPr>
          <a:xfrm>
            <a:off x="3204058" y="3136392"/>
            <a:ext cx="8408822" cy="475488"/>
          </a:xfrm>
          <a:prstGeom prst="roundRect">
            <a:avLst>
              <a:gd name="adj" fmla="val 3846"/>
            </a:avLst>
          </a:prstGeom>
          <a:solidFill>
            <a:srgbClr val="FFFFFF"/>
          </a:solidFill>
          <a:ln w="12700">
            <a:solidFill>
              <a:srgbClr val="C9D3DA"/>
            </a:solidFill>
            <a:prstDash val="solid"/>
          </a:ln>
        </p:spPr>
      </p:sp>
      <p:sp>
        <p:nvSpPr>
          <p:cNvPr id="23" name="Text 21"/>
          <p:cNvSpPr/>
          <p:nvPr/>
        </p:nvSpPr>
        <p:spPr>
          <a:xfrm>
            <a:off x="3277210" y="3136392"/>
            <a:ext cx="8262518"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If grain is fed alone she eats it all at once.</a:t>
            </a:r>
            <a:endParaRPr lang="en-US" sz="1200" dirty="0"/>
          </a:p>
        </p:txBody>
      </p:sp>
      <p:sp>
        <p:nvSpPr>
          <p:cNvPr id="24" name="Shape 22"/>
          <p:cNvSpPr/>
          <p:nvPr/>
        </p:nvSpPr>
        <p:spPr>
          <a:xfrm>
            <a:off x="548640" y="3611880"/>
            <a:ext cx="2655418" cy="475488"/>
          </a:xfrm>
          <a:prstGeom prst="roundRect">
            <a:avLst>
              <a:gd name="adj" fmla="val 3846"/>
            </a:avLst>
          </a:prstGeom>
          <a:solidFill>
            <a:srgbClr val="F2F5F7"/>
          </a:solidFill>
          <a:ln w="12700">
            <a:solidFill>
              <a:srgbClr val="C9D3DA"/>
            </a:solidFill>
            <a:prstDash val="solid"/>
          </a:ln>
        </p:spPr>
      </p:sp>
      <p:sp>
        <p:nvSpPr>
          <p:cNvPr id="25" name="Text 23"/>
          <p:cNvSpPr/>
          <p:nvPr/>
        </p:nvSpPr>
        <p:spPr>
          <a:xfrm>
            <a:off x="621792" y="3611880"/>
            <a:ext cx="2509114" cy="47548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Change slowly</a:t>
            </a:r>
            <a:endParaRPr lang="en-US" sz="1200" dirty="0"/>
          </a:p>
        </p:txBody>
      </p:sp>
      <p:sp>
        <p:nvSpPr>
          <p:cNvPr id="26" name="Shape 24"/>
          <p:cNvSpPr/>
          <p:nvPr/>
        </p:nvSpPr>
        <p:spPr>
          <a:xfrm>
            <a:off x="3204058" y="3611880"/>
            <a:ext cx="8408822" cy="475488"/>
          </a:xfrm>
          <a:prstGeom prst="roundRect">
            <a:avLst>
              <a:gd name="adj" fmla="val 3846"/>
            </a:avLst>
          </a:prstGeom>
          <a:solidFill>
            <a:srgbClr val="F2F5F7"/>
          </a:solidFill>
          <a:ln w="12700">
            <a:solidFill>
              <a:srgbClr val="C9D3DA"/>
            </a:solidFill>
            <a:prstDash val="solid"/>
          </a:ln>
        </p:spPr>
      </p:sp>
      <p:sp>
        <p:nvSpPr>
          <p:cNvPr id="27" name="Text 25"/>
          <p:cNvSpPr/>
          <p:nvPr/>
        </p:nvSpPr>
        <p:spPr>
          <a:xfrm>
            <a:off x="3277210" y="3611880"/>
            <a:ext cx="8262518"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Increase concentrate over 3–4 weeks, never in one day.</a:t>
            </a:r>
            <a:endParaRPr lang="en-US" sz="1200" dirty="0"/>
          </a:p>
        </p:txBody>
      </p:sp>
      <p:sp>
        <p:nvSpPr>
          <p:cNvPr id="28" name="Shape 26"/>
          <p:cNvSpPr/>
          <p:nvPr/>
        </p:nvSpPr>
        <p:spPr>
          <a:xfrm>
            <a:off x="548640" y="4087368"/>
            <a:ext cx="2655418" cy="475488"/>
          </a:xfrm>
          <a:prstGeom prst="roundRect">
            <a:avLst>
              <a:gd name="adj" fmla="val 3846"/>
            </a:avLst>
          </a:prstGeom>
          <a:solidFill>
            <a:srgbClr val="FFFFFF"/>
          </a:solidFill>
          <a:ln w="12700">
            <a:solidFill>
              <a:srgbClr val="C9D3DA"/>
            </a:solidFill>
            <a:prstDash val="solid"/>
          </a:ln>
        </p:spPr>
      </p:sp>
      <p:sp>
        <p:nvSpPr>
          <p:cNvPr id="29" name="Text 27"/>
          <p:cNvSpPr/>
          <p:nvPr/>
        </p:nvSpPr>
        <p:spPr>
          <a:xfrm>
            <a:off x="621792" y="4087368"/>
            <a:ext cx="2509114" cy="47548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Buffer</a:t>
            </a:r>
            <a:endParaRPr lang="en-US" sz="1200" dirty="0"/>
          </a:p>
        </p:txBody>
      </p:sp>
      <p:sp>
        <p:nvSpPr>
          <p:cNvPr id="30" name="Shape 28"/>
          <p:cNvSpPr/>
          <p:nvPr/>
        </p:nvSpPr>
        <p:spPr>
          <a:xfrm>
            <a:off x="3204058" y="4087368"/>
            <a:ext cx="8408822" cy="475488"/>
          </a:xfrm>
          <a:prstGeom prst="roundRect">
            <a:avLst>
              <a:gd name="adj" fmla="val 3846"/>
            </a:avLst>
          </a:prstGeom>
          <a:solidFill>
            <a:srgbClr val="FFFFFF"/>
          </a:solidFill>
          <a:ln w="12700">
            <a:solidFill>
              <a:srgbClr val="C9D3DA"/>
            </a:solidFill>
            <a:prstDash val="solid"/>
          </a:ln>
        </p:spPr>
      </p:sp>
      <p:sp>
        <p:nvSpPr>
          <p:cNvPr id="31" name="Text 29"/>
          <p:cNvSpPr/>
          <p:nvPr/>
        </p:nvSpPr>
        <p:spPr>
          <a:xfrm>
            <a:off x="3277210" y="4087368"/>
            <a:ext cx="8262518"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Sodium bicarbonate in the ration, where available.</a:t>
            </a:r>
            <a:endParaRPr lang="en-US" sz="1200" dirty="0"/>
          </a:p>
        </p:txBody>
      </p:sp>
      <p:sp>
        <p:nvSpPr>
          <p:cNvPr id="32" name="Shape 30"/>
          <p:cNvSpPr/>
          <p:nvPr/>
        </p:nvSpPr>
        <p:spPr>
          <a:xfrm>
            <a:off x="548640" y="4562856"/>
            <a:ext cx="2655418" cy="475488"/>
          </a:xfrm>
          <a:prstGeom prst="roundRect">
            <a:avLst>
              <a:gd name="adj" fmla="val 3846"/>
            </a:avLst>
          </a:prstGeom>
          <a:solidFill>
            <a:srgbClr val="F2F5F7"/>
          </a:solidFill>
          <a:ln w="12700">
            <a:solidFill>
              <a:srgbClr val="C9D3DA"/>
            </a:solidFill>
            <a:prstDash val="solid"/>
          </a:ln>
        </p:spPr>
      </p:sp>
      <p:sp>
        <p:nvSpPr>
          <p:cNvPr id="33" name="Text 31"/>
          <p:cNvSpPr/>
          <p:nvPr/>
        </p:nvSpPr>
        <p:spPr>
          <a:xfrm>
            <a:off x="621792" y="4562856"/>
            <a:ext cx="2509114" cy="475488"/>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Water</a:t>
            </a:r>
            <a:endParaRPr lang="en-US" sz="1200" dirty="0"/>
          </a:p>
        </p:txBody>
      </p:sp>
      <p:sp>
        <p:nvSpPr>
          <p:cNvPr id="34" name="Shape 32"/>
          <p:cNvSpPr/>
          <p:nvPr/>
        </p:nvSpPr>
        <p:spPr>
          <a:xfrm>
            <a:off x="3204058" y="4562856"/>
            <a:ext cx="8408822" cy="475488"/>
          </a:xfrm>
          <a:prstGeom prst="roundRect">
            <a:avLst>
              <a:gd name="adj" fmla="val 3846"/>
            </a:avLst>
          </a:prstGeom>
          <a:solidFill>
            <a:srgbClr val="F2F5F7"/>
          </a:solidFill>
          <a:ln w="12700">
            <a:solidFill>
              <a:srgbClr val="C9D3DA"/>
            </a:solidFill>
            <a:prstDash val="solid"/>
          </a:ln>
        </p:spPr>
      </p:sp>
      <p:sp>
        <p:nvSpPr>
          <p:cNvPr id="35" name="Text 33"/>
          <p:cNvSpPr/>
          <p:nvPr/>
        </p:nvSpPr>
        <p:spPr>
          <a:xfrm>
            <a:off x="3277210" y="4562856"/>
            <a:ext cx="8262518" cy="475488"/>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Unlimited and clean. Dehydration makes the stomach more acid.</a:t>
            </a:r>
            <a:endParaRPr lang="en-US" sz="1200" dirty="0"/>
          </a:p>
        </p:txBody>
      </p:sp>
      <p:sp>
        <p:nvSpPr>
          <p:cNvPr id="36" name="Shape 34"/>
          <p:cNvSpPr/>
          <p:nvPr/>
        </p:nvSpPr>
        <p:spPr>
          <a:xfrm>
            <a:off x="548640" y="4636008"/>
            <a:ext cx="11064240" cy="566928"/>
          </a:xfrm>
          <a:prstGeom prst="roundRect">
            <a:avLst>
              <a:gd name="adj" fmla="val 11290"/>
            </a:avLst>
          </a:prstGeom>
          <a:solidFill>
            <a:srgbClr val="0E2841"/>
          </a:solidFill>
          <a:ln w="12700">
            <a:solidFill>
              <a:srgbClr val="0E2841"/>
            </a:solidFill>
            <a:prstDash val="solid"/>
          </a:ln>
        </p:spPr>
      </p:sp>
      <p:sp>
        <p:nvSpPr>
          <p:cNvPr id="37" name="Text 35"/>
          <p:cNvSpPr/>
          <p:nvPr/>
        </p:nvSpPr>
        <p:spPr>
          <a:xfrm>
            <a:off x="548640" y="4636008"/>
            <a:ext cx="11064240"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The treatment is the feed trough, not the medicine box.</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Grain overload — the emergency</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She broke into the feed store, or somebody doubled the concentrate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Signs come 12 to 48 hours later, not immediately. Treat as an emergency — call the vet.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46</a:t>
            </a:r>
            <a:endParaRPr lang="en-US" sz="900" dirty="0"/>
          </a:p>
        </p:txBody>
      </p:sp>
      <p:sp>
        <p:nvSpPr>
          <p:cNvPr id="8" name="Shape 6"/>
          <p:cNvSpPr/>
          <p:nvPr/>
        </p:nvSpPr>
        <p:spPr>
          <a:xfrm>
            <a:off x="548640" y="1709928"/>
            <a:ext cx="2434133" cy="502920"/>
          </a:xfrm>
          <a:prstGeom prst="roundRect">
            <a:avLst>
              <a:gd name="adj" fmla="val 5455"/>
            </a:avLst>
          </a:prstGeom>
          <a:solidFill>
            <a:srgbClr val="0E2841"/>
          </a:solidFill>
          <a:ln w="12700">
            <a:solidFill>
              <a:srgbClr val="0E2841"/>
            </a:solidFill>
            <a:prstDash val="solid"/>
          </a:ln>
        </p:spPr>
      </p:sp>
      <p:sp>
        <p:nvSpPr>
          <p:cNvPr id="9" name="Text 7"/>
          <p:cNvSpPr/>
          <p:nvPr/>
        </p:nvSpPr>
        <p:spPr>
          <a:xfrm>
            <a:off x="621792" y="1709928"/>
            <a:ext cx="2287829" cy="502920"/>
          </a:xfrm>
          <a:prstGeom prst="rect">
            <a:avLst/>
          </a:prstGeom>
          <a:noFill/>
          <a:ln/>
        </p:spPr>
        <p:txBody>
          <a:bodyPr wrap="square" lIns="0" tIns="0" rIns="0" bIns="0" rtlCol="0" anchor="ctr"/>
          <a:lstStyle/>
          <a:p>
            <a:pPr algn="l" indent="0" marL="0">
              <a:buNone/>
            </a:pPr>
            <a:endParaRPr lang="en-US" sz="1200" dirty="0"/>
          </a:p>
        </p:txBody>
      </p:sp>
      <p:sp>
        <p:nvSpPr>
          <p:cNvPr id="10" name="Shape 8"/>
          <p:cNvSpPr/>
          <p:nvPr/>
        </p:nvSpPr>
        <p:spPr>
          <a:xfrm>
            <a:off x="2982773" y="1709928"/>
            <a:ext cx="8630107" cy="502920"/>
          </a:xfrm>
          <a:prstGeom prst="roundRect">
            <a:avLst>
              <a:gd name="adj" fmla="val 5455"/>
            </a:avLst>
          </a:prstGeom>
          <a:solidFill>
            <a:srgbClr val="0E2841"/>
          </a:solidFill>
          <a:ln w="12700">
            <a:solidFill>
              <a:srgbClr val="0E2841"/>
            </a:solidFill>
            <a:prstDash val="solid"/>
          </a:ln>
        </p:spPr>
      </p:sp>
      <p:sp>
        <p:nvSpPr>
          <p:cNvPr id="11" name="Text 9"/>
          <p:cNvSpPr/>
          <p:nvPr/>
        </p:nvSpPr>
        <p:spPr>
          <a:xfrm>
            <a:off x="3055925" y="1709928"/>
            <a:ext cx="8483803" cy="502920"/>
          </a:xfrm>
          <a:prstGeom prst="rect">
            <a:avLst/>
          </a:prstGeom>
          <a:noFill/>
          <a:ln/>
        </p:spPr>
        <p:txBody>
          <a:bodyPr wrap="square" lIns="0" tIns="0" rIns="0" bIns="0" rtlCol="0" anchor="ctr"/>
          <a:lstStyle/>
          <a:p>
            <a:pPr algn="l" indent="0" marL="0">
              <a:buNone/>
            </a:pPr>
            <a:endParaRPr lang="en-US" sz="1200" dirty="0"/>
          </a:p>
        </p:txBody>
      </p:sp>
      <p:sp>
        <p:nvSpPr>
          <p:cNvPr id="12" name="Shape 10"/>
          <p:cNvSpPr/>
          <p:nvPr/>
        </p:nvSpPr>
        <p:spPr>
          <a:xfrm>
            <a:off x="548640" y="2212848"/>
            <a:ext cx="2434133" cy="502920"/>
          </a:xfrm>
          <a:prstGeom prst="roundRect">
            <a:avLst>
              <a:gd name="adj" fmla="val 3636"/>
            </a:avLst>
          </a:prstGeom>
          <a:solidFill>
            <a:srgbClr val="FFFFFF"/>
          </a:solidFill>
          <a:ln w="12700">
            <a:solidFill>
              <a:srgbClr val="C9D3DA"/>
            </a:solidFill>
            <a:prstDash val="solid"/>
          </a:ln>
        </p:spPr>
      </p:sp>
      <p:sp>
        <p:nvSpPr>
          <p:cNvPr id="13" name="Text 11"/>
          <p:cNvSpPr/>
          <p:nvPr/>
        </p:nvSpPr>
        <p:spPr>
          <a:xfrm>
            <a:off x="621792" y="2212848"/>
            <a:ext cx="2287829" cy="50292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12–48 h later</a:t>
            </a:r>
            <a:endParaRPr lang="en-US" sz="1200" dirty="0"/>
          </a:p>
        </p:txBody>
      </p:sp>
      <p:sp>
        <p:nvSpPr>
          <p:cNvPr id="14" name="Shape 12"/>
          <p:cNvSpPr/>
          <p:nvPr/>
        </p:nvSpPr>
        <p:spPr>
          <a:xfrm>
            <a:off x="2982773" y="2212848"/>
            <a:ext cx="8630107" cy="502920"/>
          </a:xfrm>
          <a:prstGeom prst="roundRect">
            <a:avLst>
              <a:gd name="adj" fmla="val 3636"/>
            </a:avLst>
          </a:prstGeom>
          <a:solidFill>
            <a:srgbClr val="FFFFFF"/>
          </a:solidFill>
          <a:ln w="12700">
            <a:solidFill>
              <a:srgbClr val="C9D3DA"/>
            </a:solidFill>
            <a:prstDash val="solid"/>
          </a:ln>
        </p:spPr>
      </p:sp>
      <p:sp>
        <p:nvSpPr>
          <p:cNvPr id="15" name="Text 13"/>
          <p:cNvSpPr/>
          <p:nvPr/>
        </p:nvSpPr>
        <p:spPr>
          <a:xfrm>
            <a:off x="3055925" y="2212848"/>
            <a:ext cx="8483803"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Off feed · rumen stops · doughy swollen left side</a:t>
            </a:r>
            <a:endParaRPr lang="en-US" sz="1200" dirty="0"/>
          </a:p>
        </p:txBody>
      </p:sp>
      <p:sp>
        <p:nvSpPr>
          <p:cNvPr id="16" name="Shape 14"/>
          <p:cNvSpPr/>
          <p:nvPr/>
        </p:nvSpPr>
        <p:spPr>
          <a:xfrm>
            <a:off x="548640" y="2715768"/>
            <a:ext cx="2434133" cy="502920"/>
          </a:xfrm>
          <a:prstGeom prst="roundRect">
            <a:avLst>
              <a:gd name="adj" fmla="val 3636"/>
            </a:avLst>
          </a:prstGeom>
          <a:solidFill>
            <a:srgbClr val="F2F5F7"/>
          </a:solidFill>
          <a:ln w="12700">
            <a:solidFill>
              <a:srgbClr val="C9D3DA"/>
            </a:solidFill>
            <a:prstDash val="solid"/>
          </a:ln>
        </p:spPr>
      </p:sp>
      <p:sp>
        <p:nvSpPr>
          <p:cNvPr id="17" name="Text 15"/>
          <p:cNvSpPr/>
          <p:nvPr/>
        </p:nvSpPr>
        <p:spPr>
          <a:xfrm>
            <a:off x="621792" y="2715768"/>
            <a:ext cx="2287829" cy="50292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Diarrhoea</a:t>
            </a:r>
            <a:endParaRPr lang="en-US" sz="1200" dirty="0"/>
          </a:p>
        </p:txBody>
      </p:sp>
      <p:sp>
        <p:nvSpPr>
          <p:cNvPr id="18" name="Shape 16"/>
          <p:cNvSpPr/>
          <p:nvPr/>
        </p:nvSpPr>
        <p:spPr>
          <a:xfrm>
            <a:off x="2982773" y="2715768"/>
            <a:ext cx="8630107" cy="502920"/>
          </a:xfrm>
          <a:prstGeom prst="roundRect">
            <a:avLst>
              <a:gd name="adj" fmla="val 3636"/>
            </a:avLst>
          </a:prstGeom>
          <a:solidFill>
            <a:srgbClr val="F2F5F7"/>
          </a:solidFill>
          <a:ln w="12700">
            <a:solidFill>
              <a:srgbClr val="C9D3DA"/>
            </a:solidFill>
            <a:prstDash val="solid"/>
          </a:ln>
        </p:spPr>
      </p:sp>
      <p:sp>
        <p:nvSpPr>
          <p:cNvPr id="19" name="Text 17"/>
          <p:cNvSpPr/>
          <p:nvPr/>
        </p:nvSpPr>
        <p:spPr>
          <a:xfrm>
            <a:off x="3055925" y="2715768"/>
            <a:ext cx="8483803"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Grey, watery, sour smell</a:t>
            </a:r>
            <a:endParaRPr lang="en-US" sz="1200" dirty="0"/>
          </a:p>
        </p:txBody>
      </p:sp>
      <p:sp>
        <p:nvSpPr>
          <p:cNvPr id="20" name="Shape 18"/>
          <p:cNvSpPr/>
          <p:nvPr/>
        </p:nvSpPr>
        <p:spPr>
          <a:xfrm>
            <a:off x="548640" y="3218688"/>
            <a:ext cx="2434133" cy="502920"/>
          </a:xfrm>
          <a:prstGeom prst="roundRect">
            <a:avLst>
              <a:gd name="adj" fmla="val 3636"/>
            </a:avLst>
          </a:prstGeom>
          <a:solidFill>
            <a:srgbClr val="FFFFFF"/>
          </a:solidFill>
          <a:ln w="12700">
            <a:solidFill>
              <a:srgbClr val="C9D3DA"/>
            </a:solidFill>
            <a:prstDash val="solid"/>
          </a:ln>
        </p:spPr>
      </p:sp>
      <p:sp>
        <p:nvSpPr>
          <p:cNvPr id="21" name="Text 19"/>
          <p:cNvSpPr/>
          <p:nvPr/>
        </p:nvSpPr>
        <p:spPr>
          <a:xfrm>
            <a:off x="621792" y="3218688"/>
            <a:ext cx="2287829" cy="50292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Whole body</a:t>
            </a:r>
            <a:endParaRPr lang="en-US" sz="1200" dirty="0"/>
          </a:p>
        </p:txBody>
      </p:sp>
      <p:sp>
        <p:nvSpPr>
          <p:cNvPr id="22" name="Shape 20"/>
          <p:cNvSpPr/>
          <p:nvPr/>
        </p:nvSpPr>
        <p:spPr>
          <a:xfrm>
            <a:off x="2982773" y="3218688"/>
            <a:ext cx="8630107" cy="502920"/>
          </a:xfrm>
          <a:prstGeom prst="roundRect">
            <a:avLst>
              <a:gd name="adj" fmla="val 3636"/>
            </a:avLst>
          </a:prstGeom>
          <a:solidFill>
            <a:srgbClr val="FFFFFF"/>
          </a:solidFill>
          <a:ln w="12700">
            <a:solidFill>
              <a:srgbClr val="C9D3DA"/>
            </a:solidFill>
            <a:prstDash val="solid"/>
          </a:ln>
        </p:spPr>
      </p:sp>
      <p:sp>
        <p:nvSpPr>
          <p:cNvPr id="23" name="Text 21"/>
          <p:cNvSpPr/>
          <p:nvPr/>
        </p:nvSpPr>
        <p:spPr>
          <a:xfrm>
            <a:off x="3055925" y="3218688"/>
            <a:ext cx="8483803"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Dehydrated · staggering · fast weak pulse · may go down</a:t>
            </a:r>
            <a:endParaRPr lang="en-US" sz="1200" dirty="0"/>
          </a:p>
        </p:txBody>
      </p:sp>
      <p:sp>
        <p:nvSpPr>
          <p:cNvPr id="24" name="Shape 22"/>
          <p:cNvSpPr/>
          <p:nvPr/>
        </p:nvSpPr>
        <p:spPr>
          <a:xfrm>
            <a:off x="548640" y="3721608"/>
            <a:ext cx="2434133" cy="502920"/>
          </a:xfrm>
          <a:prstGeom prst="roundRect">
            <a:avLst>
              <a:gd name="adj" fmla="val 3636"/>
            </a:avLst>
          </a:prstGeom>
          <a:solidFill>
            <a:srgbClr val="F2F5F7"/>
          </a:solidFill>
          <a:ln w="12700">
            <a:solidFill>
              <a:srgbClr val="C9D3DA"/>
            </a:solidFill>
            <a:prstDash val="solid"/>
          </a:ln>
        </p:spPr>
      </p:sp>
      <p:sp>
        <p:nvSpPr>
          <p:cNvPr id="25" name="Text 23"/>
          <p:cNvSpPr/>
          <p:nvPr/>
        </p:nvSpPr>
        <p:spPr>
          <a:xfrm>
            <a:off x="621792" y="3721608"/>
            <a:ext cx="2287829" cy="502920"/>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Field test</a:t>
            </a:r>
            <a:endParaRPr lang="en-US" sz="1200" dirty="0"/>
          </a:p>
        </p:txBody>
      </p:sp>
      <p:sp>
        <p:nvSpPr>
          <p:cNvPr id="26" name="Shape 24"/>
          <p:cNvSpPr/>
          <p:nvPr/>
        </p:nvSpPr>
        <p:spPr>
          <a:xfrm>
            <a:off x="2982773" y="3721608"/>
            <a:ext cx="8630107" cy="502920"/>
          </a:xfrm>
          <a:prstGeom prst="roundRect">
            <a:avLst>
              <a:gd name="adj" fmla="val 3636"/>
            </a:avLst>
          </a:prstGeom>
          <a:solidFill>
            <a:srgbClr val="F2F5F7"/>
          </a:solidFill>
          <a:ln w="12700">
            <a:solidFill>
              <a:srgbClr val="C9D3DA"/>
            </a:solidFill>
            <a:prstDash val="solid"/>
          </a:ln>
        </p:spPr>
      </p:sp>
      <p:sp>
        <p:nvSpPr>
          <p:cNvPr id="27" name="Text 25"/>
          <p:cNvSpPr/>
          <p:nvPr/>
        </p:nvSpPr>
        <p:spPr>
          <a:xfrm>
            <a:off x="3055925" y="3721608"/>
            <a:ext cx="8483803"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Rumen fluid under a microscope — the protozoa are all DEAD</a:t>
            </a:r>
            <a:endParaRPr lang="en-US" sz="1200" dirty="0"/>
          </a:p>
        </p:txBody>
      </p:sp>
      <p:sp>
        <p:nvSpPr>
          <p:cNvPr id="28" name="Shape 26"/>
          <p:cNvSpPr/>
          <p:nvPr/>
        </p:nvSpPr>
        <p:spPr>
          <a:xfrm>
            <a:off x="548640" y="4224528"/>
            <a:ext cx="2434133" cy="502920"/>
          </a:xfrm>
          <a:prstGeom prst="roundRect">
            <a:avLst>
              <a:gd name="adj" fmla="val 3636"/>
            </a:avLst>
          </a:prstGeom>
          <a:solidFill>
            <a:srgbClr val="FFFFFF"/>
          </a:solidFill>
          <a:ln w="12700">
            <a:solidFill>
              <a:srgbClr val="C9D3DA"/>
            </a:solidFill>
            <a:prstDash val="solid"/>
          </a:ln>
        </p:spPr>
      </p:sp>
      <p:sp>
        <p:nvSpPr>
          <p:cNvPr id="29" name="Text 27"/>
          <p:cNvSpPr/>
          <p:nvPr/>
        </p:nvSpPr>
        <p:spPr>
          <a:xfrm>
            <a:off x="621792" y="4224528"/>
            <a:ext cx="2287829" cy="502920"/>
          </a:xfrm>
          <a:prstGeom prst="rect">
            <a:avLst/>
          </a:prstGeom>
          <a:noFill/>
          <a:ln/>
        </p:spPr>
        <p:txBody>
          <a:bodyPr wrap="square" lIns="0" tIns="0" rIns="0" bIns="0" rtlCol="0" anchor="ctr"/>
          <a:lstStyle/>
          <a:p>
            <a:pPr algn="l" indent="0" marL="0">
              <a:buNone/>
            </a:pPr>
            <a:r>
              <a:rPr lang="en-US" sz="1200" b="1" dirty="0">
                <a:solidFill>
                  <a:srgbClr val="A02B93"/>
                </a:solidFill>
                <a:latin typeface="Malgun Gothic" pitchFamily="34" charset="0"/>
                <a:ea typeface="Malgun Gothic" pitchFamily="34" charset="-122"/>
                <a:cs typeface="Malgun Gothic" pitchFamily="34" charset="-120"/>
              </a:rPr>
              <a:t>Treatment (VET)</a:t>
            </a:r>
            <a:endParaRPr lang="en-US" sz="1200" dirty="0"/>
          </a:p>
        </p:txBody>
      </p:sp>
      <p:sp>
        <p:nvSpPr>
          <p:cNvPr id="30" name="Shape 28"/>
          <p:cNvSpPr/>
          <p:nvPr/>
        </p:nvSpPr>
        <p:spPr>
          <a:xfrm>
            <a:off x="2982773" y="4224528"/>
            <a:ext cx="8630107" cy="502920"/>
          </a:xfrm>
          <a:prstGeom prst="roundRect">
            <a:avLst>
              <a:gd name="adj" fmla="val 3636"/>
            </a:avLst>
          </a:prstGeom>
          <a:solidFill>
            <a:srgbClr val="FFFFFF"/>
          </a:solidFill>
          <a:ln w="12700">
            <a:solidFill>
              <a:srgbClr val="C9D3DA"/>
            </a:solidFill>
            <a:prstDash val="solid"/>
          </a:ln>
        </p:spPr>
      </p:sp>
      <p:sp>
        <p:nvSpPr>
          <p:cNvPr id="31" name="Text 29"/>
          <p:cNvSpPr/>
          <p:nvPr/>
        </p:nvSpPr>
        <p:spPr>
          <a:xfrm>
            <a:off x="3055925" y="4224528"/>
            <a:ext cx="8483803"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Alkalinising agent by mouth · IV fluids · thiamine · severe: wash out or surgery</a:t>
            </a:r>
            <a:endParaRPr lang="en-US" sz="1200" dirty="0"/>
          </a:p>
        </p:txBody>
      </p:sp>
      <p:sp>
        <p:nvSpPr>
          <p:cNvPr id="32" name="Shape 30"/>
          <p:cNvSpPr/>
          <p:nvPr/>
        </p:nvSpPr>
        <p:spPr>
          <a:xfrm>
            <a:off x="548640" y="4727448"/>
            <a:ext cx="2434133" cy="502920"/>
          </a:xfrm>
          <a:prstGeom prst="roundRect">
            <a:avLst>
              <a:gd name="adj" fmla="val 3636"/>
            </a:avLst>
          </a:prstGeom>
          <a:solidFill>
            <a:srgbClr val="F2F5F7"/>
          </a:solidFill>
          <a:ln w="12700">
            <a:solidFill>
              <a:srgbClr val="C9D3DA"/>
            </a:solidFill>
            <a:prstDash val="solid"/>
          </a:ln>
        </p:spPr>
      </p:sp>
      <p:sp>
        <p:nvSpPr>
          <p:cNvPr id="33" name="Text 31"/>
          <p:cNvSpPr/>
          <p:nvPr/>
        </p:nvSpPr>
        <p:spPr>
          <a:xfrm>
            <a:off x="621792" y="4727448"/>
            <a:ext cx="2287829" cy="502920"/>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Prevention</a:t>
            </a:r>
            <a:endParaRPr lang="en-US" sz="1200" dirty="0"/>
          </a:p>
        </p:txBody>
      </p:sp>
      <p:sp>
        <p:nvSpPr>
          <p:cNvPr id="34" name="Shape 32"/>
          <p:cNvSpPr/>
          <p:nvPr/>
        </p:nvSpPr>
        <p:spPr>
          <a:xfrm>
            <a:off x="2982773" y="4727448"/>
            <a:ext cx="8630107" cy="502920"/>
          </a:xfrm>
          <a:prstGeom prst="roundRect">
            <a:avLst>
              <a:gd name="adj" fmla="val 3636"/>
            </a:avLst>
          </a:prstGeom>
          <a:solidFill>
            <a:srgbClr val="F2F5F7"/>
          </a:solidFill>
          <a:ln w="12700">
            <a:solidFill>
              <a:srgbClr val="C9D3DA"/>
            </a:solidFill>
            <a:prstDash val="solid"/>
          </a:ln>
        </p:spPr>
      </p:sp>
      <p:sp>
        <p:nvSpPr>
          <p:cNvPr id="35" name="Text 33"/>
          <p:cNvSpPr/>
          <p:nvPr/>
        </p:nvSpPr>
        <p:spPr>
          <a:xfrm>
            <a:off x="3055925" y="4727448"/>
            <a:ext cx="8483803" cy="50292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LOCK THE FEED STORE. Never a sudden increase in grain.</a:t>
            </a:r>
            <a:endParaRPr lang="en-US" sz="1200" dirty="0"/>
          </a:p>
        </p:txBody>
      </p:sp>
      <p:sp>
        <p:nvSpPr>
          <p:cNvPr id="36" name="Shape 34"/>
          <p:cNvSpPr/>
          <p:nvPr/>
        </p:nvSpPr>
        <p:spPr>
          <a:xfrm>
            <a:off x="548640" y="4727448"/>
            <a:ext cx="11064240" cy="502920"/>
          </a:xfrm>
          <a:prstGeom prst="roundRect">
            <a:avLst>
              <a:gd name="adj" fmla="val 10909"/>
            </a:avLst>
          </a:prstGeom>
          <a:solidFill>
            <a:srgbClr val="FBEDE2"/>
          </a:solidFill>
          <a:ln w="12700">
            <a:solidFill>
              <a:srgbClr val="E97132"/>
            </a:solidFill>
            <a:prstDash val="solid"/>
          </a:ln>
        </p:spPr>
      </p:sp>
      <p:sp>
        <p:nvSpPr>
          <p:cNvPr id="37" name="Text 35"/>
          <p:cNvSpPr/>
          <p:nvPr/>
        </p:nvSpPr>
        <p:spPr>
          <a:xfrm>
            <a:off x="548640" y="4727448"/>
            <a:ext cx="11064240" cy="502920"/>
          </a:xfrm>
          <a:prstGeom prst="rect">
            <a:avLst/>
          </a:prstGeom>
          <a:noFill/>
          <a:ln/>
        </p:spPr>
        <p:txBody>
          <a:bodyPr wrap="square" lIns="0" tIns="0" rIns="0" bIns="0" rtlCol="0" anchor="ctr"/>
          <a:lstStyle/>
          <a:p>
            <a:pPr algn="ctr" indent="0" marL="0">
              <a:buNone/>
            </a:pPr>
            <a:r>
              <a:rPr lang="en-US" sz="1350" b="1" dirty="0">
                <a:solidFill>
                  <a:srgbClr val="0E2841"/>
                </a:solidFill>
                <a:latin typeface="Malgun Gothic" pitchFamily="34" charset="0"/>
                <a:ea typeface="Malgun Gothic" pitchFamily="34" charset="-122"/>
                <a:cs typeface="Malgun Gothic" pitchFamily="34" charset="-120"/>
              </a:rPr>
              <a:t>Thiamine: acidosis destroys it, and without it the cow can go blind. Do not forget it.</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Bloat — pass a tube first</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tube both tells you which kind it is and treats one of them</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Gas comes out → free-gas bloat, you just saved her. Nothing comes out → frothy, you need an anti-foam.</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47</a:t>
            </a:r>
            <a:endParaRPr lang="en-US" sz="900" dirty="0"/>
          </a:p>
        </p:txBody>
      </p:sp>
      <p:sp>
        <p:nvSpPr>
          <p:cNvPr id="8" name="Shape 6"/>
          <p:cNvSpPr/>
          <p:nvPr/>
        </p:nvSpPr>
        <p:spPr>
          <a:xfrm>
            <a:off x="548640" y="1755648"/>
            <a:ext cx="5394960" cy="2148840"/>
          </a:xfrm>
          <a:prstGeom prst="roundRect">
            <a:avLst>
              <a:gd name="adj" fmla="val 2979"/>
            </a:avLst>
          </a:prstGeom>
          <a:solidFill>
            <a:srgbClr val="FFFFFF"/>
          </a:solidFill>
          <a:ln w="12700">
            <a:solidFill>
              <a:srgbClr val="E97132"/>
            </a:solidFill>
            <a:prstDash val="solid"/>
          </a:ln>
        </p:spPr>
      </p:sp>
      <p:sp>
        <p:nvSpPr>
          <p:cNvPr id="9" name="Shape 7"/>
          <p:cNvSpPr/>
          <p:nvPr/>
        </p:nvSpPr>
        <p:spPr>
          <a:xfrm>
            <a:off x="548640" y="1755648"/>
            <a:ext cx="5394960" cy="402336"/>
          </a:xfrm>
          <a:prstGeom prst="roundRect">
            <a:avLst>
              <a:gd name="adj" fmla="val 15909"/>
            </a:avLst>
          </a:prstGeom>
          <a:solidFill>
            <a:srgbClr val="E97132"/>
          </a:solidFill>
          <a:ln w="12700">
            <a:solidFill>
              <a:srgbClr val="E97132"/>
            </a:solidFill>
            <a:prstDash val="solid"/>
          </a:ln>
        </p:spPr>
      </p:sp>
      <p:sp>
        <p:nvSpPr>
          <p:cNvPr id="10" name="Text 8"/>
          <p:cNvSpPr/>
          <p:nvPr/>
        </p:nvSpPr>
        <p:spPr>
          <a:xfrm>
            <a:off x="548640" y="17556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FROTHY BLOAT</a:t>
            </a:r>
            <a:endParaRPr lang="en-US" sz="1300" dirty="0"/>
          </a:p>
        </p:txBody>
      </p:sp>
      <p:sp>
        <p:nvSpPr>
          <p:cNvPr id="11" name="Text 9"/>
          <p:cNvSpPr/>
          <p:nvPr/>
        </p:nvSpPr>
        <p:spPr>
          <a:xfrm>
            <a:off x="694944" y="2267712"/>
            <a:ext cx="5102352" cy="1508760"/>
          </a:xfrm>
          <a:prstGeom prst="rect">
            <a:avLst/>
          </a:prstGeom>
          <a:noFill/>
          <a:ln/>
        </p:spPr>
        <p:txBody>
          <a:bodyPr wrap="square" lIns="0" tIns="0" rIns="0" bIns="0" rtlCol="0" anchor="t"/>
          <a:lstStyle/>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Cause: lush legume, finely ground grain</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Gas trapped in stable foam</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TUBE: nothing comes out</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TREAT: anti-foaming agent down the tube</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Walk her</a:t>
            </a:r>
            <a:endParaRPr lang="en-US" sz="1250" dirty="0"/>
          </a:p>
        </p:txBody>
      </p:sp>
      <p:sp>
        <p:nvSpPr>
          <p:cNvPr id="12" name="Shape 10"/>
          <p:cNvSpPr/>
          <p:nvPr/>
        </p:nvSpPr>
        <p:spPr>
          <a:xfrm>
            <a:off x="6217920" y="1755648"/>
            <a:ext cx="5394960" cy="2148840"/>
          </a:xfrm>
          <a:prstGeom prst="roundRect">
            <a:avLst>
              <a:gd name="adj" fmla="val 2979"/>
            </a:avLst>
          </a:prstGeom>
          <a:solidFill>
            <a:srgbClr val="FFFFFF"/>
          </a:solidFill>
          <a:ln w="12700">
            <a:solidFill>
              <a:srgbClr val="156082"/>
            </a:solidFill>
            <a:prstDash val="solid"/>
          </a:ln>
        </p:spPr>
      </p:sp>
      <p:sp>
        <p:nvSpPr>
          <p:cNvPr id="13" name="Shape 11"/>
          <p:cNvSpPr/>
          <p:nvPr/>
        </p:nvSpPr>
        <p:spPr>
          <a:xfrm>
            <a:off x="6217920" y="1755648"/>
            <a:ext cx="5394960" cy="402336"/>
          </a:xfrm>
          <a:prstGeom prst="roundRect">
            <a:avLst>
              <a:gd name="adj" fmla="val 15909"/>
            </a:avLst>
          </a:prstGeom>
          <a:solidFill>
            <a:srgbClr val="156082"/>
          </a:solidFill>
          <a:ln w="12700">
            <a:solidFill>
              <a:srgbClr val="156082"/>
            </a:solidFill>
            <a:prstDash val="solid"/>
          </a:ln>
        </p:spPr>
      </p:sp>
      <p:sp>
        <p:nvSpPr>
          <p:cNvPr id="14" name="Text 12"/>
          <p:cNvSpPr/>
          <p:nvPr/>
        </p:nvSpPr>
        <p:spPr>
          <a:xfrm>
            <a:off x="6217920" y="17556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FREE-GAS BLOAT</a:t>
            </a:r>
            <a:endParaRPr lang="en-US" sz="1300" dirty="0"/>
          </a:p>
        </p:txBody>
      </p:sp>
      <p:sp>
        <p:nvSpPr>
          <p:cNvPr id="15" name="Text 13"/>
          <p:cNvSpPr/>
          <p:nvPr/>
        </p:nvSpPr>
        <p:spPr>
          <a:xfrm>
            <a:off x="6364224" y="2267712"/>
            <a:ext cx="5102352" cy="1508760"/>
          </a:xfrm>
          <a:prstGeom prst="rect">
            <a:avLst/>
          </a:prstGeom>
          <a:noFill/>
          <a:ln/>
        </p:spPr>
        <p:txBody>
          <a:bodyPr wrap="square" lIns="0" tIns="0" rIns="0" bIns="0" rtlCol="0" anchor="t"/>
          <a:lstStyle/>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Cause: blockage — object in the throat, nerve damage</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Gas is free but cannot escape</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TUBE: gas rushes out</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TREAT: the tube IS the treatment</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Then find the blockage</a:t>
            </a:r>
            <a:endParaRPr lang="en-US" sz="1250" dirty="0"/>
          </a:p>
        </p:txBody>
      </p:sp>
      <p:sp>
        <p:nvSpPr>
          <p:cNvPr id="16" name="Shape 14"/>
          <p:cNvSpPr/>
          <p:nvPr/>
        </p:nvSpPr>
        <p:spPr>
          <a:xfrm>
            <a:off x="548640" y="4087368"/>
            <a:ext cx="11064240" cy="1143000"/>
          </a:xfrm>
          <a:prstGeom prst="roundRect">
            <a:avLst>
              <a:gd name="adj" fmla="val 6400"/>
            </a:avLst>
          </a:prstGeom>
          <a:solidFill>
            <a:srgbClr val="0E2841"/>
          </a:solidFill>
          <a:ln w="12700">
            <a:solidFill>
              <a:srgbClr val="0E2841"/>
            </a:solidFill>
            <a:prstDash val="solid"/>
          </a:ln>
        </p:spPr>
      </p:sp>
      <p:sp>
        <p:nvSpPr>
          <p:cNvPr id="17" name="Text 15"/>
          <p:cNvSpPr/>
          <p:nvPr/>
        </p:nvSpPr>
        <p:spPr>
          <a:xfrm>
            <a:off x="548640" y="4178808"/>
            <a:ext cx="110642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EMERGENCY: cow going down, fighting to breathe  →  trocar into the left side saves her life.</a:t>
            </a:r>
            <a:endParaRPr lang="en-US" sz="1500" dirty="0"/>
          </a:p>
        </p:txBody>
      </p:sp>
      <p:sp>
        <p:nvSpPr>
          <p:cNvPr id="18" name="Text 16"/>
          <p:cNvSpPr/>
          <p:nvPr/>
        </p:nvSpPr>
        <p:spPr>
          <a:xfrm>
            <a:off x="548640" y="4636008"/>
            <a:ext cx="11064240" cy="411480"/>
          </a:xfrm>
          <a:prstGeom prst="rect">
            <a:avLst/>
          </a:prstGeom>
          <a:noFill/>
          <a:ln/>
        </p:spPr>
        <p:txBody>
          <a:bodyPr wrap="square" lIns="0" tIns="0" rIns="0" bIns="0" rtlCol="0" anchor="ctr"/>
          <a:lstStyle/>
          <a:p>
            <a:pPr algn="ctr" indent="0" marL="0">
              <a:buNone/>
            </a:pPr>
            <a:r>
              <a:rPr lang="en-US" sz="1400" dirty="0">
                <a:solidFill>
                  <a:srgbClr val="FFFFFF"/>
                </a:solidFill>
                <a:latin typeface="Malgun Gothic" pitchFamily="34" charset="0"/>
                <a:ea typeface="Malgun Gothic" pitchFamily="34" charset="-122"/>
                <a:cs typeface="Malgun Gothic" pitchFamily="34" charset="-120"/>
              </a:rPr>
              <a:t>PREVENT: never turn a hungry cow onto lush legume pasture. Feed hay first.</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300" b="1" dirty="0">
                <a:solidFill>
                  <a:srgbClr val="0E2841"/>
                </a:solidFill>
                <a:latin typeface="Malgun Gothic" pitchFamily="34" charset="0"/>
                <a:ea typeface="Malgun Gothic" pitchFamily="34" charset="-122"/>
                <a:cs typeface="Malgun Gothic" pitchFamily="34" charset="-120"/>
              </a:rPr>
              <a:t>Twisted stomach — the fourth stomach floats out of place</a:t>
            </a:r>
            <a:endParaRPr lang="en-US" sz="23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80–90 out of 100 happen in the first month after calving</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This is not bad luck. It is the visible failure of the three weeks around calving.</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48</a:t>
            </a:r>
            <a:endParaRPr lang="en-US" sz="900" dirty="0"/>
          </a:p>
        </p:txBody>
      </p:sp>
      <p:sp>
        <p:nvSpPr>
          <p:cNvPr id="8" name="Shape 6"/>
          <p:cNvSpPr/>
          <p:nvPr/>
        </p:nvSpPr>
        <p:spPr>
          <a:xfrm>
            <a:off x="548640" y="1709928"/>
            <a:ext cx="2212848" cy="530352"/>
          </a:xfrm>
          <a:prstGeom prst="roundRect">
            <a:avLst>
              <a:gd name="adj" fmla="val 3448"/>
            </a:avLst>
          </a:prstGeom>
          <a:solidFill>
            <a:srgbClr val="FFFFFF"/>
          </a:solidFill>
          <a:ln w="12700">
            <a:solidFill>
              <a:srgbClr val="C9D3DA"/>
            </a:solidFill>
            <a:prstDash val="solid"/>
          </a:ln>
        </p:spPr>
      </p:sp>
      <p:sp>
        <p:nvSpPr>
          <p:cNvPr id="9" name="Text 7"/>
          <p:cNvSpPr/>
          <p:nvPr/>
        </p:nvSpPr>
        <p:spPr>
          <a:xfrm>
            <a:off x="621792" y="1709928"/>
            <a:ext cx="2066544" cy="530352"/>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When</a:t>
            </a:r>
            <a:endParaRPr lang="en-US" sz="1200" dirty="0"/>
          </a:p>
        </p:txBody>
      </p:sp>
      <p:sp>
        <p:nvSpPr>
          <p:cNvPr id="10" name="Shape 8"/>
          <p:cNvSpPr/>
          <p:nvPr/>
        </p:nvSpPr>
        <p:spPr>
          <a:xfrm>
            <a:off x="2761488" y="1709928"/>
            <a:ext cx="8851392" cy="530352"/>
          </a:xfrm>
          <a:prstGeom prst="roundRect">
            <a:avLst>
              <a:gd name="adj" fmla="val 3448"/>
            </a:avLst>
          </a:prstGeom>
          <a:solidFill>
            <a:srgbClr val="FFFFFF"/>
          </a:solidFill>
          <a:ln w="12700">
            <a:solidFill>
              <a:srgbClr val="C9D3DA"/>
            </a:solidFill>
            <a:prstDash val="solid"/>
          </a:ln>
        </p:spPr>
      </p:sp>
      <p:sp>
        <p:nvSpPr>
          <p:cNvPr id="11" name="Text 9"/>
          <p:cNvSpPr/>
          <p:nvPr/>
        </p:nvSpPr>
        <p:spPr>
          <a:xfrm>
            <a:off x="2834640" y="1709928"/>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80–90 out of 100 in the first 30 days after calving</a:t>
            </a:r>
            <a:endParaRPr lang="en-US" sz="1200" dirty="0"/>
          </a:p>
        </p:txBody>
      </p:sp>
      <p:sp>
        <p:nvSpPr>
          <p:cNvPr id="12" name="Shape 10"/>
          <p:cNvSpPr/>
          <p:nvPr/>
        </p:nvSpPr>
        <p:spPr>
          <a:xfrm>
            <a:off x="548640" y="2240280"/>
            <a:ext cx="2212848" cy="530352"/>
          </a:xfrm>
          <a:prstGeom prst="roundRect">
            <a:avLst>
              <a:gd name="adj" fmla="val 3448"/>
            </a:avLst>
          </a:prstGeom>
          <a:solidFill>
            <a:srgbClr val="F2F5F7"/>
          </a:solidFill>
          <a:ln w="12700">
            <a:solidFill>
              <a:srgbClr val="C9D3DA"/>
            </a:solidFill>
            <a:prstDash val="solid"/>
          </a:ln>
        </p:spPr>
      </p:sp>
      <p:sp>
        <p:nvSpPr>
          <p:cNvPr id="13" name="Text 11"/>
          <p:cNvSpPr/>
          <p:nvPr/>
        </p:nvSpPr>
        <p:spPr>
          <a:xfrm>
            <a:off x="621792" y="2240280"/>
            <a:ext cx="2066544"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What you see</a:t>
            </a:r>
            <a:endParaRPr lang="en-US" sz="1200" dirty="0"/>
          </a:p>
        </p:txBody>
      </p:sp>
      <p:sp>
        <p:nvSpPr>
          <p:cNvPr id="14" name="Shape 12"/>
          <p:cNvSpPr/>
          <p:nvPr/>
        </p:nvSpPr>
        <p:spPr>
          <a:xfrm>
            <a:off x="2761488" y="2240280"/>
            <a:ext cx="8851392" cy="530352"/>
          </a:xfrm>
          <a:prstGeom prst="roundRect">
            <a:avLst>
              <a:gd name="adj" fmla="val 3448"/>
            </a:avLst>
          </a:prstGeom>
          <a:solidFill>
            <a:srgbClr val="F2F5F7"/>
          </a:solidFill>
          <a:ln w="12700">
            <a:solidFill>
              <a:srgbClr val="C9D3DA"/>
            </a:solidFill>
            <a:prstDash val="solid"/>
          </a:ln>
        </p:spPr>
      </p:sp>
      <p:sp>
        <p:nvSpPr>
          <p:cNvPr id="15" name="Text 13"/>
          <p:cNvSpPr/>
          <p:nvPr/>
        </p:nvSpPr>
        <p:spPr>
          <a:xfrm>
            <a:off x="2834640" y="2240280"/>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Sudden milk drop · refuses grain but eats some hay · ketosis that does not improve · flat left side</a:t>
            </a:r>
            <a:endParaRPr lang="en-US" sz="1200" dirty="0"/>
          </a:p>
        </p:txBody>
      </p:sp>
      <p:sp>
        <p:nvSpPr>
          <p:cNvPr id="16" name="Shape 14"/>
          <p:cNvSpPr/>
          <p:nvPr/>
        </p:nvSpPr>
        <p:spPr>
          <a:xfrm>
            <a:off x="548640" y="2770632"/>
            <a:ext cx="2212848" cy="530352"/>
          </a:xfrm>
          <a:prstGeom prst="roundRect">
            <a:avLst>
              <a:gd name="adj" fmla="val 3448"/>
            </a:avLst>
          </a:prstGeom>
          <a:solidFill>
            <a:srgbClr val="FFFFFF"/>
          </a:solidFill>
          <a:ln w="12700">
            <a:solidFill>
              <a:srgbClr val="C9D3DA"/>
            </a:solidFill>
            <a:prstDash val="solid"/>
          </a:ln>
        </p:spPr>
      </p:sp>
      <p:sp>
        <p:nvSpPr>
          <p:cNvPr id="17" name="Text 15"/>
          <p:cNvSpPr/>
          <p:nvPr/>
        </p:nvSpPr>
        <p:spPr>
          <a:xfrm>
            <a:off x="621792" y="2770632"/>
            <a:ext cx="2066544" cy="53035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How to find it</a:t>
            </a:r>
            <a:endParaRPr lang="en-US" sz="1200" dirty="0"/>
          </a:p>
        </p:txBody>
      </p:sp>
      <p:sp>
        <p:nvSpPr>
          <p:cNvPr id="18" name="Shape 16"/>
          <p:cNvSpPr/>
          <p:nvPr/>
        </p:nvSpPr>
        <p:spPr>
          <a:xfrm>
            <a:off x="2761488" y="2770632"/>
            <a:ext cx="8851392" cy="530352"/>
          </a:xfrm>
          <a:prstGeom prst="roundRect">
            <a:avLst>
              <a:gd name="adj" fmla="val 3448"/>
            </a:avLst>
          </a:prstGeom>
          <a:solidFill>
            <a:srgbClr val="FFFFFF"/>
          </a:solidFill>
          <a:ln w="12700">
            <a:solidFill>
              <a:srgbClr val="C9D3DA"/>
            </a:solidFill>
            <a:prstDash val="solid"/>
          </a:ln>
        </p:spPr>
      </p:sp>
      <p:sp>
        <p:nvSpPr>
          <p:cNvPr id="19" name="Text 17"/>
          <p:cNvSpPr/>
          <p:nvPr/>
        </p:nvSpPr>
        <p:spPr>
          <a:xfrm>
            <a:off x="2834640" y="2770632"/>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Stethoscope on the left side, ribs 9–12, flick the skin — a high "PING" like a drum</a:t>
            </a:r>
            <a:endParaRPr lang="en-US" sz="1200" dirty="0"/>
          </a:p>
        </p:txBody>
      </p:sp>
      <p:sp>
        <p:nvSpPr>
          <p:cNvPr id="20" name="Shape 18"/>
          <p:cNvSpPr/>
          <p:nvPr/>
        </p:nvSpPr>
        <p:spPr>
          <a:xfrm>
            <a:off x="548640" y="3300984"/>
            <a:ext cx="2212848" cy="530352"/>
          </a:xfrm>
          <a:prstGeom prst="roundRect">
            <a:avLst>
              <a:gd name="adj" fmla="val 3448"/>
            </a:avLst>
          </a:prstGeom>
          <a:solidFill>
            <a:srgbClr val="F2F5F7"/>
          </a:solidFill>
          <a:ln w="12700">
            <a:solidFill>
              <a:srgbClr val="C9D3DA"/>
            </a:solidFill>
            <a:prstDash val="solid"/>
          </a:ln>
        </p:spPr>
      </p:sp>
      <p:sp>
        <p:nvSpPr>
          <p:cNvPr id="21" name="Text 19"/>
          <p:cNvSpPr/>
          <p:nvPr/>
        </p:nvSpPr>
        <p:spPr>
          <a:xfrm>
            <a:off x="621792" y="3300984"/>
            <a:ext cx="2066544" cy="530352"/>
          </a:xfrm>
          <a:prstGeom prst="rect">
            <a:avLst/>
          </a:prstGeom>
          <a:noFill/>
          <a:ln/>
        </p:spPr>
        <p:txBody>
          <a:bodyPr wrap="square" lIns="0" tIns="0" rIns="0" bIns="0" rtlCol="0" anchor="ctr"/>
          <a:lstStyle/>
          <a:p>
            <a:pPr algn="l" indent="0" marL="0">
              <a:buNone/>
            </a:pPr>
            <a:r>
              <a:rPr lang="en-US" sz="1200" b="1" dirty="0">
                <a:solidFill>
                  <a:srgbClr val="A02B93"/>
                </a:solidFill>
                <a:latin typeface="Malgun Gothic" pitchFamily="34" charset="0"/>
                <a:ea typeface="Malgun Gothic" pitchFamily="34" charset="-122"/>
                <a:cs typeface="Malgun Gothic" pitchFamily="34" charset="-120"/>
              </a:rPr>
              <a:t>Treatment (VET)</a:t>
            </a:r>
            <a:endParaRPr lang="en-US" sz="1200" dirty="0"/>
          </a:p>
        </p:txBody>
      </p:sp>
      <p:sp>
        <p:nvSpPr>
          <p:cNvPr id="22" name="Shape 20"/>
          <p:cNvSpPr/>
          <p:nvPr/>
        </p:nvSpPr>
        <p:spPr>
          <a:xfrm>
            <a:off x="2761488" y="3300984"/>
            <a:ext cx="8851392" cy="530352"/>
          </a:xfrm>
          <a:prstGeom prst="roundRect">
            <a:avLst>
              <a:gd name="adj" fmla="val 3448"/>
            </a:avLst>
          </a:prstGeom>
          <a:solidFill>
            <a:srgbClr val="F2F5F7"/>
          </a:solidFill>
          <a:ln w="12700">
            <a:solidFill>
              <a:srgbClr val="C9D3DA"/>
            </a:solidFill>
            <a:prstDash val="solid"/>
          </a:ln>
        </p:spPr>
      </p:sp>
      <p:sp>
        <p:nvSpPr>
          <p:cNvPr id="23" name="Text 21"/>
          <p:cNvSpPr/>
          <p:nvPr/>
        </p:nvSpPr>
        <p:spPr>
          <a:xfrm>
            <a:off x="2834640" y="3300984"/>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Surgery — it works well when done early. Roll-and-toggle in some cases.</a:t>
            </a:r>
            <a:endParaRPr lang="en-US" sz="1200" dirty="0"/>
          </a:p>
        </p:txBody>
      </p:sp>
      <p:sp>
        <p:nvSpPr>
          <p:cNvPr id="24" name="Shape 22"/>
          <p:cNvSpPr/>
          <p:nvPr/>
        </p:nvSpPr>
        <p:spPr>
          <a:xfrm>
            <a:off x="548640" y="3831336"/>
            <a:ext cx="2212848" cy="530352"/>
          </a:xfrm>
          <a:prstGeom prst="roundRect">
            <a:avLst>
              <a:gd name="adj" fmla="val 3448"/>
            </a:avLst>
          </a:prstGeom>
          <a:solidFill>
            <a:srgbClr val="FFFFFF"/>
          </a:solidFill>
          <a:ln w="12700">
            <a:solidFill>
              <a:srgbClr val="C9D3DA"/>
            </a:solidFill>
            <a:prstDash val="solid"/>
          </a:ln>
        </p:spPr>
      </p:sp>
      <p:sp>
        <p:nvSpPr>
          <p:cNvPr id="25" name="Text 23"/>
          <p:cNvSpPr/>
          <p:nvPr/>
        </p:nvSpPr>
        <p:spPr>
          <a:xfrm>
            <a:off x="621792" y="3831336"/>
            <a:ext cx="2066544" cy="530352"/>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ALSO treat</a:t>
            </a:r>
            <a:endParaRPr lang="en-US" sz="1200" dirty="0"/>
          </a:p>
        </p:txBody>
      </p:sp>
      <p:sp>
        <p:nvSpPr>
          <p:cNvPr id="26" name="Shape 24"/>
          <p:cNvSpPr/>
          <p:nvPr/>
        </p:nvSpPr>
        <p:spPr>
          <a:xfrm>
            <a:off x="2761488" y="3831336"/>
            <a:ext cx="8851392" cy="530352"/>
          </a:xfrm>
          <a:prstGeom prst="roundRect">
            <a:avLst>
              <a:gd name="adj" fmla="val 3448"/>
            </a:avLst>
          </a:prstGeom>
          <a:solidFill>
            <a:srgbClr val="FFFFFF"/>
          </a:solidFill>
          <a:ln w="12700">
            <a:solidFill>
              <a:srgbClr val="C9D3DA"/>
            </a:solidFill>
            <a:prstDash val="solid"/>
          </a:ln>
        </p:spPr>
      </p:sp>
      <p:sp>
        <p:nvSpPr>
          <p:cNvPr id="27" name="Text 25"/>
          <p:cNvSpPr/>
          <p:nvPr/>
        </p:nvSpPr>
        <p:spPr>
          <a:xfrm>
            <a:off x="2834640" y="3831336"/>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The ketosis, the calcium and the womb. Fix only the stomach and she relapses.</a:t>
            </a:r>
            <a:endParaRPr lang="en-US" sz="1200" dirty="0"/>
          </a:p>
        </p:txBody>
      </p:sp>
      <p:sp>
        <p:nvSpPr>
          <p:cNvPr id="28" name="Shape 26"/>
          <p:cNvSpPr/>
          <p:nvPr/>
        </p:nvSpPr>
        <p:spPr>
          <a:xfrm>
            <a:off x="548640" y="4361688"/>
            <a:ext cx="2212848" cy="530352"/>
          </a:xfrm>
          <a:prstGeom prst="roundRect">
            <a:avLst>
              <a:gd name="adj" fmla="val 3448"/>
            </a:avLst>
          </a:prstGeom>
          <a:solidFill>
            <a:srgbClr val="F2F5F7"/>
          </a:solidFill>
          <a:ln w="12700">
            <a:solidFill>
              <a:srgbClr val="C9D3DA"/>
            </a:solidFill>
            <a:prstDash val="solid"/>
          </a:ln>
        </p:spPr>
      </p:sp>
      <p:sp>
        <p:nvSpPr>
          <p:cNvPr id="29" name="Text 27"/>
          <p:cNvSpPr/>
          <p:nvPr/>
        </p:nvSpPr>
        <p:spPr>
          <a:xfrm>
            <a:off x="621792" y="4361688"/>
            <a:ext cx="2066544" cy="530352"/>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Prevent</a:t>
            </a:r>
            <a:endParaRPr lang="en-US" sz="1200" dirty="0"/>
          </a:p>
        </p:txBody>
      </p:sp>
      <p:sp>
        <p:nvSpPr>
          <p:cNvPr id="30" name="Shape 28"/>
          <p:cNvSpPr/>
          <p:nvPr/>
        </p:nvSpPr>
        <p:spPr>
          <a:xfrm>
            <a:off x="2761488" y="4361688"/>
            <a:ext cx="8851392" cy="530352"/>
          </a:xfrm>
          <a:prstGeom prst="roundRect">
            <a:avLst>
              <a:gd name="adj" fmla="val 3448"/>
            </a:avLst>
          </a:prstGeom>
          <a:solidFill>
            <a:srgbClr val="F2F5F7"/>
          </a:solidFill>
          <a:ln w="12700">
            <a:solidFill>
              <a:srgbClr val="C9D3DA"/>
            </a:solidFill>
            <a:prstDash val="solid"/>
          </a:ln>
        </p:spPr>
      </p:sp>
      <p:sp>
        <p:nvSpPr>
          <p:cNvPr id="31" name="Text 29"/>
          <p:cNvSpPr/>
          <p:nvPr/>
        </p:nvSpPr>
        <p:spPr>
          <a:xfrm>
            <a:off x="2834640" y="4361688"/>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Keep her EATING before and after calving. Space at the feed trough. No sudden ration change.</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300" b="1" dirty="0">
                <a:solidFill>
                  <a:srgbClr val="0E2841"/>
                </a:solidFill>
                <a:latin typeface="Malgun Gothic" pitchFamily="34" charset="0"/>
                <a:ea typeface="Malgun Gothic" pitchFamily="34" charset="-122"/>
                <a:cs typeface="Malgun Gothic" pitchFamily="34" charset="-120"/>
              </a:rPr>
              <a:t>What you can check in 60 seconds, with nothing in your hands</a:t>
            </a:r>
            <a:endParaRPr lang="en-US" sz="23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Do this on every farm before you open your AI kit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This one minute per pen makes you the most useful person on that farm.</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49</a:t>
            </a:r>
            <a:endParaRPr lang="en-US" sz="900" dirty="0"/>
          </a:p>
        </p:txBody>
      </p:sp>
      <p:sp>
        <p:nvSpPr>
          <p:cNvPr id="8" name="Shape 6"/>
          <p:cNvSpPr/>
          <p:nvPr/>
        </p:nvSpPr>
        <p:spPr>
          <a:xfrm>
            <a:off x="548640" y="1755648"/>
            <a:ext cx="1991563" cy="640080"/>
          </a:xfrm>
          <a:prstGeom prst="roundRect">
            <a:avLst>
              <a:gd name="adj" fmla="val 4286"/>
            </a:avLst>
          </a:prstGeom>
          <a:solidFill>
            <a:srgbClr val="0E2841"/>
          </a:solidFill>
          <a:ln w="12700">
            <a:solidFill>
              <a:srgbClr val="0E2841"/>
            </a:solidFill>
            <a:prstDash val="solid"/>
          </a:ln>
        </p:spPr>
      </p:sp>
      <p:sp>
        <p:nvSpPr>
          <p:cNvPr id="9" name="Text 7"/>
          <p:cNvSpPr/>
          <p:nvPr/>
        </p:nvSpPr>
        <p:spPr>
          <a:xfrm>
            <a:off x="621792" y="1755648"/>
            <a:ext cx="1845259" cy="64008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Check</a:t>
            </a:r>
            <a:endParaRPr lang="en-US" sz="1200" dirty="0"/>
          </a:p>
        </p:txBody>
      </p:sp>
      <p:sp>
        <p:nvSpPr>
          <p:cNvPr id="10" name="Shape 8"/>
          <p:cNvSpPr/>
          <p:nvPr/>
        </p:nvSpPr>
        <p:spPr>
          <a:xfrm>
            <a:off x="2540203" y="1755648"/>
            <a:ext cx="3097987" cy="640080"/>
          </a:xfrm>
          <a:prstGeom prst="roundRect">
            <a:avLst>
              <a:gd name="adj" fmla="val 4286"/>
            </a:avLst>
          </a:prstGeom>
          <a:solidFill>
            <a:srgbClr val="0E2841"/>
          </a:solidFill>
          <a:ln w="12700">
            <a:solidFill>
              <a:srgbClr val="0E2841"/>
            </a:solidFill>
            <a:prstDash val="solid"/>
          </a:ln>
        </p:spPr>
      </p:sp>
      <p:sp>
        <p:nvSpPr>
          <p:cNvPr id="11" name="Text 9"/>
          <p:cNvSpPr/>
          <p:nvPr/>
        </p:nvSpPr>
        <p:spPr>
          <a:xfrm>
            <a:off x="2613355" y="1755648"/>
            <a:ext cx="2951683" cy="64008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How</a:t>
            </a:r>
            <a:endParaRPr lang="en-US" sz="1200" dirty="0"/>
          </a:p>
        </p:txBody>
      </p:sp>
      <p:sp>
        <p:nvSpPr>
          <p:cNvPr id="12" name="Shape 10"/>
          <p:cNvSpPr/>
          <p:nvPr/>
        </p:nvSpPr>
        <p:spPr>
          <a:xfrm>
            <a:off x="5638190" y="1755648"/>
            <a:ext cx="2434133" cy="640080"/>
          </a:xfrm>
          <a:prstGeom prst="roundRect">
            <a:avLst>
              <a:gd name="adj" fmla="val 4286"/>
            </a:avLst>
          </a:prstGeom>
          <a:solidFill>
            <a:srgbClr val="0E2841"/>
          </a:solidFill>
          <a:ln w="12700">
            <a:solidFill>
              <a:srgbClr val="0E2841"/>
            </a:solidFill>
            <a:prstDash val="solid"/>
          </a:ln>
        </p:spPr>
      </p:sp>
      <p:sp>
        <p:nvSpPr>
          <p:cNvPr id="13" name="Text 11"/>
          <p:cNvSpPr/>
          <p:nvPr/>
        </p:nvSpPr>
        <p:spPr>
          <a:xfrm>
            <a:off x="5711342" y="1755648"/>
            <a:ext cx="2287829" cy="64008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Normal</a:t>
            </a:r>
            <a:endParaRPr lang="en-US" sz="1200" dirty="0"/>
          </a:p>
        </p:txBody>
      </p:sp>
      <p:sp>
        <p:nvSpPr>
          <p:cNvPr id="14" name="Shape 12"/>
          <p:cNvSpPr/>
          <p:nvPr/>
        </p:nvSpPr>
        <p:spPr>
          <a:xfrm>
            <a:off x="8072323" y="1755648"/>
            <a:ext cx="3540557" cy="640080"/>
          </a:xfrm>
          <a:prstGeom prst="roundRect">
            <a:avLst>
              <a:gd name="adj" fmla="val 4286"/>
            </a:avLst>
          </a:prstGeom>
          <a:solidFill>
            <a:srgbClr val="0E2841"/>
          </a:solidFill>
          <a:ln w="12700">
            <a:solidFill>
              <a:srgbClr val="0E2841"/>
            </a:solidFill>
            <a:prstDash val="solid"/>
          </a:ln>
        </p:spPr>
      </p:sp>
      <p:sp>
        <p:nvSpPr>
          <p:cNvPr id="15" name="Text 13"/>
          <p:cNvSpPr/>
          <p:nvPr/>
        </p:nvSpPr>
        <p:spPr>
          <a:xfrm>
            <a:off x="8145475" y="1755648"/>
            <a:ext cx="3394253" cy="640080"/>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Abnormal means</a:t>
            </a:r>
            <a:endParaRPr lang="en-US" sz="1200" dirty="0"/>
          </a:p>
        </p:txBody>
      </p:sp>
      <p:sp>
        <p:nvSpPr>
          <p:cNvPr id="16" name="Shape 14"/>
          <p:cNvSpPr/>
          <p:nvPr/>
        </p:nvSpPr>
        <p:spPr>
          <a:xfrm>
            <a:off x="548640" y="2395728"/>
            <a:ext cx="1991563" cy="640080"/>
          </a:xfrm>
          <a:prstGeom prst="roundRect">
            <a:avLst>
              <a:gd name="adj" fmla="val 2857"/>
            </a:avLst>
          </a:prstGeom>
          <a:solidFill>
            <a:srgbClr val="FFFFFF"/>
          </a:solidFill>
          <a:ln w="12700">
            <a:solidFill>
              <a:srgbClr val="C9D3DA"/>
            </a:solidFill>
            <a:prstDash val="solid"/>
          </a:ln>
        </p:spPr>
      </p:sp>
      <p:sp>
        <p:nvSpPr>
          <p:cNvPr id="17" name="Text 15"/>
          <p:cNvSpPr/>
          <p:nvPr/>
        </p:nvSpPr>
        <p:spPr>
          <a:xfrm>
            <a:off x="621792" y="2395728"/>
            <a:ext cx="1845259" cy="640080"/>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Rumen movement</a:t>
            </a:r>
            <a:endParaRPr lang="en-US" sz="1200" dirty="0"/>
          </a:p>
        </p:txBody>
      </p:sp>
      <p:sp>
        <p:nvSpPr>
          <p:cNvPr id="18" name="Shape 16"/>
          <p:cNvSpPr/>
          <p:nvPr/>
        </p:nvSpPr>
        <p:spPr>
          <a:xfrm>
            <a:off x="2540203" y="2395728"/>
            <a:ext cx="3097987" cy="640080"/>
          </a:xfrm>
          <a:prstGeom prst="roundRect">
            <a:avLst>
              <a:gd name="adj" fmla="val 2857"/>
            </a:avLst>
          </a:prstGeom>
          <a:solidFill>
            <a:srgbClr val="FFFFFF"/>
          </a:solidFill>
          <a:ln w="12700">
            <a:solidFill>
              <a:srgbClr val="C9D3DA"/>
            </a:solidFill>
            <a:prstDash val="solid"/>
          </a:ln>
        </p:spPr>
      </p:sp>
      <p:sp>
        <p:nvSpPr>
          <p:cNvPr id="19" name="Text 17"/>
          <p:cNvSpPr/>
          <p:nvPr/>
        </p:nvSpPr>
        <p:spPr>
          <a:xfrm>
            <a:off x="2613355" y="2395728"/>
            <a:ext cx="2951683" cy="64008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Fist in the left hollow, count 2 minutes</a:t>
            </a:r>
            <a:endParaRPr lang="en-US" sz="1200" dirty="0"/>
          </a:p>
        </p:txBody>
      </p:sp>
      <p:sp>
        <p:nvSpPr>
          <p:cNvPr id="20" name="Shape 18"/>
          <p:cNvSpPr/>
          <p:nvPr/>
        </p:nvSpPr>
        <p:spPr>
          <a:xfrm>
            <a:off x="5638190" y="2395728"/>
            <a:ext cx="2434133" cy="640080"/>
          </a:xfrm>
          <a:prstGeom prst="roundRect">
            <a:avLst>
              <a:gd name="adj" fmla="val 2857"/>
            </a:avLst>
          </a:prstGeom>
          <a:solidFill>
            <a:srgbClr val="FFFFFF"/>
          </a:solidFill>
          <a:ln w="12700">
            <a:solidFill>
              <a:srgbClr val="C9D3DA"/>
            </a:solidFill>
            <a:prstDash val="solid"/>
          </a:ln>
        </p:spPr>
      </p:sp>
      <p:sp>
        <p:nvSpPr>
          <p:cNvPr id="21" name="Text 19"/>
          <p:cNvSpPr/>
          <p:nvPr/>
        </p:nvSpPr>
        <p:spPr>
          <a:xfrm>
            <a:off x="5711342" y="2395728"/>
            <a:ext cx="2287829" cy="640080"/>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1–3 per minute</a:t>
            </a:r>
            <a:endParaRPr lang="en-US" sz="1200" dirty="0"/>
          </a:p>
        </p:txBody>
      </p:sp>
      <p:sp>
        <p:nvSpPr>
          <p:cNvPr id="22" name="Shape 20"/>
          <p:cNvSpPr/>
          <p:nvPr/>
        </p:nvSpPr>
        <p:spPr>
          <a:xfrm>
            <a:off x="8072323" y="2395728"/>
            <a:ext cx="3540557" cy="640080"/>
          </a:xfrm>
          <a:prstGeom prst="roundRect">
            <a:avLst>
              <a:gd name="adj" fmla="val 2857"/>
            </a:avLst>
          </a:prstGeom>
          <a:solidFill>
            <a:srgbClr val="FFFFFF"/>
          </a:solidFill>
          <a:ln w="12700">
            <a:solidFill>
              <a:srgbClr val="C9D3DA"/>
            </a:solidFill>
            <a:prstDash val="solid"/>
          </a:ln>
        </p:spPr>
      </p:sp>
      <p:sp>
        <p:nvSpPr>
          <p:cNvPr id="23" name="Text 21"/>
          <p:cNvSpPr/>
          <p:nvPr/>
        </p:nvSpPr>
        <p:spPr>
          <a:xfrm>
            <a:off x="8145475" y="2395728"/>
            <a:ext cx="3394253" cy="640080"/>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Fewer = illness, sour stomach, low calcium</a:t>
            </a:r>
            <a:endParaRPr lang="en-US" sz="1200" dirty="0"/>
          </a:p>
        </p:txBody>
      </p:sp>
      <p:sp>
        <p:nvSpPr>
          <p:cNvPr id="24" name="Shape 22"/>
          <p:cNvSpPr/>
          <p:nvPr/>
        </p:nvSpPr>
        <p:spPr>
          <a:xfrm>
            <a:off x="548640" y="3035808"/>
            <a:ext cx="1991563" cy="640080"/>
          </a:xfrm>
          <a:prstGeom prst="roundRect">
            <a:avLst>
              <a:gd name="adj" fmla="val 2857"/>
            </a:avLst>
          </a:prstGeom>
          <a:solidFill>
            <a:srgbClr val="F2F5F7"/>
          </a:solidFill>
          <a:ln w="12700">
            <a:solidFill>
              <a:srgbClr val="C9D3DA"/>
            </a:solidFill>
            <a:prstDash val="solid"/>
          </a:ln>
        </p:spPr>
      </p:sp>
      <p:sp>
        <p:nvSpPr>
          <p:cNvPr id="25" name="Text 23"/>
          <p:cNvSpPr/>
          <p:nvPr/>
        </p:nvSpPr>
        <p:spPr>
          <a:xfrm>
            <a:off x="621792" y="3035808"/>
            <a:ext cx="1845259" cy="640080"/>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Cud chewing</a:t>
            </a:r>
            <a:endParaRPr lang="en-US" sz="1200" dirty="0"/>
          </a:p>
        </p:txBody>
      </p:sp>
      <p:sp>
        <p:nvSpPr>
          <p:cNvPr id="26" name="Shape 24"/>
          <p:cNvSpPr/>
          <p:nvPr/>
        </p:nvSpPr>
        <p:spPr>
          <a:xfrm>
            <a:off x="2540203" y="3035808"/>
            <a:ext cx="3097987" cy="640080"/>
          </a:xfrm>
          <a:prstGeom prst="roundRect">
            <a:avLst>
              <a:gd name="adj" fmla="val 2857"/>
            </a:avLst>
          </a:prstGeom>
          <a:solidFill>
            <a:srgbClr val="F2F5F7"/>
          </a:solidFill>
          <a:ln w="12700">
            <a:solidFill>
              <a:srgbClr val="C9D3DA"/>
            </a:solidFill>
            <a:prstDash val="solid"/>
          </a:ln>
        </p:spPr>
      </p:sp>
      <p:sp>
        <p:nvSpPr>
          <p:cNvPr id="27" name="Text 25"/>
          <p:cNvSpPr/>
          <p:nvPr/>
        </p:nvSpPr>
        <p:spPr>
          <a:xfrm>
            <a:off x="2613355" y="3035808"/>
            <a:ext cx="2951683" cy="64008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Count lying cows that are chewing</a:t>
            </a:r>
            <a:endParaRPr lang="en-US" sz="1200" dirty="0"/>
          </a:p>
        </p:txBody>
      </p:sp>
      <p:sp>
        <p:nvSpPr>
          <p:cNvPr id="28" name="Shape 26"/>
          <p:cNvSpPr/>
          <p:nvPr/>
        </p:nvSpPr>
        <p:spPr>
          <a:xfrm>
            <a:off x="5638190" y="3035808"/>
            <a:ext cx="2434133" cy="640080"/>
          </a:xfrm>
          <a:prstGeom prst="roundRect">
            <a:avLst>
              <a:gd name="adj" fmla="val 2857"/>
            </a:avLst>
          </a:prstGeom>
          <a:solidFill>
            <a:srgbClr val="F2F5F7"/>
          </a:solidFill>
          <a:ln w="12700">
            <a:solidFill>
              <a:srgbClr val="C9D3DA"/>
            </a:solidFill>
            <a:prstDash val="solid"/>
          </a:ln>
        </p:spPr>
      </p:sp>
      <p:sp>
        <p:nvSpPr>
          <p:cNvPr id="29" name="Text 27"/>
          <p:cNvSpPr/>
          <p:nvPr/>
        </p:nvSpPr>
        <p:spPr>
          <a:xfrm>
            <a:off x="5711342" y="3035808"/>
            <a:ext cx="2287829" cy="640080"/>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6 in 10 or more</a:t>
            </a:r>
            <a:endParaRPr lang="en-US" sz="1200" dirty="0"/>
          </a:p>
        </p:txBody>
      </p:sp>
      <p:sp>
        <p:nvSpPr>
          <p:cNvPr id="30" name="Shape 28"/>
          <p:cNvSpPr/>
          <p:nvPr/>
        </p:nvSpPr>
        <p:spPr>
          <a:xfrm>
            <a:off x="8072323" y="3035808"/>
            <a:ext cx="3540557" cy="640080"/>
          </a:xfrm>
          <a:prstGeom prst="roundRect">
            <a:avLst>
              <a:gd name="adj" fmla="val 2857"/>
            </a:avLst>
          </a:prstGeom>
          <a:solidFill>
            <a:srgbClr val="F2F5F7"/>
          </a:solidFill>
          <a:ln w="12700">
            <a:solidFill>
              <a:srgbClr val="C9D3DA"/>
            </a:solidFill>
            <a:prstDash val="solid"/>
          </a:ln>
        </p:spPr>
      </p:sp>
      <p:sp>
        <p:nvSpPr>
          <p:cNvPr id="31" name="Text 29"/>
          <p:cNvSpPr/>
          <p:nvPr/>
        </p:nvSpPr>
        <p:spPr>
          <a:xfrm>
            <a:off x="8145475" y="3035808"/>
            <a:ext cx="3394253" cy="640080"/>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Fewer = not enough long fibre, or illness</a:t>
            </a:r>
            <a:endParaRPr lang="en-US" sz="1200" dirty="0"/>
          </a:p>
        </p:txBody>
      </p:sp>
      <p:sp>
        <p:nvSpPr>
          <p:cNvPr id="32" name="Shape 30"/>
          <p:cNvSpPr/>
          <p:nvPr/>
        </p:nvSpPr>
        <p:spPr>
          <a:xfrm>
            <a:off x="548640" y="3675888"/>
            <a:ext cx="1991563" cy="640080"/>
          </a:xfrm>
          <a:prstGeom prst="roundRect">
            <a:avLst>
              <a:gd name="adj" fmla="val 2857"/>
            </a:avLst>
          </a:prstGeom>
          <a:solidFill>
            <a:srgbClr val="FFFFFF"/>
          </a:solidFill>
          <a:ln w="12700">
            <a:solidFill>
              <a:srgbClr val="C9D3DA"/>
            </a:solidFill>
            <a:prstDash val="solid"/>
          </a:ln>
        </p:spPr>
      </p:sp>
      <p:sp>
        <p:nvSpPr>
          <p:cNvPr id="33" name="Text 31"/>
          <p:cNvSpPr/>
          <p:nvPr/>
        </p:nvSpPr>
        <p:spPr>
          <a:xfrm>
            <a:off x="621792" y="3675888"/>
            <a:ext cx="1845259" cy="640080"/>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Manure</a:t>
            </a:r>
            <a:endParaRPr lang="en-US" sz="1200" dirty="0"/>
          </a:p>
        </p:txBody>
      </p:sp>
      <p:sp>
        <p:nvSpPr>
          <p:cNvPr id="34" name="Shape 32"/>
          <p:cNvSpPr/>
          <p:nvPr/>
        </p:nvSpPr>
        <p:spPr>
          <a:xfrm>
            <a:off x="2540203" y="3675888"/>
            <a:ext cx="3097987" cy="640080"/>
          </a:xfrm>
          <a:prstGeom prst="roundRect">
            <a:avLst>
              <a:gd name="adj" fmla="val 2857"/>
            </a:avLst>
          </a:prstGeom>
          <a:solidFill>
            <a:srgbClr val="FFFFFF"/>
          </a:solidFill>
          <a:ln w="12700">
            <a:solidFill>
              <a:srgbClr val="C9D3DA"/>
            </a:solidFill>
            <a:prstDash val="solid"/>
          </a:ln>
        </p:spPr>
      </p:sp>
      <p:sp>
        <p:nvSpPr>
          <p:cNvPr id="35" name="Text 33"/>
          <p:cNvSpPr/>
          <p:nvPr/>
        </p:nvSpPr>
        <p:spPr>
          <a:xfrm>
            <a:off x="2613355" y="3675888"/>
            <a:ext cx="2951683" cy="64008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Look, and step in it</a:t>
            </a:r>
            <a:endParaRPr lang="en-US" sz="1200" dirty="0"/>
          </a:p>
        </p:txBody>
      </p:sp>
      <p:sp>
        <p:nvSpPr>
          <p:cNvPr id="36" name="Shape 34"/>
          <p:cNvSpPr/>
          <p:nvPr/>
        </p:nvSpPr>
        <p:spPr>
          <a:xfrm>
            <a:off x="5638190" y="3675888"/>
            <a:ext cx="2434133" cy="640080"/>
          </a:xfrm>
          <a:prstGeom prst="roundRect">
            <a:avLst>
              <a:gd name="adj" fmla="val 2857"/>
            </a:avLst>
          </a:prstGeom>
          <a:solidFill>
            <a:srgbClr val="FFFFFF"/>
          </a:solidFill>
          <a:ln w="12700">
            <a:solidFill>
              <a:srgbClr val="C9D3DA"/>
            </a:solidFill>
            <a:prstDash val="solid"/>
          </a:ln>
        </p:spPr>
      </p:sp>
      <p:sp>
        <p:nvSpPr>
          <p:cNvPr id="37" name="Text 35"/>
          <p:cNvSpPr/>
          <p:nvPr/>
        </p:nvSpPr>
        <p:spPr>
          <a:xfrm>
            <a:off x="5711342" y="3675888"/>
            <a:ext cx="2287829" cy="640080"/>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Firm porridge, holds shape</a:t>
            </a:r>
            <a:endParaRPr lang="en-US" sz="1200" dirty="0"/>
          </a:p>
        </p:txBody>
      </p:sp>
      <p:sp>
        <p:nvSpPr>
          <p:cNvPr id="38" name="Shape 36"/>
          <p:cNvSpPr/>
          <p:nvPr/>
        </p:nvSpPr>
        <p:spPr>
          <a:xfrm>
            <a:off x="8072323" y="3675888"/>
            <a:ext cx="3540557" cy="640080"/>
          </a:xfrm>
          <a:prstGeom prst="roundRect">
            <a:avLst>
              <a:gd name="adj" fmla="val 2857"/>
            </a:avLst>
          </a:prstGeom>
          <a:solidFill>
            <a:srgbClr val="FFFFFF"/>
          </a:solidFill>
          <a:ln w="12700">
            <a:solidFill>
              <a:srgbClr val="C9D3DA"/>
            </a:solidFill>
            <a:prstDash val="solid"/>
          </a:ln>
        </p:spPr>
      </p:sp>
      <p:sp>
        <p:nvSpPr>
          <p:cNvPr id="39" name="Text 37"/>
          <p:cNvSpPr/>
          <p:nvPr/>
        </p:nvSpPr>
        <p:spPr>
          <a:xfrm>
            <a:off x="8145475" y="3675888"/>
            <a:ext cx="3394253" cy="640080"/>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Loose + bubbles + grain = sour stomach</a:t>
            </a:r>
            <a:endParaRPr lang="en-US" sz="1200" dirty="0"/>
          </a:p>
        </p:txBody>
      </p:sp>
      <p:sp>
        <p:nvSpPr>
          <p:cNvPr id="40" name="Shape 38"/>
          <p:cNvSpPr/>
          <p:nvPr/>
        </p:nvSpPr>
        <p:spPr>
          <a:xfrm>
            <a:off x="548640" y="4315968"/>
            <a:ext cx="1991563" cy="640080"/>
          </a:xfrm>
          <a:prstGeom prst="roundRect">
            <a:avLst>
              <a:gd name="adj" fmla="val 2857"/>
            </a:avLst>
          </a:prstGeom>
          <a:solidFill>
            <a:srgbClr val="F2F5F7"/>
          </a:solidFill>
          <a:ln w="12700">
            <a:solidFill>
              <a:srgbClr val="C9D3DA"/>
            </a:solidFill>
            <a:prstDash val="solid"/>
          </a:ln>
        </p:spPr>
      </p:sp>
      <p:sp>
        <p:nvSpPr>
          <p:cNvPr id="41" name="Text 39"/>
          <p:cNvSpPr/>
          <p:nvPr/>
        </p:nvSpPr>
        <p:spPr>
          <a:xfrm>
            <a:off x="621792" y="4315968"/>
            <a:ext cx="1845259" cy="640080"/>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Nose</a:t>
            </a:r>
            <a:endParaRPr lang="en-US" sz="1200" dirty="0"/>
          </a:p>
        </p:txBody>
      </p:sp>
      <p:sp>
        <p:nvSpPr>
          <p:cNvPr id="42" name="Shape 40"/>
          <p:cNvSpPr/>
          <p:nvPr/>
        </p:nvSpPr>
        <p:spPr>
          <a:xfrm>
            <a:off x="2540203" y="4315968"/>
            <a:ext cx="3097987" cy="640080"/>
          </a:xfrm>
          <a:prstGeom prst="roundRect">
            <a:avLst>
              <a:gd name="adj" fmla="val 2857"/>
            </a:avLst>
          </a:prstGeom>
          <a:solidFill>
            <a:srgbClr val="F2F5F7"/>
          </a:solidFill>
          <a:ln w="12700">
            <a:solidFill>
              <a:srgbClr val="C9D3DA"/>
            </a:solidFill>
            <a:prstDash val="solid"/>
          </a:ln>
        </p:spPr>
      </p:sp>
      <p:sp>
        <p:nvSpPr>
          <p:cNvPr id="43" name="Text 41"/>
          <p:cNvSpPr/>
          <p:nvPr/>
        </p:nvSpPr>
        <p:spPr>
          <a:xfrm>
            <a:off x="2613355" y="4315968"/>
            <a:ext cx="2951683" cy="64008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Look at the muzzle</a:t>
            </a:r>
            <a:endParaRPr lang="en-US" sz="1200" dirty="0"/>
          </a:p>
        </p:txBody>
      </p:sp>
      <p:sp>
        <p:nvSpPr>
          <p:cNvPr id="44" name="Shape 42"/>
          <p:cNvSpPr/>
          <p:nvPr/>
        </p:nvSpPr>
        <p:spPr>
          <a:xfrm>
            <a:off x="5638190" y="4315968"/>
            <a:ext cx="2434133" cy="640080"/>
          </a:xfrm>
          <a:prstGeom prst="roundRect">
            <a:avLst>
              <a:gd name="adj" fmla="val 2857"/>
            </a:avLst>
          </a:prstGeom>
          <a:solidFill>
            <a:srgbClr val="F2F5F7"/>
          </a:solidFill>
          <a:ln w="12700">
            <a:solidFill>
              <a:srgbClr val="C9D3DA"/>
            </a:solidFill>
            <a:prstDash val="solid"/>
          </a:ln>
        </p:spPr>
      </p:sp>
      <p:sp>
        <p:nvSpPr>
          <p:cNvPr id="45" name="Text 43"/>
          <p:cNvSpPr/>
          <p:nvPr/>
        </p:nvSpPr>
        <p:spPr>
          <a:xfrm>
            <a:off x="5711342" y="4315968"/>
            <a:ext cx="2287829" cy="640080"/>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Wet and shiny</a:t>
            </a:r>
            <a:endParaRPr lang="en-US" sz="1200" dirty="0"/>
          </a:p>
        </p:txBody>
      </p:sp>
      <p:sp>
        <p:nvSpPr>
          <p:cNvPr id="46" name="Shape 44"/>
          <p:cNvSpPr/>
          <p:nvPr/>
        </p:nvSpPr>
        <p:spPr>
          <a:xfrm>
            <a:off x="8072323" y="4315968"/>
            <a:ext cx="3540557" cy="640080"/>
          </a:xfrm>
          <a:prstGeom prst="roundRect">
            <a:avLst>
              <a:gd name="adj" fmla="val 2857"/>
            </a:avLst>
          </a:prstGeom>
          <a:solidFill>
            <a:srgbClr val="F2F5F7"/>
          </a:solidFill>
          <a:ln w="12700">
            <a:solidFill>
              <a:srgbClr val="C9D3DA"/>
            </a:solidFill>
            <a:prstDash val="solid"/>
          </a:ln>
        </p:spPr>
      </p:sp>
      <p:sp>
        <p:nvSpPr>
          <p:cNvPr id="47" name="Text 45"/>
          <p:cNvSpPr/>
          <p:nvPr/>
        </p:nvSpPr>
        <p:spPr>
          <a:xfrm>
            <a:off x="8145475" y="4315968"/>
            <a:ext cx="3394253" cy="640080"/>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Dry = fever or dehydration</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07</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Around calving — calcium and energy</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70 minutes  ·  the three weeks that decide the whole lactation</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One failure with three names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Calcium, energy and the womb fail together — not separately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Treat one and ignore the others and she relapses. They are one problem.</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51</a:t>
            </a:r>
            <a:endParaRPr lang="en-US" sz="900" dirty="0"/>
          </a:p>
        </p:txBody>
      </p:sp>
      <p:sp>
        <p:nvSpPr>
          <p:cNvPr id="8" name="Shape 6"/>
          <p:cNvSpPr/>
          <p:nvPr/>
        </p:nvSpPr>
        <p:spPr>
          <a:xfrm>
            <a:off x="548640" y="1709928"/>
            <a:ext cx="3535680" cy="502920"/>
          </a:xfrm>
          <a:prstGeom prst="roundRect">
            <a:avLst>
              <a:gd name="adj" fmla="val 12727"/>
            </a:avLst>
          </a:prstGeom>
          <a:solidFill>
            <a:srgbClr val="156082"/>
          </a:solidFill>
          <a:ln w="12700">
            <a:solidFill>
              <a:srgbClr val="156082"/>
            </a:solidFill>
            <a:prstDash val="solid"/>
          </a:ln>
        </p:spPr>
      </p:sp>
      <p:sp>
        <p:nvSpPr>
          <p:cNvPr id="9" name="Text 7"/>
          <p:cNvSpPr/>
          <p:nvPr/>
        </p:nvSpPr>
        <p:spPr>
          <a:xfrm>
            <a:off x="548640" y="1709928"/>
            <a:ext cx="35356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CALCIUM DOWN</a:t>
            </a:r>
            <a:endParaRPr lang="en-US" sz="1400" dirty="0"/>
          </a:p>
        </p:txBody>
      </p:sp>
      <p:sp>
        <p:nvSpPr>
          <p:cNvPr id="10" name="Shape 8"/>
          <p:cNvSpPr/>
          <p:nvPr/>
        </p:nvSpPr>
        <p:spPr>
          <a:xfrm>
            <a:off x="548640" y="2212848"/>
            <a:ext cx="3535680" cy="1371600"/>
          </a:xfrm>
          <a:prstGeom prst="roundRect">
            <a:avLst>
              <a:gd name="adj" fmla="val 4667"/>
            </a:avLst>
          </a:prstGeom>
          <a:solidFill>
            <a:srgbClr val="F2F5F7"/>
          </a:solidFill>
          <a:ln w="12700">
            <a:solidFill>
              <a:srgbClr val="C9D3DA"/>
            </a:solidFill>
            <a:prstDash val="solid"/>
          </a:ln>
        </p:spPr>
      </p:sp>
      <p:sp>
        <p:nvSpPr>
          <p:cNvPr id="11" name="Text 9"/>
          <p:cNvSpPr/>
          <p:nvPr/>
        </p:nvSpPr>
        <p:spPr>
          <a:xfrm>
            <a:off x="694944" y="2350008"/>
            <a:ext cx="3243072" cy="109728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Her milk takes out about 10× more calcium than her blood holds.</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Muscles weaken. The womb has no push.</a:t>
            </a:r>
            <a:endParaRPr lang="en-US" sz="1250" dirty="0"/>
          </a:p>
        </p:txBody>
      </p:sp>
      <p:sp>
        <p:nvSpPr>
          <p:cNvPr id="12" name="Shape 10"/>
          <p:cNvSpPr/>
          <p:nvPr/>
        </p:nvSpPr>
        <p:spPr>
          <a:xfrm>
            <a:off x="4312920" y="1709928"/>
            <a:ext cx="3535680" cy="502920"/>
          </a:xfrm>
          <a:prstGeom prst="roundRect">
            <a:avLst>
              <a:gd name="adj" fmla="val 12727"/>
            </a:avLst>
          </a:prstGeom>
          <a:solidFill>
            <a:srgbClr val="E97132"/>
          </a:solidFill>
          <a:ln w="12700">
            <a:solidFill>
              <a:srgbClr val="E97132"/>
            </a:solidFill>
            <a:prstDash val="solid"/>
          </a:ln>
        </p:spPr>
      </p:sp>
      <p:sp>
        <p:nvSpPr>
          <p:cNvPr id="13" name="Text 11"/>
          <p:cNvSpPr/>
          <p:nvPr/>
        </p:nvSpPr>
        <p:spPr>
          <a:xfrm>
            <a:off x="4312920" y="1709928"/>
            <a:ext cx="35356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ENERGY DOWN</a:t>
            </a:r>
            <a:endParaRPr lang="en-US" sz="1400" dirty="0"/>
          </a:p>
        </p:txBody>
      </p:sp>
      <p:sp>
        <p:nvSpPr>
          <p:cNvPr id="14" name="Shape 12"/>
          <p:cNvSpPr/>
          <p:nvPr/>
        </p:nvSpPr>
        <p:spPr>
          <a:xfrm>
            <a:off x="4312920" y="2212848"/>
            <a:ext cx="3535680" cy="1371600"/>
          </a:xfrm>
          <a:prstGeom prst="roundRect">
            <a:avLst>
              <a:gd name="adj" fmla="val 4667"/>
            </a:avLst>
          </a:prstGeom>
          <a:solidFill>
            <a:srgbClr val="F2F5F7"/>
          </a:solidFill>
          <a:ln w="12700">
            <a:solidFill>
              <a:srgbClr val="C9D3DA"/>
            </a:solidFill>
            <a:prstDash val="solid"/>
          </a:ln>
        </p:spPr>
      </p:sp>
      <p:sp>
        <p:nvSpPr>
          <p:cNvPr id="15" name="Text 13"/>
          <p:cNvSpPr/>
          <p:nvPr/>
        </p:nvSpPr>
        <p:spPr>
          <a:xfrm>
            <a:off x="4459224" y="2350008"/>
            <a:ext cx="3243072" cy="109728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She gives out more in milk than she eats.</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She burns her own body fat. Fat fills the liver.</a:t>
            </a:r>
            <a:endParaRPr lang="en-US" sz="1250" dirty="0"/>
          </a:p>
        </p:txBody>
      </p:sp>
      <p:sp>
        <p:nvSpPr>
          <p:cNvPr id="16" name="Shape 14"/>
          <p:cNvSpPr/>
          <p:nvPr/>
        </p:nvSpPr>
        <p:spPr>
          <a:xfrm>
            <a:off x="8077200" y="1709928"/>
            <a:ext cx="3535680" cy="502920"/>
          </a:xfrm>
          <a:prstGeom prst="roundRect">
            <a:avLst>
              <a:gd name="adj" fmla="val 12727"/>
            </a:avLst>
          </a:prstGeom>
          <a:solidFill>
            <a:srgbClr val="A02B93"/>
          </a:solidFill>
          <a:ln w="12700">
            <a:solidFill>
              <a:srgbClr val="A02B93"/>
            </a:solidFill>
            <a:prstDash val="solid"/>
          </a:ln>
        </p:spPr>
      </p:sp>
      <p:sp>
        <p:nvSpPr>
          <p:cNvPr id="17" name="Text 15"/>
          <p:cNvSpPr/>
          <p:nvPr/>
        </p:nvSpPr>
        <p:spPr>
          <a:xfrm>
            <a:off x="8077200" y="1709928"/>
            <a:ext cx="35356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WOMB INFECTED</a:t>
            </a:r>
            <a:endParaRPr lang="en-US" sz="1400" dirty="0"/>
          </a:p>
        </p:txBody>
      </p:sp>
      <p:sp>
        <p:nvSpPr>
          <p:cNvPr id="18" name="Shape 16"/>
          <p:cNvSpPr/>
          <p:nvPr/>
        </p:nvSpPr>
        <p:spPr>
          <a:xfrm>
            <a:off x="8077200" y="2212848"/>
            <a:ext cx="3535680" cy="1371600"/>
          </a:xfrm>
          <a:prstGeom prst="roundRect">
            <a:avLst>
              <a:gd name="adj" fmla="val 4667"/>
            </a:avLst>
          </a:prstGeom>
          <a:solidFill>
            <a:srgbClr val="F2F5F7"/>
          </a:solidFill>
          <a:ln w="12700">
            <a:solidFill>
              <a:srgbClr val="C9D3DA"/>
            </a:solidFill>
            <a:prstDash val="solid"/>
          </a:ln>
        </p:spPr>
      </p:sp>
      <p:sp>
        <p:nvSpPr>
          <p:cNvPr id="19" name="Text 17"/>
          <p:cNvSpPr/>
          <p:nvPr/>
        </p:nvSpPr>
        <p:spPr>
          <a:xfrm>
            <a:off x="8223504" y="2350008"/>
            <a:ext cx="3243072" cy="1097280"/>
          </a:xfrm>
          <a:prstGeom prst="rect">
            <a:avLst/>
          </a:prstGeom>
          <a:noFill/>
          <a:ln/>
        </p:spPr>
        <p:txBody>
          <a:bodyPr wrap="square" lIns="0" tIns="0" rIns="0" bIns="0" rtlCol="0" anchor="t"/>
          <a:lstStyle/>
          <a:p>
            <a:pPr algn="l" indent="0" marL="0">
              <a:buNone/>
            </a:pPr>
            <a:r>
              <a:rPr lang="en-US" sz="1250" dirty="0">
                <a:solidFill>
                  <a:srgbClr val="0E2841"/>
                </a:solidFill>
                <a:latin typeface="Malgun Gothic" pitchFamily="34" charset="0"/>
                <a:ea typeface="Malgun Gothic" pitchFamily="34" charset="-122"/>
                <a:cs typeface="Malgun Gothic" pitchFamily="34" charset="-120"/>
              </a:rPr>
              <a:t>Her defence is lowest right at calving.</a:t>
            </a:r>
            <a:endParaRPr lang="en-US" sz="1250" dirty="0"/>
          </a:p>
          <a:p>
            <a:pPr algn="l" indent="0" marL="0">
              <a:buNone/>
            </a:pPr>
            <a:r>
              <a:rPr lang="en-US" sz="1250" dirty="0">
                <a:solidFill>
                  <a:srgbClr val="0E2841"/>
                </a:solidFill>
                <a:latin typeface="Malgun Gothic" pitchFamily="34" charset="0"/>
                <a:ea typeface="Malgun Gothic" pitchFamily="34" charset="-122"/>
                <a:cs typeface="Malgun Gothic" pitchFamily="34" charset="-120"/>
              </a:rPr>
              <a:t>Afterbirth stays. Bacteria grow.</a:t>
            </a:r>
            <a:endParaRPr lang="en-US" sz="1250" dirty="0"/>
          </a:p>
        </p:txBody>
      </p:sp>
      <p:sp>
        <p:nvSpPr>
          <p:cNvPr id="20" name="Shape 18"/>
          <p:cNvSpPr/>
          <p:nvPr/>
        </p:nvSpPr>
        <p:spPr>
          <a:xfrm>
            <a:off x="4111752" y="2715768"/>
            <a:ext cx="201168" cy="274320"/>
          </a:xfrm>
          <a:prstGeom prst="leftRightArrow">
            <a:avLst/>
          </a:prstGeom>
          <a:solidFill>
            <a:srgbClr val="6B7280"/>
          </a:solidFill>
          <a:ln w="12700">
            <a:solidFill>
              <a:srgbClr val="6B7280"/>
            </a:solidFill>
            <a:prstDash val="solid"/>
          </a:ln>
        </p:spPr>
      </p:sp>
      <p:sp>
        <p:nvSpPr>
          <p:cNvPr id="21" name="Shape 19"/>
          <p:cNvSpPr/>
          <p:nvPr/>
        </p:nvSpPr>
        <p:spPr>
          <a:xfrm>
            <a:off x="7876032" y="2715768"/>
            <a:ext cx="201168" cy="274320"/>
          </a:xfrm>
          <a:prstGeom prst="leftRightArrow">
            <a:avLst/>
          </a:prstGeom>
          <a:solidFill>
            <a:srgbClr val="6B7280"/>
          </a:solidFill>
          <a:ln w="12700">
            <a:solidFill>
              <a:srgbClr val="6B7280"/>
            </a:solidFill>
            <a:prstDash val="solid"/>
          </a:ln>
        </p:spPr>
      </p:sp>
      <p:sp>
        <p:nvSpPr>
          <p:cNvPr id="22" name="Shape 20"/>
          <p:cNvSpPr/>
          <p:nvPr/>
        </p:nvSpPr>
        <p:spPr>
          <a:xfrm>
            <a:off x="548640" y="3904488"/>
            <a:ext cx="11064240" cy="1325880"/>
          </a:xfrm>
          <a:prstGeom prst="roundRect">
            <a:avLst>
              <a:gd name="adj" fmla="val 5517"/>
            </a:avLst>
          </a:prstGeom>
          <a:solidFill>
            <a:srgbClr val="0E2841"/>
          </a:solidFill>
          <a:ln w="12700">
            <a:solidFill>
              <a:srgbClr val="0E2841"/>
            </a:solidFill>
            <a:prstDash val="solid"/>
          </a:ln>
        </p:spPr>
      </p:sp>
      <p:sp>
        <p:nvSpPr>
          <p:cNvPr id="23" name="Text 21"/>
          <p:cNvSpPr/>
          <p:nvPr/>
        </p:nvSpPr>
        <p:spPr>
          <a:xfrm>
            <a:off x="548640" y="4041648"/>
            <a:ext cx="1106424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Not three diseases.  ONE failure with three names.</a:t>
            </a:r>
            <a:endParaRPr lang="en-US" sz="2000" dirty="0"/>
          </a:p>
        </p:txBody>
      </p:sp>
      <p:sp>
        <p:nvSpPr>
          <p:cNvPr id="24" name="Text 22"/>
          <p:cNvSpPr/>
          <p:nvPr/>
        </p:nvSpPr>
        <p:spPr>
          <a:xfrm>
            <a:off x="548640" y="4498848"/>
            <a:ext cx="11064240" cy="420624"/>
          </a:xfrm>
          <a:prstGeom prst="rect">
            <a:avLst/>
          </a:prstGeom>
          <a:noFill/>
          <a:ln/>
        </p:spPr>
        <p:txBody>
          <a:bodyPr wrap="square" lIns="0" tIns="0" rIns="0" bIns="0" rtlCol="0" anchor="ctr"/>
          <a:lstStyle/>
          <a:p>
            <a:pPr algn="ctr" indent="0" marL="0">
              <a:buNone/>
            </a:pPr>
            <a:r>
              <a:rPr lang="en-US" sz="1600" dirty="0">
                <a:solidFill>
                  <a:srgbClr val="FFFFFF"/>
                </a:solidFill>
                <a:latin typeface="Malgun Gothic" pitchFamily="34" charset="0"/>
                <a:ea typeface="Malgun Gothic" pitchFamily="34" charset="-122"/>
                <a:cs typeface="Malgun Gothic" pitchFamily="34" charset="-120"/>
              </a:rPr>
              <a:t>And it is decided by how she was fed BEFORE she calved.</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Milk fever — calcium down</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Her milk takes out about ten times more calcium than her blood holds</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Calcium into the vein must go in SLOWLY. Fast calcium stops the heart.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52</a:t>
            </a:r>
            <a:endParaRPr lang="en-US" sz="900" dirty="0"/>
          </a:p>
        </p:txBody>
      </p:sp>
      <p:sp>
        <p:nvSpPr>
          <p:cNvPr id="8" name="Shape 6"/>
          <p:cNvSpPr/>
          <p:nvPr/>
        </p:nvSpPr>
        <p:spPr>
          <a:xfrm>
            <a:off x="548640" y="1618488"/>
            <a:ext cx="1770278" cy="548640"/>
          </a:xfrm>
          <a:prstGeom prst="roundRect">
            <a:avLst>
              <a:gd name="adj" fmla="val 3333"/>
            </a:avLst>
          </a:prstGeom>
          <a:solidFill>
            <a:srgbClr val="FFFFFF"/>
          </a:solidFill>
          <a:ln w="12700">
            <a:solidFill>
              <a:srgbClr val="C9D3DA"/>
            </a:solidFill>
            <a:prstDash val="solid"/>
          </a:ln>
        </p:spPr>
      </p:sp>
      <p:sp>
        <p:nvSpPr>
          <p:cNvPr id="9" name="Text 7"/>
          <p:cNvSpPr/>
          <p:nvPr/>
        </p:nvSpPr>
        <p:spPr>
          <a:xfrm>
            <a:off x="621792" y="1618488"/>
            <a:ext cx="1623974" cy="548640"/>
          </a:xfrm>
          <a:prstGeom prst="rect">
            <a:avLst/>
          </a:prstGeom>
          <a:noFill/>
          <a:ln/>
        </p:spPr>
        <p:txBody>
          <a:bodyPr wrap="square" lIns="0" tIns="0" rIns="0" bIns="0" rtlCol="0" anchor="ctr"/>
          <a:lstStyle/>
          <a:p>
            <a:pPr algn="l" indent="0" marL="0">
              <a:buNone/>
            </a:pPr>
            <a:r>
              <a:rPr lang="en-US" sz="1200" b="1" dirty="0">
                <a:solidFill>
                  <a:srgbClr val="0F9ED5"/>
                </a:solidFill>
                <a:latin typeface="Malgun Gothic" pitchFamily="34" charset="0"/>
                <a:ea typeface="Malgun Gothic" pitchFamily="34" charset="-122"/>
                <a:cs typeface="Malgun Gothic" pitchFamily="34" charset="-120"/>
              </a:rPr>
              <a:t>STAGE 1</a:t>
            </a:r>
            <a:endParaRPr lang="en-US" sz="1200" dirty="0"/>
          </a:p>
        </p:txBody>
      </p:sp>
      <p:sp>
        <p:nvSpPr>
          <p:cNvPr id="10" name="Shape 8"/>
          <p:cNvSpPr/>
          <p:nvPr/>
        </p:nvSpPr>
        <p:spPr>
          <a:xfrm>
            <a:off x="2318918" y="1618488"/>
            <a:ext cx="5974690" cy="548640"/>
          </a:xfrm>
          <a:prstGeom prst="roundRect">
            <a:avLst>
              <a:gd name="adj" fmla="val 3333"/>
            </a:avLst>
          </a:prstGeom>
          <a:solidFill>
            <a:srgbClr val="FFFFFF"/>
          </a:solidFill>
          <a:ln w="12700">
            <a:solidFill>
              <a:srgbClr val="C9D3DA"/>
            </a:solidFill>
            <a:prstDash val="solid"/>
          </a:ln>
        </p:spPr>
      </p:sp>
      <p:sp>
        <p:nvSpPr>
          <p:cNvPr id="11" name="Text 9"/>
          <p:cNvSpPr/>
          <p:nvPr/>
        </p:nvSpPr>
        <p:spPr>
          <a:xfrm>
            <a:off x="2392070" y="1618488"/>
            <a:ext cx="5828386" cy="54864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Still standing. Excited, trembling, unsteady.</a:t>
            </a:r>
            <a:endParaRPr lang="en-US" sz="1200" dirty="0"/>
          </a:p>
        </p:txBody>
      </p:sp>
      <p:sp>
        <p:nvSpPr>
          <p:cNvPr id="12" name="Shape 10"/>
          <p:cNvSpPr/>
          <p:nvPr/>
        </p:nvSpPr>
        <p:spPr>
          <a:xfrm>
            <a:off x="8293608" y="1618488"/>
            <a:ext cx="3319272" cy="548640"/>
          </a:xfrm>
          <a:prstGeom prst="roundRect">
            <a:avLst>
              <a:gd name="adj" fmla="val 3333"/>
            </a:avLst>
          </a:prstGeom>
          <a:solidFill>
            <a:srgbClr val="FFFFFF"/>
          </a:solidFill>
          <a:ln w="12700">
            <a:solidFill>
              <a:srgbClr val="C9D3DA"/>
            </a:solidFill>
            <a:prstDash val="solid"/>
          </a:ln>
        </p:spPr>
      </p:sp>
      <p:sp>
        <p:nvSpPr>
          <p:cNvPr id="13" name="Text 11"/>
          <p:cNvSpPr/>
          <p:nvPr/>
        </p:nvSpPr>
        <p:spPr>
          <a:xfrm>
            <a:off x="8366760" y="1618488"/>
            <a:ext cx="3172968" cy="548640"/>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Usually missed — look for it</a:t>
            </a:r>
            <a:endParaRPr lang="en-US" sz="1100" dirty="0"/>
          </a:p>
        </p:txBody>
      </p:sp>
      <p:sp>
        <p:nvSpPr>
          <p:cNvPr id="14" name="Shape 12"/>
          <p:cNvSpPr/>
          <p:nvPr/>
        </p:nvSpPr>
        <p:spPr>
          <a:xfrm>
            <a:off x="548640" y="2167128"/>
            <a:ext cx="1770278" cy="548640"/>
          </a:xfrm>
          <a:prstGeom prst="roundRect">
            <a:avLst>
              <a:gd name="adj" fmla="val 3333"/>
            </a:avLst>
          </a:prstGeom>
          <a:solidFill>
            <a:srgbClr val="F2F5F7"/>
          </a:solidFill>
          <a:ln w="12700">
            <a:solidFill>
              <a:srgbClr val="C9D3DA"/>
            </a:solidFill>
            <a:prstDash val="solid"/>
          </a:ln>
        </p:spPr>
      </p:sp>
      <p:sp>
        <p:nvSpPr>
          <p:cNvPr id="15" name="Text 13"/>
          <p:cNvSpPr/>
          <p:nvPr/>
        </p:nvSpPr>
        <p:spPr>
          <a:xfrm>
            <a:off x="621792" y="2167128"/>
            <a:ext cx="1623974" cy="54864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STAGE 2</a:t>
            </a:r>
            <a:endParaRPr lang="en-US" sz="1200" dirty="0"/>
          </a:p>
        </p:txBody>
      </p:sp>
      <p:sp>
        <p:nvSpPr>
          <p:cNvPr id="16" name="Shape 14"/>
          <p:cNvSpPr/>
          <p:nvPr/>
        </p:nvSpPr>
        <p:spPr>
          <a:xfrm>
            <a:off x="2318918" y="2167128"/>
            <a:ext cx="5974690" cy="548640"/>
          </a:xfrm>
          <a:prstGeom prst="roundRect">
            <a:avLst>
              <a:gd name="adj" fmla="val 3333"/>
            </a:avLst>
          </a:prstGeom>
          <a:solidFill>
            <a:srgbClr val="F2F5F7"/>
          </a:solidFill>
          <a:ln w="12700">
            <a:solidFill>
              <a:srgbClr val="C9D3DA"/>
            </a:solidFill>
            <a:prstDash val="solid"/>
          </a:ln>
        </p:spPr>
      </p:sp>
      <p:sp>
        <p:nvSpPr>
          <p:cNvPr id="17" name="Text 15"/>
          <p:cNvSpPr/>
          <p:nvPr/>
        </p:nvSpPr>
        <p:spPr>
          <a:xfrm>
            <a:off x="2392070" y="2167128"/>
            <a:ext cx="5828386" cy="54864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Sitting up. Head turned to the flank, S-shaped neck. Cold ears. Dry nose.</a:t>
            </a:r>
            <a:endParaRPr lang="en-US" sz="1200" dirty="0"/>
          </a:p>
        </p:txBody>
      </p:sp>
      <p:sp>
        <p:nvSpPr>
          <p:cNvPr id="18" name="Shape 16"/>
          <p:cNvSpPr/>
          <p:nvPr/>
        </p:nvSpPr>
        <p:spPr>
          <a:xfrm>
            <a:off x="8293608" y="2167128"/>
            <a:ext cx="3319272" cy="548640"/>
          </a:xfrm>
          <a:prstGeom prst="roundRect">
            <a:avLst>
              <a:gd name="adj" fmla="val 3333"/>
            </a:avLst>
          </a:prstGeom>
          <a:solidFill>
            <a:srgbClr val="F2F5F7"/>
          </a:solidFill>
          <a:ln w="12700">
            <a:solidFill>
              <a:srgbClr val="C9D3DA"/>
            </a:solidFill>
            <a:prstDash val="solid"/>
          </a:ln>
        </p:spPr>
      </p:sp>
      <p:sp>
        <p:nvSpPr>
          <p:cNvPr id="19" name="Text 17"/>
          <p:cNvSpPr/>
          <p:nvPr/>
        </p:nvSpPr>
        <p:spPr>
          <a:xfrm>
            <a:off x="8366760" y="2167128"/>
            <a:ext cx="3172968" cy="548640"/>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The classic picture</a:t>
            </a:r>
            <a:endParaRPr lang="en-US" sz="1100" dirty="0"/>
          </a:p>
        </p:txBody>
      </p:sp>
      <p:sp>
        <p:nvSpPr>
          <p:cNvPr id="20" name="Shape 18"/>
          <p:cNvSpPr/>
          <p:nvPr/>
        </p:nvSpPr>
        <p:spPr>
          <a:xfrm>
            <a:off x="548640" y="2715768"/>
            <a:ext cx="1770278" cy="548640"/>
          </a:xfrm>
          <a:prstGeom prst="roundRect">
            <a:avLst>
              <a:gd name="adj" fmla="val 3333"/>
            </a:avLst>
          </a:prstGeom>
          <a:solidFill>
            <a:srgbClr val="FFFFFF"/>
          </a:solidFill>
          <a:ln w="12700">
            <a:solidFill>
              <a:srgbClr val="C9D3DA"/>
            </a:solidFill>
            <a:prstDash val="solid"/>
          </a:ln>
        </p:spPr>
      </p:sp>
      <p:sp>
        <p:nvSpPr>
          <p:cNvPr id="21" name="Text 19"/>
          <p:cNvSpPr/>
          <p:nvPr/>
        </p:nvSpPr>
        <p:spPr>
          <a:xfrm>
            <a:off x="621792" y="2715768"/>
            <a:ext cx="1623974" cy="54864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STAGE 3</a:t>
            </a:r>
            <a:endParaRPr lang="en-US" sz="1200" dirty="0"/>
          </a:p>
        </p:txBody>
      </p:sp>
      <p:sp>
        <p:nvSpPr>
          <p:cNvPr id="22" name="Shape 20"/>
          <p:cNvSpPr/>
          <p:nvPr/>
        </p:nvSpPr>
        <p:spPr>
          <a:xfrm>
            <a:off x="2318918" y="2715768"/>
            <a:ext cx="5974690" cy="548640"/>
          </a:xfrm>
          <a:prstGeom prst="roundRect">
            <a:avLst>
              <a:gd name="adj" fmla="val 3333"/>
            </a:avLst>
          </a:prstGeom>
          <a:solidFill>
            <a:srgbClr val="FFFFFF"/>
          </a:solidFill>
          <a:ln w="12700">
            <a:solidFill>
              <a:srgbClr val="C9D3DA"/>
            </a:solidFill>
            <a:prstDash val="solid"/>
          </a:ln>
        </p:spPr>
      </p:sp>
      <p:sp>
        <p:nvSpPr>
          <p:cNvPr id="23" name="Text 21"/>
          <p:cNvSpPr/>
          <p:nvPr/>
        </p:nvSpPr>
        <p:spPr>
          <a:xfrm>
            <a:off x="2392070" y="2715768"/>
            <a:ext cx="5828386" cy="54864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Flat on her side. Cannot lift her head. Bloated.</a:t>
            </a:r>
            <a:endParaRPr lang="en-US" sz="1200" dirty="0"/>
          </a:p>
        </p:txBody>
      </p:sp>
      <p:sp>
        <p:nvSpPr>
          <p:cNvPr id="24" name="Shape 22"/>
          <p:cNvSpPr/>
          <p:nvPr/>
        </p:nvSpPr>
        <p:spPr>
          <a:xfrm>
            <a:off x="8293608" y="2715768"/>
            <a:ext cx="3319272" cy="548640"/>
          </a:xfrm>
          <a:prstGeom prst="roundRect">
            <a:avLst>
              <a:gd name="adj" fmla="val 3333"/>
            </a:avLst>
          </a:prstGeom>
          <a:solidFill>
            <a:srgbClr val="FFFFFF"/>
          </a:solidFill>
          <a:ln w="12700">
            <a:solidFill>
              <a:srgbClr val="C9D3DA"/>
            </a:solidFill>
            <a:prstDash val="solid"/>
          </a:ln>
        </p:spPr>
      </p:sp>
      <p:sp>
        <p:nvSpPr>
          <p:cNvPr id="25" name="Text 23"/>
          <p:cNvSpPr/>
          <p:nvPr/>
        </p:nvSpPr>
        <p:spPr>
          <a:xfrm>
            <a:off x="8366760" y="2715768"/>
            <a:ext cx="3172968" cy="548640"/>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Dying</a:t>
            </a:r>
            <a:endParaRPr lang="en-US" sz="1100" dirty="0"/>
          </a:p>
        </p:txBody>
      </p:sp>
      <p:sp>
        <p:nvSpPr>
          <p:cNvPr id="26" name="Shape 24"/>
          <p:cNvSpPr/>
          <p:nvPr/>
        </p:nvSpPr>
        <p:spPr>
          <a:xfrm>
            <a:off x="548640" y="3264408"/>
            <a:ext cx="1770278" cy="548640"/>
          </a:xfrm>
          <a:prstGeom prst="roundRect">
            <a:avLst>
              <a:gd name="adj" fmla="val 3333"/>
            </a:avLst>
          </a:prstGeom>
          <a:solidFill>
            <a:srgbClr val="F2F5F7"/>
          </a:solidFill>
          <a:ln w="12700">
            <a:solidFill>
              <a:srgbClr val="C9D3DA"/>
            </a:solidFill>
            <a:prstDash val="solid"/>
          </a:ln>
        </p:spPr>
      </p:sp>
      <p:sp>
        <p:nvSpPr>
          <p:cNvPr id="27" name="Text 25"/>
          <p:cNvSpPr/>
          <p:nvPr/>
        </p:nvSpPr>
        <p:spPr>
          <a:xfrm>
            <a:off x="621792" y="3264408"/>
            <a:ext cx="1623974" cy="548640"/>
          </a:xfrm>
          <a:prstGeom prst="rect">
            <a:avLst/>
          </a:prstGeom>
          <a:noFill/>
          <a:ln/>
        </p:spPr>
        <p:txBody>
          <a:bodyPr wrap="square" lIns="0" tIns="0" rIns="0" bIns="0" rtlCol="0" anchor="ctr"/>
          <a:lstStyle/>
          <a:p>
            <a:pPr algn="l" indent="0" marL="0">
              <a:buNone/>
            </a:pPr>
            <a:r>
              <a:rPr lang="en-US" sz="1200" b="1" dirty="0">
                <a:solidFill>
                  <a:srgbClr val="A02B93"/>
                </a:solidFill>
                <a:latin typeface="Malgun Gothic" pitchFamily="34" charset="0"/>
                <a:ea typeface="Malgun Gothic" pitchFamily="34" charset="-122"/>
                <a:cs typeface="Malgun Gothic" pitchFamily="34" charset="-120"/>
              </a:rPr>
              <a:t>TREAT (VET)</a:t>
            </a:r>
            <a:endParaRPr lang="en-US" sz="1200" dirty="0"/>
          </a:p>
        </p:txBody>
      </p:sp>
      <p:sp>
        <p:nvSpPr>
          <p:cNvPr id="28" name="Shape 26"/>
          <p:cNvSpPr/>
          <p:nvPr/>
        </p:nvSpPr>
        <p:spPr>
          <a:xfrm>
            <a:off x="2318918" y="3264408"/>
            <a:ext cx="5974690" cy="548640"/>
          </a:xfrm>
          <a:prstGeom prst="roundRect">
            <a:avLst>
              <a:gd name="adj" fmla="val 3333"/>
            </a:avLst>
          </a:prstGeom>
          <a:solidFill>
            <a:srgbClr val="F2F5F7"/>
          </a:solidFill>
          <a:ln w="12700">
            <a:solidFill>
              <a:srgbClr val="C9D3DA"/>
            </a:solidFill>
            <a:prstDash val="solid"/>
          </a:ln>
        </p:spPr>
      </p:sp>
      <p:sp>
        <p:nvSpPr>
          <p:cNvPr id="29" name="Text 27"/>
          <p:cNvSpPr/>
          <p:nvPr/>
        </p:nvSpPr>
        <p:spPr>
          <a:xfrm>
            <a:off x="2392070" y="3264408"/>
            <a:ext cx="5828386" cy="54864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Calcium into the vein — SLOWLY, over 8–10 minutes, listening to the heart</a:t>
            </a:r>
            <a:endParaRPr lang="en-US" sz="1200" dirty="0"/>
          </a:p>
        </p:txBody>
      </p:sp>
      <p:sp>
        <p:nvSpPr>
          <p:cNvPr id="30" name="Shape 28"/>
          <p:cNvSpPr/>
          <p:nvPr/>
        </p:nvSpPr>
        <p:spPr>
          <a:xfrm>
            <a:off x="8293608" y="3264408"/>
            <a:ext cx="3319272" cy="548640"/>
          </a:xfrm>
          <a:prstGeom prst="roundRect">
            <a:avLst>
              <a:gd name="adj" fmla="val 3333"/>
            </a:avLst>
          </a:prstGeom>
          <a:solidFill>
            <a:srgbClr val="F2F5F7"/>
          </a:solidFill>
          <a:ln w="12700">
            <a:solidFill>
              <a:srgbClr val="C9D3DA"/>
            </a:solidFill>
            <a:prstDash val="solid"/>
          </a:ln>
        </p:spPr>
      </p:sp>
      <p:sp>
        <p:nvSpPr>
          <p:cNvPr id="31" name="Text 29"/>
          <p:cNvSpPr/>
          <p:nvPr/>
        </p:nvSpPr>
        <p:spPr>
          <a:xfrm>
            <a:off x="8366760" y="3264408"/>
            <a:ext cx="3172968" cy="548640"/>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Then calcium by mouth</a:t>
            </a:r>
            <a:endParaRPr lang="en-US" sz="1100" dirty="0"/>
          </a:p>
        </p:txBody>
      </p:sp>
      <p:sp>
        <p:nvSpPr>
          <p:cNvPr id="32" name="Shape 30"/>
          <p:cNvSpPr/>
          <p:nvPr/>
        </p:nvSpPr>
        <p:spPr>
          <a:xfrm>
            <a:off x="548640" y="3813048"/>
            <a:ext cx="1770278" cy="548640"/>
          </a:xfrm>
          <a:prstGeom prst="roundRect">
            <a:avLst>
              <a:gd name="adj" fmla="val 3333"/>
            </a:avLst>
          </a:prstGeom>
          <a:solidFill>
            <a:srgbClr val="FFFFFF"/>
          </a:solidFill>
          <a:ln w="12700">
            <a:solidFill>
              <a:srgbClr val="C9D3DA"/>
            </a:solidFill>
            <a:prstDash val="solid"/>
          </a:ln>
        </p:spPr>
      </p:sp>
      <p:sp>
        <p:nvSpPr>
          <p:cNvPr id="33" name="Text 31"/>
          <p:cNvSpPr/>
          <p:nvPr/>
        </p:nvSpPr>
        <p:spPr>
          <a:xfrm>
            <a:off x="621792" y="3813048"/>
            <a:ext cx="1623974" cy="54864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DANGER</a:t>
            </a:r>
            <a:endParaRPr lang="en-US" sz="1200" dirty="0"/>
          </a:p>
        </p:txBody>
      </p:sp>
      <p:sp>
        <p:nvSpPr>
          <p:cNvPr id="34" name="Shape 32"/>
          <p:cNvSpPr/>
          <p:nvPr/>
        </p:nvSpPr>
        <p:spPr>
          <a:xfrm>
            <a:off x="2318918" y="3813048"/>
            <a:ext cx="5974690" cy="548640"/>
          </a:xfrm>
          <a:prstGeom prst="roundRect">
            <a:avLst>
              <a:gd name="adj" fmla="val 3333"/>
            </a:avLst>
          </a:prstGeom>
          <a:solidFill>
            <a:srgbClr val="FFFFFF"/>
          </a:solidFill>
          <a:ln w="12700">
            <a:solidFill>
              <a:srgbClr val="C9D3DA"/>
            </a:solidFill>
            <a:prstDash val="solid"/>
          </a:ln>
        </p:spPr>
      </p:sp>
      <p:sp>
        <p:nvSpPr>
          <p:cNvPr id="35" name="Text 33"/>
          <p:cNvSpPr/>
          <p:nvPr/>
        </p:nvSpPr>
        <p:spPr>
          <a:xfrm>
            <a:off x="2392070" y="3813048"/>
            <a:ext cx="5828386" cy="548640"/>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Fast calcium into the vein STOPS THE HEART</a:t>
            </a:r>
            <a:endParaRPr lang="en-US" sz="1200" dirty="0"/>
          </a:p>
        </p:txBody>
      </p:sp>
      <p:sp>
        <p:nvSpPr>
          <p:cNvPr id="36" name="Shape 34"/>
          <p:cNvSpPr/>
          <p:nvPr/>
        </p:nvSpPr>
        <p:spPr>
          <a:xfrm>
            <a:off x="8293608" y="3813048"/>
            <a:ext cx="3319272" cy="548640"/>
          </a:xfrm>
          <a:prstGeom prst="roundRect">
            <a:avLst>
              <a:gd name="adj" fmla="val 3333"/>
            </a:avLst>
          </a:prstGeom>
          <a:solidFill>
            <a:srgbClr val="FFFFFF"/>
          </a:solidFill>
          <a:ln w="12700">
            <a:solidFill>
              <a:srgbClr val="C9D3DA"/>
            </a:solidFill>
            <a:prstDash val="solid"/>
          </a:ln>
        </p:spPr>
      </p:sp>
      <p:sp>
        <p:nvSpPr>
          <p:cNvPr id="37" name="Text 35"/>
          <p:cNvSpPr/>
          <p:nvPr/>
        </p:nvSpPr>
        <p:spPr>
          <a:xfrm>
            <a:off x="8366760" y="3813048"/>
            <a:ext cx="3172968" cy="548640"/>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This is a veterinary act</a:t>
            </a:r>
            <a:endParaRPr lang="en-US" sz="1100" dirty="0"/>
          </a:p>
        </p:txBody>
      </p:sp>
      <p:sp>
        <p:nvSpPr>
          <p:cNvPr id="38" name="Shape 36"/>
          <p:cNvSpPr/>
          <p:nvPr/>
        </p:nvSpPr>
        <p:spPr>
          <a:xfrm>
            <a:off x="548640" y="4361688"/>
            <a:ext cx="1770278" cy="548640"/>
          </a:xfrm>
          <a:prstGeom prst="roundRect">
            <a:avLst>
              <a:gd name="adj" fmla="val 3333"/>
            </a:avLst>
          </a:prstGeom>
          <a:solidFill>
            <a:srgbClr val="F2F5F7"/>
          </a:solidFill>
          <a:ln w="12700">
            <a:solidFill>
              <a:srgbClr val="C9D3DA"/>
            </a:solidFill>
            <a:prstDash val="solid"/>
          </a:ln>
        </p:spPr>
      </p:sp>
      <p:sp>
        <p:nvSpPr>
          <p:cNvPr id="39" name="Text 37"/>
          <p:cNvSpPr/>
          <p:nvPr/>
        </p:nvSpPr>
        <p:spPr>
          <a:xfrm>
            <a:off x="621792" y="4361688"/>
            <a:ext cx="1623974" cy="548640"/>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PREVENT</a:t>
            </a:r>
            <a:endParaRPr lang="en-US" sz="1200" dirty="0"/>
          </a:p>
        </p:txBody>
      </p:sp>
      <p:sp>
        <p:nvSpPr>
          <p:cNvPr id="40" name="Shape 38"/>
          <p:cNvSpPr/>
          <p:nvPr/>
        </p:nvSpPr>
        <p:spPr>
          <a:xfrm>
            <a:off x="2318918" y="4361688"/>
            <a:ext cx="5974690" cy="548640"/>
          </a:xfrm>
          <a:prstGeom prst="roundRect">
            <a:avLst>
              <a:gd name="adj" fmla="val 3333"/>
            </a:avLst>
          </a:prstGeom>
          <a:solidFill>
            <a:srgbClr val="F2F5F7"/>
          </a:solidFill>
          <a:ln w="12700">
            <a:solidFill>
              <a:srgbClr val="C9D3DA"/>
            </a:solidFill>
            <a:prstDash val="solid"/>
          </a:ln>
        </p:spPr>
      </p:sp>
      <p:sp>
        <p:nvSpPr>
          <p:cNvPr id="41" name="Text 39"/>
          <p:cNvSpPr/>
          <p:nvPr/>
        </p:nvSpPr>
        <p:spPr>
          <a:xfrm>
            <a:off x="2392070" y="4361688"/>
            <a:ext cx="5828386" cy="548640"/>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Control the dry-cow ration. Avoid high-potassium forage before calving.</a:t>
            </a:r>
            <a:endParaRPr lang="en-US" sz="1200" dirty="0"/>
          </a:p>
        </p:txBody>
      </p:sp>
      <p:sp>
        <p:nvSpPr>
          <p:cNvPr id="42" name="Shape 40"/>
          <p:cNvSpPr/>
          <p:nvPr/>
        </p:nvSpPr>
        <p:spPr>
          <a:xfrm>
            <a:off x="8293608" y="4361688"/>
            <a:ext cx="3319272" cy="548640"/>
          </a:xfrm>
          <a:prstGeom prst="roundRect">
            <a:avLst>
              <a:gd name="adj" fmla="val 3333"/>
            </a:avLst>
          </a:prstGeom>
          <a:solidFill>
            <a:srgbClr val="F2F5F7"/>
          </a:solidFill>
          <a:ln w="12700">
            <a:solidFill>
              <a:srgbClr val="C9D3DA"/>
            </a:solidFill>
            <a:prstDash val="solid"/>
          </a:ln>
        </p:spPr>
      </p:sp>
      <p:sp>
        <p:nvSpPr>
          <p:cNvPr id="43" name="Text 41"/>
          <p:cNvSpPr/>
          <p:nvPr/>
        </p:nvSpPr>
        <p:spPr>
          <a:xfrm>
            <a:off x="8366760" y="4361688"/>
            <a:ext cx="3172968" cy="548640"/>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Oral calcium at calving for older cows</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hidden calcium problem</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She never goes down — but everything else goes wrong</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One cow in four with hidden low calcium. She does not fall. She just fails at everything.</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53</a:t>
            </a:r>
            <a:endParaRPr lang="en-US" sz="900" dirty="0"/>
          </a:p>
        </p:txBody>
      </p:sp>
      <p:sp>
        <p:nvSpPr>
          <p:cNvPr id="8" name="Shape 6"/>
          <p:cNvSpPr/>
          <p:nvPr/>
        </p:nvSpPr>
        <p:spPr>
          <a:xfrm>
            <a:off x="1463040" y="1755648"/>
            <a:ext cx="4489704" cy="1325880"/>
          </a:xfrm>
          <a:prstGeom prst="roundRect">
            <a:avLst>
              <a:gd name="adj" fmla="val 4828"/>
            </a:avLst>
          </a:prstGeom>
          <a:solidFill>
            <a:srgbClr val="F2F5F7"/>
          </a:solidFill>
          <a:ln w="12700">
            <a:solidFill>
              <a:srgbClr val="C9D3DA"/>
            </a:solidFill>
            <a:prstDash val="solid"/>
          </a:ln>
        </p:spPr>
      </p:sp>
      <p:sp>
        <p:nvSpPr>
          <p:cNvPr id="9" name="Text 7"/>
          <p:cNvSpPr/>
          <p:nvPr/>
        </p:nvSpPr>
        <p:spPr>
          <a:xfrm>
            <a:off x="1463040" y="1865376"/>
            <a:ext cx="4489704" cy="636422"/>
          </a:xfrm>
          <a:prstGeom prst="rect">
            <a:avLst/>
          </a:prstGeom>
          <a:noFill/>
          <a:ln/>
        </p:spPr>
        <p:txBody>
          <a:bodyPr wrap="square" lIns="0" tIns="0" rIns="0" bIns="0" rtlCol="0" anchor="ctr"/>
          <a:lstStyle/>
          <a:p>
            <a:pPr algn="ctr" indent="0" marL="0">
              <a:buNone/>
            </a:pPr>
            <a:r>
              <a:rPr lang="en-US" sz="2600" b="1" dirty="0">
                <a:solidFill>
                  <a:srgbClr val="156082"/>
                </a:solidFill>
                <a:latin typeface="Malgun Gothic" pitchFamily="34" charset="0"/>
                <a:ea typeface="Malgun Gothic" pitchFamily="34" charset="-122"/>
                <a:cs typeface="Malgun Gothic" pitchFamily="34" charset="-120"/>
              </a:rPr>
              <a:t>3–8 in 100</a:t>
            </a:r>
            <a:endParaRPr lang="en-US" sz="2600" dirty="0"/>
          </a:p>
        </p:txBody>
      </p:sp>
      <p:sp>
        <p:nvSpPr>
          <p:cNvPr id="10" name="Text 8"/>
          <p:cNvSpPr/>
          <p:nvPr/>
        </p:nvSpPr>
        <p:spPr>
          <a:xfrm>
            <a:off x="1554480" y="2524658"/>
            <a:ext cx="4306824" cy="477317"/>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go down — you see these</a:t>
            </a:r>
            <a:endParaRPr lang="en-US" sz="1100" dirty="0"/>
          </a:p>
        </p:txBody>
      </p:sp>
      <p:sp>
        <p:nvSpPr>
          <p:cNvPr id="11" name="Shape 9"/>
          <p:cNvSpPr/>
          <p:nvPr/>
        </p:nvSpPr>
        <p:spPr>
          <a:xfrm>
            <a:off x="6208776" y="1755648"/>
            <a:ext cx="4489704" cy="1325880"/>
          </a:xfrm>
          <a:prstGeom prst="roundRect">
            <a:avLst>
              <a:gd name="adj" fmla="val 4828"/>
            </a:avLst>
          </a:prstGeom>
          <a:solidFill>
            <a:srgbClr val="F2F5F7"/>
          </a:solidFill>
          <a:ln w="12700">
            <a:solidFill>
              <a:srgbClr val="C9D3DA"/>
            </a:solidFill>
            <a:prstDash val="solid"/>
          </a:ln>
        </p:spPr>
      </p:sp>
      <p:sp>
        <p:nvSpPr>
          <p:cNvPr id="12" name="Text 10"/>
          <p:cNvSpPr/>
          <p:nvPr/>
        </p:nvSpPr>
        <p:spPr>
          <a:xfrm>
            <a:off x="6208776" y="1865376"/>
            <a:ext cx="4489704" cy="636422"/>
          </a:xfrm>
          <a:prstGeom prst="rect">
            <a:avLst/>
          </a:prstGeom>
          <a:noFill/>
          <a:ln/>
        </p:spPr>
        <p:txBody>
          <a:bodyPr wrap="square" lIns="0" tIns="0" rIns="0" bIns="0" rtlCol="0" anchor="ctr"/>
          <a:lstStyle/>
          <a:p>
            <a:pPr algn="ctr" indent="0" marL="0">
              <a:buNone/>
            </a:pPr>
            <a:r>
              <a:rPr lang="en-US" sz="2400" b="1" dirty="0">
                <a:solidFill>
                  <a:srgbClr val="E97132"/>
                </a:solidFill>
                <a:latin typeface="Malgun Gothic" pitchFamily="34" charset="0"/>
                <a:ea typeface="Malgun Gothic" pitchFamily="34" charset="-122"/>
                <a:cs typeface="Malgun Gothic" pitchFamily="34" charset="-120"/>
              </a:rPr>
              <a:t>1 in 4 or more</a:t>
            </a:r>
            <a:endParaRPr lang="en-US" sz="2400" dirty="0"/>
          </a:p>
        </p:txBody>
      </p:sp>
      <p:sp>
        <p:nvSpPr>
          <p:cNvPr id="13" name="Text 11"/>
          <p:cNvSpPr/>
          <p:nvPr/>
        </p:nvSpPr>
        <p:spPr>
          <a:xfrm>
            <a:off x="6300216" y="2524658"/>
            <a:ext cx="4306824" cy="477317"/>
          </a:xfrm>
          <a:prstGeom prst="rect">
            <a:avLst/>
          </a:prstGeom>
          <a:noFill/>
          <a:ln/>
        </p:spPr>
        <p:txBody>
          <a:bodyPr wrap="square" lIns="0" tIns="0" rIns="0" bIns="0" rtlCol="0" anchor="ctr"/>
          <a:lstStyle/>
          <a:p>
            <a:pPr algn="ctr" indent="0" marL="0">
              <a:buNone/>
            </a:pPr>
            <a:r>
              <a:rPr lang="en-US" sz="1100" dirty="0">
                <a:solidFill>
                  <a:srgbClr val="0E2841"/>
                </a:solidFill>
                <a:latin typeface="Malgun Gothic" pitchFamily="34" charset="0"/>
                <a:ea typeface="Malgun Gothic" pitchFamily="34" charset="-122"/>
                <a:cs typeface="Malgun Gothic" pitchFamily="34" charset="-120"/>
              </a:rPr>
              <a:t>hidden low calcium — nobody sees these</a:t>
            </a:r>
            <a:endParaRPr lang="en-US" sz="1100" dirty="0"/>
          </a:p>
        </p:txBody>
      </p:sp>
      <p:sp>
        <p:nvSpPr>
          <p:cNvPr id="14" name="Shape 12"/>
          <p:cNvSpPr/>
          <p:nvPr/>
        </p:nvSpPr>
        <p:spPr>
          <a:xfrm>
            <a:off x="548640" y="3355848"/>
            <a:ext cx="3566160" cy="749808"/>
          </a:xfrm>
          <a:prstGeom prst="roundRect">
            <a:avLst>
              <a:gd name="adj" fmla="val 8537"/>
            </a:avLst>
          </a:prstGeom>
          <a:solidFill>
            <a:srgbClr val="FBEDE2"/>
          </a:solidFill>
          <a:ln w="12700">
            <a:solidFill>
              <a:srgbClr val="E97132"/>
            </a:solidFill>
            <a:prstDash val="solid"/>
          </a:ln>
        </p:spPr>
      </p:sp>
      <p:sp>
        <p:nvSpPr>
          <p:cNvPr id="15" name="Text 13"/>
          <p:cNvSpPr/>
          <p:nvPr/>
        </p:nvSpPr>
        <p:spPr>
          <a:xfrm>
            <a:off x="658368" y="3355848"/>
            <a:ext cx="3346704" cy="749808"/>
          </a:xfrm>
          <a:prstGeom prst="rect">
            <a:avLst/>
          </a:prstGeom>
          <a:noFill/>
          <a:ln/>
        </p:spPr>
        <p:txBody>
          <a:bodyPr wrap="square" lIns="0" tIns="0" rIns="0" bIns="0" rtlCol="0" anchor="ctr"/>
          <a:lstStyle/>
          <a:p>
            <a:pPr algn="ctr" indent="0" marL="0">
              <a:buNone/>
            </a:pPr>
            <a:r>
              <a:rPr lang="en-US" sz="1250" dirty="0">
                <a:solidFill>
                  <a:srgbClr val="0E2841"/>
                </a:solidFill>
                <a:latin typeface="Malgun Gothic" pitchFamily="34" charset="0"/>
                <a:ea typeface="Malgun Gothic" pitchFamily="34" charset="-122"/>
                <a:cs typeface="Malgun Gothic" pitchFamily="34" charset="-120"/>
              </a:rPr>
              <a:t>Womb has no push → afterbirth stays</a:t>
            </a:r>
            <a:endParaRPr lang="en-US" sz="1250" dirty="0"/>
          </a:p>
        </p:txBody>
      </p:sp>
      <p:sp>
        <p:nvSpPr>
          <p:cNvPr id="16" name="Shape 14"/>
          <p:cNvSpPr/>
          <p:nvPr/>
        </p:nvSpPr>
        <p:spPr>
          <a:xfrm>
            <a:off x="4297680" y="3355848"/>
            <a:ext cx="3566160" cy="749808"/>
          </a:xfrm>
          <a:prstGeom prst="roundRect">
            <a:avLst>
              <a:gd name="adj" fmla="val 8537"/>
            </a:avLst>
          </a:prstGeom>
          <a:solidFill>
            <a:srgbClr val="FBEDE2"/>
          </a:solidFill>
          <a:ln w="12700">
            <a:solidFill>
              <a:srgbClr val="E97132"/>
            </a:solidFill>
            <a:prstDash val="solid"/>
          </a:ln>
        </p:spPr>
      </p:sp>
      <p:sp>
        <p:nvSpPr>
          <p:cNvPr id="17" name="Text 15"/>
          <p:cNvSpPr/>
          <p:nvPr/>
        </p:nvSpPr>
        <p:spPr>
          <a:xfrm>
            <a:off x="4407408" y="3355848"/>
            <a:ext cx="3346704" cy="749808"/>
          </a:xfrm>
          <a:prstGeom prst="rect">
            <a:avLst/>
          </a:prstGeom>
          <a:noFill/>
          <a:ln/>
        </p:spPr>
        <p:txBody>
          <a:bodyPr wrap="square" lIns="0" tIns="0" rIns="0" bIns="0" rtlCol="0" anchor="ctr"/>
          <a:lstStyle/>
          <a:p>
            <a:pPr algn="ctr" indent="0" marL="0">
              <a:buNone/>
            </a:pPr>
            <a:r>
              <a:rPr lang="en-US" sz="1250" dirty="0">
                <a:solidFill>
                  <a:srgbClr val="0E2841"/>
                </a:solidFill>
                <a:latin typeface="Malgun Gothic" pitchFamily="34" charset="0"/>
                <a:ea typeface="Malgun Gothic" pitchFamily="34" charset="-122"/>
                <a:cs typeface="Malgun Gothic" pitchFamily="34" charset="-120"/>
              </a:rPr>
              <a:t>Womb gets infected</a:t>
            </a:r>
            <a:endParaRPr lang="en-US" sz="1250" dirty="0"/>
          </a:p>
        </p:txBody>
      </p:sp>
      <p:sp>
        <p:nvSpPr>
          <p:cNvPr id="18" name="Shape 16"/>
          <p:cNvSpPr/>
          <p:nvPr/>
        </p:nvSpPr>
        <p:spPr>
          <a:xfrm>
            <a:off x="8046720" y="3355848"/>
            <a:ext cx="3566160" cy="749808"/>
          </a:xfrm>
          <a:prstGeom prst="roundRect">
            <a:avLst>
              <a:gd name="adj" fmla="val 8537"/>
            </a:avLst>
          </a:prstGeom>
          <a:solidFill>
            <a:srgbClr val="FBEDE2"/>
          </a:solidFill>
          <a:ln w="12700">
            <a:solidFill>
              <a:srgbClr val="E97132"/>
            </a:solidFill>
            <a:prstDash val="solid"/>
          </a:ln>
        </p:spPr>
      </p:sp>
      <p:sp>
        <p:nvSpPr>
          <p:cNvPr id="19" name="Text 17"/>
          <p:cNvSpPr/>
          <p:nvPr/>
        </p:nvSpPr>
        <p:spPr>
          <a:xfrm>
            <a:off x="8156448" y="3355848"/>
            <a:ext cx="3346704" cy="749808"/>
          </a:xfrm>
          <a:prstGeom prst="rect">
            <a:avLst/>
          </a:prstGeom>
          <a:noFill/>
          <a:ln/>
        </p:spPr>
        <p:txBody>
          <a:bodyPr wrap="square" lIns="0" tIns="0" rIns="0" bIns="0" rtlCol="0" anchor="ctr"/>
          <a:lstStyle/>
          <a:p>
            <a:pPr algn="ctr" indent="0" marL="0">
              <a:buNone/>
            </a:pPr>
            <a:r>
              <a:rPr lang="en-US" sz="1250" dirty="0">
                <a:solidFill>
                  <a:srgbClr val="0E2841"/>
                </a:solidFill>
                <a:latin typeface="Malgun Gothic" pitchFamily="34" charset="0"/>
                <a:ea typeface="Malgun Gothic" pitchFamily="34" charset="-122"/>
                <a:cs typeface="Malgun Gothic" pitchFamily="34" charset="-120"/>
              </a:rPr>
              <a:t>Teat muscle weak → mastitis</a:t>
            </a:r>
            <a:endParaRPr lang="en-US" sz="1250" dirty="0"/>
          </a:p>
        </p:txBody>
      </p:sp>
      <p:sp>
        <p:nvSpPr>
          <p:cNvPr id="20" name="Shape 18"/>
          <p:cNvSpPr/>
          <p:nvPr/>
        </p:nvSpPr>
        <p:spPr>
          <a:xfrm>
            <a:off x="548640" y="4251960"/>
            <a:ext cx="3566160" cy="749808"/>
          </a:xfrm>
          <a:prstGeom prst="roundRect">
            <a:avLst>
              <a:gd name="adj" fmla="val 8537"/>
            </a:avLst>
          </a:prstGeom>
          <a:solidFill>
            <a:srgbClr val="FBEDE2"/>
          </a:solidFill>
          <a:ln w="12700">
            <a:solidFill>
              <a:srgbClr val="E97132"/>
            </a:solidFill>
            <a:prstDash val="solid"/>
          </a:ln>
        </p:spPr>
      </p:sp>
      <p:sp>
        <p:nvSpPr>
          <p:cNvPr id="21" name="Text 19"/>
          <p:cNvSpPr/>
          <p:nvPr/>
        </p:nvSpPr>
        <p:spPr>
          <a:xfrm>
            <a:off x="658368" y="4251960"/>
            <a:ext cx="3346704" cy="749808"/>
          </a:xfrm>
          <a:prstGeom prst="rect">
            <a:avLst/>
          </a:prstGeom>
          <a:noFill/>
          <a:ln/>
        </p:spPr>
        <p:txBody>
          <a:bodyPr wrap="square" lIns="0" tIns="0" rIns="0" bIns="0" rtlCol="0" anchor="ctr"/>
          <a:lstStyle/>
          <a:p>
            <a:pPr algn="ctr" indent="0" marL="0">
              <a:buNone/>
            </a:pPr>
            <a:r>
              <a:rPr lang="en-US" sz="1250" dirty="0">
                <a:solidFill>
                  <a:srgbClr val="0E2841"/>
                </a:solidFill>
                <a:latin typeface="Malgun Gothic" pitchFamily="34" charset="0"/>
                <a:ea typeface="Malgun Gothic" pitchFamily="34" charset="-122"/>
                <a:cs typeface="Malgun Gothic" pitchFamily="34" charset="-120"/>
              </a:rPr>
              <a:t>Stomach slack → it twists</a:t>
            </a:r>
            <a:endParaRPr lang="en-US" sz="1250" dirty="0"/>
          </a:p>
        </p:txBody>
      </p:sp>
      <p:sp>
        <p:nvSpPr>
          <p:cNvPr id="22" name="Shape 20"/>
          <p:cNvSpPr/>
          <p:nvPr/>
        </p:nvSpPr>
        <p:spPr>
          <a:xfrm>
            <a:off x="4297680" y="4251960"/>
            <a:ext cx="3566160" cy="749808"/>
          </a:xfrm>
          <a:prstGeom prst="roundRect">
            <a:avLst>
              <a:gd name="adj" fmla="val 8537"/>
            </a:avLst>
          </a:prstGeom>
          <a:solidFill>
            <a:srgbClr val="FBEDE2"/>
          </a:solidFill>
          <a:ln w="12700">
            <a:solidFill>
              <a:srgbClr val="E97132"/>
            </a:solidFill>
            <a:prstDash val="solid"/>
          </a:ln>
        </p:spPr>
      </p:sp>
      <p:sp>
        <p:nvSpPr>
          <p:cNvPr id="23" name="Text 21"/>
          <p:cNvSpPr/>
          <p:nvPr/>
        </p:nvSpPr>
        <p:spPr>
          <a:xfrm>
            <a:off x="4407408" y="4251960"/>
            <a:ext cx="3346704" cy="749808"/>
          </a:xfrm>
          <a:prstGeom prst="rect">
            <a:avLst/>
          </a:prstGeom>
          <a:noFill/>
          <a:ln/>
        </p:spPr>
        <p:txBody>
          <a:bodyPr wrap="square" lIns="0" tIns="0" rIns="0" bIns="0" rtlCol="0" anchor="ctr"/>
          <a:lstStyle/>
          <a:p>
            <a:pPr algn="ctr" indent="0" marL="0">
              <a:buNone/>
            </a:pPr>
            <a:r>
              <a:rPr lang="en-US" sz="1250" dirty="0">
                <a:solidFill>
                  <a:srgbClr val="0E2841"/>
                </a:solidFill>
                <a:latin typeface="Malgun Gothic" pitchFamily="34" charset="0"/>
                <a:ea typeface="Malgun Gothic" pitchFamily="34" charset="-122"/>
                <a:cs typeface="Malgun Gothic" pitchFamily="34" charset="-120"/>
              </a:rPr>
              <a:t>Eats less → low energy, ketosis</a:t>
            </a:r>
            <a:endParaRPr lang="en-US" sz="1250" dirty="0"/>
          </a:p>
        </p:txBody>
      </p:sp>
      <p:sp>
        <p:nvSpPr>
          <p:cNvPr id="24" name="Shape 22"/>
          <p:cNvSpPr/>
          <p:nvPr/>
        </p:nvSpPr>
        <p:spPr>
          <a:xfrm>
            <a:off x="8046720" y="4251960"/>
            <a:ext cx="3566160" cy="749808"/>
          </a:xfrm>
          <a:prstGeom prst="roundRect">
            <a:avLst>
              <a:gd name="adj" fmla="val 8537"/>
            </a:avLst>
          </a:prstGeom>
          <a:solidFill>
            <a:srgbClr val="FBEDE2"/>
          </a:solidFill>
          <a:ln w="12700">
            <a:solidFill>
              <a:srgbClr val="E97132"/>
            </a:solidFill>
            <a:prstDash val="solid"/>
          </a:ln>
        </p:spPr>
      </p:sp>
      <p:sp>
        <p:nvSpPr>
          <p:cNvPr id="25" name="Text 23"/>
          <p:cNvSpPr/>
          <p:nvPr/>
        </p:nvSpPr>
        <p:spPr>
          <a:xfrm>
            <a:off x="8156448" y="4251960"/>
            <a:ext cx="3346704" cy="749808"/>
          </a:xfrm>
          <a:prstGeom prst="rect">
            <a:avLst/>
          </a:prstGeom>
          <a:noFill/>
          <a:ln/>
        </p:spPr>
        <p:txBody>
          <a:bodyPr wrap="square" lIns="0" tIns="0" rIns="0" bIns="0" rtlCol="0" anchor="ctr"/>
          <a:lstStyle/>
          <a:p>
            <a:pPr algn="ctr" indent="0" marL="0">
              <a:buNone/>
            </a:pPr>
            <a:r>
              <a:rPr lang="en-US" sz="1250" dirty="0">
                <a:solidFill>
                  <a:srgbClr val="0E2841"/>
                </a:solidFill>
                <a:latin typeface="Malgun Gothic" pitchFamily="34" charset="0"/>
                <a:ea typeface="Malgun Gothic" pitchFamily="34" charset="-122"/>
                <a:cs typeface="Malgun Gothic" pitchFamily="34" charset="-120"/>
              </a:rPr>
              <a:t>She does not get pregnant</a:t>
            </a:r>
            <a:endParaRPr lang="en-US" sz="1250" dirty="0"/>
          </a:p>
        </p:txBody>
      </p:sp>
      <p:sp>
        <p:nvSpPr>
          <p:cNvPr id="26" name="Shape 24"/>
          <p:cNvSpPr/>
          <p:nvPr/>
        </p:nvSpPr>
        <p:spPr>
          <a:xfrm>
            <a:off x="548640" y="5138928"/>
            <a:ext cx="11064240" cy="137160"/>
          </a:xfrm>
          <a:prstGeom prst="roundRect">
            <a:avLst/>
          </a:prstGeom>
          <a:solidFill>
            <a:srgbClr val="FFFFFF"/>
          </a:solidFill>
          <a:ln w="12700">
            <a:solidFill>
              <a:srgbClr val="FFFFFF"/>
            </a:solidFill>
            <a:prstDash val="solid"/>
          </a:ln>
        </p:spPr>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Ketosis — energy down</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She gives out more energy in milk than she can eat, so she burns her own body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She refuses the grain but still eats hay. That is the opposite of most sick cows — and it is the clue.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54</a:t>
            </a:r>
            <a:endParaRPr lang="en-US" sz="900" dirty="0"/>
          </a:p>
        </p:txBody>
      </p:sp>
      <p:sp>
        <p:nvSpPr>
          <p:cNvPr id="8" name="Shape 6"/>
          <p:cNvSpPr/>
          <p:nvPr/>
        </p:nvSpPr>
        <p:spPr>
          <a:xfrm>
            <a:off x="548640" y="1755648"/>
            <a:ext cx="2212848" cy="530352"/>
          </a:xfrm>
          <a:prstGeom prst="roundRect">
            <a:avLst>
              <a:gd name="adj" fmla="val 3448"/>
            </a:avLst>
          </a:prstGeom>
          <a:solidFill>
            <a:srgbClr val="FFFFFF"/>
          </a:solidFill>
          <a:ln w="12700">
            <a:solidFill>
              <a:srgbClr val="C9D3DA"/>
            </a:solidFill>
            <a:prstDash val="solid"/>
          </a:ln>
        </p:spPr>
      </p:sp>
      <p:sp>
        <p:nvSpPr>
          <p:cNvPr id="9" name="Text 7"/>
          <p:cNvSpPr/>
          <p:nvPr/>
        </p:nvSpPr>
        <p:spPr>
          <a:xfrm>
            <a:off x="621792" y="1755648"/>
            <a:ext cx="2066544" cy="53035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When</a:t>
            </a:r>
            <a:endParaRPr lang="en-US" sz="1200" dirty="0"/>
          </a:p>
        </p:txBody>
      </p:sp>
      <p:sp>
        <p:nvSpPr>
          <p:cNvPr id="10" name="Shape 8"/>
          <p:cNvSpPr/>
          <p:nvPr/>
        </p:nvSpPr>
        <p:spPr>
          <a:xfrm>
            <a:off x="2761488" y="1755648"/>
            <a:ext cx="8851392" cy="530352"/>
          </a:xfrm>
          <a:prstGeom prst="roundRect">
            <a:avLst>
              <a:gd name="adj" fmla="val 3448"/>
            </a:avLst>
          </a:prstGeom>
          <a:solidFill>
            <a:srgbClr val="FFFFFF"/>
          </a:solidFill>
          <a:ln w="12700">
            <a:solidFill>
              <a:srgbClr val="C9D3DA"/>
            </a:solidFill>
            <a:prstDash val="solid"/>
          </a:ln>
        </p:spPr>
      </p:sp>
      <p:sp>
        <p:nvSpPr>
          <p:cNvPr id="11" name="Text 9"/>
          <p:cNvSpPr/>
          <p:nvPr/>
        </p:nvSpPr>
        <p:spPr>
          <a:xfrm>
            <a:off x="2834640" y="1755648"/>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2 to 6 weeks after calving — peak milk</a:t>
            </a:r>
            <a:endParaRPr lang="en-US" sz="1200" dirty="0"/>
          </a:p>
        </p:txBody>
      </p:sp>
      <p:sp>
        <p:nvSpPr>
          <p:cNvPr id="12" name="Shape 10"/>
          <p:cNvSpPr/>
          <p:nvPr/>
        </p:nvSpPr>
        <p:spPr>
          <a:xfrm>
            <a:off x="548640" y="2286000"/>
            <a:ext cx="2212848" cy="530352"/>
          </a:xfrm>
          <a:prstGeom prst="roundRect">
            <a:avLst>
              <a:gd name="adj" fmla="val 3448"/>
            </a:avLst>
          </a:prstGeom>
          <a:solidFill>
            <a:srgbClr val="F2F5F7"/>
          </a:solidFill>
          <a:ln w="12700">
            <a:solidFill>
              <a:srgbClr val="C9D3DA"/>
            </a:solidFill>
            <a:prstDash val="solid"/>
          </a:ln>
        </p:spPr>
      </p:sp>
      <p:sp>
        <p:nvSpPr>
          <p:cNvPr id="13" name="Text 11"/>
          <p:cNvSpPr/>
          <p:nvPr/>
        </p:nvSpPr>
        <p:spPr>
          <a:xfrm>
            <a:off x="621792" y="2286000"/>
            <a:ext cx="2066544"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What you see</a:t>
            </a:r>
            <a:endParaRPr lang="en-US" sz="1200" dirty="0"/>
          </a:p>
        </p:txBody>
      </p:sp>
      <p:sp>
        <p:nvSpPr>
          <p:cNvPr id="14" name="Shape 12"/>
          <p:cNvSpPr/>
          <p:nvPr/>
        </p:nvSpPr>
        <p:spPr>
          <a:xfrm>
            <a:off x="2761488" y="2286000"/>
            <a:ext cx="8851392" cy="530352"/>
          </a:xfrm>
          <a:prstGeom prst="roundRect">
            <a:avLst>
              <a:gd name="adj" fmla="val 3448"/>
            </a:avLst>
          </a:prstGeom>
          <a:solidFill>
            <a:srgbClr val="F2F5F7"/>
          </a:solidFill>
          <a:ln w="12700">
            <a:solidFill>
              <a:srgbClr val="C9D3DA"/>
            </a:solidFill>
            <a:prstDash val="solid"/>
          </a:ln>
        </p:spPr>
      </p:sp>
      <p:sp>
        <p:nvSpPr>
          <p:cNvPr id="15" name="Text 13"/>
          <p:cNvSpPr/>
          <p:nvPr/>
        </p:nvSpPr>
        <p:spPr>
          <a:xfrm>
            <a:off x="2834640" y="2286000"/>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Milk drops · fast loss of condition · dull · firm scant manure</a:t>
            </a:r>
            <a:endParaRPr lang="en-US" sz="1200" dirty="0"/>
          </a:p>
        </p:txBody>
      </p:sp>
      <p:sp>
        <p:nvSpPr>
          <p:cNvPr id="16" name="Shape 14"/>
          <p:cNvSpPr/>
          <p:nvPr/>
        </p:nvSpPr>
        <p:spPr>
          <a:xfrm>
            <a:off x="548640" y="2816352"/>
            <a:ext cx="2212848" cy="530352"/>
          </a:xfrm>
          <a:prstGeom prst="roundRect">
            <a:avLst>
              <a:gd name="adj" fmla="val 3448"/>
            </a:avLst>
          </a:prstGeom>
          <a:solidFill>
            <a:srgbClr val="FFFFFF"/>
          </a:solidFill>
          <a:ln w="12700">
            <a:solidFill>
              <a:srgbClr val="C9D3DA"/>
            </a:solidFill>
            <a:prstDash val="solid"/>
          </a:ln>
        </p:spPr>
      </p:sp>
      <p:sp>
        <p:nvSpPr>
          <p:cNvPr id="17" name="Text 15"/>
          <p:cNvSpPr/>
          <p:nvPr/>
        </p:nvSpPr>
        <p:spPr>
          <a:xfrm>
            <a:off x="621792" y="2816352"/>
            <a:ext cx="2066544" cy="530352"/>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THE CLUE</a:t>
            </a:r>
            <a:endParaRPr lang="en-US" sz="1200" dirty="0"/>
          </a:p>
        </p:txBody>
      </p:sp>
      <p:sp>
        <p:nvSpPr>
          <p:cNvPr id="18" name="Shape 16"/>
          <p:cNvSpPr/>
          <p:nvPr/>
        </p:nvSpPr>
        <p:spPr>
          <a:xfrm>
            <a:off x="2761488" y="2816352"/>
            <a:ext cx="8851392" cy="530352"/>
          </a:xfrm>
          <a:prstGeom prst="roundRect">
            <a:avLst>
              <a:gd name="adj" fmla="val 3448"/>
            </a:avLst>
          </a:prstGeom>
          <a:solidFill>
            <a:srgbClr val="FFFFFF"/>
          </a:solidFill>
          <a:ln w="12700">
            <a:solidFill>
              <a:srgbClr val="C9D3DA"/>
            </a:solidFill>
            <a:prstDash val="solid"/>
          </a:ln>
        </p:spPr>
      </p:sp>
      <p:sp>
        <p:nvSpPr>
          <p:cNvPr id="19" name="Text 17"/>
          <p:cNvSpPr/>
          <p:nvPr/>
        </p:nvSpPr>
        <p:spPr>
          <a:xfrm>
            <a:off x="2834640" y="2816352"/>
            <a:ext cx="8705088" cy="530352"/>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She REFUSES GRAIN but still eats hay — opposite of most sick cows</a:t>
            </a:r>
            <a:endParaRPr lang="en-US" sz="1200" dirty="0"/>
          </a:p>
        </p:txBody>
      </p:sp>
      <p:sp>
        <p:nvSpPr>
          <p:cNvPr id="20" name="Shape 18"/>
          <p:cNvSpPr/>
          <p:nvPr/>
        </p:nvSpPr>
        <p:spPr>
          <a:xfrm>
            <a:off x="548640" y="3346704"/>
            <a:ext cx="2212848" cy="530352"/>
          </a:xfrm>
          <a:prstGeom prst="roundRect">
            <a:avLst>
              <a:gd name="adj" fmla="val 3448"/>
            </a:avLst>
          </a:prstGeom>
          <a:solidFill>
            <a:srgbClr val="F2F5F7"/>
          </a:solidFill>
          <a:ln w="12700">
            <a:solidFill>
              <a:srgbClr val="C9D3DA"/>
            </a:solidFill>
            <a:prstDash val="solid"/>
          </a:ln>
        </p:spPr>
      </p:sp>
      <p:sp>
        <p:nvSpPr>
          <p:cNvPr id="21" name="Text 19"/>
          <p:cNvSpPr/>
          <p:nvPr/>
        </p:nvSpPr>
        <p:spPr>
          <a:xfrm>
            <a:off x="621792" y="3346704"/>
            <a:ext cx="2066544"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Smell</a:t>
            </a:r>
            <a:endParaRPr lang="en-US" sz="1200" dirty="0"/>
          </a:p>
        </p:txBody>
      </p:sp>
      <p:sp>
        <p:nvSpPr>
          <p:cNvPr id="22" name="Shape 20"/>
          <p:cNvSpPr/>
          <p:nvPr/>
        </p:nvSpPr>
        <p:spPr>
          <a:xfrm>
            <a:off x="2761488" y="3346704"/>
            <a:ext cx="8851392" cy="530352"/>
          </a:xfrm>
          <a:prstGeom prst="roundRect">
            <a:avLst>
              <a:gd name="adj" fmla="val 3448"/>
            </a:avLst>
          </a:prstGeom>
          <a:solidFill>
            <a:srgbClr val="F2F5F7"/>
          </a:solidFill>
          <a:ln w="12700">
            <a:solidFill>
              <a:srgbClr val="C9D3DA"/>
            </a:solidFill>
            <a:prstDash val="solid"/>
          </a:ln>
        </p:spPr>
      </p:sp>
      <p:sp>
        <p:nvSpPr>
          <p:cNvPr id="23" name="Text 21"/>
          <p:cNvSpPr/>
          <p:nvPr/>
        </p:nvSpPr>
        <p:spPr>
          <a:xfrm>
            <a:off x="2834640" y="3346704"/>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Sweet smell on the breath, like nail polish remover</a:t>
            </a:r>
            <a:endParaRPr lang="en-US" sz="1200" dirty="0"/>
          </a:p>
        </p:txBody>
      </p:sp>
      <p:sp>
        <p:nvSpPr>
          <p:cNvPr id="24" name="Shape 22"/>
          <p:cNvSpPr/>
          <p:nvPr/>
        </p:nvSpPr>
        <p:spPr>
          <a:xfrm>
            <a:off x="548640" y="3877056"/>
            <a:ext cx="2212848" cy="530352"/>
          </a:xfrm>
          <a:prstGeom prst="roundRect">
            <a:avLst>
              <a:gd name="adj" fmla="val 3448"/>
            </a:avLst>
          </a:prstGeom>
          <a:solidFill>
            <a:srgbClr val="FFFFFF"/>
          </a:solidFill>
          <a:ln w="12700">
            <a:solidFill>
              <a:srgbClr val="C9D3DA"/>
            </a:solidFill>
            <a:prstDash val="solid"/>
          </a:ln>
        </p:spPr>
      </p:sp>
      <p:sp>
        <p:nvSpPr>
          <p:cNvPr id="25" name="Text 23"/>
          <p:cNvSpPr/>
          <p:nvPr/>
        </p:nvSpPr>
        <p:spPr>
          <a:xfrm>
            <a:off x="621792" y="3877056"/>
            <a:ext cx="2066544" cy="53035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Test</a:t>
            </a:r>
            <a:endParaRPr lang="en-US" sz="1200" dirty="0"/>
          </a:p>
        </p:txBody>
      </p:sp>
      <p:sp>
        <p:nvSpPr>
          <p:cNvPr id="26" name="Shape 24"/>
          <p:cNvSpPr/>
          <p:nvPr/>
        </p:nvSpPr>
        <p:spPr>
          <a:xfrm>
            <a:off x="2761488" y="3877056"/>
            <a:ext cx="8851392" cy="530352"/>
          </a:xfrm>
          <a:prstGeom prst="roundRect">
            <a:avLst>
              <a:gd name="adj" fmla="val 3448"/>
            </a:avLst>
          </a:prstGeom>
          <a:solidFill>
            <a:srgbClr val="FFFFFF"/>
          </a:solidFill>
          <a:ln w="12700">
            <a:solidFill>
              <a:srgbClr val="C9D3DA"/>
            </a:solidFill>
            <a:prstDash val="solid"/>
          </a:ln>
        </p:spPr>
      </p:sp>
      <p:sp>
        <p:nvSpPr>
          <p:cNvPr id="27" name="Text 25"/>
          <p:cNvSpPr/>
          <p:nvPr/>
        </p:nvSpPr>
        <p:spPr>
          <a:xfrm>
            <a:off x="2834640" y="3877056"/>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A drop of blood on a hand-held meter gives a number in 10 seconds</a:t>
            </a:r>
            <a:endParaRPr lang="en-US" sz="1200" dirty="0"/>
          </a:p>
        </p:txBody>
      </p:sp>
      <p:sp>
        <p:nvSpPr>
          <p:cNvPr id="28" name="Shape 26"/>
          <p:cNvSpPr/>
          <p:nvPr/>
        </p:nvSpPr>
        <p:spPr>
          <a:xfrm>
            <a:off x="548640" y="4407408"/>
            <a:ext cx="2212848" cy="530352"/>
          </a:xfrm>
          <a:prstGeom prst="roundRect">
            <a:avLst>
              <a:gd name="adj" fmla="val 3448"/>
            </a:avLst>
          </a:prstGeom>
          <a:solidFill>
            <a:srgbClr val="F2F5F7"/>
          </a:solidFill>
          <a:ln w="12700">
            <a:solidFill>
              <a:srgbClr val="C9D3DA"/>
            </a:solidFill>
            <a:prstDash val="solid"/>
          </a:ln>
        </p:spPr>
      </p:sp>
      <p:sp>
        <p:nvSpPr>
          <p:cNvPr id="29" name="Text 27"/>
          <p:cNvSpPr/>
          <p:nvPr/>
        </p:nvSpPr>
        <p:spPr>
          <a:xfrm>
            <a:off x="621792" y="4407408"/>
            <a:ext cx="2066544" cy="530352"/>
          </a:xfrm>
          <a:prstGeom prst="rect">
            <a:avLst/>
          </a:prstGeom>
          <a:noFill/>
          <a:ln/>
        </p:spPr>
        <p:txBody>
          <a:bodyPr wrap="square" lIns="0" tIns="0" rIns="0" bIns="0" rtlCol="0" anchor="ctr"/>
          <a:lstStyle/>
          <a:p>
            <a:pPr algn="l" indent="0" marL="0">
              <a:buNone/>
            </a:pPr>
            <a:r>
              <a:rPr lang="en-US" sz="1200" b="1" dirty="0">
                <a:solidFill>
                  <a:srgbClr val="A02B93"/>
                </a:solidFill>
                <a:latin typeface="Malgun Gothic" pitchFamily="34" charset="0"/>
                <a:ea typeface="Malgun Gothic" pitchFamily="34" charset="-122"/>
                <a:cs typeface="Malgun Gothic" pitchFamily="34" charset="-120"/>
              </a:rPr>
              <a:t>Rare form</a:t>
            </a:r>
            <a:endParaRPr lang="en-US" sz="1200" dirty="0"/>
          </a:p>
        </p:txBody>
      </p:sp>
      <p:sp>
        <p:nvSpPr>
          <p:cNvPr id="30" name="Shape 28"/>
          <p:cNvSpPr/>
          <p:nvPr/>
        </p:nvSpPr>
        <p:spPr>
          <a:xfrm>
            <a:off x="2761488" y="4407408"/>
            <a:ext cx="8851392" cy="530352"/>
          </a:xfrm>
          <a:prstGeom prst="roundRect">
            <a:avLst>
              <a:gd name="adj" fmla="val 3448"/>
            </a:avLst>
          </a:prstGeom>
          <a:solidFill>
            <a:srgbClr val="F2F5F7"/>
          </a:solidFill>
          <a:ln w="12700">
            <a:solidFill>
              <a:srgbClr val="C9D3DA"/>
            </a:solidFill>
            <a:prstDash val="solid"/>
          </a:ln>
        </p:spPr>
      </p:sp>
      <p:sp>
        <p:nvSpPr>
          <p:cNvPr id="31" name="Text 29"/>
          <p:cNvSpPr/>
          <p:nvPr/>
        </p:nvSpPr>
        <p:spPr>
          <a:xfrm>
            <a:off x="2834640" y="4407408"/>
            <a:ext cx="8705088"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Nervous: licking, chewing at nothing, staggering, aggressive</a:t>
            </a:r>
            <a:endParaRPr lang="en-US" sz="1200" dirty="0"/>
          </a:p>
        </p:txBody>
      </p:sp>
      <p:sp>
        <p:nvSpPr>
          <p:cNvPr id="32" name="Shape 30"/>
          <p:cNvSpPr/>
          <p:nvPr/>
        </p:nvSpPr>
        <p:spPr>
          <a:xfrm>
            <a:off x="548640" y="5047488"/>
            <a:ext cx="11064240" cy="182880"/>
          </a:xfrm>
          <a:prstGeom prst="roundRect">
            <a:avLst/>
          </a:prstGeom>
          <a:solidFill>
            <a:srgbClr val="FFFFFF"/>
          </a:solidFill>
          <a:ln w="12700">
            <a:solidFill>
              <a:srgbClr val="FFFFFF"/>
            </a:solidFill>
            <a:prstDash val="solid"/>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Ketosis — treatment and prevention</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Propylene glycol by mouth is the treatment. Sugar in the vein is not.</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Always look for the reason. Ketosis is very often a symptom, not the disease.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55</a:t>
            </a:r>
            <a:endParaRPr lang="en-US" sz="900" dirty="0"/>
          </a:p>
        </p:txBody>
      </p:sp>
      <p:sp>
        <p:nvSpPr>
          <p:cNvPr id="8" name="Shape 6"/>
          <p:cNvSpPr/>
          <p:nvPr/>
        </p:nvSpPr>
        <p:spPr>
          <a:xfrm>
            <a:off x="548640" y="1709928"/>
            <a:ext cx="1770278" cy="603504"/>
          </a:xfrm>
          <a:prstGeom prst="roundRect">
            <a:avLst>
              <a:gd name="adj" fmla="val 4545"/>
            </a:avLst>
          </a:prstGeom>
          <a:solidFill>
            <a:srgbClr val="0E2841"/>
          </a:solidFill>
          <a:ln w="12700">
            <a:solidFill>
              <a:srgbClr val="0E2841"/>
            </a:solidFill>
            <a:prstDash val="solid"/>
          </a:ln>
        </p:spPr>
      </p:sp>
      <p:sp>
        <p:nvSpPr>
          <p:cNvPr id="9" name="Text 7"/>
          <p:cNvSpPr/>
          <p:nvPr/>
        </p:nvSpPr>
        <p:spPr>
          <a:xfrm>
            <a:off x="621792" y="1709928"/>
            <a:ext cx="1623974" cy="603504"/>
          </a:xfrm>
          <a:prstGeom prst="rect">
            <a:avLst/>
          </a:prstGeom>
          <a:noFill/>
          <a:ln/>
        </p:spPr>
        <p:txBody>
          <a:bodyPr wrap="square" lIns="0" tIns="0" rIns="0" bIns="0" rtlCol="0" anchor="ctr"/>
          <a:lstStyle/>
          <a:p>
            <a:pPr algn="l" indent="0" marL="0">
              <a:buNone/>
            </a:pPr>
            <a:endParaRPr lang="en-US" sz="1200" dirty="0"/>
          </a:p>
        </p:txBody>
      </p:sp>
      <p:sp>
        <p:nvSpPr>
          <p:cNvPr id="10" name="Shape 8"/>
          <p:cNvSpPr/>
          <p:nvPr/>
        </p:nvSpPr>
        <p:spPr>
          <a:xfrm>
            <a:off x="2318918" y="1709928"/>
            <a:ext cx="3319272" cy="603504"/>
          </a:xfrm>
          <a:prstGeom prst="roundRect">
            <a:avLst>
              <a:gd name="adj" fmla="val 4545"/>
            </a:avLst>
          </a:prstGeom>
          <a:solidFill>
            <a:srgbClr val="0E2841"/>
          </a:solidFill>
          <a:ln w="12700">
            <a:solidFill>
              <a:srgbClr val="0E2841"/>
            </a:solidFill>
            <a:prstDash val="solid"/>
          </a:ln>
        </p:spPr>
      </p:sp>
      <p:sp>
        <p:nvSpPr>
          <p:cNvPr id="11" name="Text 9"/>
          <p:cNvSpPr/>
          <p:nvPr/>
        </p:nvSpPr>
        <p:spPr>
          <a:xfrm>
            <a:off x="2392070" y="1709928"/>
            <a:ext cx="3172968" cy="603504"/>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a:t>
            </a:r>
            <a:endParaRPr lang="en-US" sz="1200" dirty="0"/>
          </a:p>
        </p:txBody>
      </p:sp>
      <p:sp>
        <p:nvSpPr>
          <p:cNvPr id="12" name="Shape 10"/>
          <p:cNvSpPr/>
          <p:nvPr/>
        </p:nvSpPr>
        <p:spPr>
          <a:xfrm>
            <a:off x="5638190" y="1709928"/>
            <a:ext cx="5974690" cy="603504"/>
          </a:xfrm>
          <a:prstGeom prst="roundRect">
            <a:avLst>
              <a:gd name="adj" fmla="val 4545"/>
            </a:avLst>
          </a:prstGeom>
          <a:solidFill>
            <a:srgbClr val="0E2841"/>
          </a:solidFill>
          <a:ln w="12700">
            <a:solidFill>
              <a:srgbClr val="0E2841"/>
            </a:solidFill>
            <a:prstDash val="solid"/>
          </a:ln>
        </p:spPr>
      </p:sp>
      <p:sp>
        <p:nvSpPr>
          <p:cNvPr id="13" name="Text 11"/>
          <p:cNvSpPr/>
          <p:nvPr/>
        </p:nvSpPr>
        <p:spPr>
          <a:xfrm>
            <a:off x="5711342" y="1709928"/>
            <a:ext cx="5828386" cy="603504"/>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Why</a:t>
            </a:r>
            <a:endParaRPr lang="en-US" sz="1200" dirty="0"/>
          </a:p>
        </p:txBody>
      </p:sp>
      <p:sp>
        <p:nvSpPr>
          <p:cNvPr id="14" name="Shape 12"/>
          <p:cNvSpPr/>
          <p:nvPr/>
        </p:nvSpPr>
        <p:spPr>
          <a:xfrm>
            <a:off x="548640" y="2313432"/>
            <a:ext cx="1770278" cy="603504"/>
          </a:xfrm>
          <a:prstGeom prst="roundRect">
            <a:avLst>
              <a:gd name="adj" fmla="val 3030"/>
            </a:avLst>
          </a:prstGeom>
          <a:solidFill>
            <a:srgbClr val="FFFFFF"/>
          </a:solidFill>
          <a:ln w="12700">
            <a:solidFill>
              <a:srgbClr val="C9D3DA"/>
            </a:solidFill>
            <a:prstDash val="solid"/>
          </a:ln>
        </p:spPr>
      </p:sp>
      <p:sp>
        <p:nvSpPr>
          <p:cNvPr id="15" name="Text 13"/>
          <p:cNvSpPr/>
          <p:nvPr/>
        </p:nvSpPr>
        <p:spPr>
          <a:xfrm>
            <a:off x="621792" y="2313432"/>
            <a:ext cx="1623974" cy="603504"/>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FIRST CHOICE</a:t>
            </a:r>
            <a:endParaRPr lang="en-US" sz="1200" dirty="0"/>
          </a:p>
        </p:txBody>
      </p:sp>
      <p:sp>
        <p:nvSpPr>
          <p:cNvPr id="16" name="Shape 14"/>
          <p:cNvSpPr/>
          <p:nvPr/>
        </p:nvSpPr>
        <p:spPr>
          <a:xfrm>
            <a:off x="2318918" y="2313432"/>
            <a:ext cx="3319272" cy="603504"/>
          </a:xfrm>
          <a:prstGeom prst="roundRect">
            <a:avLst>
              <a:gd name="adj" fmla="val 3030"/>
            </a:avLst>
          </a:prstGeom>
          <a:solidFill>
            <a:srgbClr val="FFFFFF"/>
          </a:solidFill>
          <a:ln w="12700">
            <a:solidFill>
              <a:srgbClr val="C9D3DA"/>
            </a:solidFill>
            <a:prstDash val="solid"/>
          </a:ln>
        </p:spPr>
      </p:sp>
      <p:sp>
        <p:nvSpPr>
          <p:cNvPr id="17" name="Text 15"/>
          <p:cNvSpPr/>
          <p:nvPr/>
        </p:nvSpPr>
        <p:spPr>
          <a:xfrm>
            <a:off x="2392070" y="2313432"/>
            <a:ext cx="3172968" cy="603504"/>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Propylene glycol by mouth, once a day, 3–5 days</a:t>
            </a:r>
            <a:endParaRPr lang="en-US" sz="1200" dirty="0"/>
          </a:p>
        </p:txBody>
      </p:sp>
      <p:sp>
        <p:nvSpPr>
          <p:cNvPr id="18" name="Shape 16"/>
          <p:cNvSpPr/>
          <p:nvPr/>
        </p:nvSpPr>
        <p:spPr>
          <a:xfrm>
            <a:off x="5638190" y="2313432"/>
            <a:ext cx="5974690" cy="603504"/>
          </a:xfrm>
          <a:prstGeom prst="roundRect">
            <a:avLst>
              <a:gd name="adj" fmla="val 3030"/>
            </a:avLst>
          </a:prstGeom>
          <a:solidFill>
            <a:srgbClr val="FFFFFF"/>
          </a:solidFill>
          <a:ln w="12700">
            <a:solidFill>
              <a:srgbClr val="C9D3DA"/>
            </a:solidFill>
            <a:prstDash val="solid"/>
          </a:ln>
        </p:spPr>
      </p:sp>
      <p:sp>
        <p:nvSpPr>
          <p:cNvPr id="19" name="Text 17"/>
          <p:cNvSpPr/>
          <p:nvPr/>
        </p:nvSpPr>
        <p:spPr>
          <a:xfrm>
            <a:off x="5711342" y="2313432"/>
            <a:ext cx="5828386" cy="60350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Turns into sugar over hours — this is the real treatment</a:t>
            </a:r>
            <a:endParaRPr lang="en-US" sz="1150" dirty="0"/>
          </a:p>
        </p:txBody>
      </p:sp>
      <p:sp>
        <p:nvSpPr>
          <p:cNvPr id="20" name="Shape 18"/>
          <p:cNvSpPr/>
          <p:nvPr/>
        </p:nvSpPr>
        <p:spPr>
          <a:xfrm>
            <a:off x="548640" y="2916936"/>
            <a:ext cx="1770278" cy="603504"/>
          </a:xfrm>
          <a:prstGeom prst="roundRect">
            <a:avLst>
              <a:gd name="adj" fmla="val 3030"/>
            </a:avLst>
          </a:prstGeom>
          <a:solidFill>
            <a:srgbClr val="F2F5F7"/>
          </a:solidFill>
          <a:ln w="12700">
            <a:solidFill>
              <a:srgbClr val="C9D3DA"/>
            </a:solidFill>
            <a:prstDash val="solid"/>
          </a:ln>
        </p:spPr>
      </p:sp>
      <p:sp>
        <p:nvSpPr>
          <p:cNvPr id="21" name="Text 19"/>
          <p:cNvSpPr/>
          <p:nvPr/>
        </p:nvSpPr>
        <p:spPr>
          <a:xfrm>
            <a:off x="621792" y="2916936"/>
            <a:ext cx="1623974" cy="603504"/>
          </a:xfrm>
          <a:prstGeom prst="rect">
            <a:avLst/>
          </a:prstGeom>
          <a:noFill/>
          <a:ln/>
        </p:spPr>
        <p:txBody>
          <a:bodyPr wrap="square" lIns="0" tIns="0" rIns="0" bIns="0" rtlCol="0" anchor="ctr"/>
          <a:lstStyle/>
          <a:p>
            <a:pPr algn="l" indent="0" marL="0">
              <a:buNone/>
            </a:pPr>
            <a:r>
              <a:rPr lang="en-US" sz="1200" b="1" dirty="0">
                <a:solidFill>
                  <a:srgbClr val="0F9ED5"/>
                </a:solidFill>
                <a:latin typeface="Malgun Gothic" pitchFamily="34" charset="0"/>
                <a:ea typeface="Malgun Gothic" pitchFamily="34" charset="-122"/>
                <a:cs typeface="Malgun Gothic" pitchFamily="34" charset="-120"/>
              </a:rPr>
              <a:t>SECOND</a:t>
            </a:r>
            <a:endParaRPr lang="en-US" sz="1200" dirty="0"/>
          </a:p>
        </p:txBody>
      </p:sp>
      <p:sp>
        <p:nvSpPr>
          <p:cNvPr id="22" name="Shape 20"/>
          <p:cNvSpPr/>
          <p:nvPr/>
        </p:nvSpPr>
        <p:spPr>
          <a:xfrm>
            <a:off x="2318918" y="2916936"/>
            <a:ext cx="3319272" cy="603504"/>
          </a:xfrm>
          <a:prstGeom prst="roundRect">
            <a:avLst>
              <a:gd name="adj" fmla="val 3030"/>
            </a:avLst>
          </a:prstGeom>
          <a:solidFill>
            <a:srgbClr val="F2F5F7"/>
          </a:solidFill>
          <a:ln w="12700">
            <a:solidFill>
              <a:srgbClr val="C9D3DA"/>
            </a:solidFill>
            <a:prstDash val="solid"/>
          </a:ln>
        </p:spPr>
      </p:sp>
      <p:sp>
        <p:nvSpPr>
          <p:cNvPr id="23" name="Text 21"/>
          <p:cNvSpPr/>
          <p:nvPr/>
        </p:nvSpPr>
        <p:spPr>
          <a:xfrm>
            <a:off x="2392070" y="2916936"/>
            <a:ext cx="3172968" cy="603504"/>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Sugar into the vein</a:t>
            </a:r>
            <a:endParaRPr lang="en-US" sz="1200" dirty="0"/>
          </a:p>
        </p:txBody>
      </p:sp>
      <p:sp>
        <p:nvSpPr>
          <p:cNvPr id="24" name="Shape 22"/>
          <p:cNvSpPr/>
          <p:nvPr/>
        </p:nvSpPr>
        <p:spPr>
          <a:xfrm>
            <a:off x="5638190" y="2916936"/>
            <a:ext cx="5974690" cy="603504"/>
          </a:xfrm>
          <a:prstGeom prst="roundRect">
            <a:avLst>
              <a:gd name="adj" fmla="val 3030"/>
            </a:avLst>
          </a:prstGeom>
          <a:solidFill>
            <a:srgbClr val="F2F5F7"/>
          </a:solidFill>
          <a:ln w="12700">
            <a:solidFill>
              <a:srgbClr val="C9D3DA"/>
            </a:solidFill>
            <a:prstDash val="solid"/>
          </a:ln>
        </p:spPr>
      </p:sp>
      <p:sp>
        <p:nvSpPr>
          <p:cNvPr id="25" name="Text 23"/>
          <p:cNvSpPr/>
          <p:nvPr/>
        </p:nvSpPr>
        <p:spPr>
          <a:xfrm>
            <a:off x="5711342" y="2916936"/>
            <a:ext cx="5828386" cy="60350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Lifts her for an hour, then gone. Only for a down or nervous cow, WITH propylene glycol.</a:t>
            </a:r>
            <a:endParaRPr lang="en-US" sz="1150" dirty="0"/>
          </a:p>
        </p:txBody>
      </p:sp>
      <p:sp>
        <p:nvSpPr>
          <p:cNvPr id="26" name="Shape 24"/>
          <p:cNvSpPr/>
          <p:nvPr/>
        </p:nvSpPr>
        <p:spPr>
          <a:xfrm>
            <a:off x="548640" y="3520440"/>
            <a:ext cx="1770278" cy="603504"/>
          </a:xfrm>
          <a:prstGeom prst="roundRect">
            <a:avLst>
              <a:gd name="adj" fmla="val 3030"/>
            </a:avLst>
          </a:prstGeom>
          <a:solidFill>
            <a:srgbClr val="FFFFFF"/>
          </a:solidFill>
          <a:ln w="12700">
            <a:solidFill>
              <a:srgbClr val="C9D3DA"/>
            </a:solidFill>
            <a:prstDash val="solid"/>
          </a:ln>
        </p:spPr>
      </p:sp>
      <p:sp>
        <p:nvSpPr>
          <p:cNvPr id="27" name="Text 25"/>
          <p:cNvSpPr/>
          <p:nvPr/>
        </p:nvSpPr>
        <p:spPr>
          <a:xfrm>
            <a:off x="621792" y="3520440"/>
            <a:ext cx="1623974" cy="603504"/>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ALWAYS</a:t>
            </a:r>
            <a:endParaRPr lang="en-US" sz="1200" dirty="0"/>
          </a:p>
        </p:txBody>
      </p:sp>
      <p:sp>
        <p:nvSpPr>
          <p:cNvPr id="28" name="Shape 26"/>
          <p:cNvSpPr/>
          <p:nvPr/>
        </p:nvSpPr>
        <p:spPr>
          <a:xfrm>
            <a:off x="2318918" y="3520440"/>
            <a:ext cx="3319272" cy="603504"/>
          </a:xfrm>
          <a:prstGeom prst="roundRect">
            <a:avLst>
              <a:gd name="adj" fmla="val 3030"/>
            </a:avLst>
          </a:prstGeom>
          <a:solidFill>
            <a:srgbClr val="FFFFFF"/>
          </a:solidFill>
          <a:ln w="12700">
            <a:solidFill>
              <a:srgbClr val="C9D3DA"/>
            </a:solidFill>
            <a:prstDash val="solid"/>
          </a:ln>
        </p:spPr>
      </p:sp>
      <p:sp>
        <p:nvSpPr>
          <p:cNvPr id="29" name="Text 27"/>
          <p:cNvSpPr/>
          <p:nvPr/>
        </p:nvSpPr>
        <p:spPr>
          <a:xfrm>
            <a:off x="2392070" y="3520440"/>
            <a:ext cx="3172968" cy="603504"/>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Look for the reason</a:t>
            </a:r>
            <a:endParaRPr lang="en-US" sz="1200" dirty="0"/>
          </a:p>
        </p:txBody>
      </p:sp>
      <p:sp>
        <p:nvSpPr>
          <p:cNvPr id="30" name="Shape 28"/>
          <p:cNvSpPr/>
          <p:nvPr/>
        </p:nvSpPr>
        <p:spPr>
          <a:xfrm>
            <a:off x="5638190" y="3520440"/>
            <a:ext cx="5974690" cy="603504"/>
          </a:xfrm>
          <a:prstGeom prst="roundRect">
            <a:avLst>
              <a:gd name="adj" fmla="val 3030"/>
            </a:avLst>
          </a:prstGeom>
          <a:solidFill>
            <a:srgbClr val="FFFFFF"/>
          </a:solidFill>
          <a:ln w="12700">
            <a:solidFill>
              <a:srgbClr val="C9D3DA"/>
            </a:solidFill>
            <a:prstDash val="solid"/>
          </a:ln>
        </p:spPr>
      </p:sp>
      <p:sp>
        <p:nvSpPr>
          <p:cNvPr id="31" name="Text 29"/>
          <p:cNvSpPr/>
          <p:nvPr/>
        </p:nvSpPr>
        <p:spPr>
          <a:xfrm>
            <a:off x="5711342" y="3520440"/>
            <a:ext cx="5828386" cy="60350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Twisted stomach? Infected womb? Mastitis? Lame? Treat that too.</a:t>
            </a:r>
            <a:endParaRPr lang="en-US" sz="1150" dirty="0"/>
          </a:p>
        </p:txBody>
      </p:sp>
      <p:sp>
        <p:nvSpPr>
          <p:cNvPr id="32" name="Shape 30"/>
          <p:cNvSpPr/>
          <p:nvPr/>
        </p:nvSpPr>
        <p:spPr>
          <a:xfrm>
            <a:off x="548640" y="4123944"/>
            <a:ext cx="1770278" cy="603504"/>
          </a:xfrm>
          <a:prstGeom prst="roundRect">
            <a:avLst>
              <a:gd name="adj" fmla="val 3030"/>
            </a:avLst>
          </a:prstGeom>
          <a:solidFill>
            <a:srgbClr val="F2F5F7"/>
          </a:solidFill>
          <a:ln w="12700">
            <a:solidFill>
              <a:srgbClr val="C9D3DA"/>
            </a:solidFill>
            <a:prstDash val="solid"/>
          </a:ln>
        </p:spPr>
      </p:sp>
      <p:sp>
        <p:nvSpPr>
          <p:cNvPr id="33" name="Text 31"/>
          <p:cNvSpPr/>
          <p:nvPr/>
        </p:nvSpPr>
        <p:spPr>
          <a:xfrm>
            <a:off x="621792" y="4123944"/>
            <a:ext cx="1623974" cy="603504"/>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PREVENT 1</a:t>
            </a:r>
            <a:endParaRPr lang="en-US" sz="1200" dirty="0"/>
          </a:p>
        </p:txBody>
      </p:sp>
      <p:sp>
        <p:nvSpPr>
          <p:cNvPr id="34" name="Shape 32"/>
          <p:cNvSpPr/>
          <p:nvPr/>
        </p:nvSpPr>
        <p:spPr>
          <a:xfrm>
            <a:off x="2318918" y="4123944"/>
            <a:ext cx="3319272" cy="603504"/>
          </a:xfrm>
          <a:prstGeom prst="roundRect">
            <a:avLst>
              <a:gd name="adj" fmla="val 3030"/>
            </a:avLst>
          </a:prstGeom>
          <a:solidFill>
            <a:srgbClr val="F2F5F7"/>
          </a:solidFill>
          <a:ln w="12700">
            <a:solidFill>
              <a:srgbClr val="C9D3DA"/>
            </a:solidFill>
            <a:prstDash val="solid"/>
          </a:ln>
        </p:spPr>
      </p:sp>
      <p:sp>
        <p:nvSpPr>
          <p:cNvPr id="35" name="Text 33"/>
          <p:cNvSpPr/>
          <p:nvPr/>
        </p:nvSpPr>
        <p:spPr>
          <a:xfrm>
            <a:off x="2392070" y="4123944"/>
            <a:ext cx="3172968" cy="603504"/>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Do not let dry cows get FAT</a:t>
            </a:r>
            <a:endParaRPr lang="en-US" sz="1200" dirty="0"/>
          </a:p>
        </p:txBody>
      </p:sp>
      <p:sp>
        <p:nvSpPr>
          <p:cNvPr id="36" name="Shape 34"/>
          <p:cNvSpPr/>
          <p:nvPr/>
        </p:nvSpPr>
        <p:spPr>
          <a:xfrm>
            <a:off x="5638190" y="4123944"/>
            <a:ext cx="5974690" cy="603504"/>
          </a:xfrm>
          <a:prstGeom prst="roundRect">
            <a:avLst>
              <a:gd name="adj" fmla="val 3030"/>
            </a:avLst>
          </a:prstGeom>
          <a:solidFill>
            <a:srgbClr val="F2F5F7"/>
          </a:solidFill>
          <a:ln w="12700">
            <a:solidFill>
              <a:srgbClr val="C9D3DA"/>
            </a:solidFill>
            <a:prstDash val="solid"/>
          </a:ln>
        </p:spPr>
      </p:sp>
      <p:sp>
        <p:nvSpPr>
          <p:cNvPr id="37" name="Text 35"/>
          <p:cNvSpPr/>
          <p:nvPr/>
        </p:nvSpPr>
        <p:spPr>
          <a:xfrm>
            <a:off x="5711342" y="4123944"/>
            <a:ext cx="5828386" cy="60350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A fat dry cow is a sick fresh cow.</a:t>
            </a:r>
            <a:endParaRPr lang="en-US" sz="1150" dirty="0"/>
          </a:p>
        </p:txBody>
      </p:sp>
      <p:sp>
        <p:nvSpPr>
          <p:cNvPr id="38" name="Shape 36"/>
          <p:cNvSpPr/>
          <p:nvPr/>
        </p:nvSpPr>
        <p:spPr>
          <a:xfrm>
            <a:off x="548640" y="4727448"/>
            <a:ext cx="1770278" cy="603504"/>
          </a:xfrm>
          <a:prstGeom prst="roundRect">
            <a:avLst>
              <a:gd name="adj" fmla="val 3030"/>
            </a:avLst>
          </a:prstGeom>
          <a:solidFill>
            <a:srgbClr val="FFFFFF"/>
          </a:solidFill>
          <a:ln w="12700">
            <a:solidFill>
              <a:srgbClr val="C9D3DA"/>
            </a:solidFill>
            <a:prstDash val="solid"/>
          </a:ln>
        </p:spPr>
      </p:sp>
      <p:sp>
        <p:nvSpPr>
          <p:cNvPr id="39" name="Text 37"/>
          <p:cNvSpPr/>
          <p:nvPr/>
        </p:nvSpPr>
        <p:spPr>
          <a:xfrm>
            <a:off x="621792" y="4727448"/>
            <a:ext cx="1623974" cy="603504"/>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PREVENT 2</a:t>
            </a:r>
            <a:endParaRPr lang="en-US" sz="1200" dirty="0"/>
          </a:p>
        </p:txBody>
      </p:sp>
      <p:sp>
        <p:nvSpPr>
          <p:cNvPr id="40" name="Shape 38"/>
          <p:cNvSpPr/>
          <p:nvPr/>
        </p:nvSpPr>
        <p:spPr>
          <a:xfrm>
            <a:off x="2318918" y="4727448"/>
            <a:ext cx="3319272" cy="603504"/>
          </a:xfrm>
          <a:prstGeom prst="roundRect">
            <a:avLst>
              <a:gd name="adj" fmla="val 3030"/>
            </a:avLst>
          </a:prstGeom>
          <a:solidFill>
            <a:srgbClr val="FFFFFF"/>
          </a:solidFill>
          <a:ln w="12700">
            <a:solidFill>
              <a:srgbClr val="C9D3DA"/>
            </a:solidFill>
            <a:prstDash val="solid"/>
          </a:ln>
        </p:spPr>
      </p:sp>
      <p:sp>
        <p:nvSpPr>
          <p:cNvPr id="41" name="Text 39"/>
          <p:cNvSpPr/>
          <p:nvPr/>
        </p:nvSpPr>
        <p:spPr>
          <a:xfrm>
            <a:off x="2392070" y="4727448"/>
            <a:ext cx="3172968" cy="603504"/>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Keep the fresh cow EATING</a:t>
            </a:r>
            <a:endParaRPr lang="en-US" sz="1200" dirty="0"/>
          </a:p>
        </p:txBody>
      </p:sp>
      <p:sp>
        <p:nvSpPr>
          <p:cNvPr id="42" name="Shape 40"/>
          <p:cNvSpPr/>
          <p:nvPr/>
        </p:nvSpPr>
        <p:spPr>
          <a:xfrm>
            <a:off x="5638190" y="4727448"/>
            <a:ext cx="5974690" cy="603504"/>
          </a:xfrm>
          <a:prstGeom prst="roundRect">
            <a:avLst>
              <a:gd name="adj" fmla="val 3030"/>
            </a:avLst>
          </a:prstGeom>
          <a:solidFill>
            <a:srgbClr val="FFFFFF"/>
          </a:solidFill>
          <a:ln w="12700">
            <a:solidFill>
              <a:srgbClr val="C9D3DA"/>
            </a:solidFill>
            <a:prstDash val="solid"/>
          </a:ln>
        </p:spPr>
      </p:sp>
      <p:sp>
        <p:nvSpPr>
          <p:cNvPr id="43" name="Text 41"/>
          <p:cNvSpPr/>
          <p:nvPr/>
        </p:nvSpPr>
        <p:spPr>
          <a:xfrm>
            <a:off x="5711342" y="4727448"/>
            <a:ext cx="5828386" cy="603504"/>
          </a:xfrm>
          <a:prstGeom prst="rect">
            <a:avLst/>
          </a:prstGeom>
          <a:noFill/>
          <a:ln/>
        </p:spPr>
        <p:txBody>
          <a:bodyPr wrap="square" lIns="0" tIns="0" rIns="0" bIns="0" rtlCol="0" anchor="ctr"/>
          <a:lstStyle/>
          <a:p>
            <a:pPr algn="l" indent="0" marL="0">
              <a:buNone/>
            </a:pPr>
            <a:r>
              <a:rPr lang="en-US" sz="1150" dirty="0">
                <a:solidFill>
                  <a:srgbClr val="0E2841"/>
                </a:solidFill>
                <a:latin typeface="Malgun Gothic" pitchFamily="34" charset="0"/>
                <a:ea typeface="Malgun Gothic" pitchFamily="34" charset="-122"/>
                <a:cs typeface="Malgun Gothic" pitchFamily="34" charset="-120"/>
              </a:rPr>
              <a:t>Space at the trough. Cool. Clean water. Do not move her between groups.</a:t>
            </a:r>
            <a:endParaRPr lang="en-US" sz="1150" dirty="0"/>
          </a:p>
        </p:txBody>
      </p:sp>
      <p:sp>
        <p:nvSpPr>
          <p:cNvPr id="44" name="Shape 42"/>
          <p:cNvSpPr/>
          <p:nvPr/>
        </p:nvSpPr>
        <p:spPr>
          <a:xfrm>
            <a:off x="548640" y="4910328"/>
            <a:ext cx="11064240" cy="365760"/>
          </a:xfrm>
          <a:prstGeom prst="roundRect">
            <a:avLst>
              <a:gd name="adj" fmla="val 15000"/>
            </a:avLst>
          </a:prstGeom>
          <a:solidFill>
            <a:srgbClr val="0E2841"/>
          </a:solidFill>
          <a:ln w="12700">
            <a:solidFill>
              <a:srgbClr val="0E2841"/>
            </a:solidFill>
            <a:prstDash val="solid"/>
          </a:ln>
        </p:spPr>
      </p:sp>
      <p:sp>
        <p:nvSpPr>
          <p:cNvPr id="45" name="Text 43"/>
          <p:cNvSpPr/>
          <p:nvPr/>
        </p:nvSpPr>
        <p:spPr>
          <a:xfrm>
            <a:off x="548640" y="4910328"/>
            <a:ext cx="11064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 fat dry cow is a sick fresh cow.</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Retained afterbirth — the habit you must change</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Not out within 12 to 24 hours</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DO NOT PULL IT. Pulling tears the attachment points and makes the womb infection worse.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56</a:t>
            </a:r>
            <a:endParaRPr lang="en-US" sz="900" dirty="0"/>
          </a:p>
        </p:txBody>
      </p:sp>
      <p:sp>
        <p:nvSpPr>
          <p:cNvPr id="8" name="Shape 6"/>
          <p:cNvSpPr/>
          <p:nvPr/>
        </p:nvSpPr>
        <p:spPr>
          <a:xfrm>
            <a:off x="548640" y="1801368"/>
            <a:ext cx="5394960" cy="2148840"/>
          </a:xfrm>
          <a:prstGeom prst="roundRect">
            <a:avLst>
              <a:gd name="adj" fmla="val 2979"/>
            </a:avLst>
          </a:prstGeom>
          <a:solidFill>
            <a:srgbClr val="FFFFFF"/>
          </a:solidFill>
          <a:ln w="12700">
            <a:solidFill>
              <a:srgbClr val="E97132"/>
            </a:solidFill>
            <a:prstDash val="solid"/>
          </a:ln>
        </p:spPr>
      </p:sp>
      <p:sp>
        <p:nvSpPr>
          <p:cNvPr id="9" name="Shape 7"/>
          <p:cNvSpPr/>
          <p:nvPr/>
        </p:nvSpPr>
        <p:spPr>
          <a:xfrm>
            <a:off x="548640" y="1801368"/>
            <a:ext cx="5394960" cy="402336"/>
          </a:xfrm>
          <a:prstGeom prst="roundRect">
            <a:avLst>
              <a:gd name="adj" fmla="val 15909"/>
            </a:avLst>
          </a:prstGeom>
          <a:solidFill>
            <a:srgbClr val="E97132"/>
          </a:solidFill>
          <a:ln w="12700">
            <a:solidFill>
              <a:srgbClr val="E97132"/>
            </a:solidFill>
            <a:prstDash val="solid"/>
          </a:ln>
        </p:spPr>
      </p:sp>
      <p:sp>
        <p:nvSpPr>
          <p:cNvPr id="10" name="Text 8"/>
          <p:cNvSpPr/>
          <p:nvPr/>
        </p:nvSpPr>
        <p:spPr>
          <a:xfrm>
            <a:off x="54864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DO NOT</a:t>
            </a:r>
            <a:endParaRPr lang="en-US" sz="1300" dirty="0"/>
          </a:p>
        </p:txBody>
      </p:sp>
      <p:sp>
        <p:nvSpPr>
          <p:cNvPr id="11" name="Text 9"/>
          <p:cNvSpPr/>
          <p:nvPr/>
        </p:nvSpPr>
        <p:spPr>
          <a:xfrm>
            <a:off x="694944" y="2313432"/>
            <a:ext cx="5102352" cy="1508760"/>
          </a:xfrm>
          <a:prstGeom prst="rect">
            <a:avLst/>
          </a:prstGeom>
          <a:noFill/>
          <a:ln/>
        </p:spPr>
        <p:txBody>
          <a:bodyPr wrap="square" lIns="0" tIns="0" rIns="0" bIns="0" rtlCol="0" anchor="t"/>
          <a:lstStyle/>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Do NOT pull the afterbirth out</a:t>
            </a:r>
            <a:endParaRPr lang="en-US" sz="1350" dirty="0"/>
          </a:p>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Do not routinely put things into the womb</a:t>
            </a:r>
            <a:endParaRPr lang="en-US" sz="1350" dirty="0"/>
          </a:p>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Do not give antibiotics to every cow</a:t>
            </a:r>
            <a:endParaRPr lang="en-US" sz="1350" dirty="0"/>
          </a:p>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Do not ignore her either</a:t>
            </a:r>
            <a:endParaRPr lang="en-US" sz="1350" dirty="0"/>
          </a:p>
        </p:txBody>
      </p:sp>
      <p:sp>
        <p:nvSpPr>
          <p:cNvPr id="12" name="Shape 10"/>
          <p:cNvSpPr/>
          <p:nvPr/>
        </p:nvSpPr>
        <p:spPr>
          <a:xfrm>
            <a:off x="6217920" y="1801368"/>
            <a:ext cx="5394960" cy="2148840"/>
          </a:xfrm>
          <a:prstGeom prst="roundRect">
            <a:avLst>
              <a:gd name="adj" fmla="val 2979"/>
            </a:avLst>
          </a:prstGeom>
          <a:solidFill>
            <a:srgbClr val="FFFFFF"/>
          </a:solidFill>
          <a:ln w="12700">
            <a:solidFill>
              <a:srgbClr val="196B24"/>
            </a:solidFill>
            <a:prstDash val="solid"/>
          </a:ln>
        </p:spPr>
      </p:sp>
      <p:sp>
        <p:nvSpPr>
          <p:cNvPr id="13" name="Shape 11"/>
          <p:cNvSpPr/>
          <p:nvPr/>
        </p:nvSpPr>
        <p:spPr>
          <a:xfrm>
            <a:off x="6217920" y="1801368"/>
            <a:ext cx="5394960" cy="402336"/>
          </a:xfrm>
          <a:prstGeom prst="roundRect">
            <a:avLst>
              <a:gd name="adj" fmla="val 15909"/>
            </a:avLst>
          </a:prstGeom>
          <a:solidFill>
            <a:srgbClr val="196B24"/>
          </a:solidFill>
          <a:ln w="12700">
            <a:solidFill>
              <a:srgbClr val="196B24"/>
            </a:solidFill>
            <a:prstDash val="solid"/>
          </a:ln>
        </p:spPr>
      </p:sp>
      <p:sp>
        <p:nvSpPr>
          <p:cNvPr id="14" name="Text 12"/>
          <p:cNvSpPr/>
          <p:nvPr/>
        </p:nvSpPr>
        <p:spPr>
          <a:xfrm>
            <a:off x="621792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DO</a:t>
            </a:r>
            <a:endParaRPr lang="en-US" sz="1300" dirty="0"/>
          </a:p>
        </p:txBody>
      </p:sp>
      <p:sp>
        <p:nvSpPr>
          <p:cNvPr id="15" name="Text 13"/>
          <p:cNvSpPr/>
          <p:nvPr/>
        </p:nvSpPr>
        <p:spPr>
          <a:xfrm>
            <a:off x="6364224" y="2313432"/>
            <a:ext cx="5102352" cy="1508760"/>
          </a:xfrm>
          <a:prstGeom prst="rect">
            <a:avLst/>
          </a:prstGeom>
          <a:noFill/>
          <a:ln/>
        </p:spPr>
        <p:txBody>
          <a:bodyPr wrap="square" lIns="0" tIns="0" rIns="0" bIns="0" rtlCol="0" anchor="t"/>
          <a:lstStyle/>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Cut off what hangs down</a:t>
            </a:r>
            <a:endParaRPr lang="en-US" sz="1350" dirty="0"/>
          </a:p>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Take her TEMPERATURE daily for 10 days</a:t>
            </a:r>
            <a:endParaRPr lang="en-US" sz="1350" dirty="0"/>
          </a:p>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Fever + dull → veterinary treatment today</a:t>
            </a:r>
            <a:endParaRPr lang="en-US" sz="1350" dirty="0"/>
          </a:p>
          <a:p>
            <a:pPr indent="0" marL="0">
              <a:lnSpc>
                <a:spcPct val="118000"/>
              </a:lnSpc>
              <a:buNone/>
            </a:pPr>
            <a:r>
              <a:rPr lang="en-US" sz="1350" dirty="0">
                <a:solidFill>
                  <a:srgbClr val="0E2841"/>
                </a:solidFill>
                <a:latin typeface="Malgun Gothic" pitchFamily="34" charset="0"/>
                <a:ea typeface="Malgun Gothic" pitchFamily="34" charset="-122"/>
                <a:cs typeface="Malgun Gothic" pitchFamily="34" charset="-120"/>
              </a:rPr>
              <a:t>•  Keep her eating and drinking</a:t>
            </a:r>
            <a:endParaRPr lang="en-US" sz="1350" dirty="0"/>
          </a:p>
        </p:txBody>
      </p:sp>
      <p:sp>
        <p:nvSpPr>
          <p:cNvPr id="16" name="Shape 14"/>
          <p:cNvSpPr/>
          <p:nvPr/>
        </p:nvSpPr>
        <p:spPr>
          <a:xfrm>
            <a:off x="548640" y="4133088"/>
            <a:ext cx="11064240" cy="1097280"/>
          </a:xfrm>
          <a:prstGeom prst="roundRect">
            <a:avLst>
              <a:gd name="adj" fmla="val 6667"/>
            </a:avLst>
          </a:prstGeom>
          <a:solidFill>
            <a:srgbClr val="FBEDE2"/>
          </a:solidFill>
          <a:ln w="12700">
            <a:solidFill>
              <a:srgbClr val="E97132"/>
            </a:solidFill>
            <a:prstDash val="solid"/>
          </a:ln>
        </p:spPr>
      </p:sp>
      <p:sp>
        <p:nvSpPr>
          <p:cNvPr id="17" name="Text 15"/>
          <p:cNvSpPr/>
          <p:nvPr/>
        </p:nvSpPr>
        <p:spPr>
          <a:xfrm>
            <a:off x="548640" y="4206240"/>
            <a:ext cx="11064240" cy="420624"/>
          </a:xfrm>
          <a:prstGeom prst="rect">
            <a:avLst/>
          </a:prstGeom>
          <a:noFill/>
          <a:ln/>
        </p:spPr>
        <p:txBody>
          <a:bodyPr wrap="square" lIns="0" tIns="0" rIns="0" bIns="0" rtlCol="0" anchor="ctr"/>
          <a:lstStyle/>
          <a:p>
            <a:pPr algn="ctr" indent="0" marL="0">
              <a:buNone/>
            </a:pPr>
            <a:r>
              <a:rPr lang="en-US" sz="1600" b="1" dirty="0">
                <a:solidFill>
                  <a:srgbClr val="0E2841"/>
                </a:solidFill>
                <a:latin typeface="Malgun Gothic" pitchFamily="34" charset="0"/>
                <a:ea typeface="Malgun Gothic" pitchFamily="34" charset="-122"/>
                <a:cs typeface="Malgun Gothic" pitchFamily="34" charset="-120"/>
              </a:rPr>
              <a:t>Change this one habit and the fertility of every farm you visit will improve.</a:t>
            </a:r>
            <a:endParaRPr lang="en-US" sz="1600" dirty="0"/>
          </a:p>
        </p:txBody>
      </p:sp>
      <p:sp>
        <p:nvSpPr>
          <p:cNvPr id="18" name="Text 16"/>
          <p:cNvSpPr/>
          <p:nvPr/>
        </p:nvSpPr>
        <p:spPr>
          <a:xfrm>
            <a:off x="548640" y="4663440"/>
            <a:ext cx="11064240" cy="420624"/>
          </a:xfrm>
          <a:prstGeom prst="rect">
            <a:avLst/>
          </a:prstGeom>
          <a:noFill/>
          <a:ln/>
        </p:spPr>
        <p:txBody>
          <a:bodyPr wrap="square" lIns="0" tIns="0" rIns="0" bIns="0" rtlCol="0" anchor="ctr"/>
          <a:lstStyle/>
          <a:p>
            <a:pPr algn="ctr" indent="0" marL="0">
              <a:buNone/>
            </a:pPr>
            <a:r>
              <a:rPr lang="en-US" sz="1350" dirty="0">
                <a:solidFill>
                  <a:srgbClr val="0E2841"/>
                </a:solidFill>
                <a:latin typeface="Malgun Gothic" pitchFamily="34" charset="0"/>
                <a:ea typeface="Malgun Gothic" pitchFamily="34" charset="-122"/>
                <a:cs typeface="Malgun Gothic" pitchFamily="34" charset="-120"/>
              </a:rPr>
              <a:t>Normal: 4–10 cows in 100.   More than 10 in 100 = that farm has a feeding problem, not bad luck.</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Hard calving — when to help and when to stop</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cervix must be fully open before you pull anything</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Two people, pulling only when she pushes. No progress in 15 minutes means a caesarean, not more force.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57</a:t>
            </a:r>
            <a:endParaRPr lang="en-US" sz="900" dirty="0"/>
          </a:p>
        </p:txBody>
      </p:sp>
      <p:sp>
        <p:nvSpPr>
          <p:cNvPr id="8" name="Shape 6"/>
          <p:cNvSpPr/>
          <p:nvPr/>
        </p:nvSpPr>
        <p:spPr>
          <a:xfrm>
            <a:off x="548640" y="1709928"/>
            <a:ext cx="663854" cy="530352"/>
          </a:xfrm>
          <a:prstGeom prst="roundRect">
            <a:avLst>
              <a:gd name="adj" fmla="val 3448"/>
            </a:avLst>
          </a:prstGeom>
          <a:solidFill>
            <a:srgbClr val="FFFFFF"/>
          </a:solidFill>
          <a:ln w="12700">
            <a:solidFill>
              <a:srgbClr val="C9D3DA"/>
            </a:solidFill>
            <a:prstDash val="solid"/>
          </a:ln>
        </p:spPr>
      </p:sp>
      <p:sp>
        <p:nvSpPr>
          <p:cNvPr id="9" name="Text 7"/>
          <p:cNvSpPr/>
          <p:nvPr/>
        </p:nvSpPr>
        <p:spPr>
          <a:xfrm>
            <a:off x="621792" y="1709928"/>
            <a:ext cx="517550" cy="530352"/>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1</a:t>
            </a:r>
            <a:endParaRPr lang="en-US" sz="1200" dirty="0"/>
          </a:p>
        </p:txBody>
      </p:sp>
      <p:sp>
        <p:nvSpPr>
          <p:cNvPr id="10" name="Shape 8"/>
          <p:cNvSpPr/>
          <p:nvPr/>
        </p:nvSpPr>
        <p:spPr>
          <a:xfrm>
            <a:off x="1212494" y="1709928"/>
            <a:ext cx="3761842" cy="530352"/>
          </a:xfrm>
          <a:prstGeom prst="roundRect">
            <a:avLst>
              <a:gd name="adj" fmla="val 3448"/>
            </a:avLst>
          </a:prstGeom>
          <a:solidFill>
            <a:srgbClr val="FFFFFF"/>
          </a:solidFill>
          <a:ln w="12700">
            <a:solidFill>
              <a:srgbClr val="C9D3DA"/>
            </a:solidFill>
            <a:prstDash val="solid"/>
          </a:ln>
        </p:spPr>
      </p:sp>
      <p:sp>
        <p:nvSpPr>
          <p:cNvPr id="11" name="Text 9"/>
          <p:cNvSpPr/>
          <p:nvPr/>
        </p:nvSpPr>
        <p:spPr>
          <a:xfrm>
            <a:off x="1285646" y="1709928"/>
            <a:ext cx="3615538"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Is the cervix fully open?</a:t>
            </a:r>
            <a:endParaRPr lang="en-US" sz="1200" dirty="0"/>
          </a:p>
        </p:txBody>
      </p:sp>
      <p:sp>
        <p:nvSpPr>
          <p:cNvPr id="12" name="Shape 10"/>
          <p:cNvSpPr/>
          <p:nvPr/>
        </p:nvSpPr>
        <p:spPr>
          <a:xfrm>
            <a:off x="4974336" y="1709928"/>
            <a:ext cx="6638544" cy="530352"/>
          </a:xfrm>
          <a:prstGeom prst="roundRect">
            <a:avLst>
              <a:gd name="adj" fmla="val 3448"/>
            </a:avLst>
          </a:prstGeom>
          <a:solidFill>
            <a:srgbClr val="FFFFFF"/>
          </a:solidFill>
          <a:ln w="12700">
            <a:solidFill>
              <a:srgbClr val="C9D3DA"/>
            </a:solidFill>
            <a:prstDash val="solid"/>
          </a:ln>
        </p:spPr>
      </p:sp>
      <p:sp>
        <p:nvSpPr>
          <p:cNvPr id="13" name="Text 11"/>
          <p:cNvSpPr/>
          <p:nvPr/>
        </p:nvSpPr>
        <p:spPr>
          <a:xfrm>
            <a:off x="5047488" y="1709928"/>
            <a:ext cx="6492240" cy="530352"/>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Hand round it. If it will not pass — DO NOT PULL.</a:t>
            </a:r>
            <a:endParaRPr lang="en-US" sz="1200" dirty="0"/>
          </a:p>
        </p:txBody>
      </p:sp>
      <p:sp>
        <p:nvSpPr>
          <p:cNvPr id="14" name="Shape 12"/>
          <p:cNvSpPr/>
          <p:nvPr/>
        </p:nvSpPr>
        <p:spPr>
          <a:xfrm>
            <a:off x="548640" y="2240280"/>
            <a:ext cx="663854" cy="530352"/>
          </a:xfrm>
          <a:prstGeom prst="roundRect">
            <a:avLst>
              <a:gd name="adj" fmla="val 3448"/>
            </a:avLst>
          </a:prstGeom>
          <a:solidFill>
            <a:srgbClr val="F2F5F7"/>
          </a:solidFill>
          <a:ln w="12700">
            <a:solidFill>
              <a:srgbClr val="C9D3DA"/>
            </a:solidFill>
            <a:prstDash val="solid"/>
          </a:ln>
        </p:spPr>
      </p:sp>
      <p:sp>
        <p:nvSpPr>
          <p:cNvPr id="15" name="Text 13"/>
          <p:cNvSpPr/>
          <p:nvPr/>
        </p:nvSpPr>
        <p:spPr>
          <a:xfrm>
            <a:off x="621792" y="2240280"/>
            <a:ext cx="517550" cy="530352"/>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2</a:t>
            </a:r>
            <a:endParaRPr lang="en-US" sz="1200" dirty="0"/>
          </a:p>
        </p:txBody>
      </p:sp>
      <p:sp>
        <p:nvSpPr>
          <p:cNvPr id="16" name="Shape 14"/>
          <p:cNvSpPr/>
          <p:nvPr/>
        </p:nvSpPr>
        <p:spPr>
          <a:xfrm>
            <a:off x="1212494" y="2240280"/>
            <a:ext cx="3761842" cy="530352"/>
          </a:xfrm>
          <a:prstGeom prst="roundRect">
            <a:avLst>
              <a:gd name="adj" fmla="val 3448"/>
            </a:avLst>
          </a:prstGeom>
          <a:solidFill>
            <a:srgbClr val="F2F5F7"/>
          </a:solidFill>
          <a:ln w="12700">
            <a:solidFill>
              <a:srgbClr val="C9D3DA"/>
            </a:solidFill>
            <a:prstDash val="solid"/>
          </a:ln>
        </p:spPr>
      </p:sp>
      <p:sp>
        <p:nvSpPr>
          <p:cNvPr id="17" name="Text 15"/>
          <p:cNvSpPr/>
          <p:nvPr/>
        </p:nvSpPr>
        <p:spPr>
          <a:xfrm>
            <a:off x="1285646" y="2240280"/>
            <a:ext cx="3615538"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Lubricant</a:t>
            </a:r>
            <a:endParaRPr lang="en-US" sz="1200" dirty="0"/>
          </a:p>
        </p:txBody>
      </p:sp>
      <p:sp>
        <p:nvSpPr>
          <p:cNvPr id="18" name="Shape 16"/>
          <p:cNvSpPr/>
          <p:nvPr/>
        </p:nvSpPr>
        <p:spPr>
          <a:xfrm>
            <a:off x="4974336" y="2240280"/>
            <a:ext cx="6638544" cy="530352"/>
          </a:xfrm>
          <a:prstGeom prst="roundRect">
            <a:avLst>
              <a:gd name="adj" fmla="val 3448"/>
            </a:avLst>
          </a:prstGeom>
          <a:solidFill>
            <a:srgbClr val="F2F5F7"/>
          </a:solidFill>
          <a:ln w="12700">
            <a:solidFill>
              <a:srgbClr val="C9D3DA"/>
            </a:solidFill>
            <a:prstDash val="solid"/>
          </a:ln>
        </p:spPr>
      </p:sp>
      <p:sp>
        <p:nvSpPr>
          <p:cNvPr id="19" name="Text 17"/>
          <p:cNvSpPr/>
          <p:nvPr/>
        </p:nvSpPr>
        <p:spPr>
          <a:xfrm>
            <a:off x="5047488" y="2240280"/>
            <a:ext cx="6492240"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Use far more than you think. Friction causes most damage.</a:t>
            </a:r>
            <a:endParaRPr lang="en-US" sz="1200" dirty="0"/>
          </a:p>
        </p:txBody>
      </p:sp>
      <p:sp>
        <p:nvSpPr>
          <p:cNvPr id="20" name="Shape 18"/>
          <p:cNvSpPr/>
          <p:nvPr/>
        </p:nvSpPr>
        <p:spPr>
          <a:xfrm>
            <a:off x="548640" y="2770632"/>
            <a:ext cx="663854" cy="530352"/>
          </a:xfrm>
          <a:prstGeom prst="roundRect">
            <a:avLst>
              <a:gd name="adj" fmla="val 3448"/>
            </a:avLst>
          </a:prstGeom>
          <a:solidFill>
            <a:srgbClr val="FFFFFF"/>
          </a:solidFill>
          <a:ln w="12700">
            <a:solidFill>
              <a:srgbClr val="C9D3DA"/>
            </a:solidFill>
            <a:prstDash val="solid"/>
          </a:ln>
        </p:spPr>
      </p:sp>
      <p:sp>
        <p:nvSpPr>
          <p:cNvPr id="21" name="Text 19"/>
          <p:cNvSpPr/>
          <p:nvPr/>
        </p:nvSpPr>
        <p:spPr>
          <a:xfrm>
            <a:off x="621792" y="2770632"/>
            <a:ext cx="517550" cy="530352"/>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3</a:t>
            </a:r>
            <a:endParaRPr lang="en-US" sz="1200" dirty="0"/>
          </a:p>
        </p:txBody>
      </p:sp>
      <p:sp>
        <p:nvSpPr>
          <p:cNvPr id="22" name="Shape 20"/>
          <p:cNvSpPr/>
          <p:nvPr/>
        </p:nvSpPr>
        <p:spPr>
          <a:xfrm>
            <a:off x="1212494" y="2770632"/>
            <a:ext cx="3761842" cy="530352"/>
          </a:xfrm>
          <a:prstGeom prst="roundRect">
            <a:avLst>
              <a:gd name="adj" fmla="val 3448"/>
            </a:avLst>
          </a:prstGeom>
          <a:solidFill>
            <a:srgbClr val="FFFFFF"/>
          </a:solidFill>
          <a:ln w="12700">
            <a:solidFill>
              <a:srgbClr val="C9D3DA"/>
            </a:solidFill>
            <a:prstDash val="solid"/>
          </a:ln>
        </p:spPr>
      </p:sp>
      <p:sp>
        <p:nvSpPr>
          <p:cNvPr id="23" name="Text 21"/>
          <p:cNvSpPr/>
          <p:nvPr/>
        </p:nvSpPr>
        <p:spPr>
          <a:xfrm>
            <a:off x="1285646" y="2770632"/>
            <a:ext cx="3615538"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Correct the position first</a:t>
            </a:r>
            <a:endParaRPr lang="en-US" sz="1200" dirty="0"/>
          </a:p>
        </p:txBody>
      </p:sp>
      <p:sp>
        <p:nvSpPr>
          <p:cNvPr id="24" name="Shape 22"/>
          <p:cNvSpPr/>
          <p:nvPr/>
        </p:nvSpPr>
        <p:spPr>
          <a:xfrm>
            <a:off x="4974336" y="2770632"/>
            <a:ext cx="6638544" cy="530352"/>
          </a:xfrm>
          <a:prstGeom prst="roundRect">
            <a:avLst>
              <a:gd name="adj" fmla="val 3448"/>
            </a:avLst>
          </a:prstGeom>
          <a:solidFill>
            <a:srgbClr val="FFFFFF"/>
          </a:solidFill>
          <a:ln w="12700">
            <a:solidFill>
              <a:srgbClr val="C9D3DA"/>
            </a:solidFill>
            <a:prstDash val="solid"/>
          </a:ln>
        </p:spPr>
      </p:sp>
      <p:sp>
        <p:nvSpPr>
          <p:cNvPr id="25" name="Text 23"/>
          <p:cNvSpPr/>
          <p:nvPr/>
        </p:nvSpPr>
        <p:spPr>
          <a:xfrm>
            <a:off x="5047488" y="2770632"/>
            <a:ext cx="6492240"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Push the calf back into the womb where there is room.</a:t>
            </a:r>
            <a:endParaRPr lang="en-US" sz="1200" dirty="0"/>
          </a:p>
        </p:txBody>
      </p:sp>
      <p:sp>
        <p:nvSpPr>
          <p:cNvPr id="26" name="Shape 24"/>
          <p:cNvSpPr/>
          <p:nvPr/>
        </p:nvSpPr>
        <p:spPr>
          <a:xfrm>
            <a:off x="548640" y="3300984"/>
            <a:ext cx="663854" cy="530352"/>
          </a:xfrm>
          <a:prstGeom prst="roundRect">
            <a:avLst>
              <a:gd name="adj" fmla="val 3448"/>
            </a:avLst>
          </a:prstGeom>
          <a:solidFill>
            <a:srgbClr val="F2F5F7"/>
          </a:solidFill>
          <a:ln w="12700">
            <a:solidFill>
              <a:srgbClr val="C9D3DA"/>
            </a:solidFill>
            <a:prstDash val="solid"/>
          </a:ln>
        </p:spPr>
      </p:sp>
      <p:sp>
        <p:nvSpPr>
          <p:cNvPr id="27" name="Text 25"/>
          <p:cNvSpPr/>
          <p:nvPr/>
        </p:nvSpPr>
        <p:spPr>
          <a:xfrm>
            <a:off x="621792" y="3300984"/>
            <a:ext cx="517550" cy="530352"/>
          </a:xfrm>
          <a:prstGeom prst="rect">
            <a:avLst/>
          </a:prstGeom>
          <a:noFill/>
          <a:ln/>
        </p:spPr>
        <p:txBody>
          <a:bodyPr wrap="square" lIns="0" tIns="0" rIns="0" bIns="0" rtlCol="0" anchor="ctr"/>
          <a:lstStyle/>
          <a:p>
            <a:pPr algn="ctr" indent="0" marL="0">
              <a:buNone/>
            </a:pPr>
            <a:r>
              <a:rPr lang="en-US" sz="1200" b="1" dirty="0">
                <a:solidFill>
                  <a:srgbClr val="156082"/>
                </a:solidFill>
                <a:latin typeface="Malgun Gothic" pitchFamily="34" charset="0"/>
                <a:ea typeface="Malgun Gothic" pitchFamily="34" charset="-122"/>
                <a:cs typeface="Malgun Gothic" pitchFamily="34" charset="-120"/>
              </a:rPr>
              <a:t>4</a:t>
            </a:r>
            <a:endParaRPr lang="en-US" sz="1200" dirty="0"/>
          </a:p>
        </p:txBody>
      </p:sp>
      <p:sp>
        <p:nvSpPr>
          <p:cNvPr id="28" name="Shape 26"/>
          <p:cNvSpPr/>
          <p:nvPr/>
        </p:nvSpPr>
        <p:spPr>
          <a:xfrm>
            <a:off x="1212494" y="3300984"/>
            <a:ext cx="3761842" cy="530352"/>
          </a:xfrm>
          <a:prstGeom prst="roundRect">
            <a:avLst>
              <a:gd name="adj" fmla="val 3448"/>
            </a:avLst>
          </a:prstGeom>
          <a:solidFill>
            <a:srgbClr val="F2F5F7"/>
          </a:solidFill>
          <a:ln w="12700">
            <a:solidFill>
              <a:srgbClr val="C9D3DA"/>
            </a:solidFill>
            <a:prstDash val="solid"/>
          </a:ln>
        </p:spPr>
      </p:sp>
      <p:sp>
        <p:nvSpPr>
          <p:cNvPr id="29" name="Text 27"/>
          <p:cNvSpPr/>
          <p:nvPr/>
        </p:nvSpPr>
        <p:spPr>
          <a:xfrm>
            <a:off x="1285646" y="3300984"/>
            <a:ext cx="3615538"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Pull only when she pushes</a:t>
            </a:r>
            <a:endParaRPr lang="en-US" sz="1200" dirty="0"/>
          </a:p>
        </p:txBody>
      </p:sp>
      <p:sp>
        <p:nvSpPr>
          <p:cNvPr id="30" name="Shape 28"/>
          <p:cNvSpPr/>
          <p:nvPr/>
        </p:nvSpPr>
        <p:spPr>
          <a:xfrm>
            <a:off x="4974336" y="3300984"/>
            <a:ext cx="6638544" cy="530352"/>
          </a:xfrm>
          <a:prstGeom prst="roundRect">
            <a:avLst>
              <a:gd name="adj" fmla="val 3448"/>
            </a:avLst>
          </a:prstGeom>
          <a:solidFill>
            <a:srgbClr val="F2F5F7"/>
          </a:solidFill>
          <a:ln w="12700">
            <a:solidFill>
              <a:srgbClr val="C9D3DA"/>
            </a:solidFill>
            <a:prstDash val="solid"/>
          </a:ln>
        </p:spPr>
      </p:sp>
      <p:sp>
        <p:nvSpPr>
          <p:cNvPr id="31" name="Text 29"/>
          <p:cNvSpPr/>
          <p:nvPr/>
        </p:nvSpPr>
        <p:spPr>
          <a:xfrm>
            <a:off x="5047488" y="3300984"/>
            <a:ext cx="6492240"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Two people maximum. Alternate the legs.</a:t>
            </a:r>
            <a:endParaRPr lang="en-US" sz="1200" dirty="0"/>
          </a:p>
        </p:txBody>
      </p:sp>
      <p:sp>
        <p:nvSpPr>
          <p:cNvPr id="32" name="Shape 30"/>
          <p:cNvSpPr/>
          <p:nvPr/>
        </p:nvSpPr>
        <p:spPr>
          <a:xfrm>
            <a:off x="548640" y="3831336"/>
            <a:ext cx="663854" cy="530352"/>
          </a:xfrm>
          <a:prstGeom prst="roundRect">
            <a:avLst>
              <a:gd name="adj" fmla="val 3448"/>
            </a:avLst>
          </a:prstGeom>
          <a:solidFill>
            <a:srgbClr val="FFFFFF"/>
          </a:solidFill>
          <a:ln w="12700">
            <a:solidFill>
              <a:srgbClr val="C9D3DA"/>
            </a:solidFill>
            <a:prstDash val="solid"/>
          </a:ln>
        </p:spPr>
      </p:sp>
      <p:sp>
        <p:nvSpPr>
          <p:cNvPr id="33" name="Text 31"/>
          <p:cNvSpPr/>
          <p:nvPr/>
        </p:nvSpPr>
        <p:spPr>
          <a:xfrm>
            <a:off x="621792" y="3831336"/>
            <a:ext cx="517550" cy="530352"/>
          </a:xfrm>
          <a:prstGeom prst="rect">
            <a:avLst/>
          </a:prstGeom>
          <a:noFill/>
          <a:ln/>
        </p:spPr>
        <p:txBody>
          <a:bodyPr wrap="square" lIns="0" tIns="0" rIns="0" bIns="0" rtlCol="0" anchor="ctr"/>
          <a:lstStyle/>
          <a:p>
            <a:pPr algn="ctr" indent="0" marL="0">
              <a:buNone/>
            </a:pPr>
            <a:r>
              <a:rPr lang="en-US" sz="1200" b="1" dirty="0">
                <a:solidFill>
                  <a:srgbClr val="E97132"/>
                </a:solidFill>
                <a:latin typeface="Malgun Gothic" pitchFamily="34" charset="0"/>
                <a:ea typeface="Malgun Gothic" pitchFamily="34" charset="-122"/>
                <a:cs typeface="Malgun Gothic" pitchFamily="34" charset="-120"/>
              </a:rPr>
              <a:t>5</a:t>
            </a:r>
            <a:endParaRPr lang="en-US" sz="1200" dirty="0"/>
          </a:p>
        </p:txBody>
      </p:sp>
      <p:sp>
        <p:nvSpPr>
          <p:cNvPr id="34" name="Shape 32"/>
          <p:cNvSpPr/>
          <p:nvPr/>
        </p:nvSpPr>
        <p:spPr>
          <a:xfrm>
            <a:off x="1212494" y="3831336"/>
            <a:ext cx="3761842" cy="530352"/>
          </a:xfrm>
          <a:prstGeom prst="roundRect">
            <a:avLst>
              <a:gd name="adj" fmla="val 3448"/>
            </a:avLst>
          </a:prstGeom>
          <a:solidFill>
            <a:srgbClr val="FFFFFF"/>
          </a:solidFill>
          <a:ln w="12700">
            <a:solidFill>
              <a:srgbClr val="C9D3DA"/>
            </a:solidFill>
            <a:prstDash val="solid"/>
          </a:ln>
        </p:spPr>
      </p:sp>
      <p:sp>
        <p:nvSpPr>
          <p:cNvPr id="35" name="Text 33"/>
          <p:cNvSpPr/>
          <p:nvPr/>
        </p:nvSpPr>
        <p:spPr>
          <a:xfrm>
            <a:off x="1285646" y="3831336"/>
            <a:ext cx="3615538"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No progress in 15 minutes</a:t>
            </a:r>
            <a:endParaRPr lang="en-US" sz="1200" dirty="0"/>
          </a:p>
        </p:txBody>
      </p:sp>
      <p:sp>
        <p:nvSpPr>
          <p:cNvPr id="36" name="Shape 34"/>
          <p:cNvSpPr/>
          <p:nvPr/>
        </p:nvSpPr>
        <p:spPr>
          <a:xfrm>
            <a:off x="4974336" y="3831336"/>
            <a:ext cx="6638544" cy="530352"/>
          </a:xfrm>
          <a:prstGeom prst="roundRect">
            <a:avLst>
              <a:gd name="adj" fmla="val 3448"/>
            </a:avLst>
          </a:prstGeom>
          <a:solidFill>
            <a:srgbClr val="FFFFFF"/>
          </a:solidFill>
          <a:ln w="12700">
            <a:solidFill>
              <a:srgbClr val="C9D3DA"/>
            </a:solidFill>
            <a:prstDash val="solid"/>
          </a:ln>
        </p:spPr>
      </p:sp>
      <p:sp>
        <p:nvSpPr>
          <p:cNvPr id="37" name="Text 35"/>
          <p:cNvSpPr/>
          <p:nvPr/>
        </p:nvSpPr>
        <p:spPr>
          <a:xfrm>
            <a:off x="5047488" y="3831336"/>
            <a:ext cx="6492240" cy="530352"/>
          </a:xfrm>
          <a:prstGeom prst="rect">
            <a:avLst/>
          </a:prstGeom>
          <a:noFill/>
          <a:ln/>
        </p:spPr>
        <p:txBody>
          <a:bodyPr wrap="square" lIns="0" tIns="0" rIns="0" bIns="0" rtlCol="0" anchor="ctr"/>
          <a:lstStyle/>
          <a:p>
            <a:pPr algn="l" indent="0" marL="0">
              <a:buNone/>
            </a:pPr>
            <a:r>
              <a:rPr lang="en-US" sz="1200" dirty="0">
                <a:solidFill>
                  <a:srgbClr val="E97132"/>
                </a:solidFill>
                <a:latin typeface="Malgun Gothic" pitchFamily="34" charset="0"/>
                <a:ea typeface="Malgun Gothic" pitchFamily="34" charset="-122"/>
                <a:cs typeface="Malgun Gothic" pitchFamily="34" charset="-120"/>
              </a:rPr>
              <a:t>STOP. The answer is a caesarean, not more force.</a:t>
            </a:r>
            <a:endParaRPr lang="en-US" sz="1200" dirty="0"/>
          </a:p>
        </p:txBody>
      </p:sp>
      <p:sp>
        <p:nvSpPr>
          <p:cNvPr id="38" name="Shape 36"/>
          <p:cNvSpPr/>
          <p:nvPr/>
        </p:nvSpPr>
        <p:spPr>
          <a:xfrm>
            <a:off x="548640" y="4361688"/>
            <a:ext cx="663854" cy="530352"/>
          </a:xfrm>
          <a:prstGeom prst="roundRect">
            <a:avLst>
              <a:gd name="adj" fmla="val 3448"/>
            </a:avLst>
          </a:prstGeom>
          <a:solidFill>
            <a:srgbClr val="F2F5F7"/>
          </a:solidFill>
          <a:ln w="12700">
            <a:solidFill>
              <a:srgbClr val="C9D3DA"/>
            </a:solidFill>
            <a:prstDash val="solid"/>
          </a:ln>
        </p:spPr>
      </p:sp>
      <p:sp>
        <p:nvSpPr>
          <p:cNvPr id="39" name="Text 37"/>
          <p:cNvSpPr/>
          <p:nvPr/>
        </p:nvSpPr>
        <p:spPr>
          <a:xfrm>
            <a:off x="621792" y="4361688"/>
            <a:ext cx="517550" cy="530352"/>
          </a:xfrm>
          <a:prstGeom prst="rect">
            <a:avLst/>
          </a:prstGeom>
          <a:noFill/>
          <a:ln/>
        </p:spPr>
        <p:txBody>
          <a:bodyPr wrap="square" lIns="0" tIns="0" rIns="0" bIns="0" rtlCol="0" anchor="ctr"/>
          <a:lstStyle/>
          <a:p>
            <a:pPr algn="ctr" indent="0" marL="0">
              <a:buNone/>
            </a:pPr>
            <a:r>
              <a:rPr lang="en-US" sz="1200" b="1" dirty="0">
                <a:solidFill>
                  <a:srgbClr val="196B24"/>
                </a:solidFill>
                <a:latin typeface="Malgun Gothic" pitchFamily="34" charset="0"/>
                <a:ea typeface="Malgun Gothic" pitchFamily="34" charset="-122"/>
                <a:cs typeface="Malgun Gothic" pitchFamily="34" charset="-120"/>
              </a:rPr>
              <a:t>6</a:t>
            </a:r>
            <a:endParaRPr lang="en-US" sz="1200" dirty="0"/>
          </a:p>
        </p:txBody>
      </p:sp>
      <p:sp>
        <p:nvSpPr>
          <p:cNvPr id="40" name="Shape 38"/>
          <p:cNvSpPr/>
          <p:nvPr/>
        </p:nvSpPr>
        <p:spPr>
          <a:xfrm>
            <a:off x="1212494" y="4361688"/>
            <a:ext cx="3761842" cy="530352"/>
          </a:xfrm>
          <a:prstGeom prst="roundRect">
            <a:avLst>
              <a:gd name="adj" fmla="val 3448"/>
            </a:avLst>
          </a:prstGeom>
          <a:solidFill>
            <a:srgbClr val="F2F5F7"/>
          </a:solidFill>
          <a:ln w="12700">
            <a:solidFill>
              <a:srgbClr val="C9D3DA"/>
            </a:solidFill>
            <a:prstDash val="solid"/>
          </a:ln>
        </p:spPr>
      </p:sp>
      <p:sp>
        <p:nvSpPr>
          <p:cNvPr id="41" name="Text 39"/>
          <p:cNvSpPr/>
          <p:nvPr/>
        </p:nvSpPr>
        <p:spPr>
          <a:xfrm>
            <a:off x="1285646" y="4361688"/>
            <a:ext cx="3615538" cy="530352"/>
          </a:xfrm>
          <a:prstGeom prst="rect">
            <a:avLst/>
          </a:prstGeom>
          <a:noFill/>
          <a:ln/>
        </p:spPr>
        <p:txBody>
          <a:bodyPr wrap="square" lIns="0" tIns="0" rIns="0" bIns="0" rtlCol="0" anchor="ctr"/>
          <a:lstStyle/>
          <a:p>
            <a:pPr algn="l" indent="0" marL="0">
              <a:buNone/>
            </a:pPr>
            <a:r>
              <a:rPr lang="en-US" sz="1200" b="1" dirty="0">
                <a:solidFill>
                  <a:srgbClr val="0E2841"/>
                </a:solidFill>
                <a:latin typeface="Malgun Gothic" pitchFamily="34" charset="0"/>
                <a:ea typeface="Malgun Gothic" pitchFamily="34" charset="-122"/>
                <a:cs typeface="Malgun Gothic" pitchFamily="34" charset="-120"/>
              </a:rPr>
              <a:t>Calf not breathing</a:t>
            </a:r>
            <a:endParaRPr lang="en-US" sz="1200" dirty="0"/>
          </a:p>
        </p:txBody>
      </p:sp>
      <p:sp>
        <p:nvSpPr>
          <p:cNvPr id="42" name="Shape 40"/>
          <p:cNvSpPr/>
          <p:nvPr/>
        </p:nvSpPr>
        <p:spPr>
          <a:xfrm>
            <a:off x="4974336" y="4361688"/>
            <a:ext cx="6638544" cy="530352"/>
          </a:xfrm>
          <a:prstGeom prst="roundRect">
            <a:avLst>
              <a:gd name="adj" fmla="val 3448"/>
            </a:avLst>
          </a:prstGeom>
          <a:solidFill>
            <a:srgbClr val="F2F5F7"/>
          </a:solidFill>
          <a:ln w="12700">
            <a:solidFill>
              <a:srgbClr val="C9D3DA"/>
            </a:solidFill>
            <a:prstDash val="solid"/>
          </a:ln>
        </p:spPr>
      </p:sp>
      <p:sp>
        <p:nvSpPr>
          <p:cNvPr id="43" name="Text 41"/>
          <p:cNvSpPr/>
          <p:nvPr/>
        </p:nvSpPr>
        <p:spPr>
          <a:xfrm>
            <a:off x="5047488" y="4361688"/>
            <a:ext cx="6492240" cy="53035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Chest down, not hanging upside down. Rub hard. Straw in the nose.</a:t>
            </a:r>
            <a:endParaRPr lang="en-US" sz="1200" dirty="0"/>
          </a:p>
        </p:txBody>
      </p:sp>
      <p:sp>
        <p:nvSpPr>
          <p:cNvPr id="44" name="Shape 42"/>
          <p:cNvSpPr/>
          <p:nvPr/>
        </p:nvSpPr>
        <p:spPr>
          <a:xfrm>
            <a:off x="548640" y="5001768"/>
            <a:ext cx="11064240" cy="274320"/>
          </a:xfrm>
          <a:prstGeom prst="roundRect">
            <a:avLst/>
          </a:prstGeom>
          <a:solidFill>
            <a:srgbClr val="FFFFFF"/>
          </a:solidFill>
          <a:ln w="12700">
            <a:solidFill>
              <a:srgbClr val="FFFFFF"/>
            </a:solidFill>
            <a:prstDash val="solid"/>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56082"/>
        </a:solidFill>
      </p:bgPr>
    </p:bg>
    <p:spTree>
      <p:nvGrpSpPr>
        <p:cNvPr id="1" name=""/>
        <p:cNvGrpSpPr/>
        <p:nvPr/>
      </p:nvGrpSpPr>
      <p:grpSpPr>
        <a:xfrm>
          <a:off x="0" y="0"/>
          <a:ext cx="0" cy="0"/>
          <a:chOff x="0" y="0"/>
          <a:chExt cx="0" cy="0"/>
        </a:xfrm>
      </p:grpSpPr>
      <p:sp>
        <p:nvSpPr>
          <p:cNvPr id="2" name="Shape 0"/>
          <p:cNvSpPr/>
          <p:nvPr/>
        </p:nvSpPr>
        <p:spPr>
          <a:xfrm>
            <a:off x="10241280" y="4480560"/>
            <a:ext cx="3474720" cy="3474720"/>
          </a:xfrm>
          <a:prstGeom prst="ellipse">
            <a:avLst/>
          </a:prstGeom>
          <a:solidFill>
            <a:srgbClr val="0E4A63"/>
          </a:solidFill>
          <a:ln/>
        </p:spPr>
      </p:sp>
      <p:sp>
        <p:nvSpPr>
          <p:cNvPr id="3" name="Text 1"/>
          <p:cNvSpPr/>
          <p:nvPr/>
        </p:nvSpPr>
        <p:spPr>
          <a:xfrm>
            <a:off x="822960" y="2240280"/>
            <a:ext cx="10058400" cy="402336"/>
          </a:xfrm>
          <a:prstGeom prst="rect">
            <a:avLst/>
          </a:prstGeom>
          <a:noFill/>
          <a:ln/>
        </p:spPr>
        <p:txBody>
          <a:bodyPr wrap="square" lIns="0" tIns="0" rIns="0" bIns="0" rtlCol="0" anchor="ctr"/>
          <a:lstStyle/>
          <a:p>
            <a:pPr indent="0" marL="0">
              <a:buNone/>
            </a:pPr>
            <a:r>
              <a:rPr lang="en-US" sz="1500" b="1" spc="300" kern="0" dirty="0">
                <a:solidFill>
                  <a:srgbClr val="BFE0EF"/>
                </a:solidFill>
                <a:latin typeface="Malgun Gothic" pitchFamily="34" charset="0"/>
                <a:ea typeface="Malgun Gothic" pitchFamily="34" charset="-122"/>
                <a:cs typeface="Malgun Gothic" pitchFamily="34" charset="-120"/>
              </a:rPr>
              <a:t>BLOCK 08</a:t>
            </a:r>
            <a:endParaRPr lang="en-US" sz="1500" dirty="0"/>
          </a:p>
        </p:txBody>
      </p:sp>
      <p:sp>
        <p:nvSpPr>
          <p:cNvPr id="4" name="Text 2"/>
          <p:cNvSpPr/>
          <p:nvPr/>
        </p:nvSpPr>
        <p:spPr>
          <a:xfrm>
            <a:off x="822960" y="2697480"/>
            <a:ext cx="1005840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Womb, udder, feet — and close</a:t>
            </a:r>
            <a:endParaRPr lang="en-US" sz="3600" dirty="0"/>
          </a:p>
        </p:txBody>
      </p:sp>
      <p:sp>
        <p:nvSpPr>
          <p:cNvPr id="5" name="Text 3"/>
          <p:cNvSpPr/>
          <p:nvPr/>
        </p:nvSpPr>
        <p:spPr>
          <a:xfrm>
            <a:off x="822960" y="4069080"/>
            <a:ext cx="10058400" cy="457200"/>
          </a:xfrm>
          <a:prstGeom prst="rect">
            <a:avLst/>
          </a:prstGeom>
          <a:noFill/>
          <a:ln/>
        </p:spPr>
        <p:txBody>
          <a:bodyPr wrap="square" lIns="0" tIns="0" rIns="0" bIns="0" rtlCol="0" anchor="ctr"/>
          <a:lstStyle/>
          <a:p>
            <a:pPr indent="0" marL="0">
              <a:buNone/>
            </a:pPr>
            <a:r>
              <a:rPr lang="en-US" sz="1500" dirty="0">
                <a:solidFill>
                  <a:srgbClr val="DCEEF6"/>
                </a:solidFill>
                <a:latin typeface="Malgun Gothic" pitchFamily="34" charset="0"/>
                <a:ea typeface="Malgun Gothic" pitchFamily="34" charset="-122"/>
                <a:cs typeface="Malgun Gothic" pitchFamily="34" charset="-120"/>
              </a:rPr>
              <a:t>70 minutes  ·  the last diseases, then questions</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BFE0EF"/>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BFE0EF"/>
                </a:solidFill>
                <a:latin typeface="Malgun Gothic" pitchFamily="34" charset="0"/>
                <a:ea typeface="Malgun Gothic" pitchFamily="34" charset="-122"/>
                <a:cs typeface="Malgun Gothic"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Infected womb — two different problems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The difference is whether she is systemically sick</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Fever and dull = treat today. No fever = watch and re-check, do not reach for antibiotics.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59</a:t>
            </a:r>
            <a:endParaRPr lang="en-US" sz="900" dirty="0"/>
          </a:p>
        </p:txBody>
      </p:sp>
      <p:sp>
        <p:nvSpPr>
          <p:cNvPr id="8" name="Shape 6"/>
          <p:cNvSpPr/>
          <p:nvPr/>
        </p:nvSpPr>
        <p:spPr>
          <a:xfrm>
            <a:off x="548640" y="1755648"/>
            <a:ext cx="5394960" cy="2331720"/>
          </a:xfrm>
          <a:prstGeom prst="roundRect">
            <a:avLst>
              <a:gd name="adj" fmla="val 2745"/>
            </a:avLst>
          </a:prstGeom>
          <a:solidFill>
            <a:srgbClr val="FFFFFF"/>
          </a:solidFill>
          <a:ln w="12700">
            <a:solidFill>
              <a:srgbClr val="E97132"/>
            </a:solidFill>
            <a:prstDash val="solid"/>
          </a:ln>
        </p:spPr>
      </p:sp>
      <p:sp>
        <p:nvSpPr>
          <p:cNvPr id="9" name="Shape 7"/>
          <p:cNvSpPr/>
          <p:nvPr/>
        </p:nvSpPr>
        <p:spPr>
          <a:xfrm>
            <a:off x="548640" y="1755648"/>
            <a:ext cx="5394960" cy="402336"/>
          </a:xfrm>
          <a:prstGeom prst="roundRect">
            <a:avLst>
              <a:gd name="adj" fmla="val 15909"/>
            </a:avLst>
          </a:prstGeom>
          <a:solidFill>
            <a:srgbClr val="E97132"/>
          </a:solidFill>
          <a:ln w="12700">
            <a:solidFill>
              <a:srgbClr val="E97132"/>
            </a:solidFill>
            <a:prstDash val="solid"/>
          </a:ln>
        </p:spPr>
      </p:sp>
      <p:sp>
        <p:nvSpPr>
          <p:cNvPr id="10" name="Text 8"/>
          <p:cNvSpPr/>
          <p:nvPr/>
        </p:nvSpPr>
        <p:spPr>
          <a:xfrm>
            <a:off x="548640" y="17556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FIRST 3 WEEKS — she IS sick</a:t>
            </a:r>
            <a:endParaRPr lang="en-US" sz="1300" dirty="0"/>
          </a:p>
        </p:txBody>
      </p:sp>
      <p:sp>
        <p:nvSpPr>
          <p:cNvPr id="11" name="Text 9"/>
          <p:cNvSpPr/>
          <p:nvPr/>
        </p:nvSpPr>
        <p:spPr>
          <a:xfrm>
            <a:off x="694944" y="2267712"/>
            <a:ext cx="5102352" cy="1691640"/>
          </a:xfrm>
          <a:prstGeom prst="rect">
            <a:avLst/>
          </a:prstGeom>
          <a:noFill/>
          <a:ln/>
        </p:spPr>
        <p:txBody>
          <a:bodyPr wrap="square" lIns="0" tIns="0" rIns="0" bIns="0" rtlCol="0" anchor="t"/>
          <a:lstStyle/>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Watery red-brown discharge, bad smell</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FEVER 39.5 °C or more</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Dull, off feed, milk down</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Veterinary treatment TODAY</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Antibiotic into the body, not the womb</a:t>
            </a:r>
            <a:endParaRPr lang="en-US" sz="1250" dirty="0"/>
          </a:p>
        </p:txBody>
      </p:sp>
      <p:sp>
        <p:nvSpPr>
          <p:cNvPr id="12" name="Shape 10"/>
          <p:cNvSpPr/>
          <p:nvPr/>
        </p:nvSpPr>
        <p:spPr>
          <a:xfrm>
            <a:off x="6217920" y="1755648"/>
            <a:ext cx="5394960" cy="2331720"/>
          </a:xfrm>
          <a:prstGeom prst="roundRect">
            <a:avLst>
              <a:gd name="adj" fmla="val 2745"/>
            </a:avLst>
          </a:prstGeom>
          <a:solidFill>
            <a:srgbClr val="FFFFFF"/>
          </a:solidFill>
          <a:ln w="12700">
            <a:solidFill>
              <a:srgbClr val="156082"/>
            </a:solidFill>
            <a:prstDash val="solid"/>
          </a:ln>
        </p:spPr>
      </p:sp>
      <p:sp>
        <p:nvSpPr>
          <p:cNvPr id="13" name="Shape 11"/>
          <p:cNvSpPr/>
          <p:nvPr/>
        </p:nvSpPr>
        <p:spPr>
          <a:xfrm>
            <a:off x="6217920" y="1755648"/>
            <a:ext cx="5394960" cy="402336"/>
          </a:xfrm>
          <a:prstGeom prst="roundRect">
            <a:avLst>
              <a:gd name="adj" fmla="val 15909"/>
            </a:avLst>
          </a:prstGeom>
          <a:solidFill>
            <a:srgbClr val="156082"/>
          </a:solidFill>
          <a:ln w="12700">
            <a:solidFill>
              <a:srgbClr val="156082"/>
            </a:solidFill>
            <a:prstDash val="solid"/>
          </a:ln>
        </p:spPr>
      </p:sp>
      <p:sp>
        <p:nvSpPr>
          <p:cNvPr id="14" name="Text 12"/>
          <p:cNvSpPr/>
          <p:nvPr/>
        </p:nvSpPr>
        <p:spPr>
          <a:xfrm>
            <a:off x="6217920" y="175564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AFTER 3 WEEKS — she looks NORMAL</a:t>
            </a:r>
            <a:endParaRPr lang="en-US" sz="1300" dirty="0"/>
          </a:p>
        </p:txBody>
      </p:sp>
      <p:sp>
        <p:nvSpPr>
          <p:cNvPr id="15" name="Text 13"/>
          <p:cNvSpPr/>
          <p:nvPr/>
        </p:nvSpPr>
        <p:spPr>
          <a:xfrm>
            <a:off x="6364224" y="2267712"/>
            <a:ext cx="5102352" cy="1691640"/>
          </a:xfrm>
          <a:prstGeom prst="rect">
            <a:avLst/>
          </a:prstGeom>
          <a:noFill/>
          <a:ln/>
        </p:spPr>
        <p:txBody>
          <a:bodyPr wrap="square" lIns="0" tIns="0" rIns="0" bIns="0" rtlCol="0" anchor="t"/>
          <a:lstStyle/>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Thick pus in the discharge</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NO fever, eating well</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She simply will not get pregnant</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Prostaglandin — but only if she has a CL</a:t>
            </a:r>
            <a:endParaRPr lang="en-US" sz="1250" dirty="0"/>
          </a:p>
          <a:p>
            <a:pPr indent="0" marL="0">
              <a:lnSpc>
                <a:spcPct val="118000"/>
              </a:lnSpc>
              <a:buNone/>
            </a:pPr>
            <a:r>
              <a:rPr lang="en-US" sz="1250" dirty="0">
                <a:solidFill>
                  <a:srgbClr val="0E2841"/>
                </a:solidFill>
                <a:latin typeface="Malgun Gothic" pitchFamily="34" charset="0"/>
                <a:ea typeface="Malgun Gothic" pitchFamily="34" charset="-122"/>
                <a:cs typeface="Malgun Gothic" pitchFamily="34" charset="-120"/>
              </a:rPr>
              <a:t>•  Check every cow at 3–5 weeks after calving</a:t>
            </a:r>
            <a:endParaRPr lang="en-US" sz="1250" dirty="0"/>
          </a:p>
        </p:txBody>
      </p:sp>
      <p:sp>
        <p:nvSpPr>
          <p:cNvPr id="16" name="Shape 14"/>
          <p:cNvSpPr/>
          <p:nvPr/>
        </p:nvSpPr>
        <p:spPr>
          <a:xfrm>
            <a:off x="548640" y="4270248"/>
            <a:ext cx="11064240" cy="960120"/>
          </a:xfrm>
          <a:prstGeom prst="roundRect">
            <a:avLst>
              <a:gd name="adj" fmla="val 7619"/>
            </a:avLst>
          </a:prstGeom>
          <a:solidFill>
            <a:srgbClr val="0E2841"/>
          </a:solidFill>
          <a:ln w="12700">
            <a:solidFill>
              <a:srgbClr val="0E2841"/>
            </a:solidFill>
            <a:prstDash val="solid"/>
          </a:ln>
        </p:spPr>
      </p:sp>
      <p:sp>
        <p:nvSpPr>
          <p:cNvPr id="17" name="Text 15"/>
          <p:cNvSpPr/>
          <p:nvPr/>
        </p:nvSpPr>
        <p:spPr>
          <a:xfrm>
            <a:off x="548640" y="4270248"/>
            <a:ext cx="11064240" cy="9601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On every fresh cow, every day for 10 days:  TEMPERATURE  ·  DISCHARGE  ·  APPETITE</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The trap — pus in the womb feels like pregnancy</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Fluid in the womb, and a CL on the ovary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Never inject a "pregnant-feeling" cow without checking properly first.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60</a:t>
            </a:r>
            <a:endParaRPr lang="en-US" sz="900" dirty="0"/>
          </a:p>
        </p:txBody>
      </p:sp>
      <p:sp>
        <p:nvSpPr>
          <p:cNvPr id="8" name="Shape 6"/>
          <p:cNvSpPr/>
          <p:nvPr/>
        </p:nvSpPr>
        <p:spPr>
          <a:xfrm>
            <a:off x="548640" y="1801368"/>
            <a:ext cx="5394960" cy="2057400"/>
          </a:xfrm>
          <a:prstGeom prst="roundRect">
            <a:avLst>
              <a:gd name="adj" fmla="val 3111"/>
            </a:avLst>
          </a:prstGeom>
          <a:solidFill>
            <a:srgbClr val="FFFFFF"/>
          </a:solidFill>
          <a:ln w="12700">
            <a:solidFill>
              <a:srgbClr val="196B24"/>
            </a:solidFill>
            <a:prstDash val="solid"/>
          </a:ln>
        </p:spPr>
      </p:sp>
      <p:sp>
        <p:nvSpPr>
          <p:cNvPr id="9" name="Shape 7"/>
          <p:cNvSpPr/>
          <p:nvPr/>
        </p:nvSpPr>
        <p:spPr>
          <a:xfrm>
            <a:off x="548640" y="1801368"/>
            <a:ext cx="5394960" cy="402336"/>
          </a:xfrm>
          <a:prstGeom prst="roundRect">
            <a:avLst>
              <a:gd name="adj" fmla="val 15909"/>
            </a:avLst>
          </a:prstGeom>
          <a:solidFill>
            <a:srgbClr val="196B24"/>
          </a:solidFill>
          <a:ln w="12700">
            <a:solidFill>
              <a:srgbClr val="196B24"/>
            </a:solidFill>
            <a:prstDash val="solid"/>
          </a:ln>
        </p:spPr>
      </p:sp>
      <p:sp>
        <p:nvSpPr>
          <p:cNvPr id="10" name="Text 8"/>
          <p:cNvSpPr/>
          <p:nvPr/>
        </p:nvSpPr>
        <p:spPr>
          <a:xfrm>
            <a:off x="54864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PREGNANT</a:t>
            </a:r>
            <a:endParaRPr lang="en-US" sz="1300" dirty="0"/>
          </a:p>
        </p:txBody>
      </p:sp>
      <p:sp>
        <p:nvSpPr>
          <p:cNvPr id="11" name="Text 9"/>
          <p:cNvSpPr/>
          <p:nvPr/>
        </p:nvSpPr>
        <p:spPr>
          <a:xfrm>
            <a:off x="694944" y="2313432"/>
            <a:ext cx="5102352" cy="1417320"/>
          </a:xfrm>
          <a:prstGeom prst="rect">
            <a:avLst/>
          </a:prstGeom>
          <a:noFill/>
          <a:ln/>
        </p:spPr>
        <p:txBody>
          <a:bodyPr wrap="square" lIns="0" tIns="0" rIns="0" bIns="0" rtlCol="0" anchor="t"/>
          <a:lstStyle/>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Fluid in the womb</a:t>
            </a:r>
            <a:endParaRPr lang="en-US" sz="1400" dirty="0"/>
          </a:p>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CL on the ovary</a:t>
            </a:r>
            <a:endParaRPr lang="en-US" sz="1400" dirty="0"/>
          </a:p>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Check properly: a calf and a heartbeat</a:t>
            </a:r>
            <a:endParaRPr lang="en-US" sz="1400" dirty="0"/>
          </a:p>
        </p:txBody>
      </p:sp>
      <p:sp>
        <p:nvSpPr>
          <p:cNvPr id="12" name="Shape 10"/>
          <p:cNvSpPr/>
          <p:nvPr/>
        </p:nvSpPr>
        <p:spPr>
          <a:xfrm>
            <a:off x="6217920" y="1801368"/>
            <a:ext cx="5394960" cy="2057400"/>
          </a:xfrm>
          <a:prstGeom prst="roundRect">
            <a:avLst>
              <a:gd name="adj" fmla="val 3111"/>
            </a:avLst>
          </a:prstGeom>
          <a:solidFill>
            <a:srgbClr val="FFFFFF"/>
          </a:solidFill>
          <a:ln w="12700">
            <a:solidFill>
              <a:srgbClr val="E97132"/>
            </a:solidFill>
            <a:prstDash val="solid"/>
          </a:ln>
        </p:spPr>
      </p:sp>
      <p:sp>
        <p:nvSpPr>
          <p:cNvPr id="13" name="Shape 11"/>
          <p:cNvSpPr/>
          <p:nvPr/>
        </p:nvSpPr>
        <p:spPr>
          <a:xfrm>
            <a:off x="6217920" y="1801368"/>
            <a:ext cx="5394960" cy="402336"/>
          </a:xfrm>
          <a:prstGeom prst="roundRect">
            <a:avLst>
              <a:gd name="adj" fmla="val 15909"/>
            </a:avLst>
          </a:prstGeom>
          <a:solidFill>
            <a:srgbClr val="E97132"/>
          </a:solidFill>
          <a:ln w="12700">
            <a:solidFill>
              <a:srgbClr val="E97132"/>
            </a:solidFill>
            <a:prstDash val="solid"/>
          </a:ln>
        </p:spPr>
      </p:sp>
      <p:sp>
        <p:nvSpPr>
          <p:cNvPr id="14" name="Text 12"/>
          <p:cNvSpPr/>
          <p:nvPr/>
        </p:nvSpPr>
        <p:spPr>
          <a:xfrm>
            <a:off x="6217920" y="1801368"/>
            <a:ext cx="53949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PUS TRAPPED IN THE WOMB</a:t>
            </a:r>
            <a:endParaRPr lang="en-US" sz="1300" dirty="0"/>
          </a:p>
        </p:txBody>
      </p:sp>
      <p:sp>
        <p:nvSpPr>
          <p:cNvPr id="15" name="Text 13"/>
          <p:cNvSpPr/>
          <p:nvPr/>
        </p:nvSpPr>
        <p:spPr>
          <a:xfrm>
            <a:off x="6364224" y="2313432"/>
            <a:ext cx="5102352" cy="1417320"/>
          </a:xfrm>
          <a:prstGeom prst="rect">
            <a:avLst/>
          </a:prstGeom>
          <a:noFill/>
          <a:ln/>
        </p:spPr>
        <p:txBody>
          <a:bodyPr wrap="square" lIns="0" tIns="0" rIns="0" bIns="0" rtlCol="0" anchor="t"/>
          <a:lstStyle/>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Fluid in the womb</a:t>
            </a:r>
            <a:endParaRPr lang="en-US" sz="1400" dirty="0"/>
          </a:p>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CL on the ovary</a:t>
            </a:r>
            <a:endParaRPr lang="en-US" sz="1400" dirty="0"/>
          </a:p>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Check properly: swirling "snow", no calf</a:t>
            </a:r>
            <a:endParaRPr lang="en-US" sz="1400" dirty="0"/>
          </a:p>
          <a:p>
            <a:pPr indent="0" marL="0">
              <a:lnSpc>
                <a:spcPct val="118000"/>
              </a:lnSpc>
              <a:buNone/>
            </a:pPr>
            <a:r>
              <a:rPr lang="en-US" sz="1400" dirty="0">
                <a:solidFill>
                  <a:srgbClr val="0E2841"/>
                </a:solidFill>
                <a:latin typeface="Malgun Gothic" pitchFamily="34" charset="0"/>
                <a:ea typeface="Malgun Gothic" pitchFamily="34" charset="-122"/>
                <a:cs typeface="Malgun Gothic" pitchFamily="34" charset="-120"/>
              </a:rPr>
              <a:t>•  She is not sick — she just never comes in heat</a:t>
            </a:r>
            <a:endParaRPr lang="en-US" sz="1400" dirty="0"/>
          </a:p>
        </p:txBody>
      </p:sp>
      <p:sp>
        <p:nvSpPr>
          <p:cNvPr id="16" name="Shape 14"/>
          <p:cNvSpPr/>
          <p:nvPr/>
        </p:nvSpPr>
        <p:spPr>
          <a:xfrm>
            <a:off x="548640" y="4041648"/>
            <a:ext cx="11064240" cy="1188720"/>
          </a:xfrm>
          <a:prstGeom prst="roundRect">
            <a:avLst>
              <a:gd name="adj" fmla="val 6154"/>
            </a:avLst>
          </a:prstGeom>
          <a:solidFill>
            <a:srgbClr val="0E2841"/>
          </a:solidFill>
          <a:ln w="12700">
            <a:solidFill>
              <a:srgbClr val="0E2841"/>
            </a:solidFill>
            <a:prstDash val="solid"/>
          </a:ln>
        </p:spPr>
      </p:sp>
      <p:sp>
        <p:nvSpPr>
          <p:cNvPr id="17" name="Text 15"/>
          <p:cNvSpPr/>
          <p:nvPr/>
        </p:nvSpPr>
        <p:spPr>
          <a:xfrm>
            <a:off x="548640" y="4151376"/>
            <a:ext cx="1106424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By hand they feel the SAME.</a:t>
            </a:r>
            <a:endParaRPr lang="en-US" sz="2000" dirty="0"/>
          </a:p>
        </p:txBody>
      </p:sp>
      <p:sp>
        <p:nvSpPr>
          <p:cNvPr id="18" name="Text 16"/>
          <p:cNvSpPr/>
          <p:nvPr/>
        </p:nvSpPr>
        <p:spPr>
          <a:xfrm>
            <a:off x="548640" y="4608576"/>
            <a:ext cx="11064240" cy="420624"/>
          </a:xfrm>
          <a:prstGeom prst="rect">
            <a:avLst/>
          </a:prstGeom>
          <a:noFill/>
          <a:ln/>
        </p:spPr>
        <p:txBody>
          <a:bodyPr wrap="square" lIns="0" tIns="0" rIns="0" bIns="0" rtlCol="0" anchor="ctr"/>
          <a:lstStyle/>
          <a:p>
            <a:pPr algn="ctr" indent="0" marL="0">
              <a:buNone/>
            </a:pPr>
            <a:r>
              <a:rPr lang="en-US" sz="1500" dirty="0">
                <a:solidFill>
                  <a:srgbClr val="FFFFFF"/>
                </a:solidFill>
                <a:latin typeface="Malgun Gothic" pitchFamily="34" charset="0"/>
                <a:ea typeface="Malgun Gothic" pitchFamily="34" charset="-122"/>
                <a:cs typeface="Malgun Gothic" pitchFamily="34" charset="-120"/>
              </a:rPr>
              <a:t>Fluid + CL + no heat for a long time  →  check properly BEFORE you inject anything.</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Mastitis — and why it matters to you</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A cow with fever around breeding day will not hold the pregnancy</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Do not breed or transfer into a cow with acute mastitis and fever today.</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61</a:t>
            </a:r>
            <a:endParaRPr lang="en-US" sz="900" dirty="0"/>
          </a:p>
        </p:txBody>
      </p:sp>
      <p:sp>
        <p:nvSpPr>
          <p:cNvPr id="8" name="Shape 6"/>
          <p:cNvSpPr/>
          <p:nvPr/>
        </p:nvSpPr>
        <p:spPr>
          <a:xfrm>
            <a:off x="548640" y="1755648"/>
            <a:ext cx="2655418" cy="585216"/>
          </a:xfrm>
          <a:prstGeom prst="roundRect">
            <a:avLst>
              <a:gd name="adj" fmla="val 3125"/>
            </a:avLst>
          </a:prstGeom>
          <a:solidFill>
            <a:srgbClr val="FFFFFF"/>
          </a:solidFill>
          <a:ln w="12700">
            <a:solidFill>
              <a:srgbClr val="C9D3DA"/>
            </a:solidFill>
            <a:prstDash val="solid"/>
          </a:ln>
        </p:spPr>
      </p:sp>
      <p:sp>
        <p:nvSpPr>
          <p:cNvPr id="9" name="Text 7"/>
          <p:cNvSpPr/>
          <p:nvPr/>
        </p:nvSpPr>
        <p:spPr>
          <a:xfrm>
            <a:off x="621792" y="1755648"/>
            <a:ext cx="2509114" cy="585216"/>
          </a:xfrm>
          <a:prstGeom prst="rect">
            <a:avLst/>
          </a:prstGeom>
          <a:noFill/>
          <a:ln/>
        </p:spPr>
        <p:txBody>
          <a:bodyPr wrap="square" lIns="0" tIns="0" rIns="0" bIns="0" rtlCol="0" anchor="ctr"/>
          <a:lstStyle/>
          <a:p>
            <a:pPr algn="l" indent="0" marL="0">
              <a:buNone/>
            </a:pPr>
            <a:r>
              <a:rPr lang="en-US" sz="1200" b="1" dirty="0">
                <a:solidFill>
                  <a:srgbClr val="E97132"/>
                </a:solidFill>
                <a:latin typeface="Malgun Gothic" pitchFamily="34" charset="0"/>
                <a:ea typeface="Malgun Gothic" pitchFamily="34" charset="-122"/>
                <a:cs typeface="Malgun Gothic" pitchFamily="34" charset="-120"/>
              </a:rPr>
              <a:t>CLINICAL</a:t>
            </a:r>
            <a:endParaRPr lang="en-US" sz="1200" dirty="0"/>
          </a:p>
        </p:txBody>
      </p:sp>
      <p:sp>
        <p:nvSpPr>
          <p:cNvPr id="10" name="Shape 8"/>
          <p:cNvSpPr/>
          <p:nvPr/>
        </p:nvSpPr>
        <p:spPr>
          <a:xfrm>
            <a:off x="3204058" y="1755648"/>
            <a:ext cx="5532120" cy="585216"/>
          </a:xfrm>
          <a:prstGeom prst="roundRect">
            <a:avLst>
              <a:gd name="adj" fmla="val 3125"/>
            </a:avLst>
          </a:prstGeom>
          <a:solidFill>
            <a:srgbClr val="FFFFFF"/>
          </a:solidFill>
          <a:ln w="12700">
            <a:solidFill>
              <a:srgbClr val="C9D3DA"/>
            </a:solidFill>
            <a:prstDash val="solid"/>
          </a:ln>
        </p:spPr>
      </p:sp>
      <p:sp>
        <p:nvSpPr>
          <p:cNvPr id="11" name="Text 9"/>
          <p:cNvSpPr/>
          <p:nvPr/>
        </p:nvSpPr>
        <p:spPr>
          <a:xfrm>
            <a:off x="3277210" y="1755648"/>
            <a:ext cx="5385816" cy="58521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Clots or watery milk · hot swollen quarter · sometimes fever</a:t>
            </a:r>
            <a:endParaRPr lang="en-US" sz="1200" dirty="0"/>
          </a:p>
        </p:txBody>
      </p:sp>
      <p:sp>
        <p:nvSpPr>
          <p:cNvPr id="12" name="Shape 10"/>
          <p:cNvSpPr/>
          <p:nvPr/>
        </p:nvSpPr>
        <p:spPr>
          <a:xfrm>
            <a:off x="8736178" y="1755648"/>
            <a:ext cx="2876702" cy="585216"/>
          </a:xfrm>
          <a:prstGeom prst="roundRect">
            <a:avLst>
              <a:gd name="adj" fmla="val 3125"/>
            </a:avLst>
          </a:prstGeom>
          <a:solidFill>
            <a:srgbClr val="FFFFFF"/>
          </a:solidFill>
          <a:ln w="12700">
            <a:solidFill>
              <a:srgbClr val="C9D3DA"/>
            </a:solidFill>
            <a:prstDash val="solid"/>
          </a:ln>
        </p:spPr>
      </p:sp>
      <p:sp>
        <p:nvSpPr>
          <p:cNvPr id="13" name="Text 11"/>
          <p:cNvSpPr/>
          <p:nvPr/>
        </p:nvSpPr>
        <p:spPr>
          <a:xfrm>
            <a:off x="8809330" y="1755648"/>
            <a:ext cx="2730398" cy="585216"/>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You can see it</a:t>
            </a:r>
            <a:endParaRPr lang="en-US" sz="1100" dirty="0"/>
          </a:p>
        </p:txBody>
      </p:sp>
      <p:sp>
        <p:nvSpPr>
          <p:cNvPr id="14" name="Shape 12"/>
          <p:cNvSpPr/>
          <p:nvPr/>
        </p:nvSpPr>
        <p:spPr>
          <a:xfrm>
            <a:off x="548640" y="2340864"/>
            <a:ext cx="2655418" cy="585216"/>
          </a:xfrm>
          <a:prstGeom prst="roundRect">
            <a:avLst>
              <a:gd name="adj" fmla="val 3125"/>
            </a:avLst>
          </a:prstGeom>
          <a:solidFill>
            <a:srgbClr val="F2F5F7"/>
          </a:solidFill>
          <a:ln w="12700">
            <a:solidFill>
              <a:srgbClr val="C9D3DA"/>
            </a:solidFill>
            <a:prstDash val="solid"/>
          </a:ln>
        </p:spPr>
      </p:sp>
      <p:sp>
        <p:nvSpPr>
          <p:cNvPr id="15" name="Text 13"/>
          <p:cNvSpPr/>
          <p:nvPr/>
        </p:nvSpPr>
        <p:spPr>
          <a:xfrm>
            <a:off x="621792" y="2340864"/>
            <a:ext cx="2509114" cy="585216"/>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HIDDEN</a:t>
            </a:r>
            <a:endParaRPr lang="en-US" sz="1200" dirty="0"/>
          </a:p>
        </p:txBody>
      </p:sp>
      <p:sp>
        <p:nvSpPr>
          <p:cNvPr id="16" name="Shape 14"/>
          <p:cNvSpPr/>
          <p:nvPr/>
        </p:nvSpPr>
        <p:spPr>
          <a:xfrm>
            <a:off x="3204058" y="2340864"/>
            <a:ext cx="5532120" cy="585216"/>
          </a:xfrm>
          <a:prstGeom prst="roundRect">
            <a:avLst>
              <a:gd name="adj" fmla="val 3125"/>
            </a:avLst>
          </a:prstGeom>
          <a:solidFill>
            <a:srgbClr val="F2F5F7"/>
          </a:solidFill>
          <a:ln w="12700">
            <a:solidFill>
              <a:srgbClr val="C9D3DA"/>
            </a:solidFill>
            <a:prstDash val="solid"/>
          </a:ln>
        </p:spPr>
      </p:sp>
      <p:sp>
        <p:nvSpPr>
          <p:cNvPr id="17" name="Text 15"/>
          <p:cNvSpPr/>
          <p:nvPr/>
        </p:nvSpPr>
        <p:spPr>
          <a:xfrm>
            <a:off x="3277210" y="2340864"/>
            <a:ext cx="5385816" cy="58521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Milk looks normal but cell count is high</a:t>
            </a:r>
            <a:endParaRPr lang="en-US" sz="1200" dirty="0"/>
          </a:p>
        </p:txBody>
      </p:sp>
      <p:sp>
        <p:nvSpPr>
          <p:cNvPr id="18" name="Shape 16"/>
          <p:cNvSpPr/>
          <p:nvPr/>
        </p:nvSpPr>
        <p:spPr>
          <a:xfrm>
            <a:off x="8736178" y="2340864"/>
            <a:ext cx="2876702" cy="585216"/>
          </a:xfrm>
          <a:prstGeom prst="roundRect">
            <a:avLst>
              <a:gd name="adj" fmla="val 3125"/>
            </a:avLst>
          </a:prstGeom>
          <a:solidFill>
            <a:srgbClr val="F2F5F7"/>
          </a:solidFill>
          <a:ln w="12700">
            <a:solidFill>
              <a:srgbClr val="C9D3DA"/>
            </a:solidFill>
            <a:prstDash val="solid"/>
          </a:ln>
        </p:spPr>
      </p:sp>
      <p:sp>
        <p:nvSpPr>
          <p:cNvPr id="19" name="Text 17"/>
          <p:cNvSpPr/>
          <p:nvPr/>
        </p:nvSpPr>
        <p:spPr>
          <a:xfrm>
            <a:off x="8809330" y="2340864"/>
            <a:ext cx="2730398" cy="585216"/>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The majority — you need a test</a:t>
            </a:r>
            <a:endParaRPr lang="en-US" sz="1100" dirty="0"/>
          </a:p>
        </p:txBody>
      </p:sp>
      <p:sp>
        <p:nvSpPr>
          <p:cNvPr id="20" name="Shape 18"/>
          <p:cNvSpPr/>
          <p:nvPr/>
        </p:nvSpPr>
        <p:spPr>
          <a:xfrm>
            <a:off x="548640" y="2926080"/>
            <a:ext cx="2655418" cy="585216"/>
          </a:xfrm>
          <a:prstGeom prst="roundRect">
            <a:avLst>
              <a:gd name="adj" fmla="val 3125"/>
            </a:avLst>
          </a:prstGeom>
          <a:solidFill>
            <a:srgbClr val="FFFFFF"/>
          </a:solidFill>
          <a:ln w="12700">
            <a:solidFill>
              <a:srgbClr val="C9D3DA"/>
            </a:solidFill>
            <a:prstDash val="solid"/>
          </a:ln>
        </p:spPr>
      </p:sp>
      <p:sp>
        <p:nvSpPr>
          <p:cNvPr id="21" name="Text 19"/>
          <p:cNvSpPr/>
          <p:nvPr/>
        </p:nvSpPr>
        <p:spPr>
          <a:xfrm>
            <a:off x="621792" y="2926080"/>
            <a:ext cx="2509114" cy="585216"/>
          </a:xfrm>
          <a:prstGeom prst="rect">
            <a:avLst/>
          </a:prstGeom>
          <a:noFill/>
          <a:ln/>
        </p:spPr>
        <p:txBody>
          <a:bodyPr wrap="square" lIns="0" tIns="0" rIns="0" bIns="0" rtlCol="0" anchor="ctr"/>
          <a:lstStyle/>
          <a:p>
            <a:pPr algn="l" indent="0" marL="0">
              <a:buNone/>
            </a:pPr>
            <a:r>
              <a:rPr lang="en-US" sz="1200" b="1" dirty="0">
                <a:solidFill>
                  <a:srgbClr val="A02B93"/>
                </a:solidFill>
                <a:latin typeface="Malgun Gothic" pitchFamily="34" charset="0"/>
                <a:ea typeface="Malgun Gothic" pitchFamily="34" charset="-122"/>
                <a:cs typeface="Malgun Gothic" pitchFamily="34" charset="-120"/>
              </a:rPr>
              <a:t>WHY IT MATTERS TO YOU</a:t>
            </a:r>
            <a:endParaRPr lang="en-US" sz="1200" dirty="0"/>
          </a:p>
        </p:txBody>
      </p:sp>
      <p:sp>
        <p:nvSpPr>
          <p:cNvPr id="22" name="Shape 20"/>
          <p:cNvSpPr/>
          <p:nvPr/>
        </p:nvSpPr>
        <p:spPr>
          <a:xfrm>
            <a:off x="3204058" y="2926080"/>
            <a:ext cx="5532120" cy="585216"/>
          </a:xfrm>
          <a:prstGeom prst="roundRect">
            <a:avLst>
              <a:gd name="adj" fmla="val 3125"/>
            </a:avLst>
          </a:prstGeom>
          <a:solidFill>
            <a:srgbClr val="FFFFFF"/>
          </a:solidFill>
          <a:ln w="12700">
            <a:solidFill>
              <a:srgbClr val="C9D3DA"/>
            </a:solidFill>
            <a:prstDash val="solid"/>
          </a:ln>
        </p:spPr>
      </p:sp>
      <p:sp>
        <p:nvSpPr>
          <p:cNvPr id="23" name="Text 21"/>
          <p:cNvSpPr/>
          <p:nvPr/>
        </p:nvSpPr>
        <p:spPr>
          <a:xfrm>
            <a:off x="3277210" y="2926080"/>
            <a:ext cx="5385816" cy="58521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Fever around breeding day stops ovulation and kills the young embryo</a:t>
            </a:r>
            <a:endParaRPr lang="en-US" sz="1200" dirty="0"/>
          </a:p>
        </p:txBody>
      </p:sp>
      <p:sp>
        <p:nvSpPr>
          <p:cNvPr id="24" name="Shape 22"/>
          <p:cNvSpPr/>
          <p:nvPr/>
        </p:nvSpPr>
        <p:spPr>
          <a:xfrm>
            <a:off x="8736178" y="2926080"/>
            <a:ext cx="2876702" cy="585216"/>
          </a:xfrm>
          <a:prstGeom prst="roundRect">
            <a:avLst>
              <a:gd name="adj" fmla="val 3125"/>
            </a:avLst>
          </a:prstGeom>
          <a:solidFill>
            <a:srgbClr val="FFFFFF"/>
          </a:solidFill>
          <a:ln w="12700">
            <a:solidFill>
              <a:srgbClr val="C9D3DA"/>
            </a:solidFill>
            <a:prstDash val="solid"/>
          </a:ln>
        </p:spPr>
      </p:sp>
      <p:sp>
        <p:nvSpPr>
          <p:cNvPr id="25" name="Text 23"/>
          <p:cNvSpPr/>
          <p:nvPr/>
        </p:nvSpPr>
        <p:spPr>
          <a:xfrm>
            <a:off x="8809330" y="2926080"/>
            <a:ext cx="2730398" cy="585216"/>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Do not breed her today</a:t>
            </a:r>
            <a:endParaRPr lang="en-US" sz="1100" dirty="0"/>
          </a:p>
        </p:txBody>
      </p:sp>
      <p:sp>
        <p:nvSpPr>
          <p:cNvPr id="26" name="Shape 24"/>
          <p:cNvSpPr/>
          <p:nvPr/>
        </p:nvSpPr>
        <p:spPr>
          <a:xfrm>
            <a:off x="548640" y="3511296"/>
            <a:ext cx="2655418" cy="585216"/>
          </a:xfrm>
          <a:prstGeom prst="roundRect">
            <a:avLst>
              <a:gd name="adj" fmla="val 3125"/>
            </a:avLst>
          </a:prstGeom>
          <a:solidFill>
            <a:srgbClr val="F2F5F7"/>
          </a:solidFill>
          <a:ln w="12700">
            <a:solidFill>
              <a:srgbClr val="C9D3DA"/>
            </a:solidFill>
            <a:prstDash val="solid"/>
          </a:ln>
        </p:spPr>
      </p:sp>
      <p:sp>
        <p:nvSpPr>
          <p:cNvPr id="27" name="Text 25"/>
          <p:cNvSpPr/>
          <p:nvPr/>
        </p:nvSpPr>
        <p:spPr>
          <a:xfrm>
            <a:off x="621792" y="3511296"/>
            <a:ext cx="2509114" cy="585216"/>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CONTROL</a:t>
            </a:r>
            <a:endParaRPr lang="en-US" sz="1200" dirty="0"/>
          </a:p>
        </p:txBody>
      </p:sp>
      <p:sp>
        <p:nvSpPr>
          <p:cNvPr id="28" name="Shape 26"/>
          <p:cNvSpPr/>
          <p:nvPr/>
        </p:nvSpPr>
        <p:spPr>
          <a:xfrm>
            <a:off x="3204058" y="3511296"/>
            <a:ext cx="5532120" cy="585216"/>
          </a:xfrm>
          <a:prstGeom prst="roundRect">
            <a:avLst>
              <a:gd name="adj" fmla="val 3125"/>
            </a:avLst>
          </a:prstGeom>
          <a:solidFill>
            <a:srgbClr val="F2F5F7"/>
          </a:solidFill>
          <a:ln w="12700">
            <a:solidFill>
              <a:srgbClr val="C9D3DA"/>
            </a:solidFill>
            <a:prstDash val="solid"/>
          </a:ln>
        </p:spPr>
      </p:sp>
      <p:sp>
        <p:nvSpPr>
          <p:cNvPr id="29" name="Text 27"/>
          <p:cNvSpPr/>
          <p:nvPr/>
        </p:nvSpPr>
        <p:spPr>
          <a:xfrm>
            <a:off x="3277210" y="3511296"/>
            <a:ext cx="5385816" cy="58521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Dip teats before and after · one towel per cow · milk sick cows LAST</a:t>
            </a:r>
            <a:endParaRPr lang="en-US" sz="1200" dirty="0"/>
          </a:p>
        </p:txBody>
      </p:sp>
      <p:sp>
        <p:nvSpPr>
          <p:cNvPr id="30" name="Shape 28"/>
          <p:cNvSpPr/>
          <p:nvPr/>
        </p:nvSpPr>
        <p:spPr>
          <a:xfrm>
            <a:off x="8736178" y="3511296"/>
            <a:ext cx="2876702" cy="585216"/>
          </a:xfrm>
          <a:prstGeom prst="roundRect">
            <a:avLst>
              <a:gd name="adj" fmla="val 3125"/>
            </a:avLst>
          </a:prstGeom>
          <a:solidFill>
            <a:srgbClr val="F2F5F7"/>
          </a:solidFill>
          <a:ln w="12700">
            <a:solidFill>
              <a:srgbClr val="C9D3DA"/>
            </a:solidFill>
            <a:prstDash val="solid"/>
          </a:ln>
        </p:spPr>
      </p:sp>
      <p:sp>
        <p:nvSpPr>
          <p:cNvPr id="31" name="Text 29"/>
          <p:cNvSpPr/>
          <p:nvPr/>
        </p:nvSpPr>
        <p:spPr>
          <a:xfrm>
            <a:off x="8809330" y="3511296"/>
            <a:ext cx="2730398" cy="585216"/>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Dry-cow treatment</a:t>
            </a:r>
            <a:endParaRPr lang="en-US" sz="1100" dirty="0"/>
          </a:p>
        </p:txBody>
      </p:sp>
      <p:sp>
        <p:nvSpPr>
          <p:cNvPr id="32" name="Shape 30"/>
          <p:cNvSpPr/>
          <p:nvPr/>
        </p:nvSpPr>
        <p:spPr>
          <a:xfrm>
            <a:off x="548640" y="4096512"/>
            <a:ext cx="2655418" cy="585216"/>
          </a:xfrm>
          <a:prstGeom prst="roundRect">
            <a:avLst>
              <a:gd name="adj" fmla="val 3125"/>
            </a:avLst>
          </a:prstGeom>
          <a:solidFill>
            <a:srgbClr val="FFFFFF"/>
          </a:solidFill>
          <a:ln w="12700">
            <a:solidFill>
              <a:srgbClr val="C9D3DA"/>
            </a:solidFill>
            <a:prstDash val="solid"/>
          </a:ln>
        </p:spPr>
      </p:sp>
      <p:sp>
        <p:nvSpPr>
          <p:cNvPr id="33" name="Text 31"/>
          <p:cNvSpPr/>
          <p:nvPr/>
        </p:nvSpPr>
        <p:spPr>
          <a:xfrm>
            <a:off x="621792" y="4096512"/>
            <a:ext cx="2509114" cy="585216"/>
          </a:xfrm>
          <a:prstGeom prst="rect">
            <a:avLst/>
          </a:prstGeom>
          <a:noFill/>
          <a:ln/>
        </p:spPr>
        <p:txBody>
          <a:bodyPr wrap="square" lIns="0" tIns="0" rIns="0" bIns="0" rtlCol="0" anchor="ctr"/>
          <a:lstStyle/>
          <a:p>
            <a:pPr algn="l" indent="0" marL="0">
              <a:buNone/>
            </a:pPr>
            <a:r>
              <a:rPr lang="en-US" sz="1200" b="1" dirty="0">
                <a:solidFill>
                  <a:srgbClr val="196B24"/>
                </a:solidFill>
                <a:latin typeface="Malgun Gothic" pitchFamily="34" charset="0"/>
                <a:ea typeface="Malgun Gothic" pitchFamily="34" charset="-122"/>
                <a:cs typeface="Malgun Gothic" pitchFamily="34" charset="-120"/>
              </a:rPr>
              <a:t>HOUSING</a:t>
            </a:r>
            <a:endParaRPr lang="en-US" sz="1200" dirty="0"/>
          </a:p>
        </p:txBody>
      </p:sp>
      <p:sp>
        <p:nvSpPr>
          <p:cNvPr id="34" name="Shape 32"/>
          <p:cNvSpPr/>
          <p:nvPr/>
        </p:nvSpPr>
        <p:spPr>
          <a:xfrm>
            <a:off x="3204058" y="4096512"/>
            <a:ext cx="5532120" cy="585216"/>
          </a:xfrm>
          <a:prstGeom prst="roundRect">
            <a:avLst>
              <a:gd name="adj" fmla="val 3125"/>
            </a:avLst>
          </a:prstGeom>
          <a:solidFill>
            <a:srgbClr val="FFFFFF"/>
          </a:solidFill>
          <a:ln w="12700">
            <a:solidFill>
              <a:srgbClr val="C9D3DA"/>
            </a:solidFill>
            <a:prstDash val="solid"/>
          </a:ln>
        </p:spPr>
      </p:sp>
      <p:sp>
        <p:nvSpPr>
          <p:cNvPr id="35" name="Text 33"/>
          <p:cNvSpPr/>
          <p:nvPr/>
        </p:nvSpPr>
        <p:spPr>
          <a:xfrm>
            <a:off x="3277210" y="4096512"/>
            <a:ext cx="5385816" cy="585216"/>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Clean, dry bedding</a:t>
            </a:r>
            <a:endParaRPr lang="en-US" sz="1200" dirty="0"/>
          </a:p>
        </p:txBody>
      </p:sp>
      <p:sp>
        <p:nvSpPr>
          <p:cNvPr id="36" name="Shape 34"/>
          <p:cNvSpPr/>
          <p:nvPr/>
        </p:nvSpPr>
        <p:spPr>
          <a:xfrm>
            <a:off x="8736178" y="4096512"/>
            <a:ext cx="2876702" cy="585216"/>
          </a:xfrm>
          <a:prstGeom prst="roundRect">
            <a:avLst>
              <a:gd name="adj" fmla="val 3125"/>
            </a:avLst>
          </a:prstGeom>
          <a:solidFill>
            <a:srgbClr val="FFFFFF"/>
          </a:solidFill>
          <a:ln w="12700">
            <a:solidFill>
              <a:srgbClr val="C9D3DA"/>
            </a:solidFill>
            <a:prstDash val="solid"/>
          </a:ln>
        </p:spPr>
      </p:sp>
      <p:sp>
        <p:nvSpPr>
          <p:cNvPr id="37" name="Text 35"/>
          <p:cNvSpPr/>
          <p:nvPr/>
        </p:nvSpPr>
        <p:spPr>
          <a:xfrm>
            <a:off x="8809330" y="4096512"/>
            <a:ext cx="2730398" cy="585216"/>
          </a:xfrm>
          <a:prstGeom prst="rect">
            <a:avLst/>
          </a:prstGeom>
          <a:noFill/>
          <a:ln/>
        </p:spPr>
        <p:txBody>
          <a:bodyPr wrap="square" lIns="0" tIns="0" rIns="0" bIns="0" rtlCol="0" anchor="ctr"/>
          <a:lstStyle/>
          <a:p>
            <a:pPr algn="l" indent="0" marL="0">
              <a:buNone/>
            </a:pPr>
            <a:r>
              <a:rPr lang="en-US" sz="1100" dirty="0">
                <a:solidFill>
                  <a:srgbClr val="6B7280"/>
                </a:solidFill>
                <a:latin typeface="Malgun Gothic" pitchFamily="34" charset="0"/>
                <a:ea typeface="Malgun Gothic" pitchFamily="34" charset="-122"/>
                <a:cs typeface="Malgun Gothic" pitchFamily="34" charset="-120"/>
              </a:rPr>
              <a:t>Most infections come from where she lies down</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Lame cows do not show heat</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This is why sore feet are a breeding problem</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A lame cow will not stand to be mounted. Your heat detection disappears — and nobody links the two.</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62</a:t>
            </a:r>
            <a:endParaRPr lang="en-US" sz="900" dirty="0"/>
          </a:p>
        </p:txBody>
      </p:sp>
      <p:sp>
        <p:nvSpPr>
          <p:cNvPr id="8" name="Shape 6"/>
          <p:cNvSpPr/>
          <p:nvPr/>
        </p:nvSpPr>
        <p:spPr>
          <a:xfrm>
            <a:off x="548640" y="1984248"/>
            <a:ext cx="2037283" cy="868680"/>
          </a:xfrm>
          <a:prstGeom prst="roundRect">
            <a:avLst>
              <a:gd name="adj" fmla="val 7368"/>
            </a:avLst>
          </a:prstGeom>
          <a:solidFill>
            <a:srgbClr val="156082"/>
          </a:solidFill>
          <a:ln w="12700">
            <a:solidFill>
              <a:srgbClr val="156082"/>
            </a:solidFill>
            <a:prstDash val="solid"/>
          </a:ln>
        </p:spPr>
      </p:sp>
      <p:sp>
        <p:nvSpPr>
          <p:cNvPr id="9" name="Text 7"/>
          <p:cNvSpPr/>
          <p:nvPr/>
        </p:nvSpPr>
        <p:spPr>
          <a:xfrm>
            <a:off x="603504" y="1984248"/>
            <a:ext cx="1927555"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TOO MUCH GRAIN</a:t>
            </a:r>
            <a:endParaRPr lang="en-US" sz="1250" dirty="0"/>
          </a:p>
        </p:txBody>
      </p:sp>
      <p:sp>
        <p:nvSpPr>
          <p:cNvPr id="10" name="Shape 8"/>
          <p:cNvSpPr/>
          <p:nvPr/>
        </p:nvSpPr>
        <p:spPr>
          <a:xfrm>
            <a:off x="2604211" y="2331720"/>
            <a:ext cx="182880" cy="182880"/>
          </a:xfrm>
          <a:prstGeom prst="rightArrow">
            <a:avLst/>
          </a:prstGeom>
          <a:solidFill>
            <a:srgbClr val="6B7280"/>
          </a:solidFill>
          <a:ln w="12700">
            <a:solidFill>
              <a:srgbClr val="6B7280"/>
            </a:solidFill>
            <a:prstDash val="solid"/>
          </a:ln>
        </p:spPr>
      </p:sp>
      <p:sp>
        <p:nvSpPr>
          <p:cNvPr id="11" name="Shape 9"/>
          <p:cNvSpPr/>
          <p:nvPr/>
        </p:nvSpPr>
        <p:spPr>
          <a:xfrm>
            <a:off x="2805379" y="1984248"/>
            <a:ext cx="2037283" cy="868680"/>
          </a:xfrm>
          <a:prstGeom prst="roundRect">
            <a:avLst>
              <a:gd name="adj" fmla="val 7368"/>
            </a:avLst>
          </a:prstGeom>
          <a:solidFill>
            <a:srgbClr val="E97132"/>
          </a:solidFill>
          <a:ln w="12700">
            <a:solidFill>
              <a:srgbClr val="E97132"/>
            </a:solidFill>
            <a:prstDash val="solid"/>
          </a:ln>
        </p:spPr>
      </p:sp>
      <p:sp>
        <p:nvSpPr>
          <p:cNvPr id="12" name="Text 10"/>
          <p:cNvSpPr/>
          <p:nvPr/>
        </p:nvSpPr>
        <p:spPr>
          <a:xfrm>
            <a:off x="2860243" y="1984248"/>
            <a:ext cx="1927555"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SOUR STOMACH</a:t>
            </a:r>
            <a:endParaRPr lang="en-US" sz="1250" dirty="0"/>
          </a:p>
        </p:txBody>
      </p:sp>
      <p:sp>
        <p:nvSpPr>
          <p:cNvPr id="13" name="Shape 11"/>
          <p:cNvSpPr/>
          <p:nvPr/>
        </p:nvSpPr>
        <p:spPr>
          <a:xfrm>
            <a:off x="4860950" y="2331720"/>
            <a:ext cx="182880" cy="182880"/>
          </a:xfrm>
          <a:prstGeom prst="rightArrow">
            <a:avLst/>
          </a:prstGeom>
          <a:solidFill>
            <a:srgbClr val="6B7280"/>
          </a:solidFill>
          <a:ln w="12700">
            <a:solidFill>
              <a:srgbClr val="6B7280"/>
            </a:solidFill>
            <a:prstDash val="solid"/>
          </a:ln>
        </p:spPr>
      </p:sp>
      <p:sp>
        <p:nvSpPr>
          <p:cNvPr id="14" name="Shape 12"/>
          <p:cNvSpPr/>
          <p:nvPr/>
        </p:nvSpPr>
        <p:spPr>
          <a:xfrm>
            <a:off x="5062118" y="1984248"/>
            <a:ext cx="2037283" cy="868680"/>
          </a:xfrm>
          <a:prstGeom prst="roundRect">
            <a:avLst>
              <a:gd name="adj" fmla="val 7368"/>
            </a:avLst>
          </a:prstGeom>
          <a:solidFill>
            <a:srgbClr val="A02B93"/>
          </a:solidFill>
          <a:ln w="12700">
            <a:solidFill>
              <a:srgbClr val="A02B93"/>
            </a:solidFill>
            <a:prstDash val="solid"/>
          </a:ln>
        </p:spPr>
      </p:sp>
      <p:sp>
        <p:nvSpPr>
          <p:cNvPr id="15" name="Text 13"/>
          <p:cNvSpPr/>
          <p:nvPr/>
        </p:nvSpPr>
        <p:spPr>
          <a:xfrm>
            <a:off x="5116982" y="1984248"/>
            <a:ext cx="1927555"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SORE FEET</a:t>
            </a:r>
            <a:endParaRPr lang="en-US" sz="1250" dirty="0"/>
          </a:p>
        </p:txBody>
      </p:sp>
      <p:sp>
        <p:nvSpPr>
          <p:cNvPr id="16" name="Shape 14"/>
          <p:cNvSpPr/>
          <p:nvPr/>
        </p:nvSpPr>
        <p:spPr>
          <a:xfrm>
            <a:off x="7117690" y="2331720"/>
            <a:ext cx="182880" cy="182880"/>
          </a:xfrm>
          <a:prstGeom prst="rightArrow">
            <a:avLst/>
          </a:prstGeom>
          <a:solidFill>
            <a:srgbClr val="6B7280"/>
          </a:solidFill>
          <a:ln w="12700">
            <a:solidFill>
              <a:srgbClr val="6B7280"/>
            </a:solidFill>
            <a:prstDash val="solid"/>
          </a:ln>
        </p:spPr>
      </p:sp>
      <p:sp>
        <p:nvSpPr>
          <p:cNvPr id="17" name="Shape 15"/>
          <p:cNvSpPr/>
          <p:nvPr/>
        </p:nvSpPr>
        <p:spPr>
          <a:xfrm>
            <a:off x="7318858" y="1984248"/>
            <a:ext cx="2037283" cy="868680"/>
          </a:xfrm>
          <a:prstGeom prst="roundRect">
            <a:avLst>
              <a:gd name="adj" fmla="val 7368"/>
            </a:avLst>
          </a:prstGeom>
          <a:solidFill>
            <a:srgbClr val="E97132"/>
          </a:solidFill>
          <a:ln w="12700">
            <a:solidFill>
              <a:srgbClr val="E97132"/>
            </a:solidFill>
            <a:prstDash val="solid"/>
          </a:ln>
        </p:spPr>
      </p:sp>
      <p:sp>
        <p:nvSpPr>
          <p:cNvPr id="18" name="Text 16"/>
          <p:cNvSpPr/>
          <p:nvPr/>
        </p:nvSpPr>
        <p:spPr>
          <a:xfrm>
            <a:off x="7373722" y="1984248"/>
            <a:ext cx="1927555"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SHE WILL NOT STAND</a:t>
            </a:r>
            <a:endParaRPr lang="en-US" sz="1250" dirty="0"/>
          </a:p>
        </p:txBody>
      </p:sp>
      <p:sp>
        <p:nvSpPr>
          <p:cNvPr id="19" name="Shape 17"/>
          <p:cNvSpPr/>
          <p:nvPr/>
        </p:nvSpPr>
        <p:spPr>
          <a:xfrm>
            <a:off x="9374429" y="2331720"/>
            <a:ext cx="182880" cy="182880"/>
          </a:xfrm>
          <a:prstGeom prst="rightArrow">
            <a:avLst/>
          </a:prstGeom>
          <a:solidFill>
            <a:srgbClr val="6B7280"/>
          </a:solidFill>
          <a:ln w="12700">
            <a:solidFill>
              <a:srgbClr val="6B7280"/>
            </a:solidFill>
            <a:prstDash val="solid"/>
          </a:ln>
        </p:spPr>
      </p:sp>
      <p:sp>
        <p:nvSpPr>
          <p:cNvPr id="20" name="Shape 18"/>
          <p:cNvSpPr/>
          <p:nvPr/>
        </p:nvSpPr>
        <p:spPr>
          <a:xfrm>
            <a:off x="9575597" y="1984248"/>
            <a:ext cx="2037283" cy="868680"/>
          </a:xfrm>
          <a:prstGeom prst="roundRect">
            <a:avLst>
              <a:gd name="adj" fmla="val 7368"/>
            </a:avLst>
          </a:prstGeom>
          <a:solidFill>
            <a:srgbClr val="0E2841"/>
          </a:solidFill>
          <a:ln w="12700">
            <a:solidFill>
              <a:srgbClr val="0E2841"/>
            </a:solidFill>
            <a:prstDash val="solid"/>
          </a:ln>
        </p:spPr>
      </p:sp>
      <p:sp>
        <p:nvSpPr>
          <p:cNvPr id="21" name="Text 19"/>
          <p:cNvSpPr/>
          <p:nvPr/>
        </p:nvSpPr>
        <p:spPr>
          <a:xfrm>
            <a:off x="9630461" y="1984248"/>
            <a:ext cx="1927555"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NO HEAT SEEN</a:t>
            </a:r>
            <a:endParaRPr lang="en-US" sz="1250" dirty="0"/>
          </a:p>
        </p:txBody>
      </p:sp>
      <p:sp>
        <p:nvSpPr>
          <p:cNvPr id="22" name="Shape 20"/>
          <p:cNvSpPr/>
          <p:nvPr/>
        </p:nvSpPr>
        <p:spPr>
          <a:xfrm>
            <a:off x="548640" y="3172968"/>
            <a:ext cx="4646981" cy="438912"/>
          </a:xfrm>
          <a:prstGeom prst="roundRect">
            <a:avLst>
              <a:gd name="adj" fmla="val 6250"/>
            </a:avLst>
          </a:prstGeom>
          <a:solidFill>
            <a:srgbClr val="0E2841"/>
          </a:solidFill>
          <a:ln w="12700">
            <a:solidFill>
              <a:srgbClr val="0E2841"/>
            </a:solidFill>
            <a:prstDash val="solid"/>
          </a:ln>
        </p:spPr>
      </p:sp>
      <p:sp>
        <p:nvSpPr>
          <p:cNvPr id="23" name="Text 21"/>
          <p:cNvSpPr/>
          <p:nvPr/>
        </p:nvSpPr>
        <p:spPr>
          <a:xfrm>
            <a:off x="621792" y="3172968"/>
            <a:ext cx="4500677" cy="438912"/>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Cause</a:t>
            </a:r>
            <a:endParaRPr lang="en-US" sz="1200" dirty="0"/>
          </a:p>
        </p:txBody>
      </p:sp>
      <p:sp>
        <p:nvSpPr>
          <p:cNvPr id="24" name="Shape 22"/>
          <p:cNvSpPr/>
          <p:nvPr/>
        </p:nvSpPr>
        <p:spPr>
          <a:xfrm>
            <a:off x="5195621" y="3172968"/>
            <a:ext cx="6417259" cy="438912"/>
          </a:xfrm>
          <a:prstGeom prst="roundRect">
            <a:avLst>
              <a:gd name="adj" fmla="val 6250"/>
            </a:avLst>
          </a:prstGeom>
          <a:solidFill>
            <a:srgbClr val="0E2841"/>
          </a:solidFill>
          <a:ln w="12700">
            <a:solidFill>
              <a:srgbClr val="0E2841"/>
            </a:solidFill>
            <a:prstDash val="solid"/>
          </a:ln>
        </p:spPr>
      </p:sp>
      <p:sp>
        <p:nvSpPr>
          <p:cNvPr id="25" name="Text 23"/>
          <p:cNvSpPr/>
          <p:nvPr/>
        </p:nvSpPr>
        <p:spPr>
          <a:xfrm>
            <a:off x="5268773" y="3172968"/>
            <a:ext cx="6270955" cy="438912"/>
          </a:xfrm>
          <a:prstGeom prst="rect">
            <a:avLst/>
          </a:prstGeom>
          <a:noFill/>
          <a:ln/>
        </p:spPr>
        <p:txBody>
          <a:bodyPr wrap="square" lIns="0" tIns="0" rIns="0" bIns="0" rtlCol="0" anchor="ctr"/>
          <a:lstStyle/>
          <a:p>
            <a:pPr algn="l" indent="0" marL="0">
              <a:buNone/>
            </a:pPr>
            <a:r>
              <a:rPr lang="en-US" sz="1200" b="1" dirty="0">
                <a:solidFill>
                  <a:srgbClr val="FFFFFF"/>
                </a:solidFill>
                <a:latin typeface="Malgun Gothic" pitchFamily="34" charset="0"/>
                <a:ea typeface="Malgun Gothic" pitchFamily="34" charset="-122"/>
                <a:cs typeface="Malgun Gothic" pitchFamily="34" charset="-120"/>
              </a:rPr>
              <a:t>What to do</a:t>
            </a:r>
            <a:endParaRPr lang="en-US" sz="1200" dirty="0"/>
          </a:p>
        </p:txBody>
      </p:sp>
      <p:sp>
        <p:nvSpPr>
          <p:cNvPr id="26" name="Shape 24"/>
          <p:cNvSpPr/>
          <p:nvPr/>
        </p:nvSpPr>
        <p:spPr>
          <a:xfrm>
            <a:off x="548640" y="3611880"/>
            <a:ext cx="4646981" cy="438912"/>
          </a:xfrm>
          <a:prstGeom prst="roundRect">
            <a:avLst>
              <a:gd name="adj" fmla="val 4167"/>
            </a:avLst>
          </a:prstGeom>
          <a:solidFill>
            <a:srgbClr val="FFFFFF"/>
          </a:solidFill>
          <a:ln w="12700">
            <a:solidFill>
              <a:srgbClr val="C9D3DA"/>
            </a:solidFill>
            <a:prstDash val="solid"/>
          </a:ln>
        </p:spPr>
      </p:sp>
      <p:sp>
        <p:nvSpPr>
          <p:cNvPr id="27" name="Text 25"/>
          <p:cNvSpPr/>
          <p:nvPr/>
        </p:nvSpPr>
        <p:spPr>
          <a:xfrm>
            <a:off x="621792" y="3611880"/>
            <a:ext cx="4500677"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Wet, dirty standing area</a:t>
            </a:r>
            <a:endParaRPr lang="en-US" sz="1200" dirty="0"/>
          </a:p>
        </p:txBody>
      </p:sp>
      <p:sp>
        <p:nvSpPr>
          <p:cNvPr id="28" name="Shape 26"/>
          <p:cNvSpPr/>
          <p:nvPr/>
        </p:nvSpPr>
        <p:spPr>
          <a:xfrm>
            <a:off x="5195621" y="3611880"/>
            <a:ext cx="6417259" cy="438912"/>
          </a:xfrm>
          <a:prstGeom prst="roundRect">
            <a:avLst>
              <a:gd name="adj" fmla="val 4167"/>
            </a:avLst>
          </a:prstGeom>
          <a:solidFill>
            <a:srgbClr val="FFFFFF"/>
          </a:solidFill>
          <a:ln w="12700">
            <a:solidFill>
              <a:srgbClr val="C9D3DA"/>
            </a:solidFill>
            <a:prstDash val="solid"/>
          </a:ln>
        </p:spPr>
      </p:sp>
      <p:sp>
        <p:nvSpPr>
          <p:cNvPr id="29" name="Text 27"/>
          <p:cNvSpPr/>
          <p:nvPr/>
        </p:nvSpPr>
        <p:spPr>
          <a:xfrm>
            <a:off x="5268773" y="3611880"/>
            <a:ext cx="6270955"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Keep walkways and the lying area dry</a:t>
            </a:r>
            <a:endParaRPr lang="en-US" sz="1200" dirty="0"/>
          </a:p>
        </p:txBody>
      </p:sp>
      <p:sp>
        <p:nvSpPr>
          <p:cNvPr id="30" name="Shape 28"/>
          <p:cNvSpPr/>
          <p:nvPr/>
        </p:nvSpPr>
        <p:spPr>
          <a:xfrm>
            <a:off x="548640" y="4050792"/>
            <a:ext cx="4646981" cy="438912"/>
          </a:xfrm>
          <a:prstGeom prst="roundRect">
            <a:avLst>
              <a:gd name="adj" fmla="val 4167"/>
            </a:avLst>
          </a:prstGeom>
          <a:solidFill>
            <a:srgbClr val="F2F5F7"/>
          </a:solidFill>
          <a:ln w="12700">
            <a:solidFill>
              <a:srgbClr val="C9D3DA"/>
            </a:solidFill>
            <a:prstDash val="solid"/>
          </a:ln>
        </p:spPr>
      </p:sp>
      <p:sp>
        <p:nvSpPr>
          <p:cNvPr id="31" name="Text 29"/>
          <p:cNvSpPr/>
          <p:nvPr/>
        </p:nvSpPr>
        <p:spPr>
          <a:xfrm>
            <a:off x="621792" y="4050792"/>
            <a:ext cx="4500677"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Too much grain / sour stomach</a:t>
            </a:r>
            <a:endParaRPr lang="en-US" sz="1200" dirty="0"/>
          </a:p>
        </p:txBody>
      </p:sp>
      <p:sp>
        <p:nvSpPr>
          <p:cNvPr id="32" name="Shape 30"/>
          <p:cNvSpPr/>
          <p:nvPr/>
        </p:nvSpPr>
        <p:spPr>
          <a:xfrm>
            <a:off x="5195621" y="4050792"/>
            <a:ext cx="6417259" cy="438912"/>
          </a:xfrm>
          <a:prstGeom prst="roundRect">
            <a:avLst>
              <a:gd name="adj" fmla="val 4167"/>
            </a:avLst>
          </a:prstGeom>
          <a:solidFill>
            <a:srgbClr val="F2F5F7"/>
          </a:solidFill>
          <a:ln w="12700">
            <a:solidFill>
              <a:srgbClr val="C9D3DA"/>
            </a:solidFill>
            <a:prstDash val="solid"/>
          </a:ln>
        </p:spPr>
      </p:sp>
      <p:sp>
        <p:nvSpPr>
          <p:cNvPr id="33" name="Text 31"/>
          <p:cNvSpPr/>
          <p:nvPr/>
        </p:nvSpPr>
        <p:spPr>
          <a:xfrm>
            <a:off x="5268773" y="4050792"/>
            <a:ext cx="6270955"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See block six — fix the ration</a:t>
            </a:r>
            <a:endParaRPr lang="en-US" sz="1200" dirty="0"/>
          </a:p>
        </p:txBody>
      </p:sp>
      <p:sp>
        <p:nvSpPr>
          <p:cNvPr id="34" name="Shape 32"/>
          <p:cNvSpPr/>
          <p:nvPr/>
        </p:nvSpPr>
        <p:spPr>
          <a:xfrm>
            <a:off x="548640" y="4489704"/>
            <a:ext cx="4646981" cy="438912"/>
          </a:xfrm>
          <a:prstGeom prst="roundRect">
            <a:avLst>
              <a:gd name="adj" fmla="val 4167"/>
            </a:avLst>
          </a:prstGeom>
          <a:solidFill>
            <a:srgbClr val="FFFFFF"/>
          </a:solidFill>
          <a:ln w="12700">
            <a:solidFill>
              <a:srgbClr val="C9D3DA"/>
            </a:solidFill>
            <a:prstDash val="solid"/>
          </a:ln>
        </p:spPr>
      </p:sp>
      <p:sp>
        <p:nvSpPr>
          <p:cNvPr id="35" name="Text 33"/>
          <p:cNvSpPr/>
          <p:nvPr/>
        </p:nvSpPr>
        <p:spPr>
          <a:xfrm>
            <a:off x="621792" y="4489704"/>
            <a:ext cx="4500677"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No foot care</a:t>
            </a:r>
            <a:endParaRPr lang="en-US" sz="1200" dirty="0"/>
          </a:p>
        </p:txBody>
      </p:sp>
      <p:sp>
        <p:nvSpPr>
          <p:cNvPr id="36" name="Shape 34"/>
          <p:cNvSpPr/>
          <p:nvPr/>
        </p:nvSpPr>
        <p:spPr>
          <a:xfrm>
            <a:off x="5195621" y="4489704"/>
            <a:ext cx="6417259" cy="438912"/>
          </a:xfrm>
          <a:prstGeom prst="roundRect">
            <a:avLst>
              <a:gd name="adj" fmla="val 4167"/>
            </a:avLst>
          </a:prstGeom>
          <a:solidFill>
            <a:srgbClr val="FFFFFF"/>
          </a:solidFill>
          <a:ln w="12700">
            <a:solidFill>
              <a:srgbClr val="C9D3DA"/>
            </a:solidFill>
            <a:prstDash val="solid"/>
          </a:ln>
        </p:spPr>
      </p:sp>
      <p:sp>
        <p:nvSpPr>
          <p:cNvPr id="37" name="Text 35"/>
          <p:cNvSpPr/>
          <p:nvPr/>
        </p:nvSpPr>
        <p:spPr>
          <a:xfrm>
            <a:off x="5268773" y="4489704"/>
            <a:ext cx="6270955"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Foot bath, and regular trimming</a:t>
            </a:r>
            <a:endParaRPr lang="en-US" sz="1200" dirty="0"/>
          </a:p>
        </p:txBody>
      </p:sp>
      <p:sp>
        <p:nvSpPr>
          <p:cNvPr id="38" name="Shape 36"/>
          <p:cNvSpPr/>
          <p:nvPr/>
        </p:nvSpPr>
        <p:spPr>
          <a:xfrm>
            <a:off x="548640" y="4928616"/>
            <a:ext cx="4646981" cy="438912"/>
          </a:xfrm>
          <a:prstGeom prst="roundRect">
            <a:avLst>
              <a:gd name="adj" fmla="val 4167"/>
            </a:avLst>
          </a:prstGeom>
          <a:solidFill>
            <a:srgbClr val="F2F5F7"/>
          </a:solidFill>
          <a:ln w="12700">
            <a:solidFill>
              <a:srgbClr val="C9D3DA"/>
            </a:solidFill>
            <a:prstDash val="solid"/>
          </a:ln>
        </p:spPr>
      </p:sp>
      <p:sp>
        <p:nvSpPr>
          <p:cNvPr id="39" name="Text 37"/>
          <p:cNvSpPr/>
          <p:nvPr/>
        </p:nvSpPr>
        <p:spPr>
          <a:xfrm>
            <a:off x="621792" y="4928616"/>
            <a:ext cx="4500677" cy="438912"/>
          </a:xfrm>
          <a:prstGeom prst="rect">
            <a:avLst/>
          </a:prstGeom>
          <a:noFill/>
          <a:ln/>
        </p:spPr>
        <p:txBody>
          <a:bodyPr wrap="square" lIns="0" tIns="0" rIns="0" bIns="0" rtlCol="0" anchor="ctr"/>
          <a:lstStyle/>
          <a:p>
            <a:pPr algn="l" indent="0" marL="0">
              <a:buNone/>
            </a:pPr>
            <a:r>
              <a:rPr lang="en-US" sz="1200" b="1" dirty="0">
                <a:solidFill>
                  <a:srgbClr val="156082"/>
                </a:solidFill>
                <a:latin typeface="Malgun Gothic" pitchFamily="34" charset="0"/>
                <a:ea typeface="Malgun Gothic" pitchFamily="34" charset="-122"/>
                <a:cs typeface="Malgun Gothic" pitchFamily="34" charset="-120"/>
              </a:rPr>
              <a:t>Nobody looks</a:t>
            </a:r>
            <a:endParaRPr lang="en-US" sz="1200" dirty="0"/>
          </a:p>
        </p:txBody>
      </p:sp>
      <p:sp>
        <p:nvSpPr>
          <p:cNvPr id="40" name="Shape 38"/>
          <p:cNvSpPr/>
          <p:nvPr/>
        </p:nvSpPr>
        <p:spPr>
          <a:xfrm>
            <a:off x="5195621" y="4928616"/>
            <a:ext cx="6417259" cy="438912"/>
          </a:xfrm>
          <a:prstGeom prst="roundRect">
            <a:avLst>
              <a:gd name="adj" fmla="val 4167"/>
            </a:avLst>
          </a:prstGeom>
          <a:solidFill>
            <a:srgbClr val="F2F5F7"/>
          </a:solidFill>
          <a:ln w="12700">
            <a:solidFill>
              <a:srgbClr val="C9D3DA"/>
            </a:solidFill>
            <a:prstDash val="solid"/>
          </a:ln>
        </p:spPr>
      </p:sp>
      <p:sp>
        <p:nvSpPr>
          <p:cNvPr id="41" name="Text 39"/>
          <p:cNvSpPr/>
          <p:nvPr/>
        </p:nvSpPr>
        <p:spPr>
          <a:xfrm>
            <a:off x="5268773" y="4928616"/>
            <a:ext cx="6270955" cy="438912"/>
          </a:xfrm>
          <a:prstGeom prst="rect">
            <a:avLst/>
          </a:prstGeom>
          <a:noFill/>
          <a:ln/>
        </p:spPr>
        <p:txBody>
          <a:bodyPr wrap="square" lIns="0" tIns="0" rIns="0" bIns="0" rtlCol="0" anchor="ctr"/>
          <a:lstStyle/>
          <a:p>
            <a:pPr algn="l" indent="0" marL="0">
              <a:buNone/>
            </a:pPr>
            <a:r>
              <a:rPr lang="en-US" sz="1200" dirty="0">
                <a:solidFill>
                  <a:srgbClr val="0E2841"/>
                </a:solidFill>
                <a:latin typeface="Malgun Gothic" pitchFamily="34" charset="0"/>
                <a:ea typeface="Malgun Gothic" pitchFamily="34" charset="-122"/>
                <a:cs typeface="Malgun Gothic" pitchFamily="34" charset="-120"/>
              </a:rPr>
              <a:t>Watch how they walk once a month — score it</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Before you breed or transfer — the field card</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Three columns. Use this on every farm.</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When you are not sure, postpone. A wasted straw costs more than a second visit.</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63</a:t>
            </a:r>
            <a:endParaRPr lang="en-US" sz="900" dirty="0"/>
          </a:p>
        </p:txBody>
      </p:sp>
      <p:sp>
        <p:nvSpPr>
          <p:cNvPr id="8" name="Shape 6"/>
          <p:cNvSpPr/>
          <p:nvPr/>
        </p:nvSpPr>
        <p:spPr>
          <a:xfrm>
            <a:off x="548640" y="1618488"/>
            <a:ext cx="3535680" cy="502920"/>
          </a:xfrm>
          <a:prstGeom prst="roundRect">
            <a:avLst>
              <a:gd name="adj" fmla="val 12727"/>
            </a:avLst>
          </a:prstGeom>
          <a:solidFill>
            <a:srgbClr val="E97132"/>
          </a:solidFill>
          <a:ln w="12700">
            <a:solidFill>
              <a:srgbClr val="E97132"/>
            </a:solidFill>
            <a:prstDash val="solid"/>
          </a:ln>
        </p:spPr>
      </p:sp>
      <p:sp>
        <p:nvSpPr>
          <p:cNvPr id="9" name="Text 7"/>
          <p:cNvSpPr/>
          <p:nvPr/>
        </p:nvSpPr>
        <p:spPr>
          <a:xfrm>
            <a:off x="603504" y="1618488"/>
            <a:ext cx="3425952"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CALL THE VET — nothing today</a:t>
            </a:r>
            <a:endParaRPr lang="en-US" sz="1250" dirty="0"/>
          </a:p>
        </p:txBody>
      </p:sp>
      <p:sp>
        <p:nvSpPr>
          <p:cNvPr id="10" name="Shape 8"/>
          <p:cNvSpPr/>
          <p:nvPr/>
        </p:nvSpPr>
        <p:spPr>
          <a:xfrm>
            <a:off x="548640" y="2121408"/>
            <a:ext cx="3535680" cy="2971800"/>
          </a:xfrm>
          <a:prstGeom prst="roundRect">
            <a:avLst>
              <a:gd name="adj" fmla="val 2154"/>
            </a:avLst>
          </a:prstGeom>
          <a:solidFill>
            <a:srgbClr val="FFFFFF"/>
          </a:solidFill>
          <a:ln w="12700">
            <a:solidFill>
              <a:srgbClr val="E97132"/>
            </a:solidFill>
            <a:prstDash val="solid"/>
          </a:ln>
        </p:spPr>
      </p:sp>
      <p:sp>
        <p:nvSpPr>
          <p:cNvPr id="11" name="Text 9"/>
          <p:cNvSpPr/>
          <p:nvPr/>
        </p:nvSpPr>
        <p:spPr>
          <a:xfrm>
            <a:off x="694944" y="2267712"/>
            <a:ext cx="3243072" cy="2697480"/>
          </a:xfrm>
          <a:prstGeom prst="rect">
            <a:avLst/>
          </a:prstGeom>
          <a:noFill/>
          <a:ln/>
        </p:spPr>
        <p:txBody>
          <a:bodyPr wrap="square" lIns="0" tIns="0" rIns="0" bIns="0" rtlCol="0" anchor="t"/>
          <a:lstStyle/>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Temperature 39.5 °C or more</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Bad-smelling discharge in the first 3 weeks</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Down cow, or badly lame</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Hot swollen quarter with fever</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Abortion or abnormal afterbirth</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Drum sound (ping) on the flank</a:t>
            </a:r>
            <a:endParaRPr lang="en-US" sz="1250" dirty="0"/>
          </a:p>
        </p:txBody>
      </p:sp>
      <p:sp>
        <p:nvSpPr>
          <p:cNvPr id="12" name="Shape 10"/>
          <p:cNvSpPr/>
          <p:nvPr/>
        </p:nvSpPr>
        <p:spPr>
          <a:xfrm>
            <a:off x="4312920" y="1618488"/>
            <a:ext cx="3535680" cy="502920"/>
          </a:xfrm>
          <a:prstGeom prst="roundRect">
            <a:avLst>
              <a:gd name="adj" fmla="val 12727"/>
            </a:avLst>
          </a:prstGeom>
          <a:solidFill>
            <a:srgbClr val="0F9ED5"/>
          </a:solidFill>
          <a:ln w="12700">
            <a:solidFill>
              <a:srgbClr val="0F9ED5"/>
            </a:solidFill>
            <a:prstDash val="solid"/>
          </a:ln>
        </p:spPr>
      </p:sp>
      <p:sp>
        <p:nvSpPr>
          <p:cNvPr id="13" name="Text 11"/>
          <p:cNvSpPr/>
          <p:nvPr/>
        </p:nvSpPr>
        <p:spPr>
          <a:xfrm>
            <a:off x="4367784" y="1618488"/>
            <a:ext cx="3425952"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POSTPONE — not today</a:t>
            </a:r>
            <a:endParaRPr lang="en-US" sz="1250" dirty="0"/>
          </a:p>
        </p:txBody>
      </p:sp>
      <p:sp>
        <p:nvSpPr>
          <p:cNvPr id="14" name="Shape 12"/>
          <p:cNvSpPr/>
          <p:nvPr/>
        </p:nvSpPr>
        <p:spPr>
          <a:xfrm>
            <a:off x="4312920" y="2121408"/>
            <a:ext cx="3535680" cy="2971800"/>
          </a:xfrm>
          <a:prstGeom prst="roundRect">
            <a:avLst>
              <a:gd name="adj" fmla="val 2154"/>
            </a:avLst>
          </a:prstGeom>
          <a:solidFill>
            <a:srgbClr val="FFFFFF"/>
          </a:solidFill>
          <a:ln w="12700">
            <a:solidFill>
              <a:srgbClr val="0F9ED5"/>
            </a:solidFill>
            <a:prstDash val="solid"/>
          </a:ln>
        </p:spPr>
      </p:sp>
      <p:sp>
        <p:nvSpPr>
          <p:cNvPr id="15" name="Text 13"/>
          <p:cNvSpPr/>
          <p:nvPr/>
        </p:nvSpPr>
        <p:spPr>
          <a:xfrm>
            <a:off x="4459224" y="2267712"/>
            <a:ext cx="3243072" cy="2697480"/>
          </a:xfrm>
          <a:prstGeom prst="rect">
            <a:avLst/>
          </a:prstGeom>
          <a:noFill/>
          <a:ln/>
        </p:spPr>
        <p:txBody>
          <a:bodyPr wrap="square" lIns="0" tIns="0" rIns="0" bIns="0" rtlCol="0" anchor="t"/>
          <a:lstStyle/>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Too thin (below 2.75)</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Less than 50 days since calving</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Still in drug withdrawal</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No heat ever recorded → put her on a device protocol</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Ketosis not yet treated</a:t>
            </a:r>
            <a:endParaRPr lang="en-US" sz="1250" dirty="0"/>
          </a:p>
        </p:txBody>
      </p:sp>
      <p:sp>
        <p:nvSpPr>
          <p:cNvPr id="16" name="Shape 14"/>
          <p:cNvSpPr/>
          <p:nvPr/>
        </p:nvSpPr>
        <p:spPr>
          <a:xfrm>
            <a:off x="8077200" y="1618488"/>
            <a:ext cx="3535680" cy="502920"/>
          </a:xfrm>
          <a:prstGeom prst="roundRect">
            <a:avLst>
              <a:gd name="adj" fmla="val 12727"/>
            </a:avLst>
          </a:prstGeom>
          <a:solidFill>
            <a:srgbClr val="196B24"/>
          </a:solidFill>
          <a:ln w="12700">
            <a:solidFill>
              <a:srgbClr val="196B24"/>
            </a:solidFill>
            <a:prstDash val="solid"/>
          </a:ln>
        </p:spPr>
      </p:sp>
      <p:sp>
        <p:nvSpPr>
          <p:cNvPr id="17" name="Text 15"/>
          <p:cNvSpPr/>
          <p:nvPr/>
        </p:nvSpPr>
        <p:spPr>
          <a:xfrm>
            <a:off x="8132064" y="1618488"/>
            <a:ext cx="3425952"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GO AHEAD</a:t>
            </a:r>
            <a:endParaRPr lang="en-US" sz="1250" dirty="0"/>
          </a:p>
        </p:txBody>
      </p:sp>
      <p:sp>
        <p:nvSpPr>
          <p:cNvPr id="18" name="Shape 16"/>
          <p:cNvSpPr/>
          <p:nvPr/>
        </p:nvSpPr>
        <p:spPr>
          <a:xfrm>
            <a:off x="8077200" y="2121408"/>
            <a:ext cx="3535680" cy="2971800"/>
          </a:xfrm>
          <a:prstGeom prst="roundRect">
            <a:avLst>
              <a:gd name="adj" fmla="val 2154"/>
            </a:avLst>
          </a:prstGeom>
          <a:solidFill>
            <a:srgbClr val="FFFFFF"/>
          </a:solidFill>
          <a:ln w="12700">
            <a:solidFill>
              <a:srgbClr val="196B24"/>
            </a:solidFill>
            <a:prstDash val="solid"/>
          </a:ln>
        </p:spPr>
      </p:sp>
      <p:sp>
        <p:nvSpPr>
          <p:cNvPr id="19" name="Text 17"/>
          <p:cNvSpPr/>
          <p:nvPr/>
        </p:nvSpPr>
        <p:spPr>
          <a:xfrm>
            <a:off x="8223504" y="2267712"/>
            <a:ext cx="3243072" cy="2697480"/>
          </a:xfrm>
          <a:prstGeom prst="rect">
            <a:avLst/>
          </a:prstGeom>
          <a:noFill/>
          <a:ln/>
        </p:spPr>
        <p:txBody>
          <a:bodyPr wrap="square" lIns="0" tIns="0" rIns="0" bIns="0" rtlCol="0" anchor="t"/>
          <a:lstStyle/>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None of the red or yellow items</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AND for an embryo: CL confirmed today</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AND you know which side the CL is on</a:t>
            </a:r>
            <a:endParaRPr lang="en-US" sz="1250" dirty="0"/>
          </a:p>
          <a:p>
            <a:pPr indent="0" marL="0">
              <a:lnSpc>
                <a:spcPct val="125000"/>
              </a:lnSpc>
              <a:buNone/>
            </a:pPr>
            <a:r>
              <a:rPr lang="en-US" sz="1250" dirty="0">
                <a:solidFill>
                  <a:srgbClr val="0E2841"/>
                </a:solidFill>
                <a:latin typeface="Malgun Gothic" pitchFamily="34" charset="0"/>
                <a:ea typeface="Malgun Gothic" pitchFamily="34" charset="-122"/>
                <a:cs typeface="Malgun Gothic" pitchFamily="34" charset="-120"/>
              </a:rPr>
              <a:t>•  AND the straw matches the paper</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You visit many farms in one day</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Nothing can move disease across a district faster than we can</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New sleeve every cow. New sheath every transfer. Clean boots between farms.</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64</a:t>
            </a:r>
            <a:endParaRPr lang="en-US" sz="900" dirty="0"/>
          </a:p>
        </p:txBody>
      </p:sp>
      <p:sp>
        <p:nvSpPr>
          <p:cNvPr id="8" name="Shape 6"/>
          <p:cNvSpPr/>
          <p:nvPr/>
        </p:nvSpPr>
        <p:spPr>
          <a:xfrm>
            <a:off x="548640" y="1801368"/>
            <a:ext cx="566928" cy="822960"/>
          </a:xfrm>
          <a:prstGeom prst="roundRect">
            <a:avLst>
              <a:gd name="adj" fmla="val 11290"/>
            </a:avLst>
          </a:prstGeom>
          <a:solidFill>
            <a:srgbClr val="156082"/>
          </a:solidFill>
          <a:ln w="12700">
            <a:solidFill>
              <a:srgbClr val="156082"/>
            </a:solidFill>
            <a:prstDash val="solid"/>
          </a:ln>
        </p:spPr>
      </p:sp>
      <p:sp>
        <p:nvSpPr>
          <p:cNvPr id="9" name="Text 7"/>
          <p:cNvSpPr/>
          <p:nvPr/>
        </p:nvSpPr>
        <p:spPr>
          <a:xfrm>
            <a:off x="548640" y="1801368"/>
            <a:ext cx="56692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1</a:t>
            </a:r>
            <a:endParaRPr lang="en-US" sz="2000" dirty="0"/>
          </a:p>
        </p:txBody>
      </p:sp>
      <p:sp>
        <p:nvSpPr>
          <p:cNvPr id="10" name="Shape 8"/>
          <p:cNvSpPr/>
          <p:nvPr/>
        </p:nvSpPr>
        <p:spPr>
          <a:xfrm>
            <a:off x="1188720" y="1801368"/>
            <a:ext cx="4709160" cy="822960"/>
          </a:xfrm>
          <a:prstGeom prst="roundRect">
            <a:avLst>
              <a:gd name="adj" fmla="val 7778"/>
            </a:avLst>
          </a:prstGeom>
          <a:solidFill>
            <a:srgbClr val="F2F5F7"/>
          </a:solidFill>
          <a:ln w="12700">
            <a:solidFill>
              <a:srgbClr val="C9D3DA"/>
            </a:solidFill>
            <a:prstDash val="solid"/>
          </a:ln>
        </p:spPr>
      </p:sp>
      <p:sp>
        <p:nvSpPr>
          <p:cNvPr id="11" name="Text 9"/>
          <p:cNvSpPr/>
          <p:nvPr/>
        </p:nvSpPr>
        <p:spPr>
          <a:xfrm>
            <a:off x="1353312" y="1892808"/>
            <a:ext cx="4526280" cy="329184"/>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New sleeve</a:t>
            </a:r>
            <a:endParaRPr lang="en-US" sz="1400" dirty="0"/>
          </a:p>
        </p:txBody>
      </p:sp>
      <p:sp>
        <p:nvSpPr>
          <p:cNvPr id="12" name="Text 10"/>
          <p:cNvSpPr/>
          <p:nvPr/>
        </p:nvSpPr>
        <p:spPr>
          <a:xfrm>
            <a:off x="1353312" y="2221992"/>
            <a:ext cx="4526280" cy="329184"/>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every cow — never re-use</a:t>
            </a:r>
            <a:endParaRPr lang="en-US" sz="1200" dirty="0"/>
          </a:p>
        </p:txBody>
      </p:sp>
      <p:sp>
        <p:nvSpPr>
          <p:cNvPr id="13" name="Shape 11"/>
          <p:cNvSpPr/>
          <p:nvPr/>
        </p:nvSpPr>
        <p:spPr>
          <a:xfrm>
            <a:off x="6263640" y="1801368"/>
            <a:ext cx="566928" cy="822960"/>
          </a:xfrm>
          <a:prstGeom prst="roundRect">
            <a:avLst>
              <a:gd name="adj" fmla="val 11290"/>
            </a:avLst>
          </a:prstGeom>
          <a:solidFill>
            <a:srgbClr val="156082"/>
          </a:solidFill>
          <a:ln w="12700">
            <a:solidFill>
              <a:srgbClr val="156082"/>
            </a:solidFill>
            <a:prstDash val="solid"/>
          </a:ln>
        </p:spPr>
      </p:sp>
      <p:sp>
        <p:nvSpPr>
          <p:cNvPr id="14" name="Text 12"/>
          <p:cNvSpPr/>
          <p:nvPr/>
        </p:nvSpPr>
        <p:spPr>
          <a:xfrm>
            <a:off x="6263640" y="1801368"/>
            <a:ext cx="56692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2</a:t>
            </a:r>
            <a:endParaRPr lang="en-US" sz="2000" dirty="0"/>
          </a:p>
        </p:txBody>
      </p:sp>
      <p:sp>
        <p:nvSpPr>
          <p:cNvPr id="15" name="Shape 13"/>
          <p:cNvSpPr/>
          <p:nvPr/>
        </p:nvSpPr>
        <p:spPr>
          <a:xfrm>
            <a:off x="6903720" y="1801368"/>
            <a:ext cx="4709160" cy="822960"/>
          </a:xfrm>
          <a:prstGeom prst="roundRect">
            <a:avLst>
              <a:gd name="adj" fmla="val 7778"/>
            </a:avLst>
          </a:prstGeom>
          <a:solidFill>
            <a:srgbClr val="F2F5F7"/>
          </a:solidFill>
          <a:ln w="12700">
            <a:solidFill>
              <a:srgbClr val="C9D3DA"/>
            </a:solidFill>
            <a:prstDash val="solid"/>
          </a:ln>
        </p:spPr>
      </p:sp>
      <p:sp>
        <p:nvSpPr>
          <p:cNvPr id="16" name="Text 14"/>
          <p:cNvSpPr/>
          <p:nvPr/>
        </p:nvSpPr>
        <p:spPr>
          <a:xfrm>
            <a:off x="7068312" y="1892808"/>
            <a:ext cx="4526280" cy="329184"/>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New sheath</a:t>
            </a:r>
            <a:endParaRPr lang="en-US" sz="1400" dirty="0"/>
          </a:p>
        </p:txBody>
      </p:sp>
      <p:sp>
        <p:nvSpPr>
          <p:cNvPr id="17" name="Text 15"/>
          <p:cNvSpPr/>
          <p:nvPr/>
        </p:nvSpPr>
        <p:spPr>
          <a:xfrm>
            <a:off x="7068312" y="2221992"/>
            <a:ext cx="4526280" cy="329184"/>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every transfer — never re-use</a:t>
            </a:r>
            <a:endParaRPr lang="en-US" sz="1200" dirty="0"/>
          </a:p>
        </p:txBody>
      </p:sp>
      <p:sp>
        <p:nvSpPr>
          <p:cNvPr id="18" name="Shape 16"/>
          <p:cNvSpPr/>
          <p:nvPr/>
        </p:nvSpPr>
        <p:spPr>
          <a:xfrm>
            <a:off x="548640" y="2852928"/>
            <a:ext cx="566928" cy="822960"/>
          </a:xfrm>
          <a:prstGeom prst="roundRect">
            <a:avLst>
              <a:gd name="adj" fmla="val 11290"/>
            </a:avLst>
          </a:prstGeom>
          <a:solidFill>
            <a:srgbClr val="156082"/>
          </a:solidFill>
          <a:ln w="12700">
            <a:solidFill>
              <a:srgbClr val="156082"/>
            </a:solidFill>
            <a:prstDash val="solid"/>
          </a:ln>
        </p:spPr>
      </p:sp>
      <p:sp>
        <p:nvSpPr>
          <p:cNvPr id="19" name="Text 17"/>
          <p:cNvSpPr/>
          <p:nvPr/>
        </p:nvSpPr>
        <p:spPr>
          <a:xfrm>
            <a:off x="548640" y="2852928"/>
            <a:ext cx="56692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3</a:t>
            </a:r>
            <a:endParaRPr lang="en-US" sz="2000" dirty="0"/>
          </a:p>
        </p:txBody>
      </p:sp>
      <p:sp>
        <p:nvSpPr>
          <p:cNvPr id="20" name="Shape 18"/>
          <p:cNvSpPr/>
          <p:nvPr/>
        </p:nvSpPr>
        <p:spPr>
          <a:xfrm>
            <a:off x="1188720" y="2852928"/>
            <a:ext cx="4709160" cy="822960"/>
          </a:xfrm>
          <a:prstGeom prst="roundRect">
            <a:avLst>
              <a:gd name="adj" fmla="val 7778"/>
            </a:avLst>
          </a:prstGeom>
          <a:solidFill>
            <a:srgbClr val="F2F5F7"/>
          </a:solidFill>
          <a:ln w="12700">
            <a:solidFill>
              <a:srgbClr val="C9D3DA"/>
            </a:solidFill>
            <a:prstDash val="solid"/>
          </a:ln>
        </p:spPr>
      </p:sp>
      <p:sp>
        <p:nvSpPr>
          <p:cNvPr id="21" name="Text 19"/>
          <p:cNvSpPr/>
          <p:nvPr/>
        </p:nvSpPr>
        <p:spPr>
          <a:xfrm>
            <a:off x="1353312" y="2944368"/>
            <a:ext cx="4526280" cy="329184"/>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Boots and clothes</a:t>
            </a:r>
            <a:endParaRPr lang="en-US" sz="1400" dirty="0"/>
          </a:p>
        </p:txBody>
      </p:sp>
      <p:sp>
        <p:nvSpPr>
          <p:cNvPr id="22" name="Text 20"/>
          <p:cNvSpPr/>
          <p:nvPr/>
        </p:nvSpPr>
        <p:spPr>
          <a:xfrm>
            <a:off x="1353312" y="3273552"/>
            <a:ext cx="4526280" cy="329184"/>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clean and disinfect between farms</a:t>
            </a:r>
            <a:endParaRPr lang="en-US" sz="1200" dirty="0"/>
          </a:p>
        </p:txBody>
      </p:sp>
      <p:sp>
        <p:nvSpPr>
          <p:cNvPr id="23" name="Shape 21"/>
          <p:cNvSpPr/>
          <p:nvPr/>
        </p:nvSpPr>
        <p:spPr>
          <a:xfrm>
            <a:off x="6263640" y="2852928"/>
            <a:ext cx="566928" cy="822960"/>
          </a:xfrm>
          <a:prstGeom prst="roundRect">
            <a:avLst>
              <a:gd name="adj" fmla="val 11290"/>
            </a:avLst>
          </a:prstGeom>
          <a:solidFill>
            <a:srgbClr val="156082"/>
          </a:solidFill>
          <a:ln w="12700">
            <a:solidFill>
              <a:srgbClr val="156082"/>
            </a:solidFill>
            <a:prstDash val="solid"/>
          </a:ln>
        </p:spPr>
      </p:sp>
      <p:sp>
        <p:nvSpPr>
          <p:cNvPr id="24" name="Text 22"/>
          <p:cNvSpPr/>
          <p:nvPr/>
        </p:nvSpPr>
        <p:spPr>
          <a:xfrm>
            <a:off x="6263640" y="2852928"/>
            <a:ext cx="56692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4</a:t>
            </a:r>
            <a:endParaRPr lang="en-US" sz="2000" dirty="0"/>
          </a:p>
        </p:txBody>
      </p:sp>
      <p:sp>
        <p:nvSpPr>
          <p:cNvPr id="25" name="Shape 23"/>
          <p:cNvSpPr/>
          <p:nvPr/>
        </p:nvSpPr>
        <p:spPr>
          <a:xfrm>
            <a:off x="6903720" y="2852928"/>
            <a:ext cx="4709160" cy="822960"/>
          </a:xfrm>
          <a:prstGeom prst="roundRect">
            <a:avLst>
              <a:gd name="adj" fmla="val 7778"/>
            </a:avLst>
          </a:prstGeom>
          <a:solidFill>
            <a:srgbClr val="F2F5F7"/>
          </a:solidFill>
          <a:ln w="12700">
            <a:solidFill>
              <a:srgbClr val="C9D3DA"/>
            </a:solidFill>
            <a:prstDash val="solid"/>
          </a:ln>
        </p:spPr>
      </p:sp>
      <p:sp>
        <p:nvSpPr>
          <p:cNvPr id="26" name="Text 24"/>
          <p:cNvSpPr/>
          <p:nvPr/>
        </p:nvSpPr>
        <p:spPr>
          <a:xfrm>
            <a:off x="7068312" y="2944368"/>
            <a:ext cx="4526280" cy="329184"/>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Route</a:t>
            </a:r>
            <a:endParaRPr lang="en-US" sz="1400" dirty="0"/>
          </a:p>
        </p:txBody>
      </p:sp>
      <p:sp>
        <p:nvSpPr>
          <p:cNvPr id="27" name="Text 25"/>
          <p:cNvSpPr/>
          <p:nvPr/>
        </p:nvSpPr>
        <p:spPr>
          <a:xfrm>
            <a:off x="7068312" y="3273552"/>
            <a:ext cx="4526280" cy="329184"/>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healthy and young herds FIRST, problem herds LAST</a:t>
            </a:r>
            <a:endParaRPr lang="en-US" sz="1200" dirty="0"/>
          </a:p>
        </p:txBody>
      </p:sp>
      <p:sp>
        <p:nvSpPr>
          <p:cNvPr id="28" name="Shape 26"/>
          <p:cNvSpPr/>
          <p:nvPr/>
        </p:nvSpPr>
        <p:spPr>
          <a:xfrm>
            <a:off x="548640" y="3904488"/>
            <a:ext cx="566928" cy="822960"/>
          </a:xfrm>
          <a:prstGeom prst="roundRect">
            <a:avLst>
              <a:gd name="adj" fmla="val 11290"/>
            </a:avLst>
          </a:prstGeom>
          <a:solidFill>
            <a:srgbClr val="156082"/>
          </a:solidFill>
          <a:ln w="12700">
            <a:solidFill>
              <a:srgbClr val="156082"/>
            </a:solidFill>
            <a:prstDash val="solid"/>
          </a:ln>
        </p:spPr>
      </p:sp>
      <p:sp>
        <p:nvSpPr>
          <p:cNvPr id="29" name="Text 27"/>
          <p:cNvSpPr/>
          <p:nvPr/>
        </p:nvSpPr>
        <p:spPr>
          <a:xfrm>
            <a:off x="548640" y="3904488"/>
            <a:ext cx="56692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5</a:t>
            </a:r>
            <a:endParaRPr lang="en-US" sz="2000" dirty="0"/>
          </a:p>
        </p:txBody>
      </p:sp>
      <p:sp>
        <p:nvSpPr>
          <p:cNvPr id="30" name="Shape 28"/>
          <p:cNvSpPr/>
          <p:nvPr/>
        </p:nvSpPr>
        <p:spPr>
          <a:xfrm>
            <a:off x="1188720" y="3904488"/>
            <a:ext cx="4709160" cy="822960"/>
          </a:xfrm>
          <a:prstGeom prst="roundRect">
            <a:avLst>
              <a:gd name="adj" fmla="val 7778"/>
            </a:avLst>
          </a:prstGeom>
          <a:solidFill>
            <a:srgbClr val="F2F5F7"/>
          </a:solidFill>
          <a:ln w="12700">
            <a:solidFill>
              <a:srgbClr val="C9D3DA"/>
            </a:solidFill>
            <a:prstDash val="solid"/>
          </a:ln>
        </p:spPr>
      </p:sp>
      <p:sp>
        <p:nvSpPr>
          <p:cNvPr id="31" name="Text 29"/>
          <p:cNvSpPr/>
          <p:nvPr/>
        </p:nvSpPr>
        <p:spPr>
          <a:xfrm>
            <a:off x="1353312" y="3995928"/>
            <a:ext cx="4526280" cy="329184"/>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Gloves</a:t>
            </a:r>
            <a:endParaRPr lang="en-US" sz="1400" dirty="0"/>
          </a:p>
        </p:txBody>
      </p:sp>
      <p:sp>
        <p:nvSpPr>
          <p:cNvPr id="32" name="Text 30"/>
          <p:cNvSpPr/>
          <p:nvPr/>
        </p:nvSpPr>
        <p:spPr>
          <a:xfrm>
            <a:off x="1353312" y="4325112"/>
            <a:ext cx="4526280" cy="329184"/>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for any discharge — some diseases make YOU sick</a:t>
            </a:r>
            <a:endParaRPr lang="en-US" sz="1200" dirty="0"/>
          </a:p>
        </p:txBody>
      </p:sp>
      <p:sp>
        <p:nvSpPr>
          <p:cNvPr id="33" name="Shape 31"/>
          <p:cNvSpPr/>
          <p:nvPr/>
        </p:nvSpPr>
        <p:spPr>
          <a:xfrm>
            <a:off x="6263640" y="3904488"/>
            <a:ext cx="566928" cy="822960"/>
          </a:xfrm>
          <a:prstGeom prst="roundRect">
            <a:avLst>
              <a:gd name="adj" fmla="val 11290"/>
            </a:avLst>
          </a:prstGeom>
          <a:solidFill>
            <a:srgbClr val="156082"/>
          </a:solidFill>
          <a:ln w="12700">
            <a:solidFill>
              <a:srgbClr val="156082"/>
            </a:solidFill>
            <a:prstDash val="solid"/>
          </a:ln>
        </p:spPr>
      </p:sp>
      <p:sp>
        <p:nvSpPr>
          <p:cNvPr id="34" name="Text 32"/>
          <p:cNvSpPr/>
          <p:nvPr/>
        </p:nvSpPr>
        <p:spPr>
          <a:xfrm>
            <a:off x="6263640" y="3904488"/>
            <a:ext cx="566928"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6</a:t>
            </a:r>
            <a:endParaRPr lang="en-US" sz="2000" dirty="0"/>
          </a:p>
        </p:txBody>
      </p:sp>
      <p:sp>
        <p:nvSpPr>
          <p:cNvPr id="35" name="Shape 33"/>
          <p:cNvSpPr/>
          <p:nvPr/>
        </p:nvSpPr>
        <p:spPr>
          <a:xfrm>
            <a:off x="6903720" y="3904488"/>
            <a:ext cx="4709160" cy="822960"/>
          </a:xfrm>
          <a:prstGeom prst="roundRect">
            <a:avLst>
              <a:gd name="adj" fmla="val 7778"/>
            </a:avLst>
          </a:prstGeom>
          <a:solidFill>
            <a:srgbClr val="F2F5F7"/>
          </a:solidFill>
          <a:ln w="12700">
            <a:solidFill>
              <a:srgbClr val="C9D3DA"/>
            </a:solidFill>
            <a:prstDash val="solid"/>
          </a:ln>
        </p:spPr>
      </p:sp>
      <p:sp>
        <p:nvSpPr>
          <p:cNvPr id="36" name="Text 34"/>
          <p:cNvSpPr/>
          <p:nvPr/>
        </p:nvSpPr>
        <p:spPr>
          <a:xfrm>
            <a:off x="7068312" y="3995928"/>
            <a:ext cx="4526280" cy="329184"/>
          </a:xfrm>
          <a:prstGeom prst="rect">
            <a:avLst/>
          </a:prstGeom>
          <a:noFill/>
          <a:ln/>
        </p:spPr>
        <p:txBody>
          <a:bodyPr wrap="square" lIns="0" tIns="0" rIns="0" bIns="0" rtlCol="0" anchor="ctr"/>
          <a:lstStyle/>
          <a:p>
            <a:pPr algn="l" indent="0" marL="0">
              <a:buNone/>
            </a:pPr>
            <a:r>
              <a:rPr lang="en-US" sz="1400" b="1" dirty="0">
                <a:solidFill>
                  <a:srgbClr val="0E2841"/>
                </a:solidFill>
                <a:latin typeface="Malgun Gothic" pitchFamily="34" charset="0"/>
                <a:ea typeface="Malgun Gothic" pitchFamily="34" charset="-122"/>
                <a:cs typeface="Malgun Gothic" pitchFamily="34" charset="-120"/>
              </a:rPr>
              <a:t>Records</a:t>
            </a:r>
            <a:endParaRPr lang="en-US" sz="1400" dirty="0"/>
          </a:p>
        </p:txBody>
      </p:sp>
      <p:sp>
        <p:nvSpPr>
          <p:cNvPr id="37" name="Text 35"/>
          <p:cNvSpPr/>
          <p:nvPr/>
        </p:nvSpPr>
        <p:spPr>
          <a:xfrm>
            <a:off x="7068312" y="4325112"/>
            <a:ext cx="4526280" cy="329184"/>
          </a:xfrm>
          <a:prstGeom prst="rect">
            <a:avLst/>
          </a:prstGeom>
          <a:noFill/>
          <a:ln/>
        </p:spPr>
        <p:txBody>
          <a:bodyPr wrap="square" lIns="0" tIns="0" rIns="0" bIns="0" rtlCol="0" anchor="ctr"/>
          <a:lstStyle/>
          <a:p>
            <a:pPr algn="l" indent="0" marL="0">
              <a:buNone/>
            </a:pPr>
            <a:r>
              <a:rPr lang="en-US" sz="1200" dirty="0">
                <a:solidFill>
                  <a:srgbClr val="6B7280"/>
                </a:solidFill>
                <a:latin typeface="Malgun Gothic" pitchFamily="34" charset="0"/>
                <a:ea typeface="Malgun Gothic" pitchFamily="34" charset="-122"/>
                <a:cs typeface="Malgun Gothic" pitchFamily="34" charset="-120"/>
              </a:rPr>
              <a:t>write down every farm visit, every day</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Check questions — write your answers</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10 minutes, then we go through them together</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If you can answer these eight, you can run a recipient programme and advise a farm.</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65</a:t>
            </a:r>
            <a:endParaRPr lang="en-US" sz="900" dirty="0"/>
          </a:p>
        </p:txBody>
      </p:sp>
      <p:sp>
        <p:nvSpPr>
          <p:cNvPr id="8" name="Shape 6"/>
          <p:cNvSpPr/>
          <p:nvPr/>
        </p:nvSpPr>
        <p:spPr>
          <a:xfrm>
            <a:off x="548640" y="1572768"/>
            <a:ext cx="475488" cy="402336"/>
          </a:xfrm>
          <a:prstGeom prst="roundRect">
            <a:avLst>
              <a:gd name="adj" fmla="val 13636"/>
            </a:avLst>
          </a:prstGeom>
          <a:solidFill>
            <a:srgbClr val="156082"/>
          </a:solidFill>
          <a:ln w="12700">
            <a:solidFill>
              <a:srgbClr val="156082"/>
            </a:solidFill>
            <a:prstDash val="solid"/>
          </a:ln>
        </p:spPr>
      </p:sp>
      <p:sp>
        <p:nvSpPr>
          <p:cNvPr id="9" name="Text 7"/>
          <p:cNvSpPr/>
          <p:nvPr/>
        </p:nvSpPr>
        <p:spPr>
          <a:xfrm>
            <a:off x="548640" y="1572768"/>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10" name="Shape 8"/>
          <p:cNvSpPr/>
          <p:nvPr/>
        </p:nvSpPr>
        <p:spPr>
          <a:xfrm>
            <a:off x="1115568" y="1572768"/>
            <a:ext cx="10497312" cy="402336"/>
          </a:xfrm>
          <a:prstGeom prst="roundRect">
            <a:avLst>
              <a:gd name="adj" fmla="val 13636"/>
            </a:avLst>
          </a:prstGeom>
          <a:solidFill>
            <a:srgbClr val="FFFFFF"/>
          </a:solidFill>
          <a:ln w="12700">
            <a:solidFill>
              <a:srgbClr val="C9D3DA"/>
            </a:solidFill>
            <a:prstDash val="solid"/>
          </a:ln>
        </p:spPr>
      </p:sp>
      <p:sp>
        <p:nvSpPr>
          <p:cNvPr id="11" name="Text 9"/>
          <p:cNvSpPr/>
          <p:nvPr/>
        </p:nvSpPr>
        <p:spPr>
          <a:xfrm>
            <a:off x="1298448" y="1572768"/>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Why does a PGF injection do nothing in a cow that has never shown heat?</a:t>
            </a:r>
            <a:endParaRPr lang="en-US" sz="1300" dirty="0"/>
          </a:p>
        </p:txBody>
      </p:sp>
      <p:sp>
        <p:nvSpPr>
          <p:cNvPr id="12" name="Shape 10"/>
          <p:cNvSpPr/>
          <p:nvPr/>
        </p:nvSpPr>
        <p:spPr>
          <a:xfrm>
            <a:off x="548640" y="2039112"/>
            <a:ext cx="475488" cy="402336"/>
          </a:xfrm>
          <a:prstGeom prst="roundRect">
            <a:avLst>
              <a:gd name="adj" fmla="val 13636"/>
            </a:avLst>
          </a:prstGeom>
          <a:solidFill>
            <a:srgbClr val="156082"/>
          </a:solidFill>
          <a:ln w="12700">
            <a:solidFill>
              <a:srgbClr val="156082"/>
            </a:solidFill>
            <a:prstDash val="solid"/>
          </a:ln>
        </p:spPr>
      </p:sp>
      <p:sp>
        <p:nvSpPr>
          <p:cNvPr id="13" name="Text 11"/>
          <p:cNvSpPr/>
          <p:nvPr/>
        </p:nvSpPr>
        <p:spPr>
          <a:xfrm>
            <a:off x="548640" y="2039112"/>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4" name="Shape 12"/>
          <p:cNvSpPr/>
          <p:nvPr/>
        </p:nvSpPr>
        <p:spPr>
          <a:xfrm>
            <a:off x="1115568" y="2039112"/>
            <a:ext cx="10497312" cy="402336"/>
          </a:xfrm>
          <a:prstGeom prst="roundRect">
            <a:avLst>
              <a:gd name="adj" fmla="val 13636"/>
            </a:avLst>
          </a:prstGeom>
          <a:solidFill>
            <a:srgbClr val="F2F5F7"/>
          </a:solidFill>
          <a:ln w="12700">
            <a:solidFill>
              <a:srgbClr val="C9D3DA"/>
            </a:solidFill>
            <a:prstDash val="solid"/>
          </a:ln>
        </p:spPr>
      </p:sp>
      <p:sp>
        <p:nvSpPr>
          <p:cNvPr id="15" name="Text 13"/>
          <p:cNvSpPr/>
          <p:nvPr/>
        </p:nvSpPr>
        <p:spPr>
          <a:xfrm>
            <a:off x="1298448" y="2039112"/>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No CL on transfer day. What do you do, and in what order?</a:t>
            </a:r>
            <a:endParaRPr lang="en-US" sz="1300" dirty="0"/>
          </a:p>
        </p:txBody>
      </p:sp>
      <p:sp>
        <p:nvSpPr>
          <p:cNvPr id="16" name="Shape 14"/>
          <p:cNvSpPr/>
          <p:nvPr/>
        </p:nvSpPr>
        <p:spPr>
          <a:xfrm>
            <a:off x="548640" y="2505456"/>
            <a:ext cx="475488" cy="402336"/>
          </a:xfrm>
          <a:prstGeom prst="roundRect">
            <a:avLst>
              <a:gd name="adj" fmla="val 13636"/>
            </a:avLst>
          </a:prstGeom>
          <a:solidFill>
            <a:srgbClr val="156082"/>
          </a:solidFill>
          <a:ln w="12700">
            <a:solidFill>
              <a:srgbClr val="156082"/>
            </a:solidFill>
            <a:prstDash val="solid"/>
          </a:ln>
        </p:spPr>
      </p:sp>
      <p:sp>
        <p:nvSpPr>
          <p:cNvPr id="17" name="Text 15"/>
          <p:cNvSpPr/>
          <p:nvPr/>
        </p:nvSpPr>
        <p:spPr>
          <a:xfrm>
            <a:off x="548640" y="2505456"/>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8" name="Shape 16"/>
          <p:cNvSpPr/>
          <p:nvPr/>
        </p:nvSpPr>
        <p:spPr>
          <a:xfrm>
            <a:off x="1115568" y="2505456"/>
            <a:ext cx="10497312" cy="402336"/>
          </a:xfrm>
          <a:prstGeom prst="roundRect">
            <a:avLst>
              <a:gd name="adj" fmla="val 13636"/>
            </a:avLst>
          </a:prstGeom>
          <a:solidFill>
            <a:srgbClr val="FFFFFF"/>
          </a:solidFill>
          <a:ln w="12700">
            <a:solidFill>
              <a:srgbClr val="C9D3DA"/>
            </a:solidFill>
            <a:prstDash val="solid"/>
          </a:ln>
        </p:spPr>
      </p:sp>
      <p:sp>
        <p:nvSpPr>
          <p:cNvPr id="19" name="Text 17"/>
          <p:cNvSpPr/>
          <p:nvPr/>
        </p:nvSpPr>
        <p:spPr>
          <a:xfrm>
            <a:off x="1298448" y="2505456"/>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The CL is on the left ovary. Which horn, and why?</a:t>
            </a:r>
            <a:endParaRPr lang="en-US" sz="1300" dirty="0"/>
          </a:p>
        </p:txBody>
      </p:sp>
      <p:sp>
        <p:nvSpPr>
          <p:cNvPr id="20" name="Shape 18"/>
          <p:cNvSpPr/>
          <p:nvPr/>
        </p:nvSpPr>
        <p:spPr>
          <a:xfrm>
            <a:off x="548640" y="2971800"/>
            <a:ext cx="475488" cy="402336"/>
          </a:xfrm>
          <a:prstGeom prst="roundRect">
            <a:avLst>
              <a:gd name="adj" fmla="val 13636"/>
            </a:avLst>
          </a:prstGeom>
          <a:solidFill>
            <a:srgbClr val="156082"/>
          </a:solidFill>
          <a:ln w="12700">
            <a:solidFill>
              <a:srgbClr val="156082"/>
            </a:solidFill>
            <a:prstDash val="solid"/>
          </a:ln>
        </p:spPr>
      </p:sp>
      <p:sp>
        <p:nvSpPr>
          <p:cNvPr id="21" name="Text 19"/>
          <p:cNvSpPr/>
          <p:nvPr/>
        </p:nvSpPr>
        <p:spPr>
          <a:xfrm>
            <a:off x="548640" y="2971800"/>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2" name="Shape 20"/>
          <p:cNvSpPr/>
          <p:nvPr/>
        </p:nvSpPr>
        <p:spPr>
          <a:xfrm>
            <a:off x="1115568" y="2971800"/>
            <a:ext cx="10497312" cy="402336"/>
          </a:xfrm>
          <a:prstGeom prst="roundRect">
            <a:avLst>
              <a:gd name="adj" fmla="val 13636"/>
            </a:avLst>
          </a:prstGeom>
          <a:solidFill>
            <a:srgbClr val="F2F5F7"/>
          </a:solidFill>
          <a:ln w="12700">
            <a:solidFill>
              <a:srgbClr val="C9D3DA"/>
            </a:solidFill>
            <a:prstDash val="solid"/>
          </a:ln>
        </p:spPr>
      </p:sp>
      <p:sp>
        <p:nvSpPr>
          <p:cNvPr id="23" name="Text 21"/>
          <p:cNvSpPr/>
          <p:nvPr/>
        </p:nvSpPr>
        <p:spPr>
          <a:xfrm>
            <a:off x="1298448" y="2971800"/>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Give the two numbers for thawing a direct-transfer straw.</a:t>
            </a:r>
            <a:endParaRPr lang="en-US" sz="1300" dirty="0"/>
          </a:p>
        </p:txBody>
      </p:sp>
      <p:sp>
        <p:nvSpPr>
          <p:cNvPr id="24" name="Shape 22"/>
          <p:cNvSpPr/>
          <p:nvPr/>
        </p:nvSpPr>
        <p:spPr>
          <a:xfrm>
            <a:off x="548640" y="3438144"/>
            <a:ext cx="475488" cy="402336"/>
          </a:xfrm>
          <a:prstGeom prst="roundRect">
            <a:avLst>
              <a:gd name="adj" fmla="val 13636"/>
            </a:avLst>
          </a:prstGeom>
          <a:solidFill>
            <a:srgbClr val="156082"/>
          </a:solidFill>
          <a:ln w="12700">
            <a:solidFill>
              <a:srgbClr val="156082"/>
            </a:solidFill>
            <a:prstDash val="solid"/>
          </a:ln>
        </p:spPr>
      </p:sp>
      <p:sp>
        <p:nvSpPr>
          <p:cNvPr id="25" name="Text 23"/>
          <p:cNvSpPr/>
          <p:nvPr/>
        </p:nvSpPr>
        <p:spPr>
          <a:xfrm>
            <a:off x="548640" y="3438144"/>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26" name="Shape 24"/>
          <p:cNvSpPr/>
          <p:nvPr/>
        </p:nvSpPr>
        <p:spPr>
          <a:xfrm>
            <a:off x="1115568" y="3438144"/>
            <a:ext cx="10497312" cy="402336"/>
          </a:xfrm>
          <a:prstGeom prst="roundRect">
            <a:avLst>
              <a:gd name="adj" fmla="val 13636"/>
            </a:avLst>
          </a:prstGeom>
          <a:solidFill>
            <a:srgbClr val="FFFFFF"/>
          </a:solidFill>
          <a:ln w="12700">
            <a:solidFill>
              <a:srgbClr val="C9D3DA"/>
            </a:solidFill>
            <a:prstDash val="solid"/>
          </a:ln>
        </p:spPr>
      </p:sp>
      <p:sp>
        <p:nvSpPr>
          <p:cNvPr id="27" name="Text 25"/>
          <p:cNvSpPr/>
          <p:nvPr/>
        </p:nvSpPr>
        <p:spPr>
          <a:xfrm>
            <a:off x="1298448" y="3438144"/>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You have 10 embryos. How many cows do you synchronise, and why?</a:t>
            </a:r>
            <a:endParaRPr lang="en-US" sz="1300" dirty="0"/>
          </a:p>
        </p:txBody>
      </p:sp>
      <p:sp>
        <p:nvSpPr>
          <p:cNvPr id="28" name="Shape 26"/>
          <p:cNvSpPr/>
          <p:nvPr/>
        </p:nvSpPr>
        <p:spPr>
          <a:xfrm>
            <a:off x="548640" y="3904488"/>
            <a:ext cx="475488" cy="402336"/>
          </a:xfrm>
          <a:prstGeom prst="roundRect">
            <a:avLst>
              <a:gd name="adj" fmla="val 13636"/>
            </a:avLst>
          </a:prstGeom>
          <a:solidFill>
            <a:srgbClr val="156082"/>
          </a:solidFill>
          <a:ln w="12700">
            <a:solidFill>
              <a:srgbClr val="156082"/>
            </a:solidFill>
            <a:prstDash val="solid"/>
          </a:ln>
        </p:spPr>
      </p:sp>
      <p:sp>
        <p:nvSpPr>
          <p:cNvPr id="29" name="Text 27"/>
          <p:cNvSpPr/>
          <p:nvPr/>
        </p:nvSpPr>
        <p:spPr>
          <a:xfrm>
            <a:off x="548640" y="3904488"/>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6</a:t>
            </a:r>
            <a:endParaRPr lang="en-US" sz="1400" dirty="0"/>
          </a:p>
        </p:txBody>
      </p:sp>
      <p:sp>
        <p:nvSpPr>
          <p:cNvPr id="30" name="Shape 28"/>
          <p:cNvSpPr/>
          <p:nvPr/>
        </p:nvSpPr>
        <p:spPr>
          <a:xfrm>
            <a:off x="1115568" y="3904488"/>
            <a:ext cx="10497312" cy="402336"/>
          </a:xfrm>
          <a:prstGeom prst="roundRect">
            <a:avLst>
              <a:gd name="adj" fmla="val 13636"/>
            </a:avLst>
          </a:prstGeom>
          <a:solidFill>
            <a:srgbClr val="F2F5F7"/>
          </a:solidFill>
          <a:ln w="12700">
            <a:solidFill>
              <a:srgbClr val="C9D3DA"/>
            </a:solidFill>
            <a:prstDash val="solid"/>
          </a:ln>
        </p:spPr>
      </p:sp>
      <p:sp>
        <p:nvSpPr>
          <p:cNvPr id="31" name="Text 29"/>
          <p:cNvSpPr/>
          <p:nvPr/>
        </p:nvSpPr>
        <p:spPr>
          <a:xfrm>
            <a:off x="1298448" y="3904488"/>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Butterfat has fallen below protein in fresh cows. What do you suspect, and what do you change?</a:t>
            </a:r>
            <a:endParaRPr lang="en-US" sz="1300" dirty="0"/>
          </a:p>
        </p:txBody>
      </p:sp>
      <p:sp>
        <p:nvSpPr>
          <p:cNvPr id="32" name="Shape 30"/>
          <p:cNvSpPr/>
          <p:nvPr/>
        </p:nvSpPr>
        <p:spPr>
          <a:xfrm>
            <a:off x="548640" y="4370832"/>
            <a:ext cx="475488" cy="402336"/>
          </a:xfrm>
          <a:prstGeom prst="roundRect">
            <a:avLst>
              <a:gd name="adj" fmla="val 13636"/>
            </a:avLst>
          </a:prstGeom>
          <a:solidFill>
            <a:srgbClr val="156082"/>
          </a:solidFill>
          <a:ln w="12700">
            <a:solidFill>
              <a:srgbClr val="156082"/>
            </a:solidFill>
            <a:prstDash val="solid"/>
          </a:ln>
        </p:spPr>
      </p:sp>
      <p:sp>
        <p:nvSpPr>
          <p:cNvPr id="33" name="Text 31"/>
          <p:cNvSpPr/>
          <p:nvPr/>
        </p:nvSpPr>
        <p:spPr>
          <a:xfrm>
            <a:off x="548640" y="4370832"/>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7</a:t>
            </a:r>
            <a:endParaRPr lang="en-US" sz="1400" dirty="0"/>
          </a:p>
        </p:txBody>
      </p:sp>
      <p:sp>
        <p:nvSpPr>
          <p:cNvPr id="34" name="Shape 32"/>
          <p:cNvSpPr/>
          <p:nvPr/>
        </p:nvSpPr>
        <p:spPr>
          <a:xfrm>
            <a:off x="1115568" y="4370832"/>
            <a:ext cx="10497312" cy="402336"/>
          </a:xfrm>
          <a:prstGeom prst="roundRect">
            <a:avLst>
              <a:gd name="adj" fmla="val 13636"/>
            </a:avLst>
          </a:prstGeom>
          <a:solidFill>
            <a:srgbClr val="FFFFFF"/>
          </a:solidFill>
          <a:ln w="12700">
            <a:solidFill>
              <a:srgbClr val="C9D3DA"/>
            </a:solidFill>
            <a:prstDash val="solid"/>
          </a:ln>
        </p:spPr>
      </p:sp>
      <p:sp>
        <p:nvSpPr>
          <p:cNvPr id="35" name="Text 33"/>
          <p:cNvSpPr/>
          <p:nvPr/>
        </p:nvSpPr>
        <p:spPr>
          <a:xfrm>
            <a:off x="1298448" y="4370832"/>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Afterbirth is still hanging after one day. What do you do, and what do you NOT do?</a:t>
            </a:r>
            <a:endParaRPr lang="en-US" sz="1300" dirty="0"/>
          </a:p>
        </p:txBody>
      </p:sp>
      <p:sp>
        <p:nvSpPr>
          <p:cNvPr id="36" name="Shape 34"/>
          <p:cNvSpPr/>
          <p:nvPr/>
        </p:nvSpPr>
        <p:spPr>
          <a:xfrm>
            <a:off x="548640" y="4837176"/>
            <a:ext cx="475488" cy="402336"/>
          </a:xfrm>
          <a:prstGeom prst="roundRect">
            <a:avLst>
              <a:gd name="adj" fmla="val 13636"/>
            </a:avLst>
          </a:prstGeom>
          <a:solidFill>
            <a:srgbClr val="156082"/>
          </a:solidFill>
          <a:ln w="12700">
            <a:solidFill>
              <a:srgbClr val="156082"/>
            </a:solidFill>
            <a:prstDash val="solid"/>
          </a:ln>
        </p:spPr>
      </p:sp>
      <p:sp>
        <p:nvSpPr>
          <p:cNvPr id="37" name="Text 35"/>
          <p:cNvSpPr/>
          <p:nvPr/>
        </p:nvSpPr>
        <p:spPr>
          <a:xfrm>
            <a:off x="548640" y="4837176"/>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8</a:t>
            </a:r>
            <a:endParaRPr lang="en-US" sz="1400" dirty="0"/>
          </a:p>
        </p:txBody>
      </p:sp>
      <p:sp>
        <p:nvSpPr>
          <p:cNvPr id="38" name="Shape 36"/>
          <p:cNvSpPr/>
          <p:nvPr/>
        </p:nvSpPr>
        <p:spPr>
          <a:xfrm>
            <a:off x="1115568" y="4837176"/>
            <a:ext cx="10497312" cy="402336"/>
          </a:xfrm>
          <a:prstGeom prst="roundRect">
            <a:avLst>
              <a:gd name="adj" fmla="val 13636"/>
            </a:avLst>
          </a:prstGeom>
          <a:solidFill>
            <a:srgbClr val="F2F5F7"/>
          </a:solidFill>
          <a:ln w="12700">
            <a:solidFill>
              <a:srgbClr val="C9D3DA"/>
            </a:solidFill>
            <a:prstDash val="solid"/>
          </a:ln>
        </p:spPr>
      </p:sp>
      <p:sp>
        <p:nvSpPr>
          <p:cNvPr id="39" name="Text 37"/>
          <p:cNvSpPr/>
          <p:nvPr/>
        </p:nvSpPr>
        <p:spPr>
          <a:xfrm>
            <a:off x="1298448" y="4837176"/>
            <a:ext cx="10131552" cy="402336"/>
          </a:xfrm>
          <a:prstGeom prst="rect">
            <a:avLst/>
          </a:prstGeom>
          <a:noFill/>
          <a:ln/>
        </p:spPr>
        <p:txBody>
          <a:bodyPr wrap="square" lIns="0" tIns="0" rIns="0" bIns="0" rtlCol="0" anchor="ctr"/>
          <a:lstStyle/>
          <a:p>
            <a:pPr algn="l" indent="0" marL="0">
              <a:buNone/>
            </a:pPr>
            <a:r>
              <a:rPr lang="en-US" sz="1300" dirty="0">
                <a:solidFill>
                  <a:srgbClr val="0E2841"/>
                </a:solidFill>
                <a:latin typeface="Malgun Gothic" pitchFamily="34" charset="0"/>
                <a:ea typeface="Malgun Gothic" pitchFamily="34" charset="-122"/>
                <a:cs typeface="Malgun Gothic" pitchFamily="34" charset="-120"/>
              </a:rPr>
              <a:t>Why is calcium a fertility problem and not only a down-cow problem?</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66928"/>
          </a:xfrm>
          <a:prstGeom prst="rect">
            <a:avLst/>
          </a:prstGeom>
          <a:noFill/>
          <a:ln/>
        </p:spPr>
        <p:txBody>
          <a:bodyPr wrap="square" lIns="0" tIns="0" rIns="0" bIns="0" rtlCol="0" anchor="t"/>
          <a:lstStyle/>
          <a:p>
            <a:pPr indent="0" marL="0">
              <a:buNone/>
            </a:pPr>
            <a:r>
              <a:rPr lang="en-US" sz="2600" b="1" dirty="0">
                <a:solidFill>
                  <a:srgbClr val="0E2841"/>
                </a:solidFill>
                <a:latin typeface="Malgun Gothic" pitchFamily="34" charset="0"/>
                <a:ea typeface="Malgun Gothic" pitchFamily="34" charset="-122"/>
                <a:cs typeface="Malgun Gothic" pitchFamily="34" charset="-120"/>
              </a:rPr>
              <a:t>Eight sentences to take home</a:t>
            </a:r>
            <a:endParaRPr lang="en-US" sz="2600" dirty="0"/>
          </a:p>
        </p:txBody>
      </p:sp>
      <p:sp>
        <p:nvSpPr>
          <p:cNvPr id="3" name="Text 1"/>
          <p:cNvSpPr/>
          <p:nvPr/>
        </p:nvSpPr>
        <p:spPr>
          <a:xfrm>
            <a:off x="548640" y="969264"/>
            <a:ext cx="11064240" cy="384048"/>
          </a:xfrm>
          <a:prstGeom prst="rect">
            <a:avLst/>
          </a:prstGeom>
          <a:noFill/>
          <a:ln/>
        </p:spPr>
        <p:txBody>
          <a:bodyPr wrap="square" lIns="0" tIns="0" rIns="0" bIns="0" rtlCol="0" anchor="t"/>
          <a:lstStyle/>
          <a:p>
            <a:pPr indent="0" marL="0">
              <a:buNone/>
            </a:pPr>
            <a:r>
              <a:rPr lang="en-US" sz="1300" dirty="0">
                <a:solidFill>
                  <a:srgbClr val="6B7280"/>
                </a:solidFill>
                <a:latin typeface="Malgun Gothic" pitchFamily="34" charset="0"/>
                <a:ea typeface="Malgun Gothic" pitchFamily="34" charset="-122"/>
                <a:cs typeface="Malgun Gothic" pitchFamily="34" charset="-120"/>
              </a:rPr>
              <a:t>If you forget everything else, keep these</a:t>
            </a:r>
            <a:endParaRPr lang="en-US" sz="1300" dirty="0"/>
          </a:p>
        </p:txBody>
      </p:sp>
      <p:sp>
        <p:nvSpPr>
          <p:cNvPr id="4" name="Shape 2"/>
          <p:cNvSpPr/>
          <p:nvPr/>
        </p:nvSpPr>
        <p:spPr>
          <a:xfrm>
            <a:off x="548640" y="5806440"/>
            <a:ext cx="11064240" cy="566928"/>
          </a:xfrm>
          <a:prstGeom prst="roundRect">
            <a:avLst>
              <a:gd name="adj" fmla="val 9677"/>
            </a:avLst>
          </a:prstGeom>
          <a:solidFill>
            <a:srgbClr val="E3ECF1"/>
          </a:solidFill>
          <a:ln w="12700">
            <a:solidFill>
              <a:srgbClr val="E3ECF1"/>
            </a:solidFill>
            <a:prstDash val="solid"/>
          </a:ln>
        </p:spPr>
      </p:sp>
      <p:sp>
        <p:nvSpPr>
          <p:cNvPr id="5" name="Text 3"/>
          <p:cNvSpPr/>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2841"/>
                </a:solidFill>
                <a:latin typeface="Malgun Gothic" pitchFamily="34" charset="0"/>
                <a:ea typeface="Malgun Gothic" pitchFamily="34" charset="-122"/>
                <a:cs typeface="Malgun Gothic" pitchFamily="34" charset="-120"/>
              </a:rPr>
              <a:t>Good genetics. Correct timing. A healthy cow. Pregnancy needs all three.</a:t>
            </a:r>
            <a:endParaRPr lang="en-US" sz="14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Korean Holstein Sexed Embryo Transfer · One-Day Course · Ha Hyun-Jae, DVM</a:t>
            </a:r>
            <a:endParaRPr lang="en-US" sz="900" dirty="0"/>
          </a:p>
        </p:txBody>
      </p:sp>
      <p:sp>
        <p:nvSpPr>
          <p:cNvPr id="7" name="Text 5"/>
          <p:cNvSpPr/>
          <p:nvPr/>
        </p:nvSpPr>
        <p:spPr>
          <a:xfrm>
            <a:off x="11274552" y="6446520"/>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66</a:t>
            </a:r>
            <a:endParaRPr lang="en-US" sz="900" dirty="0"/>
          </a:p>
        </p:txBody>
      </p:sp>
      <p:sp>
        <p:nvSpPr>
          <p:cNvPr id="8" name="Shape 6"/>
          <p:cNvSpPr/>
          <p:nvPr/>
        </p:nvSpPr>
        <p:spPr>
          <a:xfrm>
            <a:off x="548640" y="1527048"/>
            <a:ext cx="475488" cy="402336"/>
          </a:xfrm>
          <a:prstGeom prst="roundRect">
            <a:avLst>
              <a:gd name="adj" fmla="val 50000"/>
            </a:avLst>
          </a:prstGeom>
          <a:solidFill>
            <a:srgbClr val="0E2841"/>
          </a:solidFill>
          <a:ln w="12700">
            <a:solidFill>
              <a:srgbClr val="0E2841"/>
            </a:solidFill>
            <a:prstDash val="solid"/>
          </a:ln>
        </p:spPr>
      </p:sp>
      <p:sp>
        <p:nvSpPr>
          <p:cNvPr id="9" name="Text 7"/>
          <p:cNvSpPr/>
          <p:nvPr/>
        </p:nvSpPr>
        <p:spPr>
          <a:xfrm>
            <a:off x="548640" y="1527048"/>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10" name="Text 8"/>
          <p:cNvSpPr/>
          <p:nvPr/>
        </p:nvSpPr>
        <p:spPr>
          <a:xfrm>
            <a:off x="1207008" y="1527048"/>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Most failures are the calendar, not the hand.</a:t>
            </a:r>
            <a:endParaRPr lang="en-US" sz="1500" dirty="0"/>
          </a:p>
        </p:txBody>
      </p:sp>
      <p:sp>
        <p:nvSpPr>
          <p:cNvPr id="11" name="Shape 9"/>
          <p:cNvSpPr/>
          <p:nvPr/>
        </p:nvSpPr>
        <p:spPr>
          <a:xfrm>
            <a:off x="548640" y="2011680"/>
            <a:ext cx="475488" cy="402336"/>
          </a:xfrm>
          <a:prstGeom prst="roundRect">
            <a:avLst>
              <a:gd name="adj" fmla="val 50000"/>
            </a:avLst>
          </a:prstGeom>
          <a:solidFill>
            <a:srgbClr val="0E2841"/>
          </a:solidFill>
          <a:ln w="12700">
            <a:solidFill>
              <a:srgbClr val="0E2841"/>
            </a:solidFill>
            <a:prstDash val="solid"/>
          </a:ln>
        </p:spPr>
      </p:sp>
      <p:sp>
        <p:nvSpPr>
          <p:cNvPr id="12" name="Text 10"/>
          <p:cNvSpPr/>
          <p:nvPr/>
        </p:nvSpPr>
        <p:spPr>
          <a:xfrm>
            <a:off x="548640" y="2011680"/>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3" name="Text 11"/>
          <p:cNvSpPr/>
          <p:nvPr/>
        </p:nvSpPr>
        <p:spPr>
          <a:xfrm>
            <a:off x="1207008" y="2011680"/>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PGF2a only works on a CL that is 6 to 17 days old.</a:t>
            </a:r>
            <a:endParaRPr lang="en-US" sz="1500" dirty="0"/>
          </a:p>
        </p:txBody>
      </p:sp>
      <p:sp>
        <p:nvSpPr>
          <p:cNvPr id="14" name="Shape 12"/>
          <p:cNvSpPr/>
          <p:nvPr/>
        </p:nvSpPr>
        <p:spPr>
          <a:xfrm>
            <a:off x="548640" y="2496312"/>
            <a:ext cx="475488" cy="402336"/>
          </a:xfrm>
          <a:prstGeom prst="roundRect">
            <a:avLst>
              <a:gd name="adj" fmla="val 50000"/>
            </a:avLst>
          </a:prstGeom>
          <a:solidFill>
            <a:srgbClr val="0E2841"/>
          </a:solidFill>
          <a:ln w="12700">
            <a:solidFill>
              <a:srgbClr val="0E2841"/>
            </a:solidFill>
            <a:prstDash val="solid"/>
          </a:ln>
        </p:spPr>
      </p:sp>
      <p:sp>
        <p:nvSpPr>
          <p:cNvPr id="15" name="Text 13"/>
          <p:cNvSpPr/>
          <p:nvPr/>
        </p:nvSpPr>
        <p:spPr>
          <a:xfrm>
            <a:off x="548640" y="2496312"/>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6" name="Text 14"/>
          <p:cNvSpPr/>
          <p:nvPr/>
        </p:nvSpPr>
        <p:spPr>
          <a:xfrm>
            <a:off x="1207008" y="2496312"/>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A thin cow or a cow with no heat needs a device, not PGF.</a:t>
            </a:r>
            <a:endParaRPr lang="en-US" sz="1500" dirty="0"/>
          </a:p>
        </p:txBody>
      </p:sp>
      <p:sp>
        <p:nvSpPr>
          <p:cNvPr id="17" name="Shape 15"/>
          <p:cNvSpPr/>
          <p:nvPr/>
        </p:nvSpPr>
        <p:spPr>
          <a:xfrm>
            <a:off x="548640" y="2980944"/>
            <a:ext cx="475488" cy="402336"/>
          </a:xfrm>
          <a:prstGeom prst="roundRect">
            <a:avLst>
              <a:gd name="adj" fmla="val 50000"/>
            </a:avLst>
          </a:prstGeom>
          <a:solidFill>
            <a:srgbClr val="0E2841"/>
          </a:solidFill>
          <a:ln w="12700">
            <a:solidFill>
              <a:srgbClr val="0E2841"/>
            </a:solidFill>
            <a:prstDash val="solid"/>
          </a:ln>
        </p:spPr>
      </p:sp>
      <p:sp>
        <p:nvSpPr>
          <p:cNvPr id="18" name="Text 16"/>
          <p:cNvSpPr/>
          <p:nvPr/>
        </p:nvSpPr>
        <p:spPr>
          <a:xfrm>
            <a:off x="548640" y="2980944"/>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9" name="Text 17"/>
          <p:cNvSpPr/>
          <p:nvPr/>
        </p:nvSpPr>
        <p:spPr>
          <a:xfrm>
            <a:off x="1207008" y="2980944"/>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No CL, no transfer. Feel first, thaw second.</a:t>
            </a:r>
            <a:endParaRPr lang="en-US" sz="1500" dirty="0"/>
          </a:p>
        </p:txBody>
      </p:sp>
      <p:sp>
        <p:nvSpPr>
          <p:cNvPr id="20" name="Shape 18"/>
          <p:cNvSpPr/>
          <p:nvPr/>
        </p:nvSpPr>
        <p:spPr>
          <a:xfrm>
            <a:off x="548640" y="3465576"/>
            <a:ext cx="475488" cy="402336"/>
          </a:xfrm>
          <a:prstGeom prst="roundRect">
            <a:avLst>
              <a:gd name="adj" fmla="val 50000"/>
            </a:avLst>
          </a:prstGeom>
          <a:solidFill>
            <a:srgbClr val="0E2841"/>
          </a:solidFill>
          <a:ln w="12700">
            <a:solidFill>
              <a:srgbClr val="0E2841"/>
            </a:solidFill>
            <a:prstDash val="solid"/>
          </a:ln>
        </p:spPr>
      </p:sp>
      <p:sp>
        <p:nvSpPr>
          <p:cNvPr id="21" name="Text 19"/>
          <p:cNvSpPr/>
          <p:nvPr/>
        </p:nvSpPr>
        <p:spPr>
          <a:xfrm>
            <a:off x="548640" y="3465576"/>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22" name="Text 20"/>
          <p:cNvSpPr/>
          <p:nvPr/>
        </p:nvSpPr>
        <p:spPr>
          <a:xfrm>
            <a:off x="1207008" y="3465576"/>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Same side as the CL. Front third of the horn.</a:t>
            </a:r>
            <a:endParaRPr lang="en-US" sz="1500" dirty="0"/>
          </a:p>
        </p:txBody>
      </p:sp>
      <p:sp>
        <p:nvSpPr>
          <p:cNvPr id="23" name="Shape 21"/>
          <p:cNvSpPr/>
          <p:nvPr/>
        </p:nvSpPr>
        <p:spPr>
          <a:xfrm>
            <a:off x="548640" y="3950208"/>
            <a:ext cx="475488" cy="402336"/>
          </a:xfrm>
          <a:prstGeom prst="roundRect">
            <a:avLst>
              <a:gd name="adj" fmla="val 50000"/>
            </a:avLst>
          </a:prstGeom>
          <a:solidFill>
            <a:srgbClr val="0E2841"/>
          </a:solidFill>
          <a:ln w="12700">
            <a:solidFill>
              <a:srgbClr val="0E2841"/>
            </a:solidFill>
            <a:prstDash val="solid"/>
          </a:ln>
        </p:spPr>
      </p:sp>
      <p:sp>
        <p:nvSpPr>
          <p:cNvPr id="24" name="Text 22"/>
          <p:cNvSpPr/>
          <p:nvPr/>
        </p:nvSpPr>
        <p:spPr>
          <a:xfrm>
            <a:off x="548640" y="3950208"/>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6</a:t>
            </a:r>
            <a:endParaRPr lang="en-US" sz="1400" dirty="0"/>
          </a:p>
        </p:txBody>
      </p:sp>
      <p:sp>
        <p:nvSpPr>
          <p:cNvPr id="25" name="Text 23"/>
          <p:cNvSpPr/>
          <p:nvPr/>
        </p:nvSpPr>
        <p:spPr>
          <a:xfrm>
            <a:off x="1207008" y="3950208"/>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Air 3–5 seconds. Water 37 °C for 20–30 seconds. Then 10 minutes.</a:t>
            </a:r>
            <a:endParaRPr lang="en-US" sz="1500" dirty="0"/>
          </a:p>
        </p:txBody>
      </p:sp>
      <p:sp>
        <p:nvSpPr>
          <p:cNvPr id="26" name="Shape 24"/>
          <p:cNvSpPr/>
          <p:nvPr/>
        </p:nvSpPr>
        <p:spPr>
          <a:xfrm>
            <a:off x="548640" y="4434840"/>
            <a:ext cx="475488" cy="402336"/>
          </a:xfrm>
          <a:prstGeom prst="roundRect">
            <a:avLst>
              <a:gd name="adj" fmla="val 50000"/>
            </a:avLst>
          </a:prstGeom>
          <a:solidFill>
            <a:srgbClr val="0E2841"/>
          </a:solidFill>
          <a:ln w="12700">
            <a:solidFill>
              <a:srgbClr val="0E2841"/>
            </a:solidFill>
            <a:prstDash val="solid"/>
          </a:ln>
        </p:spPr>
      </p:sp>
      <p:sp>
        <p:nvSpPr>
          <p:cNvPr id="27" name="Text 25"/>
          <p:cNvSpPr/>
          <p:nvPr/>
        </p:nvSpPr>
        <p:spPr>
          <a:xfrm>
            <a:off x="548640" y="4434840"/>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7</a:t>
            </a:r>
            <a:endParaRPr lang="en-US" sz="1400" dirty="0"/>
          </a:p>
        </p:txBody>
      </p:sp>
      <p:sp>
        <p:nvSpPr>
          <p:cNvPr id="28" name="Text 26"/>
          <p:cNvSpPr/>
          <p:nvPr/>
        </p:nvSpPr>
        <p:spPr>
          <a:xfrm>
            <a:off x="1207008" y="4434840"/>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Do not pull the afterbirth. Take her temperature instead.</a:t>
            </a:r>
            <a:endParaRPr lang="en-US" sz="1500" dirty="0"/>
          </a:p>
        </p:txBody>
      </p:sp>
      <p:sp>
        <p:nvSpPr>
          <p:cNvPr id="29" name="Shape 27"/>
          <p:cNvSpPr/>
          <p:nvPr/>
        </p:nvSpPr>
        <p:spPr>
          <a:xfrm>
            <a:off x="548640" y="4919472"/>
            <a:ext cx="475488" cy="402336"/>
          </a:xfrm>
          <a:prstGeom prst="roundRect">
            <a:avLst>
              <a:gd name="adj" fmla="val 50000"/>
            </a:avLst>
          </a:prstGeom>
          <a:solidFill>
            <a:srgbClr val="0E2841"/>
          </a:solidFill>
          <a:ln w="12700">
            <a:solidFill>
              <a:srgbClr val="0E2841"/>
            </a:solidFill>
            <a:prstDash val="solid"/>
          </a:ln>
        </p:spPr>
      </p:sp>
      <p:sp>
        <p:nvSpPr>
          <p:cNvPr id="30" name="Text 28"/>
          <p:cNvSpPr/>
          <p:nvPr/>
        </p:nvSpPr>
        <p:spPr>
          <a:xfrm>
            <a:off x="548640" y="4919472"/>
            <a:ext cx="47548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8</a:t>
            </a:r>
            <a:endParaRPr lang="en-US" sz="1400" dirty="0"/>
          </a:p>
        </p:txBody>
      </p:sp>
      <p:sp>
        <p:nvSpPr>
          <p:cNvPr id="31" name="Text 29"/>
          <p:cNvSpPr/>
          <p:nvPr/>
        </p:nvSpPr>
        <p:spPr>
          <a:xfrm>
            <a:off x="1207008" y="4919472"/>
            <a:ext cx="10405872" cy="402336"/>
          </a:xfrm>
          <a:prstGeom prst="rect">
            <a:avLst/>
          </a:prstGeom>
          <a:noFill/>
          <a:ln/>
        </p:spPr>
        <p:txBody>
          <a:bodyPr wrap="square" lIns="0" tIns="0" rIns="0" bIns="0" rtlCol="0" anchor="ctr"/>
          <a:lstStyle/>
          <a:p>
            <a:pPr algn="l" indent="0" marL="0">
              <a:buNone/>
            </a:pPr>
            <a:r>
              <a:rPr lang="en-US" sz="1500" b="1" dirty="0">
                <a:solidFill>
                  <a:srgbClr val="0E2841"/>
                </a:solidFill>
                <a:latin typeface="Malgun Gothic" pitchFamily="34" charset="0"/>
                <a:ea typeface="Malgun Gothic" pitchFamily="34" charset="-122"/>
                <a:cs typeface="Malgun Gothic" pitchFamily="34" charset="-120"/>
              </a:rPr>
              <a:t>Butterfat falls first. It is the farm telling you the stomach is sour.</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E2841"/>
        </a:solidFill>
      </p:bgPr>
    </p:bg>
    <p:spTree>
      <p:nvGrpSpPr>
        <p:cNvPr id="1" name=""/>
        <p:cNvGrpSpPr/>
        <p:nvPr/>
      </p:nvGrpSpPr>
      <p:grpSpPr>
        <a:xfrm>
          <a:off x="0" y="0"/>
          <a:ext cx="0" cy="0"/>
          <a:chOff x="0" y="0"/>
          <a:chExt cx="0" cy="0"/>
        </a:xfrm>
      </p:grpSpPr>
      <p:sp>
        <p:nvSpPr>
          <p:cNvPr id="2" name="Shape 0"/>
          <p:cNvSpPr/>
          <p:nvPr/>
        </p:nvSpPr>
        <p:spPr>
          <a:xfrm>
            <a:off x="-1645920" y="4023360"/>
            <a:ext cx="4389120" cy="4389120"/>
          </a:xfrm>
          <a:prstGeom prst="ellipse">
            <a:avLst/>
          </a:prstGeom>
          <a:solidFill>
            <a:srgbClr val="156082"/>
          </a:solidFill>
          <a:ln/>
        </p:spPr>
      </p:sp>
      <p:sp>
        <p:nvSpPr>
          <p:cNvPr id="3" name="Text 1"/>
          <p:cNvSpPr/>
          <p:nvPr/>
        </p:nvSpPr>
        <p:spPr>
          <a:xfrm>
            <a:off x="822960" y="2148840"/>
            <a:ext cx="10607040" cy="13716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Good genetics.  Correct timing.  A healthy cow.</a:t>
            </a:r>
            <a:endParaRPr lang="en-US" sz="3600" dirty="0"/>
          </a:p>
        </p:txBody>
      </p:sp>
      <p:sp>
        <p:nvSpPr>
          <p:cNvPr id="4" name="Text 2"/>
          <p:cNvSpPr/>
          <p:nvPr/>
        </p:nvSpPr>
        <p:spPr>
          <a:xfrm>
            <a:off x="822960" y="3611880"/>
            <a:ext cx="10607040" cy="731520"/>
          </a:xfrm>
          <a:prstGeom prst="rect">
            <a:avLst/>
          </a:prstGeom>
          <a:noFill/>
          <a:ln/>
        </p:spPr>
        <p:txBody>
          <a:bodyPr wrap="square" lIns="0" tIns="0" rIns="0" bIns="0" rtlCol="0" anchor="t"/>
          <a:lstStyle/>
          <a:p>
            <a:pPr indent="0" marL="0">
              <a:buNone/>
            </a:pPr>
            <a:r>
              <a:rPr lang="en-US" sz="1900" dirty="0">
                <a:solidFill>
                  <a:srgbClr val="C6DCE8"/>
                </a:solidFill>
                <a:latin typeface="Malgun Gothic" pitchFamily="34" charset="0"/>
                <a:ea typeface="Malgun Gothic" pitchFamily="34" charset="-122"/>
                <a:cs typeface="Malgun Gothic" pitchFamily="34" charset="-120"/>
              </a:rPr>
              <a:t>Pregnancy is what happens when you have all three.</a:t>
            </a:r>
            <a:endParaRPr lang="en-US" sz="1900" dirty="0"/>
          </a:p>
        </p:txBody>
      </p:sp>
      <p:sp>
        <p:nvSpPr>
          <p:cNvPr id="5" name="Text 3"/>
          <p:cNvSpPr/>
          <p:nvPr/>
        </p:nvSpPr>
        <p:spPr>
          <a:xfrm>
            <a:off x="822960" y="5120640"/>
            <a:ext cx="10607040" cy="457200"/>
          </a:xfrm>
          <a:prstGeom prst="rect">
            <a:avLst/>
          </a:prstGeom>
          <a:noFill/>
          <a:ln/>
        </p:spPr>
        <p:txBody>
          <a:bodyPr wrap="square" lIns="0" tIns="0" rIns="0" bIns="0" rtlCol="0" anchor="ctr"/>
          <a:lstStyle/>
          <a:p>
            <a:pPr indent="0" marL="0">
              <a:buNone/>
            </a:pPr>
            <a:r>
              <a:rPr lang="en-US" sz="1300" dirty="0">
                <a:solidFill>
                  <a:srgbClr val="8FC7DE"/>
                </a:solidFill>
                <a:latin typeface="Malgun Gothic" pitchFamily="34" charset="0"/>
                <a:ea typeface="Malgun Gothic" pitchFamily="34" charset="-122"/>
                <a:cs typeface="Malgun Gothic" pitchFamily="34" charset="-120"/>
              </a:rPr>
              <a:t>Ha Hyun-Jae, DVM  ·  Genetics Co., Ltd.  ·  Korea Animal Hospital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Korean Holstein Sexed Embryo Transfer — One-Day Practitioner Course (Philippines)</dc:title>
  <dc:subject>PptxGenJS Presentation</dc:subject>
  <dc:creator>Ha Hyun-Jae, DVM — Genetics Co., Ltd.</dc:creator>
  <cp:lastModifiedBy>Ha Hyun-Jae, DVM — Genetics Co., Ltd.</cp:lastModifiedBy>
  <cp:revision>1</cp:revision>
  <dcterms:created xsi:type="dcterms:W3CDTF">2026-09-12T23:19:07Z</dcterms:created>
  <dcterms:modified xsi:type="dcterms:W3CDTF">2026-09-12T23:19:07Z</dcterms:modified>
</cp:coreProperties>
</file>
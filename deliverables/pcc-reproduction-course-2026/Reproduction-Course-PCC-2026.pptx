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3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cycle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A441"/>
              </a:solidFill>
              <a:ln w="31750" cap="flat">
                <a:solidFill>
                  <a:srgbClr val="F6F3EA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2857A"/>
              </a:solidFill>
              <a:ln w="31750" cap="flat">
                <a:solidFill>
                  <a:srgbClr val="F6F3EA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65B6B"/>
              </a:solidFill>
              <a:ln w="31750" cap="flat">
                <a:solidFill>
                  <a:srgbClr val="F6F3EA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8E7BD0"/>
              </a:solidFill>
              <a:ln w="31750" cap="flat">
                <a:solidFill>
                  <a:srgbClr val="F6F3EA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Estrus</c:v>
                </c:pt>
                <c:pt idx="1">
                  <c:v>Diestrus</c:v>
                </c:pt>
                <c:pt idx="2">
                  <c:v>Luteolysis</c:v>
                </c:pt>
                <c:pt idx="3">
                  <c:v>Return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</c:v>
                </c:pt>
                <c:pt idx="1">
                  <c:v>7</c:v>
                </c:pt>
                <c:pt idx="2">
                  <c:v>1.2</c:v>
                </c:pt>
                <c:pt idx="3">
                  <c:v>11.8</c:v>
                </c:pt>
              </c:numCache>
            </c:numRef>
          </c:val>
        </c:ser>
        <c:firstSliceAng val="0"/>
        <c:holeSize val="5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follicle</c:v>
                </c:pt>
              </c:strCache>
            </c:strRef>
          </c:tx>
          <c:spPr>
            <a:solidFill>
              <a:srgbClr val="12857A">
                <a:alpha val="100000"/>
              </a:srgbClr>
            </a:solidFill>
            <a:ln w="38100" cap="flat">
              <a:solidFill>
                <a:srgbClr val="1285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2857A"/>
              </a:solidFill>
              <a:ln w="9525" cap="flat">
                <a:solidFill>
                  <a:srgbClr val="1285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</c:v>
                </c:pt>
                <c:pt idx="1">
                  <c:v>5</c:v>
                </c:pt>
                <c:pt idx="2">
                  <c:v>7</c:v>
                </c:pt>
                <c:pt idx="3">
                  <c:v>4</c:v>
                </c:pt>
                <c:pt idx="4">
                  <c:v>2</c:v>
                </c:pt>
                <c:pt idx="5">
                  <c:v>5.5</c:v>
                </c:pt>
                <c:pt idx="6">
                  <c:v>7.5</c:v>
                </c:pt>
                <c:pt idx="7">
                  <c:v>4</c:v>
                </c:pt>
                <c:pt idx="8">
                  <c:v>2.5</c:v>
                </c:pt>
                <c:pt idx="9">
                  <c:v>6</c:v>
                </c:pt>
                <c:pt idx="10">
                  <c:v>8</c:v>
                </c:pt>
                <c:pt idx="11">
                  <c:v>9</c:v>
                </c:pt>
                <c:pt idx="12">
                  <c:v>6.5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</c:v>
                </c:pt>
              </c:strCache>
            </c:strRef>
          </c:tx>
          <c:spPr>
            <a:solidFill>
              <a:srgbClr val="6E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622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E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7D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Visual only</c:v>
                  </c:pt>
                  <c:pt idx="1">
                    <c:v>Sensor-assisted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622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946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914400"/>
            <a:ext cx="4937760" cy="4937760"/>
          </a:xfrm>
          <a:prstGeom prst="ellipse">
            <a:avLst/>
          </a:prstGeom>
          <a:ln w="19050">
            <a:solidFill>
              <a:srgbClr val="31B7A7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548640"/>
            <a:ext cx="3383280" cy="3383280"/>
          </a:xfrm>
          <a:prstGeom prst="ellipse">
            <a:avLst/>
          </a:prstGeom>
          <a:ln w="19050">
            <a:solidFill>
              <a:srgbClr val="9BC53D">
                <a:alpha val="1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737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 CARABAO CENTER · TRAINING COURSE · 13–19 SEPT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 in Cattle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Water Buffalo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3977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Reproductive Fundamentals to Artificial Insemination,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&amp; Smart-Farm Precision Breeding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66928" y="5029200"/>
            <a:ext cx="757123" cy="365760"/>
          </a:xfrm>
          <a:prstGeom prst="roundRect">
            <a:avLst>
              <a:gd name="adj" fmla="val 50000"/>
            </a:avLst>
          </a:prstGeom>
          <a:ln w="19050">
            <a:solidFill>
              <a:srgbClr val="31B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5029200"/>
            <a:ext cx="757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470355" y="5029200"/>
            <a:ext cx="1159459" cy="365760"/>
          </a:xfrm>
          <a:prstGeom prst="roundRect">
            <a:avLst>
              <a:gd name="adj" fmla="val 50000"/>
            </a:avLst>
          </a:prstGeom>
          <a:ln w="19050">
            <a:solidFill>
              <a:srgbClr val="31B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70355" y="5029200"/>
            <a:ext cx="11594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Estrus &amp; AI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76118" y="5029200"/>
            <a:ext cx="1964131" cy="365760"/>
          </a:xfrm>
          <a:prstGeom prst="roundRect">
            <a:avLst>
              <a:gd name="adj" fmla="val 50000"/>
            </a:avLst>
          </a:prstGeom>
          <a:ln w="19050">
            <a:solidFill>
              <a:srgbClr val="31B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6118" y="5029200"/>
            <a:ext cx="19641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/ IVF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86554" y="5029200"/>
            <a:ext cx="1078992" cy="365760"/>
          </a:xfrm>
          <a:prstGeom prst="roundRect">
            <a:avLst>
              <a:gd name="adj" fmla="val 50000"/>
            </a:avLst>
          </a:prstGeom>
          <a:ln w="19050">
            <a:solidFill>
              <a:srgbClr val="31B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6554" y="502920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Hyunjae Ha, DVM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6928" y="6199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Goryeo VET Clinic · L&amp;H Institute of Biotechnology · Genetics Co. · Song Young Shin Farm — Republic of Korea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INSTRUCTOR · AN INTEGRATED REPRODUCTION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 years bringing reproductive biotechnology from lab to farm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veterinarian working across the full reproduction chain — clinical practice, a biotechnology laboratory, a genetics company, and a working dairy farm. Everything in this course is what we do every week in the field.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743200"/>
            <a:ext cx="26151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2926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5528" y="3456432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Goryeo VET Clinic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400507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AI, estrus synchronization &amp; herd reproduction consulting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46704" y="2743200"/>
            <a:ext cx="26151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75304" y="2926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75304" y="3456432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L&amp;H Institute of Biotechnology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75304" y="400507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OPU–IVF, MOET, embryo culture &amp; cryopreservation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743200"/>
            <a:ext cx="26151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926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55080" y="3456432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Genetics Co.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00507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selection, sexed embryos &amp; sire evaluation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06256" y="2743200"/>
            <a:ext cx="261518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34856" y="2926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34856" y="3456432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Young Shin Farm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34856" y="400507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Sensor-based smart dairy — reproduction data every day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8463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8EFE3"/>
          </a:solidFill>
          <a:ln/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5528" y="4956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is the engine of genetic improvement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fastest, cheapest way to upgrade a national herd. That makes it the heart of the carabao development mission.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· CATTLE &amp; BUFFALO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 · WHAT THIS HOUR COVERS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steps, one goal: more calves, better genetics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420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7D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Anatomy, the estrous cycle &amp; the hormones that drive 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98064" y="22860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54096" y="25420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857A"/>
          </a:solidFill>
          <a:ln/>
        </p:spPr>
      </p:sp>
      <p:sp>
        <p:nvSpPr>
          <p:cNvPr id="11" name="Text 9"/>
          <p:cNvSpPr/>
          <p:nvPr/>
        </p:nvSpPr>
        <p:spPr>
          <a:xfrm>
            <a:off x="3054096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54096" y="315468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Estrus &amp; heat detection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54096" y="384048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heat — and the buffalo “silent heat” problem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0" y="22860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85232" y="25420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A6B3A"/>
          </a:solidFill>
          <a:ln/>
        </p:spPr>
      </p:sp>
      <p:sp>
        <p:nvSpPr>
          <p:cNvPr id="16" name="Text 14"/>
          <p:cNvSpPr/>
          <p:nvPr/>
        </p:nvSpPr>
        <p:spPr>
          <a:xfrm>
            <a:off x="5285232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85232" y="315468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insemination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85232" y="384048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Semen, timing, technique &amp; conception rate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260336" y="22860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16368" y="25420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E7BD0"/>
          </a:solidFill>
          <a:ln/>
        </p:spPr>
      </p:sp>
      <p:sp>
        <p:nvSpPr>
          <p:cNvPr id="21" name="Text 19"/>
          <p:cNvSpPr/>
          <p:nvPr/>
        </p:nvSpPr>
        <p:spPr>
          <a:xfrm>
            <a:off x="7516368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16368" y="315468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&amp; IVF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16368" y="384048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elite female genetics fast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491472" y="22860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47504" y="25420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65B6B"/>
          </a:solidFill>
          <a:ln/>
        </p:spPr>
      </p:sp>
      <p:sp>
        <p:nvSpPr>
          <p:cNvPr id="26" name="Text 24"/>
          <p:cNvSpPr/>
          <p:nvPr/>
        </p:nvSpPr>
        <p:spPr>
          <a:xfrm>
            <a:off x="9747504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47504" y="315468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47504" y="384048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data for precision reproduction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 principles throughout, with water-buffalo (carabao) specifics highlighted in </a:t>
            </a:r>
            <a:pPr algn="ctr" indent="0" marL="0">
              <a:buNone/>
            </a:pPr>
            <a:r>
              <a:rPr lang="en-US" sz="1350" b="1" dirty="0">
                <a:solidFill>
                  <a:srgbClr val="E08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pPr algn="ctr" indent="0" marL="0">
              <a:buNone/>
            </a:pPr>
            <a:r>
              <a:rPr lang="en-US" sz="135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· CATTLE &amp; BUFFALO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1B7A7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154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Reproductive Foundations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66928" y="44348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9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the female tract · the estrous cycle · hormonal control · follicular dynamics · the male contribution. You cannot manage what you do not understand.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FEMALE REPRODUCTIVE ANATOMY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female reproductive tract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 rot="-2100000">
            <a:off x="2350008" y="2560320"/>
            <a:ext cx="310896" cy="1188720"/>
          </a:xfrm>
          <a:prstGeom prst="roundRect">
            <a:avLst>
              <a:gd name="adj" fmla="val 44118"/>
            </a:avLst>
          </a:prstGeom>
          <a:solidFill>
            <a:srgbClr val="C65B6B"/>
          </a:solidFill>
          <a:ln/>
        </p:spPr>
      </p:sp>
      <p:sp>
        <p:nvSpPr>
          <p:cNvPr id="5" name="Shape 3"/>
          <p:cNvSpPr/>
          <p:nvPr/>
        </p:nvSpPr>
        <p:spPr>
          <a:xfrm rot="2100000">
            <a:off x="3127248" y="2560320"/>
            <a:ext cx="310896" cy="1188720"/>
          </a:xfrm>
          <a:prstGeom prst="roundRect">
            <a:avLst>
              <a:gd name="adj" fmla="val 44118"/>
            </a:avLst>
          </a:prstGeom>
          <a:solidFill>
            <a:srgbClr val="C65B6B"/>
          </a:solidFill>
          <a:ln/>
        </p:spPr>
      </p:sp>
      <p:sp>
        <p:nvSpPr>
          <p:cNvPr id="6" name="Shape 4"/>
          <p:cNvSpPr/>
          <p:nvPr/>
        </p:nvSpPr>
        <p:spPr>
          <a:xfrm>
            <a:off x="2779776" y="3246120"/>
            <a:ext cx="274320" cy="685800"/>
          </a:xfrm>
          <a:prstGeom prst="roundRect">
            <a:avLst>
              <a:gd name="adj" fmla="val 40000"/>
            </a:avLst>
          </a:prstGeom>
          <a:solidFill>
            <a:srgbClr val="9A6B3A"/>
          </a:solidFill>
          <a:ln/>
        </p:spPr>
      </p:sp>
      <p:sp>
        <p:nvSpPr>
          <p:cNvPr id="7" name="Shape 5"/>
          <p:cNvSpPr/>
          <p:nvPr/>
        </p:nvSpPr>
        <p:spPr>
          <a:xfrm>
            <a:off x="2788920" y="3886200"/>
            <a:ext cx="256032" cy="457200"/>
          </a:xfrm>
          <a:prstGeom prst="roundRect">
            <a:avLst>
              <a:gd name="adj" fmla="val 35714"/>
            </a:avLst>
          </a:prstGeom>
          <a:solidFill>
            <a:srgbClr val="4F7D2E"/>
          </a:solidFill>
          <a:ln/>
        </p:spPr>
      </p:sp>
      <p:sp>
        <p:nvSpPr>
          <p:cNvPr id="8" name="Shape 6"/>
          <p:cNvSpPr/>
          <p:nvPr/>
        </p:nvSpPr>
        <p:spPr>
          <a:xfrm>
            <a:off x="2788920" y="4297680"/>
            <a:ext cx="256032" cy="457200"/>
          </a:xfrm>
          <a:prstGeom prst="roundRect">
            <a:avLst>
              <a:gd name="adj" fmla="val 35714"/>
            </a:avLst>
          </a:prstGeom>
          <a:solidFill>
            <a:srgbClr val="12857A"/>
          </a:solidFill>
          <a:ln/>
        </p:spPr>
      </p:sp>
      <p:sp>
        <p:nvSpPr>
          <p:cNvPr id="9" name="Shape 7"/>
          <p:cNvSpPr/>
          <p:nvPr/>
        </p:nvSpPr>
        <p:spPr>
          <a:xfrm>
            <a:off x="1691640" y="26974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3703320" y="26974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Shape 9"/>
          <p:cNvSpPr/>
          <p:nvPr/>
        </p:nvSpPr>
        <p:spPr>
          <a:xfrm>
            <a:off x="2057400" y="2423160"/>
            <a:ext cx="201168" cy="201168"/>
          </a:xfrm>
          <a:prstGeom prst="ellipse">
            <a:avLst/>
          </a:prstGeom>
          <a:solidFill>
            <a:srgbClr val="8E7BD0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2423160"/>
            <a:ext cx="201168" cy="201168"/>
          </a:xfrm>
          <a:prstGeom prst="ellipse">
            <a:avLst/>
          </a:prstGeom>
          <a:solidFill>
            <a:srgbClr val="8E7BD0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0" y="249631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Ovary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houses follicles &amp; the corpus luteum; source of eggs &amp; hormones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852160" y="30632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8E7BD0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9900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Oviduct (fallopian tube)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site of fertilization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852160" y="363016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C65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55701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Uterine horns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where the embryo implants &amp; grows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852160" y="419709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9A6B3A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12394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of uterus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AI semen deposition site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852160" y="476402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4F7D2E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46908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Cervix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gateway we pass the AI gun through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852160" y="533095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2857A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Vagina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receives natural service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66928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Recto-vaginal (“recto-cervical”) AI works by feeling the cervix through the rectum wall and guiding the gun by hand.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THE ESTROUS 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estrous cycle — a ~21-day rhythm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2194560"/>
          <a:ext cx="3383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691640" y="3429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
</a:t>
            </a:r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6E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(18–24)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663440" y="2377440"/>
            <a:ext cx="6949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663440" y="2468880"/>
            <a:ext cx="73152" cy="86868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2505456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8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Proestrus → Estrus (Day 0)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937760" y="28346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Follicle matures, estrogen peaks → standing heat. Ovulation ~24–30 h after heat onset.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3547872"/>
            <a:ext cx="6949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3639312"/>
            <a:ext cx="73152" cy="868680"/>
          </a:xfrm>
          <a:prstGeom prst="rect">
            <a:avLst/>
          </a:prstGeom>
          <a:solidFill>
            <a:srgbClr val="12857A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367588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Metestrus → Diestrus (Day 1–17)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937760" y="400507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luteum (CL) forms &amp; secretes progesterone — maintains pregnancy or holds the cycle.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4718304"/>
            <a:ext cx="6949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4809744"/>
            <a:ext cx="73152" cy="868680"/>
          </a:xfrm>
          <a:prstGeom prst="rect">
            <a:avLst/>
          </a:prstGeom>
          <a:solidFill>
            <a:srgbClr val="C65B6B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48463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Luteolysis (Day 17–18)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937760" y="517550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pregnant, the uterus releases PGF2α → the CL regresses → the next cycle begins.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" y="5989320"/>
            <a:ext cx="854964" cy="329184"/>
          </a:xfrm>
          <a:prstGeom prst="roundRect">
            <a:avLst>
              <a:gd name="adj" fmla="val 22222"/>
            </a:avLst>
          </a:prstGeom>
          <a:solidFill>
            <a:srgbClr val="C65B6B">
              <a:alpha val="14000"/>
            </a:srgbClr>
          </a:solidFill>
          <a:ln w="12700">
            <a:solidFill>
              <a:srgbClr val="C65B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5989320"/>
            <a:ext cx="8549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🐃 Buffalo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604772" y="598932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~21 d but estrus is shorter, weaker &amp; often silent — and strongly seasonal. We will return to this.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ENDOCRINE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hormonal chain of command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reproductive tool we use — synchronization, AI timing, superovulation — works by pushing one of these four levers.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0" y="2651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3A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31272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3A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GnRH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423160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trigger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74920" y="2651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31272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FSH &amp; LH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212080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follicle · trigger ovulation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26517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31272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 · Progesterone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9244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&amp; standing · maintain the CL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AA79A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2668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AA79A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2834640" y="4617720"/>
            <a:ext cx="6492240" cy="777240"/>
          </a:xfrm>
          <a:prstGeom prst="roundRect">
            <a:avLst>
              <a:gd name="adj" fmla="val 11765"/>
            </a:avLst>
          </a:prstGeom>
          <a:solidFill>
            <a:srgbClr val="2E1A22"/>
          </a:solidFill>
          <a:ln w="12700">
            <a:solidFill>
              <a:srgbClr val="C65B6B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63240" y="470916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8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PGF2α (from the uterus)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0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destroys the CL → this is the “reset button” we use to synchronize heat.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6928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feedback: high progesterone suppresses GnRH/LH — remove it, and the cow returns to heat.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FOLLICULAR DYNAMICS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Follicular waves &amp; ovulation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28600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follicle size →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" y="5257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      Wave 2        Wave 3 → dominant → Ovulation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26480" y="2377440"/>
            <a:ext cx="5486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Follicles grow in 2–3 waves per cycle (buffalo usually 1–2)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wave has a dominant follicle; only the last one ovulates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LH surge triggers ovulation ~24–30 h after heat onset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egg is viable only ~6–12 h — timing is everything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126480" y="461772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26480" y="4709160"/>
            <a:ext cx="73152" cy="914400"/>
          </a:xfrm>
          <a:prstGeom prst="rect">
            <a:avLst/>
          </a:prstGeom>
          <a:solidFill>
            <a:srgbClr val="12857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47548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waves is the basis of synchronization &amp; superovulation — we manipulate which follicles grow and when they ovulate.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THE MALE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sire side: one bull, thousands of daughters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468880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1B7A7"/>
                </a:solidFill>
              </a:rPr>
              <a:t>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Spermatogenesis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547872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days to make sperm in the testis. Heat stress or illness 2 months ago still affects today's fertility.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2468880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7992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1B7A7"/>
                </a:solidFill>
              </a:rPr>
              <a:t>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07992" y="31546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 evaluation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07992" y="3547872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· concentration · motility · morphology. Only quality ejaculates are processed.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36992" y="2468880"/>
            <a:ext cx="3502152" cy="1828800"/>
          </a:xfrm>
          <a:prstGeom prst="roundRect">
            <a:avLst>
              <a:gd name="adj" fmla="val 5000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93024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1B7A7"/>
                </a:solidFill>
              </a:rPr>
              <a:t>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93024" y="31546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AI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93024" y="3547872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elite bull → thousands of frozen straws, shipped worldwide, used long after his lifetime.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709160"/>
            <a:ext cx="854964" cy="329184"/>
          </a:xfrm>
          <a:prstGeom prst="roundRect">
            <a:avLst>
              <a:gd name="adj" fmla="val 22222"/>
            </a:avLst>
          </a:prstGeom>
          <a:solidFill>
            <a:srgbClr val="C65B6B">
              <a:alpha val="14000"/>
            </a:srgbClr>
          </a:solidFill>
          <a:ln w="12700">
            <a:solidFill>
              <a:srgbClr val="C65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709160"/>
            <a:ext cx="8549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🐃 Buffalo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4772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River-type bulls (e.g.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Murrah</a:t>
            </a:r>
            <a:pPr indent="0" marL="0">
              <a:buNone/>
            </a:pPr>
            <a:r>
              <a:rPr lang="en-US" sz="1350" dirty="0">
                <a:solidFill>
                  <a:srgbClr val="D7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are the key to upgrading native swamp buffalo — AI puts that superior sire in every village.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1B7A7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154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Estrus &amp; Heat Detection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66928" y="44348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9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cause of AI failure worldwide is not bad semen — it is MISSED HEAT. For buffalo, this is the central challenge.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ESTRUS · READING HEAT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Signs of estrus (heat)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6400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2011680"/>
            <a:ext cx="73152" cy="7772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4825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48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sure sign — standing to be mounted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stands still when mounted by another animal. This is the reference point for AI timing.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SIGNS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474720"/>
            <a:ext cx="1481328" cy="365760"/>
          </a:xfrm>
          <a:prstGeom prst="roundRect">
            <a:avLst>
              <a:gd name="adj" fmla="val 50000"/>
            </a:avLst>
          </a:prstGeom>
          <a:ln w="19050">
            <a:solidFill>
              <a:srgbClr val="1285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4747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others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76272" y="3474720"/>
            <a:ext cx="1159459" cy="365760"/>
          </a:xfrm>
          <a:prstGeom prst="roundRect">
            <a:avLst>
              <a:gd name="adj" fmla="val 50000"/>
            </a:avLst>
          </a:prstGeom>
          <a:ln w="19050">
            <a:solidFill>
              <a:srgbClr val="1285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3474720"/>
            <a:ext cx="11594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mucus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63747" y="3474720"/>
            <a:ext cx="1239926" cy="365760"/>
          </a:xfrm>
          <a:prstGeom prst="roundRect">
            <a:avLst>
              <a:gd name="adj" fmla="val 50000"/>
            </a:avLst>
          </a:prstGeom>
          <a:ln w="19050">
            <a:solidFill>
              <a:srgbClr val="1285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3747" y="3474720"/>
            <a:ext cx="12399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Restlessness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977640"/>
            <a:ext cx="1320394" cy="365760"/>
          </a:xfrm>
          <a:prstGeom prst="roundRect">
            <a:avLst>
              <a:gd name="adj" fmla="val 50000"/>
            </a:avLst>
          </a:prstGeom>
          <a:ln w="19050">
            <a:solidFill>
              <a:srgbClr val="1285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977640"/>
            <a:ext cx="1320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feed &amp; milk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015338" y="3977640"/>
            <a:ext cx="1320394" cy="365760"/>
          </a:xfrm>
          <a:prstGeom prst="roundRect">
            <a:avLst>
              <a:gd name="adj" fmla="val 50000"/>
            </a:avLst>
          </a:prstGeom>
          <a:ln w="19050">
            <a:solidFill>
              <a:srgbClr val="1285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5338" y="3977640"/>
            <a:ext cx="1320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Swollen vulva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63747" y="3977640"/>
            <a:ext cx="1239926" cy="365760"/>
          </a:xfrm>
          <a:prstGeom prst="roundRect">
            <a:avLst>
              <a:gd name="adj" fmla="val 50000"/>
            </a:avLst>
          </a:prstGeom>
          <a:ln w="19050">
            <a:solidFill>
              <a:srgbClr val="1285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63747" y="3977640"/>
            <a:ext cx="12399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Chin-resting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52360" y="1920240"/>
            <a:ext cx="4160520" cy="3108960"/>
          </a:xfrm>
          <a:prstGeom prst="roundRect">
            <a:avLst>
              <a:gd name="adj" fmla="val 2941"/>
            </a:avLst>
          </a:prstGeom>
          <a:solidFill>
            <a:srgbClr val="FBEEF0"/>
          </a:solidFill>
          <a:ln w="12700">
            <a:solidFill>
              <a:srgbClr val="C65B6B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80960" y="2148840"/>
            <a:ext cx="1787652" cy="329184"/>
          </a:xfrm>
          <a:prstGeom prst="roundRect">
            <a:avLst>
              <a:gd name="adj" fmla="val 22222"/>
            </a:avLst>
          </a:prstGeom>
          <a:solidFill>
            <a:srgbClr val="C65B6B">
              <a:alpha val="14000"/>
            </a:srgbClr>
          </a:solidFill>
          <a:ln w="12700">
            <a:solidFill>
              <a:srgbClr val="C65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2148840"/>
            <a:ext cx="17876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🐃 The buffalo problem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0" y="269748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/ weak heat — few or no visible signs</a:t>
            </a:r>
            <a:endParaRPr lang="en-US" sz="13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at night — missed by day-time checks</a:t>
            </a:r>
            <a:endParaRPr lang="en-US" sz="13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— poorer expression in hot months</a:t>
            </a:r>
            <a:endParaRPr lang="en-US" sz="13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low AI conception from missed heat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680960" y="4526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6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is exactly the gap sensors &amp; timed-AI close (Parts 3 &amp; 5).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ESTRUS &amp; HEAT DETECTION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ESTRUS · DETECTION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catch heat — low-tech to high-tech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3774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Visual observation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" y="276148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daily, ≥20 min, quiet times. Free but labour-heavy &amp; misses night heat.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21945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23774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Tail paint / chalk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80560" y="276148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Rubbed-off paint = she was mounted. Cheap, effective aid.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36992" y="21945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65592" y="23774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🐂 Teaser / mount detectors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65592" y="276148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Vasectomized teaser bull or pressure patches (KaMaR).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7947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" y="39776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Pedometers / activity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5528" y="436168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↑ walking 2–4×. Automated &amp; objective — good for silent heat.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37947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B3227"/>
          </a:solidFill>
          <a:ln w="12700">
            <a:solidFill>
              <a:srgbClr val="31B7A7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39776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Rumen &amp; body sensors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480560" y="436168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+ rumination + activity → alerts day or night. Best fit for buffalo.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36992" y="37947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65592" y="39776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Ultrasound / palpation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165592" y="4361688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follicle/CL &amp; pregnancy — the vet's cross-check.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ESTRUS &amp; HEAT DETECTION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ESTRUS · TIMING OF INSEMINATION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Timing: the AM / PM rule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Sperm need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h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tract to become fertile and live ~24 h; the egg lives only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~6–12 h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So we inseminate late in heat / just before ovulation.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834640"/>
            <a:ext cx="67665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926080"/>
            <a:ext cx="73152" cy="5029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346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8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seen in the MORNING → inseminate that EVENING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657600"/>
            <a:ext cx="67665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3749040"/>
            <a:ext cx="73152" cy="502920"/>
          </a:xfrm>
          <a:prstGeom prst="rect">
            <a:avLst/>
          </a:prstGeom>
          <a:solidFill>
            <a:srgbClr val="12857A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6576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seen in the EVENING → inseminate next MORNING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4526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AI about 12 hours after first standing heat; ovulation ~24–30 h after heat onset.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8952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BF3E0"/>
          </a:solidFill>
          <a:ln/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0" y="24231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48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6–12 h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589520" y="2944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 viability window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34747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E8F0EE"/>
          </a:solidFill>
          <a:ln/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0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 h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589520" y="4133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sperm survival in tract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4663440"/>
            <a:ext cx="854964" cy="329184"/>
          </a:xfrm>
          <a:prstGeom prst="roundRect">
            <a:avLst>
              <a:gd name="adj" fmla="val 22222"/>
            </a:avLst>
          </a:prstGeom>
          <a:solidFill>
            <a:srgbClr val="C65B6B">
              <a:alpha val="14000"/>
            </a:srgbClr>
          </a:solidFill>
          <a:ln w="12700">
            <a:solidFill>
              <a:srgbClr val="C65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4663440"/>
            <a:ext cx="8549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🐃 Buffalo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0" y="5074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heat makes “onset” hard to judge → timed AI removes the guesswork.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ESTRUS &amp; HEAT DETECTION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ESTRUS · SYNCHRONIZATION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Estrus synchronization — scheduling the herd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waiting for each animal, we bring a whole group into heat together — enabling planned, batch AI.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3502152" cy="1920240"/>
          </a:xfrm>
          <a:prstGeom prst="roundRect">
            <a:avLst>
              <a:gd name="adj" fmla="val 4762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24328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E08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PGF2α (single / double)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 the CL → heat in 2–5 days. Simple &amp; cheap; needs an active CL (cycling animals).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2423160"/>
            <a:ext cx="3502152" cy="1920240"/>
          </a:xfrm>
          <a:prstGeom prst="roundRect">
            <a:avLst>
              <a:gd name="adj" fmla="val 4762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7992" y="2624328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Progesterone device (CIDR / PRID)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07992" y="324612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Intravaginal insert mimics the CL, then withdrawn. Works on non-cycling / silent buffalo &amp; anestrus.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36992" y="2423160"/>
            <a:ext cx="3502152" cy="1920240"/>
          </a:xfrm>
          <a:prstGeom prst="roundRect">
            <a:avLst>
              <a:gd name="adj" fmla="val 4762"/>
            </a:avLst>
          </a:prstGeom>
          <a:solidFill>
            <a:srgbClr val="1B3227"/>
          </a:solidFill>
          <a:ln w="12700">
            <a:solidFill>
              <a:srgbClr val="31B7A7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93024" y="2624328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Ovsynch (→ Fixed-time AI)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93024" y="324612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GnRH → PGF2α → GnRH controls ovulation itself → AI by the clock, no heat detection needed.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800600"/>
            <a:ext cx="854964" cy="329184"/>
          </a:xfrm>
          <a:prstGeom prst="roundRect">
            <a:avLst>
              <a:gd name="adj" fmla="val 22222"/>
            </a:avLst>
          </a:prstGeom>
          <a:solidFill>
            <a:srgbClr val="C65B6B">
              <a:alpha val="14000"/>
            </a:srgbClr>
          </a:solidFill>
          <a:ln w="12700">
            <a:solidFill>
              <a:srgbClr val="C65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800600"/>
            <a:ext cx="8549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🐃 Buffalo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4772" y="48006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Progesterone + Ovsynch-type protocols are the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answer to silent, seasonal heat</a:t>
            </a:r>
            <a:pPr indent="0" marL="0">
              <a:buNone/>
            </a:pPr>
            <a:r>
              <a:rPr lang="en-US" sz="1350" dirty="0">
                <a:solidFill>
                  <a:srgbClr val="D7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 detail the timeline next.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ESTRUS &amp; HEAT DETECTION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D9A441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154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Insemination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66928" y="44348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9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powerful, lowest-cost genetic tool ever put in a farmer's hands — and the backbone of any national herd-improvement program.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THE CASE FOR ARTIFICIAL INSEMINATION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artificial insemination?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2677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44168" y="2286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genetic gain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70662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world's proven sires — upgrade milk, growth &amp; fertility in one generation.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95928" y="210312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24528" y="22677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73168" y="2286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control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24528" y="270662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bull movement between herds = fewer venereal &amp; transboundary diseases.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65760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" y="38221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44168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&amp; safety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426110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dangerous bull to keep &amp; feed; a straw costs a fraction of a bull.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995928" y="365760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24528" y="38221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73168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traceability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24528" y="426110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sire = pedigree, genomic selection &amp; planned matings.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52360" y="2103120"/>
            <a:ext cx="4160520" cy="3108960"/>
          </a:xfrm>
          <a:prstGeom prst="roundRect">
            <a:avLst>
              <a:gd name="adj" fmla="val 2941"/>
            </a:avLst>
          </a:prstGeom>
          <a:solidFill>
            <a:srgbClr val="FBEEF0"/>
          </a:solidFill>
          <a:ln w="12700">
            <a:solidFill>
              <a:srgbClr val="C65B6B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0" y="2331720"/>
            <a:ext cx="1632204" cy="329184"/>
          </a:xfrm>
          <a:prstGeom prst="roundRect">
            <a:avLst>
              <a:gd name="adj" fmla="val 22222"/>
            </a:avLst>
          </a:prstGeom>
          <a:solidFill>
            <a:srgbClr val="C65B6B">
              <a:alpha val="14000"/>
            </a:srgbClr>
          </a:solidFill>
          <a:ln w="12700">
            <a:solidFill>
              <a:srgbClr val="C65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331720"/>
            <a:ext cx="16322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🐃 Carabao upgrading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80960" y="288036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Murrah / river-type semen is the engine that converts a low-yield swamp buffalo herd into a productive dairy herd — village by village, straw by straw.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680960" y="45262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the PCC mission at national scale.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INSEMINATION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FROM BULL TO STRAW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Semen: collection → freezing → storage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468880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7249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857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vagina or electro-ejaculation from proven sires.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98064" y="2468880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54096" y="27249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857A"/>
          </a:solidFill>
          <a:ln/>
        </p:spPr>
      </p:sp>
      <p:sp>
        <p:nvSpPr>
          <p:cNvPr id="11" name="Text 9"/>
          <p:cNvSpPr/>
          <p:nvPr/>
        </p:nvSpPr>
        <p:spPr>
          <a:xfrm>
            <a:off x="3054096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54096" y="33375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54096" y="379476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Motility, concentration &amp; morphology checked immediately.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2468880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85232" y="27249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857A"/>
          </a:solidFill>
          <a:ln/>
        </p:spPr>
      </p:sp>
      <p:sp>
        <p:nvSpPr>
          <p:cNvPr id="16" name="Text 14"/>
          <p:cNvSpPr/>
          <p:nvPr/>
        </p:nvSpPr>
        <p:spPr>
          <a:xfrm>
            <a:off x="5285232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85232" y="33375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85232" y="379476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in egg-yolk / soy extender with cryoprotectant.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60336" y="2468880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16368" y="27249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857A"/>
          </a:solidFill>
          <a:ln/>
        </p:spPr>
      </p:sp>
      <p:sp>
        <p:nvSpPr>
          <p:cNvPr id="21" name="Text 19"/>
          <p:cNvSpPr/>
          <p:nvPr/>
        </p:nvSpPr>
        <p:spPr>
          <a:xfrm>
            <a:off x="7516368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16368" y="33375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&amp; freezing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16368" y="379476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0.25 / 0.5 mL straws; cooled, then frozen in LN₂ vapour.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91472" y="2468880"/>
            <a:ext cx="2084832" cy="219456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47504" y="27249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857A"/>
          </a:solidFill>
          <a:ln/>
        </p:spPr>
      </p:sp>
      <p:sp>
        <p:nvSpPr>
          <p:cNvPr id="26" name="Text 24"/>
          <p:cNvSpPr/>
          <p:nvPr/>
        </p:nvSpPr>
        <p:spPr>
          <a:xfrm>
            <a:off x="9747504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47504" y="33375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47504" y="379476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in liquid nitrogen at −196 °C — viable for decades.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straw is identity-labelled: bull, breed &amp; batch — the foundation of traceable breeding.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INSEMINATION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HANDLING &amp; THAWING — WHERE FERTILITY IS WON OR LOST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Straw handling: the details that decide conception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6766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fast in the tank neck — lift the canister no higher than the frost line, ≤10 s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Thaw in a water bath at 35–37 °C for 30–45 s — never in a pocket or by air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the straw, load a pre-warmed gun, protect from cold shock &amp; sunlight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Inseminate within ~15 minutes of thawing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straw thawed at a time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589520" y="21945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8F0EE"/>
          </a:solidFill>
          <a:ln/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0" y="2331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35–37°C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58952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thaw temperature · 30–45 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0" y="34747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/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0" y="36118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65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−196°C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589520" y="4206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storage · never re-cool a thawed straw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4754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shock &amp; slow thawing kill sperm — good semen fails from poor handling.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INSEMINATION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TECHNIQUE &amp; DEPOSITION SITE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recto-vaginal technique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5943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Gloved hand in the rectum grips the cervix; the gun passes through the vagina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 the cervix onto the gun — thread through its rings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semen in the body of the uterus (site AI), just past the cervix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slowly; withdraw gently; minimize stress &amp; trauma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4297680"/>
            <a:ext cx="5943600" cy="960120"/>
          </a:xfrm>
          <a:prstGeom prst="roundRect">
            <a:avLst>
              <a:gd name="adj" fmla="val 9524"/>
            </a:avLst>
          </a:prstGeom>
          <a:solidFill>
            <a:srgbClr val="20392C"/>
          </a:solidFill>
          <a:ln w="12700">
            <a:solidFill>
              <a:srgbClr val="9BC53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44074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 —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“quick, clean, gentle.” A calm animal &amp; clean pass protect the pregnancy you are trying to create.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49440" y="2194560"/>
            <a:ext cx="4663440" cy="2743200"/>
          </a:xfrm>
          <a:prstGeom prst="roundRect">
            <a:avLst>
              <a:gd name="adj" fmla="val 3333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 rot="-2100000">
            <a:off x="8750808" y="2926080"/>
            <a:ext cx="274320" cy="1097280"/>
          </a:xfrm>
          <a:prstGeom prst="roundRect">
            <a:avLst>
              <a:gd name="adj" fmla="val 46667"/>
            </a:avLst>
          </a:prstGeom>
          <a:solidFill>
            <a:srgbClr val="C65B6B"/>
          </a:solidFill>
          <a:ln/>
        </p:spPr>
      </p:sp>
      <p:sp>
        <p:nvSpPr>
          <p:cNvPr id="9" name="Shape 7"/>
          <p:cNvSpPr/>
          <p:nvPr/>
        </p:nvSpPr>
        <p:spPr>
          <a:xfrm rot="2100000">
            <a:off x="9509760" y="2926080"/>
            <a:ext cx="274320" cy="1097280"/>
          </a:xfrm>
          <a:prstGeom prst="roundRect">
            <a:avLst>
              <a:gd name="adj" fmla="val 46667"/>
            </a:avLst>
          </a:prstGeom>
          <a:solidFill>
            <a:srgbClr val="C65B6B"/>
          </a:solidFill>
          <a:ln/>
        </p:spPr>
      </p:sp>
      <p:sp>
        <p:nvSpPr>
          <p:cNvPr id="10" name="Shape 8"/>
          <p:cNvSpPr/>
          <p:nvPr/>
        </p:nvSpPr>
        <p:spPr>
          <a:xfrm>
            <a:off x="9162288" y="3566160"/>
            <a:ext cx="256032" cy="640080"/>
          </a:xfrm>
          <a:prstGeom prst="roundRect">
            <a:avLst>
              <a:gd name="adj" fmla="val 35714"/>
            </a:avLst>
          </a:prstGeom>
          <a:solidFill>
            <a:srgbClr val="9A6B3A"/>
          </a:solidFill>
          <a:ln/>
        </p:spPr>
      </p:sp>
      <p:sp>
        <p:nvSpPr>
          <p:cNvPr id="11" name="Shape 9"/>
          <p:cNvSpPr/>
          <p:nvPr/>
        </p:nvSpPr>
        <p:spPr>
          <a:xfrm>
            <a:off x="9171432" y="4160520"/>
            <a:ext cx="237744" cy="411480"/>
          </a:xfrm>
          <a:prstGeom prst="roundRect">
            <a:avLst>
              <a:gd name="adj" fmla="val 34615"/>
            </a:avLst>
          </a:prstGeom>
          <a:solidFill>
            <a:srgbClr val="4F7D2E"/>
          </a:solidFill>
          <a:ln/>
        </p:spPr>
      </p:sp>
      <p:sp>
        <p:nvSpPr>
          <p:cNvPr id="12" name="Shape 10"/>
          <p:cNvSpPr/>
          <p:nvPr/>
        </p:nvSpPr>
        <p:spPr>
          <a:xfrm flipH="1">
            <a:off x="10607040" y="4526280"/>
            <a:ext cx="-1280160" cy="-548640"/>
          </a:xfrm>
          <a:prstGeom prst="line">
            <a:avLst/>
          </a:prstGeom>
          <a:noFill/>
          <a:ln w="38100">
            <a:solidFill>
              <a:srgbClr val="9BC53D"/>
            </a:solidFill>
            <a:prstDash val="solid"/>
            <a:headEnd type="arrow"/>
          </a:ln>
        </p:spPr>
      </p:sp>
      <p:sp>
        <p:nvSpPr>
          <p:cNvPr id="13" name="Text 11"/>
          <p:cNvSpPr/>
          <p:nvPr/>
        </p:nvSpPr>
        <p:spPr>
          <a:xfrm>
            <a:off x="7132320" y="4572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gun → body of uterus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5074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Deposition site: body of the uterus (not the vagina, not deep in a horn).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INSEMINATION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FIXED-TIME AI (THE BUFFALO GAME-CHANGER)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Ovsynch → timed AI: breeding by the calendar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ovulation itself, and you can inseminate every animal at a set hour — </a:t>
            </a:r>
            <a:pPr indent="0" marL="0">
              <a:buNone/>
            </a:pPr>
            <a:r>
              <a:rPr lang="en-US" sz="15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heat detection at all.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097280" y="3200400"/>
            <a:ext cx="9966960" cy="0"/>
          </a:xfrm>
          <a:prstGeom prst="line">
            <a:avLst/>
          </a:prstGeom>
          <a:noFill/>
          <a:ln w="31750">
            <a:solidFill>
              <a:srgbClr val="C9C3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3054096"/>
            <a:ext cx="292608" cy="292608"/>
          </a:xfrm>
          <a:prstGeom prst="ellipse">
            <a:avLst/>
          </a:prstGeom>
          <a:solidFill>
            <a:srgbClr val="8E7BD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GnRH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4256" y="3054096"/>
            <a:ext cx="292608" cy="292608"/>
          </a:xfrm>
          <a:prstGeom prst="ellipse">
            <a:avLst/>
          </a:prstGeom>
          <a:solidFill>
            <a:srgbClr val="C65B6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PGF2α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03136" y="3054096"/>
            <a:ext cx="292608" cy="292608"/>
          </a:xfrm>
          <a:prstGeom prst="ellipse">
            <a:avLst/>
          </a:prstGeom>
          <a:solidFill>
            <a:srgbClr val="8E7BD0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GnRH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46336" y="3054096"/>
            <a:ext cx="292608" cy="292608"/>
          </a:xfrm>
          <a:prstGeom prst="ellipse">
            <a:avLst/>
          </a:prstGeom>
          <a:solidFill>
            <a:srgbClr val="9BC53D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5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16–20 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57200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4663440"/>
            <a:ext cx="73152" cy="1097280"/>
          </a:xfrm>
          <a:prstGeom prst="rect">
            <a:avLst/>
          </a:prstGeom>
          <a:solidFill>
            <a:srgbClr val="12857A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709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transforms buffalo breeding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&amp; seasonal heat no longer matters — the whole group is bred on schedule, lifting herd pregnancy rate.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217920" y="457200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4663440"/>
            <a:ext cx="73152" cy="109728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709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B48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progesterone (CIDR)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non-cycling / anestrus animals, a CIDR insert during the protocol jump-starts cyclicity.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INSEMINATION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TROUBLESHOOTING CONCEPTION RATE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“good” AI still fails — the checklist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331720"/>
            <a:ext cx="3502152" cy="1371600"/>
          </a:xfrm>
          <a:prstGeom prst="roundRect">
            <a:avLst>
              <a:gd name="adj" fmla="val 6667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51460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/ timing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89864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timing or missed silent heat — the #1 cause.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2331720"/>
            <a:ext cx="3502152" cy="1371600"/>
          </a:xfrm>
          <a:prstGeom prst="roundRect">
            <a:avLst>
              <a:gd name="adj" fmla="val 6667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251460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 handling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289864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thawing, cold shock, delay after loading.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36992" y="2331720"/>
            <a:ext cx="3502152" cy="1371600"/>
          </a:xfrm>
          <a:prstGeom prst="roundRect">
            <a:avLst>
              <a:gd name="adj" fmla="val 6667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65592" y="251460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skill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65592" y="289864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Deposition site &amp; gentleness — training pays back fast.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886200"/>
            <a:ext cx="3502152" cy="1371600"/>
          </a:xfrm>
          <a:prstGeom prst="roundRect">
            <a:avLst>
              <a:gd name="adj" fmla="val 6667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5528" y="40690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&amp; BCS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445312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or over-fat animals don't conceive — energy balance matters.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3886200"/>
            <a:ext cx="3502152" cy="1371600"/>
          </a:xfrm>
          <a:prstGeom prst="roundRect">
            <a:avLst>
              <a:gd name="adj" fmla="val 6667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40690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uterus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445312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placenta, metritis, lameness lower fertility.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36992" y="3886200"/>
            <a:ext cx="3502152" cy="1371600"/>
          </a:xfrm>
          <a:prstGeom prst="roundRect">
            <a:avLst>
              <a:gd name="adj" fmla="val 6667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65592" y="40690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stress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65592" y="445312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Shade, water &amp; cooling — critical for buffalo in the tropics.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Fertility is a system. </a:t>
            </a:r>
            <a:pPr algn="ctr" indent="0" marL="0">
              <a:buNone/>
            </a:pPr>
            <a:r>
              <a:rPr lang="en-US" sz="130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weakest link — measure, don't guess (that is what Part 5 is about).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INSEMINATION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3A3E6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3A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154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Embryo Transfer &amp; IVF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66928" y="44348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9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multiplies the sire, embryo transfer multiplies the ELITE FEMALE — turning one exceptional donor into a whole generation.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· 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embryo transfer (MOET &amp; IVF)?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cow normally gives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calf a year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With embryo technology, one elite donor can produce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calves a year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carried by ordinary recipient females.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E7BD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29260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 — superovulate the donor, AI, flush embryos ~day 7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584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E7BD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7008" y="358444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OPU–IVF — aspirate eggs from live donors, fertilize in the lab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42428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E7BD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7008" y="424281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fresh, or freeze / vitrify for later &amp; for export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52360" y="2103120"/>
            <a:ext cx="4160520" cy="3200400"/>
          </a:xfrm>
          <a:prstGeom prst="roundRect">
            <a:avLst>
              <a:gd name="adj" fmla="val 2857"/>
            </a:avLst>
          </a:prstGeom>
          <a:solidFill>
            <a:srgbClr val="F1EEFB"/>
          </a:solidFill>
          <a:ln w="12700">
            <a:solidFill>
              <a:srgbClr val="8E7BD0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0" y="2331720"/>
            <a:ext cx="2176272" cy="329184"/>
          </a:xfrm>
          <a:prstGeom prst="roundRect">
            <a:avLst>
              <a:gd name="adj" fmla="val 22222"/>
            </a:avLst>
          </a:prstGeom>
          <a:solidFill>
            <a:srgbClr val="C65B6B">
              <a:alpha val="14000"/>
            </a:srgbClr>
          </a:solidFill>
          <a:ln w="12700">
            <a:solidFill>
              <a:srgbClr val="C65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33172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🐃 For scarce elite buffalo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0" y="288036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river-buffalo females are rare &amp; valuable. ET/IVF is the fastest way to propagate them nationally — and to conserve endangered genetics.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680960" y="45262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E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buffalo superovulate less predictably than cattle — OPU–IVF is often the better route.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&amp; IVF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· MOET — DONOR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Superovulation &amp; donor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46888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7249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E7BD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sync donor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healthy, cycling elite female; synchronize the wave.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01568" y="246888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27249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E7BD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FSH stimulation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57600" y="3794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Decreasing FSH doses over ~4 days → many follicles grow at once.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246888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7249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E7BD0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PGF2α &amp; heat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92240" y="3794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Luteolysis → heat; multiple follicles ready to ovulate.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70848" y="246888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0" y="27249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E7BD0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Insemination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326880" y="3794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elite sire (often 2×) to fertilize many eggs.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yield: a handful of transferable embryos per flush in cattle — variable, and lower in buffalo.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&amp; IVF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· RECOVERY &amp;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Embryo recovery &amp; grading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2194560"/>
            <a:ext cx="5852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non-surgical flush — a catheter in the uterine horn, warm media collects the embryos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under the microscope; identify stage: morula → blastocyst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 (excellent) → 4 (degenerate) on shape, colour &amp; cell compactness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good embryos are transferred or frozen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0" y="228600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0" y="2395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0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Morula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75320" y="228600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75320" y="2395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⚪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75320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Blastocyst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966960" y="228600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966960" y="2395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966960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3520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3611880"/>
            <a:ext cx="73152" cy="1188720"/>
          </a:xfrm>
          <a:prstGeom prst="rect">
            <a:avLst/>
          </a:prstGeom>
          <a:solidFill>
            <a:srgbClr val="12857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6118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drives outcome
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Grade-1 fresh embryos give the best pregnancy rates; grade-1 &amp; 2 freeze well.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&amp; IVF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· OUR IN-VITRO PIPELINE (L&amp;H INSTITUTE)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OPU–IVF: making embryos in the laboratory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857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3856" y="2286000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 — ultrasound-guided egg aspiration from live donors (repeatable)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8529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857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3856" y="2852928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IVM — oocyte maturation in culture (~24 h)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4198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857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33856" y="3419856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 — fertilize with (sexed) semen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98678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857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3856" y="39867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IVC — culture ~7 days to blastocyst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5537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2857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4553712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fresh, or vitrify at −196 °C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5212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for buffalo: OPU sidesteps their poor superovulation response.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40880" y="2286000"/>
            <a:ext cx="4572000" cy="3017520"/>
          </a:xfrm>
          <a:prstGeom prst="roundRect">
            <a:avLst>
              <a:gd name="adj" fmla="val 2424"/>
            </a:avLst>
          </a:prstGeom>
          <a:solidFill>
            <a:srgbClr val="ECE7DA"/>
          </a:solidFill>
          <a:ln/>
          <a:effectLst>
            <a:outerShdw sx="100000" sy="100000" kx="0" ky="0" algn="bl" rotWithShape="0" blurRad="88900" dist="25400" dir="5400000">
              <a:srgbClr val="0B140F">
                <a:alpha val="20000"/>
              </a:srgbClr>
            </a:outerShdw>
          </a:effectLst>
        </p:spPr>
      </p:sp>
      <p:pic>
        <p:nvPicPr>
          <p:cNvPr id="21" name="Image 0" descr="/tmp/claude-0/-home-user-Dr-Ha--agent/6665ef24-eca8-582e-bc7a-8ce8fc2f76de/scratchpad/opt/embryo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59168" y="2304288"/>
            <a:ext cx="4535424" cy="298094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178040" y="2423160"/>
            <a:ext cx="2509114" cy="292608"/>
          </a:xfrm>
          <a:prstGeom prst="roundRect">
            <a:avLst>
              <a:gd name="adj" fmla="val 15625"/>
            </a:avLst>
          </a:prstGeom>
          <a:solidFill>
            <a:srgbClr val="0E1F18">
              <a:alpha val="86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178040" y="2423160"/>
            <a:ext cx="2509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6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IVF EMBRYOS — BLASTOCYST STAGE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&amp; IVF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· CHOOSING THE CALF'S SEX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Sexed semen &amp; sexed embryos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grow a dairy or breeding herd, you want females. Flow-sorted sexed semen (~90% female) and sexed IVF embryos let you plan the sex of the calf.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2834640"/>
            <a:ext cx="6583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herd expansion — more replacement heifers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heifers born to your best females via IVF</a:t>
            </a:r>
            <a:endParaRPr lang="en-US" sz="155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unwanted male calves in a dairy system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589520" y="21945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8F0EE"/>
          </a:solidFill>
          <a:ln/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0" y="23774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58952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calves with sexed semen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0" y="3611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18120" y="3794760"/>
            <a:ext cx="1321308" cy="329184"/>
          </a:xfrm>
          <a:prstGeom prst="roundRect">
            <a:avLst>
              <a:gd name="adj" fmla="val 22222"/>
            </a:avLst>
          </a:prstGeom>
          <a:solidFill>
            <a:srgbClr val="C65B6B">
              <a:alpha val="14000"/>
            </a:srgbClr>
          </a:solidFill>
          <a:ln w="12700">
            <a:solidFill>
              <a:srgbClr val="C65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3794760"/>
            <a:ext cx="1321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🐃 Buffalo dairy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8120" y="42976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Sexed genetics accelerates building a river-buffalo dairy herd from a limited elite base.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&amp; IVF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· RECIPIENT SIDE &amp; THE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frozen embryo to a live calf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240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F7D2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22402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 recipients — their cycle must match the embryo's age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788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F7D2E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27889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CL — transfer only to females with a good corpus luteum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337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F7D2E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33756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Thaw / warm the embryo &amp; load the transfer gun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886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F7D2E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38862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non-surgically into the uterine horn on the CL side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348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F7D2E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44348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check ~30 days by ultrasound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5074920"/>
            <a:ext cx="6400800" cy="868680"/>
          </a:xfrm>
          <a:prstGeom prst="roundRect">
            <a:avLst>
              <a:gd name="adj" fmla="val 10526"/>
            </a:avLst>
          </a:prstGeom>
          <a:solidFill>
            <a:srgbClr val="1B3227"/>
          </a:solidFill>
          <a:ln w="12700">
            <a:solidFill>
              <a:srgbClr val="9BC53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5528" y="51663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genetics, carried by an ordinary female —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a nation upgrades a herd in years, not decades.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223760" y="2194560"/>
            <a:ext cx="4389120" cy="3749040"/>
          </a:xfrm>
          <a:prstGeom prst="roundRect">
            <a:avLst>
              <a:gd name="adj" fmla="val 1951"/>
            </a:avLst>
          </a:prstGeom>
          <a:solidFill>
            <a:srgbClr val="ECE7DA"/>
          </a:solidFill>
          <a:ln/>
          <a:effectLst>
            <a:outerShdw sx="100000" sy="100000" kx="0" ky="0" algn="bl" rotWithShape="0" blurRad="88900" dist="25400" dir="5400000">
              <a:srgbClr val="0B140F">
                <a:alpha val="20000"/>
              </a:srgbClr>
            </a:outerShdw>
          </a:effectLst>
        </p:spPr>
      </p:sp>
      <p:pic>
        <p:nvPicPr>
          <p:cNvPr id="22" name="Image 0" descr="/tmp/claude-0/-home-user-Dr-Ha--agent/6665ef24-eca8-582e-bc7a-8ce8fc2f76de/scratchpad/opt/cal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42048" y="2212848"/>
            <a:ext cx="4352544" cy="371246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360920" y="2331720"/>
            <a:ext cx="2231136" cy="292608"/>
          </a:xfrm>
          <a:prstGeom prst="roundRect">
            <a:avLst>
              <a:gd name="adj" fmla="val 15625"/>
            </a:avLst>
          </a:prstGeom>
          <a:solidFill>
            <a:srgbClr val="0E1F18">
              <a:alpha val="86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360920" y="233172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6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CALF BORN FROM EMBRYO TRANSFER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 &amp; IVF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9BC53D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3154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Farming for Reproduction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66928" y="44348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9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and data turn reproduction from guesswork into measurement — and directly solve the buffalo SILENT-HEAT problem.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23444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ECE7DA"/>
          </a:solidFill>
          <a:ln/>
          <a:effectLst>
            <a:outerShdw sx="100000" sy="100000" kx="0" ky="0" algn="bl" rotWithShape="0" blurRad="88900" dist="25400" dir="5400000">
              <a:srgbClr val="0B140F">
                <a:alpha val="20000"/>
              </a:srgbClr>
            </a:outerShdw>
          </a:effectLst>
        </p:spPr>
      </p:sp>
      <p:pic>
        <p:nvPicPr>
          <p:cNvPr id="3" name="Image 0" descr="/tmp/claude-0/-home-user-Dr-Ha--agent/6665ef24-eca8-582e-bc7a-8ce8fc2f76de/scratchpad/opt/smaxte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" y="1252728"/>
            <a:ext cx="3163824" cy="43525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04088" y="1371600"/>
            <a:ext cx="2717597" cy="292608"/>
          </a:xfrm>
          <a:prstGeom prst="roundRect">
            <a:avLst>
              <a:gd name="adj" fmla="val 15625"/>
            </a:avLst>
          </a:prstGeom>
          <a:solidFill>
            <a:srgbClr val="0E1F18">
              <a:alpha val="86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04088" y="1371600"/>
            <a:ext cx="27175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6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RUMEN BOLUS SENSOR, INSIDE THE ANIMAL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069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 · SENSOR-BASED DETECTION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69080" y="932688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sensor that never sleeps — so it catches silent heat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4069080" y="2286000"/>
            <a:ext cx="7543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7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rumen bolus continuously measures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body temperature (±0.01 °C)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7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rumination &amp; activity — reading estrus and health from inside the animal, 24 hours a day.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069080" y="342900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70248" y="3566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Heat alerts, day or night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70248" y="39319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+ temperature flag estrus even when signs are invisible — the buffalo breakthrough.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45552" y="342900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46720" y="3566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Insemination window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39319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the ideal AI hour per animal — precision timing.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069080" y="4736592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270248" y="48737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🐄 Calving prediction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270248" y="523951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~15–30 h before calving — fewer losses.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845552" y="4736592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046720" y="48737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 Early illness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046720" y="523951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&amp; metritis flagged days early — protects fertility.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FOR REPRODUCTION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 · DATA &amp; DECISION SUPPORT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alerts to action — the reproduction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194560"/>
            <a:ext cx="5486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heat &amp; AI work-lists each morning</a:t>
            </a:r>
            <a:endParaRPr lang="en-US" sz="15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scheduling — Ovsynch / CIDR steps flagged on the right day</a:t>
            </a:r>
            <a:endParaRPr lang="en-US" sz="15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&amp; open-day tracking per animal &amp; per group</a:t>
            </a:r>
            <a:endParaRPr lang="en-US" sz="1500" dirty="0"/>
          </a:p>
          <a:p>
            <a:pPr marL="190500" indent="-1905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 KPIs trend over time — decisions from data, not memory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210312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Heat-detection rate — visual vs sensor-assisted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675120" y="2697480"/>
          <a:ext cx="46634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sensors recover heats that eyes miss, especially at night. Higher detection → higher pregnancy rate.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FOR REPRODUCTION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 · THE INTEGRATED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reproduction: three tools, one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24688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heat, health &amp; calving — the eyes on every animal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92040" y="24688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💉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9204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AI / 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7492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 on schedule with elite, sexed genetics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24688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🧬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95528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A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3816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B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best animals to breed from — compound the gain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1772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A79A"/>
                </a:solidFill>
              </a:rPr>
              <a:t>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8096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A79A"/>
                </a:solidFill>
              </a:rPr>
              <a:t>+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66928" y="47091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A2E17"/>
          </a:solidFill>
          <a:ln w="12700">
            <a:solidFill>
              <a:srgbClr val="9BC53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" y="48280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carabao program: </a:t>
            </a:r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solve silent heat → timed-AI &amp; ET spread superior genetics → genomics picks the next donors. A national herd, upgraded on data.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FOR REPRODUCTION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2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 · MEASURE WHAT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6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reproduction KPIs to manage by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468880"/>
            <a:ext cx="26151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69748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33375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rate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04088" y="373075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pregnant per AI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46704" y="2468880"/>
            <a:ext cx="26151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46704" y="269748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S/C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38144" y="33375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/ conception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83864" y="373075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 (≈1.5–2)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468880"/>
            <a:ext cx="26151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69748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33375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Calving interval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63640" y="373075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~12–14 mo (longer in buffalo)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06256" y="2468880"/>
            <a:ext cx="26151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0D2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06256" y="269748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997696" y="33375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rate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043416" y="373075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× conception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improve what you do not measure. Track these per animal, per group, per season — and act on the trend.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 FOR REPRODUCTION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5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TAKE THESE HOME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to remember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37744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334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7D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is the engine of genetic gain — master it and you upgrade the whole herd.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98064" y="237744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54096" y="26334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857A"/>
          </a:solidFill>
          <a:ln/>
        </p:spPr>
      </p:sp>
      <p:sp>
        <p:nvSpPr>
          <p:cNvPr id="10" name="Text 8"/>
          <p:cNvSpPr/>
          <p:nvPr/>
        </p:nvSpPr>
        <p:spPr>
          <a:xfrm>
            <a:off x="3054096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54096" y="329184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heat is the #1 failure. For buffalo, plan for silent &amp; seasonal heat.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237744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85232" y="26334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A6B3A"/>
          </a:solidFill>
          <a:ln/>
        </p:spPr>
      </p:sp>
      <p:sp>
        <p:nvSpPr>
          <p:cNvPr id="14" name="Text 12"/>
          <p:cNvSpPr/>
          <p:nvPr/>
        </p:nvSpPr>
        <p:spPr>
          <a:xfrm>
            <a:off x="5285232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85232" y="329184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AI &amp; synchronization beat the silent-heat problem — breed by the calendar.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60336" y="237744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16368" y="26334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E7BD0"/>
          </a:solidFill>
          <a:ln/>
        </p:spPr>
      </p:sp>
      <p:sp>
        <p:nvSpPr>
          <p:cNvPr id="18" name="Text 16"/>
          <p:cNvSpPr/>
          <p:nvPr/>
        </p:nvSpPr>
        <p:spPr>
          <a:xfrm>
            <a:off x="7516368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16368" y="329184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&amp; IVF multiply elite females — the fast track for scarce buffalo genetics.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491472" y="237744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47504" y="26334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65B6B"/>
          </a:solidFill>
          <a:ln/>
        </p:spPr>
      </p:sp>
      <p:sp>
        <p:nvSpPr>
          <p:cNvPr id="22" name="Text 20"/>
          <p:cNvSpPr/>
          <p:nvPr/>
        </p:nvSpPr>
        <p:spPr>
          <a:xfrm>
            <a:off x="9747504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47504" y="329184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C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data make it precise, repeatable &amp; scalable nationwide.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5166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order for a farm: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heat well → synchronize → AI on time → measure → add ET &amp; sensors.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1920240"/>
            <a:ext cx="914400" cy="0"/>
          </a:xfrm>
          <a:prstGeom prst="line">
            <a:avLst/>
          </a:prstGeom>
          <a:noFill/>
          <a:ln w="38100">
            <a:solidFill>
              <a:srgbClr val="31B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488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</a:t>
            </a:r>
            <a:pPr algn="ctr" indent="0" marL="0">
              <a:buNone/>
            </a:pPr>
            <a:r>
              <a:rPr lang="en-US" sz="4600" b="1" dirty="0">
                <a:solidFill>
                  <a:srgbClr val="31B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Salamat po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194560" y="3108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C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discussion &amp; hands-on sessions welcome. I look forward to supporting the carabao improvement mission through reproduction &amp; smart-farm technology.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3346704" y="411480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1B3227"/>
          </a:solidFill>
          <a:ln w="12700">
            <a:solidFill>
              <a:srgbClr val="24382D"/>
            </a:solidFill>
            <a:prstDash val="solid"/>
          </a:ln>
          <a:effectLst>
            <a:outerShdw sx="100000" sy="100000" kx="0" ky="0" algn="bl" rotWithShape="0" blurRad="76200" dist="25400" dir="5400000">
              <a:srgbClr val="0B140F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46704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Hyunjae Ha, DVM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46704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3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Goryeo VET Clinic · L&amp;H Institute of Biotechnology · Genetics Co.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46704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3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Young Shin Farm · Republic of Korea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5577840"/>
            <a:ext cx="435254" cy="365760"/>
          </a:xfrm>
          <a:prstGeom prst="roundRect">
            <a:avLst>
              <a:gd name="adj" fmla="val 50000"/>
            </a:avLst>
          </a:prstGeom>
          <a:ln w="19050">
            <a:solidFill>
              <a:srgbClr val="31B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5577840"/>
            <a:ext cx="4352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26510" y="5577840"/>
            <a:ext cx="1481328" cy="365760"/>
          </a:xfrm>
          <a:prstGeom prst="roundRect">
            <a:avLst>
              <a:gd name="adj" fmla="val 50000"/>
            </a:avLst>
          </a:prstGeom>
          <a:ln w="19050">
            <a:solidFill>
              <a:srgbClr val="31B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6510" y="55778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Transfer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35854" y="5577840"/>
            <a:ext cx="998525" cy="365760"/>
          </a:xfrm>
          <a:prstGeom prst="roundRect">
            <a:avLst>
              <a:gd name="adj" fmla="val 50000"/>
            </a:avLst>
          </a:prstGeom>
          <a:ln w="19050">
            <a:solidFill>
              <a:srgbClr val="31B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5854" y="5577840"/>
            <a:ext cx="9985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 / OPU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62395" y="5577840"/>
            <a:ext cx="918058" cy="365760"/>
          </a:xfrm>
          <a:prstGeom prst="roundRect">
            <a:avLst>
              <a:gd name="adj" fmla="val 50000"/>
            </a:avLst>
          </a:prstGeom>
          <a:ln w="19050">
            <a:solidFill>
              <a:srgbClr val="31B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2395" y="5577840"/>
            <a:ext cx="91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08469" y="5577840"/>
            <a:ext cx="1078992" cy="365760"/>
          </a:xfrm>
          <a:prstGeom prst="roundRect">
            <a:avLst>
              <a:gd name="adj" fmla="val 50000"/>
            </a:avLst>
          </a:prstGeom>
          <a:ln w="19050">
            <a:solidFill>
              <a:srgbClr val="31B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8469" y="557784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1B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04869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2026-07-24T00:52:40Z</dcterms:created>
  <dcterms:modified xsi:type="dcterms:W3CDTF">2026-07-24T00:52:40Z</dcterms:modified>
</cp:coreProperties>
</file>
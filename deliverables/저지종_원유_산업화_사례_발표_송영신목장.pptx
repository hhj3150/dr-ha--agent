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송영신목장 원장이자 수의사인 하현제입니다. 오늘 저지종 젖소 산업 활성화를 위한 뜻깊은 자리에 발표자로 함께하게 되어 진심으로 감사드립니다. 저는 오늘 '저지종 원유를 어떻게 하나의 산업으로 만들 것인가', 즉 제품 생산부터 마케팅까지 저희 송영신목장이 걸어온 산업화 사례를 20분 동안 공유드리겠습니다.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간단히 소개드리겠습니다. 저는 수의사이자 축산 바이오테크와 환경기술을 함께 다루며, 유전자에서 사양·환경·데이터·식품·탄소까지 이어지는 통합 농축산 생태계를 설계해 왔습니다. 송영신목장은 단순히 우유를 생산하는 목장이 아니라, 저지 원유의 생산·가공·브랜드·판매를 하나로 잇는 6차산업 목장입니다. 자연 조사료인 건초 중심 사양에 A2 유전형을 더했고, D2O 순환농업으로 분뇨를 다시 흙으로 되돌립니다. 이 모든 것이 저희 그룹의 Genetics 수정란 사업, 한국동물병원, D2O 환경기술과 유기적으로 연결되어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크게 여섯 부분으로 말씀드리겠습니다. 왜 저지종인가, 순환농업 기반, 산업화 전략, 제품과 제조공정, 브랜드와 마케팅, 그리고 마지막으로 저지종 산업 활성화를 위한 제언 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왜 저지종인가입니다. 저지 원유의 가장 큰 강점은 유지방과 유단백이 풍부한 높은 유고형분입니다. 이 덕분에 요거트, 카이막, 치즈 같은 가공에 적성이 매우 뛰어납니다. 황금빛의 진하고 크리미한 풍미도 소비자에게 즉각적인 차별성을 줍니다. 여기에 A2A2 유전형을 확보하면 A2 우유로 프리미엄 포지셔닝이 가능합니다. 다만 현실적인 문제의식도 분명합니다. 저지는 홀스타인보다 산유량이 적고 원유 원가가 높습니다. 그래서 원유를 그대로 파는 방식으로는 수익성에 한계가 있습니다. 결론은 명확합니다. 저지는 대량·저가 경쟁이 아니라, 가공과 브랜드를 통한 산업화로 승부해야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산업화의 출발점은 순환농업입니다. 건강한 흙에서 건강한 풀, 건강한 소, 좋은 우유, 그리고 건강한 사람으로 이어지는 Soil to Soul 철학입니다. 건초 중심 사양으로 원유의 자연성과 풍미를 확보하고, D2O 순환농업으로 분뇨를 베딩과 힐링퇴비로 만들어 토양으로 되돌립니다. 이 저탄소·동물복지 스토리는 단순한 구호가 아니라 프리미엄 가격을 정당화하는 실질적인 근거가 됩니다. 즉 품질과 브랜드 서사를 동시에 확보하는 구조입니다.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저희의 산업화 전략은 원유를 파는 것이 아니라 가치사슬 전체를 설계하는 것입니다. 생산에서 가공, 브랜드, 채널, 그리고 6차산업까지 다섯 단계를 하나로 연결합니다. 핵심은 소량·고품질이라는 저지의 특성을 약점이 아니라 프리미엄의 무기로 바꾸는 것입니다. 이렇게 하면 원유 1리터의 부가가치를 몇 배로 끌어올릴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제품 라인업입니다. 플래그십은 A2 저지 건초우유로, 브랜드의 얼굴 역할을 합니다. 높은 고형분을 살린 A2 요거트와 그릭요거트는 되직하고 진한 식감이 특징입니다. 특히 카이막은 저지의 고유고형분을 그대로 살린 고급 유크림 별미로, 저지가 아니면 만들기 어려운 차별화 제품입니다. 여기에 밀크티와 아이스크림으로 일상과 디저트 접점을 넓혀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품질은 표준화된 공정으로 관리합니다. 원유는 균질화와 75도 20초 저온 살균, 냉각, 충전, 포장을 거치며, 판형 열교환기와 APV 균질기를 사용해 신선도와 풍미를 유지합니다. 영양성분을 보시면 100밀리리터 기준 열량 92.64킬로칼로리에 단백질 4.59그램, 유지방 6.0그램으로, 높은 단백질과 유지방이 저지 원유의 강점을 그대로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브랜드는 A2 Jersey Hay Milk입니다. 핵심 메시지는 흙에서 영혼까지, Soil to Soul입니다. A2 단백질, 건초우유, 저탄소 순환농업이라는 세 가지 자산을 프리미엄·자연·동물복지 서사로 엮었습니다. 표시·광고에서는 의학적 치료 표현을 배제하고 검증된 시험값만 사용해 소비자 신뢰를 지킵니다.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마케팅과 판매는 자사몰 중심의 D2C 구조입니다. shop.a2jerseymilk.com은 단순한 판매 페이지가 아니라 브랜드 공식 플랫폼이자 모든 판매의 중심입니다. 소량·프리미엄 저지 원유에는 자사몰과 정기구독이 가장 잘 맞습니다. 정기구독으로 재구매를 극대화하고, 첫 1,000 고객을 확보해 객단가와 재구매율을 높입니다. 팜스토리 콘텐츠와 카카오채널 CRM으로 팬덤을 만들고, 카페·베이커리·프리미엄 식품관 같은 B2B로 채널을 넓힙니다. 브랜드와 고객 데이터를 직접 보유한다는 점이 D2C의 가장 큰 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여기에 6차산업화를 더합니다. 목장형 카페, 팜투어, 체험 프로그램으로 생산 현장 자체를 브랜드 경험 공간으로 만듭니다. 그동안 배운 교훈을 정리하면, 첫째 저지 원유의 가공적성이 제품 다각화의 핵심 동력이었고, 둘째 자사몰과 구독이 소량 프리미엄에 가장 맞는 채널이었으며, 셋째 순환농업 서사가 가격 프리미엄을 정당화했습니다. 물론 초기에는 소량 생산의 규모, 물류, 콜드체인 관리가 과제였습니다. 성과 수치는 아직 파일럿과 목표 기준임을 함께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저지종 산업 활성화를 위한 다섯 가지 제언을 드리겠습니다. 첫째, 저지 A2A2 개량과 유전능력평가를 연계해야 합니다. 이는 오늘 함께하신 축산원과 경기도의 사업과 바로 연결됩니다. 둘째, 소규모 유가공과 가공적성 활용을 지원하는 산업화 인프라가 필요합니다. 셋째, D2C 자사몰과 정기구독, 6차산업 판로를 지원해야 합니다. 넷째, 순환농업·저탄소·동물복지 인증과 연계한 저지 프리미엄 표준을 만들어야 합니다. 다섯째, 산·학·연·관 협력 클러스터로 지식과 판로를 함께 나눠야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마무리하겠습니다. 저지종의 미래는 많이가 아니라 다르게에 있습니다. 소량·고품질을 가공과 브랜드, D2C로 산업화하는 것, 그리고 송영신목장이 그 실증 사례가 되고자 합니다. 오늘 이 자리가 저지종 산업이 함께 도약하는 계기가 되기를 바랍니다. 경청해 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A28"/>
        </a:solidFill>
      </p:bgPr>
    </p:bg>
    <p:spTree>
      <p:nvGrpSpPr>
        <p:cNvPr id="1" name=""/>
        <p:cNvGrpSpPr/>
        <p:nvPr/>
      </p:nvGrpSpPr>
      <p:grpSpPr>
        <a:xfrm>
          <a:off x="0" y="0"/>
          <a:ext cx="0" cy="0"/>
          <a:chOff x="0" y="0"/>
          <a:chExt cx="0" cy="0"/>
        </a:xfrm>
      </p:grpSpPr>
      <p:sp>
        <p:nvSpPr>
          <p:cNvPr id="2" name="Shape 0"/>
          <p:cNvSpPr/>
          <p:nvPr/>
        </p:nvSpPr>
        <p:spPr>
          <a:xfrm>
            <a:off x="8778240" y="-2194560"/>
            <a:ext cx="5669280" cy="5669280"/>
          </a:xfrm>
          <a:prstGeom prst="ellipse">
            <a:avLst/>
          </a:prstGeom>
          <a:solidFill>
            <a:srgbClr val="2C6E49"/>
          </a:solidFill>
          <a:ln/>
        </p:spPr>
      </p:sp>
      <p:sp>
        <p:nvSpPr>
          <p:cNvPr id="3" name="Shape 1"/>
          <p:cNvSpPr/>
          <p:nvPr/>
        </p:nvSpPr>
        <p:spPr>
          <a:xfrm>
            <a:off x="10332720" y="-1005840"/>
            <a:ext cx="2926080" cy="2926080"/>
          </a:xfrm>
          <a:prstGeom prst="ellipse">
            <a:avLst/>
          </a:prstGeom>
          <a:solidFill>
            <a:srgbClr val="C79A3A"/>
          </a:solidFill>
          <a:ln/>
        </p:spPr>
      </p:sp>
      <p:sp>
        <p:nvSpPr>
          <p:cNvPr id="4" name="Text 2"/>
          <p:cNvSpPr/>
          <p:nvPr/>
        </p:nvSpPr>
        <p:spPr>
          <a:xfrm>
            <a:off x="685800" y="1051560"/>
            <a:ext cx="8229600" cy="365760"/>
          </a:xfrm>
          <a:prstGeom prst="rect">
            <a:avLst/>
          </a:prstGeom>
          <a:noFill/>
          <a:ln/>
        </p:spPr>
        <p:txBody>
          <a:bodyPr wrap="square" lIns="0" tIns="0" rIns="0" bIns="0" rtlCol="0" anchor="ctr"/>
          <a:lstStyle/>
          <a:p>
            <a:pPr indent="0" marL="0">
              <a:buNone/>
            </a:pPr>
            <a:r>
              <a:rPr lang="en-US" sz="1400" b="1" spc="100" kern="0" dirty="0">
                <a:solidFill>
                  <a:srgbClr val="C79A3A"/>
                </a:solidFill>
                <a:latin typeface="Malgun Gothic" pitchFamily="34" charset="0"/>
                <a:ea typeface="Malgun Gothic" pitchFamily="34" charset="-122"/>
                <a:cs typeface="Malgun Gothic" pitchFamily="34" charset="-120"/>
              </a:rPr>
              <a:t>저지종 젖소 산업 활성화를 위한 국제 심포지엄</a:t>
            </a:r>
            <a:endParaRPr lang="en-US" sz="1400" dirty="0"/>
          </a:p>
        </p:txBody>
      </p:sp>
      <p:sp>
        <p:nvSpPr>
          <p:cNvPr id="5" name="Text 3"/>
          <p:cNvSpPr/>
          <p:nvPr/>
        </p:nvSpPr>
        <p:spPr>
          <a:xfrm>
            <a:off x="658368" y="1965960"/>
            <a:ext cx="10515600" cy="1005840"/>
          </a:xfrm>
          <a:prstGeom prst="rect">
            <a:avLst/>
          </a:prstGeom>
          <a:noFill/>
          <a:ln/>
        </p:spPr>
        <p:txBody>
          <a:bodyPr wrap="square" lIns="0" tIns="0" rIns="0" bIns="0" rtlCol="0" anchor="ctr"/>
          <a:lstStyle/>
          <a:p>
            <a:pPr indent="0" marL="0">
              <a:buNone/>
            </a:pPr>
            <a:r>
              <a:rPr lang="en-US" sz="5200" b="1" dirty="0">
                <a:solidFill>
                  <a:srgbClr val="FFFFFF"/>
                </a:solidFill>
                <a:latin typeface="Malgun Gothic" pitchFamily="34" charset="0"/>
                <a:ea typeface="Malgun Gothic" pitchFamily="34" charset="-122"/>
                <a:cs typeface="Malgun Gothic" pitchFamily="34" charset="-120"/>
              </a:rPr>
              <a:t>저지종 원유 활용 산업화 사례</a:t>
            </a:r>
            <a:endParaRPr lang="en-US" sz="5200" dirty="0"/>
          </a:p>
        </p:txBody>
      </p:sp>
      <p:sp>
        <p:nvSpPr>
          <p:cNvPr id="6" name="Text 4"/>
          <p:cNvSpPr/>
          <p:nvPr/>
        </p:nvSpPr>
        <p:spPr>
          <a:xfrm>
            <a:off x="685800" y="3063240"/>
            <a:ext cx="10058400" cy="548640"/>
          </a:xfrm>
          <a:prstGeom prst="rect">
            <a:avLst/>
          </a:prstGeom>
          <a:noFill/>
          <a:ln/>
        </p:spPr>
        <p:txBody>
          <a:bodyPr wrap="square" lIns="0" tIns="0" rIns="0" bIns="0" rtlCol="0" anchor="ctr"/>
          <a:lstStyle/>
          <a:p>
            <a:pPr indent="0" marL="0">
              <a:buNone/>
            </a:pPr>
            <a:r>
              <a:rPr lang="en-US" sz="2200" dirty="0">
                <a:solidFill>
                  <a:srgbClr val="F3EFE4"/>
                </a:solidFill>
                <a:latin typeface="Malgun Gothic" pitchFamily="34" charset="0"/>
                <a:ea typeface="Malgun Gothic" pitchFamily="34" charset="-122"/>
                <a:cs typeface="Malgun Gothic" pitchFamily="34" charset="-120"/>
              </a:rPr>
              <a:t>제품 생산에서 마케팅까지 — 송영신목장 A2 저지 건초우유</a:t>
            </a:r>
            <a:endParaRPr lang="en-US" sz="2200" dirty="0"/>
          </a:p>
        </p:txBody>
      </p:sp>
      <p:sp>
        <p:nvSpPr>
          <p:cNvPr id="7" name="Shape 5"/>
          <p:cNvSpPr/>
          <p:nvPr/>
        </p:nvSpPr>
        <p:spPr>
          <a:xfrm>
            <a:off x="685800" y="4892040"/>
            <a:ext cx="5394960" cy="1051560"/>
          </a:xfrm>
          <a:prstGeom prst="roundRect">
            <a:avLst>
              <a:gd name="adj" fmla="val 8696"/>
            </a:avLst>
          </a:prstGeom>
          <a:solidFill>
            <a:srgbClr val="2C6E49"/>
          </a:solidFill>
          <a:ln/>
        </p:spPr>
      </p:sp>
      <p:sp>
        <p:nvSpPr>
          <p:cNvPr id="8" name="Text 6"/>
          <p:cNvSpPr/>
          <p:nvPr/>
        </p:nvSpPr>
        <p:spPr>
          <a:xfrm>
            <a:off x="914400" y="5029200"/>
            <a:ext cx="4937760" cy="365760"/>
          </a:xfrm>
          <a:prstGeom prst="rect">
            <a:avLst/>
          </a:prstGeom>
          <a:noFill/>
          <a:ln/>
        </p:spPr>
        <p:txBody>
          <a:bodyPr wrap="square" lIns="0" tIns="0" rIns="0" bIns="0" rtlCol="0" anchor="ctr"/>
          <a:lstStyle/>
          <a:p>
            <a:pPr algn="l" indent="0" marL="0">
              <a:buNone/>
            </a:pPr>
            <a:r>
              <a:rPr lang="en-US" sz="1800" b="1" dirty="0">
                <a:solidFill>
                  <a:srgbClr val="C79A3A"/>
                </a:solidFill>
                <a:latin typeface="Malgun Gothic" pitchFamily="34" charset="0"/>
                <a:ea typeface="Malgun Gothic" pitchFamily="34" charset="-122"/>
                <a:cs typeface="Malgun Gothic" pitchFamily="34" charset="-120"/>
              </a:rPr>
              <a:t>발표  </a:t>
            </a:r>
            <a:pPr algn="l" indent="0" marL="0">
              <a:buNone/>
            </a:pPr>
            <a:r>
              <a:rPr lang="en-US" sz="1800" b="1" dirty="0">
                <a:solidFill>
                  <a:srgbClr val="FFFFFF"/>
                </a:solidFill>
                <a:latin typeface="Malgun Gothic" pitchFamily="34" charset="0"/>
                <a:ea typeface="Malgun Gothic" pitchFamily="34" charset="-122"/>
                <a:cs typeface="Malgun Gothic" pitchFamily="34" charset="-120"/>
              </a:rPr>
              <a:t>송영신목장 하현제 원장</a:t>
            </a:r>
            <a:endParaRPr lang="en-US" sz="1800" dirty="0"/>
          </a:p>
        </p:txBody>
      </p:sp>
      <p:sp>
        <p:nvSpPr>
          <p:cNvPr id="9" name="Text 7"/>
          <p:cNvSpPr/>
          <p:nvPr/>
        </p:nvSpPr>
        <p:spPr>
          <a:xfrm>
            <a:off x="914400" y="5440680"/>
            <a:ext cx="5029200" cy="365760"/>
          </a:xfrm>
          <a:prstGeom prst="rect">
            <a:avLst/>
          </a:prstGeom>
          <a:noFill/>
          <a:ln/>
        </p:spPr>
        <p:txBody>
          <a:bodyPr wrap="square" lIns="0" tIns="0" rIns="0" bIns="0" rtlCol="0" anchor="ctr"/>
          <a:lstStyle/>
          <a:p>
            <a:pPr indent="0" marL="0">
              <a:buNone/>
            </a:pPr>
            <a:r>
              <a:rPr lang="en-US" sz="1200" dirty="0">
                <a:solidFill>
                  <a:srgbClr val="F3EFE4"/>
                </a:solidFill>
                <a:latin typeface="Malgun Gothic" pitchFamily="34" charset="0"/>
                <a:ea typeface="Malgun Gothic" pitchFamily="34" charset="-122"/>
                <a:cs typeface="Malgun Gothic" pitchFamily="34" charset="-120"/>
              </a:rPr>
              <a:t>수의사 · 축산 바이오테크 · 환경기술 · 순환농업 시스템 설계</a:t>
            </a:r>
            <a:endParaRPr lang="en-US" sz="1200" dirty="0"/>
          </a:p>
        </p:txBody>
      </p:sp>
      <p:sp>
        <p:nvSpPr>
          <p:cNvPr id="10" name="Text 8"/>
          <p:cNvSpPr/>
          <p:nvPr/>
        </p:nvSpPr>
        <p:spPr>
          <a:xfrm>
            <a:off x="6492240" y="5440680"/>
            <a:ext cx="4937760" cy="365760"/>
          </a:xfrm>
          <a:prstGeom prst="rect">
            <a:avLst/>
          </a:prstGeom>
          <a:noFill/>
          <a:ln/>
        </p:spPr>
        <p:txBody>
          <a:bodyPr wrap="square" lIns="0" tIns="0" rIns="0" bIns="0" rtlCol="0" anchor="ctr"/>
          <a:lstStyle/>
          <a:p>
            <a:pPr algn="r" indent="0" marL="0">
              <a:buNone/>
            </a:pPr>
            <a:r>
              <a:rPr lang="en-US" sz="1300" dirty="0">
                <a:solidFill>
                  <a:srgbClr val="C79A3A"/>
                </a:solidFill>
                <a:latin typeface="Malgun Gothic" pitchFamily="34" charset="0"/>
                <a:ea typeface="Malgun Gothic" pitchFamily="34" charset="-122"/>
                <a:cs typeface="Malgun Gothic" pitchFamily="34" charset="-120"/>
              </a:rPr>
              <a:t>2026. 8. 26 (수)  ·  평택 골든하버호텔</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lIns="0" tIns="0" rIns="0" bIns="0" rtlCol="0" anchor="ctr"/>
          <a:lstStyle/>
          <a:p>
            <a:pPr indent="0" marL="0">
              <a:buNone/>
            </a:pPr>
            <a:r>
              <a:rPr lang="en-US" sz="1200" b="1" spc="200" kern="0" dirty="0">
                <a:solidFill>
                  <a:srgbClr val="C79A3A"/>
                </a:solidFill>
                <a:latin typeface="Malgun Gothic" pitchFamily="34" charset="0"/>
                <a:ea typeface="Malgun Gothic" pitchFamily="34" charset="-122"/>
                <a:cs typeface="Malgun Gothic" pitchFamily="34" charset="-120"/>
              </a:rPr>
              <a:t>발표자 · 목장 소개</a:t>
            </a:r>
            <a:endParaRPr lang="en-US" sz="1200" dirty="0"/>
          </a:p>
        </p:txBody>
      </p:sp>
      <p:sp>
        <p:nvSpPr>
          <p:cNvPr id="3" name="Text 1"/>
          <p:cNvSpPr/>
          <p:nvPr/>
        </p:nvSpPr>
        <p:spPr>
          <a:xfrm>
            <a:off x="530352" y="749808"/>
            <a:ext cx="11064240" cy="685800"/>
          </a:xfrm>
          <a:prstGeom prst="rect">
            <a:avLst/>
          </a:prstGeom>
          <a:noFill/>
          <a:ln/>
        </p:spPr>
        <p:txBody>
          <a:bodyPr wrap="square" lIns="0" tIns="0" rIns="0" bIns="0" rtlCol="0" anchor="ctr"/>
          <a:lstStyle/>
          <a:p>
            <a:pPr indent="0" marL="0">
              <a:buNone/>
            </a:pPr>
            <a:r>
              <a:rPr lang="en-US" sz="3100" b="1" dirty="0">
                <a:solidFill>
                  <a:srgbClr val="173A28"/>
                </a:solidFill>
                <a:latin typeface="Malgun Gothic" pitchFamily="34" charset="0"/>
                <a:ea typeface="Malgun Gothic" pitchFamily="34" charset="-122"/>
                <a:cs typeface="Malgun Gothic" pitchFamily="34" charset="-120"/>
              </a:rPr>
              <a:t>건강한 흙에서 소비자까지, 저지 원유를 산업화하다</a:t>
            </a:r>
            <a:endParaRPr lang="en-US" sz="3100" dirty="0"/>
          </a:p>
        </p:txBody>
      </p:sp>
      <p:sp>
        <p:nvSpPr>
          <p:cNvPr id="4" name="Shape 2"/>
          <p:cNvSpPr/>
          <p:nvPr/>
        </p:nvSpPr>
        <p:spPr>
          <a:xfrm>
            <a:off x="548640" y="1600200"/>
            <a:ext cx="4846320" cy="4480560"/>
          </a:xfrm>
          <a:prstGeom prst="roundRect">
            <a:avLst>
              <a:gd name="adj" fmla="val 2449"/>
            </a:avLst>
          </a:prstGeom>
          <a:solidFill>
            <a:srgbClr val="173A28"/>
          </a:solidFill>
          <a:ln/>
        </p:spPr>
      </p:sp>
      <p:sp>
        <p:nvSpPr>
          <p:cNvPr id="5" name="Shape 3"/>
          <p:cNvSpPr/>
          <p:nvPr/>
        </p:nvSpPr>
        <p:spPr>
          <a:xfrm>
            <a:off x="2514600" y="1965960"/>
            <a:ext cx="914400" cy="914400"/>
          </a:xfrm>
          <a:prstGeom prst="ellipse">
            <a:avLst/>
          </a:prstGeom>
          <a:solidFill>
            <a:srgbClr val="C79A3A"/>
          </a:solidFill>
          <a:ln/>
        </p:spPr>
      </p:sp>
      <p:sp>
        <p:nvSpPr>
          <p:cNvPr id="6" name="Text 4"/>
          <p:cNvSpPr/>
          <p:nvPr/>
        </p:nvSpPr>
        <p:spPr>
          <a:xfrm>
            <a:off x="2514600" y="1965960"/>
            <a:ext cx="914400" cy="914400"/>
          </a:xfrm>
          <a:prstGeom prst="rect">
            <a:avLst/>
          </a:prstGeom>
          <a:noFill/>
          <a:ln/>
        </p:spPr>
        <p:txBody>
          <a:bodyPr wrap="square" rtlCol="0" anchor="ctr"/>
          <a:lstStyle/>
          <a:p>
            <a:pPr algn="ctr" indent="0" marL="0">
              <a:buNone/>
            </a:pPr>
            <a:r>
              <a:rPr lang="en-US" sz="3800" b="1" dirty="0">
                <a:solidFill>
                  <a:srgbClr val="173A28"/>
                </a:solidFill>
                <a:latin typeface="Malgun Gothic" pitchFamily="34" charset="0"/>
                <a:ea typeface="Malgun Gothic" pitchFamily="34" charset="-122"/>
                <a:cs typeface="Malgun Gothic" pitchFamily="34" charset="-120"/>
              </a:rPr>
              <a:t>하</a:t>
            </a:r>
            <a:endParaRPr lang="en-US" sz="3800" dirty="0"/>
          </a:p>
        </p:txBody>
      </p:sp>
      <p:sp>
        <p:nvSpPr>
          <p:cNvPr id="7" name="Text 5"/>
          <p:cNvSpPr/>
          <p:nvPr/>
        </p:nvSpPr>
        <p:spPr>
          <a:xfrm>
            <a:off x="640080" y="2971800"/>
            <a:ext cx="466344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하현제 원장</a:t>
            </a:r>
            <a:endParaRPr lang="en-US" sz="2600" dirty="0"/>
          </a:p>
        </p:txBody>
      </p:sp>
      <p:sp>
        <p:nvSpPr>
          <p:cNvPr id="8" name="Text 6"/>
          <p:cNvSpPr/>
          <p:nvPr/>
        </p:nvSpPr>
        <p:spPr>
          <a:xfrm>
            <a:off x="640080" y="3474720"/>
            <a:ext cx="4663440" cy="365760"/>
          </a:xfrm>
          <a:prstGeom prst="rect">
            <a:avLst/>
          </a:prstGeom>
          <a:noFill/>
          <a:ln/>
        </p:spPr>
        <p:txBody>
          <a:bodyPr wrap="square" lIns="0" tIns="0" rIns="0" bIns="0" rtlCol="0" anchor="ctr"/>
          <a:lstStyle/>
          <a:p>
            <a:pPr algn="ctr" indent="0" marL="0">
              <a:buNone/>
            </a:pPr>
            <a:r>
              <a:rPr lang="en-US" sz="1400" dirty="0">
                <a:solidFill>
                  <a:srgbClr val="C79A3A"/>
                </a:solidFill>
                <a:latin typeface="Malgun Gothic" pitchFamily="34" charset="0"/>
                <a:ea typeface="Malgun Gothic" pitchFamily="34" charset="-122"/>
                <a:cs typeface="Malgun Gothic" pitchFamily="34" charset="-120"/>
              </a:rPr>
              <a:t>송영신목장 · Genetics · D2O</a:t>
            </a:r>
            <a:endParaRPr lang="en-US" sz="1400" dirty="0"/>
          </a:p>
        </p:txBody>
      </p:sp>
      <p:sp>
        <p:nvSpPr>
          <p:cNvPr id="9" name="Text 7"/>
          <p:cNvSpPr/>
          <p:nvPr/>
        </p:nvSpPr>
        <p:spPr>
          <a:xfrm>
            <a:off x="868680" y="4114800"/>
            <a:ext cx="4297680" cy="1737360"/>
          </a:xfrm>
          <a:prstGeom prst="rect">
            <a:avLst/>
          </a:prstGeom>
          <a:noFill/>
          <a:ln/>
        </p:spPr>
        <p:txBody>
          <a:bodyPr wrap="square" lIns="0" tIns="0" rIns="0" bIns="0" rtlCol="0" anchor="ctr"/>
          <a:lstStyle/>
          <a:p>
            <a:pPr algn="l" marL="342900" indent="-342900">
              <a:spcAft>
                <a:spcPts val="900"/>
              </a:spcAft>
              <a:buSzPct val="100000"/>
              <a:buChar char="•"/>
            </a:pPr>
            <a:r>
              <a:rPr lang="en-US" sz="1350" dirty="0">
                <a:solidFill>
                  <a:srgbClr val="F3EFE4"/>
                </a:solidFill>
                <a:latin typeface="Malgun Gothic" pitchFamily="34" charset="0"/>
                <a:ea typeface="Malgun Gothic" pitchFamily="34" charset="-122"/>
                <a:cs typeface="Malgun Gothic" pitchFamily="34" charset="-120"/>
              </a:rPr>
              <a:t>수의사 · 축산 바이오테크 전문가</a:t>
            </a:r>
            <a:endParaRPr lang="en-US" sz="1350" dirty="0"/>
          </a:p>
          <a:p>
            <a:pPr algn="l" marL="342900" indent="-342900">
              <a:spcAft>
                <a:spcPts val="900"/>
              </a:spcAft>
              <a:buSzPct val="100000"/>
              <a:buChar char="•"/>
            </a:pPr>
            <a:r>
              <a:rPr lang="en-US" sz="1350" dirty="0">
                <a:solidFill>
                  <a:srgbClr val="F3EFE4"/>
                </a:solidFill>
                <a:latin typeface="Malgun Gothic" pitchFamily="34" charset="0"/>
                <a:ea typeface="Malgun Gothic" pitchFamily="34" charset="-122"/>
                <a:cs typeface="Malgun Gothic" pitchFamily="34" charset="-120"/>
              </a:rPr>
              <a:t>환경기술 개발 · 순환농업 시스템 설계</a:t>
            </a:r>
            <a:endParaRPr lang="en-US" sz="1350" dirty="0"/>
          </a:p>
          <a:p>
            <a:pPr algn="l" marL="342900" indent="-342900">
              <a:spcAft>
                <a:spcPts val="900"/>
              </a:spcAft>
              <a:buSzPct val="100000"/>
              <a:buChar char="•"/>
            </a:pPr>
            <a:r>
              <a:rPr lang="en-US" sz="1350" dirty="0">
                <a:solidFill>
                  <a:srgbClr val="F3EFE4"/>
                </a:solidFill>
                <a:latin typeface="Malgun Gothic" pitchFamily="34" charset="0"/>
                <a:ea typeface="Malgun Gothic" pitchFamily="34" charset="-122"/>
                <a:cs typeface="Malgun Gothic" pitchFamily="34" charset="-120"/>
              </a:rPr>
              <a:t>유전자 → 사양 → 환경 → 데이터 → 식품 → 탄소를 잇는 통합 생태계 설계</a:t>
            </a:r>
            <a:endParaRPr lang="en-US" sz="1350" dirty="0"/>
          </a:p>
        </p:txBody>
      </p:sp>
      <p:sp>
        <p:nvSpPr>
          <p:cNvPr id="10" name="Shape 8"/>
          <p:cNvSpPr/>
          <p:nvPr/>
        </p:nvSpPr>
        <p:spPr>
          <a:xfrm>
            <a:off x="5669280" y="1691640"/>
            <a:ext cx="5989320" cy="960120"/>
          </a:xfrm>
          <a:prstGeom prst="roundRect">
            <a:avLst>
              <a:gd name="adj" fmla="val 7619"/>
            </a:avLst>
          </a:prstGeom>
          <a:solidFill>
            <a:srgbClr val="EAF2EC"/>
          </a:solidFill>
          <a:ln/>
        </p:spPr>
      </p:sp>
      <p:sp>
        <p:nvSpPr>
          <p:cNvPr id="11" name="Text 9"/>
          <p:cNvSpPr/>
          <p:nvPr/>
        </p:nvSpPr>
        <p:spPr>
          <a:xfrm>
            <a:off x="5897880" y="1810512"/>
            <a:ext cx="5577840" cy="347472"/>
          </a:xfrm>
          <a:prstGeom prst="rect">
            <a:avLst/>
          </a:prstGeom>
          <a:noFill/>
          <a:ln/>
        </p:spPr>
        <p:txBody>
          <a:bodyPr wrap="square" lIns="0" tIns="0" rIns="0" bIns="0" rtlCol="0" anchor="ctr"/>
          <a:lstStyle/>
          <a:p>
            <a:pPr indent="0" marL="0">
              <a:buNone/>
            </a:pPr>
            <a:r>
              <a:rPr lang="en-US" sz="1600" b="1" dirty="0">
                <a:solidFill>
                  <a:srgbClr val="2C6E49"/>
                </a:solidFill>
                <a:latin typeface="Malgun Gothic" pitchFamily="34" charset="0"/>
                <a:ea typeface="Malgun Gothic" pitchFamily="34" charset="-122"/>
                <a:cs typeface="Malgun Gothic" pitchFamily="34" charset="-120"/>
              </a:rPr>
              <a:t>6차산업 목장</a:t>
            </a:r>
            <a:endParaRPr lang="en-US" sz="1600" dirty="0"/>
          </a:p>
        </p:txBody>
      </p:sp>
      <p:sp>
        <p:nvSpPr>
          <p:cNvPr id="12" name="Text 10"/>
          <p:cNvSpPr/>
          <p:nvPr/>
        </p:nvSpPr>
        <p:spPr>
          <a:xfrm>
            <a:off x="5897880" y="2167128"/>
            <a:ext cx="5577840" cy="411480"/>
          </a:xfrm>
          <a:prstGeom prst="rect">
            <a:avLst/>
          </a:prstGeom>
          <a:noFill/>
          <a:ln/>
        </p:spPr>
        <p:txBody>
          <a:bodyPr wrap="square" lIns="0" tIns="0" rIns="0" bIns="0" rtlCol="0" anchor="ctr"/>
          <a:lstStyle/>
          <a:p>
            <a:pPr indent="0" marL="0">
              <a:buNone/>
            </a:pPr>
            <a:r>
              <a:rPr lang="en-US" sz="1250" dirty="0">
                <a:solidFill>
                  <a:srgbClr val="20302A"/>
                </a:solidFill>
                <a:latin typeface="Malgun Gothic" pitchFamily="34" charset="0"/>
                <a:ea typeface="Malgun Gothic" pitchFamily="34" charset="-122"/>
                <a:cs typeface="Malgun Gothic" pitchFamily="34" charset="-120"/>
              </a:rPr>
              <a:t>저지 원유의 생산 · 가공 · 브랜드 · 판매를 하나로</a:t>
            </a:r>
            <a:endParaRPr lang="en-US" sz="1250" dirty="0"/>
          </a:p>
        </p:txBody>
      </p:sp>
      <p:sp>
        <p:nvSpPr>
          <p:cNvPr id="13" name="Shape 11"/>
          <p:cNvSpPr/>
          <p:nvPr/>
        </p:nvSpPr>
        <p:spPr>
          <a:xfrm>
            <a:off x="5669280" y="2788920"/>
            <a:ext cx="5989320" cy="960120"/>
          </a:xfrm>
          <a:prstGeom prst="roundRect">
            <a:avLst>
              <a:gd name="adj" fmla="val 7619"/>
            </a:avLst>
          </a:prstGeom>
          <a:solidFill>
            <a:srgbClr val="EAF2EC"/>
          </a:solidFill>
          <a:ln/>
        </p:spPr>
      </p:sp>
      <p:sp>
        <p:nvSpPr>
          <p:cNvPr id="14" name="Text 12"/>
          <p:cNvSpPr/>
          <p:nvPr/>
        </p:nvSpPr>
        <p:spPr>
          <a:xfrm>
            <a:off x="5897880" y="2907792"/>
            <a:ext cx="5577840" cy="347472"/>
          </a:xfrm>
          <a:prstGeom prst="rect">
            <a:avLst/>
          </a:prstGeom>
          <a:noFill/>
          <a:ln/>
        </p:spPr>
        <p:txBody>
          <a:bodyPr wrap="square" lIns="0" tIns="0" rIns="0" bIns="0" rtlCol="0" anchor="ctr"/>
          <a:lstStyle/>
          <a:p>
            <a:pPr indent="0" marL="0">
              <a:buNone/>
            </a:pPr>
            <a:r>
              <a:rPr lang="en-US" sz="1600" b="1" dirty="0">
                <a:solidFill>
                  <a:srgbClr val="2C6E49"/>
                </a:solidFill>
                <a:latin typeface="Malgun Gothic" pitchFamily="34" charset="0"/>
                <a:ea typeface="Malgun Gothic" pitchFamily="34" charset="-122"/>
                <a:cs typeface="Malgun Gothic" pitchFamily="34" charset="-120"/>
              </a:rPr>
              <a:t>A2 저지 건초우유</a:t>
            </a:r>
            <a:endParaRPr lang="en-US" sz="1600" dirty="0"/>
          </a:p>
        </p:txBody>
      </p:sp>
      <p:sp>
        <p:nvSpPr>
          <p:cNvPr id="15" name="Text 13"/>
          <p:cNvSpPr/>
          <p:nvPr/>
        </p:nvSpPr>
        <p:spPr>
          <a:xfrm>
            <a:off x="5897880" y="3264408"/>
            <a:ext cx="5577840" cy="411480"/>
          </a:xfrm>
          <a:prstGeom prst="rect">
            <a:avLst/>
          </a:prstGeom>
          <a:noFill/>
          <a:ln/>
        </p:spPr>
        <p:txBody>
          <a:bodyPr wrap="square" lIns="0" tIns="0" rIns="0" bIns="0" rtlCol="0" anchor="ctr"/>
          <a:lstStyle/>
          <a:p>
            <a:pPr indent="0" marL="0">
              <a:buNone/>
            </a:pPr>
            <a:r>
              <a:rPr lang="en-US" sz="1250" dirty="0">
                <a:solidFill>
                  <a:srgbClr val="20302A"/>
                </a:solidFill>
                <a:latin typeface="Malgun Gothic" pitchFamily="34" charset="0"/>
                <a:ea typeface="Malgun Gothic" pitchFamily="34" charset="-122"/>
                <a:cs typeface="Malgun Gothic" pitchFamily="34" charset="-120"/>
              </a:rPr>
              <a:t>자연 조사료(건초) 중심 사양 + A2 유전형 프리미엄</a:t>
            </a:r>
            <a:endParaRPr lang="en-US" sz="1250" dirty="0"/>
          </a:p>
        </p:txBody>
      </p:sp>
      <p:sp>
        <p:nvSpPr>
          <p:cNvPr id="16" name="Shape 14"/>
          <p:cNvSpPr/>
          <p:nvPr/>
        </p:nvSpPr>
        <p:spPr>
          <a:xfrm>
            <a:off x="5669280" y="3886200"/>
            <a:ext cx="5989320" cy="960120"/>
          </a:xfrm>
          <a:prstGeom prst="roundRect">
            <a:avLst>
              <a:gd name="adj" fmla="val 7619"/>
            </a:avLst>
          </a:prstGeom>
          <a:solidFill>
            <a:srgbClr val="EAF2EC"/>
          </a:solidFill>
          <a:ln/>
        </p:spPr>
      </p:sp>
      <p:sp>
        <p:nvSpPr>
          <p:cNvPr id="17" name="Text 15"/>
          <p:cNvSpPr/>
          <p:nvPr/>
        </p:nvSpPr>
        <p:spPr>
          <a:xfrm>
            <a:off x="5897880" y="4005072"/>
            <a:ext cx="5577840" cy="347472"/>
          </a:xfrm>
          <a:prstGeom prst="rect">
            <a:avLst/>
          </a:prstGeom>
          <a:noFill/>
          <a:ln/>
        </p:spPr>
        <p:txBody>
          <a:bodyPr wrap="square" lIns="0" tIns="0" rIns="0" bIns="0" rtlCol="0" anchor="ctr"/>
          <a:lstStyle/>
          <a:p>
            <a:pPr indent="0" marL="0">
              <a:buNone/>
            </a:pPr>
            <a:r>
              <a:rPr lang="en-US" sz="1600" b="1" dirty="0">
                <a:solidFill>
                  <a:srgbClr val="2C6E49"/>
                </a:solidFill>
                <a:latin typeface="Malgun Gothic" pitchFamily="34" charset="0"/>
                <a:ea typeface="Malgun Gothic" pitchFamily="34" charset="-122"/>
                <a:cs typeface="Malgun Gothic" pitchFamily="34" charset="-120"/>
              </a:rPr>
              <a:t>순환농업 기반</a:t>
            </a:r>
            <a:endParaRPr lang="en-US" sz="1600" dirty="0"/>
          </a:p>
        </p:txBody>
      </p:sp>
      <p:sp>
        <p:nvSpPr>
          <p:cNvPr id="18" name="Text 16"/>
          <p:cNvSpPr/>
          <p:nvPr/>
        </p:nvSpPr>
        <p:spPr>
          <a:xfrm>
            <a:off x="5897880" y="4361688"/>
            <a:ext cx="5577840" cy="411480"/>
          </a:xfrm>
          <a:prstGeom prst="rect">
            <a:avLst/>
          </a:prstGeom>
          <a:noFill/>
          <a:ln/>
        </p:spPr>
        <p:txBody>
          <a:bodyPr wrap="square" lIns="0" tIns="0" rIns="0" bIns="0" rtlCol="0" anchor="ctr"/>
          <a:lstStyle/>
          <a:p>
            <a:pPr indent="0" marL="0">
              <a:buNone/>
            </a:pPr>
            <a:r>
              <a:rPr lang="en-US" sz="1250" dirty="0">
                <a:solidFill>
                  <a:srgbClr val="20302A"/>
                </a:solidFill>
                <a:latin typeface="Malgun Gothic" pitchFamily="34" charset="0"/>
                <a:ea typeface="Malgun Gothic" pitchFamily="34" charset="-122"/>
                <a:cs typeface="Malgun Gothic" pitchFamily="34" charset="-120"/>
              </a:rPr>
              <a:t>D2O 힐링퇴비로 흙으로 되돌리는 Soil to Soul</a:t>
            </a:r>
            <a:endParaRPr lang="en-US" sz="1250" dirty="0"/>
          </a:p>
        </p:txBody>
      </p:sp>
      <p:sp>
        <p:nvSpPr>
          <p:cNvPr id="19" name="Shape 17"/>
          <p:cNvSpPr/>
          <p:nvPr/>
        </p:nvSpPr>
        <p:spPr>
          <a:xfrm>
            <a:off x="5669280" y="4983480"/>
            <a:ext cx="5989320" cy="960120"/>
          </a:xfrm>
          <a:prstGeom prst="roundRect">
            <a:avLst>
              <a:gd name="adj" fmla="val 7619"/>
            </a:avLst>
          </a:prstGeom>
          <a:solidFill>
            <a:srgbClr val="EAF2EC"/>
          </a:solidFill>
          <a:ln/>
        </p:spPr>
      </p:sp>
      <p:sp>
        <p:nvSpPr>
          <p:cNvPr id="20" name="Text 18"/>
          <p:cNvSpPr/>
          <p:nvPr/>
        </p:nvSpPr>
        <p:spPr>
          <a:xfrm>
            <a:off x="5897880" y="5102352"/>
            <a:ext cx="5577840" cy="347472"/>
          </a:xfrm>
          <a:prstGeom prst="rect">
            <a:avLst/>
          </a:prstGeom>
          <a:noFill/>
          <a:ln/>
        </p:spPr>
        <p:txBody>
          <a:bodyPr wrap="square" lIns="0" tIns="0" rIns="0" bIns="0" rtlCol="0" anchor="ctr"/>
          <a:lstStyle/>
          <a:p>
            <a:pPr indent="0" marL="0">
              <a:buNone/>
            </a:pPr>
            <a:r>
              <a:rPr lang="en-US" sz="1600" b="1" dirty="0">
                <a:solidFill>
                  <a:srgbClr val="2C6E49"/>
                </a:solidFill>
                <a:latin typeface="Malgun Gothic" pitchFamily="34" charset="0"/>
                <a:ea typeface="Malgun Gothic" pitchFamily="34" charset="-122"/>
                <a:cs typeface="Malgun Gothic" pitchFamily="34" charset="-120"/>
              </a:rPr>
              <a:t>통합 생태계</a:t>
            </a:r>
            <a:endParaRPr lang="en-US" sz="1600" dirty="0"/>
          </a:p>
        </p:txBody>
      </p:sp>
      <p:sp>
        <p:nvSpPr>
          <p:cNvPr id="21" name="Text 19"/>
          <p:cNvSpPr/>
          <p:nvPr/>
        </p:nvSpPr>
        <p:spPr>
          <a:xfrm>
            <a:off x="5897880" y="5458968"/>
            <a:ext cx="5577840" cy="411480"/>
          </a:xfrm>
          <a:prstGeom prst="rect">
            <a:avLst/>
          </a:prstGeom>
          <a:noFill/>
          <a:ln/>
        </p:spPr>
        <p:txBody>
          <a:bodyPr wrap="square" lIns="0" tIns="0" rIns="0" bIns="0" rtlCol="0" anchor="ctr"/>
          <a:lstStyle/>
          <a:p>
            <a:pPr indent="0" marL="0">
              <a:buNone/>
            </a:pPr>
            <a:r>
              <a:rPr lang="en-US" sz="1250" dirty="0">
                <a:solidFill>
                  <a:srgbClr val="20302A"/>
                </a:solidFill>
                <a:latin typeface="Malgun Gothic" pitchFamily="34" charset="0"/>
                <a:ea typeface="Malgun Gothic" pitchFamily="34" charset="-122"/>
                <a:cs typeface="Malgun Gothic" pitchFamily="34" charset="-120"/>
              </a:rPr>
              <a:t>Genetics(수정란) · 한국동물병원 · D2O 환경기술과 연결</a:t>
            </a:r>
            <a:endParaRPr lang="en-US" sz="1250" dirty="0"/>
          </a:p>
        </p:txBody>
      </p:sp>
      <p:sp>
        <p:nvSpPr>
          <p:cNvPr id="22" name="Text 20"/>
          <p:cNvSpPr/>
          <p:nvPr/>
        </p:nvSpPr>
        <p:spPr>
          <a:xfrm>
            <a:off x="502920" y="6419088"/>
            <a:ext cx="9601200" cy="292608"/>
          </a:xfrm>
          <a:prstGeom prst="rect">
            <a:avLst/>
          </a:prstGeom>
          <a:noFill/>
          <a:ln/>
        </p:spPr>
        <p:txBody>
          <a:bodyPr wrap="square" lIns="0" tIns="0" rIns="0" bIns="0" rtlCol="0" anchor="ctr"/>
          <a:lstStyle/>
          <a:p>
            <a:pPr algn="l" indent="0" marL="0">
              <a:buNone/>
            </a:pPr>
            <a:r>
              <a:rPr lang="en-US" sz="900" dirty="0">
                <a:solidFill>
                  <a:srgbClr val="6B7B72"/>
                </a:solidFill>
                <a:latin typeface="Malgun Gothic" pitchFamily="34" charset="0"/>
                <a:ea typeface="Malgun Gothic" pitchFamily="34" charset="-122"/>
                <a:cs typeface="Malgun Gothic" pitchFamily="34" charset="-120"/>
              </a:rPr>
              <a:t>저지종 젖소 산업 활성화를 위한 국제 심포지엄  ·  송영신목장 하현제 원장</a:t>
            </a:r>
            <a:endParaRPr lang="en-US" sz="900" dirty="0"/>
          </a:p>
        </p:txBody>
      </p:sp>
      <p:sp>
        <p:nvSpPr>
          <p:cNvPr id="23" name="Text 21"/>
          <p:cNvSpPr/>
          <p:nvPr/>
        </p:nvSpPr>
        <p:spPr>
          <a:xfrm>
            <a:off x="11292840" y="6419088"/>
            <a:ext cx="411480" cy="292608"/>
          </a:xfrm>
          <a:prstGeom prst="rect">
            <a:avLst/>
          </a:prstGeom>
          <a:noFill/>
          <a:ln/>
        </p:spPr>
        <p:txBody>
          <a:bodyPr wrap="square" lIns="0" tIns="0" rIns="0" bIns="0" rtlCol="0" anchor="ctr"/>
          <a:lstStyle/>
          <a:p>
            <a:pPr algn="r" indent="0" marL="0">
              <a:buNone/>
            </a:pPr>
            <a:r>
              <a:rPr lang="en-US" sz="900" dirty="0">
                <a:solidFill>
                  <a:srgbClr val="6B7B72"/>
                </a:solidFill>
                <a:latin typeface="Malgun Gothic" pitchFamily="34" charset="0"/>
                <a:ea typeface="Malgun Gothic" pitchFamily="34" charset="-122"/>
                <a:cs typeface="Malgun Gothic"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lIns="0" tIns="0" rIns="0" bIns="0" rtlCol="0" anchor="ctr"/>
          <a:lstStyle/>
          <a:p>
            <a:pPr indent="0" marL="0">
              <a:buNone/>
            </a:pPr>
            <a:r>
              <a:rPr lang="en-US" sz="1200" b="1" spc="200" kern="0" dirty="0">
                <a:solidFill>
                  <a:srgbClr val="C79A3A"/>
                </a:solidFill>
                <a:latin typeface="Malgun Gothic" pitchFamily="34" charset="0"/>
                <a:ea typeface="Malgun Gothic" pitchFamily="34" charset="-122"/>
                <a:cs typeface="Malgun Gothic" pitchFamily="34" charset="-120"/>
              </a:rPr>
              <a:t>발표 순서</a:t>
            </a:r>
            <a:endParaRPr lang="en-US" sz="1200" dirty="0"/>
          </a:p>
        </p:txBody>
      </p:sp>
      <p:sp>
        <p:nvSpPr>
          <p:cNvPr id="3" name="Text 1"/>
          <p:cNvSpPr/>
          <p:nvPr/>
        </p:nvSpPr>
        <p:spPr>
          <a:xfrm>
            <a:off x="530352" y="749808"/>
            <a:ext cx="11064240" cy="685800"/>
          </a:xfrm>
          <a:prstGeom prst="rect">
            <a:avLst/>
          </a:prstGeom>
          <a:noFill/>
          <a:ln/>
        </p:spPr>
        <p:txBody>
          <a:bodyPr wrap="square" lIns="0" tIns="0" rIns="0" bIns="0" rtlCol="0" anchor="ctr"/>
          <a:lstStyle/>
          <a:p>
            <a:pPr indent="0" marL="0">
              <a:buNone/>
            </a:pPr>
            <a:r>
              <a:rPr lang="en-US" sz="3100" b="1" dirty="0">
                <a:solidFill>
                  <a:srgbClr val="173A28"/>
                </a:solidFill>
                <a:latin typeface="Malgun Gothic" pitchFamily="34" charset="0"/>
                <a:ea typeface="Malgun Gothic" pitchFamily="34" charset="-122"/>
                <a:cs typeface="Malgun Gothic" pitchFamily="34" charset="-120"/>
              </a:rPr>
              <a:t>오늘 말씀드릴 내용</a:t>
            </a:r>
            <a:endParaRPr lang="en-US" sz="3100" dirty="0"/>
          </a:p>
        </p:txBody>
      </p:sp>
      <p:sp>
        <p:nvSpPr>
          <p:cNvPr id="4" name="Shape 2"/>
          <p:cNvSpPr/>
          <p:nvPr/>
        </p:nvSpPr>
        <p:spPr>
          <a:xfrm>
            <a:off x="548640" y="1691640"/>
            <a:ext cx="5532120" cy="1280160"/>
          </a:xfrm>
          <a:prstGeom prst="roundRect">
            <a:avLst>
              <a:gd name="adj" fmla="val 7143"/>
            </a:avLst>
          </a:prstGeom>
          <a:solidFill>
            <a:srgbClr val="FFFFFF"/>
          </a:solidFill>
          <a:ln w="19050">
            <a:solidFill>
              <a:srgbClr val="EAF2EC"/>
            </a:solidFill>
            <a:prstDash val="solid"/>
          </a:ln>
        </p:spPr>
      </p:sp>
      <p:sp>
        <p:nvSpPr>
          <p:cNvPr id="5" name="Shape 3"/>
          <p:cNvSpPr/>
          <p:nvPr/>
        </p:nvSpPr>
        <p:spPr>
          <a:xfrm>
            <a:off x="804672" y="2075688"/>
            <a:ext cx="548640" cy="548640"/>
          </a:xfrm>
          <a:prstGeom prst="ellipse">
            <a:avLst/>
          </a:prstGeom>
          <a:solidFill>
            <a:srgbClr val="C79A3A"/>
          </a:solidFill>
          <a:ln/>
        </p:spPr>
      </p:sp>
      <p:sp>
        <p:nvSpPr>
          <p:cNvPr id="6" name="Text 4"/>
          <p:cNvSpPr/>
          <p:nvPr/>
        </p:nvSpPr>
        <p:spPr>
          <a:xfrm>
            <a:off x="804672" y="2075688"/>
            <a:ext cx="548640" cy="548640"/>
          </a:xfrm>
          <a:prstGeom prst="rect">
            <a:avLst/>
          </a:prstGeom>
          <a:noFill/>
          <a:ln/>
        </p:spPr>
        <p:txBody>
          <a:bodyPr wrap="square" rtlCol="0" anchor="ctr"/>
          <a:lstStyle/>
          <a:p>
            <a:pPr algn="ctr" indent="0" marL="0">
              <a:buNone/>
            </a:pPr>
            <a:r>
              <a:rPr lang="en-US" sz="2000" b="1" dirty="0">
                <a:solidFill>
                  <a:srgbClr val="173A28"/>
                </a:solidFill>
                <a:latin typeface="Malgun Gothic" pitchFamily="34" charset="0"/>
                <a:ea typeface="Malgun Gothic" pitchFamily="34" charset="-122"/>
                <a:cs typeface="Malgun Gothic" pitchFamily="34" charset="-120"/>
              </a:rPr>
              <a:t>1</a:t>
            </a:r>
            <a:endParaRPr lang="en-US" sz="2000" dirty="0"/>
          </a:p>
        </p:txBody>
      </p:sp>
      <p:sp>
        <p:nvSpPr>
          <p:cNvPr id="7" name="Text 5"/>
          <p:cNvSpPr/>
          <p:nvPr/>
        </p:nvSpPr>
        <p:spPr>
          <a:xfrm>
            <a:off x="1554480" y="1911096"/>
            <a:ext cx="4343400" cy="384048"/>
          </a:xfrm>
          <a:prstGeom prst="rect">
            <a:avLst/>
          </a:prstGeom>
          <a:noFill/>
          <a:ln/>
        </p:spPr>
        <p:txBody>
          <a:bodyPr wrap="square" lIns="0" tIns="0" rIns="0" bIns="0" rtlCol="0" anchor="ctr"/>
          <a:lstStyle/>
          <a:p>
            <a:pPr indent="0" marL="0">
              <a:buNone/>
            </a:pPr>
            <a:r>
              <a:rPr lang="en-US" sz="1800" b="1" dirty="0">
                <a:solidFill>
                  <a:srgbClr val="173A28"/>
                </a:solidFill>
                <a:latin typeface="Malgun Gothic" pitchFamily="34" charset="0"/>
                <a:ea typeface="Malgun Gothic" pitchFamily="34" charset="-122"/>
                <a:cs typeface="Malgun Gothic" pitchFamily="34" charset="-120"/>
              </a:rPr>
              <a:t>왜 저지종인가</a:t>
            </a:r>
            <a:endParaRPr lang="en-US" sz="1800" dirty="0"/>
          </a:p>
        </p:txBody>
      </p:sp>
      <p:sp>
        <p:nvSpPr>
          <p:cNvPr id="8" name="Text 6"/>
          <p:cNvSpPr/>
          <p:nvPr/>
        </p:nvSpPr>
        <p:spPr>
          <a:xfrm>
            <a:off x="1554480" y="2313432"/>
            <a:ext cx="4343400" cy="457200"/>
          </a:xfrm>
          <a:prstGeom prst="rect">
            <a:avLst/>
          </a:prstGeom>
          <a:noFill/>
          <a:ln/>
        </p:spPr>
        <p:txBody>
          <a:bodyPr wrap="square" lIns="0" tIns="0" rIns="0" bIns="0" rtlCol="0" anchor="ctr"/>
          <a:lstStyle/>
          <a:p>
            <a:pPr indent="0" marL="0">
              <a:buNone/>
            </a:pPr>
            <a:r>
              <a:rPr lang="en-US" sz="1250" dirty="0">
                <a:solidFill>
                  <a:srgbClr val="6B7B72"/>
                </a:solidFill>
                <a:latin typeface="Malgun Gothic" pitchFamily="34" charset="0"/>
                <a:ea typeface="Malgun Gothic" pitchFamily="34" charset="-122"/>
                <a:cs typeface="Malgun Gothic" pitchFamily="34" charset="-120"/>
              </a:rPr>
              <a:t>원유의 차별성과 산업화 필요성</a:t>
            </a:r>
            <a:endParaRPr lang="en-US" sz="1250" dirty="0"/>
          </a:p>
        </p:txBody>
      </p:sp>
      <p:sp>
        <p:nvSpPr>
          <p:cNvPr id="9" name="Shape 7"/>
          <p:cNvSpPr/>
          <p:nvPr/>
        </p:nvSpPr>
        <p:spPr>
          <a:xfrm>
            <a:off x="6355080" y="1691640"/>
            <a:ext cx="5532120" cy="1280160"/>
          </a:xfrm>
          <a:prstGeom prst="roundRect">
            <a:avLst>
              <a:gd name="adj" fmla="val 7143"/>
            </a:avLst>
          </a:prstGeom>
          <a:solidFill>
            <a:srgbClr val="FFFFFF"/>
          </a:solidFill>
          <a:ln w="19050">
            <a:solidFill>
              <a:srgbClr val="EAF2EC"/>
            </a:solidFill>
            <a:prstDash val="solid"/>
          </a:ln>
        </p:spPr>
      </p:sp>
      <p:sp>
        <p:nvSpPr>
          <p:cNvPr id="10" name="Shape 8"/>
          <p:cNvSpPr/>
          <p:nvPr/>
        </p:nvSpPr>
        <p:spPr>
          <a:xfrm>
            <a:off x="6611112" y="2075688"/>
            <a:ext cx="548640" cy="548640"/>
          </a:xfrm>
          <a:prstGeom prst="ellipse">
            <a:avLst/>
          </a:prstGeom>
          <a:solidFill>
            <a:srgbClr val="C79A3A"/>
          </a:solidFill>
          <a:ln/>
        </p:spPr>
      </p:sp>
      <p:sp>
        <p:nvSpPr>
          <p:cNvPr id="11" name="Text 9"/>
          <p:cNvSpPr/>
          <p:nvPr/>
        </p:nvSpPr>
        <p:spPr>
          <a:xfrm>
            <a:off x="6611112" y="2075688"/>
            <a:ext cx="548640" cy="548640"/>
          </a:xfrm>
          <a:prstGeom prst="rect">
            <a:avLst/>
          </a:prstGeom>
          <a:noFill/>
          <a:ln/>
        </p:spPr>
        <p:txBody>
          <a:bodyPr wrap="square" rtlCol="0" anchor="ctr"/>
          <a:lstStyle/>
          <a:p>
            <a:pPr algn="ctr" indent="0" marL="0">
              <a:buNone/>
            </a:pPr>
            <a:r>
              <a:rPr lang="en-US" sz="2000" b="1" dirty="0">
                <a:solidFill>
                  <a:srgbClr val="173A28"/>
                </a:solidFill>
                <a:latin typeface="Malgun Gothic" pitchFamily="34" charset="0"/>
                <a:ea typeface="Malgun Gothic" pitchFamily="34" charset="-122"/>
                <a:cs typeface="Malgun Gothic" pitchFamily="34" charset="-120"/>
              </a:rPr>
              <a:t>2</a:t>
            </a:r>
            <a:endParaRPr lang="en-US" sz="2000" dirty="0"/>
          </a:p>
        </p:txBody>
      </p:sp>
      <p:sp>
        <p:nvSpPr>
          <p:cNvPr id="12" name="Text 10"/>
          <p:cNvSpPr/>
          <p:nvPr/>
        </p:nvSpPr>
        <p:spPr>
          <a:xfrm>
            <a:off x="7360920" y="1911096"/>
            <a:ext cx="4343400" cy="384048"/>
          </a:xfrm>
          <a:prstGeom prst="rect">
            <a:avLst/>
          </a:prstGeom>
          <a:noFill/>
          <a:ln/>
        </p:spPr>
        <p:txBody>
          <a:bodyPr wrap="square" lIns="0" tIns="0" rIns="0" bIns="0" rtlCol="0" anchor="ctr"/>
          <a:lstStyle/>
          <a:p>
            <a:pPr indent="0" marL="0">
              <a:buNone/>
            </a:pPr>
            <a:r>
              <a:rPr lang="en-US" sz="1800" b="1" dirty="0">
                <a:solidFill>
                  <a:srgbClr val="173A28"/>
                </a:solidFill>
                <a:latin typeface="Malgun Gothic" pitchFamily="34" charset="0"/>
                <a:ea typeface="Malgun Gothic" pitchFamily="34" charset="-122"/>
                <a:cs typeface="Malgun Gothic" pitchFamily="34" charset="-120"/>
              </a:rPr>
              <a:t>순환농업 기반</a:t>
            </a:r>
            <a:endParaRPr lang="en-US" sz="1800" dirty="0"/>
          </a:p>
        </p:txBody>
      </p:sp>
      <p:sp>
        <p:nvSpPr>
          <p:cNvPr id="13" name="Text 11"/>
          <p:cNvSpPr/>
          <p:nvPr/>
        </p:nvSpPr>
        <p:spPr>
          <a:xfrm>
            <a:off x="7360920" y="2313432"/>
            <a:ext cx="4343400" cy="457200"/>
          </a:xfrm>
          <a:prstGeom prst="rect">
            <a:avLst/>
          </a:prstGeom>
          <a:noFill/>
          <a:ln/>
        </p:spPr>
        <p:txBody>
          <a:bodyPr wrap="square" lIns="0" tIns="0" rIns="0" bIns="0" rtlCol="0" anchor="ctr"/>
          <a:lstStyle/>
          <a:p>
            <a:pPr indent="0" marL="0">
              <a:buNone/>
            </a:pPr>
            <a:r>
              <a:rPr lang="en-US" sz="1250" dirty="0">
                <a:solidFill>
                  <a:srgbClr val="6B7B72"/>
                </a:solidFill>
                <a:latin typeface="Malgun Gothic" pitchFamily="34" charset="0"/>
                <a:ea typeface="Malgun Gothic" pitchFamily="34" charset="-122"/>
                <a:cs typeface="Malgun Gothic" pitchFamily="34" charset="-120"/>
              </a:rPr>
              <a:t>Soil to Soul — 품질과 브랜드 서사</a:t>
            </a:r>
            <a:endParaRPr lang="en-US" sz="1250" dirty="0"/>
          </a:p>
        </p:txBody>
      </p:sp>
      <p:sp>
        <p:nvSpPr>
          <p:cNvPr id="14" name="Shape 12"/>
          <p:cNvSpPr/>
          <p:nvPr/>
        </p:nvSpPr>
        <p:spPr>
          <a:xfrm>
            <a:off x="548640" y="3200400"/>
            <a:ext cx="5532120" cy="1280160"/>
          </a:xfrm>
          <a:prstGeom prst="roundRect">
            <a:avLst>
              <a:gd name="adj" fmla="val 7143"/>
            </a:avLst>
          </a:prstGeom>
          <a:solidFill>
            <a:srgbClr val="FFFFFF"/>
          </a:solidFill>
          <a:ln w="19050">
            <a:solidFill>
              <a:srgbClr val="EAF2EC"/>
            </a:solidFill>
            <a:prstDash val="solid"/>
          </a:ln>
        </p:spPr>
      </p:sp>
      <p:sp>
        <p:nvSpPr>
          <p:cNvPr id="15" name="Shape 13"/>
          <p:cNvSpPr/>
          <p:nvPr/>
        </p:nvSpPr>
        <p:spPr>
          <a:xfrm>
            <a:off x="804672" y="3584448"/>
            <a:ext cx="548640" cy="548640"/>
          </a:xfrm>
          <a:prstGeom prst="ellipse">
            <a:avLst/>
          </a:prstGeom>
          <a:solidFill>
            <a:srgbClr val="C79A3A"/>
          </a:solidFill>
          <a:ln/>
        </p:spPr>
      </p:sp>
      <p:sp>
        <p:nvSpPr>
          <p:cNvPr id="16" name="Text 14"/>
          <p:cNvSpPr/>
          <p:nvPr/>
        </p:nvSpPr>
        <p:spPr>
          <a:xfrm>
            <a:off x="804672" y="3584448"/>
            <a:ext cx="548640" cy="548640"/>
          </a:xfrm>
          <a:prstGeom prst="rect">
            <a:avLst/>
          </a:prstGeom>
          <a:noFill/>
          <a:ln/>
        </p:spPr>
        <p:txBody>
          <a:bodyPr wrap="square" rtlCol="0" anchor="ctr"/>
          <a:lstStyle/>
          <a:p>
            <a:pPr algn="ctr" indent="0" marL="0">
              <a:buNone/>
            </a:pPr>
            <a:r>
              <a:rPr lang="en-US" sz="2000" b="1" dirty="0">
                <a:solidFill>
                  <a:srgbClr val="173A28"/>
                </a:solidFill>
                <a:latin typeface="Malgun Gothic" pitchFamily="34" charset="0"/>
                <a:ea typeface="Malgun Gothic" pitchFamily="34" charset="-122"/>
                <a:cs typeface="Malgun Gothic" pitchFamily="34" charset="-120"/>
              </a:rPr>
              <a:t>3</a:t>
            </a:r>
            <a:endParaRPr lang="en-US" sz="2000" dirty="0"/>
          </a:p>
        </p:txBody>
      </p:sp>
      <p:sp>
        <p:nvSpPr>
          <p:cNvPr id="17" name="Text 15"/>
          <p:cNvSpPr/>
          <p:nvPr/>
        </p:nvSpPr>
        <p:spPr>
          <a:xfrm>
            <a:off x="1554480" y="3419856"/>
            <a:ext cx="4343400" cy="384048"/>
          </a:xfrm>
          <a:prstGeom prst="rect">
            <a:avLst/>
          </a:prstGeom>
          <a:noFill/>
          <a:ln/>
        </p:spPr>
        <p:txBody>
          <a:bodyPr wrap="square" lIns="0" tIns="0" rIns="0" bIns="0" rtlCol="0" anchor="ctr"/>
          <a:lstStyle/>
          <a:p>
            <a:pPr indent="0" marL="0">
              <a:buNone/>
            </a:pPr>
            <a:r>
              <a:rPr lang="en-US" sz="1800" b="1" dirty="0">
                <a:solidFill>
                  <a:srgbClr val="173A28"/>
                </a:solidFill>
                <a:latin typeface="Malgun Gothic" pitchFamily="34" charset="0"/>
                <a:ea typeface="Malgun Gothic" pitchFamily="34" charset="-122"/>
                <a:cs typeface="Malgun Gothic" pitchFamily="34" charset="-120"/>
              </a:rPr>
              <a:t>산업화 전략</a:t>
            </a:r>
            <a:endParaRPr lang="en-US" sz="1800" dirty="0"/>
          </a:p>
        </p:txBody>
      </p:sp>
      <p:sp>
        <p:nvSpPr>
          <p:cNvPr id="18" name="Text 16"/>
          <p:cNvSpPr/>
          <p:nvPr/>
        </p:nvSpPr>
        <p:spPr>
          <a:xfrm>
            <a:off x="1554480" y="3822192"/>
            <a:ext cx="4343400" cy="457200"/>
          </a:xfrm>
          <a:prstGeom prst="rect">
            <a:avLst/>
          </a:prstGeom>
          <a:noFill/>
          <a:ln/>
        </p:spPr>
        <p:txBody>
          <a:bodyPr wrap="square" lIns="0" tIns="0" rIns="0" bIns="0" rtlCol="0" anchor="ctr"/>
          <a:lstStyle/>
          <a:p>
            <a:pPr indent="0" marL="0">
              <a:buNone/>
            </a:pPr>
            <a:r>
              <a:rPr lang="en-US" sz="1250" dirty="0">
                <a:solidFill>
                  <a:srgbClr val="6B7B72"/>
                </a:solidFill>
                <a:latin typeface="Malgun Gothic" pitchFamily="34" charset="0"/>
                <a:ea typeface="Malgun Gothic" pitchFamily="34" charset="-122"/>
                <a:cs typeface="Malgun Gothic" pitchFamily="34" charset="-120"/>
              </a:rPr>
              <a:t>가치사슬 전체를 설계한다</a:t>
            </a:r>
            <a:endParaRPr lang="en-US" sz="1250" dirty="0"/>
          </a:p>
        </p:txBody>
      </p:sp>
      <p:sp>
        <p:nvSpPr>
          <p:cNvPr id="19" name="Shape 17"/>
          <p:cNvSpPr/>
          <p:nvPr/>
        </p:nvSpPr>
        <p:spPr>
          <a:xfrm>
            <a:off x="6355080" y="3200400"/>
            <a:ext cx="5532120" cy="1280160"/>
          </a:xfrm>
          <a:prstGeom prst="roundRect">
            <a:avLst>
              <a:gd name="adj" fmla="val 7143"/>
            </a:avLst>
          </a:prstGeom>
          <a:solidFill>
            <a:srgbClr val="FFFFFF"/>
          </a:solidFill>
          <a:ln w="19050">
            <a:solidFill>
              <a:srgbClr val="EAF2EC"/>
            </a:solidFill>
            <a:prstDash val="solid"/>
          </a:ln>
        </p:spPr>
      </p:sp>
      <p:sp>
        <p:nvSpPr>
          <p:cNvPr id="20" name="Shape 18"/>
          <p:cNvSpPr/>
          <p:nvPr/>
        </p:nvSpPr>
        <p:spPr>
          <a:xfrm>
            <a:off x="6611112" y="3584448"/>
            <a:ext cx="548640" cy="548640"/>
          </a:xfrm>
          <a:prstGeom prst="ellipse">
            <a:avLst/>
          </a:prstGeom>
          <a:solidFill>
            <a:srgbClr val="C79A3A"/>
          </a:solidFill>
          <a:ln/>
        </p:spPr>
      </p:sp>
      <p:sp>
        <p:nvSpPr>
          <p:cNvPr id="21" name="Text 19"/>
          <p:cNvSpPr/>
          <p:nvPr/>
        </p:nvSpPr>
        <p:spPr>
          <a:xfrm>
            <a:off x="6611112" y="3584448"/>
            <a:ext cx="548640" cy="548640"/>
          </a:xfrm>
          <a:prstGeom prst="rect">
            <a:avLst/>
          </a:prstGeom>
          <a:noFill/>
          <a:ln/>
        </p:spPr>
        <p:txBody>
          <a:bodyPr wrap="square" rtlCol="0" anchor="ctr"/>
          <a:lstStyle/>
          <a:p>
            <a:pPr algn="ctr" indent="0" marL="0">
              <a:buNone/>
            </a:pPr>
            <a:r>
              <a:rPr lang="en-US" sz="2000" b="1" dirty="0">
                <a:solidFill>
                  <a:srgbClr val="173A28"/>
                </a:solidFill>
                <a:latin typeface="Malgun Gothic" pitchFamily="34" charset="0"/>
                <a:ea typeface="Malgun Gothic" pitchFamily="34" charset="-122"/>
                <a:cs typeface="Malgun Gothic" pitchFamily="34" charset="-120"/>
              </a:rPr>
              <a:t>4</a:t>
            </a:r>
            <a:endParaRPr lang="en-US" sz="2000" dirty="0"/>
          </a:p>
        </p:txBody>
      </p:sp>
      <p:sp>
        <p:nvSpPr>
          <p:cNvPr id="22" name="Text 20"/>
          <p:cNvSpPr/>
          <p:nvPr/>
        </p:nvSpPr>
        <p:spPr>
          <a:xfrm>
            <a:off x="7360920" y="3419856"/>
            <a:ext cx="4343400" cy="384048"/>
          </a:xfrm>
          <a:prstGeom prst="rect">
            <a:avLst/>
          </a:prstGeom>
          <a:noFill/>
          <a:ln/>
        </p:spPr>
        <p:txBody>
          <a:bodyPr wrap="square" lIns="0" tIns="0" rIns="0" bIns="0" rtlCol="0" anchor="ctr"/>
          <a:lstStyle/>
          <a:p>
            <a:pPr indent="0" marL="0">
              <a:buNone/>
            </a:pPr>
            <a:r>
              <a:rPr lang="en-US" sz="1800" b="1" dirty="0">
                <a:solidFill>
                  <a:srgbClr val="173A28"/>
                </a:solidFill>
                <a:latin typeface="Malgun Gothic" pitchFamily="34" charset="0"/>
                <a:ea typeface="Malgun Gothic" pitchFamily="34" charset="-122"/>
                <a:cs typeface="Malgun Gothic" pitchFamily="34" charset="-120"/>
              </a:rPr>
              <a:t>제품 · 제조공정</a:t>
            </a:r>
            <a:endParaRPr lang="en-US" sz="1800" dirty="0"/>
          </a:p>
        </p:txBody>
      </p:sp>
      <p:sp>
        <p:nvSpPr>
          <p:cNvPr id="23" name="Text 21"/>
          <p:cNvSpPr/>
          <p:nvPr/>
        </p:nvSpPr>
        <p:spPr>
          <a:xfrm>
            <a:off x="7360920" y="3822192"/>
            <a:ext cx="4343400" cy="457200"/>
          </a:xfrm>
          <a:prstGeom prst="rect">
            <a:avLst/>
          </a:prstGeom>
          <a:noFill/>
          <a:ln/>
        </p:spPr>
        <p:txBody>
          <a:bodyPr wrap="square" lIns="0" tIns="0" rIns="0" bIns="0" rtlCol="0" anchor="ctr"/>
          <a:lstStyle/>
          <a:p>
            <a:pPr indent="0" marL="0">
              <a:buNone/>
            </a:pPr>
            <a:r>
              <a:rPr lang="en-US" sz="1250" dirty="0">
                <a:solidFill>
                  <a:srgbClr val="6B7B72"/>
                </a:solidFill>
                <a:latin typeface="Malgun Gothic" pitchFamily="34" charset="0"/>
                <a:ea typeface="Malgun Gothic" pitchFamily="34" charset="-122"/>
                <a:cs typeface="Malgun Gothic" pitchFamily="34" charset="-120"/>
              </a:rPr>
              <a:t>라인업 다각화와 품질 관리</a:t>
            </a:r>
            <a:endParaRPr lang="en-US" sz="1250" dirty="0"/>
          </a:p>
        </p:txBody>
      </p:sp>
      <p:sp>
        <p:nvSpPr>
          <p:cNvPr id="24" name="Shape 22"/>
          <p:cNvSpPr/>
          <p:nvPr/>
        </p:nvSpPr>
        <p:spPr>
          <a:xfrm>
            <a:off x="548640" y="4709160"/>
            <a:ext cx="5532120" cy="1280160"/>
          </a:xfrm>
          <a:prstGeom prst="roundRect">
            <a:avLst>
              <a:gd name="adj" fmla="val 7143"/>
            </a:avLst>
          </a:prstGeom>
          <a:solidFill>
            <a:srgbClr val="FFFFFF"/>
          </a:solidFill>
          <a:ln w="19050">
            <a:solidFill>
              <a:srgbClr val="EAF2EC"/>
            </a:solidFill>
            <a:prstDash val="solid"/>
          </a:ln>
        </p:spPr>
      </p:sp>
      <p:sp>
        <p:nvSpPr>
          <p:cNvPr id="25" name="Shape 23"/>
          <p:cNvSpPr/>
          <p:nvPr/>
        </p:nvSpPr>
        <p:spPr>
          <a:xfrm>
            <a:off x="804672" y="5093208"/>
            <a:ext cx="548640" cy="548640"/>
          </a:xfrm>
          <a:prstGeom prst="ellipse">
            <a:avLst/>
          </a:prstGeom>
          <a:solidFill>
            <a:srgbClr val="C79A3A"/>
          </a:solidFill>
          <a:ln/>
        </p:spPr>
      </p:sp>
      <p:sp>
        <p:nvSpPr>
          <p:cNvPr id="26" name="Text 24"/>
          <p:cNvSpPr/>
          <p:nvPr/>
        </p:nvSpPr>
        <p:spPr>
          <a:xfrm>
            <a:off x="804672" y="5093208"/>
            <a:ext cx="548640" cy="548640"/>
          </a:xfrm>
          <a:prstGeom prst="rect">
            <a:avLst/>
          </a:prstGeom>
          <a:noFill/>
          <a:ln/>
        </p:spPr>
        <p:txBody>
          <a:bodyPr wrap="square" rtlCol="0" anchor="ctr"/>
          <a:lstStyle/>
          <a:p>
            <a:pPr algn="ctr" indent="0" marL="0">
              <a:buNone/>
            </a:pPr>
            <a:r>
              <a:rPr lang="en-US" sz="2000" b="1" dirty="0">
                <a:solidFill>
                  <a:srgbClr val="173A28"/>
                </a:solidFill>
                <a:latin typeface="Malgun Gothic" pitchFamily="34" charset="0"/>
                <a:ea typeface="Malgun Gothic" pitchFamily="34" charset="-122"/>
                <a:cs typeface="Malgun Gothic" pitchFamily="34" charset="-120"/>
              </a:rPr>
              <a:t>5</a:t>
            </a:r>
            <a:endParaRPr lang="en-US" sz="2000" dirty="0"/>
          </a:p>
        </p:txBody>
      </p:sp>
      <p:sp>
        <p:nvSpPr>
          <p:cNvPr id="27" name="Text 25"/>
          <p:cNvSpPr/>
          <p:nvPr/>
        </p:nvSpPr>
        <p:spPr>
          <a:xfrm>
            <a:off x="1554480" y="4928616"/>
            <a:ext cx="4343400" cy="384048"/>
          </a:xfrm>
          <a:prstGeom prst="rect">
            <a:avLst/>
          </a:prstGeom>
          <a:noFill/>
          <a:ln/>
        </p:spPr>
        <p:txBody>
          <a:bodyPr wrap="square" lIns="0" tIns="0" rIns="0" bIns="0" rtlCol="0" anchor="ctr"/>
          <a:lstStyle/>
          <a:p>
            <a:pPr indent="0" marL="0">
              <a:buNone/>
            </a:pPr>
            <a:r>
              <a:rPr lang="en-US" sz="1800" b="1" dirty="0">
                <a:solidFill>
                  <a:srgbClr val="173A28"/>
                </a:solidFill>
                <a:latin typeface="Malgun Gothic" pitchFamily="34" charset="0"/>
                <a:ea typeface="Malgun Gothic" pitchFamily="34" charset="-122"/>
                <a:cs typeface="Malgun Gothic" pitchFamily="34" charset="-120"/>
              </a:rPr>
              <a:t>브랜드 · 마케팅</a:t>
            </a:r>
            <a:endParaRPr lang="en-US" sz="1800" dirty="0"/>
          </a:p>
        </p:txBody>
      </p:sp>
      <p:sp>
        <p:nvSpPr>
          <p:cNvPr id="28" name="Text 26"/>
          <p:cNvSpPr/>
          <p:nvPr/>
        </p:nvSpPr>
        <p:spPr>
          <a:xfrm>
            <a:off x="1554480" y="5330952"/>
            <a:ext cx="4343400" cy="457200"/>
          </a:xfrm>
          <a:prstGeom prst="rect">
            <a:avLst/>
          </a:prstGeom>
          <a:noFill/>
          <a:ln/>
        </p:spPr>
        <p:txBody>
          <a:bodyPr wrap="square" lIns="0" tIns="0" rIns="0" bIns="0" rtlCol="0" anchor="ctr"/>
          <a:lstStyle/>
          <a:p>
            <a:pPr indent="0" marL="0">
              <a:buNone/>
            </a:pPr>
            <a:r>
              <a:rPr lang="en-US" sz="1250" dirty="0">
                <a:solidFill>
                  <a:srgbClr val="6B7B72"/>
                </a:solidFill>
                <a:latin typeface="Malgun Gothic" pitchFamily="34" charset="0"/>
                <a:ea typeface="Malgun Gothic" pitchFamily="34" charset="-122"/>
                <a:cs typeface="Malgun Gothic" pitchFamily="34" charset="-120"/>
              </a:rPr>
              <a:t>자사몰 중심 D2C · 정기구독</a:t>
            </a:r>
            <a:endParaRPr lang="en-US" sz="1250" dirty="0"/>
          </a:p>
        </p:txBody>
      </p:sp>
      <p:sp>
        <p:nvSpPr>
          <p:cNvPr id="29" name="Shape 27"/>
          <p:cNvSpPr/>
          <p:nvPr/>
        </p:nvSpPr>
        <p:spPr>
          <a:xfrm>
            <a:off x="6355080" y="4709160"/>
            <a:ext cx="5532120" cy="1280160"/>
          </a:xfrm>
          <a:prstGeom prst="roundRect">
            <a:avLst>
              <a:gd name="adj" fmla="val 7143"/>
            </a:avLst>
          </a:prstGeom>
          <a:solidFill>
            <a:srgbClr val="FFFFFF"/>
          </a:solidFill>
          <a:ln w="19050">
            <a:solidFill>
              <a:srgbClr val="EAF2EC"/>
            </a:solidFill>
            <a:prstDash val="solid"/>
          </a:ln>
        </p:spPr>
      </p:sp>
      <p:sp>
        <p:nvSpPr>
          <p:cNvPr id="30" name="Shape 28"/>
          <p:cNvSpPr/>
          <p:nvPr/>
        </p:nvSpPr>
        <p:spPr>
          <a:xfrm>
            <a:off x="6611112" y="5093208"/>
            <a:ext cx="548640" cy="548640"/>
          </a:xfrm>
          <a:prstGeom prst="ellipse">
            <a:avLst/>
          </a:prstGeom>
          <a:solidFill>
            <a:srgbClr val="C79A3A"/>
          </a:solidFill>
          <a:ln/>
        </p:spPr>
      </p:sp>
      <p:sp>
        <p:nvSpPr>
          <p:cNvPr id="31" name="Text 29"/>
          <p:cNvSpPr/>
          <p:nvPr/>
        </p:nvSpPr>
        <p:spPr>
          <a:xfrm>
            <a:off x="6611112" y="5093208"/>
            <a:ext cx="548640" cy="548640"/>
          </a:xfrm>
          <a:prstGeom prst="rect">
            <a:avLst/>
          </a:prstGeom>
          <a:noFill/>
          <a:ln/>
        </p:spPr>
        <p:txBody>
          <a:bodyPr wrap="square" rtlCol="0" anchor="ctr"/>
          <a:lstStyle/>
          <a:p>
            <a:pPr algn="ctr" indent="0" marL="0">
              <a:buNone/>
            </a:pPr>
            <a:r>
              <a:rPr lang="en-US" sz="2000" b="1" dirty="0">
                <a:solidFill>
                  <a:srgbClr val="173A28"/>
                </a:solidFill>
                <a:latin typeface="Malgun Gothic" pitchFamily="34" charset="0"/>
                <a:ea typeface="Malgun Gothic" pitchFamily="34" charset="-122"/>
                <a:cs typeface="Malgun Gothic" pitchFamily="34" charset="-120"/>
              </a:rPr>
              <a:t>6</a:t>
            </a:r>
            <a:endParaRPr lang="en-US" sz="2000" dirty="0"/>
          </a:p>
        </p:txBody>
      </p:sp>
      <p:sp>
        <p:nvSpPr>
          <p:cNvPr id="32" name="Text 30"/>
          <p:cNvSpPr/>
          <p:nvPr/>
        </p:nvSpPr>
        <p:spPr>
          <a:xfrm>
            <a:off x="7360920" y="4928616"/>
            <a:ext cx="4343400" cy="384048"/>
          </a:xfrm>
          <a:prstGeom prst="rect">
            <a:avLst/>
          </a:prstGeom>
          <a:noFill/>
          <a:ln/>
        </p:spPr>
        <p:txBody>
          <a:bodyPr wrap="square" lIns="0" tIns="0" rIns="0" bIns="0" rtlCol="0" anchor="ctr"/>
          <a:lstStyle/>
          <a:p>
            <a:pPr indent="0" marL="0">
              <a:buNone/>
            </a:pPr>
            <a:r>
              <a:rPr lang="en-US" sz="1800" b="1" dirty="0">
                <a:solidFill>
                  <a:srgbClr val="173A28"/>
                </a:solidFill>
                <a:latin typeface="Malgun Gothic" pitchFamily="34" charset="0"/>
                <a:ea typeface="Malgun Gothic" pitchFamily="34" charset="-122"/>
                <a:cs typeface="Malgun Gothic" pitchFamily="34" charset="-120"/>
              </a:rPr>
              <a:t>성과와 제언</a:t>
            </a:r>
            <a:endParaRPr lang="en-US" sz="1800" dirty="0"/>
          </a:p>
        </p:txBody>
      </p:sp>
      <p:sp>
        <p:nvSpPr>
          <p:cNvPr id="33" name="Text 31"/>
          <p:cNvSpPr/>
          <p:nvPr/>
        </p:nvSpPr>
        <p:spPr>
          <a:xfrm>
            <a:off x="7360920" y="5330952"/>
            <a:ext cx="4343400" cy="457200"/>
          </a:xfrm>
          <a:prstGeom prst="rect">
            <a:avLst/>
          </a:prstGeom>
          <a:noFill/>
          <a:ln/>
        </p:spPr>
        <p:txBody>
          <a:bodyPr wrap="square" lIns="0" tIns="0" rIns="0" bIns="0" rtlCol="0" anchor="ctr"/>
          <a:lstStyle/>
          <a:p>
            <a:pPr indent="0" marL="0">
              <a:buNone/>
            </a:pPr>
            <a:r>
              <a:rPr lang="en-US" sz="1250" dirty="0">
                <a:solidFill>
                  <a:srgbClr val="6B7B72"/>
                </a:solidFill>
                <a:latin typeface="Malgun Gothic" pitchFamily="34" charset="0"/>
                <a:ea typeface="Malgun Gothic" pitchFamily="34" charset="-122"/>
                <a:cs typeface="Malgun Gothic" pitchFamily="34" charset="-120"/>
              </a:rPr>
              <a:t>6차산업 성과와 산업 활성화 제언</a:t>
            </a:r>
            <a:endParaRPr lang="en-US" sz="1250" dirty="0"/>
          </a:p>
        </p:txBody>
      </p:sp>
      <p:sp>
        <p:nvSpPr>
          <p:cNvPr id="34" name="Text 32"/>
          <p:cNvSpPr/>
          <p:nvPr/>
        </p:nvSpPr>
        <p:spPr>
          <a:xfrm>
            <a:off x="502920" y="6419088"/>
            <a:ext cx="9601200" cy="292608"/>
          </a:xfrm>
          <a:prstGeom prst="rect">
            <a:avLst/>
          </a:prstGeom>
          <a:noFill/>
          <a:ln/>
        </p:spPr>
        <p:txBody>
          <a:bodyPr wrap="square" lIns="0" tIns="0" rIns="0" bIns="0" rtlCol="0" anchor="ctr"/>
          <a:lstStyle/>
          <a:p>
            <a:pPr algn="l" indent="0" marL="0">
              <a:buNone/>
            </a:pPr>
            <a:r>
              <a:rPr lang="en-US" sz="900" dirty="0">
                <a:solidFill>
                  <a:srgbClr val="6B7B72"/>
                </a:solidFill>
                <a:latin typeface="Malgun Gothic" pitchFamily="34" charset="0"/>
                <a:ea typeface="Malgun Gothic" pitchFamily="34" charset="-122"/>
                <a:cs typeface="Malgun Gothic" pitchFamily="34" charset="-120"/>
              </a:rPr>
              <a:t>저지종 젖소 산업 활성화를 위한 국제 심포지엄  ·  송영신목장 하현제 원장</a:t>
            </a:r>
            <a:endParaRPr lang="en-US" sz="900" dirty="0"/>
          </a:p>
        </p:txBody>
      </p:sp>
      <p:sp>
        <p:nvSpPr>
          <p:cNvPr id="35" name="Text 33"/>
          <p:cNvSpPr/>
          <p:nvPr/>
        </p:nvSpPr>
        <p:spPr>
          <a:xfrm>
            <a:off x="11292840" y="6419088"/>
            <a:ext cx="411480" cy="292608"/>
          </a:xfrm>
          <a:prstGeom prst="rect">
            <a:avLst/>
          </a:prstGeom>
          <a:noFill/>
          <a:ln/>
        </p:spPr>
        <p:txBody>
          <a:bodyPr wrap="square" lIns="0" tIns="0" rIns="0" bIns="0" rtlCol="0" anchor="ctr"/>
          <a:lstStyle/>
          <a:p>
            <a:pPr algn="r" indent="0" marL="0">
              <a:buNone/>
            </a:pPr>
            <a:r>
              <a:rPr lang="en-US" sz="900" dirty="0">
                <a:solidFill>
                  <a:srgbClr val="6B7B72"/>
                </a:solidFill>
                <a:latin typeface="Malgun Gothic" pitchFamily="34" charset="0"/>
                <a:ea typeface="Malgun Gothic" pitchFamily="34" charset="-122"/>
                <a:cs typeface="Malgun Gothic"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lIns="0" tIns="0" rIns="0" bIns="0" rtlCol="0" anchor="ctr"/>
          <a:lstStyle/>
          <a:p>
            <a:pPr indent="0" marL="0">
              <a:buNone/>
            </a:pPr>
            <a:r>
              <a:rPr lang="en-US" sz="1200" b="1" spc="200" kern="0" dirty="0">
                <a:solidFill>
                  <a:srgbClr val="C79A3A"/>
                </a:solidFill>
                <a:latin typeface="Malgun Gothic" pitchFamily="34" charset="0"/>
                <a:ea typeface="Malgun Gothic" pitchFamily="34" charset="-122"/>
                <a:cs typeface="Malgun Gothic" pitchFamily="34" charset="-120"/>
              </a:rPr>
              <a:t>01  왜 저지종인가</a:t>
            </a:r>
            <a:endParaRPr lang="en-US" sz="1200" dirty="0"/>
          </a:p>
        </p:txBody>
      </p:sp>
      <p:sp>
        <p:nvSpPr>
          <p:cNvPr id="3" name="Text 1"/>
          <p:cNvSpPr/>
          <p:nvPr/>
        </p:nvSpPr>
        <p:spPr>
          <a:xfrm>
            <a:off x="530352" y="749808"/>
            <a:ext cx="11064240" cy="685800"/>
          </a:xfrm>
          <a:prstGeom prst="rect">
            <a:avLst/>
          </a:prstGeom>
          <a:noFill/>
          <a:ln/>
        </p:spPr>
        <p:txBody>
          <a:bodyPr wrap="square" lIns="0" tIns="0" rIns="0" bIns="0" rtlCol="0" anchor="ctr"/>
          <a:lstStyle/>
          <a:p>
            <a:pPr indent="0" marL="0">
              <a:buNone/>
            </a:pPr>
            <a:r>
              <a:rPr lang="en-US" sz="3100" b="1" dirty="0">
                <a:solidFill>
                  <a:srgbClr val="173A28"/>
                </a:solidFill>
                <a:latin typeface="Malgun Gothic" pitchFamily="34" charset="0"/>
                <a:ea typeface="Malgun Gothic" pitchFamily="34" charset="-122"/>
                <a:cs typeface="Malgun Gothic" pitchFamily="34" charset="-120"/>
              </a:rPr>
              <a:t>저지 원유는 '많이'가 아니라 '다르게'로 승부한다</a:t>
            </a:r>
            <a:endParaRPr lang="en-US" sz="3100" dirty="0"/>
          </a:p>
        </p:txBody>
      </p:sp>
      <p:sp>
        <p:nvSpPr>
          <p:cNvPr id="4" name="Text 2"/>
          <p:cNvSpPr/>
          <p:nvPr/>
        </p:nvSpPr>
        <p:spPr>
          <a:xfrm>
            <a:off x="548640" y="1645920"/>
            <a:ext cx="5120640" cy="365760"/>
          </a:xfrm>
          <a:prstGeom prst="rect">
            <a:avLst/>
          </a:prstGeom>
          <a:noFill/>
          <a:ln/>
        </p:spPr>
        <p:txBody>
          <a:bodyPr wrap="square" lIns="0" tIns="0" rIns="0" bIns="0" rtlCol="0" anchor="ctr"/>
          <a:lstStyle/>
          <a:p>
            <a:pPr indent="0" marL="0">
              <a:buNone/>
            </a:pPr>
            <a:r>
              <a:rPr lang="en-US" sz="1700" b="1" dirty="0">
                <a:solidFill>
                  <a:srgbClr val="2C6E49"/>
                </a:solidFill>
                <a:latin typeface="Malgun Gothic" pitchFamily="34" charset="0"/>
                <a:ea typeface="Malgun Gothic" pitchFamily="34" charset="-122"/>
                <a:cs typeface="Malgun Gothic" pitchFamily="34" charset="-120"/>
              </a:rPr>
              <a:t>저지 원유의 강점</a:t>
            </a:r>
            <a:endParaRPr lang="en-US" sz="1700" dirty="0"/>
          </a:p>
        </p:txBody>
      </p:sp>
      <p:sp>
        <p:nvSpPr>
          <p:cNvPr id="5" name="Shape 3"/>
          <p:cNvSpPr/>
          <p:nvPr/>
        </p:nvSpPr>
        <p:spPr>
          <a:xfrm>
            <a:off x="548640" y="2057400"/>
            <a:ext cx="5349240" cy="1170432"/>
          </a:xfrm>
          <a:prstGeom prst="roundRect">
            <a:avLst>
              <a:gd name="adj" fmla="val 6250"/>
            </a:avLst>
          </a:prstGeom>
          <a:solidFill>
            <a:srgbClr val="EAF2EC"/>
          </a:solidFill>
          <a:ln/>
        </p:spPr>
      </p:sp>
      <p:sp>
        <p:nvSpPr>
          <p:cNvPr id="6" name="Text 4"/>
          <p:cNvSpPr/>
          <p:nvPr/>
        </p:nvSpPr>
        <p:spPr>
          <a:xfrm>
            <a:off x="777240" y="2194560"/>
            <a:ext cx="4937760" cy="347472"/>
          </a:xfrm>
          <a:prstGeom prst="rect">
            <a:avLst/>
          </a:prstGeom>
          <a:noFill/>
          <a:ln/>
        </p:spPr>
        <p:txBody>
          <a:bodyPr wrap="square" lIns="0" tIns="0" rIns="0" bIns="0" rtlCol="0" anchor="ctr"/>
          <a:lstStyle/>
          <a:p>
            <a:pPr indent="0" marL="0">
              <a:buNone/>
            </a:pPr>
            <a:r>
              <a:rPr lang="en-US" sz="1550" b="1" dirty="0">
                <a:solidFill>
                  <a:srgbClr val="173A28"/>
                </a:solidFill>
                <a:latin typeface="Malgun Gothic" pitchFamily="34" charset="0"/>
                <a:ea typeface="Malgun Gothic" pitchFamily="34" charset="-122"/>
                <a:cs typeface="Malgun Gothic" pitchFamily="34" charset="-120"/>
              </a:rPr>
              <a:t>높은 유고형분</a:t>
            </a:r>
            <a:endParaRPr lang="en-US" sz="1550" dirty="0"/>
          </a:p>
        </p:txBody>
      </p:sp>
      <p:sp>
        <p:nvSpPr>
          <p:cNvPr id="7" name="Text 5"/>
          <p:cNvSpPr/>
          <p:nvPr/>
        </p:nvSpPr>
        <p:spPr>
          <a:xfrm>
            <a:off x="777240" y="2560320"/>
            <a:ext cx="4937760" cy="548640"/>
          </a:xfrm>
          <a:prstGeom prst="rect">
            <a:avLst/>
          </a:prstGeom>
          <a:noFill/>
          <a:ln/>
        </p:spPr>
        <p:txBody>
          <a:bodyPr wrap="square" lIns="0" tIns="0" rIns="0" bIns="0" rtlCol="0" anchor="ctr"/>
          <a:lstStyle/>
          <a:p>
            <a:pPr indent="0" marL="0">
              <a:buNone/>
            </a:pPr>
            <a:r>
              <a:rPr lang="en-US" sz="1250" dirty="0">
                <a:solidFill>
                  <a:srgbClr val="20302A"/>
                </a:solidFill>
                <a:latin typeface="Malgun Gothic" pitchFamily="34" charset="0"/>
                <a:ea typeface="Malgun Gothic" pitchFamily="34" charset="-122"/>
                <a:cs typeface="Malgun Gothic" pitchFamily="34" charset="-120"/>
              </a:rPr>
              <a:t>유지방 · 유단백이 풍부 → 요거트 · 카이막 · 치즈 가공적성 우수</a:t>
            </a:r>
            <a:endParaRPr lang="en-US" sz="1250" dirty="0"/>
          </a:p>
        </p:txBody>
      </p:sp>
      <p:sp>
        <p:nvSpPr>
          <p:cNvPr id="8" name="Shape 6"/>
          <p:cNvSpPr/>
          <p:nvPr/>
        </p:nvSpPr>
        <p:spPr>
          <a:xfrm>
            <a:off x="548640" y="3383280"/>
            <a:ext cx="5349240" cy="1170432"/>
          </a:xfrm>
          <a:prstGeom prst="roundRect">
            <a:avLst>
              <a:gd name="adj" fmla="val 6250"/>
            </a:avLst>
          </a:prstGeom>
          <a:solidFill>
            <a:srgbClr val="EAF2EC"/>
          </a:solidFill>
          <a:ln/>
        </p:spPr>
      </p:sp>
      <p:sp>
        <p:nvSpPr>
          <p:cNvPr id="9" name="Text 7"/>
          <p:cNvSpPr/>
          <p:nvPr/>
        </p:nvSpPr>
        <p:spPr>
          <a:xfrm>
            <a:off x="777240" y="3520440"/>
            <a:ext cx="4937760" cy="347472"/>
          </a:xfrm>
          <a:prstGeom prst="rect">
            <a:avLst/>
          </a:prstGeom>
          <a:noFill/>
          <a:ln/>
        </p:spPr>
        <p:txBody>
          <a:bodyPr wrap="square" lIns="0" tIns="0" rIns="0" bIns="0" rtlCol="0" anchor="ctr"/>
          <a:lstStyle/>
          <a:p>
            <a:pPr indent="0" marL="0">
              <a:buNone/>
            </a:pPr>
            <a:r>
              <a:rPr lang="en-US" sz="1550" b="1" dirty="0">
                <a:solidFill>
                  <a:srgbClr val="173A28"/>
                </a:solidFill>
                <a:latin typeface="Malgun Gothic" pitchFamily="34" charset="0"/>
                <a:ea typeface="Malgun Gothic" pitchFamily="34" charset="-122"/>
                <a:cs typeface="Malgun Gothic" pitchFamily="34" charset="-120"/>
              </a:rPr>
              <a:t>진한 풍미 · 크리미</a:t>
            </a:r>
            <a:endParaRPr lang="en-US" sz="1550" dirty="0"/>
          </a:p>
        </p:txBody>
      </p:sp>
      <p:sp>
        <p:nvSpPr>
          <p:cNvPr id="10" name="Text 8"/>
          <p:cNvSpPr/>
          <p:nvPr/>
        </p:nvSpPr>
        <p:spPr>
          <a:xfrm>
            <a:off x="777240" y="3886200"/>
            <a:ext cx="4937760" cy="548640"/>
          </a:xfrm>
          <a:prstGeom prst="rect">
            <a:avLst/>
          </a:prstGeom>
          <a:noFill/>
          <a:ln/>
        </p:spPr>
        <p:txBody>
          <a:bodyPr wrap="square" lIns="0" tIns="0" rIns="0" bIns="0" rtlCol="0" anchor="ctr"/>
          <a:lstStyle/>
          <a:p>
            <a:pPr indent="0" marL="0">
              <a:buNone/>
            </a:pPr>
            <a:r>
              <a:rPr lang="en-US" sz="1250" dirty="0">
                <a:solidFill>
                  <a:srgbClr val="20302A"/>
                </a:solidFill>
                <a:latin typeface="Malgun Gothic" pitchFamily="34" charset="0"/>
                <a:ea typeface="Malgun Gothic" pitchFamily="34" charset="-122"/>
                <a:cs typeface="Malgun Gothic" pitchFamily="34" charset="-120"/>
              </a:rPr>
              <a:t>황금빛(golden) 진한 우유 — 감각적 차별화가 뚜렷</a:t>
            </a:r>
            <a:endParaRPr lang="en-US" sz="1250" dirty="0"/>
          </a:p>
        </p:txBody>
      </p:sp>
      <p:sp>
        <p:nvSpPr>
          <p:cNvPr id="11" name="Shape 9"/>
          <p:cNvSpPr/>
          <p:nvPr/>
        </p:nvSpPr>
        <p:spPr>
          <a:xfrm>
            <a:off x="548640" y="4709160"/>
            <a:ext cx="5349240" cy="1170432"/>
          </a:xfrm>
          <a:prstGeom prst="roundRect">
            <a:avLst>
              <a:gd name="adj" fmla="val 6250"/>
            </a:avLst>
          </a:prstGeom>
          <a:solidFill>
            <a:srgbClr val="EAF2EC"/>
          </a:solidFill>
          <a:ln/>
        </p:spPr>
      </p:sp>
      <p:sp>
        <p:nvSpPr>
          <p:cNvPr id="12" name="Text 10"/>
          <p:cNvSpPr/>
          <p:nvPr/>
        </p:nvSpPr>
        <p:spPr>
          <a:xfrm>
            <a:off x="777240" y="4846320"/>
            <a:ext cx="4937760" cy="347472"/>
          </a:xfrm>
          <a:prstGeom prst="rect">
            <a:avLst/>
          </a:prstGeom>
          <a:noFill/>
          <a:ln/>
        </p:spPr>
        <p:txBody>
          <a:bodyPr wrap="square" lIns="0" tIns="0" rIns="0" bIns="0" rtlCol="0" anchor="ctr"/>
          <a:lstStyle/>
          <a:p>
            <a:pPr indent="0" marL="0">
              <a:buNone/>
            </a:pPr>
            <a:r>
              <a:rPr lang="en-US" sz="1550" b="1" dirty="0">
                <a:solidFill>
                  <a:srgbClr val="173A28"/>
                </a:solidFill>
                <a:latin typeface="Malgun Gothic" pitchFamily="34" charset="0"/>
                <a:ea typeface="Malgun Gothic" pitchFamily="34" charset="-122"/>
                <a:cs typeface="Malgun Gothic" pitchFamily="34" charset="-120"/>
              </a:rPr>
              <a:t>A2A2 프리미엄</a:t>
            </a:r>
            <a:endParaRPr lang="en-US" sz="1550" dirty="0"/>
          </a:p>
        </p:txBody>
      </p:sp>
      <p:sp>
        <p:nvSpPr>
          <p:cNvPr id="13" name="Text 11"/>
          <p:cNvSpPr/>
          <p:nvPr/>
        </p:nvSpPr>
        <p:spPr>
          <a:xfrm>
            <a:off x="777240" y="5212080"/>
            <a:ext cx="4937760" cy="548640"/>
          </a:xfrm>
          <a:prstGeom prst="rect">
            <a:avLst/>
          </a:prstGeom>
          <a:noFill/>
          <a:ln/>
        </p:spPr>
        <p:txBody>
          <a:bodyPr wrap="square" lIns="0" tIns="0" rIns="0" bIns="0" rtlCol="0" anchor="ctr"/>
          <a:lstStyle/>
          <a:p>
            <a:pPr indent="0" marL="0">
              <a:buNone/>
            </a:pPr>
            <a:r>
              <a:rPr lang="en-US" sz="1250" dirty="0">
                <a:solidFill>
                  <a:srgbClr val="20302A"/>
                </a:solidFill>
                <a:latin typeface="Malgun Gothic" pitchFamily="34" charset="0"/>
                <a:ea typeface="Malgun Gothic" pitchFamily="34" charset="-122"/>
                <a:cs typeface="Malgun Gothic" pitchFamily="34" charset="-120"/>
              </a:rPr>
              <a:t>A2 유전형 확보 시 'A2 우유'로 고부가 포지셔닝</a:t>
            </a:r>
            <a:endParaRPr lang="en-US" sz="1250" dirty="0"/>
          </a:p>
        </p:txBody>
      </p:sp>
      <p:sp>
        <p:nvSpPr>
          <p:cNvPr id="14" name="Shape 12"/>
          <p:cNvSpPr/>
          <p:nvPr/>
        </p:nvSpPr>
        <p:spPr>
          <a:xfrm>
            <a:off x="6263640" y="2057400"/>
            <a:ext cx="5394960" cy="3566160"/>
          </a:xfrm>
          <a:prstGeom prst="roundRect">
            <a:avLst>
              <a:gd name="adj" fmla="val 3077"/>
            </a:avLst>
          </a:prstGeom>
          <a:solidFill>
            <a:srgbClr val="173A28"/>
          </a:solidFill>
          <a:ln/>
        </p:spPr>
      </p:sp>
      <p:sp>
        <p:nvSpPr>
          <p:cNvPr id="15" name="Text 13"/>
          <p:cNvSpPr/>
          <p:nvPr/>
        </p:nvSpPr>
        <p:spPr>
          <a:xfrm>
            <a:off x="6583680" y="2286000"/>
            <a:ext cx="4754880" cy="365760"/>
          </a:xfrm>
          <a:prstGeom prst="rect">
            <a:avLst/>
          </a:prstGeom>
          <a:noFill/>
          <a:ln/>
        </p:spPr>
        <p:txBody>
          <a:bodyPr wrap="square" lIns="0" tIns="0" rIns="0" bIns="0" rtlCol="0" anchor="ctr"/>
          <a:lstStyle/>
          <a:p>
            <a:pPr indent="0" marL="0">
              <a:buNone/>
            </a:pPr>
            <a:r>
              <a:rPr lang="en-US" sz="1600" b="1" dirty="0">
                <a:solidFill>
                  <a:srgbClr val="C79A3A"/>
                </a:solidFill>
                <a:latin typeface="Malgun Gothic" pitchFamily="34" charset="0"/>
                <a:ea typeface="Malgun Gothic" pitchFamily="34" charset="-122"/>
                <a:cs typeface="Malgun Gothic" pitchFamily="34" charset="-120"/>
              </a:rPr>
              <a:t>문제의식</a:t>
            </a:r>
            <a:endParaRPr lang="en-US" sz="1600" dirty="0"/>
          </a:p>
        </p:txBody>
      </p:sp>
      <p:sp>
        <p:nvSpPr>
          <p:cNvPr id="16" name="Text 14"/>
          <p:cNvSpPr/>
          <p:nvPr/>
        </p:nvSpPr>
        <p:spPr>
          <a:xfrm>
            <a:off x="6720840" y="2743200"/>
            <a:ext cx="4800600" cy="15544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F3EFE4"/>
                </a:solidFill>
                <a:latin typeface="Malgun Gothic" pitchFamily="34" charset="0"/>
                <a:ea typeface="Malgun Gothic" pitchFamily="34" charset="-122"/>
                <a:cs typeface="Malgun Gothic" pitchFamily="34" charset="-120"/>
              </a:rPr>
              <a:t>저지는 생산량이 적고 원유 원가가 높다</a:t>
            </a:r>
            <a:endParaRPr lang="en-US" sz="1400" dirty="0"/>
          </a:p>
          <a:p>
            <a:pPr marL="342900" indent="-342900">
              <a:spcAft>
                <a:spcPts val="1000"/>
              </a:spcAft>
              <a:buSzPct val="100000"/>
              <a:buChar char="•"/>
            </a:pPr>
            <a:r>
              <a:rPr lang="en-US" sz="1400" dirty="0">
                <a:solidFill>
                  <a:srgbClr val="F3EFE4"/>
                </a:solidFill>
                <a:latin typeface="Malgun Gothic" pitchFamily="34" charset="0"/>
                <a:ea typeface="Malgun Gothic" pitchFamily="34" charset="-122"/>
                <a:cs typeface="Malgun Gothic" pitchFamily="34" charset="-120"/>
              </a:rPr>
              <a:t>원유를 '그대로' 파는 방식으로는 수익성에 한계</a:t>
            </a:r>
            <a:endParaRPr lang="en-US" sz="1400" dirty="0"/>
          </a:p>
          <a:p>
            <a:pPr marL="342900" indent="-342900">
              <a:spcAft>
                <a:spcPts val="1000"/>
              </a:spcAft>
              <a:buSzPct val="100000"/>
              <a:buChar char="•"/>
            </a:pPr>
            <a:r>
              <a:rPr lang="en-US" sz="1400" dirty="0">
                <a:solidFill>
                  <a:srgbClr val="F3EFE4"/>
                </a:solidFill>
                <a:latin typeface="Malgun Gothic" pitchFamily="34" charset="0"/>
                <a:ea typeface="Malgun Gothic" pitchFamily="34" charset="-122"/>
                <a:cs typeface="Malgun Gothic" pitchFamily="34" charset="-120"/>
              </a:rPr>
              <a:t>대량 · 저가 경쟁에 뛰어들 수 없는 구조</a:t>
            </a:r>
            <a:endParaRPr lang="en-US" sz="1400" dirty="0"/>
          </a:p>
        </p:txBody>
      </p:sp>
      <p:sp>
        <p:nvSpPr>
          <p:cNvPr id="17" name="Shape 15"/>
          <p:cNvSpPr/>
          <p:nvPr/>
        </p:nvSpPr>
        <p:spPr>
          <a:xfrm>
            <a:off x="6583680" y="4526280"/>
            <a:ext cx="4800600" cy="914400"/>
          </a:xfrm>
          <a:prstGeom prst="roundRect">
            <a:avLst>
              <a:gd name="adj" fmla="val 8000"/>
            </a:avLst>
          </a:prstGeom>
          <a:solidFill>
            <a:srgbClr val="C79A3A"/>
          </a:solidFill>
          <a:ln/>
        </p:spPr>
      </p:sp>
      <p:sp>
        <p:nvSpPr>
          <p:cNvPr id="18" name="Text 16"/>
          <p:cNvSpPr/>
          <p:nvPr/>
        </p:nvSpPr>
        <p:spPr>
          <a:xfrm>
            <a:off x="6766560" y="4617720"/>
            <a:ext cx="4480560" cy="731520"/>
          </a:xfrm>
          <a:prstGeom prst="rect">
            <a:avLst/>
          </a:prstGeom>
          <a:noFill/>
          <a:ln/>
        </p:spPr>
        <p:txBody>
          <a:bodyPr wrap="square" lIns="0" tIns="0" rIns="0" bIns="0" rtlCol="0" anchor="ctr"/>
          <a:lstStyle/>
          <a:p>
            <a:pPr indent="0" marL="0">
              <a:buNone/>
            </a:pPr>
            <a:r>
              <a:rPr lang="en-US" sz="1450" b="1" dirty="0">
                <a:solidFill>
                  <a:srgbClr val="173A28"/>
                </a:solidFill>
                <a:latin typeface="Malgun Gothic" pitchFamily="34" charset="0"/>
                <a:ea typeface="Malgun Gothic" pitchFamily="34" charset="-122"/>
                <a:cs typeface="Malgun Gothic" pitchFamily="34" charset="-120"/>
              </a:rPr>
              <a:t>→  가공 + 브랜드 '산업화'가 저지 사업의 필수 전략</a:t>
            </a:r>
            <a:endParaRPr lang="en-US" sz="1450" dirty="0"/>
          </a:p>
        </p:txBody>
      </p:sp>
      <p:sp>
        <p:nvSpPr>
          <p:cNvPr id="19" name="Text 17"/>
          <p:cNvSpPr/>
          <p:nvPr/>
        </p:nvSpPr>
        <p:spPr>
          <a:xfrm>
            <a:off x="502920" y="6419088"/>
            <a:ext cx="9601200" cy="292608"/>
          </a:xfrm>
          <a:prstGeom prst="rect">
            <a:avLst/>
          </a:prstGeom>
          <a:noFill/>
          <a:ln/>
        </p:spPr>
        <p:txBody>
          <a:bodyPr wrap="square" lIns="0" tIns="0" rIns="0" bIns="0" rtlCol="0" anchor="ctr"/>
          <a:lstStyle/>
          <a:p>
            <a:pPr algn="l" indent="0" marL="0">
              <a:buNone/>
            </a:pPr>
            <a:r>
              <a:rPr lang="en-US" sz="900" dirty="0">
                <a:solidFill>
                  <a:srgbClr val="6B7B72"/>
                </a:solidFill>
                <a:latin typeface="Malgun Gothic" pitchFamily="34" charset="0"/>
                <a:ea typeface="Malgun Gothic" pitchFamily="34" charset="-122"/>
                <a:cs typeface="Malgun Gothic" pitchFamily="34" charset="-120"/>
              </a:rPr>
              <a:t>저지종 젖소 산업 활성화를 위한 국제 심포지엄  ·  송영신목장 하현제 원장</a:t>
            </a:r>
            <a:endParaRPr lang="en-US" sz="900" dirty="0"/>
          </a:p>
        </p:txBody>
      </p:sp>
      <p:sp>
        <p:nvSpPr>
          <p:cNvPr id="20" name="Text 18"/>
          <p:cNvSpPr/>
          <p:nvPr/>
        </p:nvSpPr>
        <p:spPr>
          <a:xfrm>
            <a:off x="11292840" y="6419088"/>
            <a:ext cx="411480" cy="292608"/>
          </a:xfrm>
          <a:prstGeom prst="rect">
            <a:avLst/>
          </a:prstGeom>
          <a:noFill/>
          <a:ln/>
        </p:spPr>
        <p:txBody>
          <a:bodyPr wrap="square" lIns="0" tIns="0" rIns="0" bIns="0" rtlCol="0" anchor="ctr"/>
          <a:lstStyle/>
          <a:p>
            <a:pPr algn="r" indent="0" marL="0">
              <a:buNone/>
            </a:pPr>
            <a:r>
              <a:rPr lang="en-US" sz="900" dirty="0">
                <a:solidFill>
                  <a:srgbClr val="6B7B72"/>
                </a:solidFill>
                <a:latin typeface="Malgun Gothic" pitchFamily="34" charset="0"/>
                <a:ea typeface="Malgun Gothic" pitchFamily="34" charset="-122"/>
                <a:cs typeface="Malgun Gothic"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lIns="0" tIns="0" rIns="0" bIns="0" rtlCol="0" anchor="ctr"/>
          <a:lstStyle/>
          <a:p>
            <a:pPr indent="0" marL="0">
              <a:buNone/>
            </a:pPr>
            <a:r>
              <a:rPr lang="en-US" sz="1200" b="1" spc="200" kern="0" dirty="0">
                <a:solidFill>
                  <a:srgbClr val="C79A3A"/>
                </a:solidFill>
                <a:latin typeface="Malgun Gothic" pitchFamily="34" charset="0"/>
                <a:ea typeface="Malgun Gothic" pitchFamily="34" charset="-122"/>
                <a:cs typeface="Malgun Gothic" pitchFamily="34" charset="-120"/>
              </a:rPr>
              <a:t>02  순환농업 기반</a:t>
            </a:r>
            <a:endParaRPr lang="en-US" sz="1200" dirty="0"/>
          </a:p>
        </p:txBody>
      </p:sp>
      <p:sp>
        <p:nvSpPr>
          <p:cNvPr id="3" name="Text 1"/>
          <p:cNvSpPr/>
          <p:nvPr/>
        </p:nvSpPr>
        <p:spPr>
          <a:xfrm>
            <a:off x="530352" y="749808"/>
            <a:ext cx="11064240" cy="685800"/>
          </a:xfrm>
          <a:prstGeom prst="rect">
            <a:avLst/>
          </a:prstGeom>
          <a:noFill/>
          <a:ln/>
        </p:spPr>
        <p:txBody>
          <a:bodyPr wrap="square" lIns="0" tIns="0" rIns="0" bIns="0" rtlCol="0" anchor="ctr"/>
          <a:lstStyle/>
          <a:p>
            <a:pPr indent="0" marL="0">
              <a:buNone/>
            </a:pPr>
            <a:r>
              <a:rPr lang="en-US" sz="3100" b="1" dirty="0">
                <a:solidFill>
                  <a:srgbClr val="173A28"/>
                </a:solidFill>
                <a:latin typeface="Malgun Gothic" pitchFamily="34" charset="0"/>
                <a:ea typeface="Malgun Gothic" pitchFamily="34" charset="-122"/>
                <a:cs typeface="Malgun Gothic" pitchFamily="34" charset="-120"/>
              </a:rPr>
              <a:t>Soil to Soul — 품질과 브랜드 서사를 동시에</a:t>
            </a:r>
            <a:endParaRPr lang="en-US" sz="3100" dirty="0"/>
          </a:p>
        </p:txBody>
      </p:sp>
      <p:sp>
        <p:nvSpPr>
          <p:cNvPr id="4" name="Shape 2"/>
          <p:cNvSpPr/>
          <p:nvPr/>
        </p:nvSpPr>
        <p:spPr>
          <a:xfrm>
            <a:off x="640080" y="1828800"/>
            <a:ext cx="1965960" cy="1005840"/>
          </a:xfrm>
          <a:prstGeom prst="roundRect">
            <a:avLst>
              <a:gd name="adj" fmla="val 9091"/>
            </a:avLst>
          </a:prstGeom>
          <a:solidFill>
            <a:srgbClr val="173A28"/>
          </a:solidFill>
          <a:ln/>
        </p:spPr>
      </p:sp>
      <p:sp>
        <p:nvSpPr>
          <p:cNvPr id="5" name="Text 3"/>
          <p:cNvSpPr/>
          <p:nvPr/>
        </p:nvSpPr>
        <p:spPr>
          <a:xfrm>
            <a:off x="640080" y="1828800"/>
            <a:ext cx="1965960" cy="1005840"/>
          </a:xfrm>
          <a:prstGeom prst="rect">
            <a:avLst/>
          </a:prstGeom>
          <a:noFill/>
          <a:ln/>
        </p:spPr>
        <p:txBody>
          <a:bodyPr wrap="square"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건강한 흙</a:t>
            </a:r>
            <a:endParaRPr lang="en-US" sz="1700" dirty="0"/>
          </a:p>
        </p:txBody>
      </p:sp>
      <p:sp>
        <p:nvSpPr>
          <p:cNvPr id="6" name="Text 4"/>
          <p:cNvSpPr/>
          <p:nvPr/>
        </p:nvSpPr>
        <p:spPr>
          <a:xfrm>
            <a:off x="2624328" y="1828800"/>
            <a:ext cx="320040" cy="1005840"/>
          </a:xfrm>
          <a:prstGeom prst="rect">
            <a:avLst/>
          </a:prstGeom>
          <a:noFill/>
          <a:ln/>
        </p:spPr>
        <p:txBody>
          <a:bodyPr wrap="square" rtlCol="0" anchor="ctr"/>
          <a:lstStyle/>
          <a:p>
            <a:pPr algn="ctr" indent="0" marL="0">
              <a:buNone/>
            </a:pPr>
            <a:r>
              <a:rPr lang="en-US" sz="1400" dirty="0">
                <a:solidFill>
                  <a:srgbClr val="C79A3A"/>
                </a:solidFill>
                <a:latin typeface="Malgun Gothic" pitchFamily="34" charset="0"/>
                <a:ea typeface="Malgun Gothic" pitchFamily="34" charset="-122"/>
                <a:cs typeface="Malgun Gothic" pitchFamily="34" charset="-120"/>
              </a:rPr>
              <a:t>▶</a:t>
            </a:r>
            <a:endParaRPr lang="en-US" sz="1400" dirty="0"/>
          </a:p>
        </p:txBody>
      </p:sp>
      <p:sp>
        <p:nvSpPr>
          <p:cNvPr id="7" name="Shape 5"/>
          <p:cNvSpPr/>
          <p:nvPr/>
        </p:nvSpPr>
        <p:spPr>
          <a:xfrm>
            <a:off x="2926080" y="1828800"/>
            <a:ext cx="1965960" cy="1005840"/>
          </a:xfrm>
          <a:prstGeom prst="roundRect">
            <a:avLst>
              <a:gd name="adj" fmla="val 9091"/>
            </a:avLst>
          </a:prstGeom>
          <a:solidFill>
            <a:srgbClr val="2C6E49"/>
          </a:solidFill>
          <a:ln/>
        </p:spPr>
      </p:sp>
      <p:sp>
        <p:nvSpPr>
          <p:cNvPr id="8" name="Text 6"/>
          <p:cNvSpPr/>
          <p:nvPr/>
        </p:nvSpPr>
        <p:spPr>
          <a:xfrm>
            <a:off x="2926080" y="1828800"/>
            <a:ext cx="1965960" cy="1005840"/>
          </a:xfrm>
          <a:prstGeom prst="rect">
            <a:avLst/>
          </a:prstGeom>
          <a:noFill/>
          <a:ln/>
        </p:spPr>
        <p:txBody>
          <a:bodyPr wrap="square"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건강한 풀</a:t>
            </a:r>
            <a:endParaRPr lang="en-US" sz="1700" dirty="0"/>
          </a:p>
        </p:txBody>
      </p:sp>
      <p:sp>
        <p:nvSpPr>
          <p:cNvPr id="9" name="Text 7"/>
          <p:cNvSpPr/>
          <p:nvPr/>
        </p:nvSpPr>
        <p:spPr>
          <a:xfrm>
            <a:off x="4910328" y="1828800"/>
            <a:ext cx="320040" cy="1005840"/>
          </a:xfrm>
          <a:prstGeom prst="rect">
            <a:avLst/>
          </a:prstGeom>
          <a:noFill/>
          <a:ln/>
        </p:spPr>
        <p:txBody>
          <a:bodyPr wrap="square" rtlCol="0" anchor="ctr"/>
          <a:lstStyle/>
          <a:p>
            <a:pPr algn="ctr" indent="0" marL="0">
              <a:buNone/>
            </a:pPr>
            <a:r>
              <a:rPr lang="en-US" sz="1400" dirty="0">
                <a:solidFill>
                  <a:srgbClr val="C79A3A"/>
                </a:solidFill>
                <a:latin typeface="Malgun Gothic" pitchFamily="34" charset="0"/>
                <a:ea typeface="Malgun Gothic" pitchFamily="34" charset="-122"/>
                <a:cs typeface="Malgun Gothic" pitchFamily="34" charset="-120"/>
              </a:rPr>
              <a:t>▶</a:t>
            </a:r>
            <a:endParaRPr lang="en-US" sz="1400" dirty="0"/>
          </a:p>
        </p:txBody>
      </p:sp>
      <p:sp>
        <p:nvSpPr>
          <p:cNvPr id="10" name="Shape 8"/>
          <p:cNvSpPr/>
          <p:nvPr/>
        </p:nvSpPr>
        <p:spPr>
          <a:xfrm>
            <a:off x="5212080" y="1828800"/>
            <a:ext cx="1965960" cy="1005840"/>
          </a:xfrm>
          <a:prstGeom prst="roundRect">
            <a:avLst>
              <a:gd name="adj" fmla="val 9091"/>
            </a:avLst>
          </a:prstGeom>
          <a:solidFill>
            <a:srgbClr val="173A28"/>
          </a:solidFill>
          <a:ln/>
        </p:spPr>
      </p:sp>
      <p:sp>
        <p:nvSpPr>
          <p:cNvPr id="11" name="Text 9"/>
          <p:cNvSpPr/>
          <p:nvPr/>
        </p:nvSpPr>
        <p:spPr>
          <a:xfrm>
            <a:off x="5212080" y="1828800"/>
            <a:ext cx="1965960" cy="1005840"/>
          </a:xfrm>
          <a:prstGeom prst="rect">
            <a:avLst/>
          </a:prstGeom>
          <a:noFill/>
          <a:ln/>
        </p:spPr>
        <p:txBody>
          <a:bodyPr wrap="square"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건강한 소</a:t>
            </a:r>
            <a:endParaRPr lang="en-US" sz="1700" dirty="0"/>
          </a:p>
        </p:txBody>
      </p:sp>
      <p:sp>
        <p:nvSpPr>
          <p:cNvPr id="12" name="Text 10"/>
          <p:cNvSpPr/>
          <p:nvPr/>
        </p:nvSpPr>
        <p:spPr>
          <a:xfrm>
            <a:off x="7196328" y="1828800"/>
            <a:ext cx="320040" cy="1005840"/>
          </a:xfrm>
          <a:prstGeom prst="rect">
            <a:avLst/>
          </a:prstGeom>
          <a:noFill/>
          <a:ln/>
        </p:spPr>
        <p:txBody>
          <a:bodyPr wrap="square" rtlCol="0" anchor="ctr"/>
          <a:lstStyle/>
          <a:p>
            <a:pPr algn="ctr" indent="0" marL="0">
              <a:buNone/>
            </a:pPr>
            <a:r>
              <a:rPr lang="en-US" sz="1400" dirty="0">
                <a:solidFill>
                  <a:srgbClr val="C79A3A"/>
                </a:solidFill>
                <a:latin typeface="Malgun Gothic" pitchFamily="34" charset="0"/>
                <a:ea typeface="Malgun Gothic" pitchFamily="34" charset="-122"/>
                <a:cs typeface="Malgun Gothic" pitchFamily="34" charset="-120"/>
              </a:rPr>
              <a:t>▶</a:t>
            </a:r>
            <a:endParaRPr lang="en-US" sz="1400" dirty="0"/>
          </a:p>
        </p:txBody>
      </p:sp>
      <p:sp>
        <p:nvSpPr>
          <p:cNvPr id="13" name="Shape 11"/>
          <p:cNvSpPr/>
          <p:nvPr/>
        </p:nvSpPr>
        <p:spPr>
          <a:xfrm>
            <a:off x="7498080" y="1828800"/>
            <a:ext cx="1965960" cy="1005840"/>
          </a:xfrm>
          <a:prstGeom prst="roundRect">
            <a:avLst>
              <a:gd name="adj" fmla="val 9091"/>
            </a:avLst>
          </a:prstGeom>
          <a:solidFill>
            <a:srgbClr val="2C6E49"/>
          </a:solidFill>
          <a:ln/>
        </p:spPr>
      </p:sp>
      <p:sp>
        <p:nvSpPr>
          <p:cNvPr id="14" name="Text 12"/>
          <p:cNvSpPr/>
          <p:nvPr/>
        </p:nvSpPr>
        <p:spPr>
          <a:xfrm>
            <a:off x="7498080" y="1828800"/>
            <a:ext cx="1965960" cy="1005840"/>
          </a:xfrm>
          <a:prstGeom prst="rect">
            <a:avLst/>
          </a:prstGeom>
          <a:noFill/>
          <a:ln/>
        </p:spPr>
        <p:txBody>
          <a:bodyPr wrap="square"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좋은 우유</a:t>
            </a:r>
            <a:endParaRPr lang="en-US" sz="1700" dirty="0"/>
          </a:p>
        </p:txBody>
      </p:sp>
      <p:sp>
        <p:nvSpPr>
          <p:cNvPr id="15" name="Text 13"/>
          <p:cNvSpPr/>
          <p:nvPr/>
        </p:nvSpPr>
        <p:spPr>
          <a:xfrm>
            <a:off x="9482328" y="1828800"/>
            <a:ext cx="320040" cy="1005840"/>
          </a:xfrm>
          <a:prstGeom prst="rect">
            <a:avLst/>
          </a:prstGeom>
          <a:noFill/>
          <a:ln/>
        </p:spPr>
        <p:txBody>
          <a:bodyPr wrap="square" rtlCol="0" anchor="ctr"/>
          <a:lstStyle/>
          <a:p>
            <a:pPr algn="ctr" indent="0" marL="0">
              <a:buNone/>
            </a:pPr>
            <a:r>
              <a:rPr lang="en-US" sz="1400" dirty="0">
                <a:solidFill>
                  <a:srgbClr val="C79A3A"/>
                </a:solidFill>
                <a:latin typeface="Malgun Gothic" pitchFamily="34" charset="0"/>
                <a:ea typeface="Malgun Gothic" pitchFamily="34" charset="-122"/>
                <a:cs typeface="Malgun Gothic" pitchFamily="34" charset="-120"/>
              </a:rPr>
              <a:t>▶</a:t>
            </a:r>
            <a:endParaRPr lang="en-US" sz="1400" dirty="0"/>
          </a:p>
        </p:txBody>
      </p:sp>
      <p:sp>
        <p:nvSpPr>
          <p:cNvPr id="16" name="Shape 14"/>
          <p:cNvSpPr/>
          <p:nvPr/>
        </p:nvSpPr>
        <p:spPr>
          <a:xfrm>
            <a:off x="9784080" y="1828800"/>
            <a:ext cx="1965960" cy="1005840"/>
          </a:xfrm>
          <a:prstGeom prst="roundRect">
            <a:avLst>
              <a:gd name="adj" fmla="val 9091"/>
            </a:avLst>
          </a:prstGeom>
          <a:solidFill>
            <a:srgbClr val="173A28"/>
          </a:solidFill>
          <a:ln/>
        </p:spPr>
      </p:sp>
      <p:sp>
        <p:nvSpPr>
          <p:cNvPr id="17" name="Text 15"/>
          <p:cNvSpPr/>
          <p:nvPr/>
        </p:nvSpPr>
        <p:spPr>
          <a:xfrm>
            <a:off x="9784080" y="1828800"/>
            <a:ext cx="1965960" cy="1005840"/>
          </a:xfrm>
          <a:prstGeom prst="rect">
            <a:avLst/>
          </a:prstGeom>
          <a:noFill/>
          <a:ln/>
        </p:spPr>
        <p:txBody>
          <a:bodyPr wrap="square"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건강한 사람</a:t>
            </a:r>
            <a:endParaRPr lang="en-US" sz="1700" dirty="0"/>
          </a:p>
        </p:txBody>
      </p:sp>
      <p:sp>
        <p:nvSpPr>
          <p:cNvPr id="18" name="Shape 16"/>
          <p:cNvSpPr/>
          <p:nvPr/>
        </p:nvSpPr>
        <p:spPr>
          <a:xfrm>
            <a:off x="640080" y="3337560"/>
            <a:ext cx="3474720" cy="2286000"/>
          </a:xfrm>
          <a:prstGeom prst="roundRect">
            <a:avLst>
              <a:gd name="adj" fmla="val 4000"/>
            </a:avLst>
          </a:prstGeom>
          <a:solidFill>
            <a:srgbClr val="EAF2EC"/>
          </a:solidFill>
          <a:ln/>
        </p:spPr>
      </p:sp>
      <p:sp>
        <p:nvSpPr>
          <p:cNvPr id="19" name="Shape 17"/>
          <p:cNvSpPr/>
          <p:nvPr/>
        </p:nvSpPr>
        <p:spPr>
          <a:xfrm>
            <a:off x="914400" y="3611880"/>
            <a:ext cx="502920" cy="502920"/>
          </a:xfrm>
          <a:prstGeom prst="ellipse">
            <a:avLst/>
          </a:prstGeom>
          <a:solidFill>
            <a:srgbClr val="C79A3A"/>
          </a:solidFill>
          <a:ln/>
        </p:spPr>
      </p:sp>
      <p:sp>
        <p:nvSpPr>
          <p:cNvPr id="20" name="Text 18"/>
          <p:cNvSpPr/>
          <p:nvPr/>
        </p:nvSpPr>
        <p:spPr>
          <a:xfrm>
            <a:off x="914400" y="3611880"/>
            <a:ext cx="502920" cy="502920"/>
          </a:xfrm>
          <a:prstGeom prst="rect">
            <a:avLst/>
          </a:prstGeom>
          <a:noFill/>
          <a:ln/>
        </p:spPr>
        <p:txBody>
          <a:bodyPr wrap="square" rtlCol="0" anchor="ctr"/>
          <a:lstStyle/>
          <a:p>
            <a:pPr algn="ctr" indent="0" marL="0">
              <a:buNone/>
            </a:pPr>
            <a:r>
              <a:rPr lang="en-US" sz="1700" b="1" dirty="0">
                <a:solidFill>
                  <a:srgbClr val="173A28"/>
                </a:solidFill>
                <a:latin typeface="Malgun Gothic" pitchFamily="34" charset="0"/>
                <a:ea typeface="Malgun Gothic" pitchFamily="34" charset="-122"/>
                <a:cs typeface="Malgun Gothic" pitchFamily="34" charset="-120"/>
              </a:rPr>
              <a:t>1</a:t>
            </a:r>
            <a:endParaRPr lang="en-US" sz="1700" dirty="0"/>
          </a:p>
        </p:txBody>
      </p:sp>
      <p:sp>
        <p:nvSpPr>
          <p:cNvPr id="21" name="Text 19"/>
          <p:cNvSpPr/>
          <p:nvPr/>
        </p:nvSpPr>
        <p:spPr>
          <a:xfrm>
            <a:off x="896112" y="4251960"/>
            <a:ext cx="2971800" cy="640080"/>
          </a:xfrm>
          <a:prstGeom prst="rect">
            <a:avLst/>
          </a:prstGeom>
          <a:noFill/>
          <a:ln/>
        </p:spPr>
        <p:txBody>
          <a:bodyPr wrap="square" lIns="0" tIns="0" rIns="0" bIns="0" rtlCol="0" anchor="t"/>
          <a:lstStyle/>
          <a:p>
            <a:pPr indent="0" marL="0">
              <a:buNone/>
            </a:pPr>
            <a:r>
              <a:rPr lang="en-US" sz="1550" b="1" dirty="0">
                <a:solidFill>
                  <a:srgbClr val="173A28"/>
                </a:solidFill>
                <a:latin typeface="Malgun Gothic" pitchFamily="34" charset="0"/>
                <a:ea typeface="Malgun Gothic" pitchFamily="34" charset="-122"/>
                <a:cs typeface="Malgun Gothic" pitchFamily="34" charset="-120"/>
              </a:rPr>
              <a:t>건초 중심 사양 (Hay Milk)</a:t>
            </a:r>
            <a:endParaRPr lang="en-US" sz="1550" dirty="0"/>
          </a:p>
        </p:txBody>
      </p:sp>
      <p:sp>
        <p:nvSpPr>
          <p:cNvPr id="22" name="Text 20"/>
          <p:cNvSpPr/>
          <p:nvPr/>
        </p:nvSpPr>
        <p:spPr>
          <a:xfrm>
            <a:off x="896112" y="4892040"/>
            <a:ext cx="2971800" cy="640080"/>
          </a:xfrm>
          <a:prstGeom prst="rect">
            <a:avLst/>
          </a:prstGeom>
          <a:noFill/>
          <a:ln/>
        </p:spPr>
        <p:txBody>
          <a:bodyPr wrap="square" lIns="0" tIns="0" rIns="0" bIns="0" rtlCol="0" anchor="t"/>
          <a:lstStyle/>
          <a:p>
            <a:pPr indent="0" marL="0">
              <a:buNone/>
            </a:pPr>
            <a:r>
              <a:rPr lang="en-US" sz="1250" dirty="0">
                <a:solidFill>
                  <a:srgbClr val="20302A"/>
                </a:solidFill>
                <a:latin typeface="Malgun Gothic" pitchFamily="34" charset="0"/>
                <a:ea typeface="Malgun Gothic" pitchFamily="34" charset="-122"/>
                <a:cs typeface="Malgun Gothic" pitchFamily="34" charset="-120"/>
              </a:rPr>
              <a:t>자연 조사료를 급여해 원유의 자연성 · 풍미를 확보</a:t>
            </a:r>
            <a:endParaRPr lang="en-US" sz="1250" dirty="0"/>
          </a:p>
        </p:txBody>
      </p:sp>
      <p:sp>
        <p:nvSpPr>
          <p:cNvPr id="23" name="Shape 21"/>
          <p:cNvSpPr/>
          <p:nvPr/>
        </p:nvSpPr>
        <p:spPr>
          <a:xfrm>
            <a:off x="4343400" y="3337560"/>
            <a:ext cx="3474720" cy="2286000"/>
          </a:xfrm>
          <a:prstGeom prst="roundRect">
            <a:avLst>
              <a:gd name="adj" fmla="val 4000"/>
            </a:avLst>
          </a:prstGeom>
          <a:solidFill>
            <a:srgbClr val="EAF2EC"/>
          </a:solidFill>
          <a:ln/>
        </p:spPr>
      </p:sp>
      <p:sp>
        <p:nvSpPr>
          <p:cNvPr id="24" name="Shape 22"/>
          <p:cNvSpPr/>
          <p:nvPr/>
        </p:nvSpPr>
        <p:spPr>
          <a:xfrm>
            <a:off x="4617720" y="3611880"/>
            <a:ext cx="502920" cy="502920"/>
          </a:xfrm>
          <a:prstGeom prst="ellipse">
            <a:avLst/>
          </a:prstGeom>
          <a:solidFill>
            <a:srgbClr val="C79A3A"/>
          </a:solidFill>
          <a:ln/>
        </p:spPr>
      </p:sp>
      <p:sp>
        <p:nvSpPr>
          <p:cNvPr id="25" name="Text 23"/>
          <p:cNvSpPr/>
          <p:nvPr/>
        </p:nvSpPr>
        <p:spPr>
          <a:xfrm>
            <a:off x="4617720" y="3611880"/>
            <a:ext cx="502920" cy="502920"/>
          </a:xfrm>
          <a:prstGeom prst="rect">
            <a:avLst/>
          </a:prstGeom>
          <a:noFill/>
          <a:ln/>
        </p:spPr>
        <p:txBody>
          <a:bodyPr wrap="square" rtlCol="0" anchor="ctr"/>
          <a:lstStyle/>
          <a:p>
            <a:pPr algn="ctr" indent="0" marL="0">
              <a:buNone/>
            </a:pPr>
            <a:r>
              <a:rPr lang="en-US" sz="1700" b="1" dirty="0">
                <a:solidFill>
                  <a:srgbClr val="173A28"/>
                </a:solidFill>
                <a:latin typeface="Malgun Gothic" pitchFamily="34" charset="0"/>
                <a:ea typeface="Malgun Gothic" pitchFamily="34" charset="-122"/>
                <a:cs typeface="Malgun Gothic" pitchFamily="34" charset="-120"/>
              </a:rPr>
              <a:t>2</a:t>
            </a:r>
            <a:endParaRPr lang="en-US" sz="1700" dirty="0"/>
          </a:p>
        </p:txBody>
      </p:sp>
      <p:sp>
        <p:nvSpPr>
          <p:cNvPr id="26" name="Text 24"/>
          <p:cNvSpPr/>
          <p:nvPr/>
        </p:nvSpPr>
        <p:spPr>
          <a:xfrm>
            <a:off x="4599432" y="4251960"/>
            <a:ext cx="2971800" cy="640080"/>
          </a:xfrm>
          <a:prstGeom prst="rect">
            <a:avLst/>
          </a:prstGeom>
          <a:noFill/>
          <a:ln/>
        </p:spPr>
        <p:txBody>
          <a:bodyPr wrap="square" lIns="0" tIns="0" rIns="0" bIns="0" rtlCol="0" anchor="t"/>
          <a:lstStyle/>
          <a:p>
            <a:pPr indent="0" marL="0">
              <a:buNone/>
            </a:pPr>
            <a:r>
              <a:rPr lang="en-US" sz="1550" b="1" dirty="0">
                <a:solidFill>
                  <a:srgbClr val="173A28"/>
                </a:solidFill>
                <a:latin typeface="Malgun Gothic" pitchFamily="34" charset="0"/>
                <a:ea typeface="Malgun Gothic" pitchFamily="34" charset="-122"/>
                <a:cs typeface="Malgun Gothic" pitchFamily="34" charset="-120"/>
              </a:rPr>
              <a:t>D2O 순환농업</a:t>
            </a:r>
            <a:endParaRPr lang="en-US" sz="1550" dirty="0"/>
          </a:p>
        </p:txBody>
      </p:sp>
      <p:sp>
        <p:nvSpPr>
          <p:cNvPr id="27" name="Text 25"/>
          <p:cNvSpPr/>
          <p:nvPr/>
        </p:nvSpPr>
        <p:spPr>
          <a:xfrm>
            <a:off x="4599432" y="4892040"/>
            <a:ext cx="2971800" cy="640080"/>
          </a:xfrm>
          <a:prstGeom prst="rect">
            <a:avLst/>
          </a:prstGeom>
          <a:noFill/>
          <a:ln/>
        </p:spPr>
        <p:txBody>
          <a:bodyPr wrap="square" lIns="0" tIns="0" rIns="0" bIns="0" rtlCol="0" anchor="t"/>
          <a:lstStyle/>
          <a:p>
            <a:pPr indent="0" marL="0">
              <a:buNone/>
            </a:pPr>
            <a:r>
              <a:rPr lang="en-US" sz="1250" dirty="0">
                <a:solidFill>
                  <a:srgbClr val="20302A"/>
                </a:solidFill>
                <a:latin typeface="Malgun Gothic" pitchFamily="34" charset="0"/>
                <a:ea typeface="Malgun Gothic" pitchFamily="34" charset="-122"/>
                <a:cs typeface="Malgun Gothic" pitchFamily="34" charset="-120"/>
              </a:rPr>
              <a:t>분뇨 → 베딩 · 힐링퇴비 → 토양 환원의 완결형 순환</a:t>
            </a:r>
            <a:endParaRPr lang="en-US" sz="1250" dirty="0"/>
          </a:p>
        </p:txBody>
      </p:sp>
      <p:sp>
        <p:nvSpPr>
          <p:cNvPr id="28" name="Shape 26"/>
          <p:cNvSpPr/>
          <p:nvPr/>
        </p:nvSpPr>
        <p:spPr>
          <a:xfrm>
            <a:off x="8046720" y="3337560"/>
            <a:ext cx="3474720" cy="2286000"/>
          </a:xfrm>
          <a:prstGeom prst="roundRect">
            <a:avLst>
              <a:gd name="adj" fmla="val 4000"/>
            </a:avLst>
          </a:prstGeom>
          <a:solidFill>
            <a:srgbClr val="EAF2EC"/>
          </a:solidFill>
          <a:ln/>
        </p:spPr>
      </p:sp>
      <p:sp>
        <p:nvSpPr>
          <p:cNvPr id="29" name="Shape 27"/>
          <p:cNvSpPr/>
          <p:nvPr/>
        </p:nvSpPr>
        <p:spPr>
          <a:xfrm>
            <a:off x="8321040" y="3611880"/>
            <a:ext cx="502920" cy="502920"/>
          </a:xfrm>
          <a:prstGeom prst="ellipse">
            <a:avLst/>
          </a:prstGeom>
          <a:solidFill>
            <a:srgbClr val="C79A3A"/>
          </a:solidFill>
          <a:ln/>
        </p:spPr>
      </p:sp>
      <p:sp>
        <p:nvSpPr>
          <p:cNvPr id="30" name="Text 28"/>
          <p:cNvSpPr/>
          <p:nvPr/>
        </p:nvSpPr>
        <p:spPr>
          <a:xfrm>
            <a:off x="8321040" y="3611880"/>
            <a:ext cx="502920" cy="502920"/>
          </a:xfrm>
          <a:prstGeom prst="rect">
            <a:avLst/>
          </a:prstGeom>
          <a:noFill/>
          <a:ln/>
        </p:spPr>
        <p:txBody>
          <a:bodyPr wrap="square" rtlCol="0" anchor="ctr"/>
          <a:lstStyle/>
          <a:p>
            <a:pPr algn="ctr" indent="0" marL="0">
              <a:buNone/>
            </a:pPr>
            <a:r>
              <a:rPr lang="en-US" sz="1700" b="1" dirty="0">
                <a:solidFill>
                  <a:srgbClr val="173A28"/>
                </a:solidFill>
                <a:latin typeface="Malgun Gothic" pitchFamily="34" charset="0"/>
                <a:ea typeface="Malgun Gothic" pitchFamily="34" charset="-122"/>
                <a:cs typeface="Malgun Gothic" pitchFamily="34" charset="-120"/>
              </a:rPr>
              <a:t>3</a:t>
            </a:r>
            <a:endParaRPr lang="en-US" sz="1700" dirty="0"/>
          </a:p>
        </p:txBody>
      </p:sp>
      <p:sp>
        <p:nvSpPr>
          <p:cNvPr id="31" name="Text 29"/>
          <p:cNvSpPr/>
          <p:nvPr/>
        </p:nvSpPr>
        <p:spPr>
          <a:xfrm>
            <a:off x="8302752" y="4251960"/>
            <a:ext cx="2971800" cy="640080"/>
          </a:xfrm>
          <a:prstGeom prst="rect">
            <a:avLst/>
          </a:prstGeom>
          <a:noFill/>
          <a:ln/>
        </p:spPr>
        <p:txBody>
          <a:bodyPr wrap="square" lIns="0" tIns="0" rIns="0" bIns="0" rtlCol="0" anchor="t"/>
          <a:lstStyle/>
          <a:p>
            <a:pPr indent="0" marL="0">
              <a:buNone/>
            </a:pPr>
            <a:r>
              <a:rPr lang="en-US" sz="1550" b="1" dirty="0">
                <a:solidFill>
                  <a:srgbClr val="173A28"/>
                </a:solidFill>
                <a:latin typeface="Malgun Gothic" pitchFamily="34" charset="0"/>
                <a:ea typeface="Malgun Gothic" pitchFamily="34" charset="-122"/>
                <a:cs typeface="Malgun Gothic" pitchFamily="34" charset="-120"/>
              </a:rPr>
              <a:t>저탄소 · 동물복지</a:t>
            </a:r>
            <a:endParaRPr lang="en-US" sz="1550" dirty="0"/>
          </a:p>
        </p:txBody>
      </p:sp>
      <p:sp>
        <p:nvSpPr>
          <p:cNvPr id="32" name="Text 30"/>
          <p:cNvSpPr/>
          <p:nvPr/>
        </p:nvSpPr>
        <p:spPr>
          <a:xfrm>
            <a:off x="8302752" y="4892040"/>
            <a:ext cx="2971800" cy="640080"/>
          </a:xfrm>
          <a:prstGeom prst="rect">
            <a:avLst/>
          </a:prstGeom>
          <a:noFill/>
          <a:ln/>
        </p:spPr>
        <p:txBody>
          <a:bodyPr wrap="square" lIns="0" tIns="0" rIns="0" bIns="0" rtlCol="0" anchor="t"/>
          <a:lstStyle/>
          <a:p>
            <a:pPr indent="0" marL="0">
              <a:buNone/>
            </a:pPr>
            <a:r>
              <a:rPr lang="en-US" sz="1250" dirty="0">
                <a:solidFill>
                  <a:srgbClr val="20302A"/>
                </a:solidFill>
                <a:latin typeface="Malgun Gothic" pitchFamily="34" charset="0"/>
                <a:ea typeface="Malgun Gothic" pitchFamily="34" charset="-122"/>
                <a:cs typeface="Malgun Gothic" pitchFamily="34" charset="-120"/>
              </a:rPr>
              <a:t>환경 · 복지 스토리가 프리미엄 가격의 '근거'가 된다</a:t>
            </a:r>
            <a:endParaRPr lang="en-US" sz="1250" dirty="0"/>
          </a:p>
        </p:txBody>
      </p:sp>
      <p:sp>
        <p:nvSpPr>
          <p:cNvPr id="33" name="Text 31"/>
          <p:cNvSpPr/>
          <p:nvPr/>
        </p:nvSpPr>
        <p:spPr>
          <a:xfrm>
            <a:off x="502920" y="6419088"/>
            <a:ext cx="9601200" cy="292608"/>
          </a:xfrm>
          <a:prstGeom prst="rect">
            <a:avLst/>
          </a:prstGeom>
          <a:noFill/>
          <a:ln/>
        </p:spPr>
        <p:txBody>
          <a:bodyPr wrap="square" lIns="0" tIns="0" rIns="0" bIns="0" rtlCol="0" anchor="ctr"/>
          <a:lstStyle/>
          <a:p>
            <a:pPr algn="l" indent="0" marL="0">
              <a:buNone/>
            </a:pPr>
            <a:r>
              <a:rPr lang="en-US" sz="900" dirty="0">
                <a:solidFill>
                  <a:srgbClr val="6B7B72"/>
                </a:solidFill>
                <a:latin typeface="Malgun Gothic" pitchFamily="34" charset="0"/>
                <a:ea typeface="Malgun Gothic" pitchFamily="34" charset="-122"/>
                <a:cs typeface="Malgun Gothic" pitchFamily="34" charset="-120"/>
              </a:rPr>
              <a:t>저지종 젖소 산업 활성화를 위한 국제 심포지엄  ·  송영신목장 하현제 원장</a:t>
            </a:r>
            <a:endParaRPr lang="en-US" sz="900" dirty="0"/>
          </a:p>
        </p:txBody>
      </p:sp>
      <p:sp>
        <p:nvSpPr>
          <p:cNvPr id="34" name="Text 32"/>
          <p:cNvSpPr/>
          <p:nvPr/>
        </p:nvSpPr>
        <p:spPr>
          <a:xfrm>
            <a:off x="11292840" y="6419088"/>
            <a:ext cx="411480" cy="292608"/>
          </a:xfrm>
          <a:prstGeom prst="rect">
            <a:avLst/>
          </a:prstGeom>
          <a:noFill/>
          <a:ln/>
        </p:spPr>
        <p:txBody>
          <a:bodyPr wrap="square" lIns="0" tIns="0" rIns="0" bIns="0" rtlCol="0" anchor="ctr"/>
          <a:lstStyle/>
          <a:p>
            <a:pPr algn="r" indent="0" marL="0">
              <a:buNone/>
            </a:pPr>
            <a:r>
              <a:rPr lang="en-US" sz="900" dirty="0">
                <a:solidFill>
                  <a:srgbClr val="6B7B72"/>
                </a:solidFill>
                <a:latin typeface="Malgun Gothic" pitchFamily="34" charset="0"/>
                <a:ea typeface="Malgun Gothic" pitchFamily="34" charset="-122"/>
                <a:cs typeface="Malgun Gothic"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lIns="0" tIns="0" rIns="0" bIns="0" rtlCol="0" anchor="ctr"/>
          <a:lstStyle/>
          <a:p>
            <a:pPr indent="0" marL="0">
              <a:buNone/>
            </a:pPr>
            <a:r>
              <a:rPr lang="en-US" sz="1200" b="1" spc="200" kern="0" dirty="0">
                <a:solidFill>
                  <a:srgbClr val="C79A3A"/>
                </a:solidFill>
                <a:latin typeface="Malgun Gothic" pitchFamily="34" charset="0"/>
                <a:ea typeface="Malgun Gothic" pitchFamily="34" charset="-122"/>
                <a:cs typeface="Malgun Gothic" pitchFamily="34" charset="-120"/>
              </a:rPr>
              <a:t>03  산업화 전략</a:t>
            </a:r>
            <a:endParaRPr lang="en-US" sz="1200" dirty="0"/>
          </a:p>
        </p:txBody>
      </p:sp>
      <p:sp>
        <p:nvSpPr>
          <p:cNvPr id="3" name="Text 1"/>
          <p:cNvSpPr/>
          <p:nvPr/>
        </p:nvSpPr>
        <p:spPr>
          <a:xfrm>
            <a:off x="530352" y="749808"/>
            <a:ext cx="11064240" cy="685800"/>
          </a:xfrm>
          <a:prstGeom prst="rect">
            <a:avLst/>
          </a:prstGeom>
          <a:noFill/>
          <a:ln/>
        </p:spPr>
        <p:txBody>
          <a:bodyPr wrap="square" lIns="0" tIns="0" rIns="0" bIns="0" rtlCol="0" anchor="ctr"/>
          <a:lstStyle/>
          <a:p>
            <a:pPr indent="0" marL="0">
              <a:buNone/>
            </a:pPr>
            <a:r>
              <a:rPr lang="en-US" sz="3100" b="1" dirty="0">
                <a:solidFill>
                  <a:srgbClr val="173A28"/>
                </a:solidFill>
                <a:latin typeface="Malgun Gothic" pitchFamily="34" charset="0"/>
                <a:ea typeface="Malgun Gothic" pitchFamily="34" charset="-122"/>
                <a:cs typeface="Malgun Gothic" pitchFamily="34" charset="-120"/>
              </a:rPr>
              <a:t>원유를 '파는' 것이 아니라 '가치사슬'을 설계한다</a:t>
            </a:r>
            <a:endParaRPr lang="en-US" sz="3100" dirty="0"/>
          </a:p>
        </p:txBody>
      </p:sp>
      <p:sp>
        <p:nvSpPr>
          <p:cNvPr id="4" name="Shape 2"/>
          <p:cNvSpPr/>
          <p:nvPr/>
        </p:nvSpPr>
        <p:spPr>
          <a:xfrm>
            <a:off x="548640" y="1874520"/>
            <a:ext cx="2121408" cy="2286000"/>
          </a:xfrm>
          <a:prstGeom prst="roundRect">
            <a:avLst>
              <a:gd name="adj" fmla="val 4310"/>
            </a:avLst>
          </a:prstGeom>
          <a:solidFill>
            <a:srgbClr val="FFFFFF"/>
          </a:solidFill>
          <a:ln w="22225">
            <a:solidFill>
              <a:srgbClr val="2C6E49"/>
            </a:solidFill>
            <a:prstDash val="solid"/>
          </a:ln>
        </p:spPr>
      </p:sp>
      <p:sp>
        <p:nvSpPr>
          <p:cNvPr id="5" name="Shape 3"/>
          <p:cNvSpPr/>
          <p:nvPr/>
        </p:nvSpPr>
        <p:spPr>
          <a:xfrm>
            <a:off x="1316736" y="2084832"/>
            <a:ext cx="585216" cy="585216"/>
          </a:xfrm>
          <a:prstGeom prst="ellipse">
            <a:avLst/>
          </a:prstGeom>
          <a:solidFill>
            <a:srgbClr val="2C6E49"/>
          </a:solidFill>
          <a:ln/>
        </p:spPr>
      </p:sp>
      <p:sp>
        <p:nvSpPr>
          <p:cNvPr id="6" name="Text 4"/>
          <p:cNvSpPr/>
          <p:nvPr/>
        </p:nvSpPr>
        <p:spPr>
          <a:xfrm>
            <a:off x="1316736" y="2084832"/>
            <a:ext cx="585216" cy="585216"/>
          </a:xfrm>
          <a:prstGeom prst="rect">
            <a:avLst/>
          </a:prstGeom>
          <a:noFill/>
          <a:ln/>
        </p:spPr>
        <p:txBody>
          <a:bodyPr wrap="square"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1</a:t>
            </a:r>
            <a:endParaRPr lang="en-US" sz="2000" dirty="0"/>
          </a:p>
        </p:txBody>
      </p:sp>
      <p:sp>
        <p:nvSpPr>
          <p:cNvPr id="7" name="Text 5"/>
          <p:cNvSpPr/>
          <p:nvPr/>
        </p:nvSpPr>
        <p:spPr>
          <a:xfrm>
            <a:off x="548640" y="2788920"/>
            <a:ext cx="2121408" cy="365760"/>
          </a:xfrm>
          <a:prstGeom prst="rect">
            <a:avLst/>
          </a:prstGeom>
          <a:noFill/>
          <a:ln/>
        </p:spPr>
        <p:txBody>
          <a:bodyPr wrap="square" lIns="0" tIns="0" rIns="0" bIns="0" rtlCol="0" anchor="ctr"/>
          <a:lstStyle/>
          <a:p>
            <a:pPr algn="ctr" indent="0" marL="0">
              <a:buNone/>
            </a:pPr>
            <a:r>
              <a:rPr lang="en-US" sz="1700" b="1" dirty="0">
                <a:solidFill>
                  <a:srgbClr val="173A28"/>
                </a:solidFill>
                <a:latin typeface="Malgun Gothic" pitchFamily="34" charset="0"/>
                <a:ea typeface="Malgun Gothic" pitchFamily="34" charset="-122"/>
                <a:cs typeface="Malgun Gothic" pitchFamily="34" charset="-120"/>
              </a:rPr>
              <a:t>생산</a:t>
            </a:r>
            <a:endParaRPr lang="en-US" sz="1700" dirty="0"/>
          </a:p>
        </p:txBody>
      </p:sp>
      <p:sp>
        <p:nvSpPr>
          <p:cNvPr id="8" name="Text 6"/>
          <p:cNvSpPr/>
          <p:nvPr/>
        </p:nvSpPr>
        <p:spPr>
          <a:xfrm>
            <a:off x="685800" y="3200400"/>
            <a:ext cx="1847088" cy="822960"/>
          </a:xfrm>
          <a:prstGeom prst="rect">
            <a:avLst/>
          </a:prstGeom>
          <a:noFill/>
          <a:ln/>
        </p:spPr>
        <p:txBody>
          <a:bodyPr wrap="square" lIns="0" tIns="0" rIns="0" bIns="0" rtlCol="0" anchor="t"/>
          <a:lstStyle/>
          <a:p>
            <a:pPr algn="ctr" indent="0" marL="0">
              <a:buNone/>
            </a:pPr>
            <a:r>
              <a:rPr lang="en-US" sz="1150" dirty="0">
                <a:solidFill>
                  <a:srgbClr val="20302A"/>
                </a:solidFill>
                <a:latin typeface="Malgun Gothic" pitchFamily="34" charset="0"/>
                <a:ea typeface="Malgun Gothic" pitchFamily="34" charset="-122"/>
                <a:cs typeface="Malgun Gothic" pitchFamily="34" charset="-120"/>
              </a:rPr>
              <a:t>저지 · A2 · 건초 기반의 고품질 원유</a:t>
            </a:r>
            <a:endParaRPr lang="en-US" sz="1150" dirty="0"/>
          </a:p>
        </p:txBody>
      </p:sp>
      <p:sp>
        <p:nvSpPr>
          <p:cNvPr id="9" name="Text 7"/>
          <p:cNvSpPr/>
          <p:nvPr/>
        </p:nvSpPr>
        <p:spPr>
          <a:xfrm>
            <a:off x="2651760" y="1874520"/>
            <a:ext cx="182880" cy="2286000"/>
          </a:xfrm>
          <a:prstGeom prst="rect">
            <a:avLst/>
          </a:prstGeom>
          <a:noFill/>
          <a:ln/>
        </p:spPr>
        <p:txBody>
          <a:bodyPr wrap="square" rtlCol="0" anchor="ctr"/>
          <a:lstStyle/>
          <a:p>
            <a:pPr algn="ctr" indent="0" marL="0">
              <a:buNone/>
            </a:pPr>
            <a:r>
              <a:rPr lang="en-US" sz="1600" b="1" dirty="0">
                <a:solidFill>
                  <a:srgbClr val="C79A3A"/>
                </a:solidFill>
                <a:latin typeface="Malgun Gothic" pitchFamily="34" charset="0"/>
                <a:ea typeface="Malgun Gothic" pitchFamily="34" charset="-122"/>
                <a:cs typeface="Malgun Gothic" pitchFamily="34" charset="-120"/>
              </a:rPr>
              <a:t>→</a:t>
            </a:r>
            <a:endParaRPr lang="en-US" sz="1600" dirty="0"/>
          </a:p>
        </p:txBody>
      </p:sp>
      <p:sp>
        <p:nvSpPr>
          <p:cNvPr id="10" name="Shape 8"/>
          <p:cNvSpPr/>
          <p:nvPr/>
        </p:nvSpPr>
        <p:spPr>
          <a:xfrm>
            <a:off x="2834640" y="1874520"/>
            <a:ext cx="2121408" cy="2286000"/>
          </a:xfrm>
          <a:prstGeom prst="roundRect">
            <a:avLst>
              <a:gd name="adj" fmla="val 4310"/>
            </a:avLst>
          </a:prstGeom>
          <a:solidFill>
            <a:srgbClr val="FFFFFF"/>
          </a:solidFill>
          <a:ln w="22225">
            <a:solidFill>
              <a:srgbClr val="2C6E49"/>
            </a:solidFill>
            <a:prstDash val="solid"/>
          </a:ln>
        </p:spPr>
      </p:sp>
      <p:sp>
        <p:nvSpPr>
          <p:cNvPr id="11" name="Shape 9"/>
          <p:cNvSpPr/>
          <p:nvPr/>
        </p:nvSpPr>
        <p:spPr>
          <a:xfrm>
            <a:off x="3602736" y="2084832"/>
            <a:ext cx="585216" cy="585216"/>
          </a:xfrm>
          <a:prstGeom prst="ellipse">
            <a:avLst/>
          </a:prstGeom>
          <a:solidFill>
            <a:srgbClr val="2C6E49"/>
          </a:solidFill>
          <a:ln/>
        </p:spPr>
      </p:sp>
      <p:sp>
        <p:nvSpPr>
          <p:cNvPr id="12" name="Text 10"/>
          <p:cNvSpPr/>
          <p:nvPr/>
        </p:nvSpPr>
        <p:spPr>
          <a:xfrm>
            <a:off x="3602736" y="2084832"/>
            <a:ext cx="585216" cy="585216"/>
          </a:xfrm>
          <a:prstGeom prst="rect">
            <a:avLst/>
          </a:prstGeom>
          <a:noFill/>
          <a:ln/>
        </p:spPr>
        <p:txBody>
          <a:bodyPr wrap="square"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2</a:t>
            </a:r>
            <a:endParaRPr lang="en-US" sz="2000" dirty="0"/>
          </a:p>
        </p:txBody>
      </p:sp>
      <p:sp>
        <p:nvSpPr>
          <p:cNvPr id="13" name="Text 11"/>
          <p:cNvSpPr/>
          <p:nvPr/>
        </p:nvSpPr>
        <p:spPr>
          <a:xfrm>
            <a:off x="2834640" y="2788920"/>
            <a:ext cx="2121408" cy="365760"/>
          </a:xfrm>
          <a:prstGeom prst="rect">
            <a:avLst/>
          </a:prstGeom>
          <a:noFill/>
          <a:ln/>
        </p:spPr>
        <p:txBody>
          <a:bodyPr wrap="square" lIns="0" tIns="0" rIns="0" bIns="0" rtlCol="0" anchor="ctr"/>
          <a:lstStyle/>
          <a:p>
            <a:pPr algn="ctr" indent="0" marL="0">
              <a:buNone/>
            </a:pPr>
            <a:r>
              <a:rPr lang="en-US" sz="1700" b="1" dirty="0">
                <a:solidFill>
                  <a:srgbClr val="173A28"/>
                </a:solidFill>
                <a:latin typeface="Malgun Gothic" pitchFamily="34" charset="0"/>
                <a:ea typeface="Malgun Gothic" pitchFamily="34" charset="-122"/>
                <a:cs typeface="Malgun Gothic" pitchFamily="34" charset="-120"/>
              </a:rPr>
              <a:t>가공</a:t>
            </a:r>
            <a:endParaRPr lang="en-US" sz="1700" dirty="0"/>
          </a:p>
        </p:txBody>
      </p:sp>
      <p:sp>
        <p:nvSpPr>
          <p:cNvPr id="14" name="Text 12"/>
          <p:cNvSpPr/>
          <p:nvPr/>
        </p:nvSpPr>
        <p:spPr>
          <a:xfrm>
            <a:off x="2971800" y="3200400"/>
            <a:ext cx="1847088" cy="822960"/>
          </a:xfrm>
          <a:prstGeom prst="rect">
            <a:avLst/>
          </a:prstGeom>
          <a:noFill/>
          <a:ln/>
        </p:spPr>
        <p:txBody>
          <a:bodyPr wrap="square" lIns="0" tIns="0" rIns="0" bIns="0" rtlCol="0" anchor="t"/>
          <a:lstStyle/>
          <a:p>
            <a:pPr algn="ctr" indent="0" marL="0">
              <a:buNone/>
            </a:pPr>
            <a:r>
              <a:rPr lang="en-US" sz="1150" dirty="0">
                <a:solidFill>
                  <a:srgbClr val="20302A"/>
                </a:solidFill>
                <a:latin typeface="Malgun Gothic" pitchFamily="34" charset="0"/>
                <a:ea typeface="Malgun Gothic" pitchFamily="34" charset="-122"/>
                <a:cs typeface="Malgun Gothic" pitchFamily="34" charset="-120"/>
              </a:rPr>
              <a:t>요거트 · 카이막 등 제품 다각화</a:t>
            </a:r>
            <a:endParaRPr lang="en-US" sz="1150" dirty="0"/>
          </a:p>
        </p:txBody>
      </p:sp>
      <p:sp>
        <p:nvSpPr>
          <p:cNvPr id="15" name="Text 13"/>
          <p:cNvSpPr/>
          <p:nvPr/>
        </p:nvSpPr>
        <p:spPr>
          <a:xfrm>
            <a:off x="4937760" y="1874520"/>
            <a:ext cx="182880" cy="2286000"/>
          </a:xfrm>
          <a:prstGeom prst="rect">
            <a:avLst/>
          </a:prstGeom>
          <a:noFill/>
          <a:ln/>
        </p:spPr>
        <p:txBody>
          <a:bodyPr wrap="square" rtlCol="0" anchor="ctr"/>
          <a:lstStyle/>
          <a:p>
            <a:pPr algn="ctr" indent="0" marL="0">
              <a:buNone/>
            </a:pPr>
            <a:r>
              <a:rPr lang="en-US" sz="1600" b="1" dirty="0">
                <a:solidFill>
                  <a:srgbClr val="C79A3A"/>
                </a:solidFill>
                <a:latin typeface="Malgun Gothic" pitchFamily="34" charset="0"/>
                <a:ea typeface="Malgun Gothic" pitchFamily="34" charset="-122"/>
                <a:cs typeface="Malgun Gothic" pitchFamily="34" charset="-120"/>
              </a:rPr>
              <a:t>→</a:t>
            </a:r>
            <a:endParaRPr lang="en-US" sz="1600" dirty="0"/>
          </a:p>
        </p:txBody>
      </p:sp>
      <p:sp>
        <p:nvSpPr>
          <p:cNvPr id="16" name="Shape 14"/>
          <p:cNvSpPr/>
          <p:nvPr/>
        </p:nvSpPr>
        <p:spPr>
          <a:xfrm>
            <a:off x="5120640" y="1874520"/>
            <a:ext cx="2121408" cy="2286000"/>
          </a:xfrm>
          <a:prstGeom prst="roundRect">
            <a:avLst>
              <a:gd name="adj" fmla="val 4310"/>
            </a:avLst>
          </a:prstGeom>
          <a:solidFill>
            <a:srgbClr val="FFFFFF"/>
          </a:solidFill>
          <a:ln w="22225">
            <a:solidFill>
              <a:srgbClr val="2C6E49"/>
            </a:solidFill>
            <a:prstDash val="solid"/>
          </a:ln>
        </p:spPr>
      </p:sp>
      <p:sp>
        <p:nvSpPr>
          <p:cNvPr id="17" name="Shape 15"/>
          <p:cNvSpPr/>
          <p:nvPr/>
        </p:nvSpPr>
        <p:spPr>
          <a:xfrm>
            <a:off x="5888736" y="2084832"/>
            <a:ext cx="585216" cy="585216"/>
          </a:xfrm>
          <a:prstGeom prst="ellipse">
            <a:avLst/>
          </a:prstGeom>
          <a:solidFill>
            <a:srgbClr val="2C6E49"/>
          </a:solidFill>
          <a:ln/>
        </p:spPr>
      </p:sp>
      <p:sp>
        <p:nvSpPr>
          <p:cNvPr id="18" name="Text 16"/>
          <p:cNvSpPr/>
          <p:nvPr/>
        </p:nvSpPr>
        <p:spPr>
          <a:xfrm>
            <a:off x="5888736" y="2084832"/>
            <a:ext cx="585216" cy="585216"/>
          </a:xfrm>
          <a:prstGeom prst="rect">
            <a:avLst/>
          </a:prstGeom>
          <a:noFill/>
          <a:ln/>
        </p:spPr>
        <p:txBody>
          <a:bodyPr wrap="square"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3</a:t>
            </a:r>
            <a:endParaRPr lang="en-US" sz="2000" dirty="0"/>
          </a:p>
        </p:txBody>
      </p:sp>
      <p:sp>
        <p:nvSpPr>
          <p:cNvPr id="19" name="Text 17"/>
          <p:cNvSpPr/>
          <p:nvPr/>
        </p:nvSpPr>
        <p:spPr>
          <a:xfrm>
            <a:off x="5120640" y="2788920"/>
            <a:ext cx="2121408" cy="365760"/>
          </a:xfrm>
          <a:prstGeom prst="rect">
            <a:avLst/>
          </a:prstGeom>
          <a:noFill/>
          <a:ln/>
        </p:spPr>
        <p:txBody>
          <a:bodyPr wrap="square" lIns="0" tIns="0" rIns="0" bIns="0" rtlCol="0" anchor="ctr"/>
          <a:lstStyle/>
          <a:p>
            <a:pPr algn="ctr" indent="0" marL="0">
              <a:buNone/>
            </a:pPr>
            <a:r>
              <a:rPr lang="en-US" sz="1700" b="1" dirty="0">
                <a:solidFill>
                  <a:srgbClr val="173A28"/>
                </a:solidFill>
                <a:latin typeface="Malgun Gothic" pitchFamily="34" charset="0"/>
                <a:ea typeface="Malgun Gothic" pitchFamily="34" charset="-122"/>
                <a:cs typeface="Malgun Gothic" pitchFamily="34" charset="-120"/>
              </a:rPr>
              <a:t>브랜드</a:t>
            </a:r>
            <a:endParaRPr lang="en-US" sz="1700" dirty="0"/>
          </a:p>
        </p:txBody>
      </p:sp>
      <p:sp>
        <p:nvSpPr>
          <p:cNvPr id="20" name="Text 18"/>
          <p:cNvSpPr/>
          <p:nvPr/>
        </p:nvSpPr>
        <p:spPr>
          <a:xfrm>
            <a:off x="5257800" y="3200400"/>
            <a:ext cx="1847088" cy="822960"/>
          </a:xfrm>
          <a:prstGeom prst="rect">
            <a:avLst/>
          </a:prstGeom>
          <a:noFill/>
          <a:ln/>
        </p:spPr>
        <p:txBody>
          <a:bodyPr wrap="square" lIns="0" tIns="0" rIns="0" bIns="0" rtlCol="0" anchor="t"/>
          <a:lstStyle/>
          <a:p>
            <a:pPr algn="ctr" indent="0" marL="0">
              <a:buNone/>
            </a:pPr>
            <a:r>
              <a:rPr lang="en-US" sz="1150" dirty="0">
                <a:solidFill>
                  <a:srgbClr val="20302A"/>
                </a:solidFill>
                <a:latin typeface="Malgun Gothic" pitchFamily="34" charset="0"/>
                <a:ea typeface="Malgun Gothic" pitchFamily="34" charset="-122"/>
                <a:cs typeface="Malgun Gothic" pitchFamily="34" charset="-120"/>
              </a:rPr>
              <a:t>순환농업 서사로 프리미엄 정당화</a:t>
            </a:r>
            <a:endParaRPr lang="en-US" sz="1150" dirty="0"/>
          </a:p>
        </p:txBody>
      </p:sp>
      <p:sp>
        <p:nvSpPr>
          <p:cNvPr id="21" name="Text 19"/>
          <p:cNvSpPr/>
          <p:nvPr/>
        </p:nvSpPr>
        <p:spPr>
          <a:xfrm>
            <a:off x="7223760" y="1874520"/>
            <a:ext cx="182880" cy="2286000"/>
          </a:xfrm>
          <a:prstGeom prst="rect">
            <a:avLst/>
          </a:prstGeom>
          <a:noFill/>
          <a:ln/>
        </p:spPr>
        <p:txBody>
          <a:bodyPr wrap="square" rtlCol="0" anchor="ctr"/>
          <a:lstStyle/>
          <a:p>
            <a:pPr algn="ctr" indent="0" marL="0">
              <a:buNone/>
            </a:pPr>
            <a:r>
              <a:rPr lang="en-US" sz="1600" b="1" dirty="0">
                <a:solidFill>
                  <a:srgbClr val="C79A3A"/>
                </a:solidFill>
                <a:latin typeface="Malgun Gothic" pitchFamily="34" charset="0"/>
                <a:ea typeface="Malgun Gothic" pitchFamily="34" charset="-122"/>
                <a:cs typeface="Malgun Gothic" pitchFamily="34" charset="-120"/>
              </a:rPr>
              <a:t>→</a:t>
            </a:r>
            <a:endParaRPr lang="en-US" sz="1600" dirty="0"/>
          </a:p>
        </p:txBody>
      </p:sp>
      <p:sp>
        <p:nvSpPr>
          <p:cNvPr id="22" name="Shape 20"/>
          <p:cNvSpPr/>
          <p:nvPr/>
        </p:nvSpPr>
        <p:spPr>
          <a:xfrm>
            <a:off x="7406640" y="1874520"/>
            <a:ext cx="2121408" cy="2286000"/>
          </a:xfrm>
          <a:prstGeom prst="roundRect">
            <a:avLst>
              <a:gd name="adj" fmla="val 4310"/>
            </a:avLst>
          </a:prstGeom>
          <a:solidFill>
            <a:srgbClr val="FFFFFF"/>
          </a:solidFill>
          <a:ln w="22225">
            <a:solidFill>
              <a:srgbClr val="2C6E49"/>
            </a:solidFill>
            <a:prstDash val="solid"/>
          </a:ln>
        </p:spPr>
      </p:sp>
      <p:sp>
        <p:nvSpPr>
          <p:cNvPr id="23" name="Shape 21"/>
          <p:cNvSpPr/>
          <p:nvPr/>
        </p:nvSpPr>
        <p:spPr>
          <a:xfrm>
            <a:off x="8174736" y="2084832"/>
            <a:ext cx="585216" cy="585216"/>
          </a:xfrm>
          <a:prstGeom prst="ellipse">
            <a:avLst/>
          </a:prstGeom>
          <a:solidFill>
            <a:srgbClr val="2C6E49"/>
          </a:solidFill>
          <a:ln/>
        </p:spPr>
      </p:sp>
      <p:sp>
        <p:nvSpPr>
          <p:cNvPr id="24" name="Text 22"/>
          <p:cNvSpPr/>
          <p:nvPr/>
        </p:nvSpPr>
        <p:spPr>
          <a:xfrm>
            <a:off x="8174736" y="2084832"/>
            <a:ext cx="585216" cy="585216"/>
          </a:xfrm>
          <a:prstGeom prst="rect">
            <a:avLst/>
          </a:prstGeom>
          <a:noFill/>
          <a:ln/>
        </p:spPr>
        <p:txBody>
          <a:bodyPr wrap="square"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4</a:t>
            </a:r>
            <a:endParaRPr lang="en-US" sz="2000" dirty="0"/>
          </a:p>
        </p:txBody>
      </p:sp>
      <p:sp>
        <p:nvSpPr>
          <p:cNvPr id="25" name="Text 23"/>
          <p:cNvSpPr/>
          <p:nvPr/>
        </p:nvSpPr>
        <p:spPr>
          <a:xfrm>
            <a:off x="7406640" y="2788920"/>
            <a:ext cx="2121408" cy="365760"/>
          </a:xfrm>
          <a:prstGeom prst="rect">
            <a:avLst/>
          </a:prstGeom>
          <a:noFill/>
          <a:ln/>
        </p:spPr>
        <p:txBody>
          <a:bodyPr wrap="square" lIns="0" tIns="0" rIns="0" bIns="0" rtlCol="0" anchor="ctr"/>
          <a:lstStyle/>
          <a:p>
            <a:pPr algn="ctr" indent="0" marL="0">
              <a:buNone/>
            </a:pPr>
            <a:r>
              <a:rPr lang="en-US" sz="1700" b="1" dirty="0">
                <a:solidFill>
                  <a:srgbClr val="173A28"/>
                </a:solidFill>
                <a:latin typeface="Malgun Gothic" pitchFamily="34" charset="0"/>
                <a:ea typeface="Malgun Gothic" pitchFamily="34" charset="-122"/>
                <a:cs typeface="Malgun Gothic" pitchFamily="34" charset="-120"/>
              </a:rPr>
              <a:t>채널</a:t>
            </a:r>
            <a:endParaRPr lang="en-US" sz="1700" dirty="0"/>
          </a:p>
        </p:txBody>
      </p:sp>
      <p:sp>
        <p:nvSpPr>
          <p:cNvPr id="26" name="Text 24"/>
          <p:cNvSpPr/>
          <p:nvPr/>
        </p:nvSpPr>
        <p:spPr>
          <a:xfrm>
            <a:off x="7543800" y="3200400"/>
            <a:ext cx="1847088" cy="822960"/>
          </a:xfrm>
          <a:prstGeom prst="rect">
            <a:avLst/>
          </a:prstGeom>
          <a:noFill/>
          <a:ln/>
        </p:spPr>
        <p:txBody>
          <a:bodyPr wrap="square" lIns="0" tIns="0" rIns="0" bIns="0" rtlCol="0" anchor="t"/>
          <a:lstStyle/>
          <a:p>
            <a:pPr algn="ctr" indent="0" marL="0">
              <a:buNone/>
            </a:pPr>
            <a:r>
              <a:rPr lang="en-US" sz="1150" dirty="0">
                <a:solidFill>
                  <a:srgbClr val="20302A"/>
                </a:solidFill>
                <a:latin typeface="Malgun Gothic" pitchFamily="34" charset="0"/>
                <a:ea typeface="Malgun Gothic" pitchFamily="34" charset="-122"/>
                <a:cs typeface="Malgun Gothic" pitchFamily="34" charset="-120"/>
              </a:rPr>
              <a:t>자사몰 · 정기구독 D2C 중심</a:t>
            </a:r>
            <a:endParaRPr lang="en-US" sz="1150" dirty="0"/>
          </a:p>
        </p:txBody>
      </p:sp>
      <p:sp>
        <p:nvSpPr>
          <p:cNvPr id="27" name="Text 25"/>
          <p:cNvSpPr/>
          <p:nvPr/>
        </p:nvSpPr>
        <p:spPr>
          <a:xfrm>
            <a:off x="9509760" y="1874520"/>
            <a:ext cx="182880" cy="2286000"/>
          </a:xfrm>
          <a:prstGeom prst="rect">
            <a:avLst/>
          </a:prstGeom>
          <a:noFill/>
          <a:ln/>
        </p:spPr>
        <p:txBody>
          <a:bodyPr wrap="square" rtlCol="0" anchor="ctr"/>
          <a:lstStyle/>
          <a:p>
            <a:pPr algn="ctr" indent="0" marL="0">
              <a:buNone/>
            </a:pPr>
            <a:r>
              <a:rPr lang="en-US" sz="1600" b="1" dirty="0">
                <a:solidFill>
                  <a:srgbClr val="C79A3A"/>
                </a:solidFill>
                <a:latin typeface="Malgun Gothic" pitchFamily="34" charset="0"/>
                <a:ea typeface="Malgun Gothic" pitchFamily="34" charset="-122"/>
                <a:cs typeface="Malgun Gothic" pitchFamily="34" charset="-120"/>
              </a:rPr>
              <a:t>→</a:t>
            </a:r>
            <a:endParaRPr lang="en-US" sz="1600" dirty="0"/>
          </a:p>
        </p:txBody>
      </p:sp>
      <p:sp>
        <p:nvSpPr>
          <p:cNvPr id="28" name="Shape 26"/>
          <p:cNvSpPr/>
          <p:nvPr/>
        </p:nvSpPr>
        <p:spPr>
          <a:xfrm>
            <a:off x="9692640" y="1874520"/>
            <a:ext cx="2121408" cy="2286000"/>
          </a:xfrm>
          <a:prstGeom prst="roundRect">
            <a:avLst>
              <a:gd name="adj" fmla="val 4310"/>
            </a:avLst>
          </a:prstGeom>
          <a:solidFill>
            <a:srgbClr val="FFFFFF"/>
          </a:solidFill>
          <a:ln w="22225">
            <a:solidFill>
              <a:srgbClr val="2C6E49"/>
            </a:solidFill>
            <a:prstDash val="solid"/>
          </a:ln>
        </p:spPr>
      </p:sp>
      <p:sp>
        <p:nvSpPr>
          <p:cNvPr id="29" name="Shape 27"/>
          <p:cNvSpPr/>
          <p:nvPr/>
        </p:nvSpPr>
        <p:spPr>
          <a:xfrm>
            <a:off x="10460736" y="2084832"/>
            <a:ext cx="585216" cy="585216"/>
          </a:xfrm>
          <a:prstGeom prst="ellipse">
            <a:avLst/>
          </a:prstGeom>
          <a:solidFill>
            <a:srgbClr val="2C6E49"/>
          </a:solidFill>
          <a:ln/>
        </p:spPr>
      </p:sp>
      <p:sp>
        <p:nvSpPr>
          <p:cNvPr id="30" name="Text 28"/>
          <p:cNvSpPr/>
          <p:nvPr/>
        </p:nvSpPr>
        <p:spPr>
          <a:xfrm>
            <a:off x="10460736" y="2084832"/>
            <a:ext cx="585216" cy="585216"/>
          </a:xfrm>
          <a:prstGeom prst="rect">
            <a:avLst/>
          </a:prstGeom>
          <a:noFill/>
          <a:ln/>
        </p:spPr>
        <p:txBody>
          <a:bodyPr wrap="square"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5</a:t>
            </a:r>
            <a:endParaRPr lang="en-US" sz="2000" dirty="0"/>
          </a:p>
        </p:txBody>
      </p:sp>
      <p:sp>
        <p:nvSpPr>
          <p:cNvPr id="31" name="Text 29"/>
          <p:cNvSpPr/>
          <p:nvPr/>
        </p:nvSpPr>
        <p:spPr>
          <a:xfrm>
            <a:off x="9692640" y="2788920"/>
            <a:ext cx="2121408" cy="365760"/>
          </a:xfrm>
          <a:prstGeom prst="rect">
            <a:avLst/>
          </a:prstGeom>
          <a:noFill/>
          <a:ln/>
        </p:spPr>
        <p:txBody>
          <a:bodyPr wrap="square" lIns="0" tIns="0" rIns="0" bIns="0" rtlCol="0" anchor="ctr"/>
          <a:lstStyle/>
          <a:p>
            <a:pPr algn="ctr" indent="0" marL="0">
              <a:buNone/>
            </a:pPr>
            <a:r>
              <a:rPr lang="en-US" sz="1700" b="1" dirty="0">
                <a:solidFill>
                  <a:srgbClr val="173A28"/>
                </a:solidFill>
                <a:latin typeface="Malgun Gothic" pitchFamily="34" charset="0"/>
                <a:ea typeface="Malgun Gothic" pitchFamily="34" charset="-122"/>
                <a:cs typeface="Malgun Gothic" pitchFamily="34" charset="-120"/>
              </a:rPr>
              <a:t>6차</a:t>
            </a:r>
            <a:endParaRPr lang="en-US" sz="1700" dirty="0"/>
          </a:p>
        </p:txBody>
      </p:sp>
      <p:sp>
        <p:nvSpPr>
          <p:cNvPr id="32" name="Text 30"/>
          <p:cNvSpPr/>
          <p:nvPr/>
        </p:nvSpPr>
        <p:spPr>
          <a:xfrm>
            <a:off x="9829800" y="3200400"/>
            <a:ext cx="1847088" cy="822960"/>
          </a:xfrm>
          <a:prstGeom prst="rect">
            <a:avLst/>
          </a:prstGeom>
          <a:noFill/>
          <a:ln/>
        </p:spPr>
        <p:txBody>
          <a:bodyPr wrap="square" lIns="0" tIns="0" rIns="0" bIns="0" rtlCol="0" anchor="t"/>
          <a:lstStyle/>
          <a:p>
            <a:pPr algn="ctr" indent="0" marL="0">
              <a:buNone/>
            </a:pPr>
            <a:r>
              <a:rPr lang="en-US" sz="1150" dirty="0">
                <a:solidFill>
                  <a:srgbClr val="20302A"/>
                </a:solidFill>
                <a:latin typeface="Malgun Gothic" pitchFamily="34" charset="0"/>
                <a:ea typeface="Malgun Gothic" pitchFamily="34" charset="-122"/>
                <a:cs typeface="Malgun Gothic" pitchFamily="34" charset="-120"/>
              </a:rPr>
              <a:t>카페 · 팜투어 체험으로 확장</a:t>
            </a:r>
            <a:endParaRPr lang="en-US" sz="1150" dirty="0"/>
          </a:p>
        </p:txBody>
      </p:sp>
      <p:sp>
        <p:nvSpPr>
          <p:cNvPr id="33" name="Shape 31"/>
          <p:cNvSpPr/>
          <p:nvPr/>
        </p:nvSpPr>
        <p:spPr>
          <a:xfrm>
            <a:off x="548640" y="4572000"/>
            <a:ext cx="11109960" cy="1143000"/>
          </a:xfrm>
          <a:prstGeom prst="roundRect">
            <a:avLst>
              <a:gd name="adj" fmla="val 8000"/>
            </a:avLst>
          </a:prstGeom>
          <a:solidFill>
            <a:srgbClr val="F4ECD6"/>
          </a:solidFill>
          <a:ln/>
        </p:spPr>
      </p:sp>
      <p:sp>
        <p:nvSpPr>
          <p:cNvPr id="34" name="Text 32"/>
          <p:cNvSpPr/>
          <p:nvPr/>
        </p:nvSpPr>
        <p:spPr>
          <a:xfrm>
            <a:off x="868680" y="4572000"/>
            <a:ext cx="10515600" cy="1143000"/>
          </a:xfrm>
          <a:prstGeom prst="rect">
            <a:avLst/>
          </a:prstGeom>
          <a:noFill/>
          <a:ln/>
        </p:spPr>
        <p:txBody>
          <a:bodyPr wrap="square" lIns="0" tIns="0" rIns="0" bIns="0" rtlCol="0" anchor="ctr"/>
          <a:lstStyle/>
          <a:p>
            <a:pPr indent="0" marL="0">
              <a:buNone/>
            </a:pPr>
            <a:r>
              <a:rPr lang="en-US" sz="1600" b="1" dirty="0">
                <a:solidFill>
                  <a:srgbClr val="173A28"/>
                </a:solidFill>
                <a:latin typeface="Malgun Gothic" pitchFamily="34" charset="0"/>
                <a:ea typeface="Malgun Gothic" pitchFamily="34" charset="-122"/>
                <a:cs typeface="Malgun Gothic" pitchFamily="34" charset="-120"/>
              </a:rPr>
              <a:t>핵심  </a:t>
            </a:r>
            <a:pPr indent="0" marL="0">
              <a:buNone/>
            </a:pPr>
            <a:r>
              <a:rPr lang="en-US" sz="1600" dirty="0">
                <a:solidFill>
                  <a:srgbClr val="20302A"/>
                </a:solidFill>
                <a:latin typeface="Malgun Gothic" pitchFamily="34" charset="0"/>
                <a:ea typeface="Malgun Gothic" pitchFamily="34" charset="-122"/>
                <a:cs typeface="Malgun Gothic" pitchFamily="34" charset="-120"/>
              </a:rPr>
              <a:t>소량 · 고품질을 무기로 한 </a:t>
            </a:r>
            <a:pPr indent="0" marL="0">
              <a:buNone/>
            </a:pPr>
            <a:r>
              <a:rPr lang="en-US" sz="1600" b="1" dirty="0">
                <a:solidFill>
                  <a:srgbClr val="2C6E49"/>
                </a:solidFill>
                <a:latin typeface="Malgun Gothic" pitchFamily="34" charset="0"/>
                <a:ea typeface="Malgun Gothic" pitchFamily="34" charset="-122"/>
                <a:cs typeface="Malgun Gothic" pitchFamily="34" charset="-120"/>
              </a:rPr>
              <a:t>프리미엄 포지셔닝</a:t>
            </a:r>
            <a:pPr indent="0" marL="0">
              <a:buNone/>
            </a:pPr>
            <a:r>
              <a:rPr lang="en-US" sz="1600" dirty="0">
                <a:solidFill>
                  <a:srgbClr val="20302A"/>
                </a:solidFill>
                <a:latin typeface="Malgun Gothic" pitchFamily="34" charset="0"/>
                <a:ea typeface="Malgun Gothic" pitchFamily="34" charset="-122"/>
                <a:cs typeface="Malgun Gothic" pitchFamily="34" charset="-120"/>
              </a:rPr>
              <a:t> — 원유 1L의 부가가치를 몇 배로 끌어올리는 구조 설계</a:t>
            </a:r>
            <a:endParaRPr lang="en-US" sz="1600" dirty="0"/>
          </a:p>
        </p:txBody>
      </p:sp>
      <p:sp>
        <p:nvSpPr>
          <p:cNvPr id="35" name="Text 33"/>
          <p:cNvSpPr/>
          <p:nvPr/>
        </p:nvSpPr>
        <p:spPr>
          <a:xfrm>
            <a:off x="502920" y="6419088"/>
            <a:ext cx="9601200" cy="292608"/>
          </a:xfrm>
          <a:prstGeom prst="rect">
            <a:avLst/>
          </a:prstGeom>
          <a:noFill/>
          <a:ln/>
        </p:spPr>
        <p:txBody>
          <a:bodyPr wrap="square" lIns="0" tIns="0" rIns="0" bIns="0" rtlCol="0" anchor="ctr"/>
          <a:lstStyle/>
          <a:p>
            <a:pPr algn="l" indent="0" marL="0">
              <a:buNone/>
            </a:pPr>
            <a:r>
              <a:rPr lang="en-US" sz="900" dirty="0">
                <a:solidFill>
                  <a:srgbClr val="6B7B72"/>
                </a:solidFill>
                <a:latin typeface="Malgun Gothic" pitchFamily="34" charset="0"/>
                <a:ea typeface="Malgun Gothic" pitchFamily="34" charset="-122"/>
                <a:cs typeface="Malgun Gothic" pitchFamily="34" charset="-120"/>
              </a:rPr>
              <a:t>저지종 젖소 산업 활성화를 위한 국제 심포지엄  ·  송영신목장 하현제 원장</a:t>
            </a:r>
            <a:endParaRPr lang="en-US" sz="900" dirty="0"/>
          </a:p>
        </p:txBody>
      </p:sp>
      <p:sp>
        <p:nvSpPr>
          <p:cNvPr id="36" name="Text 34"/>
          <p:cNvSpPr/>
          <p:nvPr/>
        </p:nvSpPr>
        <p:spPr>
          <a:xfrm>
            <a:off x="11292840" y="6419088"/>
            <a:ext cx="411480" cy="292608"/>
          </a:xfrm>
          <a:prstGeom prst="rect">
            <a:avLst/>
          </a:prstGeom>
          <a:noFill/>
          <a:ln/>
        </p:spPr>
        <p:txBody>
          <a:bodyPr wrap="square" lIns="0" tIns="0" rIns="0" bIns="0" rtlCol="0" anchor="ctr"/>
          <a:lstStyle/>
          <a:p>
            <a:pPr algn="r" indent="0" marL="0">
              <a:buNone/>
            </a:pPr>
            <a:r>
              <a:rPr lang="en-US" sz="900" dirty="0">
                <a:solidFill>
                  <a:srgbClr val="6B7B72"/>
                </a:solidFill>
                <a:latin typeface="Malgun Gothic" pitchFamily="34" charset="0"/>
                <a:ea typeface="Malgun Gothic" pitchFamily="34" charset="-122"/>
                <a:cs typeface="Malgun Gothic"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lIns="0" tIns="0" rIns="0" bIns="0" rtlCol="0" anchor="ctr"/>
          <a:lstStyle/>
          <a:p>
            <a:pPr indent="0" marL="0">
              <a:buNone/>
            </a:pPr>
            <a:r>
              <a:rPr lang="en-US" sz="1200" b="1" spc="200" kern="0" dirty="0">
                <a:solidFill>
                  <a:srgbClr val="C79A3A"/>
                </a:solidFill>
                <a:latin typeface="Malgun Gothic" pitchFamily="34" charset="0"/>
                <a:ea typeface="Malgun Gothic" pitchFamily="34" charset="-122"/>
                <a:cs typeface="Malgun Gothic" pitchFamily="34" charset="-120"/>
              </a:rPr>
              <a:t>04  제품 라인업</a:t>
            </a:r>
            <a:endParaRPr lang="en-US" sz="1200" dirty="0"/>
          </a:p>
        </p:txBody>
      </p:sp>
      <p:sp>
        <p:nvSpPr>
          <p:cNvPr id="3" name="Text 1"/>
          <p:cNvSpPr/>
          <p:nvPr/>
        </p:nvSpPr>
        <p:spPr>
          <a:xfrm>
            <a:off x="530352" y="749808"/>
            <a:ext cx="11064240" cy="685800"/>
          </a:xfrm>
          <a:prstGeom prst="rect">
            <a:avLst/>
          </a:prstGeom>
          <a:noFill/>
          <a:ln/>
        </p:spPr>
        <p:txBody>
          <a:bodyPr wrap="square" lIns="0" tIns="0" rIns="0" bIns="0" rtlCol="0" anchor="ctr"/>
          <a:lstStyle/>
          <a:p>
            <a:pPr indent="0" marL="0">
              <a:buNone/>
            </a:pPr>
            <a:r>
              <a:rPr lang="en-US" sz="3100" b="1" dirty="0">
                <a:solidFill>
                  <a:srgbClr val="173A28"/>
                </a:solidFill>
                <a:latin typeface="Malgun Gothic" pitchFamily="34" charset="0"/>
                <a:ea typeface="Malgun Gothic" pitchFamily="34" charset="-122"/>
                <a:cs typeface="Malgun Gothic" pitchFamily="34" charset="-120"/>
              </a:rPr>
              <a:t>저지 원유의 가공적성을 제품 다각화로 연결하다</a:t>
            </a:r>
            <a:endParaRPr lang="en-US" sz="3100" dirty="0"/>
          </a:p>
        </p:txBody>
      </p:sp>
      <p:sp>
        <p:nvSpPr>
          <p:cNvPr id="4" name="Shape 2"/>
          <p:cNvSpPr/>
          <p:nvPr/>
        </p:nvSpPr>
        <p:spPr>
          <a:xfrm>
            <a:off x="548640" y="1737360"/>
            <a:ext cx="5532120" cy="1874520"/>
          </a:xfrm>
          <a:prstGeom prst="roundRect">
            <a:avLst>
              <a:gd name="adj" fmla="val 4878"/>
            </a:avLst>
          </a:prstGeom>
          <a:solidFill>
            <a:srgbClr val="EAF2EC"/>
          </a:solidFill>
          <a:ln/>
        </p:spPr>
      </p:sp>
      <p:sp>
        <p:nvSpPr>
          <p:cNvPr id="5" name="Shape 3"/>
          <p:cNvSpPr/>
          <p:nvPr/>
        </p:nvSpPr>
        <p:spPr>
          <a:xfrm>
            <a:off x="804672" y="1993392"/>
            <a:ext cx="1371600" cy="502920"/>
          </a:xfrm>
          <a:prstGeom prst="roundRect">
            <a:avLst>
              <a:gd name="adj" fmla="val 49091"/>
            </a:avLst>
          </a:prstGeom>
          <a:solidFill>
            <a:srgbClr val="173A28"/>
          </a:solidFill>
          <a:ln/>
        </p:spPr>
      </p:sp>
      <p:sp>
        <p:nvSpPr>
          <p:cNvPr id="6" name="Text 4"/>
          <p:cNvSpPr/>
          <p:nvPr/>
        </p:nvSpPr>
        <p:spPr>
          <a:xfrm>
            <a:off x="804672" y="1993392"/>
            <a:ext cx="1371600" cy="502920"/>
          </a:xfrm>
          <a:prstGeom prst="rect">
            <a:avLst/>
          </a:prstGeom>
          <a:noFill/>
          <a:ln/>
        </p:spPr>
        <p:txBody>
          <a:bodyPr wrap="square"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플래그십</a:t>
            </a:r>
            <a:endParaRPr lang="en-US" sz="1200" dirty="0"/>
          </a:p>
        </p:txBody>
      </p:sp>
      <p:sp>
        <p:nvSpPr>
          <p:cNvPr id="7" name="Text 5"/>
          <p:cNvSpPr/>
          <p:nvPr/>
        </p:nvSpPr>
        <p:spPr>
          <a:xfrm>
            <a:off x="804672" y="2606040"/>
            <a:ext cx="5029200" cy="457200"/>
          </a:xfrm>
          <a:prstGeom prst="rect">
            <a:avLst/>
          </a:prstGeom>
          <a:noFill/>
          <a:ln/>
        </p:spPr>
        <p:txBody>
          <a:bodyPr wrap="square" lIns="0" tIns="0" rIns="0" bIns="0" rtlCol="0" anchor="ctr"/>
          <a:lstStyle/>
          <a:p>
            <a:pPr indent="0" marL="0">
              <a:buNone/>
            </a:pPr>
            <a:r>
              <a:rPr lang="en-US" sz="1900" b="1" dirty="0">
                <a:solidFill>
                  <a:srgbClr val="173A28"/>
                </a:solidFill>
                <a:latin typeface="Malgun Gothic" pitchFamily="34" charset="0"/>
                <a:ea typeface="Malgun Gothic" pitchFamily="34" charset="-122"/>
                <a:cs typeface="Malgun Gothic" pitchFamily="34" charset="-120"/>
              </a:rPr>
              <a:t>A2 저지 건초우유</a:t>
            </a:r>
            <a:endParaRPr lang="en-US" sz="1900" dirty="0"/>
          </a:p>
        </p:txBody>
      </p:sp>
      <p:sp>
        <p:nvSpPr>
          <p:cNvPr id="8" name="Text 6"/>
          <p:cNvSpPr/>
          <p:nvPr/>
        </p:nvSpPr>
        <p:spPr>
          <a:xfrm>
            <a:off x="804672" y="3063240"/>
            <a:ext cx="5029200" cy="457200"/>
          </a:xfrm>
          <a:prstGeom prst="rect">
            <a:avLst/>
          </a:prstGeom>
          <a:noFill/>
          <a:ln/>
        </p:spPr>
        <p:txBody>
          <a:bodyPr wrap="square" lIns="0" tIns="0" rIns="0" bIns="0" rtlCol="0" anchor="ctr"/>
          <a:lstStyle/>
          <a:p>
            <a:pPr indent="0" marL="0">
              <a:buNone/>
            </a:pPr>
            <a:r>
              <a:rPr lang="en-US" sz="1250" dirty="0">
                <a:solidFill>
                  <a:srgbClr val="20302A"/>
                </a:solidFill>
                <a:latin typeface="Malgun Gothic" pitchFamily="34" charset="0"/>
                <a:ea typeface="Malgun Gothic" pitchFamily="34" charset="-122"/>
                <a:cs typeface="Malgun Gothic" pitchFamily="34" charset="-120"/>
              </a:rPr>
              <a:t>진한 풍미의 A2 · 건초우유. 브랜드의 얼굴</a:t>
            </a:r>
            <a:endParaRPr lang="en-US" sz="1250" dirty="0"/>
          </a:p>
        </p:txBody>
      </p:sp>
      <p:sp>
        <p:nvSpPr>
          <p:cNvPr id="9" name="Shape 7"/>
          <p:cNvSpPr/>
          <p:nvPr/>
        </p:nvSpPr>
        <p:spPr>
          <a:xfrm>
            <a:off x="6355080" y="1737360"/>
            <a:ext cx="5532120" cy="1874520"/>
          </a:xfrm>
          <a:prstGeom prst="roundRect">
            <a:avLst>
              <a:gd name="adj" fmla="val 4878"/>
            </a:avLst>
          </a:prstGeom>
          <a:solidFill>
            <a:srgbClr val="EAF2EC"/>
          </a:solidFill>
          <a:ln/>
        </p:spPr>
      </p:sp>
      <p:sp>
        <p:nvSpPr>
          <p:cNvPr id="10" name="Shape 8"/>
          <p:cNvSpPr/>
          <p:nvPr/>
        </p:nvSpPr>
        <p:spPr>
          <a:xfrm>
            <a:off x="6611112" y="1993392"/>
            <a:ext cx="1371600" cy="502920"/>
          </a:xfrm>
          <a:prstGeom prst="roundRect">
            <a:avLst>
              <a:gd name="adj" fmla="val 49091"/>
            </a:avLst>
          </a:prstGeom>
          <a:solidFill>
            <a:srgbClr val="2C6E49"/>
          </a:solidFill>
          <a:ln/>
        </p:spPr>
      </p:sp>
      <p:sp>
        <p:nvSpPr>
          <p:cNvPr id="11" name="Text 9"/>
          <p:cNvSpPr/>
          <p:nvPr/>
        </p:nvSpPr>
        <p:spPr>
          <a:xfrm>
            <a:off x="6611112" y="1993392"/>
            <a:ext cx="1371600" cy="502920"/>
          </a:xfrm>
          <a:prstGeom prst="rect">
            <a:avLst/>
          </a:prstGeom>
          <a:noFill/>
          <a:ln/>
        </p:spPr>
        <p:txBody>
          <a:bodyPr wrap="square"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발효</a:t>
            </a:r>
            <a:endParaRPr lang="en-US" sz="1200" dirty="0"/>
          </a:p>
        </p:txBody>
      </p:sp>
      <p:sp>
        <p:nvSpPr>
          <p:cNvPr id="12" name="Text 10"/>
          <p:cNvSpPr/>
          <p:nvPr/>
        </p:nvSpPr>
        <p:spPr>
          <a:xfrm>
            <a:off x="6611112" y="2606040"/>
            <a:ext cx="5029200" cy="457200"/>
          </a:xfrm>
          <a:prstGeom prst="rect">
            <a:avLst/>
          </a:prstGeom>
          <a:noFill/>
          <a:ln/>
        </p:spPr>
        <p:txBody>
          <a:bodyPr wrap="square" lIns="0" tIns="0" rIns="0" bIns="0" rtlCol="0" anchor="ctr"/>
          <a:lstStyle/>
          <a:p>
            <a:pPr indent="0" marL="0">
              <a:buNone/>
            </a:pPr>
            <a:r>
              <a:rPr lang="en-US" sz="1900" b="1" dirty="0">
                <a:solidFill>
                  <a:srgbClr val="173A28"/>
                </a:solidFill>
                <a:latin typeface="Malgun Gothic" pitchFamily="34" charset="0"/>
                <a:ea typeface="Malgun Gothic" pitchFamily="34" charset="-122"/>
                <a:cs typeface="Malgun Gothic" pitchFamily="34" charset="-120"/>
              </a:rPr>
              <a:t>A2 요거트 · 그릭요거트</a:t>
            </a:r>
            <a:endParaRPr lang="en-US" sz="1900" dirty="0"/>
          </a:p>
        </p:txBody>
      </p:sp>
      <p:sp>
        <p:nvSpPr>
          <p:cNvPr id="13" name="Text 11"/>
          <p:cNvSpPr/>
          <p:nvPr/>
        </p:nvSpPr>
        <p:spPr>
          <a:xfrm>
            <a:off x="6611112" y="3063240"/>
            <a:ext cx="5029200" cy="457200"/>
          </a:xfrm>
          <a:prstGeom prst="rect">
            <a:avLst/>
          </a:prstGeom>
          <a:noFill/>
          <a:ln/>
        </p:spPr>
        <p:txBody>
          <a:bodyPr wrap="square" lIns="0" tIns="0" rIns="0" bIns="0" rtlCol="0" anchor="ctr"/>
          <a:lstStyle/>
          <a:p>
            <a:pPr indent="0" marL="0">
              <a:buNone/>
            </a:pPr>
            <a:r>
              <a:rPr lang="en-US" sz="1250" dirty="0">
                <a:solidFill>
                  <a:srgbClr val="20302A"/>
                </a:solidFill>
                <a:latin typeface="Malgun Gothic" pitchFamily="34" charset="0"/>
                <a:ea typeface="Malgun Gothic" pitchFamily="34" charset="-122"/>
                <a:cs typeface="Malgun Gothic" pitchFamily="34" charset="-120"/>
              </a:rPr>
              <a:t>높은 고형분으로 되직하고 진한 식감</a:t>
            </a:r>
            <a:endParaRPr lang="en-US" sz="1250" dirty="0"/>
          </a:p>
        </p:txBody>
      </p:sp>
      <p:sp>
        <p:nvSpPr>
          <p:cNvPr id="14" name="Shape 12"/>
          <p:cNvSpPr/>
          <p:nvPr/>
        </p:nvSpPr>
        <p:spPr>
          <a:xfrm>
            <a:off x="548640" y="3840480"/>
            <a:ext cx="5532120" cy="1874520"/>
          </a:xfrm>
          <a:prstGeom prst="roundRect">
            <a:avLst>
              <a:gd name="adj" fmla="val 4878"/>
            </a:avLst>
          </a:prstGeom>
          <a:solidFill>
            <a:srgbClr val="EAF2EC"/>
          </a:solidFill>
          <a:ln/>
        </p:spPr>
      </p:sp>
      <p:sp>
        <p:nvSpPr>
          <p:cNvPr id="15" name="Shape 13"/>
          <p:cNvSpPr/>
          <p:nvPr/>
        </p:nvSpPr>
        <p:spPr>
          <a:xfrm>
            <a:off x="804672" y="4096512"/>
            <a:ext cx="1371600" cy="502920"/>
          </a:xfrm>
          <a:prstGeom prst="roundRect">
            <a:avLst>
              <a:gd name="adj" fmla="val 49091"/>
            </a:avLst>
          </a:prstGeom>
          <a:solidFill>
            <a:srgbClr val="C79A3A"/>
          </a:solidFill>
          <a:ln/>
        </p:spPr>
      </p:sp>
      <p:sp>
        <p:nvSpPr>
          <p:cNvPr id="16" name="Text 14"/>
          <p:cNvSpPr/>
          <p:nvPr/>
        </p:nvSpPr>
        <p:spPr>
          <a:xfrm>
            <a:off x="804672" y="4096512"/>
            <a:ext cx="1371600" cy="502920"/>
          </a:xfrm>
          <a:prstGeom prst="rect">
            <a:avLst/>
          </a:prstGeom>
          <a:noFill/>
          <a:ln/>
        </p:spPr>
        <p:txBody>
          <a:bodyPr wrap="square" rtlCol="0" anchor="ctr"/>
          <a:lstStyle/>
          <a:p>
            <a:pPr algn="ctr" indent="0" marL="0">
              <a:buNone/>
            </a:pPr>
            <a:r>
              <a:rPr lang="en-US" sz="1200" b="1" dirty="0">
                <a:solidFill>
                  <a:srgbClr val="173A28"/>
                </a:solidFill>
                <a:latin typeface="Malgun Gothic" pitchFamily="34" charset="0"/>
                <a:ea typeface="Malgun Gothic" pitchFamily="34" charset="-122"/>
                <a:cs typeface="Malgun Gothic" pitchFamily="34" charset="-120"/>
              </a:rPr>
              <a:t>프리미엄</a:t>
            </a:r>
            <a:endParaRPr lang="en-US" sz="1200" dirty="0"/>
          </a:p>
        </p:txBody>
      </p:sp>
      <p:sp>
        <p:nvSpPr>
          <p:cNvPr id="17" name="Text 15"/>
          <p:cNvSpPr/>
          <p:nvPr/>
        </p:nvSpPr>
        <p:spPr>
          <a:xfrm>
            <a:off x="804672" y="4709160"/>
            <a:ext cx="5029200" cy="457200"/>
          </a:xfrm>
          <a:prstGeom prst="rect">
            <a:avLst/>
          </a:prstGeom>
          <a:noFill/>
          <a:ln/>
        </p:spPr>
        <p:txBody>
          <a:bodyPr wrap="square" lIns="0" tIns="0" rIns="0" bIns="0" rtlCol="0" anchor="ctr"/>
          <a:lstStyle/>
          <a:p>
            <a:pPr indent="0" marL="0">
              <a:buNone/>
            </a:pPr>
            <a:r>
              <a:rPr lang="en-US" sz="1900" b="1" dirty="0">
                <a:solidFill>
                  <a:srgbClr val="173A28"/>
                </a:solidFill>
                <a:latin typeface="Malgun Gothic" pitchFamily="34" charset="0"/>
                <a:ea typeface="Malgun Gothic" pitchFamily="34" charset="-122"/>
                <a:cs typeface="Malgun Gothic" pitchFamily="34" charset="-120"/>
              </a:rPr>
              <a:t>카이막 (Kaymak)</a:t>
            </a:r>
            <a:endParaRPr lang="en-US" sz="1900" dirty="0"/>
          </a:p>
        </p:txBody>
      </p:sp>
      <p:sp>
        <p:nvSpPr>
          <p:cNvPr id="18" name="Text 16"/>
          <p:cNvSpPr/>
          <p:nvPr/>
        </p:nvSpPr>
        <p:spPr>
          <a:xfrm>
            <a:off x="804672" y="5166360"/>
            <a:ext cx="5029200" cy="457200"/>
          </a:xfrm>
          <a:prstGeom prst="rect">
            <a:avLst/>
          </a:prstGeom>
          <a:noFill/>
          <a:ln/>
        </p:spPr>
        <p:txBody>
          <a:bodyPr wrap="square" lIns="0" tIns="0" rIns="0" bIns="0" rtlCol="0" anchor="ctr"/>
          <a:lstStyle/>
          <a:p>
            <a:pPr indent="0" marL="0">
              <a:buNone/>
            </a:pPr>
            <a:r>
              <a:rPr lang="en-US" sz="1250" dirty="0">
                <a:solidFill>
                  <a:srgbClr val="20302A"/>
                </a:solidFill>
                <a:latin typeface="Malgun Gothic" pitchFamily="34" charset="0"/>
                <a:ea typeface="Malgun Gothic" pitchFamily="34" charset="-122"/>
                <a:cs typeface="Malgun Gothic" pitchFamily="34" charset="-120"/>
              </a:rPr>
              <a:t>저지 고유고형분을 살린 고급 유크림 별미</a:t>
            </a:r>
            <a:endParaRPr lang="en-US" sz="1250" dirty="0"/>
          </a:p>
        </p:txBody>
      </p:sp>
      <p:sp>
        <p:nvSpPr>
          <p:cNvPr id="19" name="Shape 17"/>
          <p:cNvSpPr/>
          <p:nvPr/>
        </p:nvSpPr>
        <p:spPr>
          <a:xfrm>
            <a:off x="6355080" y="3840480"/>
            <a:ext cx="5532120" cy="1874520"/>
          </a:xfrm>
          <a:prstGeom prst="roundRect">
            <a:avLst>
              <a:gd name="adj" fmla="val 4878"/>
            </a:avLst>
          </a:prstGeom>
          <a:solidFill>
            <a:srgbClr val="EAF2EC"/>
          </a:solidFill>
          <a:ln/>
        </p:spPr>
      </p:sp>
      <p:sp>
        <p:nvSpPr>
          <p:cNvPr id="20" name="Shape 18"/>
          <p:cNvSpPr/>
          <p:nvPr/>
        </p:nvSpPr>
        <p:spPr>
          <a:xfrm>
            <a:off x="6611112" y="4096512"/>
            <a:ext cx="1371600" cy="502920"/>
          </a:xfrm>
          <a:prstGeom prst="roundRect">
            <a:avLst>
              <a:gd name="adj" fmla="val 49091"/>
            </a:avLst>
          </a:prstGeom>
          <a:solidFill>
            <a:srgbClr val="2C6E49"/>
          </a:solidFill>
          <a:ln/>
        </p:spPr>
      </p:sp>
      <p:sp>
        <p:nvSpPr>
          <p:cNvPr id="21" name="Text 19"/>
          <p:cNvSpPr/>
          <p:nvPr/>
        </p:nvSpPr>
        <p:spPr>
          <a:xfrm>
            <a:off x="6611112" y="4096512"/>
            <a:ext cx="1371600" cy="502920"/>
          </a:xfrm>
          <a:prstGeom prst="rect">
            <a:avLst/>
          </a:prstGeom>
          <a:noFill/>
          <a:ln/>
        </p:spPr>
        <p:txBody>
          <a:bodyPr wrap="square"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확장</a:t>
            </a:r>
            <a:endParaRPr lang="en-US" sz="1200" dirty="0"/>
          </a:p>
        </p:txBody>
      </p:sp>
      <p:sp>
        <p:nvSpPr>
          <p:cNvPr id="22" name="Text 20"/>
          <p:cNvSpPr/>
          <p:nvPr/>
        </p:nvSpPr>
        <p:spPr>
          <a:xfrm>
            <a:off x="6611112" y="4709160"/>
            <a:ext cx="5029200" cy="457200"/>
          </a:xfrm>
          <a:prstGeom prst="rect">
            <a:avLst/>
          </a:prstGeom>
          <a:noFill/>
          <a:ln/>
        </p:spPr>
        <p:txBody>
          <a:bodyPr wrap="square" lIns="0" tIns="0" rIns="0" bIns="0" rtlCol="0" anchor="ctr"/>
          <a:lstStyle/>
          <a:p>
            <a:pPr indent="0" marL="0">
              <a:buNone/>
            </a:pPr>
            <a:r>
              <a:rPr lang="en-US" sz="1900" b="1" dirty="0">
                <a:solidFill>
                  <a:srgbClr val="173A28"/>
                </a:solidFill>
                <a:latin typeface="Malgun Gothic" pitchFamily="34" charset="0"/>
                <a:ea typeface="Malgun Gothic" pitchFamily="34" charset="-122"/>
                <a:cs typeface="Malgun Gothic" pitchFamily="34" charset="-120"/>
              </a:rPr>
              <a:t>밀크티 · 아이스크림</a:t>
            </a:r>
            <a:endParaRPr lang="en-US" sz="1900" dirty="0"/>
          </a:p>
        </p:txBody>
      </p:sp>
      <p:sp>
        <p:nvSpPr>
          <p:cNvPr id="23" name="Text 21"/>
          <p:cNvSpPr/>
          <p:nvPr/>
        </p:nvSpPr>
        <p:spPr>
          <a:xfrm>
            <a:off x="6611112" y="5166360"/>
            <a:ext cx="5029200" cy="457200"/>
          </a:xfrm>
          <a:prstGeom prst="rect">
            <a:avLst/>
          </a:prstGeom>
          <a:noFill/>
          <a:ln/>
        </p:spPr>
        <p:txBody>
          <a:bodyPr wrap="square" lIns="0" tIns="0" rIns="0" bIns="0" rtlCol="0" anchor="ctr"/>
          <a:lstStyle/>
          <a:p>
            <a:pPr indent="0" marL="0">
              <a:buNone/>
            </a:pPr>
            <a:r>
              <a:rPr lang="en-US" sz="1250" dirty="0">
                <a:solidFill>
                  <a:srgbClr val="20302A"/>
                </a:solidFill>
                <a:latin typeface="Malgun Gothic" pitchFamily="34" charset="0"/>
                <a:ea typeface="Malgun Gothic" pitchFamily="34" charset="-122"/>
                <a:cs typeface="Malgun Gothic" pitchFamily="34" charset="-120"/>
              </a:rPr>
              <a:t>일상 · 디저트 접점을 넓히는 라인업</a:t>
            </a:r>
            <a:endParaRPr lang="en-US" sz="1250" dirty="0"/>
          </a:p>
        </p:txBody>
      </p:sp>
      <p:sp>
        <p:nvSpPr>
          <p:cNvPr id="24" name="Text 22"/>
          <p:cNvSpPr/>
          <p:nvPr/>
        </p:nvSpPr>
        <p:spPr>
          <a:xfrm>
            <a:off x="502920" y="6419088"/>
            <a:ext cx="9601200" cy="292608"/>
          </a:xfrm>
          <a:prstGeom prst="rect">
            <a:avLst/>
          </a:prstGeom>
          <a:noFill/>
          <a:ln/>
        </p:spPr>
        <p:txBody>
          <a:bodyPr wrap="square" lIns="0" tIns="0" rIns="0" bIns="0" rtlCol="0" anchor="ctr"/>
          <a:lstStyle/>
          <a:p>
            <a:pPr algn="l" indent="0" marL="0">
              <a:buNone/>
            </a:pPr>
            <a:r>
              <a:rPr lang="en-US" sz="900" dirty="0">
                <a:solidFill>
                  <a:srgbClr val="6B7B72"/>
                </a:solidFill>
                <a:latin typeface="Malgun Gothic" pitchFamily="34" charset="0"/>
                <a:ea typeface="Malgun Gothic" pitchFamily="34" charset="-122"/>
                <a:cs typeface="Malgun Gothic" pitchFamily="34" charset="-120"/>
              </a:rPr>
              <a:t>저지종 젖소 산업 활성화를 위한 국제 심포지엄  ·  송영신목장 하현제 원장</a:t>
            </a:r>
            <a:endParaRPr lang="en-US" sz="900" dirty="0"/>
          </a:p>
        </p:txBody>
      </p:sp>
      <p:sp>
        <p:nvSpPr>
          <p:cNvPr id="25" name="Text 23"/>
          <p:cNvSpPr/>
          <p:nvPr/>
        </p:nvSpPr>
        <p:spPr>
          <a:xfrm>
            <a:off x="11292840" y="6419088"/>
            <a:ext cx="411480" cy="292608"/>
          </a:xfrm>
          <a:prstGeom prst="rect">
            <a:avLst/>
          </a:prstGeom>
          <a:noFill/>
          <a:ln/>
        </p:spPr>
        <p:txBody>
          <a:bodyPr wrap="square" lIns="0" tIns="0" rIns="0" bIns="0" rtlCol="0" anchor="ctr"/>
          <a:lstStyle/>
          <a:p>
            <a:pPr algn="r" indent="0" marL="0">
              <a:buNone/>
            </a:pPr>
            <a:r>
              <a:rPr lang="en-US" sz="900" dirty="0">
                <a:solidFill>
                  <a:srgbClr val="6B7B72"/>
                </a:solidFill>
                <a:latin typeface="Malgun Gothic" pitchFamily="34" charset="0"/>
                <a:ea typeface="Malgun Gothic" pitchFamily="34" charset="-122"/>
                <a:cs typeface="Malgun Gothic"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lIns="0" tIns="0" rIns="0" bIns="0" rtlCol="0" anchor="ctr"/>
          <a:lstStyle/>
          <a:p>
            <a:pPr indent="0" marL="0">
              <a:buNone/>
            </a:pPr>
            <a:r>
              <a:rPr lang="en-US" sz="1200" b="1" spc="200" kern="0" dirty="0">
                <a:solidFill>
                  <a:srgbClr val="C79A3A"/>
                </a:solidFill>
                <a:latin typeface="Malgun Gothic" pitchFamily="34" charset="0"/>
                <a:ea typeface="Malgun Gothic" pitchFamily="34" charset="-122"/>
                <a:cs typeface="Malgun Gothic" pitchFamily="34" charset="-120"/>
              </a:rPr>
              <a:t>04  제조공정 · 품질</a:t>
            </a:r>
            <a:endParaRPr lang="en-US" sz="1200" dirty="0"/>
          </a:p>
        </p:txBody>
      </p:sp>
      <p:sp>
        <p:nvSpPr>
          <p:cNvPr id="3" name="Text 1"/>
          <p:cNvSpPr/>
          <p:nvPr/>
        </p:nvSpPr>
        <p:spPr>
          <a:xfrm>
            <a:off x="530352" y="749808"/>
            <a:ext cx="11064240" cy="685800"/>
          </a:xfrm>
          <a:prstGeom prst="rect">
            <a:avLst/>
          </a:prstGeom>
          <a:noFill/>
          <a:ln/>
        </p:spPr>
        <p:txBody>
          <a:bodyPr wrap="square" lIns="0" tIns="0" rIns="0" bIns="0" rtlCol="0" anchor="ctr"/>
          <a:lstStyle/>
          <a:p>
            <a:pPr indent="0" marL="0">
              <a:buNone/>
            </a:pPr>
            <a:r>
              <a:rPr lang="en-US" sz="3100" b="1" dirty="0">
                <a:solidFill>
                  <a:srgbClr val="173A28"/>
                </a:solidFill>
                <a:latin typeface="Malgun Gothic" pitchFamily="34" charset="0"/>
                <a:ea typeface="Malgun Gothic" pitchFamily="34" charset="-122"/>
                <a:cs typeface="Malgun Gothic" pitchFamily="34" charset="-120"/>
              </a:rPr>
              <a:t>표준화된 공정과 저지 원유의 영양 강점</a:t>
            </a:r>
            <a:endParaRPr lang="en-US" sz="3100" dirty="0"/>
          </a:p>
        </p:txBody>
      </p:sp>
      <p:sp>
        <p:nvSpPr>
          <p:cNvPr id="4" name="Shape 2"/>
          <p:cNvSpPr/>
          <p:nvPr/>
        </p:nvSpPr>
        <p:spPr>
          <a:xfrm>
            <a:off x="640080" y="1828800"/>
            <a:ext cx="1664208" cy="868680"/>
          </a:xfrm>
          <a:prstGeom prst="roundRect">
            <a:avLst>
              <a:gd name="adj" fmla="val 8421"/>
            </a:avLst>
          </a:prstGeom>
          <a:solidFill>
            <a:srgbClr val="173A28"/>
          </a:solidFill>
          <a:ln/>
        </p:spPr>
      </p:sp>
      <p:sp>
        <p:nvSpPr>
          <p:cNvPr id="5" name="Text 3"/>
          <p:cNvSpPr/>
          <p:nvPr/>
        </p:nvSpPr>
        <p:spPr>
          <a:xfrm>
            <a:off x="685800" y="1828800"/>
            <a:ext cx="1572768" cy="868680"/>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원유</a:t>
            </a:r>
            <a:endParaRPr lang="en-US" sz="1300" dirty="0"/>
          </a:p>
        </p:txBody>
      </p:sp>
      <p:sp>
        <p:nvSpPr>
          <p:cNvPr id="6" name="Text 4"/>
          <p:cNvSpPr/>
          <p:nvPr/>
        </p:nvSpPr>
        <p:spPr>
          <a:xfrm>
            <a:off x="2267712" y="1828800"/>
            <a:ext cx="155448" cy="868680"/>
          </a:xfrm>
          <a:prstGeom prst="rect">
            <a:avLst/>
          </a:prstGeom>
          <a:noFill/>
          <a:ln/>
        </p:spPr>
        <p:txBody>
          <a:bodyPr wrap="square" rtlCol="0" anchor="ctr"/>
          <a:lstStyle/>
          <a:p>
            <a:pPr algn="ctr" indent="0" marL="0">
              <a:buNone/>
            </a:pPr>
            <a:r>
              <a:rPr lang="en-US" sz="2000" b="1" dirty="0">
                <a:solidFill>
                  <a:srgbClr val="C79A3A"/>
                </a:solidFill>
                <a:latin typeface="Malgun Gothic" pitchFamily="34" charset="0"/>
                <a:ea typeface="Malgun Gothic" pitchFamily="34" charset="-122"/>
                <a:cs typeface="Malgun Gothic" pitchFamily="34" charset="-120"/>
              </a:rPr>
              <a:t>›</a:t>
            </a:r>
            <a:endParaRPr lang="en-US" sz="2000" dirty="0"/>
          </a:p>
        </p:txBody>
      </p:sp>
      <p:sp>
        <p:nvSpPr>
          <p:cNvPr id="7" name="Shape 5"/>
          <p:cNvSpPr/>
          <p:nvPr/>
        </p:nvSpPr>
        <p:spPr>
          <a:xfrm>
            <a:off x="2423160" y="1828800"/>
            <a:ext cx="1664208" cy="868680"/>
          </a:xfrm>
          <a:prstGeom prst="roundRect">
            <a:avLst>
              <a:gd name="adj" fmla="val 8421"/>
            </a:avLst>
          </a:prstGeom>
          <a:solidFill>
            <a:srgbClr val="173A28"/>
          </a:solidFill>
          <a:ln/>
        </p:spPr>
      </p:sp>
      <p:sp>
        <p:nvSpPr>
          <p:cNvPr id="8" name="Text 6"/>
          <p:cNvSpPr/>
          <p:nvPr/>
        </p:nvSpPr>
        <p:spPr>
          <a:xfrm>
            <a:off x="2468880" y="1828800"/>
            <a:ext cx="1572768" cy="868680"/>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균질화</a:t>
            </a:r>
            <a:endParaRPr lang="en-US" sz="1300" dirty="0"/>
          </a:p>
        </p:txBody>
      </p:sp>
      <p:sp>
        <p:nvSpPr>
          <p:cNvPr id="9" name="Text 7"/>
          <p:cNvSpPr/>
          <p:nvPr/>
        </p:nvSpPr>
        <p:spPr>
          <a:xfrm>
            <a:off x="4050792" y="1828800"/>
            <a:ext cx="155448" cy="868680"/>
          </a:xfrm>
          <a:prstGeom prst="rect">
            <a:avLst/>
          </a:prstGeom>
          <a:noFill/>
          <a:ln/>
        </p:spPr>
        <p:txBody>
          <a:bodyPr wrap="square" rtlCol="0" anchor="ctr"/>
          <a:lstStyle/>
          <a:p>
            <a:pPr algn="ctr" indent="0" marL="0">
              <a:buNone/>
            </a:pPr>
            <a:r>
              <a:rPr lang="en-US" sz="2000" b="1" dirty="0">
                <a:solidFill>
                  <a:srgbClr val="C79A3A"/>
                </a:solidFill>
                <a:latin typeface="Malgun Gothic" pitchFamily="34" charset="0"/>
                <a:ea typeface="Malgun Gothic" pitchFamily="34" charset="-122"/>
                <a:cs typeface="Malgun Gothic" pitchFamily="34" charset="-120"/>
              </a:rPr>
              <a:t>›</a:t>
            </a:r>
            <a:endParaRPr lang="en-US" sz="2000" dirty="0"/>
          </a:p>
        </p:txBody>
      </p:sp>
      <p:sp>
        <p:nvSpPr>
          <p:cNvPr id="10" name="Shape 8"/>
          <p:cNvSpPr/>
          <p:nvPr/>
        </p:nvSpPr>
        <p:spPr>
          <a:xfrm>
            <a:off x="4206240" y="1828800"/>
            <a:ext cx="1664208" cy="868680"/>
          </a:xfrm>
          <a:prstGeom prst="roundRect">
            <a:avLst>
              <a:gd name="adj" fmla="val 8421"/>
            </a:avLst>
          </a:prstGeom>
          <a:solidFill>
            <a:srgbClr val="173A28"/>
          </a:solidFill>
          <a:ln/>
        </p:spPr>
      </p:sp>
      <p:sp>
        <p:nvSpPr>
          <p:cNvPr id="11" name="Text 9"/>
          <p:cNvSpPr/>
          <p:nvPr/>
        </p:nvSpPr>
        <p:spPr>
          <a:xfrm>
            <a:off x="4251960" y="1828800"/>
            <a:ext cx="1572768" cy="868680"/>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살균 75℃/20초</a:t>
            </a:r>
            <a:endParaRPr lang="en-US" sz="1300" dirty="0"/>
          </a:p>
        </p:txBody>
      </p:sp>
      <p:sp>
        <p:nvSpPr>
          <p:cNvPr id="12" name="Text 10"/>
          <p:cNvSpPr/>
          <p:nvPr/>
        </p:nvSpPr>
        <p:spPr>
          <a:xfrm>
            <a:off x="5833872" y="1828800"/>
            <a:ext cx="155448" cy="868680"/>
          </a:xfrm>
          <a:prstGeom prst="rect">
            <a:avLst/>
          </a:prstGeom>
          <a:noFill/>
          <a:ln/>
        </p:spPr>
        <p:txBody>
          <a:bodyPr wrap="square" rtlCol="0" anchor="ctr"/>
          <a:lstStyle/>
          <a:p>
            <a:pPr algn="ctr" indent="0" marL="0">
              <a:buNone/>
            </a:pPr>
            <a:r>
              <a:rPr lang="en-US" sz="2000" b="1" dirty="0">
                <a:solidFill>
                  <a:srgbClr val="C79A3A"/>
                </a:solidFill>
                <a:latin typeface="Malgun Gothic" pitchFamily="34" charset="0"/>
                <a:ea typeface="Malgun Gothic" pitchFamily="34" charset="-122"/>
                <a:cs typeface="Malgun Gothic" pitchFamily="34" charset="-120"/>
              </a:rPr>
              <a:t>›</a:t>
            </a:r>
            <a:endParaRPr lang="en-US" sz="2000" dirty="0"/>
          </a:p>
        </p:txBody>
      </p:sp>
      <p:sp>
        <p:nvSpPr>
          <p:cNvPr id="13" name="Shape 11"/>
          <p:cNvSpPr/>
          <p:nvPr/>
        </p:nvSpPr>
        <p:spPr>
          <a:xfrm>
            <a:off x="5989320" y="1828800"/>
            <a:ext cx="1664208" cy="868680"/>
          </a:xfrm>
          <a:prstGeom prst="roundRect">
            <a:avLst>
              <a:gd name="adj" fmla="val 8421"/>
            </a:avLst>
          </a:prstGeom>
          <a:solidFill>
            <a:srgbClr val="173A28"/>
          </a:solidFill>
          <a:ln/>
        </p:spPr>
      </p:sp>
      <p:sp>
        <p:nvSpPr>
          <p:cNvPr id="14" name="Text 12"/>
          <p:cNvSpPr/>
          <p:nvPr/>
        </p:nvSpPr>
        <p:spPr>
          <a:xfrm>
            <a:off x="6035040" y="1828800"/>
            <a:ext cx="1572768" cy="868680"/>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냉각</a:t>
            </a:r>
            <a:endParaRPr lang="en-US" sz="1300" dirty="0"/>
          </a:p>
        </p:txBody>
      </p:sp>
      <p:sp>
        <p:nvSpPr>
          <p:cNvPr id="15" name="Text 13"/>
          <p:cNvSpPr/>
          <p:nvPr/>
        </p:nvSpPr>
        <p:spPr>
          <a:xfrm>
            <a:off x="7616952" y="1828800"/>
            <a:ext cx="155448" cy="868680"/>
          </a:xfrm>
          <a:prstGeom prst="rect">
            <a:avLst/>
          </a:prstGeom>
          <a:noFill/>
          <a:ln/>
        </p:spPr>
        <p:txBody>
          <a:bodyPr wrap="square" rtlCol="0" anchor="ctr"/>
          <a:lstStyle/>
          <a:p>
            <a:pPr algn="ctr" indent="0" marL="0">
              <a:buNone/>
            </a:pPr>
            <a:r>
              <a:rPr lang="en-US" sz="2000" b="1" dirty="0">
                <a:solidFill>
                  <a:srgbClr val="C79A3A"/>
                </a:solidFill>
                <a:latin typeface="Malgun Gothic" pitchFamily="34" charset="0"/>
                <a:ea typeface="Malgun Gothic" pitchFamily="34" charset="-122"/>
                <a:cs typeface="Malgun Gothic" pitchFamily="34" charset="-120"/>
              </a:rPr>
              <a:t>›</a:t>
            </a:r>
            <a:endParaRPr lang="en-US" sz="2000" dirty="0"/>
          </a:p>
        </p:txBody>
      </p:sp>
      <p:sp>
        <p:nvSpPr>
          <p:cNvPr id="16" name="Shape 14"/>
          <p:cNvSpPr/>
          <p:nvPr/>
        </p:nvSpPr>
        <p:spPr>
          <a:xfrm>
            <a:off x="7772400" y="1828800"/>
            <a:ext cx="1664208" cy="868680"/>
          </a:xfrm>
          <a:prstGeom prst="roundRect">
            <a:avLst>
              <a:gd name="adj" fmla="val 8421"/>
            </a:avLst>
          </a:prstGeom>
          <a:solidFill>
            <a:srgbClr val="173A28"/>
          </a:solidFill>
          <a:ln/>
        </p:spPr>
      </p:sp>
      <p:sp>
        <p:nvSpPr>
          <p:cNvPr id="17" name="Text 15"/>
          <p:cNvSpPr/>
          <p:nvPr/>
        </p:nvSpPr>
        <p:spPr>
          <a:xfrm>
            <a:off x="7818120" y="1828800"/>
            <a:ext cx="1572768" cy="868680"/>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충전</a:t>
            </a:r>
            <a:endParaRPr lang="en-US" sz="1300" dirty="0"/>
          </a:p>
        </p:txBody>
      </p:sp>
      <p:sp>
        <p:nvSpPr>
          <p:cNvPr id="18" name="Text 16"/>
          <p:cNvSpPr/>
          <p:nvPr/>
        </p:nvSpPr>
        <p:spPr>
          <a:xfrm>
            <a:off x="9400032" y="1828800"/>
            <a:ext cx="155448" cy="868680"/>
          </a:xfrm>
          <a:prstGeom prst="rect">
            <a:avLst/>
          </a:prstGeom>
          <a:noFill/>
          <a:ln/>
        </p:spPr>
        <p:txBody>
          <a:bodyPr wrap="square" rtlCol="0" anchor="ctr"/>
          <a:lstStyle/>
          <a:p>
            <a:pPr algn="ctr" indent="0" marL="0">
              <a:buNone/>
            </a:pPr>
            <a:r>
              <a:rPr lang="en-US" sz="2000" b="1" dirty="0">
                <a:solidFill>
                  <a:srgbClr val="C79A3A"/>
                </a:solidFill>
                <a:latin typeface="Malgun Gothic" pitchFamily="34" charset="0"/>
                <a:ea typeface="Malgun Gothic" pitchFamily="34" charset="-122"/>
                <a:cs typeface="Malgun Gothic" pitchFamily="34" charset="-120"/>
              </a:rPr>
              <a:t>›</a:t>
            </a:r>
            <a:endParaRPr lang="en-US" sz="2000" dirty="0"/>
          </a:p>
        </p:txBody>
      </p:sp>
      <p:sp>
        <p:nvSpPr>
          <p:cNvPr id="19" name="Shape 17"/>
          <p:cNvSpPr/>
          <p:nvPr/>
        </p:nvSpPr>
        <p:spPr>
          <a:xfrm>
            <a:off x="9555480" y="1828800"/>
            <a:ext cx="1664208" cy="868680"/>
          </a:xfrm>
          <a:prstGeom prst="roundRect">
            <a:avLst>
              <a:gd name="adj" fmla="val 8421"/>
            </a:avLst>
          </a:prstGeom>
          <a:solidFill>
            <a:srgbClr val="173A28"/>
          </a:solidFill>
          <a:ln/>
        </p:spPr>
      </p:sp>
      <p:sp>
        <p:nvSpPr>
          <p:cNvPr id="20" name="Text 18"/>
          <p:cNvSpPr/>
          <p:nvPr/>
        </p:nvSpPr>
        <p:spPr>
          <a:xfrm>
            <a:off x="9601200" y="1828800"/>
            <a:ext cx="1572768" cy="868680"/>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포장</a:t>
            </a:r>
            <a:endParaRPr lang="en-US" sz="1300" dirty="0"/>
          </a:p>
        </p:txBody>
      </p:sp>
      <p:sp>
        <p:nvSpPr>
          <p:cNvPr id="21" name="Text 19"/>
          <p:cNvSpPr/>
          <p:nvPr/>
        </p:nvSpPr>
        <p:spPr>
          <a:xfrm>
            <a:off x="640080" y="2788920"/>
            <a:ext cx="10972800" cy="320040"/>
          </a:xfrm>
          <a:prstGeom prst="rect">
            <a:avLst/>
          </a:prstGeom>
          <a:noFill/>
          <a:ln/>
        </p:spPr>
        <p:txBody>
          <a:bodyPr wrap="square" lIns="0" tIns="0" rIns="0" bIns="0" rtlCol="0" anchor="ctr"/>
          <a:lstStyle/>
          <a:p>
            <a:pPr indent="0" marL="0">
              <a:buNone/>
            </a:pPr>
            <a:r>
              <a:rPr lang="en-US" sz="1200" i="1" dirty="0">
                <a:solidFill>
                  <a:srgbClr val="6B7B72"/>
                </a:solidFill>
                <a:latin typeface="Malgun Gothic" pitchFamily="34" charset="0"/>
                <a:ea typeface="Malgun Gothic" pitchFamily="34" charset="-122"/>
                <a:cs typeface="Malgun Gothic" pitchFamily="34" charset="-120"/>
              </a:rPr>
              <a:t>판형 열교환기(plate heat exchanger) 기반 · APV 균질기 · 저온 살균으로 신선도와 풍미 유지</a:t>
            </a:r>
            <a:endParaRPr lang="en-US" sz="1200" dirty="0"/>
          </a:p>
        </p:txBody>
      </p:sp>
      <p:sp>
        <p:nvSpPr>
          <p:cNvPr id="22" name="Text 20"/>
          <p:cNvSpPr/>
          <p:nvPr/>
        </p:nvSpPr>
        <p:spPr>
          <a:xfrm>
            <a:off x="548640" y="3337560"/>
            <a:ext cx="10972800" cy="365760"/>
          </a:xfrm>
          <a:prstGeom prst="rect">
            <a:avLst/>
          </a:prstGeom>
          <a:noFill/>
          <a:ln/>
        </p:spPr>
        <p:txBody>
          <a:bodyPr wrap="square" lIns="0" tIns="0" rIns="0" bIns="0" rtlCol="0" anchor="ctr"/>
          <a:lstStyle/>
          <a:p>
            <a:pPr indent="0" marL="0">
              <a:buNone/>
            </a:pPr>
            <a:r>
              <a:rPr lang="en-US" sz="1700" b="1" dirty="0">
                <a:solidFill>
                  <a:srgbClr val="2C6E49"/>
                </a:solidFill>
                <a:latin typeface="Malgun Gothic" pitchFamily="34" charset="0"/>
                <a:ea typeface="Malgun Gothic" pitchFamily="34" charset="-122"/>
                <a:cs typeface="Malgun Gothic" pitchFamily="34" charset="-120"/>
              </a:rPr>
              <a:t>A2 저지 건초우유 영양성분  (100 mL 기준)</a:t>
            </a:r>
            <a:endParaRPr lang="en-US" sz="1700" dirty="0"/>
          </a:p>
        </p:txBody>
      </p:sp>
      <p:sp>
        <p:nvSpPr>
          <p:cNvPr id="23" name="Shape 21"/>
          <p:cNvSpPr/>
          <p:nvPr/>
        </p:nvSpPr>
        <p:spPr>
          <a:xfrm>
            <a:off x="548640" y="3840480"/>
            <a:ext cx="1737360" cy="1417320"/>
          </a:xfrm>
          <a:prstGeom prst="roundRect">
            <a:avLst>
              <a:gd name="adj" fmla="val 6452"/>
            </a:avLst>
          </a:prstGeom>
          <a:solidFill>
            <a:srgbClr val="F4ECD6"/>
          </a:solidFill>
          <a:ln/>
        </p:spPr>
      </p:sp>
      <p:sp>
        <p:nvSpPr>
          <p:cNvPr id="24" name="Text 22"/>
          <p:cNvSpPr/>
          <p:nvPr/>
        </p:nvSpPr>
        <p:spPr>
          <a:xfrm>
            <a:off x="548640" y="4114800"/>
            <a:ext cx="1737360" cy="548640"/>
          </a:xfrm>
          <a:prstGeom prst="rect">
            <a:avLst/>
          </a:prstGeom>
          <a:noFill/>
          <a:ln/>
        </p:spPr>
        <p:txBody>
          <a:bodyPr wrap="square" lIns="0" tIns="0" rIns="0" bIns="0" rtlCol="0" anchor="ctr"/>
          <a:lstStyle/>
          <a:p>
            <a:pPr algn="ctr" indent="0" marL="0">
              <a:buNone/>
            </a:pPr>
            <a:r>
              <a:rPr lang="en-US" sz="2400" b="1" dirty="0">
                <a:solidFill>
                  <a:srgbClr val="173A28"/>
                </a:solidFill>
                <a:latin typeface="Malgun Gothic" pitchFamily="34" charset="0"/>
                <a:ea typeface="Malgun Gothic" pitchFamily="34" charset="-122"/>
                <a:cs typeface="Malgun Gothic" pitchFamily="34" charset="-120"/>
              </a:rPr>
              <a:t>92.64</a:t>
            </a:r>
            <a:endParaRPr lang="en-US" sz="2400" dirty="0"/>
          </a:p>
        </p:txBody>
      </p:sp>
      <p:sp>
        <p:nvSpPr>
          <p:cNvPr id="25" name="Text 23"/>
          <p:cNvSpPr/>
          <p:nvPr/>
        </p:nvSpPr>
        <p:spPr>
          <a:xfrm>
            <a:off x="548640" y="4709160"/>
            <a:ext cx="1737360" cy="365760"/>
          </a:xfrm>
          <a:prstGeom prst="rect">
            <a:avLst/>
          </a:prstGeom>
          <a:noFill/>
          <a:ln/>
        </p:spPr>
        <p:txBody>
          <a:bodyPr wrap="square" lIns="0" tIns="0" rIns="0" bIns="0" rtlCol="0" anchor="ctr"/>
          <a:lstStyle/>
          <a:p>
            <a:pPr algn="ctr" indent="0" marL="0">
              <a:buNone/>
            </a:pPr>
            <a:r>
              <a:rPr lang="en-US" sz="1200" dirty="0">
                <a:solidFill>
                  <a:srgbClr val="20302A"/>
                </a:solidFill>
                <a:latin typeface="Malgun Gothic" pitchFamily="34" charset="0"/>
                <a:ea typeface="Malgun Gothic" pitchFamily="34" charset="-122"/>
                <a:cs typeface="Malgun Gothic" pitchFamily="34" charset="-120"/>
              </a:rPr>
              <a:t>kcal 열량</a:t>
            </a:r>
            <a:endParaRPr lang="en-US" sz="1200" dirty="0"/>
          </a:p>
        </p:txBody>
      </p:sp>
      <p:sp>
        <p:nvSpPr>
          <p:cNvPr id="26" name="Shape 24"/>
          <p:cNvSpPr/>
          <p:nvPr/>
        </p:nvSpPr>
        <p:spPr>
          <a:xfrm>
            <a:off x="2432304" y="3840480"/>
            <a:ext cx="1737360" cy="1417320"/>
          </a:xfrm>
          <a:prstGeom prst="roundRect">
            <a:avLst>
              <a:gd name="adj" fmla="val 6452"/>
            </a:avLst>
          </a:prstGeom>
          <a:solidFill>
            <a:srgbClr val="F4ECD6"/>
          </a:solidFill>
          <a:ln/>
        </p:spPr>
      </p:sp>
      <p:sp>
        <p:nvSpPr>
          <p:cNvPr id="27" name="Text 25"/>
          <p:cNvSpPr/>
          <p:nvPr/>
        </p:nvSpPr>
        <p:spPr>
          <a:xfrm>
            <a:off x="2432304" y="4114800"/>
            <a:ext cx="1737360" cy="548640"/>
          </a:xfrm>
          <a:prstGeom prst="rect">
            <a:avLst/>
          </a:prstGeom>
          <a:noFill/>
          <a:ln/>
        </p:spPr>
        <p:txBody>
          <a:bodyPr wrap="square" lIns="0" tIns="0" rIns="0" bIns="0" rtlCol="0" anchor="ctr"/>
          <a:lstStyle/>
          <a:p>
            <a:pPr algn="ctr" indent="0" marL="0">
              <a:buNone/>
            </a:pPr>
            <a:r>
              <a:rPr lang="en-US" sz="2400" b="1" dirty="0">
                <a:solidFill>
                  <a:srgbClr val="173A28"/>
                </a:solidFill>
                <a:latin typeface="Malgun Gothic" pitchFamily="34" charset="0"/>
                <a:ea typeface="Malgun Gothic" pitchFamily="34" charset="-122"/>
                <a:cs typeface="Malgun Gothic" pitchFamily="34" charset="-120"/>
              </a:rPr>
              <a:t>4.59 g</a:t>
            </a:r>
            <a:endParaRPr lang="en-US" sz="2400" dirty="0"/>
          </a:p>
        </p:txBody>
      </p:sp>
      <p:sp>
        <p:nvSpPr>
          <p:cNvPr id="28" name="Text 26"/>
          <p:cNvSpPr/>
          <p:nvPr/>
        </p:nvSpPr>
        <p:spPr>
          <a:xfrm>
            <a:off x="2432304" y="4709160"/>
            <a:ext cx="1737360" cy="365760"/>
          </a:xfrm>
          <a:prstGeom prst="rect">
            <a:avLst/>
          </a:prstGeom>
          <a:noFill/>
          <a:ln/>
        </p:spPr>
        <p:txBody>
          <a:bodyPr wrap="square" lIns="0" tIns="0" rIns="0" bIns="0" rtlCol="0" anchor="ctr"/>
          <a:lstStyle/>
          <a:p>
            <a:pPr algn="ctr" indent="0" marL="0">
              <a:buNone/>
            </a:pPr>
            <a:r>
              <a:rPr lang="en-US" sz="1200" dirty="0">
                <a:solidFill>
                  <a:srgbClr val="20302A"/>
                </a:solidFill>
                <a:latin typeface="Malgun Gothic" pitchFamily="34" charset="0"/>
                <a:ea typeface="Malgun Gothic" pitchFamily="34" charset="-122"/>
                <a:cs typeface="Malgun Gothic" pitchFamily="34" charset="-120"/>
              </a:rPr>
              <a:t>단백질</a:t>
            </a:r>
            <a:endParaRPr lang="en-US" sz="1200" dirty="0"/>
          </a:p>
        </p:txBody>
      </p:sp>
      <p:sp>
        <p:nvSpPr>
          <p:cNvPr id="29" name="Shape 27"/>
          <p:cNvSpPr/>
          <p:nvPr/>
        </p:nvSpPr>
        <p:spPr>
          <a:xfrm>
            <a:off x="4315968" y="3840480"/>
            <a:ext cx="1737360" cy="1417320"/>
          </a:xfrm>
          <a:prstGeom prst="roundRect">
            <a:avLst>
              <a:gd name="adj" fmla="val 6452"/>
            </a:avLst>
          </a:prstGeom>
          <a:solidFill>
            <a:srgbClr val="F4ECD6"/>
          </a:solidFill>
          <a:ln/>
        </p:spPr>
      </p:sp>
      <p:sp>
        <p:nvSpPr>
          <p:cNvPr id="30" name="Text 28"/>
          <p:cNvSpPr/>
          <p:nvPr/>
        </p:nvSpPr>
        <p:spPr>
          <a:xfrm>
            <a:off x="4315968" y="4114800"/>
            <a:ext cx="1737360" cy="548640"/>
          </a:xfrm>
          <a:prstGeom prst="rect">
            <a:avLst/>
          </a:prstGeom>
          <a:noFill/>
          <a:ln/>
        </p:spPr>
        <p:txBody>
          <a:bodyPr wrap="square" lIns="0" tIns="0" rIns="0" bIns="0" rtlCol="0" anchor="ctr"/>
          <a:lstStyle/>
          <a:p>
            <a:pPr algn="ctr" indent="0" marL="0">
              <a:buNone/>
            </a:pPr>
            <a:r>
              <a:rPr lang="en-US" sz="2400" b="1" dirty="0">
                <a:solidFill>
                  <a:srgbClr val="173A28"/>
                </a:solidFill>
                <a:latin typeface="Malgun Gothic" pitchFamily="34" charset="0"/>
                <a:ea typeface="Malgun Gothic" pitchFamily="34" charset="-122"/>
                <a:cs typeface="Malgun Gothic" pitchFamily="34" charset="-120"/>
              </a:rPr>
              <a:t>6.0 g</a:t>
            </a:r>
            <a:endParaRPr lang="en-US" sz="2400" dirty="0"/>
          </a:p>
        </p:txBody>
      </p:sp>
      <p:sp>
        <p:nvSpPr>
          <p:cNvPr id="31" name="Text 29"/>
          <p:cNvSpPr/>
          <p:nvPr/>
        </p:nvSpPr>
        <p:spPr>
          <a:xfrm>
            <a:off x="4315968" y="4709160"/>
            <a:ext cx="1737360" cy="365760"/>
          </a:xfrm>
          <a:prstGeom prst="rect">
            <a:avLst/>
          </a:prstGeom>
          <a:noFill/>
          <a:ln/>
        </p:spPr>
        <p:txBody>
          <a:bodyPr wrap="square" lIns="0" tIns="0" rIns="0" bIns="0" rtlCol="0" anchor="ctr"/>
          <a:lstStyle/>
          <a:p>
            <a:pPr algn="ctr" indent="0" marL="0">
              <a:buNone/>
            </a:pPr>
            <a:r>
              <a:rPr lang="en-US" sz="1200" dirty="0">
                <a:solidFill>
                  <a:srgbClr val="20302A"/>
                </a:solidFill>
                <a:latin typeface="Malgun Gothic" pitchFamily="34" charset="0"/>
                <a:ea typeface="Malgun Gothic" pitchFamily="34" charset="-122"/>
                <a:cs typeface="Malgun Gothic" pitchFamily="34" charset="-120"/>
              </a:rPr>
              <a:t>유지방</a:t>
            </a:r>
            <a:endParaRPr lang="en-US" sz="1200" dirty="0"/>
          </a:p>
        </p:txBody>
      </p:sp>
      <p:sp>
        <p:nvSpPr>
          <p:cNvPr id="32" name="Shape 30"/>
          <p:cNvSpPr/>
          <p:nvPr/>
        </p:nvSpPr>
        <p:spPr>
          <a:xfrm>
            <a:off x="6199632" y="3840480"/>
            <a:ext cx="1737360" cy="1417320"/>
          </a:xfrm>
          <a:prstGeom prst="roundRect">
            <a:avLst>
              <a:gd name="adj" fmla="val 6452"/>
            </a:avLst>
          </a:prstGeom>
          <a:solidFill>
            <a:srgbClr val="EAF2EC"/>
          </a:solidFill>
          <a:ln/>
        </p:spPr>
      </p:sp>
      <p:sp>
        <p:nvSpPr>
          <p:cNvPr id="33" name="Text 31"/>
          <p:cNvSpPr/>
          <p:nvPr/>
        </p:nvSpPr>
        <p:spPr>
          <a:xfrm>
            <a:off x="6199632" y="4114800"/>
            <a:ext cx="1737360" cy="548640"/>
          </a:xfrm>
          <a:prstGeom prst="rect">
            <a:avLst/>
          </a:prstGeom>
          <a:noFill/>
          <a:ln/>
        </p:spPr>
        <p:txBody>
          <a:bodyPr wrap="square" lIns="0" tIns="0" rIns="0" bIns="0" rtlCol="0" anchor="ctr"/>
          <a:lstStyle/>
          <a:p>
            <a:pPr algn="ctr" indent="0" marL="0">
              <a:buNone/>
            </a:pPr>
            <a:r>
              <a:rPr lang="en-US" sz="2400" b="1" dirty="0">
                <a:solidFill>
                  <a:srgbClr val="173A28"/>
                </a:solidFill>
                <a:latin typeface="Malgun Gothic" pitchFamily="34" charset="0"/>
                <a:ea typeface="Malgun Gothic" pitchFamily="34" charset="-122"/>
                <a:cs typeface="Malgun Gothic" pitchFamily="34" charset="-120"/>
              </a:rPr>
              <a:t>5.07 g</a:t>
            </a:r>
            <a:endParaRPr lang="en-US" sz="2400" dirty="0"/>
          </a:p>
        </p:txBody>
      </p:sp>
      <p:sp>
        <p:nvSpPr>
          <p:cNvPr id="34" name="Text 32"/>
          <p:cNvSpPr/>
          <p:nvPr/>
        </p:nvSpPr>
        <p:spPr>
          <a:xfrm>
            <a:off x="6199632" y="4709160"/>
            <a:ext cx="1737360" cy="365760"/>
          </a:xfrm>
          <a:prstGeom prst="rect">
            <a:avLst/>
          </a:prstGeom>
          <a:noFill/>
          <a:ln/>
        </p:spPr>
        <p:txBody>
          <a:bodyPr wrap="square" lIns="0" tIns="0" rIns="0" bIns="0" rtlCol="0" anchor="ctr"/>
          <a:lstStyle/>
          <a:p>
            <a:pPr algn="ctr" indent="0" marL="0">
              <a:buNone/>
            </a:pPr>
            <a:r>
              <a:rPr lang="en-US" sz="1200" dirty="0">
                <a:solidFill>
                  <a:srgbClr val="20302A"/>
                </a:solidFill>
                <a:latin typeface="Malgun Gothic" pitchFamily="34" charset="0"/>
                <a:ea typeface="Malgun Gothic" pitchFamily="34" charset="-122"/>
                <a:cs typeface="Malgun Gothic" pitchFamily="34" charset="-120"/>
              </a:rPr>
              <a:t>탄수화물</a:t>
            </a:r>
            <a:endParaRPr lang="en-US" sz="1200" dirty="0"/>
          </a:p>
        </p:txBody>
      </p:sp>
      <p:sp>
        <p:nvSpPr>
          <p:cNvPr id="35" name="Shape 33"/>
          <p:cNvSpPr/>
          <p:nvPr/>
        </p:nvSpPr>
        <p:spPr>
          <a:xfrm>
            <a:off x="8083296" y="3840480"/>
            <a:ext cx="1737360" cy="1417320"/>
          </a:xfrm>
          <a:prstGeom prst="roundRect">
            <a:avLst>
              <a:gd name="adj" fmla="val 6452"/>
            </a:avLst>
          </a:prstGeom>
          <a:solidFill>
            <a:srgbClr val="EAF2EC"/>
          </a:solidFill>
          <a:ln/>
        </p:spPr>
      </p:sp>
      <p:sp>
        <p:nvSpPr>
          <p:cNvPr id="36" name="Text 34"/>
          <p:cNvSpPr/>
          <p:nvPr/>
        </p:nvSpPr>
        <p:spPr>
          <a:xfrm>
            <a:off x="8083296" y="4114800"/>
            <a:ext cx="1737360" cy="548640"/>
          </a:xfrm>
          <a:prstGeom prst="rect">
            <a:avLst/>
          </a:prstGeom>
          <a:noFill/>
          <a:ln/>
        </p:spPr>
        <p:txBody>
          <a:bodyPr wrap="square" lIns="0" tIns="0" rIns="0" bIns="0" rtlCol="0" anchor="ctr"/>
          <a:lstStyle/>
          <a:p>
            <a:pPr algn="ctr" indent="0" marL="0">
              <a:buNone/>
            </a:pPr>
            <a:r>
              <a:rPr lang="en-US" sz="2400" b="1" dirty="0">
                <a:solidFill>
                  <a:srgbClr val="173A28"/>
                </a:solidFill>
                <a:latin typeface="Malgun Gothic" pitchFamily="34" charset="0"/>
                <a:ea typeface="Malgun Gothic" pitchFamily="34" charset="-122"/>
                <a:cs typeface="Malgun Gothic" pitchFamily="34" charset="-120"/>
              </a:rPr>
              <a:t>4.75 g</a:t>
            </a:r>
            <a:endParaRPr lang="en-US" sz="2400" dirty="0"/>
          </a:p>
        </p:txBody>
      </p:sp>
      <p:sp>
        <p:nvSpPr>
          <p:cNvPr id="37" name="Text 35"/>
          <p:cNvSpPr/>
          <p:nvPr/>
        </p:nvSpPr>
        <p:spPr>
          <a:xfrm>
            <a:off x="8083296" y="4709160"/>
            <a:ext cx="1737360" cy="365760"/>
          </a:xfrm>
          <a:prstGeom prst="rect">
            <a:avLst/>
          </a:prstGeom>
          <a:noFill/>
          <a:ln/>
        </p:spPr>
        <p:txBody>
          <a:bodyPr wrap="square" lIns="0" tIns="0" rIns="0" bIns="0" rtlCol="0" anchor="ctr"/>
          <a:lstStyle/>
          <a:p>
            <a:pPr algn="ctr" indent="0" marL="0">
              <a:buNone/>
            </a:pPr>
            <a:r>
              <a:rPr lang="en-US" sz="1200" dirty="0">
                <a:solidFill>
                  <a:srgbClr val="20302A"/>
                </a:solidFill>
                <a:latin typeface="Malgun Gothic" pitchFamily="34" charset="0"/>
                <a:ea typeface="Malgun Gothic" pitchFamily="34" charset="-122"/>
                <a:cs typeface="Malgun Gothic" pitchFamily="34" charset="-120"/>
              </a:rPr>
              <a:t>당류</a:t>
            </a:r>
            <a:endParaRPr lang="en-US" sz="1200" dirty="0"/>
          </a:p>
        </p:txBody>
      </p:sp>
      <p:sp>
        <p:nvSpPr>
          <p:cNvPr id="38" name="Shape 36"/>
          <p:cNvSpPr/>
          <p:nvPr/>
        </p:nvSpPr>
        <p:spPr>
          <a:xfrm>
            <a:off x="9966960" y="3840480"/>
            <a:ext cx="1737360" cy="1417320"/>
          </a:xfrm>
          <a:prstGeom prst="roundRect">
            <a:avLst>
              <a:gd name="adj" fmla="val 6452"/>
            </a:avLst>
          </a:prstGeom>
          <a:solidFill>
            <a:srgbClr val="EAF2EC"/>
          </a:solidFill>
          <a:ln/>
        </p:spPr>
      </p:sp>
      <p:sp>
        <p:nvSpPr>
          <p:cNvPr id="39" name="Text 37"/>
          <p:cNvSpPr/>
          <p:nvPr/>
        </p:nvSpPr>
        <p:spPr>
          <a:xfrm>
            <a:off x="9966960" y="4114800"/>
            <a:ext cx="1737360" cy="548640"/>
          </a:xfrm>
          <a:prstGeom prst="rect">
            <a:avLst/>
          </a:prstGeom>
          <a:noFill/>
          <a:ln/>
        </p:spPr>
        <p:txBody>
          <a:bodyPr wrap="square" lIns="0" tIns="0" rIns="0" bIns="0" rtlCol="0" anchor="ctr"/>
          <a:lstStyle/>
          <a:p>
            <a:pPr algn="ctr" indent="0" marL="0">
              <a:buNone/>
            </a:pPr>
            <a:r>
              <a:rPr lang="en-US" sz="2400" b="1" dirty="0">
                <a:solidFill>
                  <a:srgbClr val="173A28"/>
                </a:solidFill>
                <a:latin typeface="Malgun Gothic" pitchFamily="34" charset="0"/>
                <a:ea typeface="Malgun Gothic" pitchFamily="34" charset="-122"/>
                <a:cs typeface="Malgun Gothic" pitchFamily="34" charset="-120"/>
              </a:rPr>
              <a:t>41.8 mg</a:t>
            </a:r>
            <a:endParaRPr lang="en-US" sz="2400" dirty="0"/>
          </a:p>
        </p:txBody>
      </p:sp>
      <p:sp>
        <p:nvSpPr>
          <p:cNvPr id="40" name="Text 38"/>
          <p:cNvSpPr/>
          <p:nvPr/>
        </p:nvSpPr>
        <p:spPr>
          <a:xfrm>
            <a:off x="9966960" y="4709160"/>
            <a:ext cx="1737360" cy="365760"/>
          </a:xfrm>
          <a:prstGeom prst="rect">
            <a:avLst/>
          </a:prstGeom>
          <a:noFill/>
          <a:ln/>
        </p:spPr>
        <p:txBody>
          <a:bodyPr wrap="square" lIns="0" tIns="0" rIns="0" bIns="0" rtlCol="0" anchor="ctr"/>
          <a:lstStyle/>
          <a:p>
            <a:pPr algn="ctr" indent="0" marL="0">
              <a:buNone/>
            </a:pPr>
            <a:r>
              <a:rPr lang="en-US" sz="1200" dirty="0">
                <a:solidFill>
                  <a:srgbClr val="20302A"/>
                </a:solidFill>
                <a:latin typeface="Malgun Gothic" pitchFamily="34" charset="0"/>
                <a:ea typeface="Malgun Gothic" pitchFamily="34" charset="-122"/>
                <a:cs typeface="Malgun Gothic" pitchFamily="34" charset="-120"/>
              </a:rPr>
              <a:t>나트륨</a:t>
            </a:r>
            <a:endParaRPr lang="en-US" sz="1200" dirty="0"/>
          </a:p>
        </p:txBody>
      </p:sp>
      <p:sp>
        <p:nvSpPr>
          <p:cNvPr id="41" name="Text 39"/>
          <p:cNvSpPr/>
          <p:nvPr/>
        </p:nvSpPr>
        <p:spPr>
          <a:xfrm>
            <a:off x="548640" y="5486400"/>
            <a:ext cx="11064240" cy="457200"/>
          </a:xfrm>
          <a:prstGeom prst="rect">
            <a:avLst/>
          </a:prstGeom>
          <a:noFill/>
          <a:ln/>
        </p:spPr>
        <p:txBody>
          <a:bodyPr wrap="square" lIns="0" tIns="0" rIns="0" bIns="0" rtlCol="0" anchor="ctr"/>
          <a:lstStyle/>
          <a:p>
            <a:pPr indent="0" marL="0">
              <a:buNone/>
            </a:pPr>
            <a:r>
              <a:rPr lang="en-US" sz="1400" b="1" dirty="0">
                <a:solidFill>
                  <a:srgbClr val="2C6E49"/>
                </a:solidFill>
                <a:latin typeface="Malgun Gothic" pitchFamily="34" charset="0"/>
                <a:ea typeface="Malgun Gothic" pitchFamily="34" charset="-122"/>
                <a:cs typeface="Malgun Gothic" pitchFamily="34" charset="-120"/>
              </a:rPr>
              <a:t>차별점 —  높은 단백질 · 유지방 함량이 저지 원유의 강점을 그대로 전달</a:t>
            </a:r>
            <a:endParaRPr lang="en-US" sz="1400" dirty="0"/>
          </a:p>
        </p:txBody>
      </p:sp>
      <p:sp>
        <p:nvSpPr>
          <p:cNvPr id="42" name="Text 40"/>
          <p:cNvSpPr/>
          <p:nvPr/>
        </p:nvSpPr>
        <p:spPr>
          <a:xfrm>
            <a:off x="502920" y="6419088"/>
            <a:ext cx="9601200" cy="292608"/>
          </a:xfrm>
          <a:prstGeom prst="rect">
            <a:avLst/>
          </a:prstGeom>
          <a:noFill/>
          <a:ln/>
        </p:spPr>
        <p:txBody>
          <a:bodyPr wrap="square" lIns="0" tIns="0" rIns="0" bIns="0" rtlCol="0" anchor="ctr"/>
          <a:lstStyle/>
          <a:p>
            <a:pPr algn="l" indent="0" marL="0">
              <a:buNone/>
            </a:pPr>
            <a:r>
              <a:rPr lang="en-US" sz="900" dirty="0">
                <a:solidFill>
                  <a:srgbClr val="6B7B72"/>
                </a:solidFill>
                <a:latin typeface="Malgun Gothic" pitchFamily="34" charset="0"/>
                <a:ea typeface="Malgun Gothic" pitchFamily="34" charset="-122"/>
                <a:cs typeface="Malgun Gothic" pitchFamily="34" charset="-120"/>
              </a:rPr>
              <a:t>저지종 젖소 산업 활성화를 위한 국제 심포지엄  ·  송영신목장 하현제 원장</a:t>
            </a:r>
            <a:endParaRPr lang="en-US" sz="900" dirty="0"/>
          </a:p>
        </p:txBody>
      </p:sp>
      <p:sp>
        <p:nvSpPr>
          <p:cNvPr id="43" name="Text 41"/>
          <p:cNvSpPr/>
          <p:nvPr/>
        </p:nvSpPr>
        <p:spPr>
          <a:xfrm>
            <a:off x="11292840" y="6419088"/>
            <a:ext cx="411480" cy="292608"/>
          </a:xfrm>
          <a:prstGeom prst="rect">
            <a:avLst/>
          </a:prstGeom>
          <a:noFill/>
          <a:ln/>
        </p:spPr>
        <p:txBody>
          <a:bodyPr wrap="square" lIns="0" tIns="0" rIns="0" bIns="0" rtlCol="0" anchor="ctr"/>
          <a:lstStyle/>
          <a:p>
            <a:pPr algn="r" indent="0" marL="0">
              <a:buNone/>
            </a:pPr>
            <a:r>
              <a:rPr lang="en-US" sz="900" dirty="0">
                <a:solidFill>
                  <a:srgbClr val="6B7B72"/>
                </a:solidFill>
                <a:latin typeface="Malgun Gothic" pitchFamily="34" charset="0"/>
                <a:ea typeface="Malgun Gothic" pitchFamily="34" charset="-122"/>
                <a:cs typeface="Malgun Gothic"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3A28"/>
        </a:solidFill>
      </p:bgPr>
    </p:bg>
    <p:spTree>
      <p:nvGrpSpPr>
        <p:cNvPr id="1" name=""/>
        <p:cNvGrpSpPr/>
        <p:nvPr/>
      </p:nvGrpSpPr>
      <p:grpSpPr>
        <a:xfrm>
          <a:off x="0" y="0"/>
          <a:ext cx="0" cy="0"/>
          <a:chOff x="0" y="0"/>
          <a:chExt cx="0" cy="0"/>
        </a:xfrm>
      </p:grpSpPr>
      <p:sp>
        <p:nvSpPr>
          <p:cNvPr id="2" name="Shape 0"/>
          <p:cNvSpPr/>
          <p:nvPr/>
        </p:nvSpPr>
        <p:spPr>
          <a:xfrm>
            <a:off x="-2011680" y="4114800"/>
            <a:ext cx="5943600" cy="5943600"/>
          </a:xfrm>
          <a:prstGeom prst="ellipse">
            <a:avLst/>
          </a:prstGeom>
          <a:solidFill>
            <a:srgbClr val="2C6E49"/>
          </a:solidFill>
          <a:ln/>
        </p:spPr>
      </p:sp>
      <p:sp>
        <p:nvSpPr>
          <p:cNvPr id="3" name="Text 1"/>
          <p:cNvSpPr/>
          <p:nvPr/>
        </p:nvSpPr>
        <p:spPr>
          <a:xfrm>
            <a:off x="548640" y="502920"/>
            <a:ext cx="10972800" cy="320040"/>
          </a:xfrm>
          <a:prstGeom prst="rect">
            <a:avLst/>
          </a:prstGeom>
          <a:noFill/>
          <a:ln/>
        </p:spPr>
        <p:txBody>
          <a:bodyPr wrap="square" lIns="0" tIns="0" rIns="0" bIns="0" rtlCol="0" anchor="ctr"/>
          <a:lstStyle/>
          <a:p>
            <a:pPr indent="0" marL="0">
              <a:buNone/>
            </a:pPr>
            <a:r>
              <a:rPr lang="en-US" sz="1200" b="1" spc="200" kern="0" dirty="0">
                <a:solidFill>
                  <a:srgbClr val="C79A3A"/>
                </a:solidFill>
                <a:latin typeface="Malgun Gothic" pitchFamily="34" charset="0"/>
                <a:ea typeface="Malgun Gothic" pitchFamily="34" charset="-122"/>
                <a:cs typeface="Malgun Gothic" pitchFamily="34" charset="-120"/>
              </a:rPr>
              <a:t>05  브랜드 전략</a:t>
            </a:r>
            <a:endParaRPr lang="en-US" sz="1200" dirty="0"/>
          </a:p>
        </p:txBody>
      </p:sp>
      <p:sp>
        <p:nvSpPr>
          <p:cNvPr id="4" name="Text 2"/>
          <p:cNvSpPr/>
          <p:nvPr/>
        </p:nvSpPr>
        <p:spPr>
          <a:xfrm>
            <a:off x="530352" y="822960"/>
            <a:ext cx="11155680" cy="685800"/>
          </a:xfrm>
          <a:prstGeom prst="rect">
            <a:avLst/>
          </a:prstGeom>
          <a:noFill/>
          <a:ln/>
        </p:spPr>
        <p:txBody>
          <a:bodyPr wrap="square" lIns="0" tIns="0" rIns="0" bIns="0" rtlCol="0" anchor="ctr"/>
          <a:lstStyle/>
          <a:p>
            <a:pPr indent="0" marL="0">
              <a:buNone/>
            </a:pPr>
            <a:r>
              <a:rPr lang="en-US" sz="2900" b="1" dirty="0">
                <a:solidFill>
                  <a:srgbClr val="FFFFFF"/>
                </a:solidFill>
                <a:latin typeface="Malgun Gothic" pitchFamily="34" charset="0"/>
                <a:ea typeface="Malgun Gothic" pitchFamily="34" charset="-122"/>
                <a:cs typeface="Malgun Gothic" pitchFamily="34" charset="-120"/>
              </a:rPr>
              <a:t>A2 Jersey Hay Milk — 흙에서 영혼까지, Soil to Soul</a:t>
            </a:r>
            <a:endParaRPr lang="en-US" sz="2900" dirty="0"/>
          </a:p>
        </p:txBody>
      </p:sp>
      <p:sp>
        <p:nvSpPr>
          <p:cNvPr id="5" name="Shape 3"/>
          <p:cNvSpPr/>
          <p:nvPr/>
        </p:nvSpPr>
        <p:spPr>
          <a:xfrm>
            <a:off x="4846320" y="1828800"/>
            <a:ext cx="6812280" cy="960120"/>
          </a:xfrm>
          <a:prstGeom prst="roundRect">
            <a:avLst>
              <a:gd name="adj" fmla="val 8571"/>
            </a:avLst>
          </a:prstGeom>
          <a:solidFill>
            <a:srgbClr val="2C6E49"/>
          </a:solidFill>
          <a:ln/>
        </p:spPr>
      </p:sp>
      <p:sp>
        <p:nvSpPr>
          <p:cNvPr id="6" name="Text 4"/>
          <p:cNvSpPr/>
          <p:nvPr/>
        </p:nvSpPr>
        <p:spPr>
          <a:xfrm>
            <a:off x="5074920" y="1956816"/>
            <a:ext cx="6400800" cy="320040"/>
          </a:xfrm>
          <a:prstGeom prst="rect">
            <a:avLst/>
          </a:prstGeom>
          <a:noFill/>
          <a:ln/>
        </p:spPr>
        <p:txBody>
          <a:bodyPr wrap="square" lIns="0" tIns="0" rIns="0" bIns="0" rtlCol="0" anchor="ctr"/>
          <a:lstStyle/>
          <a:p>
            <a:pPr indent="0" marL="0">
              <a:buNone/>
            </a:pPr>
            <a:r>
              <a:rPr lang="en-US" sz="1500" b="1" dirty="0">
                <a:solidFill>
                  <a:srgbClr val="C79A3A"/>
                </a:solidFill>
                <a:latin typeface="Malgun Gothic" pitchFamily="34" charset="0"/>
                <a:ea typeface="Malgun Gothic" pitchFamily="34" charset="-122"/>
                <a:cs typeface="Malgun Gothic" pitchFamily="34" charset="-120"/>
              </a:rPr>
              <a:t>핵심 메시지</a:t>
            </a:r>
            <a:endParaRPr lang="en-US" sz="1500" dirty="0"/>
          </a:p>
        </p:txBody>
      </p:sp>
      <p:sp>
        <p:nvSpPr>
          <p:cNvPr id="7" name="Text 5"/>
          <p:cNvSpPr/>
          <p:nvPr/>
        </p:nvSpPr>
        <p:spPr>
          <a:xfrm>
            <a:off x="5074920" y="2286000"/>
            <a:ext cx="6400800" cy="457200"/>
          </a:xfrm>
          <a:prstGeom prst="rect">
            <a:avLst/>
          </a:prstGeom>
          <a:noFill/>
          <a:ln/>
        </p:spPr>
        <p:txBody>
          <a:bodyPr wrap="square" lIns="0" tIns="0" rIns="0" bIns="0" rtlCol="0" anchor="ctr"/>
          <a:lstStyle/>
          <a:p>
            <a:pPr indent="0" marL="0">
              <a:buNone/>
            </a:pPr>
            <a:r>
              <a:rPr lang="en-US" sz="1250" dirty="0">
                <a:solidFill>
                  <a:srgbClr val="F3EFE4"/>
                </a:solidFill>
                <a:latin typeface="Malgun Gothic" pitchFamily="34" charset="0"/>
                <a:ea typeface="Malgun Gothic" pitchFamily="34" charset="-122"/>
                <a:cs typeface="Malgun Gothic" pitchFamily="34" charset="-120"/>
              </a:rPr>
              <a:t>'Soil to Soul' — 건강한 흙에서 시작해 소비자의 삶까지 잇는 서사</a:t>
            </a:r>
            <a:endParaRPr lang="en-US" sz="1250" dirty="0"/>
          </a:p>
        </p:txBody>
      </p:sp>
      <p:sp>
        <p:nvSpPr>
          <p:cNvPr id="8" name="Shape 6"/>
          <p:cNvSpPr/>
          <p:nvPr/>
        </p:nvSpPr>
        <p:spPr>
          <a:xfrm>
            <a:off x="4846320" y="2907792"/>
            <a:ext cx="6812280" cy="960120"/>
          </a:xfrm>
          <a:prstGeom prst="roundRect">
            <a:avLst>
              <a:gd name="adj" fmla="val 8571"/>
            </a:avLst>
          </a:prstGeom>
          <a:solidFill>
            <a:srgbClr val="2C6E49"/>
          </a:solidFill>
          <a:ln/>
        </p:spPr>
      </p:sp>
      <p:sp>
        <p:nvSpPr>
          <p:cNvPr id="9" name="Text 7"/>
          <p:cNvSpPr/>
          <p:nvPr/>
        </p:nvSpPr>
        <p:spPr>
          <a:xfrm>
            <a:off x="5074920" y="3035808"/>
            <a:ext cx="6400800" cy="320040"/>
          </a:xfrm>
          <a:prstGeom prst="rect">
            <a:avLst/>
          </a:prstGeom>
          <a:noFill/>
          <a:ln/>
        </p:spPr>
        <p:txBody>
          <a:bodyPr wrap="square" lIns="0" tIns="0" rIns="0" bIns="0" rtlCol="0" anchor="ctr"/>
          <a:lstStyle/>
          <a:p>
            <a:pPr indent="0" marL="0">
              <a:buNone/>
            </a:pPr>
            <a:r>
              <a:rPr lang="en-US" sz="1500" b="1" dirty="0">
                <a:solidFill>
                  <a:srgbClr val="C79A3A"/>
                </a:solidFill>
                <a:latin typeface="Malgun Gothic" pitchFamily="34" charset="0"/>
                <a:ea typeface="Malgun Gothic" pitchFamily="34" charset="-122"/>
                <a:cs typeface="Malgun Gothic" pitchFamily="34" charset="-120"/>
              </a:rPr>
              <a:t>3대 자산</a:t>
            </a:r>
            <a:endParaRPr lang="en-US" sz="1500" dirty="0"/>
          </a:p>
        </p:txBody>
      </p:sp>
      <p:sp>
        <p:nvSpPr>
          <p:cNvPr id="10" name="Text 8"/>
          <p:cNvSpPr/>
          <p:nvPr/>
        </p:nvSpPr>
        <p:spPr>
          <a:xfrm>
            <a:off x="5074920" y="3364992"/>
            <a:ext cx="6400800" cy="457200"/>
          </a:xfrm>
          <a:prstGeom prst="rect">
            <a:avLst/>
          </a:prstGeom>
          <a:noFill/>
          <a:ln/>
        </p:spPr>
        <p:txBody>
          <a:bodyPr wrap="square" lIns="0" tIns="0" rIns="0" bIns="0" rtlCol="0" anchor="ctr"/>
          <a:lstStyle/>
          <a:p>
            <a:pPr indent="0" marL="0">
              <a:buNone/>
            </a:pPr>
            <a:r>
              <a:rPr lang="en-US" sz="1250" dirty="0">
                <a:solidFill>
                  <a:srgbClr val="F3EFE4"/>
                </a:solidFill>
                <a:latin typeface="Malgun Gothic" pitchFamily="34" charset="0"/>
                <a:ea typeface="Malgun Gothic" pitchFamily="34" charset="-122"/>
                <a:cs typeface="Malgun Gothic" pitchFamily="34" charset="-120"/>
              </a:rPr>
              <a:t>A2 단백질 · 건초우유(자연 조사료) · 저탄소 순환농업</a:t>
            </a:r>
            <a:endParaRPr lang="en-US" sz="1250" dirty="0"/>
          </a:p>
        </p:txBody>
      </p:sp>
      <p:sp>
        <p:nvSpPr>
          <p:cNvPr id="11" name="Shape 9"/>
          <p:cNvSpPr/>
          <p:nvPr/>
        </p:nvSpPr>
        <p:spPr>
          <a:xfrm>
            <a:off x="4846320" y="3986784"/>
            <a:ext cx="6812280" cy="960120"/>
          </a:xfrm>
          <a:prstGeom prst="roundRect">
            <a:avLst>
              <a:gd name="adj" fmla="val 8571"/>
            </a:avLst>
          </a:prstGeom>
          <a:solidFill>
            <a:srgbClr val="2C6E49"/>
          </a:solidFill>
          <a:ln/>
        </p:spPr>
      </p:sp>
      <p:sp>
        <p:nvSpPr>
          <p:cNvPr id="12" name="Text 10"/>
          <p:cNvSpPr/>
          <p:nvPr/>
        </p:nvSpPr>
        <p:spPr>
          <a:xfrm>
            <a:off x="5074920" y="4114800"/>
            <a:ext cx="6400800" cy="320040"/>
          </a:xfrm>
          <a:prstGeom prst="rect">
            <a:avLst/>
          </a:prstGeom>
          <a:noFill/>
          <a:ln/>
        </p:spPr>
        <p:txBody>
          <a:bodyPr wrap="square" lIns="0" tIns="0" rIns="0" bIns="0" rtlCol="0" anchor="ctr"/>
          <a:lstStyle/>
          <a:p>
            <a:pPr indent="0" marL="0">
              <a:buNone/>
            </a:pPr>
            <a:r>
              <a:rPr lang="en-US" sz="1500" b="1" dirty="0">
                <a:solidFill>
                  <a:srgbClr val="C79A3A"/>
                </a:solidFill>
                <a:latin typeface="Malgun Gothic" pitchFamily="34" charset="0"/>
                <a:ea typeface="Malgun Gothic" pitchFamily="34" charset="-122"/>
                <a:cs typeface="Malgun Gothic" pitchFamily="34" charset="-120"/>
              </a:rPr>
              <a:t>포지셔닝</a:t>
            </a:r>
            <a:endParaRPr lang="en-US" sz="1500" dirty="0"/>
          </a:p>
        </p:txBody>
      </p:sp>
      <p:sp>
        <p:nvSpPr>
          <p:cNvPr id="13" name="Text 11"/>
          <p:cNvSpPr/>
          <p:nvPr/>
        </p:nvSpPr>
        <p:spPr>
          <a:xfrm>
            <a:off x="5074920" y="4443984"/>
            <a:ext cx="6400800" cy="457200"/>
          </a:xfrm>
          <a:prstGeom prst="rect">
            <a:avLst/>
          </a:prstGeom>
          <a:noFill/>
          <a:ln/>
        </p:spPr>
        <p:txBody>
          <a:bodyPr wrap="square" lIns="0" tIns="0" rIns="0" bIns="0" rtlCol="0" anchor="ctr"/>
          <a:lstStyle/>
          <a:p>
            <a:pPr indent="0" marL="0">
              <a:buNone/>
            </a:pPr>
            <a:r>
              <a:rPr lang="en-US" sz="1250" dirty="0">
                <a:solidFill>
                  <a:srgbClr val="F3EFE4"/>
                </a:solidFill>
                <a:latin typeface="Malgun Gothic" pitchFamily="34" charset="0"/>
                <a:ea typeface="Malgun Gothic" pitchFamily="34" charset="-122"/>
                <a:cs typeface="Malgun Gothic" pitchFamily="34" charset="-120"/>
              </a:rPr>
              <a:t>프리미엄 · 자연 · 동물복지 — 대량 저가와 명확히 구분</a:t>
            </a:r>
            <a:endParaRPr lang="en-US" sz="1250" dirty="0"/>
          </a:p>
        </p:txBody>
      </p:sp>
      <p:sp>
        <p:nvSpPr>
          <p:cNvPr id="14" name="Shape 12"/>
          <p:cNvSpPr/>
          <p:nvPr/>
        </p:nvSpPr>
        <p:spPr>
          <a:xfrm>
            <a:off x="4846320" y="5065776"/>
            <a:ext cx="6812280" cy="960120"/>
          </a:xfrm>
          <a:prstGeom prst="roundRect">
            <a:avLst>
              <a:gd name="adj" fmla="val 8571"/>
            </a:avLst>
          </a:prstGeom>
          <a:solidFill>
            <a:srgbClr val="2C6E49"/>
          </a:solidFill>
          <a:ln/>
        </p:spPr>
      </p:sp>
      <p:sp>
        <p:nvSpPr>
          <p:cNvPr id="15" name="Text 13"/>
          <p:cNvSpPr/>
          <p:nvPr/>
        </p:nvSpPr>
        <p:spPr>
          <a:xfrm>
            <a:off x="5074920" y="5193792"/>
            <a:ext cx="6400800" cy="320040"/>
          </a:xfrm>
          <a:prstGeom prst="rect">
            <a:avLst/>
          </a:prstGeom>
          <a:noFill/>
          <a:ln/>
        </p:spPr>
        <p:txBody>
          <a:bodyPr wrap="square" lIns="0" tIns="0" rIns="0" bIns="0" rtlCol="0" anchor="ctr"/>
          <a:lstStyle/>
          <a:p>
            <a:pPr indent="0" marL="0">
              <a:buNone/>
            </a:pPr>
            <a:r>
              <a:rPr lang="en-US" sz="1500" b="1" dirty="0">
                <a:solidFill>
                  <a:srgbClr val="C79A3A"/>
                </a:solidFill>
                <a:latin typeface="Malgun Gothic" pitchFamily="34" charset="0"/>
                <a:ea typeface="Malgun Gothic" pitchFamily="34" charset="-122"/>
                <a:cs typeface="Malgun Gothic" pitchFamily="34" charset="-120"/>
              </a:rPr>
              <a:t>표시·광고 규율</a:t>
            </a:r>
            <a:endParaRPr lang="en-US" sz="1500" dirty="0"/>
          </a:p>
        </p:txBody>
      </p:sp>
      <p:sp>
        <p:nvSpPr>
          <p:cNvPr id="16" name="Text 14"/>
          <p:cNvSpPr/>
          <p:nvPr/>
        </p:nvSpPr>
        <p:spPr>
          <a:xfrm>
            <a:off x="5074920" y="5522976"/>
            <a:ext cx="6400800" cy="457200"/>
          </a:xfrm>
          <a:prstGeom prst="rect">
            <a:avLst/>
          </a:prstGeom>
          <a:noFill/>
          <a:ln/>
        </p:spPr>
        <p:txBody>
          <a:bodyPr wrap="square" lIns="0" tIns="0" rIns="0" bIns="0" rtlCol="0" anchor="ctr"/>
          <a:lstStyle/>
          <a:p>
            <a:pPr indent="0" marL="0">
              <a:buNone/>
            </a:pPr>
            <a:r>
              <a:rPr lang="en-US" sz="1250" dirty="0">
                <a:solidFill>
                  <a:srgbClr val="F3EFE4"/>
                </a:solidFill>
                <a:latin typeface="Malgun Gothic" pitchFamily="34" charset="0"/>
                <a:ea typeface="Malgun Gothic" pitchFamily="34" charset="-122"/>
                <a:cs typeface="Malgun Gothic" pitchFamily="34" charset="-120"/>
              </a:rPr>
              <a:t>의학적 치료 표현 배제, 검증된 시험값만 사용 (신뢰 기반)</a:t>
            </a:r>
            <a:endParaRPr lang="en-US" sz="1250" dirty="0"/>
          </a:p>
        </p:txBody>
      </p:sp>
      <p:sp>
        <p:nvSpPr>
          <p:cNvPr id="17" name="Text 15"/>
          <p:cNvSpPr/>
          <p:nvPr/>
        </p:nvSpPr>
        <p:spPr>
          <a:xfrm>
            <a:off x="640080" y="3108960"/>
            <a:ext cx="3931920" cy="1828800"/>
          </a:xfrm>
          <a:prstGeom prst="rect">
            <a:avLst/>
          </a:prstGeom>
          <a:noFill/>
          <a:ln/>
        </p:spPr>
        <p:txBody>
          <a:bodyPr wrap="square" lIns="0" tIns="0" rIns="0" bIns="0" rtlCol="0" anchor="ctr"/>
          <a:lstStyle/>
          <a:p>
            <a:pPr algn="l" indent="0" marL="0">
              <a:buNone/>
            </a:pPr>
            <a:r>
              <a:rPr lang="en-US" sz="1900" dirty="0">
                <a:solidFill>
                  <a:srgbClr val="C79A3A"/>
                </a:solidFill>
                <a:latin typeface="Malgun Gothic" pitchFamily="34" charset="0"/>
                <a:ea typeface="Malgun Gothic" pitchFamily="34" charset="-122"/>
                <a:cs typeface="Malgun Gothic" pitchFamily="34" charset="-120"/>
              </a:rPr>
              <a:t>“ </a:t>
            </a:r>
            <a:pPr algn="l" indent="0" marL="0">
              <a:buNone/>
            </a:pPr>
            <a:r>
              <a:rPr lang="en-US" sz="1900" b="1" dirty="0">
                <a:solidFill>
                  <a:srgbClr val="FFFFFF"/>
                </a:solidFill>
                <a:latin typeface="Malgun Gothic" pitchFamily="34" charset="0"/>
                <a:ea typeface="Malgun Gothic" pitchFamily="34" charset="-122"/>
                <a:cs typeface="Malgun Gothic" pitchFamily="34" charset="-120"/>
              </a:rPr>
              <a:t>건강한 흙 → 건강한 소 → 좋은 우유 → 건강한 사람</a:t>
            </a:r>
            <a:pPr algn="l" indent="0" marL="0">
              <a:buNone/>
            </a:pPr>
            <a:r>
              <a:rPr lang="en-US" sz="1900" dirty="0">
                <a:solidFill>
                  <a:srgbClr val="C79A3A"/>
                </a:solidFill>
                <a:latin typeface="Malgun Gothic" pitchFamily="34" charset="0"/>
                <a:ea typeface="Malgun Gothic" pitchFamily="34" charset="-122"/>
                <a:cs typeface="Malgun Gothic" pitchFamily="34" charset="-120"/>
              </a:rPr>
              <a:t> ”</a:t>
            </a:r>
            <a:endParaRPr lang="en-US" sz="1900" dirty="0"/>
          </a:p>
        </p:txBody>
      </p:sp>
      <p:sp>
        <p:nvSpPr>
          <p:cNvPr id="18" name="Text 16"/>
          <p:cNvSpPr/>
          <p:nvPr/>
        </p:nvSpPr>
        <p:spPr>
          <a:xfrm>
            <a:off x="502920" y="6419088"/>
            <a:ext cx="9601200" cy="292608"/>
          </a:xfrm>
          <a:prstGeom prst="rect">
            <a:avLst/>
          </a:prstGeom>
          <a:noFill/>
          <a:ln/>
        </p:spPr>
        <p:txBody>
          <a:bodyPr wrap="square" lIns="0" tIns="0" rIns="0" bIns="0" rtlCol="0" anchor="ctr"/>
          <a:lstStyle/>
          <a:p>
            <a:pPr algn="l" indent="0" marL="0">
              <a:buNone/>
            </a:pPr>
            <a:r>
              <a:rPr lang="en-US" sz="900" dirty="0">
                <a:solidFill>
                  <a:srgbClr val="6B7B72"/>
                </a:solidFill>
                <a:latin typeface="Malgun Gothic" pitchFamily="34" charset="0"/>
                <a:ea typeface="Malgun Gothic" pitchFamily="34" charset="-122"/>
                <a:cs typeface="Malgun Gothic" pitchFamily="34" charset="-120"/>
              </a:rPr>
              <a:t>저지종 젖소 산업 활성화를 위한 국제 심포지엄  ·  송영신목장 하현제 원장</a:t>
            </a:r>
            <a:endParaRPr lang="en-US" sz="900" dirty="0"/>
          </a:p>
        </p:txBody>
      </p:sp>
      <p:sp>
        <p:nvSpPr>
          <p:cNvPr id="19" name="Text 17"/>
          <p:cNvSpPr/>
          <p:nvPr/>
        </p:nvSpPr>
        <p:spPr>
          <a:xfrm>
            <a:off x="11292840" y="6419088"/>
            <a:ext cx="411480" cy="292608"/>
          </a:xfrm>
          <a:prstGeom prst="rect">
            <a:avLst/>
          </a:prstGeom>
          <a:noFill/>
          <a:ln/>
        </p:spPr>
        <p:txBody>
          <a:bodyPr wrap="square" lIns="0" tIns="0" rIns="0" bIns="0" rtlCol="0" anchor="ctr"/>
          <a:lstStyle/>
          <a:p>
            <a:pPr algn="r" indent="0" marL="0">
              <a:buNone/>
            </a:pPr>
            <a:r>
              <a:rPr lang="en-US" sz="900" dirty="0">
                <a:solidFill>
                  <a:srgbClr val="6B7B72"/>
                </a:solidFill>
                <a:latin typeface="Malgun Gothic" pitchFamily="34" charset="0"/>
                <a:ea typeface="Malgun Gothic" pitchFamily="34" charset="-122"/>
                <a:cs typeface="Malgun Gothic"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lIns="0" tIns="0" rIns="0" bIns="0" rtlCol="0" anchor="ctr"/>
          <a:lstStyle/>
          <a:p>
            <a:pPr indent="0" marL="0">
              <a:buNone/>
            </a:pPr>
            <a:r>
              <a:rPr lang="en-US" sz="1200" b="1" spc="200" kern="0" dirty="0">
                <a:solidFill>
                  <a:srgbClr val="C79A3A"/>
                </a:solidFill>
                <a:latin typeface="Malgun Gothic" pitchFamily="34" charset="0"/>
                <a:ea typeface="Malgun Gothic" pitchFamily="34" charset="-122"/>
                <a:cs typeface="Malgun Gothic" pitchFamily="34" charset="-120"/>
              </a:rPr>
              <a:t>05  마케팅 · 채널</a:t>
            </a:r>
            <a:endParaRPr lang="en-US" sz="1200" dirty="0"/>
          </a:p>
        </p:txBody>
      </p:sp>
      <p:sp>
        <p:nvSpPr>
          <p:cNvPr id="3" name="Text 1"/>
          <p:cNvSpPr/>
          <p:nvPr/>
        </p:nvSpPr>
        <p:spPr>
          <a:xfrm>
            <a:off x="530352" y="749808"/>
            <a:ext cx="11064240" cy="685800"/>
          </a:xfrm>
          <a:prstGeom prst="rect">
            <a:avLst/>
          </a:prstGeom>
          <a:noFill/>
          <a:ln/>
        </p:spPr>
        <p:txBody>
          <a:bodyPr wrap="square" lIns="0" tIns="0" rIns="0" bIns="0" rtlCol="0" anchor="ctr"/>
          <a:lstStyle/>
          <a:p>
            <a:pPr indent="0" marL="0">
              <a:buNone/>
            </a:pPr>
            <a:r>
              <a:rPr lang="en-US" sz="3100" b="1" dirty="0">
                <a:solidFill>
                  <a:srgbClr val="173A28"/>
                </a:solidFill>
                <a:latin typeface="Malgun Gothic" pitchFamily="34" charset="0"/>
                <a:ea typeface="Malgun Gothic" pitchFamily="34" charset="-122"/>
                <a:cs typeface="Malgun Gothic" pitchFamily="34" charset="-120"/>
              </a:rPr>
              <a:t>자사몰 중심 D2C — 정기구독으로 재구매를 극대화</a:t>
            </a:r>
            <a:endParaRPr lang="en-US" sz="3100" dirty="0"/>
          </a:p>
        </p:txBody>
      </p:sp>
      <p:sp>
        <p:nvSpPr>
          <p:cNvPr id="4" name="Shape 2"/>
          <p:cNvSpPr/>
          <p:nvPr/>
        </p:nvSpPr>
        <p:spPr>
          <a:xfrm>
            <a:off x="548640" y="1691640"/>
            <a:ext cx="5074920" cy="3931920"/>
          </a:xfrm>
          <a:prstGeom prst="roundRect">
            <a:avLst>
              <a:gd name="adj" fmla="val 2791"/>
            </a:avLst>
          </a:prstGeom>
          <a:solidFill>
            <a:srgbClr val="173A28"/>
          </a:solidFill>
          <a:ln/>
        </p:spPr>
      </p:sp>
      <p:sp>
        <p:nvSpPr>
          <p:cNvPr id="5" name="Text 3"/>
          <p:cNvSpPr/>
          <p:nvPr/>
        </p:nvSpPr>
        <p:spPr>
          <a:xfrm>
            <a:off x="822960" y="1920240"/>
            <a:ext cx="4572000" cy="320040"/>
          </a:xfrm>
          <a:prstGeom prst="rect">
            <a:avLst/>
          </a:prstGeom>
          <a:noFill/>
          <a:ln/>
        </p:spPr>
        <p:txBody>
          <a:bodyPr wrap="square" lIns="0" tIns="0" rIns="0" bIns="0" rtlCol="0" anchor="ctr"/>
          <a:lstStyle/>
          <a:p>
            <a:pPr indent="0" marL="0">
              <a:buNone/>
            </a:pPr>
            <a:r>
              <a:rPr lang="en-US" sz="1400" b="1" dirty="0">
                <a:solidFill>
                  <a:srgbClr val="C79A3A"/>
                </a:solidFill>
                <a:latin typeface="Malgun Gothic" pitchFamily="34" charset="0"/>
                <a:ea typeface="Malgun Gothic" pitchFamily="34" charset="-122"/>
                <a:cs typeface="Malgun Gothic" pitchFamily="34" charset="-120"/>
              </a:rPr>
              <a:t>핵심 판매 채널</a:t>
            </a:r>
            <a:endParaRPr lang="en-US" sz="1400" dirty="0"/>
          </a:p>
        </p:txBody>
      </p:sp>
      <p:sp>
        <p:nvSpPr>
          <p:cNvPr id="6" name="Text 4"/>
          <p:cNvSpPr/>
          <p:nvPr/>
        </p:nvSpPr>
        <p:spPr>
          <a:xfrm>
            <a:off x="822960" y="228600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shop.a2jerseymilk.com</a:t>
            </a:r>
            <a:endParaRPr lang="en-US" sz="2200" dirty="0"/>
          </a:p>
        </p:txBody>
      </p:sp>
      <p:sp>
        <p:nvSpPr>
          <p:cNvPr id="7" name="Text 5"/>
          <p:cNvSpPr/>
          <p:nvPr/>
        </p:nvSpPr>
        <p:spPr>
          <a:xfrm>
            <a:off x="822960" y="2834640"/>
            <a:ext cx="4572000" cy="640080"/>
          </a:xfrm>
          <a:prstGeom prst="rect">
            <a:avLst/>
          </a:prstGeom>
          <a:noFill/>
          <a:ln/>
        </p:spPr>
        <p:txBody>
          <a:bodyPr wrap="square" lIns="0" tIns="0" rIns="0" bIns="0" rtlCol="0" anchor="ctr"/>
          <a:lstStyle/>
          <a:p>
            <a:pPr indent="0" marL="0">
              <a:buNone/>
            </a:pPr>
            <a:r>
              <a:rPr lang="en-US" sz="1300" dirty="0">
                <a:solidFill>
                  <a:srgbClr val="F3EFE4"/>
                </a:solidFill>
                <a:latin typeface="Malgun Gothic" pitchFamily="34" charset="0"/>
                <a:ea typeface="Malgun Gothic" pitchFamily="34" charset="-122"/>
                <a:cs typeface="Malgun Gothic" pitchFamily="34" charset="-120"/>
              </a:rPr>
              <a:t>브랜드의 공식 온라인 플랫폼이자 모든 A2 저지 건초우유 판매의 중심</a:t>
            </a:r>
            <a:endParaRPr lang="en-US" sz="1300" dirty="0"/>
          </a:p>
        </p:txBody>
      </p:sp>
      <p:sp>
        <p:nvSpPr>
          <p:cNvPr id="8" name="Shape 6"/>
          <p:cNvSpPr/>
          <p:nvPr/>
        </p:nvSpPr>
        <p:spPr>
          <a:xfrm>
            <a:off x="822960" y="3611880"/>
            <a:ext cx="4526280" cy="0"/>
          </a:xfrm>
          <a:prstGeom prst="line">
            <a:avLst/>
          </a:prstGeom>
          <a:noFill/>
          <a:ln w="12700">
            <a:solidFill>
              <a:srgbClr val="2C6E49"/>
            </a:solidFill>
            <a:prstDash val="solid"/>
          </a:ln>
        </p:spPr>
      </p:sp>
      <p:sp>
        <p:nvSpPr>
          <p:cNvPr id="9" name="Text 7"/>
          <p:cNvSpPr/>
          <p:nvPr/>
        </p:nvSpPr>
        <p:spPr>
          <a:xfrm>
            <a:off x="1005840" y="3794760"/>
            <a:ext cx="4434840" cy="173736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F3EFE4"/>
                </a:solidFill>
                <a:latin typeface="Malgun Gothic" pitchFamily="34" charset="0"/>
                <a:ea typeface="Malgun Gothic" pitchFamily="34" charset="-122"/>
                <a:cs typeface="Malgun Gothic" pitchFamily="34" charset="-120"/>
              </a:rPr>
              <a:t>정기구독(구독) 모델 — 신선식품 재구매 극대화</a:t>
            </a:r>
            <a:endParaRPr lang="en-US" sz="1350" dirty="0"/>
          </a:p>
          <a:p>
            <a:pPr marL="342900" indent="-342900">
              <a:spcAft>
                <a:spcPts val="1000"/>
              </a:spcAft>
              <a:buSzPct val="100000"/>
              <a:buChar char="•"/>
            </a:pPr>
            <a:r>
              <a:rPr lang="en-US" sz="1350" dirty="0">
                <a:solidFill>
                  <a:srgbClr val="F3EFE4"/>
                </a:solidFill>
                <a:latin typeface="Malgun Gothic" pitchFamily="34" charset="0"/>
                <a:ea typeface="Malgun Gothic" pitchFamily="34" charset="-122"/>
                <a:cs typeface="Malgun Gothic" pitchFamily="34" charset="-120"/>
              </a:rPr>
              <a:t>첫 1,000 고객 확보 → 객단가 · 재구매율 향상</a:t>
            </a:r>
            <a:endParaRPr lang="en-US" sz="1350" dirty="0"/>
          </a:p>
          <a:p>
            <a:pPr marL="342900" indent="-342900">
              <a:spcAft>
                <a:spcPts val="1000"/>
              </a:spcAft>
              <a:buSzPct val="100000"/>
              <a:buChar char="•"/>
            </a:pPr>
            <a:r>
              <a:rPr lang="en-US" sz="1350" dirty="0">
                <a:solidFill>
                  <a:srgbClr val="F3EFE4"/>
                </a:solidFill>
                <a:latin typeface="Malgun Gothic" pitchFamily="34" charset="0"/>
                <a:ea typeface="Malgun Gothic" pitchFamily="34" charset="-122"/>
                <a:cs typeface="Malgun Gothic" pitchFamily="34" charset="-120"/>
              </a:rPr>
              <a:t>팜스토리 콘텐츠 + 카카오채널 CRM 운영</a:t>
            </a:r>
            <a:endParaRPr lang="en-US" sz="1350" dirty="0"/>
          </a:p>
        </p:txBody>
      </p:sp>
      <p:sp>
        <p:nvSpPr>
          <p:cNvPr id="10" name="Shape 8"/>
          <p:cNvSpPr/>
          <p:nvPr/>
        </p:nvSpPr>
        <p:spPr>
          <a:xfrm>
            <a:off x="5852160" y="1691640"/>
            <a:ext cx="5806440" cy="914400"/>
          </a:xfrm>
          <a:prstGeom prst="roundRect">
            <a:avLst>
              <a:gd name="adj" fmla="val 8000"/>
            </a:avLst>
          </a:prstGeom>
          <a:solidFill>
            <a:srgbClr val="EAF2EC"/>
          </a:solidFill>
          <a:ln/>
        </p:spPr>
      </p:sp>
      <p:sp>
        <p:nvSpPr>
          <p:cNvPr id="11" name="Text 9"/>
          <p:cNvSpPr/>
          <p:nvPr/>
        </p:nvSpPr>
        <p:spPr>
          <a:xfrm>
            <a:off x="6080760" y="1810512"/>
            <a:ext cx="5394960" cy="320040"/>
          </a:xfrm>
          <a:prstGeom prst="rect">
            <a:avLst/>
          </a:prstGeom>
          <a:noFill/>
          <a:ln/>
        </p:spPr>
        <p:txBody>
          <a:bodyPr wrap="square" lIns="0" tIns="0" rIns="0" bIns="0" rtlCol="0" anchor="ctr"/>
          <a:lstStyle/>
          <a:p>
            <a:pPr indent="0" marL="0">
              <a:buNone/>
            </a:pPr>
            <a:r>
              <a:rPr lang="en-US" sz="1550" b="1" dirty="0">
                <a:solidFill>
                  <a:srgbClr val="2C6E49"/>
                </a:solidFill>
                <a:latin typeface="Malgun Gothic" pitchFamily="34" charset="0"/>
                <a:ea typeface="Malgun Gothic" pitchFamily="34" charset="-122"/>
                <a:cs typeface="Malgun Gothic" pitchFamily="34" charset="-120"/>
              </a:rPr>
              <a:t>D2C 자사몰</a:t>
            </a:r>
            <a:endParaRPr lang="en-US" sz="1550" dirty="0"/>
          </a:p>
        </p:txBody>
      </p:sp>
      <p:sp>
        <p:nvSpPr>
          <p:cNvPr id="12" name="Text 10"/>
          <p:cNvSpPr/>
          <p:nvPr/>
        </p:nvSpPr>
        <p:spPr>
          <a:xfrm>
            <a:off x="6080760" y="2130552"/>
            <a:ext cx="5440680" cy="457200"/>
          </a:xfrm>
          <a:prstGeom prst="rect">
            <a:avLst/>
          </a:prstGeom>
          <a:noFill/>
          <a:ln/>
        </p:spPr>
        <p:txBody>
          <a:bodyPr wrap="square" lIns="0" tIns="0" rIns="0" bIns="0" rtlCol="0" anchor="ctr"/>
          <a:lstStyle/>
          <a:p>
            <a:pPr indent="0" marL="0">
              <a:buNone/>
            </a:pPr>
            <a:r>
              <a:rPr lang="en-US" sz="1180" dirty="0">
                <a:solidFill>
                  <a:srgbClr val="20302A"/>
                </a:solidFill>
                <a:latin typeface="Malgun Gothic" pitchFamily="34" charset="0"/>
                <a:ea typeface="Malgun Gothic" pitchFamily="34" charset="-122"/>
                <a:cs typeface="Malgun Gothic" pitchFamily="34" charset="-120"/>
              </a:rPr>
              <a:t>소량 · 프리미엄 저지 원유에 최적화된 직판 구조. 브랜드 · 고객데이터를 직접 보유</a:t>
            </a:r>
            <a:endParaRPr lang="en-US" sz="1180" dirty="0"/>
          </a:p>
        </p:txBody>
      </p:sp>
      <p:sp>
        <p:nvSpPr>
          <p:cNvPr id="13" name="Shape 11"/>
          <p:cNvSpPr/>
          <p:nvPr/>
        </p:nvSpPr>
        <p:spPr>
          <a:xfrm>
            <a:off x="5852160" y="2715768"/>
            <a:ext cx="5806440" cy="914400"/>
          </a:xfrm>
          <a:prstGeom prst="roundRect">
            <a:avLst>
              <a:gd name="adj" fmla="val 8000"/>
            </a:avLst>
          </a:prstGeom>
          <a:solidFill>
            <a:srgbClr val="EAF2EC"/>
          </a:solidFill>
          <a:ln/>
        </p:spPr>
      </p:sp>
      <p:sp>
        <p:nvSpPr>
          <p:cNvPr id="14" name="Text 12"/>
          <p:cNvSpPr/>
          <p:nvPr/>
        </p:nvSpPr>
        <p:spPr>
          <a:xfrm>
            <a:off x="6080760" y="2834640"/>
            <a:ext cx="5394960" cy="320040"/>
          </a:xfrm>
          <a:prstGeom prst="rect">
            <a:avLst/>
          </a:prstGeom>
          <a:noFill/>
          <a:ln/>
        </p:spPr>
        <p:txBody>
          <a:bodyPr wrap="square" lIns="0" tIns="0" rIns="0" bIns="0" rtlCol="0" anchor="ctr"/>
          <a:lstStyle/>
          <a:p>
            <a:pPr indent="0" marL="0">
              <a:buNone/>
            </a:pPr>
            <a:r>
              <a:rPr lang="en-US" sz="1550" b="1" dirty="0">
                <a:solidFill>
                  <a:srgbClr val="2C6E49"/>
                </a:solidFill>
                <a:latin typeface="Malgun Gothic" pitchFamily="34" charset="0"/>
                <a:ea typeface="Malgun Gothic" pitchFamily="34" charset="-122"/>
                <a:cs typeface="Malgun Gothic" pitchFamily="34" charset="-120"/>
              </a:rPr>
              <a:t>정기구독</a:t>
            </a:r>
            <a:endParaRPr lang="en-US" sz="1550" dirty="0"/>
          </a:p>
        </p:txBody>
      </p:sp>
      <p:sp>
        <p:nvSpPr>
          <p:cNvPr id="15" name="Text 13"/>
          <p:cNvSpPr/>
          <p:nvPr/>
        </p:nvSpPr>
        <p:spPr>
          <a:xfrm>
            <a:off x="6080760" y="3154680"/>
            <a:ext cx="5440680" cy="457200"/>
          </a:xfrm>
          <a:prstGeom prst="rect">
            <a:avLst/>
          </a:prstGeom>
          <a:noFill/>
          <a:ln/>
        </p:spPr>
        <p:txBody>
          <a:bodyPr wrap="square" lIns="0" tIns="0" rIns="0" bIns="0" rtlCol="0" anchor="ctr"/>
          <a:lstStyle/>
          <a:p>
            <a:pPr indent="0" marL="0">
              <a:buNone/>
            </a:pPr>
            <a:r>
              <a:rPr lang="en-US" sz="1180" dirty="0">
                <a:solidFill>
                  <a:srgbClr val="20302A"/>
                </a:solidFill>
                <a:latin typeface="Malgun Gothic" pitchFamily="34" charset="0"/>
                <a:ea typeface="Malgun Gothic" pitchFamily="34" charset="-122"/>
                <a:cs typeface="Malgun Gothic" pitchFamily="34" charset="-120"/>
              </a:rPr>
              <a:t>꾸준한 수요 · 예측 가능한 생산 · 높은 LTV. 신선유가공의 핵심 성장 엔진</a:t>
            </a:r>
            <a:endParaRPr lang="en-US" sz="1180" dirty="0"/>
          </a:p>
        </p:txBody>
      </p:sp>
      <p:sp>
        <p:nvSpPr>
          <p:cNvPr id="16" name="Shape 14"/>
          <p:cNvSpPr/>
          <p:nvPr/>
        </p:nvSpPr>
        <p:spPr>
          <a:xfrm>
            <a:off x="5852160" y="3739896"/>
            <a:ext cx="5806440" cy="914400"/>
          </a:xfrm>
          <a:prstGeom prst="roundRect">
            <a:avLst>
              <a:gd name="adj" fmla="val 8000"/>
            </a:avLst>
          </a:prstGeom>
          <a:solidFill>
            <a:srgbClr val="EAF2EC"/>
          </a:solidFill>
          <a:ln/>
        </p:spPr>
      </p:sp>
      <p:sp>
        <p:nvSpPr>
          <p:cNvPr id="17" name="Text 15"/>
          <p:cNvSpPr/>
          <p:nvPr/>
        </p:nvSpPr>
        <p:spPr>
          <a:xfrm>
            <a:off x="6080760" y="3858768"/>
            <a:ext cx="5394960" cy="320040"/>
          </a:xfrm>
          <a:prstGeom prst="rect">
            <a:avLst/>
          </a:prstGeom>
          <a:noFill/>
          <a:ln/>
        </p:spPr>
        <p:txBody>
          <a:bodyPr wrap="square" lIns="0" tIns="0" rIns="0" bIns="0" rtlCol="0" anchor="ctr"/>
          <a:lstStyle/>
          <a:p>
            <a:pPr indent="0" marL="0">
              <a:buNone/>
            </a:pPr>
            <a:r>
              <a:rPr lang="en-US" sz="1550" b="1" dirty="0">
                <a:solidFill>
                  <a:srgbClr val="2C6E49"/>
                </a:solidFill>
                <a:latin typeface="Malgun Gothic" pitchFamily="34" charset="0"/>
                <a:ea typeface="Malgun Gothic" pitchFamily="34" charset="-122"/>
                <a:cs typeface="Malgun Gothic" pitchFamily="34" charset="-120"/>
              </a:rPr>
              <a:t>콘텐츠 · SNS</a:t>
            </a:r>
            <a:endParaRPr lang="en-US" sz="1550" dirty="0"/>
          </a:p>
        </p:txBody>
      </p:sp>
      <p:sp>
        <p:nvSpPr>
          <p:cNvPr id="18" name="Text 16"/>
          <p:cNvSpPr/>
          <p:nvPr/>
        </p:nvSpPr>
        <p:spPr>
          <a:xfrm>
            <a:off x="6080760" y="4178808"/>
            <a:ext cx="5440680" cy="457200"/>
          </a:xfrm>
          <a:prstGeom prst="rect">
            <a:avLst/>
          </a:prstGeom>
          <a:noFill/>
          <a:ln/>
        </p:spPr>
        <p:txBody>
          <a:bodyPr wrap="square" lIns="0" tIns="0" rIns="0" bIns="0" rtlCol="0" anchor="ctr"/>
          <a:lstStyle/>
          <a:p>
            <a:pPr indent="0" marL="0">
              <a:buNone/>
            </a:pPr>
            <a:r>
              <a:rPr lang="en-US" sz="1180" dirty="0">
                <a:solidFill>
                  <a:srgbClr val="20302A"/>
                </a:solidFill>
                <a:latin typeface="Malgun Gothic" pitchFamily="34" charset="0"/>
                <a:ea typeface="Malgun Gothic" pitchFamily="34" charset="-122"/>
                <a:cs typeface="Malgun Gothic" pitchFamily="34" charset="-120"/>
              </a:rPr>
              <a:t>순환농업 · 목장 이야기로 신뢰와 팬덤 형성, 자사몰 유입으로 연결</a:t>
            </a:r>
            <a:endParaRPr lang="en-US" sz="1180" dirty="0"/>
          </a:p>
        </p:txBody>
      </p:sp>
      <p:sp>
        <p:nvSpPr>
          <p:cNvPr id="19" name="Shape 17"/>
          <p:cNvSpPr/>
          <p:nvPr/>
        </p:nvSpPr>
        <p:spPr>
          <a:xfrm>
            <a:off x="5852160" y="4764024"/>
            <a:ext cx="5806440" cy="914400"/>
          </a:xfrm>
          <a:prstGeom prst="roundRect">
            <a:avLst>
              <a:gd name="adj" fmla="val 8000"/>
            </a:avLst>
          </a:prstGeom>
          <a:solidFill>
            <a:srgbClr val="EAF2EC"/>
          </a:solidFill>
          <a:ln/>
        </p:spPr>
      </p:sp>
      <p:sp>
        <p:nvSpPr>
          <p:cNvPr id="20" name="Text 18"/>
          <p:cNvSpPr/>
          <p:nvPr/>
        </p:nvSpPr>
        <p:spPr>
          <a:xfrm>
            <a:off x="6080760" y="4882896"/>
            <a:ext cx="5394960" cy="320040"/>
          </a:xfrm>
          <a:prstGeom prst="rect">
            <a:avLst/>
          </a:prstGeom>
          <a:noFill/>
          <a:ln/>
        </p:spPr>
        <p:txBody>
          <a:bodyPr wrap="square" lIns="0" tIns="0" rIns="0" bIns="0" rtlCol="0" anchor="ctr"/>
          <a:lstStyle/>
          <a:p>
            <a:pPr indent="0" marL="0">
              <a:buNone/>
            </a:pPr>
            <a:r>
              <a:rPr lang="en-US" sz="1550" b="1" dirty="0">
                <a:solidFill>
                  <a:srgbClr val="2C6E49"/>
                </a:solidFill>
                <a:latin typeface="Malgun Gothic" pitchFamily="34" charset="0"/>
                <a:ea typeface="Malgun Gothic" pitchFamily="34" charset="-122"/>
                <a:cs typeface="Malgun Gothic" pitchFamily="34" charset="-120"/>
              </a:rPr>
              <a:t>B2B 확장</a:t>
            </a:r>
            <a:endParaRPr lang="en-US" sz="1550" dirty="0"/>
          </a:p>
        </p:txBody>
      </p:sp>
      <p:sp>
        <p:nvSpPr>
          <p:cNvPr id="21" name="Text 19"/>
          <p:cNvSpPr/>
          <p:nvPr/>
        </p:nvSpPr>
        <p:spPr>
          <a:xfrm>
            <a:off x="6080760" y="5202936"/>
            <a:ext cx="5440680" cy="457200"/>
          </a:xfrm>
          <a:prstGeom prst="rect">
            <a:avLst/>
          </a:prstGeom>
          <a:noFill/>
          <a:ln/>
        </p:spPr>
        <p:txBody>
          <a:bodyPr wrap="square" lIns="0" tIns="0" rIns="0" bIns="0" rtlCol="0" anchor="ctr"/>
          <a:lstStyle/>
          <a:p>
            <a:pPr indent="0" marL="0">
              <a:buNone/>
            </a:pPr>
            <a:r>
              <a:rPr lang="en-US" sz="1180" dirty="0">
                <a:solidFill>
                  <a:srgbClr val="20302A"/>
                </a:solidFill>
                <a:latin typeface="Malgun Gothic" pitchFamily="34" charset="0"/>
                <a:ea typeface="Malgun Gothic" pitchFamily="34" charset="-122"/>
                <a:cs typeface="Malgun Gothic" pitchFamily="34" charset="-120"/>
              </a:rPr>
              <a:t>카페 · 베이커리 · 프리미엄 식품관 납품으로 채널 다변화</a:t>
            </a:r>
            <a:endParaRPr lang="en-US" sz="1180" dirty="0"/>
          </a:p>
        </p:txBody>
      </p:sp>
      <p:sp>
        <p:nvSpPr>
          <p:cNvPr id="22" name="Text 20"/>
          <p:cNvSpPr/>
          <p:nvPr/>
        </p:nvSpPr>
        <p:spPr>
          <a:xfrm>
            <a:off x="502920" y="6419088"/>
            <a:ext cx="9601200" cy="292608"/>
          </a:xfrm>
          <a:prstGeom prst="rect">
            <a:avLst/>
          </a:prstGeom>
          <a:noFill/>
          <a:ln/>
        </p:spPr>
        <p:txBody>
          <a:bodyPr wrap="square" lIns="0" tIns="0" rIns="0" bIns="0" rtlCol="0" anchor="ctr"/>
          <a:lstStyle/>
          <a:p>
            <a:pPr algn="l" indent="0" marL="0">
              <a:buNone/>
            </a:pPr>
            <a:r>
              <a:rPr lang="en-US" sz="900" dirty="0">
                <a:solidFill>
                  <a:srgbClr val="6B7B72"/>
                </a:solidFill>
                <a:latin typeface="Malgun Gothic" pitchFamily="34" charset="0"/>
                <a:ea typeface="Malgun Gothic" pitchFamily="34" charset="-122"/>
                <a:cs typeface="Malgun Gothic" pitchFamily="34" charset="-120"/>
              </a:rPr>
              <a:t>저지종 젖소 산업 활성화를 위한 국제 심포지엄  ·  송영신목장 하현제 원장</a:t>
            </a:r>
            <a:endParaRPr lang="en-US" sz="900" dirty="0"/>
          </a:p>
        </p:txBody>
      </p:sp>
      <p:sp>
        <p:nvSpPr>
          <p:cNvPr id="23" name="Text 21"/>
          <p:cNvSpPr/>
          <p:nvPr/>
        </p:nvSpPr>
        <p:spPr>
          <a:xfrm>
            <a:off x="11292840" y="6419088"/>
            <a:ext cx="411480" cy="292608"/>
          </a:xfrm>
          <a:prstGeom prst="rect">
            <a:avLst/>
          </a:prstGeom>
          <a:noFill/>
          <a:ln/>
        </p:spPr>
        <p:txBody>
          <a:bodyPr wrap="square" lIns="0" tIns="0" rIns="0" bIns="0" rtlCol="0" anchor="ctr"/>
          <a:lstStyle/>
          <a:p>
            <a:pPr algn="r" indent="0" marL="0">
              <a:buNone/>
            </a:pPr>
            <a:r>
              <a:rPr lang="en-US" sz="900" dirty="0">
                <a:solidFill>
                  <a:srgbClr val="6B7B72"/>
                </a:solidFill>
                <a:latin typeface="Malgun Gothic" pitchFamily="34" charset="0"/>
                <a:ea typeface="Malgun Gothic" pitchFamily="34" charset="-122"/>
                <a:cs typeface="Malgun Gothic"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lIns="0" tIns="0" rIns="0" bIns="0" rtlCol="0" anchor="ctr"/>
          <a:lstStyle/>
          <a:p>
            <a:pPr indent="0" marL="0">
              <a:buNone/>
            </a:pPr>
            <a:r>
              <a:rPr lang="en-US" sz="1200" b="1" spc="200" kern="0" dirty="0">
                <a:solidFill>
                  <a:srgbClr val="C79A3A"/>
                </a:solidFill>
                <a:latin typeface="Malgun Gothic" pitchFamily="34" charset="0"/>
                <a:ea typeface="Malgun Gothic" pitchFamily="34" charset="-122"/>
                <a:cs typeface="Malgun Gothic" pitchFamily="34" charset="-120"/>
              </a:rPr>
              <a:t>06  6차산업화 · 교훈</a:t>
            </a:r>
            <a:endParaRPr lang="en-US" sz="1200" dirty="0"/>
          </a:p>
        </p:txBody>
      </p:sp>
      <p:sp>
        <p:nvSpPr>
          <p:cNvPr id="3" name="Text 1"/>
          <p:cNvSpPr/>
          <p:nvPr/>
        </p:nvSpPr>
        <p:spPr>
          <a:xfrm>
            <a:off x="530352" y="749808"/>
            <a:ext cx="11064240" cy="685800"/>
          </a:xfrm>
          <a:prstGeom prst="rect">
            <a:avLst/>
          </a:prstGeom>
          <a:noFill/>
          <a:ln/>
        </p:spPr>
        <p:txBody>
          <a:bodyPr wrap="square" lIns="0" tIns="0" rIns="0" bIns="0" rtlCol="0" anchor="ctr"/>
          <a:lstStyle/>
          <a:p>
            <a:pPr indent="0" marL="0">
              <a:buNone/>
            </a:pPr>
            <a:r>
              <a:rPr lang="en-US" sz="3100" b="1" dirty="0">
                <a:solidFill>
                  <a:srgbClr val="173A28"/>
                </a:solidFill>
                <a:latin typeface="Malgun Gothic" pitchFamily="34" charset="0"/>
                <a:ea typeface="Malgun Gothic" pitchFamily="34" charset="-122"/>
                <a:cs typeface="Malgun Gothic" pitchFamily="34" charset="-120"/>
              </a:rPr>
              <a:t>생산 현장을 브랜드 경험으로, 그리고 배운 것</a:t>
            </a:r>
            <a:endParaRPr lang="en-US" sz="3100" dirty="0"/>
          </a:p>
        </p:txBody>
      </p:sp>
      <p:sp>
        <p:nvSpPr>
          <p:cNvPr id="4" name="Text 2"/>
          <p:cNvSpPr/>
          <p:nvPr/>
        </p:nvSpPr>
        <p:spPr>
          <a:xfrm>
            <a:off x="548640" y="1691640"/>
            <a:ext cx="5486400" cy="365760"/>
          </a:xfrm>
          <a:prstGeom prst="rect">
            <a:avLst/>
          </a:prstGeom>
          <a:noFill/>
          <a:ln/>
        </p:spPr>
        <p:txBody>
          <a:bodyPr wrap="square" lIns="0" tIns="0" rIns="0" bIns="0" rtlCol="0" anchor="ctr"/>
          <a:lstStyle/>
          <a:p>
            <a:pPr indent="0" marL="0">
              <a:buNone/>
            </a:pPr>
            <a:r>
              <a:rPr lang="en-US" sz="1700" b="1" dirty="0">
                <a:solidFill>
                  <a:srgbClr val="2C6E49"/>
                </a:solidFill>
                <a:latin typeface="Malgun Gothic" pitchFamily="34" charset="0"/>
                <a:ea typeface="Malgun Gothic" pitchFamily="34" charset="-122"/>
                <a:cs typeface="Malgun Gothic" pitchFamily="34" charset="-120"/>
              </a:rPr>
              <a:t>6차산업화 — 경험을 파는 목장</a:t>
            </a:r>
            <a:endParaRPr lang="en-US" sz="1700" dirty="0"/>
          </a:p>
        </p:txBody>
      </p:sp>
      <p:sp>
        <p:nvSpPr>
          <p:cNvPr id="5" name="Shape 3"/>
          <p:cNvSpPr/>
          <p:nvPr/>
        </p:nvSpPr>
        <p:spPr>
          <a:xfrm>
            <a:off x="548640" y="2148840"/>
            <a:ext cx="5349240" cy="1051560"/>
          </a:xfrm>
          <a:prstGeom prst="roundRect">
            <a:avLst>
              <a:gd name="adj" fmla="val 6957"/>
            </a:avLst>
          </a:prstGeom>
          <a:solidFill>
            <a:srgbClr val="EAF2EC"/>
          </a:solidFill>
          <a:ln/>
        </p:spPr>
      </p:sp>
      <p:sp>
        <p:nvSpPr>
          <p:cNvPr id="6" name="Shape 4"/>
          <p:cNvSpPr/>
          <p:nvPr/>
        </p:nvSpPr>
        <p:spPr>
          <a:xfrm>
            <a:off x="777240" y="2423160"/>
            <a:ext cx="502920" cy="502920"/>
          </a:xfrm>
          <a:prstGeom prst="ellipse">
            <a:avLst/>
          </a:prstGeom>
          <a:solidFill>
            <a:srgbClr val="2C6E49"/>
          </a:solidFill>
          <a:ln/>
        </p:spPr>
      </p:sp>
      <p:sp>
        <p:nvSpPr>
          <p:cNvPr id="7" name="Text 5"/>
          <p:cNvSpPr/>
          <p:nvPr/>
        </p:nvSpPr>
        <p:spPr>
          <a:xfrm>
            <a:off x="777240" y="2423160"/>
            <a:ext cx="502920" cy="502920"/>
          </a:xfrm>
          <a:prstGeom prst="rect">
            <a:avLst/>
          </a:prstGeom>
          <a:noFill/>
          <a:ln/>
        </p:spPr>
        <p:txBody>
          <a:bodyPr wrap="square" rtlCol="0" anchor="ctr"/>
          <a:lstStyle/>
          <a:p>
            <a:pPr algn="ctr" indent="0" marL="0">
              <a:buNone/>
            </a:pPr>
            <a:r>
              <a:rPr lang="en-US" sz="1600" b="1" dirty="0">
                <a:solidFill>
                  <a:srgbClr val="173A28"/>
                </a:solidFill>
                <a:latin typeface="Malgun Gothic" pitchFamily="34" charset="0"/>
                <a:ea typeface="Malgun Gothic" pitchFamily="34" charset="-122"/>
                <a:cs typeface="Malgun Gothic" pitchFamily="34" charset="-120"/>
              </a:rPr>
              <a:t>1</a:t>
            </a:r>
            <a:endParaRPr lang="en-US" sz="1600" dirty="0"/>
          </a:p>
        </p:txBody>
      </p:sp>
      <p:sp>
        <p:nvSpPr>
          <p:cNvPr id="8" name="Text 6"/>
          <p:cNvSpPr/>
          <p:nvPr/>
        </p:nvSpPr>
        <p:spPr>
          <a:xfrm>
            <a:off x="1463040" y="2295144"/>
            <a:ext cx="4297680" cy="365760"/>
          </a:xfrm>
          <a:prstGeom prst="rect">
            <a:avLst/>
          </a:prstGeom>
          <a:noFill/>
          <a:ln/>
        </p:spPr>
        <p:txBody>
          <a:bodyPr wrap="square" lIns="0" tIns="0" rIns="0" bIns="0" rtlCol="0" anchor="ctr"/>
          <a:lstStyle/>
          <a:p>
            <a:pPr indent="0" marL="0">
              <a:buNone/>
            </a:pPr>
            <a:r>
              <a:rPr lang="en-US" sz="1550" b="1" dirty="0">
                <a:solidFill>
                  <a:srgbClr val="173A28"/>
                </a:solidFill>
                <a:latin typeface="Malgun Gothic" pitchFamily="34" charset="0"/>
                <a:ea typeface="Malgun Gothic" pitchFamily="34" charset="-122"/>
                <a:cs typeface="Malgun Gothic" pitchFamily="34" charset="-120"/>
              </a:rPr>
              <a:t>목장형 카페</a:t>
            </a:r>
            <a:endParaRPr lang="en-US" sz="1550" dirty="0"/>
          </a:p>
        </p:txBody>
      </p:sp>
      <p:sp>
        <p:nvSpPr>
          <p:cNvPr id="9" name="Text 7"/>
          <p:cNvSpPr/>
          <p:nvPr/>
        </p:nvSpPr>
        <p:spPr>
          <a:xfrm>
            <a:off x="1463040" y="2660904"/>
            <a:ext cx="4297680" cy="457200"/>
          </a:xfrm>
          <a:prstGeom prst="rect">
            <a:avLst/>
          </a:prstGeom>
          <a:noFill/>
          <a:ln/>
        </p:spPr>
        <p:txBody>
          <a:bodyPr wrap="square" lIns="0" tIns="0" rIns="0" bIns="0" rtlCol="0" anchor="ctr"/>
          <a:lstStyle/>
          <a:p>
            <a:pPr indent="0" marL="0">
              <a:buNone/>
            </a:pPr>
            <a:r>
              <a:rPr lang="en-US" sz="1200" dirty="0">
                <a:solidFill>
                  <a:srgbClr val="20302A"/>
                </a:solidFill>
                <a:latin typeface="Malgun Gothic" pitchFamily="34" charset="0"/>
                <a:ea typeface="Malgun Gothic" pitchFamily="34" charset="-122"/>
                <a:cs typeface="Malgun Gothic" pitchFamily="34" charset="-120"/>
              </a:rPr>
              <a:t>저지 우유 · 요거트 · 카이막을 현장에서 경험</a:t>
            </a:r>
            <a:endParaRPr lang="en-US" sz="1200" dirty="0"/>
          </a:p>
        </p:txBody>
      </p:sp>
      <p:sp>
        <p:nvSpPr>
          <p:cNvPr id="10" name="Shape 8"/>
          <p:cNvSpPr/>
          <p:nvPr/>
        </p:nvSpPr>
        <p:spPr>
          <a:xfrm>
            <a:off x="548640" y="3337560"/>
            <a:ext cx="5349240" cy="1051560"/>
          </a:xfrm>
          <a:prstGeom prst="roundRect">
            <a:avLst>
              <a:gd name="adj" fmla="val 6957"/>
            </a:avLst>
          </a:prstGeom>
          <a:solidFill>
            <a:srgbClr val="EAF2EC"/>
          </a:solidFill>
          <a:ln/>
        </p:spPr>
      </p:sp>
      <p:sp>
        <p:nvSpPr>
          <p:cNvPr id="11" name="Shape 9"/>
          <p:cNvSpPr/>
          <p:nvPr/>
        </p:nvSpPr>
        <p:spPr>
          <a:xfrm>
            <a:off x="777240" y="3611880"/>
            <a:ext cx="502920" cy="502920"/>
          </a:xfrm>
          <a:prstGeom prst="ellipse">
            <a:avLst/>
          </a:prstGeom>
          <a:solidFill>
            <a:srgbClr val="2C6E49"/>
          </a:solidFill>
          <a:ln/>
        </p:spPr>
      </p:sp>
      <p:sp>
        <p:nvSpPr>
          <p:cNvPr id="12" name="Text 10"/>
          <p:cNvSpPr/>
          <p:nvPr/>
        </p:nvSpPr>
        <p:spPr>
          <a:xfrm>
            <a:off x="777240" y="3611880"/>
            <a:ext cx="502920" cy="502920"/>
          </a:xfrm>
          <a:prstGeom prst="rect">
            <a:avLst/>
          </a:prstGeom>
          <a:noFill/>
          <a:ln/>
        </p:spPr>
        <p:txBody>
          <a:bodyPr wrap="square" rtlCol="0" anchor="ctr"/>
          <a:lstStyle/>
          <a:p>
            <a:pPr algn="ctr" indent="0" marL="0">
              <a:buNone/>
            </a:pPr>
            <a:r>
              <a:rPr lang="en-US" sz="1600" b="1" dirty="0">
                <a:solidFill>
                  <a:srgbClr val="173A28"/>
                </a:solidFill>
                <a:latin typeface="Malgun Gothic" pitchFamily="34" charset="0"/>
                <a:ea typeface="Malgun Gothic" pitchFamily="34" charset="-122"/>
                <a:cs typeface="Malgun Gothic" pitchFamily="34" charset="-120"/>
              </a:rPr>
              <a:t>2</a:t>
            </a:r>
            <a:endParaRPr lang="en-US" sz="1600" dirty="0"/>
          </a:p>
        </p:txBody>
      </p:sp>
      <p:sp>
        <p:nvSpPr>
          <p:cNvPr id="13" name="Text 11"/>
          <p:cNvSpPr/>
          <p:nvPr/>
        </p:nvSpPr>
        <p:spPr>
          <a:xfrm>
            <a:off x="1463040" y="3483864"/>
            <a:ext cx="4297680" cy="365760"/>
          </a:xfrm>
          <a:prstGeom prst="rect">
            <a:avLst/>
          </a:prstGeom>
          <a:noFill/>
          <a:ln/>
        </p:spPr>
        <p:txBody>
          <a:bodyPr wrap="square" lIns="0" tIns="0" rIns="0" bIns="0" rtlCol="0" anchor="ctr"/>
          <a:lstStyle/>
          <a:p>
            <a:pPr indent="0" marL="0">
              <a:buNone/>
            </a:pPr>
            <a:r>
              <a:rPr lang="en-US" sz="1550" b="1" dirty="0">
                <a:solidFill>
                  <a:srgbClr val="173A28"/>
                </a:solidFill>
                <a:latin typeface="Malgun Gothic" pitchFamily="34" charset="0"/>
                <a:ea typeface="Malgun Gothic" pitchFamily="34" charset="-122"/>
                <a:cs typeface="Malgun Gothic" pitchFamily="34" charset="-120"/>
              </a:rPr>
              <a:t>팜투어 · 체험</a:t>
            </a:r>
            <a:endParaRPr lang="en-US" sz="1550" dirty="0"/>
          </a:p>
        </p:txBody>
      </p:sp>
      <p:sp>
        <p:nvSpPr>
          <p:cNvPr id="14" name="Text 12"/>
          <p:cNvSpPr/>
          <p:nvPr/>
        </p:nvSpPr>
        <p:spPr>
          <a:xfrm>
            <a:off x="1463040" y="3849624"/>
            <a:ext cx="4297680" cy="457200"/>
          </a:xfrm>
          <a:prstGeom prst="rect">
            <a:avLst/>
          </a:prstGeom>
          <a:noFill/>
          <a:ln/>
        </p:spPr>
        <p:txBody>
          <a:bodyPr wrap="square" lIns="0" tIns="0" rIns="0" bIns="0" rtlCol="0" anchor="ctr"/>
          <a:lstStyle/>
          <a:p>
            <a:pPr indent="0" marL="0">
              <a:buNone/>
            </a:pPr>
            <a:r>
              <a:rPr lang="en-US" sz="1200" dirty="0">
                <a:solidFill>
                  <a:srgbClr val="20302A"/>
                </a:solidFill>
                <a:latin typeface="Malgun Gothic" pitchFamily="34" charset="0"/>
                <a:ea typeface="Malgun Gothic" pitchFamily="34" charset="-122"/>
                <a:cs typeface="Malgun Gothic" pitchFamily="34" charset="-120"/>
              </a:rPr>
              <a:t>순환농업 현장을 브랜드 경험 공간으로</a:t>
            </a:r>
            <a:endParaRPr lang="en-US" sz="1200" dirty="0"/>
          </a:p>
        </p:txBody>
      </p:sp>
      <p:sp>
        <p:nvSpPr>
          <p:cNvPr id="15" name="Shape 13"/>
          <p:cNvSpPr/>
          <p:nvPr/>
        </p:nvSpPr>
        <p:spPr>
          <a:xfrm>
            <a:off x="548640" y="4526280"/>
            <a:ext cx="5349240" cy="1051560"/>
          </a:xfrm>
          <a:prstGeom prst="roundRect">
            <a:avLst>
              <a:gd name="adj" fmla="val 6957"/>
            </a:avLst>
          </a:prstGeom>
          <a:solidFill>
            <a:srgbClr val="EAF2EC"/>
          </a:solidFill>
          <a:ln/>
        </p:spPr>
      </p:sp>
      <p:sp>
        <p:nvSpPr>
          <p:cNvPr id="16" name="Shape 14"/>
          <p:cNvSpPr/>
          <p:nvPr/>
        </p:nvSpPr>
        <p:spPr>
          <a:xfrm>
            <a:off x="777240" y="4800600"/>
            <a:ext cx="502920" cy="502920"/>
          </a:xfrm>
          <a:prstGeom prst="ellipse">
            <a:avLst/>
          </a:prstGeom>
          <a:solidFill>
            <a:srgbClr val="2C6E49"/>
          </a:solidFill>
          <a:ln/>
        </p:spPr>
      </p:sp>
      <p:sp>
        <p:nvSpPr>
          <p:cNvPr id="17" name="Text 15"/>
          <p:cNvSpPr/>
          <p:nvPr/>
        </p:nvSpPr>
        <p:spPr>
          <a:xfrm>
            <a:off x="777240" y="4800600"/>
            <a:ext cx="502920" cy="502920"/>
          </a:xfrm>
          <a:prstGeom prst="rect">
            <a:avLst/>
          </a:prstGeom>
          <a:noFill/>
          <a:ln/>
        </p:spPr>
        <p:txBody>
          <a:bodyPr wrap="square" rtlCol="0" anchor="ctr"/>
          <a:lstStyle/>
          <a:p>
            <a:pPr algn="ctr" indent="0" marL="0">
              <a:buNone/>
            </a:pPr>
            <a:r>
              <a:rPr lang="en-US" sz="1600" b="1" dirty="0">
                <a:solidFill>
                  <a:srgbClr val="173A28"/>
                </a:solidFill>
                <a:latin typeface="Malgun Gothic" pitchFamily="34" charset="0"/>
                <a:ea typeface="Malgun Gothic" pitchFamily="34" charset="-122"/>
                <a:cs typeface="Malgun Gothic" pitchFamily="34" charset="-120"/>
              </a:rPr>
              <a:t>3</a:t>
            </a:r>
            <a:endParaRPr lang="en-US" sz="1600" dirty="0"/>
          </a:p>
        </p:txBody>
      </p:sp>
      <p:sp>
        <p:nvSpPr>
          <p:cNvPr id="18" name="Text 16"/>
          <p:cNvSpPr/>
          <p:nvPr/>
        </p:nvSpPr>
        <p:spPr>
          <a:xfrm>
            <a:off x="1463040" y="4672584"/>
            <a:ext cx="4297680" cy="365760"/>
          </a:xfrm>
          <a:prstGeom prst="rect">
            <a:avLst/>
          </a:prstGeom>
          <a:noFill/>
          <a:ln/>
        </p:spPr>
        <p:txBody>
          <a:bodyPr wrap="square" lIns="0" tIns="0" rIns="0" bIns="0" rtlCol="0" anchor="ctr"/>
          <a:lstStyle/>
          <a:p>
            <a:pPr indent="0" marL="0">
              <a:buNone/>
            </a:pPr>
            <a:r>
              <a:rPr lang="en-US" sz="1550" b="1" dirty="0">
                <a:solidFill>
                  <a:srgbClr val="173A28"/>
                </a:solidFill>
                <a:latin typeface="Malgun Gothic" pitchFamily="34" charset="0"/>
                <a:ea typeface="Malgun Gothic" pitchFamily="34" charset="-122"/>
                <a:cs typeface="Malgun Gothic" pitchFamily="34" charset="-120"/>
              </a:rPr>
              <a:t>관광 · 교육 · 직판</a:t>
            </a:r>
            <a:endParaRPr lang="en-US" sz="1550" dirty="0"/>
          </a:p>
        </p:txBody>
      </p:sp>
      <p:sp>
        <p:nvSpPr>
          <p:cNvPr id="19" name="Text 17"/>
          <p:cNvSpPr/>
          <p:nvPr/>
        </p:nvSpPr>
        <p:spPr>
          <a:xfrm>
            <a:off x="1463040" y="5038344"/>
            <a:ext cx="4297680" cy="457200"/>
          </a:xfrm>
          <a:prstGeom prst="rect">
            <a:avLst/>
          </a:prstGeom>
          <a:noFill/>
          <a:ln/>
        </p:spPr>
        <p:txBody>
          <a:bodyPr wrap="square" lIns="0" tIns="0" rIns="0" bIns="0" rtlCol="0" anchor="ctr"/>
          <a:lstStyle/>
          <a:p>
            <a:pPr indent="0" marL="0">
              <a:buNone/>
            </a:pPr>
            <a:r>
              <a:rPr lang="en-US" sz="1200" dirty="0">
                <a:solidFill>
                  <a:srgbClr val="20302A"/>
                </a:solidFill>
                <a:latin typeface="Malgun Gothic" pitchFamily="34" charset="0"/>
                <a:ea typeface="Malgun Gothic" pitchFamily="34" charset="-122"/>
                <a:cs typeface="Malgun Gothic" pitchFamily="34" charset="-120"/>
              </a:rPr>
              <a:t>고부가 결합 모델로 매출 · 팬덤 동시 확보</a:t>
            </a:r>
            <a:endParaRPr lang="en-US" sz="1200" dirty="0"/>
          </a:p>
        </p:txBody>
      </p:sp>
      <p:sp>
        <p:nvSpPr>
          <p:cNvPr id="20" name="Shape 18"/>
          <p:cNvSpPr/>
          <p:nvPr/>
        </p:nvSpPr>
        <p:spPr>
          <a:xfrm>
            <a:off x="6263640" y="1691640"/>
            <a:ext cx="5394960" cy="4160520"/>
          </a:xfrm>
          <a:prstGeom prst="roundRect">
            <a:avLst>
              <a:gd name="adj" fmla="val 2637"/>
            </a:avLst>
          </a:prstGeom>
          <a:solidFill>
            <a:srgbClr val="173A28"/>
          </a:solidFill>
          <a:ln/>
        </p:spPr>
      </p:sp>
      <p:sp>
        <p:nvSpPr>
          <p:cNvPr id="21" name="Text 19"/>
          <p:cNvSpPr/>
          <p:nvPr/>
        </p:nvSpPr>
        <p:spPr>
          <a:xfrm>
            <a:off x="6537960" y="1920240"/>
            <a:ext cx="4937760" cy="365760"/>
          </a:xfrm>
          <a:prstGeom prst="rect">
            <a:avLst/>
          </a:prstGeom>
          <a:noFill/>
          <a:ln/>
        </p:spPr>
        <p:txBody>
          <a:bodyPr wrap="square" lIns="0" tIns="0" rIns="0" bIns="0" rtlCol="0" anchor="ctr"/>
          <a:lstStyle/>
          <a:p>
            <a:pPr indent="0" marL="0">
              <a:buNone/>
            </a:pPr>
            <a:r>
              <a:rPr lang="en-US" sz="1600" b="1" dirty="0">
                <a:solidFill>
                  <a:srgbClr val="C79A3A"/>
                </a:solidFill>
                <a:latin typeface="Malgun Gothic" pitchFamily="34" charset="0"/>
                <a:ea typeface="Malgun Gothic" pitchFamily="34" charset="-122"/>
                <a:cs typeface="Malgun Gothic" pitchFamily="34" charset="-120"/>
              </a:rPr>
              <a:t>현장에서 배운 것 (Lessons)</a:t>
            </a:r>
            <a:endParaRPr lang="en-US" sz="1600" dirty="0"/>
          </a:p>
        </p:txBody>
      </p:sp>
      <p:sp>
        <p:nvSpPr>
          <p:cNvPr id="22" name="Text 20"/>
          <p:cNvSpPr/>
          <p:nvPr/>
        </p:nvSpPr>
        <p:spPr>
          <a:xfrm>
            <a:off x="6720840" y="2423160"/>
            <a:ext cx="4800600" cy="3108960"/>
          </a:xfrm>
          <a:prstGeom prst="rect">
            <a:avLst/>
          </a:prstGeom>
          <a:noFill/>
          <a:ln/>
        </p:spPr>
        <p:txBody>
          <a:bodyPr wrap="square" lIns="0" tIns="0" rIns="0" bIns="0" rtlCol="0" anchor="t"/>
          <a:lstStyle/>
          <a:p>
            <a:pPr marL="342900" indent="-342900">
              <a:spcAft>
                <a:spcPts val="1400"/>
              </a:spcAft>
              <a:buSzPct val="100000"/>
              <a:buChar char="•"/>
            </a:pPr>
            <a:r>
              <a:rPr lang="en-US" sz="1400" dirty="0">
                <a:solidFill>
                  <a:srgbClr val="F3EFE4"/>
                </a:solidFill>
                <a:latin typeface="Malgun Gothic" pitchFamily="34" charset="0"/>
                <a:ea typeface="Malgun Gothic" pitchFamily="34" charset="-122"/>
                <a:cs typeface="Malgun Gothic" pitchFamily="34" charset="-120"/>
              </a:rPr>
              <a:t>저지 원유의 가공적성이 제품 다각화의 핵심 동력</a:t>
            </a:r>
            <a:endParaRPr lang="en-US" sz="1400" dirty="0"/>
          </a:p>
          <a:p>
            <a:pPr marL="342900" indent="-342900">
              <a:spcAft>
                <a:spcPts val="1400"/>
              </a:spcAft>
              <a:buSzPct val="100000"/>
              <a:buChar char="•"/>
            </a:pPr>
            <a:r>
              <a:rPr lang="en-US" sz="1400" dirty="0">
                <a:solidFill>
                  <a:srgbClr val="F3EFE4"/>
                </a:solidFill>
                <a:latin typeface="Malgun Gothic" pitchFamily="34" charset="0"/>
                <a:ea typeface="Malgun Gothic" pitchFamily="34" charset="-122"/>
                <a:cs typeface="Malgun Gothic" pitchFamily="34" charset="-120"/>
              </a:rPr>
              <a:t>D2C 자사몰 + 구독이 소량 프리미엄에 가장 맞는 채널</a:t>
            </a:r>
            <a:endParaRPr lang="en-US" sz="1400" dirty="0"/>
          </a:p>
          <a:p>
            <a:pPr marL="342900" indent="-342900">
              <a:spcAft>
                <a:spcPts val="1400"/>
              </a:spcAft>
              <a:buSzPct val="100000"/>
              <a:buChar char="•"/>
            </a:pPr>
            <a:r>
              <a:rPr lang="en-US" sz="1400" dirty="0">
                <a:solidFill>
                  <a:srgbClr val="F3EFE4"/>
                </a:solidFill>
                <a:latin typeface="Malgun Gothic" pitchFamily="34" charset="0"/>
                <a:ea typeface="Malgun Gothic" pitchFamily="34" charset="-122"/>
                <a:cs typeface="Malgun Gothic" pitchFamily="34" charset="-120"/>
              </a:rPr>
              <a:t>순환농업 서사가 가격 프리미엄을 정당화한다</a:t>
            </a:r>
            <a:endParaRPr lang="en-US" sz="1400" dirty="0"/>
          </a:p>
          <a:p>
            <a:pPr marL="342900" indent="-342900">
              <a:spcAft>
                <a:spcPts val="1400"/>
              </a:spcAft>
              <a:buSzPct val="100000"/>
              <a:buChar char="•"/>
            </a:pPr>
            <a:r>
              <a:rPr lang="en-US" sz="1400" dirty="0">
                <a:solidFill>
                  <a:srgbClr val="F3EFE4"/>
                </a:solidFill>
                <a:latin typeface="Malgun Gothic" pitchFamily="34" charset="0"/>
                <a:ea typeface="Malgun Gothic" pitchFamily="34" charset="-122"/>
                <a:cs typeface="Malgun Gothic" pitchFamily="34" charset="-120"/>
              </a:rPr>
              <a:t>초기 과제 — 소량 생산의 규모 · 물류 · 콜드체인 관리</a:t>
            </a:r>
            <a:endParaRPr lang="en-US" sz="1400" dirty="0"/>
          </a:p>
        </p:txBody>
      </p:sp>
      <p:sp>
        <p:nvSpPr>
          <p:cNvPr id="23" name="Text 21"/>
          <p:cNvSpPr/>
          <p:nvPr/>
        </p:nvSpPr>
        <p:spPr>
          <a:xfrm>
            <a:off x="6263640" y="5989320"/>
            <a:ext cx="5394960" cy="274320"/>
          </a:xfrm>
          <a:prstGeom prst="rect">
            <a:avLst/>
          </a:prstGeom>
          <a:noFill/>
          <a:ln/>
        </p:spPr>
        <p:txBody>
          <a:bodyPr wrap="square" lIns="0" tIns="0" rIns="0" bIns="0" rtlCol="0" anchor="ctr"/>
          <a:lstStyle/>
          <a:p>
            <a:pPr indent="0" marL="0">
              <a:buNone/>
            </a:pPr>
            <a:r>
              <a:rPr lang="en-US" sz="950" i="1" dirty="0">
                <a:solidFill>
                  <a:srgbClr val="6B7B72"/>
                </a:solidFill>
                <a:latin typeface="Malgun Gothic" pitchFamily="34" charset="0"/>
                <a:ea typeface="Malgun Gothic" pitchFamily="34" charset="-122"/>
                <a:cs typeface="Malgun Gothic" pitchFamily="34" charset="-120"/>
              </a:rPr>
              <a:t>※ 성과 수치는 파일럿 · 목표 기준 (확정 실적은 별도 검증)</a:t>
            </a:r>
            <a:endParaRPr lang="en-US" sz="950" dirty="0"/>
          </a:p>
        </p:txBody>
      </p:sp>
      <p:sp>
        <p:nvSpPr>
          <p:cNvPr id="24" name="Text 22"/>
          <p:cNvSpPr/>
          <p:nvPr/>
        </p:nvSpPr>
        <p:spPr>
          <a:xfrm>
            <a:off x="502920" y="6419088"/>
            <a:ext cx="9601200" cy="292608"/>
          </a:xfrm>
          <a:prstGeom prst="rect">
            <a:avLst/>
          </a:prstGeom>
          <a:noFill/>
          <a:ln/>
        </p:spPr>
        <p:txBody>
          <a:bodyPr wrap="square" lIns="0" tIns="0" rIns="0" bIns="0" rtlCol="0" anchor="ctr"/>
          <a:lstStyle/>
          <a:p>
            <a:pPr algn="l" indent="0" marL="0">
              <a:buNone/>
            </a:pPr>
            <a:r>
              <a:rPr lang="en-US" sz="900" dirty="0">
                <a:solidFill>
                  <a:srgbClr val="6B7B72"/>
                </a:solidFill>
                <a:latin typeface="Malgun Gothic" pitchFamily="34" charset="0"/>
                <a:ea typeface="Malgun Gothic" pitchFamily="34" charset="-122"/>
                <a:cs typeface="Malgun Gothic" pitchFamily="34" charset="-120"/>
              </a:rPr>
              <a:t>저지종 젖소 산업 활성화를 위한 국제 심포지엄  ·  송영신목장 하현제 원장</a:t>
            </a:r>
            <a:endParaRPr lang="en-US" sz="900" dirty="0"/>
          </a:p>
        </p:txBody>
      </p:sp>
      <p:sp>
        <p:nvSpPr>
          <p:cNvPr id="25" name="Text 23"/>
          <p:cNvSpPr/>
          <p:nvPr/>
        </p:nvSpPr>
        <p:spPr>
          <a:xfrm>
            <a:off x="11292840" y="6419088"/>
            <a:ext cx="411480" cy="292608"/>
          </a:xfrm>
          <a:prstGeom prst="rect">
            <a:avLst/>
          </a:prstGeom>
          <a:noFill/>
          <a:ln/>
        </p:spPr>
        <p:txBody>
          <a:bodyPr wrap="square" lIns="0" tIns="0" rIns="0" bIns="0" rtlCol="0" anchor="ctr"/>
          <a:lstStyle/>
          <a:p>
            <a:pPr algn="r" indent="0" marL="0">
              <a:buNone/>
            </a:pPr>
            <a:r>
              <a:rPr lang="en-US" sz="900" dirty="0">
                <a:solidFill>
                  <a:srgbClr val="6B7B72"/>
                </a:solidFill>
                <a:latin typeface="Malgun Gothic" pitchFamily="34" charset="0"/>
                <a:ea typeface="Malgun Gothic" pitchFamily="34" charset="-122"/>
                <a:cs typeface="Malgun Gothic"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lIns="0" tIns="0" rIns="0" bIns="0" rtlCol="0" anchor="ctr"/>
          <a:lstStyle/>
          <a:p>
            <a:pPr indent="0" marL="0">
              <a:buNone/>
            </a:pPr>
            <a:r>
              <a:rPr lang="en-US" sz="1200" b="1" spc="200" kern="0" dirty="0">
                <a:solidFill>
                  <a:srgbClr val="C79A3A"/>
                </a:solidFill>
                <a:latin typeface="Malgun Gothic" pitchFamily="34" charset="0"/>
                <a:ea typeface="Malgun Gothic" pitchFamily="34" charset="-122"/>
                <a:cs typeface="Malgun Gothic" pitchFamily="34" charset="-120"/>
              </a:rPr>
              <a:t>제언</a:t>
            </a:r>
            <a:endParaRPr lang="en-US" sz="1200" dirty="0"/>
          </a:p>
        </p:txBody>
      </p:sp>
      <p:sp>
        <p:nvSpPr>
          <p:cNvPr id="3" name="Text 1"/>
          <p:cNvSpPr/>
          <p:nvPr/>
        </p:nvSpPr>
        <p:spPr>
          <a:xfrm>
            <a:off x="530352" y="749808"/>
            <a:ext cx="11064240" cy="685800"/>
          </a:xfrm>
          <a:prstGeom prst="rect">
            <a:avLst/>
          </a:prstGeom>
          <a:noFill/>
          <a:ln/>
        </p:spPr>
        <p:txBody>
          <a:bodyPr wrap="square" lIns="0" tIns="0" rIns="0" bIns="0" rtlCol="0" anchor="ctr"/>
          <a:lstStyle/>
          <a:p>
            <a:pPr indent="0" marL="0">
              <a:buNone/>
            </a:pPr>
            <a:r>
              <a:rPr lang="en-US" sz="3100" b="1" dirty="0">
                <a:solidFill>
                  <a:srgbClr val="173A28"/>
                </a:solidFill>
                <a:latin typeface="Malgun Gothic" pitchFamily="34" charset="0"/>
                <a:ea typeface="Malgun Gothic" pitchFamily="34" charset="-122"/>
                <a:cs typeface="Malgun Gothic" pitchFamily="34" charset="-120"/>
              </a:rPr>
              <a:t>저지종 젖소 산업 활성화를 위한 5대 제언</a:t>
            </a:r>
            <a:endParaRPr lang="en-US" sz="3100" dirty="0"/>
          </a:p>
        </p:txBody>
      </p:sp>
      <p:sp>
        <p:nvSpPr>
          <p:cNvPr id="4" name="Shape 2"/>
          <p:cNvSpPr/>
          <p:nvPr/>
        </p:nvSpPr>
        <p:spPr>
          <a:xfrm>
            <a:off x="548640" y="1691640"/>
            <a:ext cx="11109960" cy="768096"/>
          </a:xfrm>
          <a:prstGeom prst="roundRect">
            <a:avLst>
              <a:gd name="adj" fmla="val 9524"/>
            </a:avLst>
          </a:prstGeom>
          <a:solidFill>
            <a:srgbClr val="EAF2EC"/>
          </a:solidFill>
          <a:ln/>
        </p:spPr>
      </p:sp>
      <p:sp>
        <p:nvSpPr>
          <p:cNvPr id="5" name="Shape 3"/>
          <p:cNvSpPr/>
          <p:nvPr/>
        </p:nvSpPr>
        <p:spPr>
          <a:xfrm>
            <a:off x="749808" y="1837944"/>
            <a:ext cx="475488" cy="475488"/>
          </a:xfrm>
          <a:prstGeom prst="ellipse">
            <a:avLst/>
          </a:prstGeom>
          <a:solidFill>
            <a:srgbClr val="C79A3A"/>
          </a:solidFill>
          <a:ln/>
        </p:spPr>
      </p:sp>
      <p:sp>
        <p:nvSpPr>
          <p:cNvPr id="6" name="Text 4"/>
          <p:cNvSpPr/>
          <p:nvPr/>
        </p:nvSpPr>
        <p:spPr>
          <a:xfrm>
            <a:off x="749808" y="1837944"/>
            <a:ext cx="475488" cy="475488"/>
          </a:xfrm>
          <a:prstGeom prst="rect">
            <a:avLst/>
          </a:prstGeom>
          <a:noFill/>
          <a:ln/>
        </p:spPr>
        <p:txBody>
          <a:bodyPr wrap="square" rtlCol="0" anchor="ctr"/>
          <a:lstStyle/>
          <a:p>
            <a:pPr algn="ctr" indent="0" marL="0">
              <a:buNone/>
            </a:pPr>
            <a:r>
              <a:rPr lang="en-US" sz="1600" b="1" dirty="0">
                <a:solidFill>
                  <a:srgbClr val="173A28"/>
                </a:solidFill>
                <a:latin typeface="Malgun Gothic" pitchFamily="34" charset="0"/>
                <a:ea typeface="Malgun Gothic" pitchFamily="34" charset="-122"/>
                <a:cs typeface="Malgun Gothic" pitchFamily="34" charset="-120"/>
              </a:rPr>
              <a:t>1</a:t>
            </a:r>
            <a:endParaRPr lang="en-US" sz="1600" dirty="0"/>
          </a:p>
        </p:txBody>
      </p:sp>
      <p:sp>
        <p:nvSpPr>
          <p:cNvPr id="7" name="Text 5"/>
          <p:cNvSpPr/>
          <p:nvPr/>
        </p:nvSpPr>
        <p:spPr>
          <a:xfrm>
            <a:off x="1417320" y="1737360"/>
            <a:ext cx="2834640" cy="676656"/>
          </a:xfrm>
          <a:prstGeom prst="rect">
            <a:avLst/>
          </a:prstGeom>
          <a:noFill/>
          <a:ln/>
        </p:spPr>
        <p:txBody>
          <a:bodyPr wrap="square" lIns="0" tIns="0" rIns="0" bIns="0" rtlCol="0" anchor="ctr"/>
          <a:lstStyle/>
          <a:p>
            <a:pPr indent="0" marL="0">
              <a:buNone/>
            </a:pPr>
            <a:r>
              <a:rPr lang="en-US" sz="1600" b="1" dirty="0">
                <a:solidFill>
                  <a:srgbClr val="173A28"/>
                </a:solidFill>
                <a:latin typeface="Malgun Gothic" pitchFamily="34" charset="0"/>
                <a:ea typeface="Malgun Gothic" pitchFamily="34" charset="-122"/>
                <a:cs typeface="Malgun Gothic" pitchFamily="34" charset="-120"/>
              </a:rPr>
              <a:t>개량기반 강화</a:t>
            </a:r>
            <a:endParaRPr lang="en-US" sz="1600" dirty="0"/>
          </a:p>
        </p:txBody>
      </p:sp>
      <p:sp>
        <p:nvSpPr>
          <p:cNvPr id="8" name="Text 6"/>
          <p:cNvSpPr/>
          <p:nvPr/>
        </p:nvSpPr>
        <p:spPr>
          <a:xfrm>
            <a:off x="4297680" y="1737360"/>
            <a:ext cx="7178040" cy="676656"/>
          </a:xfrm>
          <a:prstGeom prst="rect">
            <a:avLst/>
          </a:prstGeom>
          <a:noFill/>
          <a:ln/>
        </p:spPr>
        <p:txBody>
          <a:bodyPr wrap="square" lIns="0" tIns="0" rIns="0" bIns="0" rtlCol="0" anchor="ctr"/>
          <a:lstStyle/>
          <a:p>
            <a:pPr indent="0" marL="0">
              <a:buNone/>
            </a:pPr>
            <a:r>
              <a:rPr lang="en-US" sz="1300" dirty="0">
                <a:solidFill>
                  <a:srgbClr val="20302A"/>
                </a:solidFill>
                <a:latin typeface="Malgun Gothic" pitchFamily="34" charset="0"/>
                <a:ea typeface="Malgun Gothic" pitchFamily="34" charset="-122"/>
                <a:cs typeface="Malgun Gothic" pitchFamily="34" charset="-120"/>
              </a:rPr>
              <a:t>저지 A2A2 개량 · 유전능력평가 연계 (축산원 · 경기도 사업과 연결)</a:t>
            </a:r>
            <a:endParaRPr lang="en-US" sz="1300" dirty="0"/>
          </a:p>
        </p:txBody>
      </p:sp>
      <p:sp>
        <p:nvSpPr>
          <p:cNvPr id="9" name="Shape 7"/>
          <p:cNvSpPr/>
          <p:nvPr/>
        </p:nvSpPr>
        <p:spPr>
          <a:xfrm>
            <a:off x="548640" y="2569464"/>
            <a:ext cx="11109960" cy="768096"/>
          </a:xfrm>
          <a:prstGeom prst="roundRect">
            <a:avLst>
              <a:gd name="adj" fmla="val 9524"/>
            </a:avLst>
          </a:prstGeom>
          <a:solidFill>
            <a:srgbClr val="FFFFFF"/>
          </a:solidFill>
          <a:ln w="15240">
            <a:solidFill>
              <a:srgbClr val="EAF2EC"/>
            </a:solidFill>
            <a:prstDash val="solid"/>
          </a:ln>
        </p:spPr>
      </p:sp>
      <p:sp>
        <p:nvSpPr>
          <p:cNvPr id="10" name="Shape 8"/>
          <p:cNvSpPr/>
          <p:nvPr/>
        </p:nvSpPr>
        <p:spPr>
          <a:xfrm>
            <a:off x="749808" y="2715768"/>
            <a:ext cx="475488" cy="475488"/>
          </a:xfrm>
          <a:prstGeom prst="ellipse">
            <a:avLst/>
          </a:prstGeom>
          <a:solidFill>
            <a:srgbClr val="C79A3A"/>
          </a:solidFill>
          <a:ln/>
        </p:spPr>
      </p:sp>
      <p:sp>
        <p:nvSpPr>
          <p:cNvPr id="11" name="Text 9"/>
          <p:cNvSpPr/>
          <p:nvPr/>
        </p:nvSpPr>
        <p:spPr>
          <a:xfrm>
            <a:off x="749808" y="2715768"/>
            <a:ext cx="475488" cy="475488"/>
          </a:xfrm>
          <a:prstGeom prst="rect">
            <a:avLst/>
          </a:prstGeom>
          <a:noFill/>
          <a:ln/>
        </p:spPr>
        <p:txBody>
          <a:bodyPr wrap="square" rtlCol="0" anchor="ctr"/>
          <a:lstStyle/>
          <a:p>
            <a:pPr algn="ctr" indent="0" marL="0">
              <a:buNone/>
            </a:pPr>
            <a:r>
              <a:rPr lang="en-US" sz="1600" b="1" dirty="0">
                <a:solidFill>
                  <a:srgbClr val="173A28"/>
                </a:solidFill>
                <a:latin typeface="Malgun Gothic" pitchFamily="34" charset="0"/>
                <a:ea typeface="Malgun Gothic" pitchFamily="34" charset="-122"/>
                <a:cs typeface="Malgun Gothic" pitchFamily="34" charset="-120"/>
              </a:rPr>
              <a:t>2</a:t>
            </a:r>
            <a:endParaRPr lang="en-US" sz="1600" dirty="0"/>
          </a:p>
        </p:txBody>
      </p:sp>
      <p:sp>
        <p:nvSpPr>
          <p:cNvPr id="12" name="Text 10"/>
          <p:cNvSpPr/>
          <p:nvPr/>
        </p:nvSpPr>
        <p:spPr>
          <a:xfrm>
            <a:off x="1417320" y="2615184"/>
            <a:ext cx="2834640" cy="676656"/>
          </a:xfrm>
          <a:prstGeom prst="rect">
            <a:avLst/>
          </a:prstGeom>
          <a:noFill/>
          <a:ln/>
        </p:spPr>
        <p:txBody>
          <a:bodyPr wrap="square" lIns="0" tIns="0" rIns="0" bIns="0" rtlCol="0" anchor="ctr"/>
          <a:lstStyle/>
          <a:p>
            <a:pPr indent="0" marL="0">
              <a:buNone/>
            </a:pPr>
            <a:r>
              <a:rPr lang="en-US" sz="1600" b="1" dirty="0">
                <a:solidFill>
                  <a:srgbClr val="173A28"/>
                </a:solidFill>
                <a:latin typeface="Malgun Gothic" pitchFamily="34" charset="0"/>
                <a:ea typeface="Malgun Gothic" pitchFamily="34" charset="-122"/>
                <a:cs typeface="Malgun Gothic" pitchFamily="34" charset="-120"/>
              </a:rPr>
              <a:t>산업화 인프라</a:t>
            </a:r>
            <a:endParaRPr lang="en-US" sz="1600" dirty="0"/>
          </a:p>
        </p:txBody>
      </p:sp>
      <p:sp>
        <p:nvSpPr>
          <p:cNvPr id="13" name="Text 11"/>
          <p:cNvSpPr/>
          <p:nvPr/>
        </p:nvSpPr>
        <p:spPr>
          <a:xfrm>
            <a:off x="4297680" y="2615184"/>
            <a:ext cx="7178040" cy="676656"/>
          </a:xfrm>
          <a:prstGeom prst="rect">
            <a:avLst/>
          </a:prstGeom>
          <a:noFill/>
          <a:ln/>
        </p:spPr>
        <p:txBody>
          <a:bodyPr wrap="square" lIns="0" tIns="0" rIns="0" bIns="0" rtlCol="0" anchor="ctr"/>
          <a:lstStyle/>
          <a:p>
            <a:pPr indent="0" marL="0">
              <a:buNone/>
            </a:pPr>
            <a:r>
              <a:rPr lang="en-US" sz="1300" dirty="0">
                <a:solidFill>
                  <a:srgbClr val="20302A"/>
                </a:solidFill>
                <a:latin typeface="Malgun Gothic" pitchFamily="34" charset="0"/>
                <a:ea typeface="Malgun Gothic" pitchFamily="34" charset="-122"/>
                <a:cs typeface="Malgun Gothic" pitchFamily="34" charset="-120"/>
              </a:rPr>
              <a:t>소규모 유가공 · 가공적성 활용을 지원하는 산업화 인프라</a:t>
            </a:r>
            <a:endParaRPr lang="en-US" sz="1300" dirty="0"/>
          </a:p>
        </p:txBody>
      </p:sp>
      <p:sp>
        <p:nvSpPr>
          <p:cNvPr id="14" name="Shape 12"/>
          <p:cNvSpPr/>
          <p:nvPr/>
        </p:nvSpPr>
        <p:spPr>
          <a:xfrm>
            <a:off x="548640" y="3447288"/>
            <a:ext cx="11109960" cy="768096"/>
          </a:xfrm>
          <a:prstGeom prst="roundRect">
            <a:avLst>
              <a:gd name="adj" fmla="val 9524"/>
            </a:avLst>
          </a:prstGeom>
          <a:solidFill>
            <a:srgbClr val="EAF2EC"/>
          </a:solidFill>
          <a:ln/>
        </p:spPr>
      </p:sp>
      <p:sp>
        <p:nvSpPr>
          <p:cNvPr id="15" name="Shape 13"/>
          <p:cNvSpPr/>
          <p:nvPr/>
        </p:nvSpPr>
        <p:spPr>
          <a:xfrm>
            <a:off x="749808" y="3593592"/>
            <a:ext cx="475488" cy="475488"/>
          </a:xfrm>
          <a:prstGeom prst="ellipse">
            <a:avLst/>
          </a:prstGeom>
          <a:solidFill>
            <a:srgbClr val="C79A3A"/>
          </a:solidFill>
          <a:ln/>
        </p:spPr>
      </p:sp>
      <p:sp>
        <p:nvSpPr>
          <p:cNvPr id="16" name="Text 14"/>
          <p:cNvSpPr/>
          <p:nvPr/>
        </p:nvSpPr>
        <p:spPr>
          <a:xfrm>
            <a:off x="749808" y="3593592"/>
            <a:ext cx="475488" cy="475488"/>
          </a:xfrm>
          <a:prstGeom prst="rect">
            <a:avLst/>
          </a:prstGeom>
          <a:noFill/>
          <a:ln/>
        </p:spPr>
        <p:txBody>
          <a:bodyPr wrap="square" rtlCol="0" anchor="ctr"/>
          <a:lstStyle/>
          <a:p>
            <a:pPr algn="ctr" indent="0" marL="0">
              <a:buNone/>
            </a:pPr>
            <a:r>
              <a:rPr lang="en-US" sz="1600" b="1" dirty="0">
                <a:solidFill>
                  <a:srgbClr val="173A28"/>
                </a:solidFill>
                <a:latin typeface="Malgun Gothic" pitchFamily="34" charset="0"/>
                <a:ea typeface="Malgun Gothic" pitchFamily="34" charset="-122"/>
                <a:cs typeface="Malgun Gothic" pitchFamily="34" charset="-120"/>
              </a:rPr>
              <a:t>3</a:t>
            </a:r>
            <a:endParaRPr lang="en-US" sz="1600" dirty="0"/>
          </a:p>
        </p:txBody>
      </p:sp>
      <p:sp>
        <p:nvSpPr>
          <p:cNvPr id="17" name="Text 15"/>
          <p:cNvSpPr/>
          <p:nvPr/>
        </p:nvSpPr>
        <p:spPr>
          <a:xfrm>
            <a:off x="1417320" y="3493008"/>
            <a:ext cx="2834640" cy="676656"/>
          </a:xfrm>
          <a:prstGeom prst="rect">
            <a:avLst/>
          </a:prstGeom>
          <a:noFill/>
          <a:ln/>
        </p:spPr>
        <p:txBody>
          <a:bodyPr wrap="square" lIns="0" tIns="0" rIns="0" bIns="0" rtlCol="0" anchor="ctr"/>
          <a:lstStyle/>
          <a:p>
            <a:pPr indent="0" marL="0">
              <a:buNone/>
            </a:pPr>
            <a:r>
              <a:rPr lang="en-US" sz="1600" b="1" dirty="0">
                <a:solidFill>
                  <a:srgbClr val="173A28"/>
                </a:solidFill>
                <a:latin typeface="Malgun Gothic" pitchFamily="34" charset="0"/>
                <a:ea typeface="Malgun Gothic" pitchFamily="34" charset="-122"/>
                <a:cs typeface="Malgun Gothic" pitchFamily="34" charset="-120"/>
              </a:rPr>
              <a:t>판로 지원</a:t>
            </a:r>
            <a:endParaRPr lang="en-US" sz="1600" dirty="0"/>
          </a:p>
        </p:txBody>
      </p:sp>
      <p:sp>
        <p:nvSpPr>
          <p:cNvPr id="18" name="Text 16"/>
          <p:cNvSpPr/>
          <p:nvPr/>
        </p:nvSpPr>
        <p:spPr>
          <a:xfrm>
            <a:off x="4297680" y="3493008"/>
            <a:ext cx="7178040" cy="676656"/>
          </a:xfrm>
          <a:prstGeom prst="rect">
            <a:avLst/>
          </a:prstGeom>
          <a:noFill/>
          <a:ln/>
        </p:spPr>
        <p:txBody>
          <a:bodyPr wrap="square" lIns="0" tIns="0" rIns="0" bIns="0" rtlCol="0" anchor="ctr"/>
          <a:lstStyle/>
          <a:p>
            <a:pPr indent="0" marL="0">
              <a:buNone/>
            </a:pPr>
            <a:r>
              <a:rPr lang="en-US" sz="1300" dirty="0">
                <a:solidFill>
                  <a:srgbClr val="20302A"/>
                </a:solidFill>
                <a:latin typeface="Malgun Gothic" pitchFamily="34" charset="0"/>
                <a:ea typeface="Malgun Gothic" pitchFamily="34" charset="-122"/>
                <a:cs typeface="Malgun Gothic" pitchFamily="34" charset="-120"/>
              </a:rPr>
              <a:t>D2C 자사몰 · 정기구독 · 6차산업 판로 확대 지원</a:t>
            </a:r>
            <a:endParaRPr lang="en-US" sz="1300" dirty="0"/>
          </a:p>
        </p:txBody>
      </p:sp>
      <p:sp>
        <p:nvSpPr>
          <p:cNvPr id="19" name="Shape 17"/>
          <p:cNvSpPr/>
          <p:nvPr/>
        </p:nvSpPr>
        <p:spPr>
          <a:xfrm>
            <a:off x="548640" y="4325112"/>
            <a:ext cx="11109960" cy="768096"/>
          </a:xfrm>
          <a:prstGeom prst="roundRect">
            <a:avLst>
              <a:gd name="adj" fmla="val 9524"/>
            </a:avLst>
          </a:prstGeom>
          <a:solidFill>
            <a:srgbClr val="FFFFFF"/>
          </a:solidFill>
          <a:ln w="15240">
            <a:solidFill>
              <a:srgbClr val="EAF2EC"/>
            </a:solidFill>
            <a:prstDash val="solid"/>
          </a:ln>
        </p:spPr>
      </p:sp>
      <p:sp>
        <p:nvSpPr>
          <p:cNvPr id="20" name="Shape 18"/>
          <p:cNvSpPr/>
          <p:nvPr/>
        </p:nvSpPr>
        <p:spPr>
          <a:xfrm>
            <a:off x="749808" y="4471416"/>
            <a:ext cx="475488" cy="475488"/>
          </a:xfrm>
          <a:prstGeom prst="ellipse">
            <a:avLst/>
          </a:prstGeom>
          <a:solidFill>
            <a:srgbClr val="C79A3A"/>
          </a:solidFill>
          <a:ln/>
        </p:spPr>
      </p:sp>
      <p:sp>
        <p:nvSpPr>
          <p:cNvPr id="21" name="Text 19"/>
          <p:cNvSpPr/>
          <p:nvPr/>
        </p:nvSpPr>
        <p:spPr>
          <a:xfrm>
            <a:off x="749808" y="4471416"/>
            <a:ext cx="475488" cy="475488"/>
          </a:xfrm>
          <a:prstGeom prst="rect">
            <a:avLst/>
          </a:prstGeom>
          <a:noFill/>
          <a:ln/>
        </p:spPr>
        <p:txBody>
          <a:bodyPr wrap="square" rtlCol="0" anchor="ctr"/>
          <a:lstStyle/>
          <a:p>
            <a:pPr algn="ctr" indent="0" marL="0">
              <a:buNone/>
            </a:pPr>
            <a:r>
              <a:rPr lang="en-US" sz="1600" b="1" dirty="0">
                <a:solidFill>
                  <a:srgbClr val="173A28"/>
                </a:solidFill>
                <a:latin typeface="Malgun Gothic" pitchFamily="34" charset="0"/>
                <a:ea typeface="Malgun Gothic" pitchFamily="34" charset="-122"/>
                <a:cs typeface="Malgun Gothic" pitchFamily="34" charset="-120"/>
              </a:rPr>
              <a:t>4</a:t>
            </a:r>
            <a:endParaRPr lang="en-US" sz="1600" dirty="0"/>
          </a:p>
        </p:txBody>
      </p:sp>
      <p:sp>
        <p:nvSpPr>
          <p:cNvPr id="22" name="Text 20"/>
          <p:cNvSpPr/>
          <p:nvPr/>
        </p:nvSpPr>
        <p:spPr>
          <a:xfrm>
            <a:off x="1417320" y="4370832"/>
            <a:ext cx="2834640" cy="676656"/>
          </a:xfrm>
          <a:prstGeom prst="rect">
            <a:avLst/>
          </a:prstGeom>
          <a:noFill/>
          <a:ln/>
        </p:spPr>
        <p:txBody>
          <a:bodyPr wrap="square" lIns="0" tIns="0" rIns="0" bIns="0" rtlCol="0" anchor="ctr"/>
          <a:lstStyle/>
          <a:p>
            <a:pPr indent="0" marL="0">
              <a:buNone/>
            </a:pPr>
            <a:r>
              <a:rPr lang="en-US" sz="1600" b="1" dirty="0">
                <a:solidFill>
                  <a:srgbClr val="173A28"/>
                </a:solidFill>
                <a:latin typeface="Malgun Gothic" pitchFamily="34" charset="0"/>
                <a:ea typeface="Malgun Gothic" pitchFamily="34" charset="-122"/>
                <a:cs typeface="Malgun Gothic" pitchFamily="34" charset="-120"/>
              </a:rPr>
              <a:t>프리미엄 표준</a:t>
            </a:r>
            <a:endParaRPr lang="en-US" sz="1600" dirty="0"/>
          </a:p>
        </p:txBody>
      </p:sp>
      <p:sp>
        <p:nvSpPr>
          <p:cNvPr id="23" name="Text 21"/>
          <p:cNvSpPr/>
          <p:nvPr/>
        </p:nvSpPr>
        <p:spPr>
          <a:xfrm>
            <a:off x="4297680" y="4370832"/>
            <a:ext cx="7178040" cy="676656"/>
          </a:xfrm>
          <a:prstGeom prst="rect">
            <a:avLst/>
          </a:prstGeom>
          <a:noFill/>
          <a:ln/>
        </p:spPr>
        <p:txBody>
          <a:bodyPr wrap="square" lIns="0" tIns="0" rIns="0" bIns="0" rtlCol="0" anchor="ctr"/>
          <a:lstStyle/>
          <a:p>
            <a:pPr indent="0" marL="0">
              <a:buNone/>
            </a:pPr>
            <a:r>
              <a:rPr lang="en-US" sz="1300" dirty="0">
                <a:solidFill>
                  <a:srgbClr val="20302A"/>
                </a:solidFill>
                <a:latin typeface="Malgun Gothic" pitchFamily="34" charset="0"/>
                <a:ea typeface="Malgun Gothic" pitchFamily="34" charset="-122"/>
                <a:cs typeface="Malgun Gothic" pitchFamily="34" charset="-120"/>
              </a:rPr>
              <a:t>순환농업 · 저탄소 · 동물복지 인증과 연계한 저지 프리미엄 표준</a:t>
            </a:r>
            <a:endParaRPr lang="en-US" sz="1300" dirty="0"/>
          </a:p>
        </p:txBody>
      </p:sp>
      <p:sp>
        <p:nvSpPr>
          <p:cNvPr id="24" name="Shape 22"/>
          <p:cNvSpPr/>
          <p:nvPr/>
        </p:nvSpPr>
        <p:spPr>
          <a:xfrm>
            <a:off x="548640" y="5202936"/>
            <a:ext cx="11109960" cy="768096"/>
          </a:xfrm>
          <a:prstGeom prst="roundRect">
            <a:avLst>
              <a:gd name="adj" fmla="val 9524"/>
            </a:avLst>
          </a:prstGeom>
          <a:solidFill>
            <a:srgbClr val="EAF2EC"/>
          </a:solidFill>
          <a:ln/>
        </p:spPr>
      </p:sp>
      <p:sp>
        <p:nvSpPr>
          <p:cNvPr id="25" name="Shape 23"/>
          <p:cNvSpPr/>
          <p:nvPr/>
        </p:nvSpPr>
        <p:spPr>
          <a:xfrm>
            <a:off x="749808" y="5349240"/>
            <a:ext cx="475488" cy="475488"/>
          </a:xfrm>
          <a:prstGeom prst="ellipse">
            <a:avLst/>
          </a:prstGeom>
          <a:solidFill>
            <a:srgbClr val="C79A3A"/>
          </a:solidFill>
          <a:ln/>
        </p:spPr>
      </p:sp>
      <p:sp>
        <p:nvSpPr>
          <p:cNvPr id="26" name="Text 24"/>
          <p:cNvSpPr/>
          <p:nvPr/>
        </p:nvSpPr>
        <p:spPr>
          <a:xfrm>
            <a:off x="749808" y="5349240"/>
            <a:ext cx="475488" cy="475488"/>
          </a:xfrm>
          <a:prstGeom prst="rect">
            <a:avLst/>
          </a:prstGeom>
          <a:noFill/>
          <a:ln/>
        </p:spPr>
        <p:txBody>
          <a:bodyPr wrap="square" rtlCol="0" anchor="ctr"/>
          <a:lstStyle/>
          <a:p>
            <a:pPr algn="ctr" indent="0" marL="0">
              <a:buNone/>
            </a:pPr>
            <a:r>
              <a:rPr lang="en-US" sz="1600" b="1" dirty="0">
                <a:solidFill>
                  <a:srgbClr val="173A28"/>
                </a:solidFill>
                <a:latin typeface="Malgun Gothic" pitchFamily="34" charset="0"/>
                <a:ea typeface="Malgun Gothic" pitchFamily="34" charset="-122"/>
                <a:cs typeface="Malgun Gothic" pitchFamily="34" charset="-120"/>
              </a:rPr>
              <a:t>5</a:t>
            </a:r>
            <a:endParaRPr lang="en-US" sz="1600" dirty="0"/>
          </a:p>
        </p:txBody>
      </p:sp>
      <p:sp>
        <p:nvSpPr>
          <p:cNvPr id="27" name="Text 25"/>
          <p:cNvSpPr/>
          <p:nvPr/>
        </p:nvSpPr>
        <p:spPr>
          <a:xfrm>
            <a:off x="1417320" y="5248656"/>
            <a:ext cx="2834640" cy="676656"/>
          </a:xfrm>
          <a:prstGeom prst="rect">
            <a:avLst/>
          </a:prstGeom>
          <a:noFill/>
          <a:ln/>
        </p:spPr>
        <p:txBody>
          <a:bodyPr wrap="square" lIns="0" tIns="0" rIns="0" bIns="0" rtlCol="0" anchor="ctr"/>
          <a:lstStyle/>
          <a:p>
            <a:pPr indent="0" marL="0">
              <a:buNone/>
            </a:pPr>
            <a:r>
              <a:rPr lang="en-US" sz="1600" b="1" dirty="0">
                <a:solidFill>
                  <a:srgbClr val="173A28"/>
                </a:solidFill>
                <a:latin typeface="Malgun Gothic" pitchFamily="34" charset="0"/>
                <a:ea typeface="Malgun Gothic" pitchFamily="34" charset="-122"/>
                <a:cs typeface="Malgun Gothic" pitchFamily="34" charset="-120"/>
              </a:rPr>
              <a:t>협력 클러스터</a:t>
            </a:r>
            <a:endParaRPr lang="en-US" sz="1600" dirty="0"/>
          </a:p>
        </p:txBody>
      </p:sp>
      <p:sp>
        <p:nvSpPr>
          <p:cNvPr id="28" name="Text 26"/>
          <p:cNvSpPr/>
          <p:nvPr/>
        </p:nvSpPr>
        <p:spPr>
          <a:xfrm>
            <a:off x="4297680" y="5248656"/>
            <a:ext cx="7178040" cy="676656"/>
          </a:xfrm>
          <a:prstGeom prst="rect">
            <a:avLst/>
          </a:prstGeom>
          <a:noFill/>
          <a:ln/>
        </p:spPr>
        <p:txBody>
          <a:bodyPr wrap="square" lIns="0" tIns="0" rIns="0" bIns="0" rtlCol="0" anchor="ctr"/>
          <a:lstStyle/>
          <a:p>
            <a:pPr indent="0" marL="0">
              <a:buNone/>
            </a:pPr>
            <a:r>
              <a:rPr lang="en-US" sz="1300" dirty="0">
                <a:solidFill>
                  <a:srgbClr val="20302A"/>
                </a:solidFill>
                <a:latin typeface="Malgun Gothic" pitchFamily="34" charset="0"/>
                <a:ea typeface="Malgun Gothic" pitchFamily="34" charset="-122"/>
                <a:cs typeface="Malgun Gothic" pitchFamily="34" charset="-120"/>
              </a:rPr>
              <a:t>산 · 학 · 연 · 관 협력 클러스터로 지식 · 판로 공유</a:t>
            </a:r>
            <a:endParaRPr lang="en-US" sz="1300" dirty="0"/>
          </a:p>
        </p:txBody>
      </p:sp>
      <p:sp>
        <p:nvSpPr>
          <p:cNvPr id="29" name="Text 27"/>
          <p:cNvSpPr/>
          <p:nvPr/>
        </p:nvSpPr>
        <p:spPr>
          <a:xfrm>
            <a:off x="502920" y="6419088"/>
            <a:ext cx="9601200" cy="292608"/>
          </a:xfrm>
          <a:prstGeom prst="rect">
            <a:avLst/>
          </a:prstGeom>
          <a:noFill/>
          <a:ln/>
        </p:spPr>
        <p:txBody>
          <a:bodyPr wrap="square" lIns="0" tIns="0" rIns="0" bIns="0" rtlCol="0" anchor="ctr"/>
          <a:lstStyle/>
          <a:p>
            <a:pPr algn="l" indent="0" marL="0">
              <a:buNone/>
            </a:pPr>
            <a:r>
              <a:rPr lang="en-US" sz="900" dirty="0">
                <a:solidFill>
                  <a:srgbClr val="6B7B72"/>
                </a:solidFill>
                <a:latin typeface="Malgun Gothic" pitchFamily="34" charset="0"/>
                <a:ea typeface="Malgun Gothic" pitchFamily="34" charset="-122"/>
                <a:cs typeface="Malgun Gothic" pitchFamily="34" charset="-120"/>
              </a:rPr>
              <a:t>저지종 젖소 산업 활성화를 위한 국제 심포지엄  ·  송영신목장 하현제 원장</a:t>
            </a:r>
            <a:endParaRPr lang="en-US" sz="900" dirty="0"/>
          </a:p>
        </p:txBody>
      </p:sp>
      <p:sp>
        <p:nvSpPr>
          <p:cNvPr id="30" name="Text 28"/>
          <p:cNvSpPr/>
          <p:nvPr/>
        </p:nvSpPr>
        <p:spPr>
          <a:xfrm>
            <a:off x="11292840" y="6419088"/>
            <a:ext cx="411480" cy="292608"/>
          </a:xfrm>
          <a:prstGeom prst="rect">
            <a:avLst/>
          </a:prstGeom>
          <a:noFill/>
          <a:ln/>
        </p:spPr>
        <p:txBody>
          <a:bodyPr wrap="square" lIns="0" tIns="0" rIns="0" bIns="0" rtlCol="0" anchor="ctr"/>
          <a:lstStyle/>
          <a:p>
            <a:pPr algn="r" indent="0" marL="0">
              <a:buNone/>
            </a:pPr>
            <a:r>
              <a:rPr lang="en-US" sz="900" dirty="0">
                <a:solidFill>
                  <a:srgbClr val="6B7B72"/>
                </a:solidFill>
                <a:latin typeface="Malgun Gothic" pitchFamily="34" charset="0"/>
                <a:ea typeface="Malgun Gothic" pitchFamily="34" charset="-122"/>
                <a:cs typeface="Malgun Gothic"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3A28"/>
        </a:solidFill>
      </p:bgPr>
    </p:bg>
    <p:spTree>
      <p:nvGrpSpPr>
        <p:cNvPr id="1" name=""/>
        <p:cNvGrpSpPr/>
        <p:nvPr/>
      </p:nvGrpSpPr>
      <p:grpSpPr>
        <a:xfrm>
          <a:off x="0" y="0"/>
          <a:ext cx="0" cy="0"/>
          <a:chOff x="0" y="0"/>
          <a:chExt cx="0" cy="0"/>
        </a:xfrm>
      </p:grpSpPr>
      <p:sp>
        <p:nvSpPr>
          <p:cNvPr id="2" name="Shape 0"/>
          <p:cNvSpPr/>
          <p:nvPr/>
        </p:nvSpPr>
        <p:spPr>
          <a:xfrm>
            <a:off x="8961120" y="2926080"/>
            <a:ext cx="5943600" cy="5943600"/>
          </a:xfrm>
          <a:prstGeom prst="ellipse">
            <a:avLst/>
          </a:prstGeom>
          <a:solidFill>
            <a:srgbClr val="2C6E49"/>
          </a:solidFill>
          <a:ln/>
        </p:spPr>
      </p:sp>
      <p:sp>
        <p:nvSpPr>
          <p:cNvPr id="3" name="Shape 1"/>
          <p:cNvSpPr/>
          <p:nvPr/>
        </p:nvSpPr>
        <p:spPr>
          <a:xfrm>
            <a:off x="10881360" y="4480560"/>
            <a:ext cx="2560320" cy="2560320"/>
          </a:xfrm>
          <a:prstGeom prst="ellipse">
            <a:avLst/>
          </a:prstGeom>
          <a:solidFill>
            <a:srgbClr val="C79A3A"/>
          </a:solidFill>
          <a:ln/>
        </p:spPr>
      </p:sp>
      <p:sp>
        <p:nvSpPr>
          <p:cNvPr id="4" name="Text 2"/>
          <p:cNvSpPr/>
          <p:nvPr/>
        </p:nvSpPr>
        <p:spPr>
          <a:xfrm>
            <a:off x="685800" y="1280160"/>
            <a:ext cx="7315200" cy="365760"/>
          </a:xfrm>
          <a:prstGeom prst="rect">
            <a:avLst/>
          </a:prstGeom>
          <a:noFill/>
          <a:ln/>
        </p:spPr>
        <p:txBody>
          <a:bodyPr wrap="square" lIns="0" tIns="0" rIns="0" bIns="0" rtlCol="0" anchor="ctr"/>
          <a:lstStyle/>
          <a:p>
            <a:pPr indent="0" marL="0">
              <a:buNone/>
            </a:pPr>
            <a:r>
              <a:rPr lang="en-US" sz="1400" b="1" spc="200" kern="0" dirty="0">
                <a:solidFill>
                  <a:srgbClr val="C79A3A"/>
                </a:solidFill>
                <a:latin typeface="Malgun Gothic" pitchFamily="34" charset="0"/>
                <a:ea typeface="Malgun Gothic" pitchFamily="34" charset="-122"/>
                <a:cs typeface="Malgun Gothic" pitchFamily="34" charset="-120"/>
              </a:rPr>
              <a:t>맺음말</a:t>
            </a:r>
            <a:endParaRPr lang="en-US" sz="1400" dirty="0"/>
          </a:p>
        </p:txBody>
      </p:sp>
      <p:sp>
        <p:nvSpPr>
          <p:cNvPr id="5" name="Text 3"/>
          <p:cNvSpPr/>
          <p:nvPr/>
        </p:nvSpPr>
        <p:spPr>
          <a:xfrm>
            <a:off x="658368" y="1828800"/>
            <a:ext cx="10058400" cy="1554480"/>
          </a:xfrm>
          <a:prstGeom prst="rect">
            <a:avLst/>
          </a:prstGeom>
          <a:noFill/>
          <a:ln/>
        </p:spPr>
        <p:txBody>
          <a:bodyPr wrap="square" lIns="0" tIns="0" rIns="0" bIns="0" rtlCol="0" anchor="ctr"/>
          <a:lstStyle/>
          <a:p>
            <a:pPr indent="0" marL="0">
              <a:lnSpc>
                <a:spcPct val="110000"/>
              </a:lnSpc>
              <a:buNone/>
            </a:pPr>
            <a:r>
              <a:rPr lang="en-US" sz="3800" b="1" dirty="0">
                <a:solidFill>
                  <a:srgbClr val="FFFFFF"/>
                </a:solidFill>
                <a:latin typeface="Malgun Gothic" pitchFamily="34" charset="0"/>
                <a:ea typeface="Malgun Gothic" pitchFamily="34" charset="-122"/>
                <a:cs typeface="Malgun Gothic" pitchFamily="34" charset="-120"/>
              </a:rPr>
              <a:t>저지종의 미래는</a:t>
            </a:r>
            <a:endParaRPr lang="en-US" sz="3800" dirty="0"/>
          </a:p>
          <a:p>
            <a:pPr indent="0" marL="0">
              <a:lnSpc>
                <a:spcPct val="110000"/>
              </a:lnSpc>
              <a:buNone/>
            </a:pPr>
            <a:r>
              <a:rPr lang="en-US" sz="3800" b="1" dirty="0">
                <a:solidFill>
                  <a:srgbClr val="FFFFFF"/>
                </a:solidFill>
                <a:latin typeface="Malgun Gothic" pitchFamily="34" charset="0"/>
                <a:ea typeface="Malgun Gothic" pitchFamily="34" charset="-122"/>
                <a:cs typeface="Malgun Gothic" pitchFamily="34" charset="-120"/>
              </a:rPr>
              <a:t>'많이'가 아니라 '다르게'에 있습니다</a:t>
            </a:r>
            <a:endParaRPr lang="en-US" sz="3800" dirty="0"/>
          </a:p>
        </p:txBody>
      </p:sp>
      <p:sp>
        <p:nvSpPr>
          <p:cNvPr id="6" name="Text 4"/>
          <p:cNvSpPr/>
          <p:nvPr/>
        </p:nvSpPr>
        <p:spPr>
          <a:xfrm>
            <a:off x="685800" y="3703320"/>
            <a:ext cx="9601200" cy="914400"/>
          </a:xfrm>
          <a:prstGeom prst="rect">
            <a:avLst/>
          </a:prstGeom>
          <a:noFill/>
          <a:ln/>
        </p:spPr>
        <p:txBody>
          <a:bodyPr wrap="square" lIns="0" tIns="0" rIns="0" bIns="0" rtlCol="0" anchor="t"/>
          <a:lstStyle/>
          <a:p>
            <a:pPr indent="0" marL="0">
              <a:buNone/>
            </a:pPr>
            <a:r>
              <a:rPr lang="en-US" sz="1800" dirty="0">
                <a:solidFill>
                  <a:srgbClr val="F3EFE4"/>
                </a:solidFill>
                <a:latin typeface="Malgun Gothic" pitchFamily="34" charset="0"/>
                <a:ea typeface="Malgun Gothic" pitchFamily="34" charset="-122"/>
                <a:cs typeface="Malgun Gothic" pitchFamily="34" charset="-120"/>
              </a:rPr>
              <a:t>소량 · 고품질을 </a:t>
            </a:r>
            <a:pPr indent="0" marL="0">
              <a:buNone/>
            </a:pPr>
            <a:r>
              <a:rPr lang="en-US" sz="1800" b="1" dirty="0">
                <a:solidFill>
                  <a:srgbClr val="C79A3A"/>
                </a:solidFill>
                <a:latin typeface="Malgun Gothic" pitchFamily="34" charset="0"/>
                <a:ea typeface="Malgun Gothic" pitchFamily="34" charset="-122"/>
                <a:cs typeface="Malgun Gothic" pitchFamily="34" charset="-120"/>
              </a:rPr>
              <a:t>가공 · 브랜드 · D2C</a:t>
            </a:r>
            <a:pPr indent="0" marL="0">
              <a:buNone/>
            </a:pPr>
            <a:r>
              <a:rPr lang="en-US" sz="1800" dirty="0">
                <a:solidFill>
                  <a:srgbClr val="F3EFE4"/>
                </a:solidFill>
                <a:latin typeface="Malgun Gothic" pitchFamily="34" charset="0"/>
                <a:ea typeface="Malgun Gothic" pitchFamily="34" charset="-122"/>
                <a:cs typeface="Malgun Gothic" pitchFamily="34" charset="-120"/>
              </a:rPr>
              <a:t>로 산업화하는 것 — </a:t>
            </a:r>
            <a:pPr indent="0" marL="0">
              <a:buNone/>
            </a:pPr>
            <a:r>
              <a:rPr lang="en-US" sz="1800" b="1" dirty="0">
                <a:solidFill>
                  <a:srgbClr val="FFFFFF"/>
                </a:solidFill>
                <a:latin typeface="Malgun Gothic" pitchFamily="34" charset="0"/>
                <a:ea typeface="Malgun Gothic" pitchFamily="34" charset="-122"/>
                <a:cs typeface="Malgun Gothic" pitchFamily="34" charset="-120"/>
              </a:rPr>
              <a:t>송영신목장 모델은 저지 산업화의 실증 사례입니다.</a:t>
            </a:r>
            <a:endParaRPr lang="en-US" sz="1800" dirty="0"/>
          </a:p>
        </p:txBody>
      </p:sp>
      <p:sp>
        <p:nvSpPr>
          <p:cNvPr id="7" name="Shape 5"/>
          <p:cNvSpPr/>
          <p:nvPr/>
        </p:nvSpPr>
        <p:spPr>
          <a:xfrm>
            <a:off x="713232" y="5029200"/>
            <a:ext cx="5943600" cy="0"/>
          </a:xfrm>
          <a:prstGeom prst="line">
            <a:avLst/>
          </a:prstGeom>
          <a:noFill/>
          <a:ln w="19050">
            <a:solidFill>
              <a:srgbClr val="2C6E49"/>
            </a:solidFill>
            <a:prstDash val="solid"/>
          </a:ln>
        </p:spPr>
      </p:sp>
      <p:sp>
        <p:nvSpPr>
          <p:cNvPr id="8" name="Text 6"/>
          <p:cNvSpPr/>
          <p:nvPr/>
        </p:nvSpPr>
        <p:spPr>
          <a:xfrm>
            <a:off x="685800" y="5257800"/>
            <a:ext cx="5486400" cy="548640"/>
          </a:xfrm>
          <a:prstGeom prst="rect">
            <a:avLst/>
          </a:prstGeom>
          <a:noFill/>
          <a:ln/>
        </p:spPr>
        <p:txBody>
          <a:bodyPr wrap="square" lIns="0" tIns="0" rIns="0" bIns="0" rtlCol="0" anchor="ctr"/>
          <a:lstStyle/>
          <a:p>
            <a:pPr indent="0" marL="0">
              <a:buNone/>
            </a:pPr>
            <a:r>
              <a:rPr lang="en-US" sz="2600" b="1" dirty="0">
                <a:solidFill>
                  <a:srgbClr val="C79A3A"/>
                </a:solidFill>
                <a:latin typeface="Malgun Gothic" pitchFamily="34" charset="0"/>
                <a:ea typeface="Malgun Gothic" pitchFamily="34" charset="-122"/>
                <a:cs typeface="Malgun Gothic" pitchFamily="34" charset="-120"/>
              </a:rPr>
              <a:t>감사합니다.</a:t>
            </a:r>
            <a:endParaRPr lang="en-US" sz="2600" dirty="0"/>
          </a:p>
        </p:txBody>
      </p:sp>
      <p:sp>
        <p:nvSpPr>
          <p:cNvPr id="9" name="Text 7"/>
          <p:cNvSpPr/>
          <p:nvPr/>
        </p:nvSpPr>
        <p:spPr>
          <a:xfrm>
            <a:off x="685800" y="5943600"/>
            <a:ext cx="10058400" cy="365760"/>
          </a:xfrm>
          <a:prstGeom prst="rect">
            <a:avLst/>
          </a:prstGeom>
          <a:noFill/>
          <a:ln/>
        </p:spPr>
        <p:txBody>
          <a:bodyPr wrap="square" lIns="0" tIns="0" rIns="0" bIns="0" rtlCol="0" anchor="ctr"/>
          <a:lstStyle/>
          <a:p>
            <a:pPr indent="0" marL="0">
              <a:buNone/>
            </a:pPr>
            <a:r>
              <a:rPr lang="en-US" sz="1300" dirty="0">
                <a:solidFill>
                  <a:srgbClr val="F3EFE4"/>
                </a:solidFill>
                <a:latin typeface="Malgun Gothic" pitchFamily="34" charset="0"/>
                <a:ea typeface="Malgun Gothic" pitchFamily="34" charset="-122"/>
                <a:cs typeface="Malgun Gothic" pitchFamily="34" charset="-120"/>
              </a:rPr>
              <a:t>송영신목장  ·  하현제 원장   |   shop.a2jerseymilk.com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2026-07-23T01:51:10Z</dcterms:created>
  <dcterms:modified xsi:type="dcterms:W3CDTF">2026-07-23T01:51:10Z</dcterms:modified>
</cp:coreProperties>
</file>
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-1005840"/>
            <a:ext cx="2926080" cy="292608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원유 활용 산업화 사례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생산에서 마케팅까지 — 송영신목장 A2 저지 건초우유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4892040"/>
            <a:ext cx="5394960" cy="1051560"/>
          </a:xfrm>
          <a:prstGeom prst="roundRect">
            <a:avLst>
              <a:gd name="adj" fmla="val 8696"/>
            </a:avLst>
          </a:prstGeom>
          <a:solidFill>
            <a:srgbClr val="2C6E4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 </a:t>
            </a:r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하현제 원장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축산 바이오테크 · 환경기술 · 순환농업 시스템 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0" y="5440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8. 26 (수)  ·  평택 골든하버호텔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· 목장 소개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흙에서 소비자까지, 저지 원유를 산업화하다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846320" cy="4480560"/>
          </a:xfrm>
          <a:prstGeom prst="roundRect">
            <a:avLst>
              <a:gd name="adj" fmla="val 2449"/>
            </a:avLst>
          </a:prstGeom>
          <a:solidFill>
            <a:srgbClr val="173A28"/>
          </a:solidFill>
          <a:ln/>
        </p:spPr>
      </p:sp>
      <p:sp>
        <p:nvSpPr>
          <p:cNvPr id="5" name="Shape 3"/>
          <p:cNvSpPr/>
          <p:nvPr/>
        </p:nvSpPr>
        <p:spPr>
          <a:xfrm>
            <a:off x="2514600" y="1965960"/>
            <a:ext cx="914400" cy="91440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6" name="Text 4"/>
          <p:cNvSpPr/>
          <p:nvPr/>
        </p:nvSpPr>
        <p:spPr>
          <a:xfrm>
            <a:off x="2514600" y="1965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하현제 원장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· Genetics · D2O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114800"/>
            <a:ext cx="4297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수의사 · 축산 바이오테크 전문가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환경기술 개발 · 순환농업 시스템 설계</a:t>
            </a:r>
            <a:endParaRPr lang="en-US" sz="1350" dirty="0"/>
          </a:p>
          <a:p>
            <a:pPr algn="l"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유전자 → 사양 → 환경 → 데이터 → 식품 → 탄소를 잇는 통합 생태계 설계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0" y="169164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5897880" y="181051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6차산업 목장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216712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생산 · 가공 · 브랜드 · 판매를 하나로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0" y="278892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5897880" y="290779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7880" y="326440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 조사료(건초) 중심 사양 + A2 유전형 프리미엄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0" y="388620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/>
        </p:spPr>
      </p:sp>
      <p:sp>
        <p:nvSpPr>
          <p:cNvPr id="17" name="Text 15"/>
          <p:cNvSpPr/>
          <p:nvPr/>
        </p:nvSpPr>
        <p:spPr>
          <a:xfrm>
            <a:off x="5897880" y="400507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기반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97880" y="436168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힐링퇴비로 흙으로 되돌리는 Soil to Soul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0" y="4983480"/>
            <a:ext cx="598932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/>
        </p:spPr>
      </p:sp>
      <p:sp>
        <p:nvSpPr>
          <p:cNvPr id="20" name="Text 18"/>
          <p:cNvSpPr/>
          <p:nvPr/>
        </p:nvSpPr>
        <p:spPr>
          <a:xfrm>
            <a:off x="5897880" y="5102352"/>
            <a:ext cx="5577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생태계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897880" y="5458968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Genetics(수정란) · 한국동물병원 · D2O 환경기술과 연결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순서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내용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7568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75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911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저지종인가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13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원유의 차별성과 산업화 필요성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11112" y="207568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20756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360920" y="191109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기반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60920" y="2313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Soil to Soul — 품질과 브랜드 서사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358444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584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341985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산업화 전략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8221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가치사슬 전체를 설계한다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320040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11112" y="358444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35844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360920" y="341985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· 제조공정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60920" y="38221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라인업 다각화와 품질 관리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509320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5093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554480" y="492861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마케팅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54480" y="5330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자사몰 중심 D2C · 정기구독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4709160"/>
            <a:ext cx="553212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EAF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11112" y="5093208"/>
            <a:ext cx="548640" cy="54864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31" name="Text 29"/>
          <p:cNvSpPr/>
          <p:nvPr/>
        </p:nvSpPr>
        <p:spPr>
          <a:xfrm>
            <a:off x="6611112" y="50932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360920" y="492861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성과와 제언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360920" y="5330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6차산업 성과와 산업 활성화 제언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왜 저지종인가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원유는 '많이'가 아니라 '다르게'로 승부한다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강점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EAF2E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945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유고형분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 · 유단백이 풍부 → 요거트 · 카이막 · 치즈 가공적성 우수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EAF2E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풍미 · 크리미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황금빛(golden) 진한 우유 — 감각적 차별화가 뚜렷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09160"/>
            <a:ext cx="5349240" cy="1170432"/>
          </a:xfrm>
          <a:prstGeom prst="roundRect">
            <a:avLst>
              <a:gd name="adj" fmla="val 6250"/>
            </a:avLst>
          </a:prstGeom>
          <a:solidFill>
            <a:srgbClr val="EAF2EC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8463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A2A2 프리미엄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5212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유전형 확보 시 'A2 우유'로 고부가 포지셔닝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2057400"/>
            <a:ext cx="5394960" cy="3566160"/>
          </a:xfrm>
          <a:prstGeom prst="roundRect">
            <a:avLst>
              <a:gd name="adj" fmla="val 3077"/>
            </a:avLst>
          </a:prstGeom>
          <a:solidFill>
            <a:srgbClr val="17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문제의식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720840" y="2743200"/>
            <a:ext cx="4800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저지는 생산량이 적고 원유 원가가 높다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'그대로' 파는 방식으로는 수익성에 한계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대량 · 저가 경쟁에 뛰어들 수 없는 구조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0" y="4526280"/>
            <a:ext cx="4800600" cy="914400"/>
          </a:xfrm>
          <a:prstGeom prst="roundRect">
            <a:avLst>
              <a:gd name="adj" fmla="val 8000"/>
            </a:avLst>
          </a:prstGeom>
          <a:solidFill>
            <a:srgbClr val="C79A3A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617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가공 + 브랜드 '산업화'가 저지 사업의 필수 전략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순환농업 기반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Soil to Soul — 품질과 브랜드 서사를 동시에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73A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624328" y="1828800"/>
            <a:ext cx="320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26080" y="182880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2C6E49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18288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910328" y="1828800"/>
            <a:ext cx="320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212080" y="182880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73A28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18288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196328" y="1828800"/>
            <a:ext cx="320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98080" y="182880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2C6E49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8288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우유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482328" y="1828800"/>
            <a:ext cx="320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784080" y="182880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173A28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0" y="18288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사람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0080" y="333756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EAF2EC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3611880"/>
            <a:ext cx="502920" cy="50292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96112" y="42519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건초 중심 사양 (Hay Milk)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96112" y="4892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 조사료를 급여해 원유의 자연성 · 풍미를 확보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43400" y="333756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EAF2EC"/>
          </a:solidFill>
          <a:ln/>
        </p:spPr>
      </p:sp>
      <p:sp>
        <p:nvSpPr>
          <p:cNvPr id="24" name="Shape 22"/>
          <p:cNvSpPr/>
          <p:nvPr/>
        </p:nvSpPr>
        <p:spPr>
          <a:xfrm>
            <a:off x="4617720" y="3611880"/>
            <a:ext cx="502920" cy="50292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5" name="Text 23"/>
          <p:cNvSpPr/>
          <p:nvPr/>
        </p:nvSpPr>
        <p:spPr>
          <a:xfrm>
            <a:off x="461772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4599432" y="42519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D2O 순환농업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4599432" y="4892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분뇨 → 베딩 · 힐링퇴비 → 토양 환원의 완결형 순환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46720" y="333756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EAF2EC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3611880"/>
            <a:ext cx="502920" cy="50292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2104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302752" y="42519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저탄소 · 동물복지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8302752" y="48920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· 복지 스토리가 프리미엄 가격의 '근거'가 된다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산업화 전략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원유를 '파는' 것이 아니라 '가치사슬'을 설계한다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121408" cy="22860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22225">
            <a:solidFill>
              <a:srgbClr val="2C6E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6736" y="2084832"/>
            <a:ext cx="585216" cy="585216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20848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184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· A2 · 건초 기반의 고품질 원유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51760" y="1874520"/>
            <a:ext cx="182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121408" cy="22860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22225">
            <a:solidFill>
              <a:srgbClr val="2C6E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02736" y="2084832"/>
            <a:ext cx="585216" cy="585216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20848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834640" y="27889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71800" y="3200400"/>
            <a:ext cx="184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요거트 · 카이막 등 제품 다각화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182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20640" y="1874520"/>
            <a:ext cx="2121408" cy="22860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22225">
            <a:solidFill>
              <a:srgbClr val="2C6E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88736" y="2084832"/>
            <a:ext cx="585216" cy="585216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/>
          <p:nvPr/>
        </p:nvSpPr>
        <p:spPr>
          <a:xfrm>
            <a:off x="5888736" y="20848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120640" y="27889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257800" y="3200400"/>
            <a:ext cx="184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서사로 프리미엄 정당화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223760" y="1874520"/>
            <a:ext cx="182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406640" y="1874520"/>
            <a:ext cx="2121408" cy="22860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22225">
            <a:solidFill>
              <a:srgbClr val="2C6E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4736" y="2084832"/>
            <a:ext cx="585216" cy="585216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4" name="Text 22"/>
          <p:cNvSpPr/>
          <p:nvPr/>
        </p:nvSpPr>
        <p:spPr>
          <a:xfrm>
            <a:off x="8174736" y="20848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406640" y="27889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200400"/>
            <a:ext cx="184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자사몰 · 정기구독 D2C 중심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509760" y="1874520"/>
            <a:ext cx="182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692640" y="1874520"/>
            <a:ext cx="2121408" cy="22860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22225">
            <a:solidFill>
              <a:srgbClr val="2C6E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60736" y="2084832"/>
            <a:ext cx="585216" cy="585216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30" name="Text 28"/>
          <p:cNvSpPr/>
          <p:nvPr/>
        </p:nvSpPr>
        <p:spPr>
          <a:xfrm>
            <a:off x="10460736" y="2084832"/>
            <a:ext cx="585216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9692640" y="2788920"/>
            <a:ext cx="212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829800" y="3200400"/>
            <a:ext cx="18470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· 팜투어 체험으로 확장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F4ECD6"/>
          </a:solidFill>
          <a:ln/>
        </p:spPr>
      </p:sp>
      <p:sp>
        <p:nvSpPr>
          <p:cNvPr id="34" name="Text 32"/>
          <p:cNvSpPr/>
          <p:nvPr/>
        </p:nvSpPr>
        <p:spPr>
          <a:xfrm>
            <a:off x="868680" y="457200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 </a:t>
            </a:r>
            <a:pPr indent="0" marL="0">
              <a:buNone/>
            </a:pPr>
            <a:r>
              <a:rPr lang="en-US" sz="16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소량 · 고품질을 무기로 한 </a:t>
            </a:r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포지셔닝</a:t>
            </a:r>
            <a:pPr indent="0" marL="0">
              <a:buNone/>
            </a:pPr>
            <a:r>
              <a:rPr lang="en-US" sz="16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원유 1L의 부가가치를 몇 배로 끌어올리는 구조 설계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제품 라인업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가공적성을 제품 다각화로 연결하다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532120" cy="1874520"/>
          </a:xfrm>
          <a:prstGeom prst="roundRect">
            <a:avLst>
              <a:gd name="adj" fmla="val 4878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1993392"/>
            <a:ext cx="1371600" cy="502920"/>
          </a:xfrm>
          <a:prstGeom prst="roundRect">
            <a:avLst>
              <a:gd name="adj" fmla="val 49091"/>
            </a:avLst>
          </a:prstGeom>
          <a:solidFill>
            <a:srgbClr val="173A28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9933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플래그십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04672" y="3063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진한 풍미의 A2 · 건초우유. 브랜드의 얼굴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737360"/>
            <a:ext cx="5532120" cy="1874520"/>
          </a:xfrm>
          <a:prstGeom prst="roundRect">
            <a:avLst>
              <a:gd name="adj" fmla="val 4878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611112" y="1993392"/>
            <a:ext cx="1371600" cy="502920"/>
          </a:xfrm>
          <a:prstGeom prst="roundRect">
            <a:avLst>
              <a:gd name="adj" fmla="val 49091"/>
            </a:avLst>
          </a:prstGeom>
          <a:solidFill>
            <a:srgbClr val="2C6E49"/>
          </a:solidFill>
          <a:ln/>
        </p:spPr>
      </p:sp>
      <p:sp>
        <p:nvSpPr>
          <p:cNvPr id="11" name="Text 9"/>
          <p:cNvSpPr/>
          <p:nvPr/>
        </p:nvSpPr>
        <p:spPr>
          <a:xfrm>
            <a:off x="6611112" y="19933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611112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요거트 · 그릭요거트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611112" y="3063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높은 고형분으로 되직하고 진한 식감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532120" cy="1874520"/>
          </a:xfrm>
          <a:prstGeom prst="roundRect">
            <a:avLst>
              <a:gd name="adj" fmla="val 4878"/>
            </a:avLst>
          </a:prstGeom>
          <a:solidFill>
            <a:srgbClr val="EAF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04672" y="4096512"/>
            <a:ext cx="1371600" cy="502920"/>
          </a:xfrm>
          <a:prstGeom prst="roundRect">
            <a:avLst>
              <a:gd name="adj" fmla="val 49091"/>
            </a:avLst>
          </a:prstGeom>
          <a:solidFill>
            <a:srgbClr val="C79A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409651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4709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카이막 (Kaymak)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04672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고유고형분을 살린 고급 유크림 별미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3840480"/>
            <a:ext cx="5532120" cy="1874520"/>
          </a:xfrm>
          <a:prstGeom prst="roundRect">
            <a:avLst>
              <a:gd name="adj" fmla="val 4878"/>
            </a:avLst>
          </a:prstGeom>
          <a:solidFill>
            <a:srgbClr val="EAF2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611112" y="4096512"/>
            <a:ext cx="1371600" cy="502920"/>
          </a:xfrm>
          <a:prstGeom prst="roundRect">
            <a:avLst>
              <a:gd name="adj" fmla="val 49091"/>
            </a:avLst>
          </a:prstGeom>
          <a:solidFill>
            <a:srgbClr val="2C6E49"/>
          </a:solidFill>
          <a:ln/>
        </p:spPr>
      </p:sp>
      <p:sp>
        <p:nvSpPr>
          <p:cNvPr id="21" name="Text 19"/>
          <p:cNvSpPr/>
          <p:nvPr/>
        </p:nvSpPr>
        <p:spPr>
          <a:xfrm>
            <a:off x="6611112" y="409651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11112" y="4709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밀크티 · 아이스크림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611112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일상 · 디저트 접점을 넓히는 라인업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제조공정 · 품질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표준화된 공정과 저지 원유의 영양 강점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원유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67712" y="1828800"/>
            <a:ext cx="1554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42316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균질화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50792" y="1828800"/>
            <a:ext cx="1554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20624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살균 75℃/20초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33872" y="1828800"/>
            <a:ext cx="1554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98932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14" name="Text 12"/>
          <p:cNvSpPr/>
          <p:nvPr/>
        </p:nvSpPr>
        <p:spPr>
          <a:xfrm>
            <a:off x="603504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16952" y="1828800"/>
            <a:ext cx="1554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77240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17" name="Text 15"/>
          <p:cNvSpPr/>
          <p:nvPr/>
        </p:nvSpPr>
        <p:spPr>
          <a:xfrm>
            <a:off x="781812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400032" y="1828800"/>
            <a:ext cx="15544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555480" y="1828800"/>
            <a:ext cx="1664208" cy="868680"/>
          </a:xfrm>
          <a:prstGeom prst="roundRect">
            <a:avLst>
              <a:gd name="adj" fmla="val 8421"/>
            </a:avLst>
          </a:prstGeom>
          <a:solidFill>
            <a:srgbClr val="173A28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0" y="1828800"/>
            <a:ext cx="157276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포장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2788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판형 열교환기(plate heat exchanger) 기반 · APV 균질기 · 저온 살균으로 신선도와 풍미 유지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337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저지 건초우유 영양성분  (100 mL 기준)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548640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4ECD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92.64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48640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kcal 열량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32304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4ECD6"/>
          </a:solidFill>
          <a:ln/>
        </p:spPr>
      </p:sp>
      <p:sp>
        <p:nvSpPr>
          <p:cNvPr id="27" name="Text 25"/>
          <p:cNvSpPr/>
          <p:nvPr/>
        </p:nvSpPr>
        <p:spPr>
          <a:xfrm>
            <a:off x="2432304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4.59 g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2432304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단백질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15968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F4ECD6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6.0 g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315968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유지방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199632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AF2EC"/>
          </a:solidFill>
          <a:ln/>
        </p:spPr>
      </p:sp>
      <p:sp>
        <p:nvSpPr>
          <p:cNvPr id="33" name="Text 31"/>
          <p:cNvSpPr/>
          <p:nvPr/>
        </p:nvSpPr>
        <p:spPr>
          <a:xfrm>
            <a:off x="6199632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5.07 g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199632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탄수화물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83296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AF2EC"/>
          </a:solidFill>
          <a:ln/>
        </p:spPr>
      </p:sp>
      <p:sp>
        <p:nvSpPr>
          <p:cNvPr id="36" name="Text 34"/>
          <p:cNvSpPr/>
          <p:nvPr/>
        </p:nvSpPr>
        <p:spPr>
          <a:xfrm>
            <a:off x="8083296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4.75 g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8083296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당류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66960" y="3840480"/>
            <a:ext cx="1737360" cy="1417320"/>
          </a:xfrm>
          <a:prstGeom prst="roundRect">
            <a:avLst>
              <a:gd name="adj" fmla="val 6452"/>
            </a:avLst>
          </a:prstGeom>
          <a:solidFill>
            <a:srgbClr val="EAF2EC"/>
          </a:solidFill>
          <a:ln/>
        </p:spPr>
      </p:sp>
      <p:sp>
        <p:nvSpPr>
          <p:cNvPr id="39" name="Text 37"/>
          <p:cNvSpPr/>
          <p:nvPr/>
        </p:nvSpPr>
        <p:spPr>
          <a:xfrm>
            <a:off x="996696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41.8 mg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9966960" y="4709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나트륨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차별점 —  높은 단백질 · 유지방 함량이 저지 원유의 강점을 그대로 전달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3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114800"/>
            <a:ext cx="5943600" cy="594360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브랜드 전략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Jersey Hay Milk — 흙에서 영혼까지, Soil to Soul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846320" y="1828800"/>
            <a:ext cx="6812280" cy="960120"/>
          </a:xfrm>
          <a:prstGeom prst="roundRect">
            <a:avLst>
              <a:gd name="adj" fmla="val 8571"/>
            </a:avLst>
          </a:prstGeom>
          <a:solidFill>
            <a:srgbClr val="2C6E49"/>
          </a:solidFill>
          <a:ln/>
        </p:spPr>
      </p:sp>
      <p:sp>
        <p:nvSpPr>
          <p:cNvPr id="6" name="Text 4"/>
          <p:cNvSpPr/>
          <p:nvPr/>
        </p:nvSpPr>
        <p:spPr>
          <a:xfrm>
            <a:off x="5074920" y="195681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7492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'Soil to Soul' — 건강한 흙에서 시작해 소비자의 삶까지 잇는 서사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2907792"/>
            <a:ext cx="6812280" cy="960120"/>
          </a:xfrm>
          <a:prstGeom prst="roundRect">
            <a:avLst>
              <a:gd name="adj" fmla="val 8571"/>
            </a:avLst>
          </a:prstGeom>
          <a:solidFill>
            <a:srgbClr val="2C6E49"/>
          </a:solidFill>
          <a:ln/>
        </p:spPr>
      </p:sp>
      <p:sp>
        <p:nvSpPr>
          <p:cNvPr id="9" name="Text 7"/>
          <p:cNvSpPr/>
          <p:nvPr/>
        </p:nvSpPr>
        <p:spPr>
          <a:xfrm>
            <a:off x="5074920" y="303580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3대 자산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74920" y="336499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단백질 · 건초우유(자연 조사료) · 저탄소 순환농업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46320" y="3986784"/>
            <a:ext cx="6812280" cy="960120"/>
          </a:xfrm>
          <a:prstGeom prst="roundRect">
            <a:avLst>
              <a:gd name="adj" fmla="val 8571"/>
            </a:avLst>
          </a:prstGeom>
          <a:solidFill>
            <a:srgbClr val="2C6E49"/>
          </a:solidFill>
          <a:ln/>
        </p:spPr>
      </p:sp>
      <p:sp>
        <p:nvSpPr>
          <p:cNvPr id="12" name="Text 10"/>
          <p:cNvSpPr/>
          <p:nvPr/>
        </p:nvSpPr>
        <p:spPr>
          <a:xfrm>
            <a:off x="5074920" y="4114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포지셔닝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74920" y="444398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· 자연 · 동물복지 — 대량 저가와 명확히 구분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5065776"/>
            <a:ext cx="6812280" cy="960120"/>
          </a:xfrm>
          <a:prstGeom prst="roundRect">
            <a:avLst>
              <a:gd name="adj" fmla="val 8571"/>
            </a:avLst>
          </a:prstGeom>
          <a:solidFill>
            <a:srgbClr val="2C6E49"/>
          </a:solidFill>
          <a:ln/>
        </p:spPr>
      </p:sp>
      <p:sp>
        <p:nvSpPr>
          <p:cNvPr id="15" name="Text 13"/>
          <p:cNvSpPr/>
          <p:nvPr/>
        </p:nvSpPr>
        <p:spPr>
          <a:xfrm>
            <a:off x="5074920" y="5193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표시·광고 규율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74920" y="552297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의학적 치료 표현 배제, 검증된 시험값만 사용 (신뢰 기반)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310896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</a:t>
            </a:r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건강한 흙 → 건강한 소 → 좋은 우유 → 건강한 사람</a:t>
            </a:r>
            <a:pPr algn="l" indent="0" marL="0">
              <a:buNone/>
            </a:pPr>
            <a:r>
              <a:rPr lang="en-US" sz="190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”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마케팅 · 채널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자사몰 중심 D2C — 정기구독으로 재구매를 극대화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3931920"/>
          </a:xfrm>
          <a:prstGeom prst="roundRect">
            <a:avLst>
              <a:gd name="adj" fmla="val 2791"/>
            </a:avLst>
          </a:prstGeom>
          <a:solidFill>
            <a:srgbClr val="173A2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판매 채널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shop.a2jerseymilk.com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브랜드의 공식 온라인 플랫폼이자 모든 A2 저지 건초우유 판매의 중심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4526280" cy="0"/>
          </a:xfrm>
          <a:prstGeom prst="line">
            <a:avLst/>
          </a:prstGeom>
          <a:noFill/>
          <a:ln w="12700">
            <a:solidFill>
              <a:srgbClr val="2C6E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794760"/>
            <a:ext cx="4434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정기구독(구독) 모델 — 신선식품 재구매 극대화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1,000 고객 확보 → 객단가 · 재구매율 향상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팜스토리 콘텐츠 + 카카오채널 CRM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852160" y="1691640"/>
            <a:ext cx="5806440" cy="914400"/>
          </a:xfrm>
          <a:prstGeom prst="roundRect">
            <a:avLst>
              <a:gd name="adj" fmla="val 8000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0" y="181051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D2C 자사몰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080760" y="213055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소량 · 프리미엄 저지 원유에 최적화된 직판 구조. 브랜드 · 고객데이터를 직접 보유</a:t>
            </a:r>
            <a:endParaRPr lang="en-US" sz="1180" dirty="0"/>
          </a:p>
        </p:txBody>
      </p:sp>
      <p:sp>
        <p:nvSpPr>
          <p:cNvPr id="13" name="Shape 11"/>
          <p:cNvSpPr/>
          <p:nvPr/>
        </p:nvSpPr>
        <p:spPr>
          <a:xfrm>
            <a:off x="5852160" y="2715768"/>
            <a:ext cx="5806440" cy="914400"/>
          </a:xfrm>
          <a:prstGeom prst="roundRect">
            <a:avLst>
              <a:gd name="adj" fmla="val 8000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6080760" y="2834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정기구독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080760" y="315468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꾸준한 수요 · 예측 가능한 생산 · 높은 LTV. 신선유가공의 핵심 성장 엔진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5852160" y="3739896"/>
            <a:ext cx="5806440" cy="914400"/>
          </a:xfrm>
          <a:prstGeom prst="roundRect">
            <a:avLst>
              <a:gd name="adj" fmla="val 8000"/>
            </a:avLst>
          </a:prstGeom>
          <a:solidFill>
            <a:srgbClr val="EAF2EC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38587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· SNS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080760" y="4178808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· 목장 이야기로 신뢰와 팬덤 형성, 자사몰 유입으로 연결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5852160" y="4764024"/>
            <a:ext cx="5806440" cy="914400"/>
          </a:xfrm>
          <a:prstGeom prst="roundRect">
            <a:avLst>
              <a:gd name="adj" fmla="val 8000"/>
            </a:avLst>
          </a:prstGeom>
          <a:solidFill>
            <a:srgbClr val="EAF2EC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4882896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확장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080760" y="5202936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· 베이커리 · 프리미엄 식품관 납품으로 채널 다변화</a:t>
            </a:r>
            <a:endParaRPr lang="en-US" sz="1180" dirty="0"/>
          </a:p>
        </p:txBody>
      </p:sp>
      <p:sp>
        <p:nvSpPr>
          <p:cNvPr id="22" name="Text 20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6차산업화 · 교훈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 현장을 브랜드 경험으로, 그리고 배운 것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6차산업화 — 경험을 파는 목장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EAF2EC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423160"/>
            <a:ext cx="502920" cy="50292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423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229514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목장형 카페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660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우유 · 요거트 · 카이막을 현장에서 경험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EAF2EC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611880"/>
            <a:ext cx="502920" cy="50292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11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48386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팜투어 · 체험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8496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현장을 브랜드 경험 공간으로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5349240" cy="1051560"/>
          </a:xfrm>
          <a:prstGeom prst="roundRect">
            <a:avLst>
              <a:gd name="adj" fmla="val 6957"/>
            </a:avLst>
          </a:prstGeom>
          <a:solidFill>
            <a:srgbClr val="EAF2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800600"/>
            <a:ext cx="502920" cy="50292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800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467258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관광 · 교육 · 직판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3834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고부가 결합 모델로 매출 · 팬덤 동시 확보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63640" y="1691640"/>
            <a:ext cx="5394960" cy="4160520"/>
          </a:xfrm>
          <a:prstGeom prst="roundRect">
            <a:avLst>
              <a:gd name="adj" fmla="val 2637"/>
            </a:avLst>
          </a:prstGeom>
          <a:solidFill>
            <a:srgbClr val="173A28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배운 것 (Lessons)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242316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원유의 가공적성이 제품 다각화의 핵심 동력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D2C 자사몰 + 구독이 소량 프리미엄에 가장 맞는 채널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서사가 가격 프리미엄을 정당화한다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과제 — 소량 생산의 규모 · 물류 · 콜드체인 관리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63640" y="59893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성과 수치는 파일럿 · 목표 기준 (확정 실적은 별도 검증)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5대 제언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109960" cy="768096"/>
          </a:xfrm>
          <a:prstGeom prst="roundRect">
            <a:avLst>
              <a:gd name="adj" fmla="val 9524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37944"/>
            <a:ext cx="475488" cy="475488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3794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개량기반 강화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297680" y="1737360"/>
            <a:ext cx="7178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 A2A2 개량 · 유전능력평가 연계 (축산원 · 경기도 사업과 연결)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569464"/>
            <a:ext cx="111099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715768"/>
            <a:ext cx="475488" cy="475488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7157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2615184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산업화 인프라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97680" y="2615184"/>
            <a:ext cx="7178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소규모 유가공 · 가공적성 활용을 지원하는 산업화 인프라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447288"/>
            <a:ext cx="11109960" cy="768096"/>
          </a:xfrm>
          <a:prstGeom prst="roundRect">
            <a:avLst>
              <a:gd name="adj" fmla="val 9524"/>
            </a:avLst>
          </a:prstGeom>
          <a:solidFill>
            <a:srgbClr val="EAF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593592"/>
            <a:ext cx="475488" cy="475488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59359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493008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판로 지원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297680" y="3493008"/>
            <a:ext cx="7178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D2C 자사몰 · 정기구독 · 6차산업 판로 확대 지원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325112"/>
            <a:ext cx="111099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EAF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471416"/>
            <a:ext cx="475488" cy="475488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47141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4370832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표준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97680" y="4370832"/>
            <a:ext cx="7178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순환농업 · 저탄소 · 동물복지 인증과 연계한 저지 프리미엄 표준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202936"/>
            <a:ext cx="11109960" cy="768096"/>
          </a:xfrm>
          <a:prstGeom prst="roundRect">
            <a:avLst>
              <a:gd name="adj" fmla="val 9524"/>
            </a:avLst>
          </a:prstGeom>
          <a:solidFill>
            <a:srgbClr val="EAF2EC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" y="5349240"/>
            <a:ext cx="475488" cy="475488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53492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5248656"/>
            <a:ext cx="2834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A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협력 클러스터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297680" y="5248656"/>
            <a:ext cx="7178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 · 학 · 연 · 관 협력 클러스터로 지식 · 판로 공유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" y="6419088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 젖소 산업 활성화를 위한 국제 심포지엄  ·  송영신목장 하현제 원장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92840" y="64190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943600" cy="594360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480560"/>
            <a:ext cx="2560320" cy="2560320"/>
          </a:xfrm>
          <a:prstGeom prst="ellipse">
            <a:avLst/>
          </a:prstGeom>
          <a:solidFill>
            <a:srgbClr val="C79A3A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맺음말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58368" y="182880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저지종의 미래는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'많이'가 아니라 '다르게'에 있습니다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소량 · 고품질을 </a:t>
            </a:r>
            <a:pPr indent="0" marL="0">
              <a:buNone/>
            </a:pPr>
            <a:r>
              <a:rPr lang="en-US" sz="18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· 브랜드 · D2C</a:t>
            </a:r>
            <a:pPr indent="0" marL="0">
              <a:buNone/>
            </a:pPr>
            <a:r>
              <a:rPr lang="en-US" sz="18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산업화하는 것 —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모델은 저지 산업화의 실증 사례입니다.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13232" y="5029200"/>
            <a:ext cx="5943600" cy="0"/>
          </a:xfrm>
          <a:prstGeom prst="line">
            <a:avLst/>
          </a:prstGeom>
          <a:noFill/>
          <a:ln w="19050">
            <a:solidFill>
              <a:srgbClr val="2C6E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5257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79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FE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송영신목장  ·  하현제 원장   |   shop.a2jerseymilk.com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2026-07-23T01:26:45Z</dcterms:created>
  <dcterms:modified xsi:type="dcterms:W3CDTF">2026-07-23T01:26:45Z</dcterms:modified>
</cp:coreProperties>
</file>
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스크립트 · 0:40]</a:t>
            </a:r>
          </a:p>
          <a:p>
            <a:r>
              <a:t>안녕하십니까. 고려동물병원 하현제입니다.</a:t>
            </a:r>
          </a:p>
          <a:p>
            <a:r>
              <a:t>오늘 말씀드릴 주제는 「소의 동물복지와 AI」입니다.</a:t>
            </a:r>
          </a:p>
          <a:p/>
          <a:p>
            <a:r>
              <a:t>먼저 질문 하나로 시작하겠습니다. 여러분의 소가 지금 무엇을 말하고 있는지 알고 계십니까?</a:t>
            </a:r>
          </a:p>
          <a:p>
            <a:r>
              <a:t>(잠시 멈춤)</a:t>
            </a:r>
          </a:p>
          <a:p/>
          <a:p>
            <a:r>
              <a:t>저는 대동물 임상을 30년 넘게 해 왔지만, 솔직히 이 질문에 자신 있게 "예"라고 답하기는 어렵습니다. 우리는 소를 하루 중 아주 짧은 시간만 봅니다.</a:t>
            </a:r>
          </a:p>
          <a:p>
            <a:r>
              <a:t>오늘은 주기적인 복지 평가를 넘어, 소를 중심에 두고 24시간 지속적으로 주의를 기울이는 방향에 대해 말씀드리겠습니다.</a:t>
            </a:r>
          </a:p>
          <a:p/>
          <a:p>
            <a:r>
              <a:t>[Sources]</a:t>
            </a:r>
          </a:p>
          <a:p>
            <a:r>
              <a:t>Mellor DJ et al. Animals. 2020;10:1870. https://doi.org/10.3390/ani10101870</a:t>
            </a:r>
          </a:p>
          <a:p>
            <a:r>
              <a:t>D2O internal CowTalk materials, 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스크립트 · 1:10]</a:t>
            </a:r>
          </a:p>
          <a:p>
            <a:r>
              <a:t>동물복지를 이야기하면 보통 "시설이 좋은가?"부터 묻습니다. 축사 면적, 깔짚, 환기 같은 것들이죠. 물론 중요합니다.</a:t>
            </a:r>
          </a:p>
          <a:p>
            <a:r>
              <a:t>그런데 질문은 거기서 끝나면 안 됩니다. 핵심은 그 시설 안에서 소가 실제로 무엇을 경험하고 있는가입니다.</a:t>
            </a:r>
          </a:p>
          <a:p/>
          <a:p>
            <a:r>
              <a:t>화면의 다섯 가지 질문을 보십시오.</a:t>
            </a:r>
          </a:p>
          <a:p>
            <a:r>
              <a:t>배고픔이나 갈증 없이 충분히 먹고 마시는가. 더위, 추위, 바닥, 공기는 적절한가. 통증이나 질병, 기능 저하는 없는가. 다른 소나 사람과 적절히 상호작용하는가.</a:t>
            </a:r>
          </a:p>
          <a:p>
            <a:r>
              <a:t>그리고 마지막으로, 그 결과 소가 어떤 긍정적·부정적 경험을 하고 있는가.</a:t>
            </a:r>
          </a:p>
          <a:p/>
          <a:p>
            <a:r>
              <a:t>좋은 시설은 좋은 복지의 조건이지, 좋은 복지 그 자체는 아닙니다.</a:t>
            </a:r>
          </a:p>
          <a:p/>
          <a:p>
            <a:r>
              <a:t>[Sources]</a:t>
            </a:r>
          </a:p>
          <a:p>
            <a:r>
              <a:t>Mellor DJ et al. The 2020 Five Domains Model. Animals. 2020;10:1870.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스크립트 · 1:20]</a:t>
            </a:r>
          </a:p>
          <a:p>
            <a:r>
              <a:t>이 다섯 가지 질문은 Mellor 교수 등이 2020년에 정리한 Five Domains 모델에 바탕을 두고 있습니다.</a:t>
            </a:r>
          </a:p>
          <a:p/>
          <a:p>
            <a:r>
              <a:t>1번 영양, 2번 물리적 환경, 3번 건강, 4번 행동 상호작용. 이 네 영역은 바깥에서 관찰하거나 측정할 수 있는 영역입니다.</a:t>
            </a:r>
          </a:p>
          <a:p>
            <a:r>
              <a:t>그리고 이 네 영역이 모두 모여 5번, 소의 정신 상태, Mental State로 이어집니다.</a:t>
            </a:r>
          </a:p>
          <a:p/>
          <a:p>
            <a:r>
              <a:t>여기서 두 가지를 강조하고 싶습니다.</a:t>
            </a:r>
          </a:p>
          <a:p>
            <a:r>
              <a:t>첫째, 복지는 점수 하나로 요약되지 않습니다. 영역마다 따로 봐야 합니다.</a:t>
            </a:r>
          </a:p>
          <a:p>
            <a:r>
              <a:t>둘째, 오늘 말씀드릴 AI도 Mental State를 직접 측정하지 못합니다. AI가 하는 일은 복지와 관련된 객관적 신호를 더 오래, 더 끊김 없이 관찰하도록 돕는 것입니다. 이 선을 처음부터 분명히 긋고 시작하겠습니다.</a:t>
            </a:r>
          </a:p>
          <a:p/>
          <a:p>
            <a:r>
              <a:t>[Sources]</a:t>
            </a:r>
          </a:p>
          <a:p>
            <a:r>
              <a:t>Mellor DJ et al. Animals. 2020;10:1870. The Five Domains Model is a structured welfare assessment framework, not a single welfare score.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스크립트 · 1:20]</a:t>
            </a:r>
          </a:p>
          <a:p>
            <a:r>
              <a:t>그렇다면 현재 복지 평가의 빈틈은 어디에 있을까요?</a:t>
            </a:r>
          </a:p>
          <a:p/>
          <a:p>
            <a:r>
              <a:t>우리가 하는 평가는 대부분 '주기적'입니다. 현장 점검, 임상 검사, 생산성 기록, 인증 심사가 모두 특정 시점의 사진, 즉 스냅샷입니다.</a:t>
            </a:r>
          </a:p>
          <a:p>
            <a:r>
              <a:t>수의사가 농장에 머무는 시간은 길어야 몇 시간입니다. 나머지 시간, 그러니까 시간의 대부분은 아무도 관찰하지 않는 시간입니다. 그런데 소의 문제는 대개 그 시간에 시작됩니다.</a:t>
            </a:r>
          </a:p>
          <a:p/>
          <a:p>
            <a:r>
              <a:t>오른쪽의 연속적 주의, Continuous attention은 그 빈틈을 채우는 접근입니다. 24시간 생체·행동 신호를 보면서 "오늘 누구를 먼저 확인해야 하는가?"를 계속 묻는 것입니다.</a:t>
            </a:r>
          </a:p>
          <a:p/>
          <a:p>
            <a:r>
              <a:t>다만 오해가 없도록 말씀드리면, 연속 모니터링이 복지 인증을 대체하는 것은 아닙니다. 보완하는 것입니다.</a:t>
            </a:r>
          </a:p>
          <a:p/>
          <a:p>
            <a:r>
              <a:t>[Sources]</a:t>
            </a:r>
          </a:p>
          <a:p>
            <a:r>
              <a:t>Mellor DJ. Animals. 2017;7:60. Welfare assessment and monitoring are related but distinct processes.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스크립트 · 1:20]</a:t>
            </a:r>
          </a:p>
          <a:p>
            <a:r>
              <a:t>소는 아파도 잘 드러내지 않는 동물입니다. 피식 동물이기 때문입니다. 그래서 우리가 임상 증상을 볼 때쯤이면 이미 늦은 경우가 많습니다.</a:t>
            </a:r>
          </a:p>
          <a:p/>
          <a:p>
            <a:r>
              <a:t>하지만 몸은 그보다 먼저 신호를 보낼 수 있습니다.</a:t>
            </a:r>
          </a:p>
          <a:p>
            <a:r>
              <a:t>체온 변화는 염증, 감염, 분만, 열부하와 연관될 수 있습니다.</a:t>
            </a:r>
          </a:p>
          <a:p>
            <a:r>
              <a:t>반추 변화는 섭취, 소화, 불편감, 질병의 단서입니다.</a:t>
            </a:r>
          </a:p>
          <a:p>
            <a:r>
              <a:t>활동 변화는 발정일 수도, 불편이나 행동 패턴 변화일 수도 있습니다.</a:t>
            </a:r>
          </a:p>
          <a:p>
            <a:r>
              <a:t>음수 변화는 환경, 섭취, 건강 변화의 단서가 됩니다.</a:t>
            </a:r>
          </a:p>
          <a:p/>
          <a:p>
            <a:r>
              <a:t>그리고 빨간 글씨가 가장 중요합니다. 신호 하나가 곧 진단 하나는 아닙니다.</a:t>
            </a:r>
          </a:p>
          <a:p>
            <a:r>
              <a:t>체온이 올랐다고 바로 유방염이 아닙니다. 신호는 '확인하라'는 초대장이지 결론이 아닙니다.</a:t>
            </a:r>
          </a:p>
          <a:p/>
          <a:p>
            <a:r>
              <a:t>[Sources]</a:t>
            </a:r>
          </a:p>
          <a:p>
            <a:r>
              <a:t>smaXtec Classic Bolus SX.2 product sheet: continuous inner body temperature, rumination, water intake/drinking cycles and activity. https://smaxtec.com/wp-content/uploads/2024/10/Product-sheet_Classic-Bolus_SX2.pdf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스크립트 · 1:10]</a:t>
            </a:r>
          </a:p>
          <a:p>
            <a:r>
              <a:t>이 신호를 어떻게 듣느냐. 저는 smaXtec 위내센서를 국내에 처음 도입해 현장에서 써 왔습니다.</a:t>
            </a:r>
          </a:p>
          <a:p/>
          <a:p>
            <a:r>
              <a:t>볼러스를 경구 투여하면 제2위, 즉 reticulum에 자리 잡고 연속 측정을 합니다.</a:t>
            </a:r>
          </a:p>
          <a:p>
            <a:r>
              <a:t>체내 온도는 건강과 환경, 반추는 영양과 건강, 활동은 행동과 건강, 음수 관련 변수는 영양과 환경. 각 신호가 Five Domains의 어느 영역과 이어지는지를 아래에 적어 두었습니다.</a:t>
            </a:r>
          </a:p>
          <a:p/>
          <a:p>
            <a:r>
              <a:t>여기서도 선을 하나 긋겠습니다. smaXtec은 '복지 판정기'가 아닙니다. 연속 생체신호를 공급하는 장치, 즉 듣는 귀입니다.</a:t>
            </a:r>
          </a:p>
          <a:p/>
          <a:p>
            <a:r>
              <a:t>[Sources]</a:t>
            </a:r>
          </a:p>
          <a:p>
            <a:r>
              <a:t>smaXtec Classic Bolus SX.2 product sheet. https://smaxtec.com/wp-content/uploads/2024/10/Product-sheet_Classic-Bolus_SX2.pdf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스크립트 · 1:20]</a:t>
            </a:r>
          </a:p>
          <a:p>
            <a:r>
              <a:t>귀가 있어도 들은 내용을 해석하지 못하면 소용이 없습니다. 그래서 제가 직접 기획하고 개발한 것이 CowTalk입니다.</a:t>
            </a:r>
          </a:p>
          <a:p/>
          <a:p>
            <a:r>
              <a:t>CowTalk은 센서가 아닙니다. AI 기반 축산 디지털 운영체제입니다.</a:t>
            </a:r>
          </a:p>
          <a:p>
            <a:r>
              <a:t>smaXtec의 생체신호에 진료, 수정, 분만 같은 임상·번식 기록을 더하고, 사양과 개체·농장 이벤트를 더하고, 기상, 젖소검정(DHI), 이력제 같은 공공데이터까지 묶습니다.</a:t>
            </a:r>
          </a:p>
          <a:p/>
          <a:p>
            <a:r>
              <a:t>그 맥락을 통합해 최종적으로 내놓는 것은 '진단'이 아닙니다. "오늘 어떤 소를 먼저 확인해야 하는가"라는 확인 우선순위입니다.</a:t>
            </a:r>
          </a:p>
          <a:p>
            <a:r>
              <a:t>[선택 — 발표 전 실시간 수치 확인 후 사용: "현재 전국 ○○개 농장, ○만여 두의 데이터가 이 구조로 흐르고 있습니다."]</a:t>
            </a:r>
          </a:p>
          <a:p/>
          <a:p>
            <a:r>
              <a:t>[Sources]</a:t>
            </a:r>
          </a:p>
          <a:p>
            <a:r>
              <a:t>D2O internal CowTalk Master Plan, 2026: CowTalk integrates rumen-sensor, farm, clinical and public data into role-specific actionable information.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스크립트 · 1:10]</a:t>
            </a:r>
          </a:p>
          <a:p>
            <a:r>
              <a:t>이것을 하나의 고리로 정리하면 이렇습니다.</a:t>
            </a:r>
          </a:p>
          <a:p>
            <a:r>
              <a:t>Sense, smaXtec이 연속 신호를 듣습니다.</a:t>
            </a:r>
          </a:p>
          <a:p>
            <a:r>
              <a:t>Understand, CowTalk이 맥락을 붙이고 우선순위를 정합니다.</a:t>
            </a:r>
          </a:p>
          <a:p>
            <a:r>
              <a:t>Act, 수의사와 농장주가 직접 확인하고 진단하고 조치합니다.</a:t>
            </a:r>
          </a:p>
          <a:p>
            <a:r>
              <a:t>Learn, 그 결과와 이벤트를 기록해 다음 판단에 반영합니다.</a:t>
            </a:r>
          </a:p>
          <a:p/>
          <a:p>
            <a:r>
              <a:t>가운데 Act가 사람이라는 점이 핵심입니다.</a:t>
            </a:r>
          </a:p>
          <a:p>
            <a:r>
              <a:t>복지의 최종 판단과 임상 책임은 사람, 바로 이 자리에 계신 수의사 여러분에게 있습니다. AI는 그 판단을 더 빨리, 더 정확한 대상에게 가도록 돕는 도구입니다.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스크립트 · 1:20]</a:t>
            </a:r>
          </a:p>
          <a:p>
            <a:r>
              <a:t>그렇다면 AI는 복지에 구체적으로 어디서 기여할까요? 한마디로 '더 일찍 알아차리기'입니다.</a:t>
            </a:r>
          </a:p>
          <a:p/>
          <a:p>
            <a:r>
              <a:t>질병·통증 위험은 미세한 생체·행동 변화로 조기에 확인할 기회를 줍니다.</a:t>
            </a:r>
          </a:p>
          <a:p>
            <a:r>
              <a:t>열스트레스는 같은 환경에서도 개체마다 취약성이 다릅니다. 환경 데이터와 체온·행동을 함께 보면 그 차이가 보입니다.</a:t>
            </a:r>
          </a:p>
          <a:p>
            <a:r>
              <a:t>섭취·소화 이상은 반추와 음수 변화로 사양과 건강을 점검하게 합니다.</a:t>
            </a:r>
          </a:p>
          <a:p>
            <a:r>
              <a:t>분만·번식 이벤트는 관찰을 강화해야 할 시점을 알려 줍니다.</a:t>
            </a:r>
          </a:p>
          <a:p/>
          <a:p>
            <a:r>
              <a:t>아래 문장을 기억해 주십시오. 목표는 'AI 진단'이 아닙니다.</a:t>
            </a:r>
          </a:p>
          <a:p>
            <a:r>
              <a:t>고통이 지속되는 시간, 그리고 발견이 늦어지는 시간을 줄일 기회를 만드는 것입니다. 동물복지 관점에서 하루 일찍 발견하면 고통이 하루 줄어듭니다.</a:t>
            </a:r>
          </a:p>
          <a:p>
            <a:r>
              <a:t>[권장 — 하원장님 실제 현장 사례 1건을 여기서 30초 소개]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스크립트 · 1:20]</a:t>
            </a:r>
          </a:p>
          <a:p>
            <a:r>
              <a:t>하지만 여기서 멈추면 반쪽짜리 이야기가 됩니다. 복지는 '질병이 없는 상태'보다 훨씬 넓습니다.</a:t>
            </a:r>
          </a:p>
          <a:p/>
          <a:p>
            <a:r>
              <a:t>왼쪽은 센서와 AI가 잘 보는 것입니다. 체온, 반추, 활동, 음수. 질병, 열부하, 섭취 이상과 연관된 변화, 그리고 개체 자신의 기준선에서 벗어나는 것.</a:t>
            </a:r>
          </a:p>
          <a:p>
            <a:r>
              <a:t>오른쪽은 여전히 사람이 직접 봐야 하는 것입니다. 보행과 파행, 외상. 사회적 상호작용과 두려움. 휴식의 질과 환경 선택권. 그리고 긍정적 경험과 Mental State.</a:t>
            </a:r>
          </a:p>
          <a:p/>
          <a:p>
            <a:r>
              <a:t>그래서 CowTalk은 Five Domains 전체를 대체하지 않습니다. 일부 영역을 지속적으로 관찰하는 힘을 강화할 뿐입니다.</a:t>
            </a:r>
          </a:p>
          <a:p>
            <a:r>
              <a:t>저는 이 한계를 분명히 말하는 것이 오히려 이 기술을 신뢰받게 만든다고 생각합니다.</a:t>
            </a:r>
          </a:p>
          <a:p/>
          <a:p>
            <a:r>
              <a:t>[Sources]</a:t>
            </a:r>
          </a:p>
          <a:p>
            <a:r>
              <a:t>Mellor DJ et al. Animals. 2020;10:1870. The model includes positive and negative welfare impacts across all five domains.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스크립트 · 1:30]</a:t>
            </a:r>
          </a:p>
          <a:p>
            <a:r>
              <a:t>실제 현장에서는 어떻게 움직이는지 하나의 흐름으로 보여 드리겠습니다.</a:t>
            </a:r>
          </a:p>
          <a:p/>
          <a:p>
            <a:r>
              <a:t>1단계 Change, 반추가 떨어지고 체온이 변합니다.</a:t>
            </a:r>
          </a:p>
          <a:p>
            <a:r>
              <a:t>2단계 Context, 이 소의 산차, 착유일수(DIM), 그날의 온습도지수(THI), 과거 진료 이력을 붙입니다. 같은 반추 저하라도 분만 직후 3산차 소와 비유 후기 초산우는 의미가 전혀 다릅니다.</a:t>
            </a:r>
          </a:p>
          <a:p>
            <a:r>
              <a:t>3단계 Priority, 그래서 '오늘 먼저 확인할 개체'가 정해집니다.</a:t>
            </a:r>
          </a:p>
          <a:p>
            <a:r>
              <a:t>4단계 Examine, 색이 다른 이 칸이 가장 중요합니다. 수의사나 농장주가 직접 소를 봅니다.</a:t>
            </a:r>
          </a:p>
          <a:p>
            <a:r>
              <a:t>5단계 Care, 치료든 환경이든 사양이든 조치를 합니다.</a:t>
            </a:r>
          </a:p>
          <a:p>
            <a:r>
              <a:t>6단계 Verify, 회복 신호가 돌아오는지 확인하고 결과를 기록합니다.</a:t>
            </a:r>
          </a:p>
          <a:p/>
          <a:p>
            <a:r>
              <a:t>복지에 미치는 효과는 결국 세 가지입니다. 더 빠른 확인, 더 빠른 적절한 조치, 그리고 결과 확인. 알림에서 끝나지 않고 돌봄까지 이어져야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스크립트 · 1:10]</a:t>
            </a:r>
          </a:p>
          <a:p>
            <a:r>
              <a:t>개체 하나하나의 신호를 모으면 농장 차원의 그림이 보입니다.</a:t>
            </a:r>
          </a:p>
          <a:p/>
          <a:p>
            <a:r>
              <a:t>어떤 소가 지금 변하고 있는가, 이것이 개체 수준입니다.</a:t>
            </a:r>
          </a:p>
          <a:p>
            <a:r>
              <a:t>특정 우군, 산차, 착유일수 구간에 문제가 몰리는가, 이것이 그룹 패턴입니다.</a:t>
            </a:r>
          </a:p>
          <a:p>
            <a:r>
              <a:t>열스트레스, 사료 변경, 환경 변화와 같이 움직이는가, 이것이 농장 패턴입니다.</a:t>
            </a:r>
          </a:p>
          <a:p/>
          <a:p>
            <a:r>
              <a:t>그리고 마지막 질문이 중요합니다. 그래서 환경, 사양, 진료 프로토콜을 바꿀 수 있는가.</a:t>
            </a:r>
          </a:p>
          <a:p>
            <a:r>
              <a:t>한 마리를 치료하는 데서 그치지 않고, 반복되는 복지 위험의 원인을 고치는 것이 Herd Welfare Intelligence입니다.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스크립트 · 1:10]</a:t>
            </a:r>
          </a:p>
          <a:p>
            <a:r>
              <a:t>이 구조는 농장에서 끝나지 않습니다.</a:t>
            </a:r>
          </a:p>
          <a:p>
            <a:r>
              <a:t>개체의 변화가 농장 패턴이 되고, 여러 농장을 담당하는 수의사 네트워크에서는 '어느 농장부터 가야 하는가'라는 우선순위가 됩니다. 지역 단위에서는 집단 위험 신호가, 국가 단위에서는 복지와 건강 정책을 위한 근거가 됩니다.</a:t>
            </a:r>
          </a:p>
          <a:p/>
          <a:p>
            <a:r>
              <a:t>다만 반드시 함께 말씀드려야 할 것이 있습니다. 집단 데이터는 농장주의 정보이고 농장의 자산입니다. 개인정보 보호와 농장 데이터 거버넌스, 즉 누가 무엇을 볼 수 있는지를 처음부터 함께 설계해야 합니다. 기술보다 이것이 먼저입니다.</a:t>
            </a:r>
          </a:p>
          <a:p/>
          <a:p>
            <a:r>
              <a:t>[Sources]</a:t>
            </a:r>
          </a:p>
          <a:p>
            <a:r>
              <a:t>D2O internal CowTalk materials describe individual, herd, veterinary, administrative and regional views.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스크립트 · 1:10]</a:t>
            </a:r>
          </a:p>
          <a:p>
            <a:r>
              <a:t>정리하면 패러다임의 전환입니다.</a:t>
            </a:r>
          </a:p>
          <a:p>
            <a:r>
              <a:t>스냅샷에서 연속으로. 농장 단위에서 개체 중심으로. 규정 준수에서 실제 복지 개선으로. 늦은 인지에서 이른 주의로. 데이터 수집에서 조치와 검증으로.</a:t>
            </a:r>
          </a:p>
          <a:p/>
          <a:p>
            <a:r>
              <a:t>그리고 이 슬라이드의 마지막 문장이 오늘 발표의 핵심입니다.</a:t>
            </a:r>
          </a:p>
          <a:p>
            <a:r>
              <a:t>인증은 기준을 세웁니다. 연속 모니터링은 그 기준 사이의 365일을 채웁니다.</a:t>
            </a:r>
          </a:p>
          <a:p>
            <a:r>
              <a:t>인증과 기술은 경쟁 관계가 아니라 서로를 완성하는 관계입니다.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스크립트 · 1:20]</a:t>
            </a:r>
          </a:p>
          <a:p>
            <a:r>
              <a:t>마지막으로, AI가 해야 할 일과 하지 말아야 할 일을 분명히 하겠습니다.</a:t>
            </a:r>
          </a:p>
          <a:p/>
          <a:p>
            <a:r>
              <a:t>AI가 해야 할 일. 24시간 변화를 놓치지 않는 것, 확인 우선순위를 정리하는 것, 여러 데이터의 맥락을 연결하는 것, 조치 후 결과를 추적하는 것입니다.</a:t>
            </a:r>
          </a:p>
          <a:p/>
          <a:p>
            <a:r>
              <a:t>AI가 하지 말아야 할 일. Mental State를 직접 측정했다고 주장하는 것, 단일 신호로 질병을 확정하는 것, 수의사의 진단과 치료 책임을 대체하는 것, 센서가 보는 일부 영역을 복지 전체로 일반화하는 것입니다.</a:t>
            </a:r>
          </a:p>
          <a:p/>
          <a:p>
            <a:r>
              <a:t>동물복지를 위한 책임 있는 AI는 '지속적인 주의'와 '사람의 판단'이 합쳐진 것입니다. 어느 하나만으로는 부족합니다.</a:t>
            </a:r>
          </a:p>
          <a:p/>
          <a:p>
            <a:r>
              <a:t>[Sources]</a:t>
            </a:r>
          </a:p>
          <a:p>
            <a:r>
              <a:t>Mellor DJ et al. Animals. 2020;10:1870. D2O CowTalk concept uses human-in-the-loop clinical interpretation.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스크립트 · 0:50]</a:t>
            </a:r>
          </a:p>
          <a:p>
            <a:r>
              <a:t>처음 질문으로 돌아가겠습니다. 여러분의 소가 지금 무엇을 말하고 있는지 알고 계십니까?</a:t>
            </a:r>
          </a:p>
          <a:p/>
          <a:p>
            <a:r>
              <a:t>smaXtec은 우리가 소의 말을 듣게 해 줍니다.</a:t>
            </a:r>
          </a:p>
          <a:p>
            <a:r>
              <a:t>CowTalk은 들은 것을 정리하고 이해하게 해 줍니다.</a:t>
            </a:r>
          </a:p>
          <a:p>
            <a:r>
              <a:t>그리고 그 이해를 실제 복지로 바꾸는 것은 수의사와 농장주, 바로 우리입니다.</a:t>
            </a:r>
          </a:p>
          <a:p/>
          <a:p>
            <a:r>
              <a:t>동물복지는 1년에 한 번 찍는 스냅샷이어서는 안 됩니다. 365일 지속적으로 받아야 할 주의입니다.</a:t>
            </a:r>
          </a:p>
          <a:p/>
          <a:p>
            <a:r>
              <a:t>경청해 주셔서 감사합니다. 질문 받겠습니다.</a:t>
            </a:r>
          </a:p>
          <a:p/>
          <a:p>
            <a:r>
              <a:t>[Sources]</a:t>
            </a:r>
          </a:p>
          <a:p>
            <a:r>
              <a:t>Mellor DJ et al. Animals. 2020;10:1870.</a:t>
            </a:r>
          </a:p>
          <a:p>
            <a:r>
              <a:t>smaXtec Classic Bolus SX.2 product sheet.</a:t>
            </a:r>
          </a:p>
          <a:p>
            <a:r>
              <a:t>D2O internal CowTalk materials, 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5196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46F"/>
                </a:solidFill>
              </a:rPr>
              <a:t>Animal Welfare and AI in Cattle  |  HyunJae Ha, DVM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1967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46F"/>
                </a:solidFill>
              </a:rPr>
              <a:t>Korea Animal Hospital · D2O / CowTalk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4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132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</a:rPr>
              <a:t>ANIMAL WELFARE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</a:rPr>
              <a:t>AND AI IN CATTLE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49808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DCA9"/>
                </a:solidFill>
              </a:rPr>
              <a:t>Do you know what your cows are telling you?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" y="3246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9E2"/>
                </a:solidFill>
              </a:rPr>
              <a:t>From periodic welfare assessment to continuous, animal-centered monitoring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41080" y="1143000"/>
            <a:ext cx="2468880" cy="2468880"/>
          </a:xfrm>
          <a:prstGeom prst="ellipse">
            <a:avLst/>
          </a:prstGeom>
          <a:solidFill>
            <a:srgbClr val="315E4D"/>
          </a:solidFill>
          <a:ln w="25400">
            <a:solidFill>
              <a:srgbClr val="87A99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89720" y="1600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24/7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098280" y="22128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E9E2"/>
                </a:solidFill>
              </a:rPr>
              <a:t>WELFARE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DE9E2"/>
                </a:solidFill>
              </a:rPr>
              <a:t>ATTENTION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49834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HyunJae Ha, DVM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Korea Animal Hospital · D2O / CowTalk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hhj3150@hanmail.net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01 · THE ANIMAL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동물복지의 질문은 “시설이 좋은가?”에서 끝나지 않습니다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35331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4C3D"/>
                </a:solidFill>
              </a:rPr>
              <a:t>핵심은 소가 실제로 무엇을 경험하고 있는가입니다.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33375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2057400"/>
            <a:ext cx="64008" cy="123444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05256" y="2221992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Nutrition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05256" y="2642616"/>
            <a:ext cx="2953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배고픔·갈증 없이 충분히 섭취하는가?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057400"/>
            <a:ext cx="33375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89120" y="2057400"/>
            <a:ext cx="64008" cy="123444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08576" y="2221992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Environment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08576" y="2642616"/>
            <a:ext cx="2953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열·추위·바닥·공기 환경이 적절한가?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2440" y="2057400"/>
            <a:ext cx="33375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92440" y="2057400"/>
            <a:ext cx="64008" cy="123444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11896" y="2221992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Health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11896" y="2642616"/>
            <a:ext cx="2953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통증·질병·기능 저하가 있는가?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356616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5800" y="3566160"/>
            <a:ext cx="64008" cy="123444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05256" y="3730752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Behaviour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05256" y="4151376"/>
            <a:ext cx="4873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환경·다른 소·사람과 적절히 상호작용하는가?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56616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217920" y="3566160"/>
            <a:ext cx="64008" cy="1234440"/>
          </a:xfrm>
          <a:prstGeom prst="rect">
            <a:avLst/>
          </a:prstGeom>
          <a:solidFill>
            <a:srgbClr val="C39A52"/>
          </a:solidFill>
          <a:ln w="12700">
            <a:solidFill>
              <a:srgbClr val="C39A5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37376" y="3730752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Mental state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37376" y="4151376"/>
            <a:ext cx="4873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그 결과 어떤 긍정·부정 경험을 하는가?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02 · WELFARE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Five Domains: 복지는 “한 개의 점수”가 아닙니다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87452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5400">
            <a:solidFill>
              <a:srgbClr val="436D7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408176" y="20391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6D7A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2651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Nutrition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355848" y="187452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5400">
            <a:solidFill>
              <a:srgbClr val="C39A5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05656" y="20391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39A52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30168" y="2651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Physical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Environment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53328" y="187452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5400">
            <a:solidFill>
              <a:srgbClr val="A64B4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03136" y="20391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4B43"/>
                </a:solidFill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27648" y="2651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Health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750808" y="187452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5400">
            <a:solidFill>
              <a:srgbClr val="244C3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500616" y="20391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4C3D"/>
                </a:solidFill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25128" y="2651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Behavioural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Interactions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623560" y="39136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39A52"/>
                </a:solidFill>
              </a:rPr>
              <a:t>↓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3749040" y="443484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EFE6D4"/>
          </a:solidFill>
          <a:ln w="25400">
            <a:solidFill>
              <a:srgbClr val="C39A5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977640" y="47091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201C"/>
                </a:solidFill>
              </a:rPr>
              <a:t>5  Mental State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005840" y="57150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4C3D"/>
                </a:solidFill>
              </a:rPr>
              <a:t>AI는 Mental State를 직접 측정하는 것이 아니라, 복지와 관련된 객관적 신호를 더 지속적으로 관찰하도록 돕습니다.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03 · THE GAP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현재 복지평가의 빈틈: “관찰하지 않는 시간”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3154680" cy="342900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508760"/>
            <a:ext cx="64008" cy="3429000"/>
          </a:xfrm>
          <a:prstGeom prst="rect">
            <a:avLst/>
          </a:prstGeom>
          <a:solidFill>
            <a:srgbClr val="66716B"/>
          </a:solidFill>
          <a:ln w="12700">
            <a:solidFill>
              <a:srgbClr val="6671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05256" y="167335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Periodic assessment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05256" y="2093976"/>
            <a:ext cx="2770632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현장 점검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임상검사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생산성 기록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인증·감사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6052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4B43"/>
                </a:solidFill>
              </a:rPr>
              <a:t>시간의 대부분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2468880"/>
            <a:ext cx="128016" cy="128016"/>
          </a:xfrm>
          <a:prstGeom prst="ellipse">
            <a:avLst/>
          </a:prstGeom>
          <a:solidFill>
            <a:srgbClr val="A64B43"/>
          </a:solidFill>
          <a:ln w="12700">
            <a:solidFill>
              <a:srgbClr val="A64B43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0" y="2468880"/>
            <a:ext cx="128016" cy="128016"/>
          </a:xfrm>
          <a:prstGeom prst="ellipse">
            <a:avLst/>
          </a:prstGeom>
          <a:solidFill>
            <a:srgbClr val="D6D9D7"/>
          </a:solidFill>
          <a:ln w="12700">
            <a:solidFill>
              <a:srgbClr val="D6D9D7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46320" y="2468880"/>
            <a:ext cx="128016" cy="128016"/>
          </a:xfrm>
          <a:prstGeom prst="ellipse">
            <a:avLst/>
          </a:prstGeom>
          <a:solidFill>
            <a:srgbClr val="D6D9D7"/>
          </a:solidFill>
          <a:ln w="12700">
            <a:solidFill>
              <a:srgbClr val="D6D9D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120640" y="2468880"/>
            <a:ext cx="128016" cy="128016"/>
          </a:xfrm>
          <a:prstGeom prst="ellipse">
            <a:avLst/>
          </a:prstGeom>
          <a:solidFill>
            <a:srgbClr val="D6D9D7"/>
          </a:solidFill>
          <a:ln w="12700">
            <a:solidFill>
              <a:srgbClr val="D6D9D7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394960" y="2468880"/>
            <a:ext cx="128016" cy="128016"/>
          </a:xfrm>
          <a:prstGeom prst="ellipse">
            <a:avLst/>
          </a:prstGeom>
          <a:solidFill>
            <a:srgbClr val="D6D9D7"/>
          </a:solidFill>
          <a:ln w="12700">
            <a:solidFill>
              <a:srgbClr val="D6D9D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669280" y="2468880"/>
            <a:ext cx="128016" cy="128016"/>
          </a:xfrm>
          <a:prstGeom prst="ellipse">
            <a:avLst/>
          </a:prstGeom>
          <a:solidFill>
            <a:srgbClr val="D6D9D7"/>
          </a:solidFill>
          <a:ln w="12700">
            <a:solidFill>
              <a:srgbClr val="D6D9D7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2468880"/>
            <a:ext cx="128016" cy="128016"/>
          </a:xfrm>
          <a:prstGeom prst="ellipse">
            <a:avLst/>
          </a:prstGeom>
          <a:solidFill>
            <a:srgbClr val="D6D9D7"/>
          </a:solidFill>
          <a:ln w="12700">
            <a:solidFill>
              <a:srgbClr val="D6D9D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55080" y="27432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269480" y="1508760"/>
            <a:ext cx="4160520" cy="342900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69480" y="1508760"/>
            <a:ext cx="64008" cy="342900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488936" y="1673352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Continuous attention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88936" y="2093976"/>
            <a:ext cx="3776472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24시간 생체·행동 신호를 통해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“누구를 먼저 확인해야 하는가?”를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지속적으로 묻는 보완적 접근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057400" y="5394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01C"/>
                </a:solidFill>
              </a:rPr>
              <a:t>Continuous monitoring ≠ welfare certification replacement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04 · EARLY SIGNALS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소는 복지 저하를 임상증상보다 먼저 “신호”로 보낼 수 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0749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554480"/>
            <a:ext cx="64008" cy="1600200"/>
          </a:xfrm>
          <a:prstGeom prst="rect">
            <a:avLst/>
          </a:prstGeom>
          <a:solidFill>
            <a:srgbClr val="A64B43"/>
          </a:solidFill>
          <a:ln w="12700">
            <a:solidFill>
              <a:srgbClr val="A64B4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05256" y="1719072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체온 변화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05256" y="2139696"/>
            <a:ext cx="46908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염증·감염·분만·열부하 등과 연관 가능한 신호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0749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17920" y="1554480"/>
            <a:ext cx="64008" cy="160020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37376" y="1719072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반추 변화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37376" y="2139696"/>
            <a:ext cx="46908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섭취·소화·불편·질병 변화의 단서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520440"/>
            <a:ext cx="50749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85800" y="3520440"/>
            <a:ext cx="64008" cy="160020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05256" y="3685032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활동 변화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05256" y="4105656"/>
            <a:ext cx="46908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발정·불편·행동 패턴 변화의 단서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520440"/>
            <a:ext cx="50749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17920" y="3520440"/>
            <a:ext cx="64008" cy="160020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37376" y="3685032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음수 변화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37376" y="4105656"/>
            <a:ext cx="46908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환경·섭취·건강 변화의 단서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11680" y="56235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64B43"/>
                </a:solidFill>
              </a:rPr>
              <a:t>중요: 하나의 신호 = 하나의 진단이 아닙니다.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05 · SENSE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smaXtec = 복지 관련 생체신호를 듣는 sensing layer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3533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4C3D"/>
                </a:solidFill>
              </a:rPr>
              <a:t>상용 위내센서가 reticulum 내부에서 연속 측정합니다.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2240280" cy="2240280"/>
          </a:xfrm>
          <a:prstGeom prst="ellipse">
            <a:avLst/>
          </a:prstGeom>
          <a:solidFill>
            <a:srgbClr val="F4E3E0"/>
          </a:solidFill>
          <a:ln w="19050">
            <a:solidFill>
              <a:srgbClr val="A64B4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54203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1C"/>
                </a:solidFill>
              </a:rPr>
              <a:t>Internal body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1C"/>
                </a:solidFill>
              </a:rPr>
              <a:t>temperature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3649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16B"/>
                </a:solidFill>
              </a:rPr>
              <a:t>Health / Environment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057400"/>
            <a:ext cx="2240280" cy="2240280"/>
          </a:xfrm>
          <a:prstGeom prst="ellipse">
            <a:avLst/>
          </a:prstGeom>
          <a:solidFill>
            <a:srgbClr val="DDE9E2"/>
          </a:solidFill>
          <a:ln w="19050">
            <a:solidFill>
              <a:srgbClr val="244C3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03320" y="254203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1C"/>
                </a:solidFill>
              </a:rPr>
              <a:t>Rumination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03320" y="33649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16B"/>
                </a:solidFill>
              </a:rPr>
              <a:t>Nutrition / Health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2057400"/>
            <a:ext cx="2240280" cy="2240280"/>
          </a:xfrm>
          <a:prstGeom prst="ellipse">
            <a:avLst/>
          </a:prstGeom>
          <a:solidFill>
            <a:srgbClr val="DDE9E2"/>
          </a:solidFill>
          <a:ln w="19050">
            <a:solidFill>
              <a:srgbClr val="244C3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92240" y="254203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1C"/>
                </a:solidFill>
              </a:rPr>
              <a:t>Activity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33649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16B"/>
                </a:solidFill>
              </a:rPr>
              <a:t>Behaviour / Health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52560" y="2057400"/>
            <a:ext cx="2240280" cy="2240280"/>
          </a:xfrm>
          <a:prstGeom prst="ellipse">
            <a:avLst/>
          </a:prstGeom>
          <a:solidFill>
            <a:srgbClr val="DDE9E2"/>
          </a:solidFill>
          <a:ln w="19050">
            <a:solidFill>
              <a:srgbClr val="244C3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281160" y="254203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1C"/>
                </a:solidFill>
              </a:rPr>
              <a:t>Drinking-related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1C"/>
                </a:solidFill>
              </a:rPr>
              <a:t>variables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81160" y="33649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16B"/>
                </a:solidFill>
              </a:rPr>
              <a:t>Nutrition / Environment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50749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01C"/>
                </a:solidFill>
              </a:rPr>
              <a:t>smaXtec는 “복지 판정기”가 아니라 연속 생체신호의 공급원입니다.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06 · UNDERSTAND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CowTalk = 신호를 복지 맥락으로 연결하는 interpretation layer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4C3D"/>
                </a:solidFill>
              </a:rPr>
              <a:t>제가 개발한 CowTalk은 센서 자체가 아니라 AI 기반 축산 디지털 운영체제입니다.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65960" y="2011680"/>
            <a:ext cx="81381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194560" y="2112264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1C"/>
                </a:solidFill>
              </a:rPr>
              <a:t>smaXtec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2112264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16B"/>
                </a:solidFill>
              </a:rPr>
              <a:t>생체신호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65960" y="2724912"/>
            <a:ext cx="81381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194560" y="2825496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1C"/>
                </a:solidFill>
              </a:rPr>
              <a:t>Clinical / Repro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282549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16B"/>
                </a:solidFill>
              </a:rPr>
              <a:t>진료·수정·분만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65960" y="3438144"/>
            <a:ext cx="81381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194560" y="3538728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1C"/>
                </a:solidFill>
              </a:rPr>
              <a:t>Feeding / Herd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3538728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16B"/>
                </a:solidFill>
              </a:rPr>
              <a:t>사양·개체·농장 이벤트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65960" y="4151376"/>
            <a:ext cx="81381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194560" y="4251960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1C"/>
                </a:solidFill>
              </a:rPr>
              <a:t>Environment / Public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4251960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16B"/>
                </a:solidFill>
              </a:rPr>
              <a:t>기상·DHI·이력 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65960" y="4864608"/>
            <a:ext cx="8138160" cy="512064"/>
          </a:xfrm>
          <a:prstGeom prst="roundRect">
            <a:avLst>
              <a:gd name="adj" fmla="val 8929"/>
            </a:avLst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194560" y="4965192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CowTalk AI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496519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ED"/>
                </a:solidFill>
              </a:rPr>
              <a:t>맥락 통합 → 확인 우선순위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07 · HUMAN-IN-THE-LOOP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Animal Welfare Loop: Sense → Understand → Act → Learn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920240"/>
            <a:ext cx="2286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CCD5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2240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4C3D"/>
                </a:solidFill>
              </a:rPr>
              <a:t>SENSE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1C"/>
                </a:solidFill>
              </a:rPr>
              <a:t>smaXtec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연속 신호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90088" y="274320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511296" y="1920240"/>
            <a:ext cx="2286000" cy="2148840"/>
          </a:xfrm>
          <a:prstGeom prst="roundRect">
            <a:avLst>
              <a:gd name="adj" fmla="val 3404"/>
            </a:avLst>
          </a:prstGeom>
          <a:solidFill>
            <a:srgbClr val="244C3D"/>
          </a:solidFill>
          <a:ln w="19050">
            <a:solidFill>
              <a:srgbClr val="244C3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94176" y="2240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UNDERSTAND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94176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DCA9"/>
                </a:solidFill>
              </a:rPr>
              <a:t>CowTalk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94176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ED"/>
                </a:solidFill>
              </a:rPr>
              <a:t>맥락·우선순위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43016" y="274320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364224" y="1920240"/>
            <a:ext cx="2286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CCD5D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47104" y="2240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4C3D"/>
                </a:solidFill>
              </a:rPr>
              <a:t>ACT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47104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1C"/>
                </a:solidFill>
              </a:rPr>
              <a:t>Vet / Farmer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47104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확인·진단·조치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95944" y="274320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217152" y="1920240"/>
            <a:ext cx="2286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CCD5D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400032" y="2240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4C3D"/>
                </a:solidFill>
              </a:rPr>
              <a:t>LEARN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400032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1C"/>
                </a:solidFill>
              </a:rPr>
              <a:t>Outcome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00032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결과·이벤트 기록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011680" y="49834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201C"/>
                </a:solidFill>
              </a:rPr>
              <a:t>복지의 최종 판단과 임상 책임은 사람에게 있습니다.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08 · EARLIER RECOGNITION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AI가 동물복지에 기여하는 지점: “더 일찍 알아차리기”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417320"/>
            <a:ext cx="64008" cy="868680"/>
          </a:xfrm>
          <a:prstGeom prst="rect">
            <a:avLst/>
          </a:prstGeom>
          <a:solidFill>
            <a:srgbClr val="A64B43"/>
          </a:solidFill>
          <a:ln w="12700">
            <a:solidFill>
              <a:srgbClr val="A64B4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50976" y="1581912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질병·통증 위험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50976" y="2002536"/>
            <a:ext cx="10314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미세한 생체·행동 변화 → 조기 확인 기회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496312"/>
            <a:ext cx="106984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31520" y="2496312"/>
            <a:ext cx="64008" cy="868680"/>
          </a:xfrm>
          <a:prstGeom prst="rect">
            <a:avLst/>
          </a:prstGeom>
          <a:solidFill>
            <a:srgbClr val="C39A52"/>
          </a:solidFill>
          <a:ln w="12700">
            <a:solidFill>
              <a:srgbClr val="C39A5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50976" y="266090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열스트레스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50976" y="3081528"/>
            <a:ext cx="10314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환경 + 체온/행동 변화 → 개체별 취약성 확인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575304"/>
            <a:ext cx="106984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31520" y="3575304"/>
            <a:ext cx="64008" cy="86868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50976" y="373989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섭취·소화 이상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50976" y="4160520"/>
            <a:ext cx="10314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반추·음수 변화 → 사양·건강 확인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654296"/>
            <a:ext cx="106984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1520" y="4654296"/>
            <a:ext cx="64008" cy="86868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" y="481888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분만·번식 이벤트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50976" y="5239512"/>
            <a:ext cx="10314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생리·활동 변화 → 필요한 시점에 관찰 강화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580644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4C3D"/>
                </a:solidFill>
              </a:rPr>
              <a:t>목표는 “AI 진단”이 아니라 suffering의 지속시간과 발견 지연을 줄일 기회를 만드는 것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09 · POSITIVE WELFARE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하지만 복지는 “질병이 없는 상태”보다 넓습니다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4C3D"/>
                </a:solidFill>
              </a:rPr>
              <a:t>센서와 AI가 잘 보는 것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4652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39A52"/>
                </a:solidFill>
              </a:rPr>
              <a:t>여전히 사람이 직접 봐야 하는 것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438912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920240"/>
            <a:ext cx="64008" cy="324612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50976" y="208483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Objective signals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50976" y="2505456"/>
            <a:ext cx="4005072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체온·반추·활동·음수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질병·열부하·섭취 이상과 연관된 변화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개체 기준선에서의 이탈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1920240"/>
            <a:ext cx="438912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46520" y="1920240"/>
            <a:ext cx="64008" cy="3246120"/>
          </a:xfrm>
          <a:prstGeom prst="rect">
            <a:avLst/>
          </a:prstGeom>
          <a:solidFill>
            <a:srgbClr val="C39A52"/>
          </a:solidFill>
          <a:ln w="12700">
            <a:solidFill>
              <a:srgbClr val="C39A5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65976" y="208483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Whole-animal welfare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65976" y="2505456"/>
            <a:ext cx="4005072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보행·파행·외상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사회적 상호작용·두려움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휴식의 질·환경 선택권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긍정적 경험과 Mental State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01C"/>
                </a:solidFill>
              </a:rPr>
              <a:t>따라서 CowTalk은 Five Domains 전체를 “대체”하지 않고, 일부 영역의 지속적 관찰을 강화합니다.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10 · CASE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Welfare case workflow: “알림”에서 “돌봄”까지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38912" y="2011680"/>
            <a:ext cx="1481328" cy="23774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524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05256" y="2212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44C3D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27432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1C"/>
                </a:solidFill>
              </a:rPr>
              <a:t>Change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327355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16B"/>
                </a:solidFill>
              </a:rPr>
              <a:t>반추↓ + 체온 변화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47672" y="29260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377440" y="2011680"/>
            <a:ext cx="1481328" cy="23774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524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843784" y="2212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44C3D"/>
                </a:solidFill>
              </a:rPr>
              <a:t>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2468880" y="27432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1C"/>
                </a:solidFill>
              </a:rPr>
              <a:t>Context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327355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16B"/>
                </a:solidFill>
              </a:rPr>
              <a:t>산차·DIM·THI·진료이력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86200" y="29260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315968" y="2011680"/>
            <a:ext cx="1481328" cy="23774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524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82312" y="2212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44C3D"/>
                </a:solidFill>
              </a:rPr>
              <a:t>3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4407408" y="27432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1C"/>
                </a:solidFill>
              </a:rPr>
              <a:t>Priority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07408" y="327355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16B"/>
                </a:solidFill>
              </a:rPr>
              <a:t>오늘 먼저 확인할 개체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24728" y="29260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254496" y="2011680"/>
            <a:ext cx="1481328" cy="2377440"/>
          </a:xfrm>
          <a:prstGeom prst="roundRect">
            <a:avLst>
              <a:gd name="adj" fmla="val 4321"/>
            </a:avLst>
          </a:prstGeom>
          <a:solidFill>
            <a:srgbClr val="EFE6D4"/>
          </a:solidFill>
          <a:ln w="15240">
            <a:solidFill>
              <a:srgbClr val="C39A5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20840" y="2212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39A52"/>
                </a:solidFill>
              </a:rPr>
              <a:t>4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6345936" y="27432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1C"/>
                </a:solidFill>
              </a:rPr>
              <a:t>Examine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45936" y="327355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16B"/>
                </a:solidFill>
              </a:rPr>
              <a:t>수의사/농장주 직접 확인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63256" y="29260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8193024" y="2011680"/>
            <a:ext cx="1481328" cy="23774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524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659368" y="2212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44C3D"/>
                </a:solidFill>
              </a:rPr>
              <a:t>5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8284464" y="27432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1C"/>
                </a:solidFill>
              </a:rPr>
              <a:t>Care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84464" y="327355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16B"/>
                </a:solidFill>
              </a:rPr>
              <a:t>치료·환경·사양 조치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701784" y="29260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10131552" y="2011680"/>
            <a:ext cx="1481328" cy="23774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524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0597896" y="2212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44C3D"/>
                </a:solidFill>
              </a:rPr>
              <a:t>6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10222992" y="27432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1C"/>
                </a:solidFill>
              </a:rPr>
              <a:t>Verify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222992" y="327355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16B"/>
                </a:solidFill>
              </a:rPr>
              <a:t>회복 신호와 결과 기록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28800" y="50749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4C3D"/>
                </a:solidFill>
              </a:rPr>
              <a:t>Welfare impact = 더 빠른 확인 + 더 빠른 적절한 조치 + 결과 확인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11 · HERD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개체복지 → Herd Welfare Intelligence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4C3D"/>
                </a:solidFill>
              </a:rPr>
              <a:t>개체별 신호를 모으면 농장 차원의 “반복되는 복지 위험”을 볼 수 있습니다.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143000" y="1965960"/>
            <a:ext cx="94183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71600" y="208483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01C"/>
                </a:solidFill>
              </a:rPr>
              <a:t>Individual  —  어떤 소가 지금 변하고 있는가?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54480" y="2807208"/>
            <a:ext cx="8595360" cy="566928"/>
          </a:xfrm>
          <a:prstGeom prst="roundRect">
            <a:avLst>
              <a:gd name="adj" fmla="val 8065"/>
            </a:avLst>
          </a:prstGeom>
          <a:solidFill>
            <a:srgbClr val="DDE9E2"/>
          </a:solidFill>
          <a:ln w="12700">
            <a:solidFill>
              <a:srgbClr val="D5DDD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783080" y="29260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01C"/>
                </a:solidFill>
              </a:rPr>
              <a:t>Group pattern  —  특정 군·산차·DIM에 문제가 집중되는가?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65960" y="3648456"/>
            <a:ext cx="77724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194560" y="37673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01C"/>
                </a:solidFill>
              </a:rPr>
              <a:t>Farm pattern  —  열스트레스·사양·환경 변화와 동조하는가?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77440" y="4489704"/>
            <a:ext cx="6949440" cy="566928"/>
          </a:xfrm>
          <a:prstGeom prst="roundRect">
            <a:avLst>
              <a:gd name="adj" fmla="val 8065"/>
            </a:avLst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606040" y="4608576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Action  —  환경·사양·진료 프로토콜을 개선할 수 있는가?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12 · SCALE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농장복지 → 지역·국가 단위 surveillance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309360" y="132588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DDE9E2"/>
          </a:solidFill>
          <a:ln w="12700">
            <a:solidFill>
              <a:srgbClr val="CBD5C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46520" y="14538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1C"/>
                </a:solidFill>
              </a:rPr>
              <a:t>Cow  —  개체의 변화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57900" y="2176272"/>
            <a:ext cx="2788920" cy="594360"/>
          </a:xfrm>
          <a:prstGeom prst="roundRect">
            <a:avLst>
              <a:gd name="adj" fmla="val 7692"/>
            </a:avLst>
          </a:prstGeom>
          <a:solidFill>
            <a:srgbClr val="DDE9E2"/>
          </a:solidFill>
          <a:ln w="12700">
            <a:solidFill>
              <a:srgbClr val="CBD5C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195060" y="23042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1C"/>
                </a:solidFill>
              </a:rPr>
              <a:t>Herd  —  농장 패턴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06440" y="3026664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C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0" y="3154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1C"/>
                </a:solidFill>
              </a:rPr>
              <a:t>Veterinary network  —  다농장 우선순위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54980" y="3877056"/>
            <a:ext cx="37947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C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92140" y="400507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1C"/>
                </a:solidFill>
              </a:rPr>
              <a:t>Region  —  집단 위험 신호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0" y="4727448"/>
            <a:ext cx="4297680" cy="594360"/>
          </a:xfrm>
          <a:prstGeom prst="roundRect">
            <a:avLst>
              <a:gd name="adj" fmla="val 7692"/>
            </a:avLst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40680" y="485546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Nation  —  복지·건강 정책 인사이트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716B"/>
                </a:solidFill>
              </a:rPr>
              <a:t>단, 집단 데이터는 개인정보·농장 데이터 거버넌스와 함께 설계되어야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13 · PARADIGM SHIFT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동물복지 인증에서 Continuous Welfare로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66716B"/>
                </a:solidFill>
              </a:rPr>
              <a:t>Snapshot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257800" y="141732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172200" y="1417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4C3D"/>
                </a:solidFill>
              </a:rPr>
              <a:t>Continuous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66716B"/>
                </a:solidFill>
              </a:rPr>
              <a:t>Farm-level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257800" y="22402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172200" y="2240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4C3D"/>
                </a:solidFill>
              </a:rPr>
              <a:t>Animal-centered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66716B"/>
                </a:solidFill>
              </a:rPr>
              <a:t>Compliance only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257800" y="306324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72200" y="3063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4C3D"/>
                </a:solidFill>
              </a:rPr>
              <a:t>Welfare improvement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66716B"/>
                </a:solidFill>
              </a:rPr>
              <a:t>Late recognition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57800" y="388620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72200" y="3886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4C3D"/>
                </a:solidFill>
              </a:rPr>
              <a:t>Earlier attention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4709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66716B"/>
                </a:solidFill>
              </a:rPr>
              <a:t>Data collection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57800" y="470916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72200" y="4709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4C3D"/>
                </a:solidFill>
              </a:rPr>
              <a:t>Action + verification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5156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201C"/>
                </a:solidFill>
              </a:rPr>
              <a:t>인증은 기준을 세웁니다. 연속 모니터링은 그 기준 사이의 365일을 채웁니다.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14 · RESPONSIBLE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What AI should — and should not —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07492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508760"/>
            <a:ext cx="64008" cy="356616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05256" y="1673352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AI SHOULD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05256" y="2093976"/>
            <a:ext cx="469087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• 24/7 변화를 놓치지 않기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• 확인 우선순위를 정리하기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• 여러 데이터의 맥락을 연결하기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• 조치 후 결과를 추적하기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1508760"/>
            <a:ext cx="507492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46520" y="1508760"/>
            <a:ext cx="64008" cy="3566160"/>
          </a:xfrm>
          <a:prstGeom prst="rect">
            <a:avLst/>
          </a:prstGeom>
          <a:solidFill>
            <a:srgbClr val="A64B43"/>
          </a:solidFill>
          <a:ln w="12700">
            <a:solidFill>
              <a:srgbClr val="A64B4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65976" y="1673352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AI SHOULD NOT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65976" y="2093976"/>
            <a:ext cx="469087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• Mental State를 직접 측정했다고 주장하기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• 단일 신호로 질병을 확정하기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• 수의사의 진단·치료 책임을 대체하기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• 센서가 보는 영역을 전체 복지로 일반화하기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55321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4C3D"/>
                </a:solidFill>
              </a:rPr>
              <a:t>Responsible AI for welfare = continuous attention + human judgment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44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60120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DO YOU KNOW WHAT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YOUR COWS ARE TELLING YOU?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3DCA9"/>
                </a:solidFill>
              </a:rPr>
              <a:t>smaXtec helps us listen.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3DCA9"/>
                </a:solidFill>
              </a:rPr>
              <a:t>CowTalk helps us organize and understand.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3DCA9"/>
                </a:solidFill>
              </a:rPr>
              <a:t>Veterinarians and farmers turn that understanding into welfare.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2057400" y="4617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Animal welfare should not be a snapshot.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It should receive continuous attention.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834640" y="58521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9E2"/>
                </a:solidFill>
              </a:rPr>
              <a:t>HyunJae Ha, DVM  ·  hhj3150@hanmail.net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Korea Animal Clinic / D2O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Animal Welfare and AI in Cattle</dc:title>
  <dc:subject>Animal Welfare and AI in Cattle</dc:subject>
  <dc:creator>HyunJae Ha</dc:creator>
  <cp:lastModifiedBy>HyunJae Ha</cp:lastModifiedBy>
  <cp:revision>1</cp:revision>
  <dcterms:created xsi:type="dcterms:W3CDTF">2026-09-19T22:45:46Z</dcterms:created>
  <dcterms:modified xsi:type="dcterms:W3CDTF">2026-09-19T22:45:46Z</dcterms:modified>
</cp:coreProperties>
</file>
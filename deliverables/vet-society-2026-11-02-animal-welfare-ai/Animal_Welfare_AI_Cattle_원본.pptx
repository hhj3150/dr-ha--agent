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Mellor DJ et al. Animals. 2020;10:1870. https://doi.org/10.3390/ani10101870
D2O internal CowTalk materials,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Mellor DJ et al. The 2020 Five Domains Model. Animals. 2020;10:1870.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Mellor DJ et al. Animals. 2020;10:1870. The Five Domains Model is a structured welfare assessment framework, not a single welfare score.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Mellor DJ. Animals. 2017;7:60. Welfare assessment and monitoring are related but distinct processes.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smaXtec Classic Bolus SX.2 product sheet: continuous inner body temperature, rumination, water intake/drinking cycles and activity. https://smaxtec.com/wp-content/uploads/2024/10/Product-sheet_Classic-Bolus_SX2.pdf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smaXtec Classic Bolus SX.2 product sheet. https://smaxtec.com/wp-content/uploads/2024/10/Product-sheet_Classic-Bolus_SX2.pdf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D2O internal CowTalk Master Plan, 2026: CowTalk integrates rumen-sensor, farm, clinical and public data into role-specific actionable information.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Mellor DJ et al. Animals. 2020;10:1870. The model includes positive and negative welfare impacts across all five domains.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D2O internal CowTalk materials describe individual, herd, veterinary, administrative and regional views.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Mellor DJ et al. Animals. 2020;10:1870. D2O CowTalk concept uses human-in-the-loop clinical interpretation.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Mellor DJ et al. Animals. 2020;10:1870.
smaXtec Classic Bolus SX.2 product sheet.
D2O internal CowTalk materials,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6F"/>
                </a:solidFill>
              </a:rPr>
              <a:t>Animal Welfare and AI in Cattle  |  HyunJae Ha, DVM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196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</a:rPr>
              <a:t>Korea Animal Clinic · D2O / CowTalk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13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ANIMAL WELFARE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AI IN CATTLE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49808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DCA9"/>
                </a:solidFill>
              </a:rPr>
              <a:t>Do you know what your cows are telling you?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9E2"/>
                </a:solidFill>
              </a:rPr>
              <a:t>From periodic welfare assessment to continuous, animal-centered monitoring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41080" y="1143000"/>
            <a:ext cx="2468880" cy="2468880"/>
          </a:xfrm>
          <a:prstGeom prst="ellipse">
            <a:avLst/>
          </a:prstGeom>
          <a:solidFill>
            <a:srgbClr val="315E4D"/>
          </a:solidFill>
          <a:ln w="25400">
            <a:solidFill>
              <a:srgbClr val="87A9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972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24/7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098280" y="22128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E9E2"/>
                </a:solidFill>
              </a:rPr>
              <a:t>WELFARE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DE9E2"/>
                </a:solidFill>
              </a:rPr>
              <a:t>ATTENTION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HyunJae Ha, DVM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Korea Animal Clinic · D2O / CowTalk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hhj3150@hanmail.net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01 · THE ANIMAL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동물복지의 질문은 “시설이 좋은가?”에서 끝나지 않습니다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C3D"/>
                </a:solidFill>
              </a:rPr>
              <a:t>핵심은 소가 실제로 무엇을 경험하고 있는가입니다.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22199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Nutrition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5256" y="2642616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배고픔·갈증 없이 충분히 섭취하는가?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05740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22199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Environment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2642616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열·추위·바닥·공기 환경이 적절한가?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20574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05740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22199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Health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11896" y="2642616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통증·질병·기능 저하가 있는가?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566160"/>
            <a:ext cx="64008" cy="123444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730752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Behaviour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5256" y="4151376"/>
            <a:ext cx="4873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환경·다른 소·사람과 적절히 상호작용하는가?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566160"/>
            <a:ext cx="64008" cy="1234440"/>
          </a:xfrm>
          <a:prstGeom prst="rect">
            <a:avLst/>
          </a:prstGeom>
          <a:solidFill>
            <a:srgbClr val="C39A52"/>
          </a:solidFill>
          <a:ln w="12700">
            <a:solidFill>
              <a:srgbClr val="C39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730752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Mental state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37376" y="4151376"/>
            <a:ext cx="4873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그 결과 어떤 긍정·부정 경험을 하는가?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02 · WELFARE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Five Domains: 복지는 “한 개의 점수”가 아닙니다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436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817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6D7A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Nutrition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5584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C39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0565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9A52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3016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Physical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Environment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5332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A64B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313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4B43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2764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Health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750808" y="18745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244C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0616" y="2039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25128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Behavioural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Interactions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23560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9A52"/>
                </a:solidFill>
              </a:rPr>
              <a:t>↓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749040" y="443484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EFE6D4"/>
          </a:solidFill>
          <a:ln w="25400">
            <a:solidFill>
              <a:srgbClr val="C39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4709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01C"/>
                </a:solidFill>
              </a:rPr>
              <a:t>5  Mental State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715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C3D"/>
                </a:solidFill>
              </a:rPr>
              <a:t>AI는 Mental State를 직접 측정하는 것이 아니라, 복지와 관련된 객관적 신호를 더 지속적으로 관찰하도록 돕습니다.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03 · 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현재 복지평가의 빈틈: “관찰하지 않는 시간”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154680" cy="342900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64008" cy="3429000"/>
          </a:xfrm>
          <a:prstGeom prst="rect">
            <a:avLst/>
          </a:prstGeom>
          <a:solidFill>
            <a:srgbClr val="66716B"/>
          </a:solidFill>
          <a:ln w="12700">
            <a:solidFill>
              <a:srgbClr val="6671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6733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Periodic assessment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2093976"/>
            <a:ext cx="277063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현장 점검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임상검사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생산성 기록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인증·감사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4B43"/>
                </a:solidFill>
              </a:rPr>
              <a:t>시간의 대부분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128016" cy="128016"/>
          </a:xfrm>
          <a:prstGeom prst="ellipse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468880"/>
            <a:ext cx="128016" cy="128016"/>
          </a:xfrm>
          <a:prstGeom prst="ellipse">
            <a:avLst/>
          </a:prstGeom>
          <a:solidFill>
            <a:srgbClr val="D6D9D7"/>
          </a:solidFill>
          <a:ln w="12700">
            <a:solidFill>
              <a:srgbClr val="D6D9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7432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16052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508760"/>
            <a:ext cx="64008" cy="34290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936" y="1673352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Continuous attention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88936" y="2093976"/>
            <a:ext cx="377647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24시간 생체·행동 신호를 통해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“누구를 먼저 확인해야 하는가?”를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지속적으로 묻는 보완적 접근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57400" y="5394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1C"/>
                </a:solidFill>
              </a:rPr>
              <a:t>Continuous monitoring ≠ welfare certification replacement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04 · EARLY SIGNALS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소는 복지 저하를 임상증상보다 먼저 “신호”로 보낼 수 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64008" cy="1600200"/>
          </a:xfrm>
          <a:prstGeom prst="rect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71907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체온 변화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213969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염증·감염·분만·열부하 등과 연관 가능한 신호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554480"/>
            <a:ext cx="64008" cy="16002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71907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반추 변화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37376" y="213969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섭취·소화·불편·질병 변화의 단서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20440"/>
            <a:ext cx="64008" cy="16002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68503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활동 변화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5256" y="410565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발정·불편·행동 패턴 변화의 단서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520440"/>
            <a:ext cx="64008" cy="160020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368503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음수 변화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37376" y="4105656"/>
            <a:ext cx="46908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환경·섭취·건강 변화의 단서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5623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4B43"/>
                </a:solidFill>
              </a:rPr>
              <a:t>중요: 하나의 신호 = 하나의 진단이 아닙니다.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05 · SENSE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smaXtec = 복지 관련 생체신호를 듣는 sensing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상용 위내센서가 reticulum 내부에서 연속 측정합니다.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240280" cy="2240280"/>
          </a:xfrm>
          <a:prstGeom prst="ellipse">
            <a:avLst/>
          </a:prstGeom>
          <a:solidFill>
            <a:srgbClr val="F4E3E0"/>
          </a:solidFill>
          <a:ln w="19050">
            <a:solidFill>
              <a:srgbClr val="A64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Internal body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temperature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Health / Environment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057400"/>
            <a:ext cx="2240280" cy="2240280"/>
          </a:xfrm>
          <a:prstGeom prst="ellipse">
            <a:avLst/>
          </a:prstGeom>
          <a:solidFill>
            <a:srgbClr val="DDE9E2"/>
          </a:solidFill>
          <a:ln w="19050">
            <a:solidFill>
              <a:srgbClr val="244C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Rumination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Nutrition / Health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057400"/>
            <a:ext cx="2240280" cy="2240280"/>
          </a:xfrm>
          <a:prstGeom prst="ellipse">
            <a:avLst/>
          </a:prstGeom>
          <a:solidFill>
            <a:srgbClr val="DDE9E2"/>
          </a:solidFill>
          <a:ln w="19050">
            <a:solidFill>
              <a:srgbClr val="244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Activity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Behaviour / Health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2057400"/>
            <a:ext cx="2240280" cy="2240280"/>
          </a:xfrm>
          <a:prstGeom prst="ellipse">
            <a:avLst/>
          </a:prstGeom>
          <a:solidFill>
            <a:srgbClr val="DDE9E2"/>
          </a:solidFill>
          <a:ln w="19050">
            <a:solidFill>
              <a:srgbClr val="244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5420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Drinking-related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variables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8116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Nutrition / Environment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1C"/>
                </a:solidFill>
              </a:rPr>
              <a:t>smaXtec는 “복지 판정기”가 아니라 연속 생체신호의 공급원입니다.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06 · UNDERSTAND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CowTalk = 신호를 복지 맥락으로 연결하는 interpretation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제가 개발한 CowTalk은 센서 자체가 아니라 AI 기반 축산 디지털 운영체제입니다.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65960" y="2011680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2112264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smaXtec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211226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생체신호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2724912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825496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Clinical / Repro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8254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진료·수정·분만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3438144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53872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Feeding / Herd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53872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사양·개체·농장 이벤트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5960" y="4151376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4251960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1C"/>
                </a:solidFill>
              </a:rPr>
              <a:t>Environment / Public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25196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6B"/>
                </a:solidFill>
              </a:rPr>
              <a:t>기상·DHI·이력 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65960" y="4864608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4965192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CowTalk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96519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ED"/>
                </a:solidFill>
              </a:rPr>
              <a:t>맥락 통합 → 확인 우선순위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07 · HUMAN-IN-THE-LOOP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Animal Welfare Loop: Sense → Understand → Act →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CC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SENSE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smaXtec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연속 신호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90088" y="27432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11296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244C3D"/>
          </a:solidFill>
          <a:ln w="19050">
            <a:solidFill>
              <a:srgbClr val="244C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UNDERSTAND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94176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CA9"/>
                </a:solidFill>
              </a:rPr>
              <a:t>CowTalk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94176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ED"/>
                </a:solidFill>
              </a:rPr>
              <a:t>맥락·우선순위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43016" y="27432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64224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CCD5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47104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Vet / Farmer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47104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확인·진단·조치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95944" y="27432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217152" y="1920240"/>
            <a:ext cx="2286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CCD5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LEARN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00032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C"/>
                </a:solidFill>
              </a:rPr>
              <a:t>Outcome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00032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결과·이벤트 기록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4983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01C"/>
                </a:solidFill>
              </a:rPr>
              <a:t>복지의 최종 판단과 임상 책임은 사람에게 있습니다.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08 · EARLIER RECOGNITION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AI가 동물복지에 기여하는 지점: “더 일찍 알아차리기”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" cy="868680"/>
          </a:xfrm>
          <a:prstGeom prst="rect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8191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질병·통증 위험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0976" y="2002536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미세한 생체·행동 변화 → 조기 확인 기회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96312"/>
            <a:ext cx="64008" cy="868680"/>
          </a:xfrm>
          <a:prstGeom prst="rect">
            <a:avLst/>
          </a:prstGeom>
          <a:solidFill>
            <a:srgbClr val="C39A52"/>
          </a:solidFill>
          <a:ln w="12700">
            <a:solidFill>
              <a:srgbClr val="C39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66090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열스트레스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50976" y="3081528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환경 + 체온/행동 변화 → 개체별 취약성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75304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75304"/>
            <a:ext cx="64008" cy="86868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73989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섭취·소화 이상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50976" y="4160520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반추·음수 변화 → 사양·건강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654296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654296"/>
            <a:ext cx="64008" cy="86868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81888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분만·번식 이벤트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50976" y="5239512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생리·활동 변화 → 필요한 시점에 관찰 강화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5806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C3D"/>
                </a:solidFill>
              </a:rPr>
              <a:t>목표는 “AI 진단”이 아니라 suffering의 지속시간과 발견 지연을 줄일 기회를 만드는 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09 · POSITIVE WELFARE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하지만 복지는 “질병이 없는 상태”보다 넓습니다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센서와 AI가 잘 보는 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46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39A52"/>
                </a:solidFill>
              </a:rPr>
              <a:t>여전히 사람이 직접 봐야 하는 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43891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64008" cy="324612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848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Objective signals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976" y="2505456"/>
            <a:ext cx="40050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체온·반추·활동·음수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질병·열부하·섭취 이상과 연관된 변화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개체 기준선에서의 이탈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920240"/>
            <a:ext cx="43891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920240"/>
            <a:ext cx="64008" cy="3246120"/>
          </a:xfrm>
          <a:prstGeom prst="rect">
            <a:avLst/>
          </a:prstGeom>
          <a:solidFill>
            <a:srgbClr val="C39A52"/>
          </a:solidFill>
          <a:ln w="12700">
            <a:solidFill>
              <a:srgbClr val="C39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65976" y="20848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Whole-animal welfare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65976" y="2505456"/>
            <a:ext cx="40050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보행·파행·외상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사회적 상호작용·두려움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휴식의 질·환경 선택권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긍정적 경험과 Mental 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1C"/>
                </a:solidFill>
              </a:rPr>
              <a:t>따라서 CowTalk은 Five Domains 전체를 “대체”하지 않고, 일부 영역의 지속적 관찰을 강화합니다.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10 · CASE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Welfare case workflow: “알림”에서 “돌봄”까지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Change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반추↓ + 체온 변화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47672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산차·DIM·THI·진료이력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315968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407408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Priority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오늘 먼저 확인할 개체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24728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254496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EFE6D4"/>
          </a:solidFill>
          <a:ln w="15240">
            <a:solidFill>
              <a:srgbClr val="C39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39A52"/>
                </a:solidFill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345936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Examine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수의사/농장주 직접 확인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63256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193024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9368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5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284464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Care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84464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치료·환경·사양 조치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01784" y="29260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10131552" y="2011680"/>
            <a:ext cx="1481328" cy="23774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D7DD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97896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C3D"/>
                </a:solidFill>
              </a:rPr>
              <a:t>6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0222992" y="2743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1C"/>
                </a:solidFill>
              </a:rPr>
              <a:t>Verify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22992" y="32735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16B"/>
                </a:solidFill>
              </a:rPr>
              <a:t>회복 신호와 결과 기록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50749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Welfare impact = 더 빠른 확인 + 더 빠른 적절한 조치 + 결과 확인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11 · HERD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개체복지 → Herd Welfare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개체별 신호를 모으면 농장 차원의 “반복되는 복지 위험”을 볼 수 있습니다.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43000" y="1965960"/>
            <a:ext cx="9418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0848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1C"/>
                </a:solidFill>
              </a:rPr>
              <a:t>Individual  —  어떤 소가 지금 변하고 있는가?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2807208"/>
            <a:ext cx="8595360" cy="566928"/>
          </a:xfrm>
          <a:prstGeom prst="roundRect">
            <a:avLst>
              <a:gd name="adj" fmla="val 8065"/>
            </a:avLst>
          </a:prstGeom>
          <a:solidFill>
            <a:srgbClr val="DDE9E2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9260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1C"/>
                </a:solidFill>
              </a:rPr>
              <a:t>Group pattern  —  특정 군·산차·DIM에 문제가 집중되는가?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65960" y="3648456"/>
            <a:ext cx="7772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3767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1C"/>
                </a:solidFill>
              </a:rPr>
              <a:t>Farm pattern  —  열스트레스·사양·환경 변화와 동조하는가?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4489704"/>
            <a:ext cx="6949440" cy="566928"/>
          </a:xfrm>
          <a:prstGeom prst="roundRect">
            <a:avLst>
              <a:gd name="adj" fmla="val 8065"/>
            </a:avLst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460857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  —  환경·사양·진료 프로토콜을 개선할 수 있는가?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12 ·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농장복지 → 지역·국가 단위 surveillance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09360" y="132588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DDE9E2"/>
          </a:solidFill>
          <a:ln w="12700">
            <a:solidFill>
              <a:srgbClr val="CBD5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453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Cow  —  개체의 변화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57900" y="2176272"/>
            <a:ext cx="2788920" cy="594360"/>
          </a:xfrm>
          <a:prstGeom prst="roundRect">
            <a:avLst>
              <a:gd name="adj" fmla="val 7692"/>
            </a:avLst>
          </a:prstGeom>
          <a:solidFill>
            <a:srgbClr val="DDE9E2"/>
          </a:solidFill>
          <a:ln w="12700">
            <a:solidFill>
              <a:srgbClr val="CBD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5060" y="23042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Herd  —  농장 패턴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3026664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Veterinary network  —  다농장 우선순위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54980" y="3877056"/>
            <a:ext cx="37947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2140" y="40050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1C"/>
                </a:solidFill>
              </a:rPr>
              <a:t>Region  —  집단 위험 신호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4727448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4855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Nation  —  복지·건강 정책 인사이트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16B"/>
                </a:solidFill>
              </a:rPr>
              <a:t>단, 집단 데이터는 개인정보·농장 데이터 거버넌스와 함께 설계되어야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13 · PARADIGM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동물복지 인증에서 Continuous Welfare로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Snapshot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257800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7220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Continuous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Farm-level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57800" y="22402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7220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Animal-centered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Compliance only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57800" y="30632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Welfare improvement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Late recognition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57800" y="38862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Earlier attention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6716B"/>
                </a:solidFill>
              </a:rPr>
              <a:t>Data collection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57800" y="47091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9A52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C3D"/>
                </a:solidFill>
              </a:rPr>
              <a:t>Action + verification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01C"/>
                </a:solidFill>
              </a:rPr>
              <a:t>인증은 기준을 세웁니다. 연속 모니터링은 그 기준 사이의 365일을 채웁니다.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39A52"/>
                </a:solidFill>
              </a:rPr>
              <a:t>14 · RESPONSIBLE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1C"/>
                </a:solidFill>
              </a:rPr>
              <a:t>What AI should — and should not —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7492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64008" cy="3566160"/>
          </a:xfrm>
          <a:prstGeom prst="rect">
            <a:avLst/>
          </a:prstGeom>
          <a:solidFill>
            <a:srgbClr val="244C3D"/>
          </a:solidFill>
          <a:ln w="12700">
            <a:solidFill>
              <a:srgbClr val="244C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67335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AI SHOULD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2093976"/>
            <a:ext cx="46908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24/7 변화를 놓치지 않기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확인 우선순위를 정리하기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여러 데이터의 맥락을 연결하기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조치 후 결과를 추적하기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508760"/>
            <a:ext cx="507492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508760"/>
            <a:ext cx="64008" cy="3566160"/>
          </a:xfrm>
          <a:prstGeom prst="rect">
            <a:avLst/>
          </a:prstGeom>
          <a:solidFill>
            <a:srgbClr val="A64B43"/>
          </a:solidFill>
          <a:ln w="12700">
            <a:solidFill>
              <a:srgbClr val="A64B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5976" y="167335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1C"/>
                </a:solidFill>
              </a:rPr>
              <a:t>AI SHOULD NOT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65976" y="2093976"/>
            <a:ext cx="46908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Mental State를 직접 측정했다고 주장하기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단일 신호로 질병을 확정하기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수의사의 진단·치료 책임을 대체하기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6B"/>
                </a:solidFill>
              </a:rPr>
              <a:t>• 센서가 보는 영역을 전체 복지로 일반화하기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5532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C3D"/>
                </a:solidFill>
              </a:rPr>
              <a:t>Responsible AI for welfare = continuous attention + human judgment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4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01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 YOU KNOW WHAT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COWS ARE TELLING YOU?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3DCA9"/>
                </a:solidFill>
              </a:rPr>
              <a:t>smaXtec helps us listen.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3DCA9"/>
                </a:solidFill>
              </a:rPr>
              <a:t>CowTalk helps us organize and understand.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3DCA9"/>
                </a:solidFill>
              </a:rPr>
              <a:t>Veterinarians and farmers turn that understanding into welfare.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057400" y="4617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Animal welfare should not be a snapshot.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It should receive continuous attention.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34640" y="5852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9E2"/>
                </a:solidFill>
              </a:rPr>
              <a:t>HyunJae Ha, DVM  ·  hhj3150@hanmail.net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Korea Animal Clinic / D2O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 Welfare and AI in Cattle</dc:title>
  <dc:subject>Animal Welfare and AI in Cattle</dc:subject>
  <dc:creator>HyunJae Ha</dc:creator>
  <cp:lastModifiedBy>HyunJae Ha</cp:lastModifiedBy>
  <cp:revision>1</cp:revision>
  <dcterms:created xsi:type="dcterms:W3CDTF">2026-09-19T22:45:46Z</dcterms:created>
  <dcterms:modified xsi:type="dcterms:W3CDTF">2026-09-19T22:45:46Z</dcterms:modified>
</cp:coreProperties>
</file>
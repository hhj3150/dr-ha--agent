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0D">
              <a:alpha val="6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8120D">
              <a:alpha val="8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965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YOUNG SHIN DAIRY FARM  ·  REPUBLIC OF KOREA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</a:t>
            </a:r>
            <a:endParaRPr lang="en-US" sz="5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Dairy Farming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66928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(IT · BT) &amp; Circular Agriculture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47731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스마트팜과 순환농업으로 만드는 지속가능한 낙농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53492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chào</a:t>
            </a:r>
            <a:pPr indent="0" marL="0">
              <a:buNone/>
            </a:pPr>
            <a:r>
              <a:rPr lang="en-US" sz="1500" b="1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베트남 대표단을 환영합니다 · Chào mừng đoàn Việt Nam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Hyunjae Ha, DVM</a:t>
            </a:r>
            <a:pPr indent="0" marL="0">
              <a:buNone/>
            </a:pPr>
            <a:r>
              <a:rPr lang="en-US" sz="1700" dirty="0">
                <a:solidFill>
                  <a:srgbClr val="A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하현제 수의사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6309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Goryeo VET Clinic · Song Young Shin Farm · Farm Study Visit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환영합니다 · CHÀO MỪNG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warm welcome to our friends from Vietnam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22402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honor to host public officials of Vietnam at our farm. We share one mission — </a:t>
            </a:r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livestock industry that is profitable for farmers, kind to animals, and gentle on the land.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Today we show how a Korean family dairy turned that mission into daily practice.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회장님의 목장에 오신 베트남 공무원 여러분을 진심으로 환영합니다.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4114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FOUR AREAS OF INTEREST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4526280"/>
            <a:ext cx="2615184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4636008"/>
            <a:ext cx="64008" cy="1335024"/>
          </a:xfrm>
          <a:prstGeom prst="rect">
            <a:avLst/>
          </a:prstGeom>
          <a:solidFill>
            <a:srgbClr val="4F7D2E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4709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52395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livestock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5528" y="558698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친환경축산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46704" y="4526280"/>
            <a:ext cx="2615184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6704" y="4636008"/>
            <a:ext cx="64008" cy="1335024"/>
          </a:xfrm>
          <a:prstGeom prst="rect">
            <a:avLst/>
          </a:prstGeom>
          <a:solidFill>
            <a:srgbClr val="9A6B3A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4709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75304" y="52395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agriculture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575304" y="558698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순환농업 · Nông nghiệp tuần hoàn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4526280"/>
            <a:ext cx="2615184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4636008"/>
            <a:ext cx="64008" cy="1335024"/>
          </a:xfrm>
          <a:prstGeom prst="rect">
            <a:avLst/>
          </a:prstGeom>
          <a:solidFill>
            <a:srgbClr val="12857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4709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🥛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52395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dairy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55080" y="558698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지속가능한 낙농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06256" y="4526280"/>
            <a:ext cx="2615184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06256" y="4636008"/>
            <a:ext cx="64008" cy="1335024"/>
          </a:xfrm>
          <a:prstGeom prst="rect">
            <a:avLst/>
          </a:prstGeom>
          <a:solidFill>
            <a:srgbClr val="3B5F22"/>
          </a:solidFill>
          <a:ln/>
        </p:spPr>
      </p:sp>
      <p:sp>
        <p:nvSpPr>
          <p:cNvPr id="24" name="Text 22"/>
          <p:cNvSpPr/>
          <p:nvPr/>
        </p:nvSpPr>
        <p:spPr>
          <a:xfrm>
            <a:off x="9134856" y="4709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34856" y="52395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134856" y="558698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스마트팜 · IT &amp; BT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DAIRY FARMING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발표 순서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walk through today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81328" y="2331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81328" y="27432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D2O ecosystem — farm, clinic, research, platform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3368" y="23317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287768" y="2331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agriculture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287768" y="27432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순환농업 — the manure-to-soil nutrient loop &amp; D2O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35661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81328" y="3566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dairy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81328" y="3977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Young Shin Farm — welfare, low-carbon, grass-fed A2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73368" y="35661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87768" y="3566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(IT · BT)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287768" y="3977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smaXtec rumen sensors &amp; genetics / embryo transfer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70148" y="48006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384548" y="4800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for Vietnam &amp; Q&amp;A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384548" y="52120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transfers to Vietnamese dairy — and open discussion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DAIRY FARMING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· D2O &amp; PARTNERS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integrated ecosystem for smart, sustainable dairy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4206240" cy="1783080"/>
          </a:xfrm>
          <a:prstGeom prst="roundRect">
            <a:avLst>
              <a:gd name="adj" fmla="val 564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368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L&amp;H Research Center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862072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Sexed embryo transfer (MOET)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&amp; embryo culture (BT)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34072" y="2148840"/>
            <a:ext cx="4206240" cy="1783080"/>
          </a:xfrm>
          <a:prstGeom prst="roundRect">
            <a:avLst>
              <a:gd name="adj" fmla="val 564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08392" y="2368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Goryeo VET Clinic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08392" y="2862072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/ AI &amp; smart vet system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&amp; feeding consulting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160520"/>
            <a:ext cx="4206240" cy="1783080"/>
          </a:xfrm>
          <a:prstGeom prst="roundRect">
            <a:avLst>
              <a:gd name="adj" fmla="val 564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4379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Young Shin Farm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873752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Animal-welfare &amp; low-carbon certified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hay milk — Jersey &amp; Holstein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34072" y="4160520"/>
            <a:ext cx="4206240" cy="1783080"/>
          </a:xfrm>
          <a:prstGeom prst="roundRect">
            <a:avLst>
              <a:gd name="adj" fmla="val 564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08392" y="4379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8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D2O Co., Ltd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08392" y="4873752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 for dairy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Smart-farming solutions (dairy &amp; pig)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230368" y="2697480"/>
            <a:ext cx="1737360" cy="1737360"/>
          </a:xfrm>
          <a:prstGeom prst="ellipse">
            <a:avLst/>
          </a:prstGeom>
          <a:solidFill>
            <a:srgbClr val="12857A"/>
          </a:solidFill>
          <a:ln/>
        </p:spPr>
      </p:sp>
      <p:sp>
        <p:nvSpPr>
          <p:cNvPr id="17" name="Text 15"/>
          <p:cNvSpPr/>
          <p:nvPr/>
        </p:nvSpPr>
        <p:spPr>
          <a:xfrm>
            <a:off x="5230368" y="2697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30368" y="2697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04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D2O
</a:t>
            </a:r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63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Dung to Origin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→ Veterinary care → Farm → Platform — a single closed loop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PHILOSOPHY · 지속가능한 농업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forces shaping sustainable agriculture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502152" cy="1554480"/>
          </a:xfrm>
          <a:prstGeom prst="roundRect">
            <a:avLst>
              <a:gd name="adj" fmla="val 647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542032"/>
            <a:ext cx="201168" cy="201168"/>
          </a:xfrm>
          <a:prstGeom prst="ellipse">
            <a:avLst/>
          </a:prstGeom>
          <a:solidFill>
            <a:srgbClr val="C08A4E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246888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33856" y="28346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 must earn to endure.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33672" y="2286000"/>
            <a:ext cx="3502152" cy="1554480"/>
          </a:xfrm>
          <a:prstGeom prst="roundRect">
            <a:avLst>
              <a:gd name="adj" fmla="val 647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2542032"/>
            <a:ext cx="201168" cy="201168"/>
          </a:xfrm>
          <a:prstGeom prst="ellipse">
            <a:avLst/>
          </a:prstGeom>
          <a:solidFill>
            <a:srgbClr val="4FA0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46888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800600" y="28346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탄소 · 메탄 · 농업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07992" y="32004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 livestock is now the standard.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00416" y="2286000"/>
            <a:ext cx="3502152" cy="1554480"/>
          </a:xfrm>
          <a:prstGeom prst="roundRect">
            <a:avLst>
              <a:gd name="adj" fmla="val 647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74736" y="2542032"/>
            <a:ext cx="201168" cy="201168"/>
          </a:xfrm>
          <a:prstGeom prst="ellipse">
            <a:avLst/>
          </a:prstGeom>
          <a:solidFill>
            <a:srgbClr val="E58A6B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246888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Health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67344" y="28346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동물 · 자연 · 인간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32004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Animal, environment &amp; human health are one.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023360"/>
            <a:ext cx="3502152" cy="1554480"/>
          </a:xfrm>
          <a:prstGeom prst="roundRect">
            <a:avLst>
              <a:gd name="adj" fmla="val 647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279392"/>
            <a:ext cx="201168" cy="201168"/>
          </a:xfrm>
          <a:prstGeom prst="ellipse">
            <a:avLst/>
          </a:prstGeom>
          <a:solidFill>
            <a:srgbClr val="31B7A7"/>
          </a:solidFill>
          <a:ln/>
        </p:spPr>
      </p:sp>
      <p:sp>
        <p:nvSpPr>
          <p:cNvPr id="21" name="Text 19"/>
          <p:cNvSpPr/>
          <p:nvPr/>
        </p:nvSpPr>
        <p:spPr>
          <a:xfrm>
            <a:off x="1133856" y="420624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33856" y="457200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노동력 · 승계 · 삶의 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49377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keeps the next generation on the farm.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33672" y="4023360"/>
            <a:ext cx="3502152" cy="1554480"/>
          </a:xfrm>
          <a:prstGeom prst="roundRect">
            <a:avLst>
              <a:gd name="adj" fmla="val 647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4279392"/>
            <a:ext cx="201168" cy="201168"/>
          </a:xfrm>
          <a:prstGeom prst="ellipse">
            <a:avLst/>
          </a:prstGeom>
          <a:solidFill>
            <a:srgbClr val="E0714E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420624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welfare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800600" y="457200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세계적 이슈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07992" y="49377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cows are productive cows.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00416" y="4023360"/>
            <a:ext cx="3502152" cy="1554480"/>
          </a:xfrm>
          <a:prstGeom prst="roundRect">
            <a:avLst>
              <a:gd name="adj" fmla="val 647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74736" y="4279392"/>
            <a:ext cx="201168" cy="201168"/>
          </a:xfrm>
          <a:prstGeom prst="ellipse">
            <a:avLst/>
          </a:prstGeom>
          <a:solidFill>
            <a:srgbClr val="9BC53D"/>
          </a:solidFill>
          <a:ln/>
        </p:spPr>
      </p:sp>
      <p:sp>
        <p:nvSpPr>
          <p:cNvPr id="31" name="Text 29"/>
          <p:cNvSpPr/>
          <p:nvPr/>
        </p:nvSpPr>
        <p:spPr>
          <a:xfrm>
            <a:off x="8467344" y="420624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Humanity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467344" y="457200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 · 사명감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74736" y="49377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as a calling, not only a business.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AGRICULTURE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AGRICULTURE · 순환농업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 is not waste — it is a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in the wrong place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순환농업이란 무엇인가?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594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 → Compost → Feed crops → Cattle feed — a closed nutrient loop</a:t>
            </a:r>
            <a:endParaRPr lang="en-US" sz="16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eco-economic system that turns a cost into an input</a:t>
            </a:r>
            <a:endParaRPr lang="en-US" sz="16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direct, practical response to climate change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4754880"/>
            <a:ext cx="1353312" cy="384048"/>
          </a:xfrm>
          <a:prstGeom prst="roundRect">
            <a:avLst>
              <a:gd name="adj" fmla="val 50000"/>
            </a:avLst>
          </a:prstGeom>
          <a:ln w="19050">
            <a:solidFill>
              <a:srgbClr val="9A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7548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Feed costs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52928" y="4754880"/>
            <a:ext cx="2048256" cy="384048"/>
          </a:xfrm>
          <a:prstGeom prst="roundRect">
            <a:avLst>
              <a:gd name="adj" fmla="val 50000"/>
            </a:avLst>
          </a:prstGeom>
          <a:ln w="19050">
            <a:solidFill>
              <a:srgbClr val="4F7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47548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Pollution &amp; carbon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1463040"/>
            <a:ext cx="4709160" cy="4023360"/>
          </a:xfrm>
          <a:prstGeom prst="roundRect">
            <a:avLst>
              <a:gd name="adj" fmla="val 2045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11" name="Image 0" descr="/tmp/claude-0/-home-user-Dr-Ha--agent/6665ef24-eca8-582e-bc7a-8ce8fc2f76de/scratchpad/opt/wildflow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22008" y="1481328"/>
            <a:ext cx="4672584" cy="39867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086600" y="5074920"/>
            <a:ext cx="3070555" cy="310896"/>
          </a:xfrm>
          <a:prstGeom prst="roundRect">
            <a:avLst>
              <a:gd name="adj" fmla="val 17647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5074920"/>
            <a:ext cx="30705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MARGINS RESTORED FOR BIODIVERSITY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AGRICULTURE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DAIRY FARMING · 순환형 낙농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livestock–crop nutrient 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474720" cy="3474720"/>
          </a:xfrm>
          <a:prstGeom prst="roundRect">
            <a:avLst>
              <a:gd name="adj" fmla="val 2368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5" name="Image 0" descr="/tmp/claude-0/-home-user-Dr-Ha--agent/6665ef24-eca8-582e-bc7a-8ce8fc2f76de/scratchpad/opt/cyc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" y="2212848"/>
            <a:ext cx="3438144" cy="3438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80560" y="2286000"/>
            <a:ext cx="566928" cy="566928"/>
          </a:xfrm>
          <a:prstGeom prst="ellipse">
            <a:avLst/>
          </a:prstGeom>
          <a:solidFill>
            <a:srgbClr val="4F7D2E"/>
          </a:solidFill>
          <a:ln/>
        </p:spPr>
      </p:sp>
      <p:sp>
        <p:nvSpPr>
          <p:cNvPr id="7" name="Text 4"/>
          <p:cNvSpPr/>
          <p:nvPr/>
        </p:nvSpPr>
        <p:spPr>
          <a:xfrm>
            <a:off x="448056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57800" y="22677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→ Livestock → Manure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257800" y="26517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 circulate instead of leaking out of the system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3456432"/>
            <a:ext cx="566928" cy="566928"/>
          </a:xfrm>
          <a:prstGeom prst="ellipse">
            <a:avLst/>
          </a:prstGeom>
          <a:solidFill>
            <a:srgbClr val="9A6B3A"/>
          </a:solidFill>
          <a:ln/>
        </p:spPr>
      </p:sp>
      <p:sp>
        <p:nvSpPr>
          <p:cNvPr id="11" name="Text 8"/>
          <p:cNvSpPr/>
          <p:nvPr/>
        </p:nvSpPr>
        <p:spPr>
          <a:xfrm>
            <a:off x="4480560" y="3456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57800" y="343814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 = organic fertilizer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257800" y="38221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the grassland that grows the herd's own feed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480560" y="4626864"/>
            <a:ext cx="566928" cy="566928"/>
          </a:xfrm>
          <a:prstGeom prst="ellipse">
            <a:avLst/>
          </a:prstGeom>
          <a:solidFill>
            <a:srgbClr val="12857A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4626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5780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emission &amp; sustainable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257800" y="499262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inputs bought, less pollution released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480560" y="5532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19" name="Image 1" descr="/tmp/claude-0/-home-user-Dr-Ha--agent/6665ef24-eca8-582e-bc7a-8ce8fc2f76de/scratchpad/opt/her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98848" y="5550408"/>
            <a:ext cx="3986784" cy="9235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617720" y="5669280"/>
            <a:ext cx="2995574" cy="310896"/>
          </a:xfrm>
          <a:prstGeom prst="roundRect">
            <a:avLst>
              <a:gd name="adj" fmla="val 17647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4617720" y="5669280"/>
            <a:ext cx="2995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YOUNG SHIN FARM — GYEONGGI, KOREA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DAIRY FARMING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LIVESTOCK · 친환경축산의 핵심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D2O</a:t>
            </a:r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returning dung to its origin, the soil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eco-friendly livestock is what you do with manure. D2O is our barn-and-bedding management approach that treats manure as the starting point of the next harvest — not a disposal problem.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926080"/>
            <a:ext cx="3502152" cy="1783080"/>
          </a:xfrm>
          <a:prstGeom prst="roundRect">
            <a:avLst>
              <a:gd name="adj" fmla="val 564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31455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🌾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367588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 reduction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402336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cleaner barn for animals, workers and neighbours — critical near communities.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926080"/>
            <a:ext cx="3502152" cy="1783080"/>
          </a:xfrm>
          <a:prstGeom prst="roundRect">
            <a:avLst>
              <a:gd name="adj" fmla="val 564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31455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26280" y="367588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Healthier bedding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402336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Drier, better-managed bedding supports udder health and animal comfort.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36992" y="2926080"/>
            <a:ext cx="3502152" cy="1783080"/>
          </a:xfrm>
          <a:prstGeom prst="roundRect">
            <a:avLst>
              <a:gd name="adj" fmla="val 5641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11312" y="31455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11312" y="367588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 compost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11312" y="402336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controlled composting returns stable organic matter to the grassland.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5074920"/>
            <a:ext cx="11064240" cy="1005840"/>
          </a:xfrm>
          <a:prstGeom prst="roundRect">
            <a:avLst>
              <a:gd name="adj" fmla="val 10000"/>
            </a:avLst>
          </a:prstGeom>
          <a:solidFill>
            <a:srgbClr val="1A2E17"/>
          </a:solidFill>
          <a:ln/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Vietnam: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hot, humid climates manure &amp; odor management is the first bottleneck to scaling dairy near towns. Solve it, and welfare, environment and community acceptance all improve together.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D2O · DUNG TO ORIGIN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DAIRY · 송영신목장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Song Young Shin Farm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Korea's 1st animal-welfare &amp; low-carbon certified dairy farm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F7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92808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Animal-welfare &amp;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 certified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30ha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92808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grassland for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home-grown feed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4206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92808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Grass-fed hay milk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 &amp; Holstein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166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92808" y="5166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milking —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cows choose their 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60520" y="224028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14" name="Image 0" descr="/tmp/claude-0/-home-user-Dr-Ha--agent/6665ef24-eca8-582e-bc7a-8ce8fc2f76de/scratchpad/opt/aeri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78808" y="2258568"/>
            <a:ext cx="3602736" cy="192938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97680" y="2377440"/>
            <a:ext cx="746150" cy="310896"/>
          </a:xfrm>
          <a:prstGeom prst="roundRect">
            <a:avLst>
              <a:gd name="adj" fmla="val 17647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297680" y="2377440"/>
            <a:ext cx="7461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982712" y="224028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18" name="Image 1" descr="/tmp/claude-0/-home-user-Dr-Ha--agent/6665ef24-eca8-582e-bc7a-8ce8fc2f76de/scratchpad/opt/grasslan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0" y="2258568"/>
            <a:ext cx="3602736" cy="192938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119872" y="2377440"/>
            <a:ext cx="1271016" cy="310896"/>
          </a:xfrm>
          <a:prstGeom prst="roundRect">
            <a:avLst>
              <a:gd name="adj" fmla="val 17647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8119872" y="2377440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HA GRASSLAND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160520" y="438912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22" name="Image 2" descr="/tmp/claude-0/-home-user-Dr-Ha--agent/6665ef24-eca8-582e-bc7a-8ce8fc2f76de/scratchpad/opt/robo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78808" y="4407408"/>
            <a:ext cx="3602736" cy="192938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297680" y="4526280"/>
            <a:ext cx="1271016" cy="310896"/>
          </a:xfrm>
          <a:prstGeom prst="roundRect">
            <a:avLst>
              <a:gd name="adj" fmla="val 17647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4297680" y="4526280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MILKING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982712" y="438912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26" name="Image 3" descr="/tmp/claude-0/-home-user-Dr-Ha--agent/6665ef24-eca8-582e-bc7a-8ce8fc2f76de/scratchpad/opt/grassfed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01000" y="4407408"/>
            <a:ext cx="3602736" cy="192938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119872" y="4526280"/>
            <a:ext cx="1196035" cy="310896"/>
          </a:xfrm>
          <a:prstGeom prst="roundRect">
            <a:avLst>
              <a:gd name="adj" fmla="val 17647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8119872" y="4526280"/>
            <a:ext cx="1196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GRASS-FED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DAIRY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THE SYSTEM · A2 HAY MILK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corn. No grain.</a:t>
            </a:r>
            <a:endParaRPr lang="en-US" sz="4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grass.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26974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sustainable farm produces a distinctive product. Cows grazed and fed on the farm's own grassland give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β-casein milk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sold as a premium, traceable brand that funds the farm's continued investment in welfare and technology.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397764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grass-fed — no corn, no grain</a:t>
            </a:r>
            <a:endParaRPr lang="en-US" sz="15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Jersey &amp; Holstein hay milk</a:t>
            </a:r>
            <a:endParaRPr lang="en-US" sz="15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Welfare-first: robotic milking, freedom of movement</a:t>
            </a:r>
            <a:endParaRPr lang="en-US" sz="15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Farm-to-brand traceability that consumers trust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818120" y="1371600"/>
            <a:ext cx="2377440" cy="3291840"/>
          </a:xfrm>
          <a:prstGeom prst="roundRect">
            <a:avLst>
              <a:gd name="adj" fmla="val 3462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7" name="Image 0" descr="/tmp/claude-0/-home-user-Dr-Ha--agent/6665ef24-eca8-582e-bc7a-8ce8fc2f76de/scratchpad/opt/mil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36408" y="1389888"/>
            <a:ext cx="2340864" cy="32552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4892040"/>
            <a:ext cx="4023360" cy="1234440"/>
          </a:xfrm>
          <a:prstGeom prst="roundRect">
            <a:avLst>
              <a:gd name="adj" fmla="val 8148"/>
            </a:avLst>
          </a:prstGeom>
          <a:solidFill>
            <a:srgbClr val="1B3227"/>
          </a:solidFill>
          <a:ln/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1812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that pays for itself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5394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→ Quality → Premium price → Reinvestment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DAIRY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BT · 유전 · 수정란이식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Biotechnology: better cows, faster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L&amp;H Research Center we use embryo transfer (MOET) and IVF to multiply the best dairy genetics — cows that give more milk, breed reliably, and cope with a changing climate.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3063240"/>
            <a:ext cx="384048" cy="384048"/>
          </a:xfrm>
          <a:prstGeom prst="ellipse">
            <a:avLst/>
          </a:prstGeom>
          <a:solidFill>
            <a:srgbClr val="12857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3063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Oocyte recovery from selected donor cows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3630168"/>
            <a:ext cx="384048" cy="384048"/>
          </a:xfrm>
          <a:prstGeom prst="ellipse">
            <a:avLst/>
          </a:prstGeom>
          <a:solidFill>
            <a:srgbClr val="12857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6301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Maturation &amp; in-vitro fertilization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4197096"/>
            <a:ext cx="384048" cy="384048"/>
          </a:xfrm>
          <a:prstGeom prst="ellipse">
            <a:avLst/>
          </a:prstGeom>
          <a:solidFill>
            <a:srgbClr val="12857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41970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to blastocyst, quality selected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4764024"/>
            <a:ext cx="384048" cy="384048"/>
          </a:xfrm>
          <a:prstGeom prst="ellipse">
            <a:avLst/>
          </a:prstGeom>
          <a:solidFill>
            <a:srgbClr val="12857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47640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recipient — or freeze at −196 °C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5486400"/>
            <a:ext cx="5943600" cy="822960"/>
          </a:xfrm>
          <a:prstGeom prst="roundRect">
            <a:avLst>
              <a:gd name="adj" fmla="val 12222"/>
            </a:avLst>
          </a:prstGeom>
          <a:solidFill>
            <a:srgbClr val="E8EFE3"/>
          </a:solidFill>
          <a:ln/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" y="559612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 </a:t>
            </a:r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Holstein sexed dairy embryos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improving milk herds sustainably.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965960"/>
            <a:ext cx="4892040" cy="2148840"/>
          </a:xfrm>
          <a:prstGeom prst="roundRect">
            <a:avLst>
              <a:gd name="adj" fmla="val 3830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20" name="Image 0" descr="/tmp/claude-0/-home-user-Dr-Ha--agent/6665ef24-eca8-582e-bc7a-8ce8fc2f76de/scratchpad/opt/embryo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39128" y="1984248"/>
            <a:ext cx="4855464" cy="211226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858000" y="2103120"/>
            <a:ext cx="2395728" cy="310896"/>
          </a:xfrm>
          <a:prstGeom prst="roundRect">
            <a:avLst>
              <a:gd name="adj" fmla="val 17647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0" y="210312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EMBRYOS — BLASTOCYST STAGE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720840" y="4206240"/>
            <a:ext cx="4892040" cy="2103120"/>
          </a:xfrm>
          <a:prstGeom prst="roundRect">
            <a:avLst>
              <a:gd name="adj" fmla="val 3913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24" name="Image 1" descr="/tmp/claude-0/-home-user-Dr-Ha--agent/6665ef24-eca8-582e-bc7a-8ce8fc2f76de/scratchpad/opt/calf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39128" y="4224528"/>
            <a:ext cx="4855464" cy="206654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858000" y="4343400"/>
            <a:ext cx="2620670" cy="310896"/>
          </a:xfrm>
          <a:prstGeom prst="roundRect">
            <a:avLst>
              <a:gd name="adj" fmla="val 17647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6858000" y="4343400"/>
            <a:ext cx="26206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CALF FROM EMBRYO TRANSFER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BIOTECHNOLOGY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737360"/>
            <a:ext cx="3200400" cy="4206240"/>
          </a:xfrm>
          <a:prstGeom prst="roundRect">
            <a:avLst>
              <a:gd name="adj" fmla="val 2571"/>
            </a:avLst>
          </a:prstGeom>
          <a:solidFill>
            <a:srgbClr val="ECE7DA"/>
          </a:solidFill>
          <a:ln/>
          <a:effectLst>
            <a:outerShdw sx="100000" sy="100000" kx="0" ky="0" algn="bl" rotWithShape="0" blurRad="101600" dist="25400" dir="5400000">
              <a:srgbClr val="0B140F">
                <a:alpha val="22000"/>
              </a:srgbClr>
            </a:outerShdw>
          </a:effectLst>
        </p:spPr>
      </p:sp>
      <p:pic>
        <p:nvPicPr>
          <p:cNvPr id="3" name="Image 0" descr="/tmp/claude-0/-home-user-Dr-Ha--agent/6665ef24-eca8-582e-bc7a-8ce8fc2f76de/scratchpad/opt/smaxte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" y="1755648"/>
            <a:ext cx="3163824" cy="4169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IT · SMAXTEC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114800" y="9601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sensor. Three jobs. 24/7.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114800" y="18745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bolus rests in the cow's rumen and continuously measures 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body temperature (±0.01 °C)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rumination and drinking — the earliest, most reliable signals of what a cow needs.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114800" y="3017520"/>
            <a:ext cx="2377440" cy="1737360"/>
          </a:xfrm>
          <a:prstGeom prst="roundRect">
            <a:avLst>
              <a:gd name="adj" fmla="val 5789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43400" y="32186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343400" y="3730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407822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rumination &amp; water intake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56832" y="3017520"/>
            <a:ext cx="2377440" cy="1737360"/>
          </a:xfrm>
          <a:prstGeom prst="roundRect">
            <a:avLst>
              <a:gd name="adj" fmla="val 5789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85432" y="32186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🐄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85432" y="3730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85432" y="407822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window &amp; calving prediction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98864" y="3017520"/>
            <a:ext cx="2377440" cy="1737360"/>
          </a:xfrm>
          <a:prstGeom prst="roundRect">
            <a:avLst>
              <a:gd name="adj" fmla="val 5789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427464" y="32186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427464" y="3730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427464" y="407822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Ration-group rumination &amp; pH option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TruDrinking™ · TruRumi™ · TruAdvice™ — with automatic work lists &amp; SOPs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SMAXTEC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EARLY DETECTION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illness days before you could see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body temperature is the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health signal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cow gives. Mastitis and metritis show short fever bouts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days before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clinical sign — enough time to act before the animal is sick.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77640"/>
            <a:ext cx="2834640" cy="1463040"/>
          </a:xfrm>
          <a:prstGeom prst="roundRect">
            <a:avLst>
              <a:gd name="adj" fmla="val 687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4160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04088" y="4846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early warning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84448" y="3977640"/>
            <a:ext cx="2834640" cy="1463040"/>
          </a:xfrm>
          <a:prstGeom prst="roundRect">
            <a:avLst>
              <a:gd name="adj" fmla="val 687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4448" y="4160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40–70%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721608" y="4846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savings via early care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2103120"/>
            <a:ext cx="4754880" cy="3337560"/>
          </a:xfrm>
          <a:prstGeom prst="roundRect">
            <a:avLst>
              <a:gd name="adj" fmla="val 3014"/>
            </a:avLst>
          </a:prstGeom>
          <a:solidFill>
            <a:srgbClr val="1B3227"/>
          </a:solidFill>
          <a:ln w="12700">
            <a:solidFill>
              <a:srgbClr val="3A2E44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B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TruAdvice™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788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doesn't just show data — it flags likely conditions: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0" y="3611880"/>
            <a:ext cx="1005840" cy="384048"/>
          </a:xfrm>
          <a:prstGeom prst="roundRect">
            <a:avLst>
              <a:gd name="adj" fmla="val 50000"/>
            </a:avLst>
          </a:prstGeom>
          <a:ln w="19050">
            <a:solidFill>
              <a:srgbClr val="B57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7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Mastitis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3611880"/>
            <a:ext cx="918972" cy="384048"/>
          </a:xfrm>
          <a:prstGeom prst="roundRect">
            <a:avLst>
              <a:gd name="adj" fmla="val 50000"/>
            </a:avLst>
          </a:prstGeom>
          <a:ln w="19050">
            <a:solidFill>
              <a:srgbClr val="B57E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611880"/>
            <a:ext cx="91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7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22892" y="3611880"/>
            <a:ext cx="1179576" cy="384048"/>
          </a:xfrm>
          <a:prstGeom prst="roundRect">
            <a:avLst>
              <a:gd name="adj" fmla="val 50000"/>
            </a:avLst>
          </a:prstGeom>
          <a:ln w="19050">
            <a:solidFill>
              <a:srgbClr val="B57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2892" y="361188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7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fever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4434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before yield, fertility or welfare are ever affected.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EARLY 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REPRODUCTION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pregnancy, on time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502152" cy="3703320"/>
          </a:xfrm>
          <a:prstGeom prst="roundRect">
            <a:avLst>
              <a:gd name="adj" fmla="val 2872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423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97180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detection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3520440"/>
            <a:ext cx="29992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activity, rumination, temperature &amp; drinking together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index shows how strong the heat is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Per-cow ideal insemination — 12-hour window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502152" cy="3703320"/>
          </a:xfrm>
          <a:prstGeom prst="roundRect">
            <a:avLst>
              <a:gd name="adj" fmla="val 2872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423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🐮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26280" y="297180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Calving prediction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3520440"/>
            <a:ext cx="29992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Calving alert 15–30 hours in advance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present for hard births — save cow &amp; calf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alerts flag raised milk-fever risk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36992" y="2194560"/>
            <a:ext cx="3502152" cy="3703320"/>
          </a:xfrm>
          <a:prstGeom prst="roundRect">
            <a:avLst>
              <a:gd name="adj" fmla="val 2872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2423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11312" y="297180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11312" y="3520440"/>
            <a:ext cx="29992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heats, shorter calving interval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reproduction rate = more milk &amp; calves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hormone use, less guesswork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REPRODUCTION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HEALTH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transition-period diseases, caught early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6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riskiest window is right after calving. Each disease has a temperature &amp; rumination fingerprint the sensor reads before the cow looks ill.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5349240" cy="1463040"/>
          </a:xfrm>
          <a:prstGeom prst="roundRect">
            <a:avLst>
              <a:gd name="adj" fmla="val 687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807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Mastitis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24528" y="2843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 early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22783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short temperature spikes lasting only hours — before milk yield or conductivity change.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81928" y="2606040"/>
            <a:ext cx="5349240" cy="1463040"/>
          </a:xfrm>
          <a:prstGeom prst="roundRect">
            <a:avLst>
              <a:gd name="adj" fmla="val 687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6248" y="2807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Metritis / Endometritis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39528" y="2843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14 days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56248" y="322783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fever periods early in lactation, days before clinical symptoms appear.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297680"/>
            <a:ext cx="5349240" cy="1463040"/>
          </a:xfrm>
          <a:prstGeom prst="roundRect">
            <a:avLst>
              <a:gd name="adj" fmla="val 687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4498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fever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224528" y="45354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calving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491947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drop after calving; missed drinking &amp; poor rumination flag cows at risk.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81928" y="4297680"/>
            <a:ext cx="5349240" cy="1463040"/>
          </a:xfrm>
          <a:prstGeom prst="roundRect">
            <a:avLst>
              <a:gd name="adj" fmla="val 687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56248" y="4498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Ketosis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939528" y="45354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rumination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56248" y="491947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rumination both fall = clinical; often avoided if the earlier disease was caught.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HEALTH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FEEDING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Feeding, judged by the cow's own rumen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0574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Rumination time is the truest measure of whether a ration is working. The system tracks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rumination and daily deviation for every ration group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fresh cows, high performers, dry cows, heifers.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 feeding problem the day it starts, not weeks later</a:t>
            </a:r>
            <a:endParaRPr lang="en-US" sz="15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rations by real digestion, not by eye</a:t>
            </a:r>
            <a:endParaRPr lang="en-US" sz="15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rumen = steady health, fertility &amp; milk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011680"/>
            <a:ext cx="5212080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rumination — daily deviation by group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3154680"/>
            <a:ext cx="713232" cy="1737360"/>
          </a:xfrm>
          <a:prstGeom prst="rect">
            <a:avLst/>
          </a:prstGeom>
          <a:solidFill>
            <a:srgbClr val="4F7D2E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4937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20840" y="518464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27264" y="3474720"/>
            <a:ext cx="713232" cy="1417320"/>
          </a:xfrm>
          <a:prstGeom prst="rect">
            <a:avLst/>
          </a:prstGeom>
          <a:solidFill>
            <a:srgbClr val="6E7A6E"/>
          </a:solidFill>
          <a:ln/>
        </p:spPr>
      </p:sp>
      <p:sp>
        <p:nvSpPr>
          <p:cNvPr id="12" name="Text 10"/>
          <p:cNvSpPr/>
          <p:nvPr/>
        </p:nvSpPr>
        <p:spPr>
          <a:xfrm>
            <a:off x="7690104" y="4937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90104" y="518464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96528" y="3611880"/>
            <a:ext cx="713232" cy="1280160"/>
          </a:xfrm>
          <a:prstGeom prst="rect">
            <a:avLst/>
          </a:prstGeom>
          <a:solidFill>
            <a:srgbClr val="9A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59368" y="4937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59368" y="518464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65792" y="3410712"/>
            <a:ext cx="713232" cy="1481328"/>
          </a:xfrm>
          <a:prstGeom prst="rect">
            <a:avLst/>
          </a:prstGeom>
          <a:solidFill>
            <a:srgbClr val="6E7A6E"/>
          </a:solidFill>
          <a:ln/>
        </p:spPr>
      </p:sp>
      <p:sp>
        <p:nvSpPr>
          <p:cNvPr id="18" name="Text 16"/>
          <p:cNvSpPr/>
          <p:nvPr/>
        </p:nvSpPr>
        <p:spPr>
          <a:xfrm>
            <a:off x="9628632" y="4937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28632" y="518464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735056" y="3246120"/>
            <a:ext cx="713232" cy="1645920"/>
          </a:xfrm>
          <a:prstGeom prst="rect">
            <a:avLst/>
          </a:prstGeom>
          <a:solidFill>
            <a:srgbClr val="12857A"/>
          </a:solidFill>
          <a:ln/>
        </p:spPr>
      </p:sp>
      <p:sp>
        <p:nvSpPr>
          <p:cNvPr id="21" name="Text 19"/>
          <p:cNvSpPr/>
          <p:nvPr/>
        </p:nvSpPr>
        <p:spPr>
          <a:xfrm>
            <a:off x="10597896" y="4937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97896" y="518464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of the smaXtec feeding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· FEEDING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· BENEFITS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smart farming delivers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457200" cy="457200"/>
          </a:xfrm>
          <a:prstGeom prst="ellipse">
            <a:avLst/>
          </a:prstGeom>
          <a:solidFill>
            <a:srgbClr val="12857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detection</a:t>
            </a:r>
            <a:pPr indent="0" marL="0">
              <a:buNone/>
            </a:pPr>
            <a:r>
              <a:rPr lang="en-US" sz="1350" dirty="0">
                <a:solidFill>
                  <a:srgbClr val="C7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lower treatment cost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3264408"/>
            <a:ext cx="457200" cy="457200"/>
          </a:xfrm>
          <a:prstGeom prst="ellipse">
            <a:avLst/>
          </a:prstGeom>
          <a:solidFill>
            <a:srgbClr val="E0714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32644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reproduction rate</a:t>
            </a:r>
            <a:pPr indent="0" marL="0">
              <a:buNone/>
            </a:pPr>
            <a:r>
              <a:rPr lang="en-US" sz="1350" dirty="0">
                <a:solidFill>
                  <a:srgbClr val="C7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more productivity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" y="4197096"/>
            <a:ext cx="457200" cy="457200"/>
          </a:xfrm>
          <a:prstGeom prst="ellipse">
            <a:avLst/>
          </a:prstGeom>
          <a:solidFill>
            <a:srgbClr val="9BC53D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41970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saving</a:t>
            </a:r>
            <a:pPr indent="0" marL="0">
              <a:buNone/>
            </a:pPr>
            <a:r>
              <a:rPr lang="en-US" sz="1350" dirty="0">
                <a:solidFill>
                  <a:srgbClr val="C7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24/7 automatic monitoring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5129784"/>
            <a:ext cx="457200" cy="457200"/>
          </a:xfrm>
          <a:prstGeom prst="ellipse">
            <a:avLst/>
          </a:prstGeom>
          <a:solidFill>
            <a:srgbClr val="9E8BE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1297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pPr indent="0" marL="0">
              <a:buNone/>
            </a:pPr>
            <a:r>
              <a:rPr lang="en-US" sz="1350" dirty="0">
                <a:solidFill>
                  <a:srgbClr val="C7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scientific management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0" y="2103120"/>
            <a:ext cx="5029200" cy="4114800"/>
          </a:xfrm>
          <a:prstGeom prst="roundRect">
            <a:avLst>
              <a:gd name="adj" fmla="val 2444"/>
            </a:avLst>
          </a:prstGeom>
          <a:solidFill>
            <a:srgbClr val="17301C"/>
          </a:solidFill>
          <a:ln w="12700">
            <a:solidFill>
              <a:srgbClr val="3A5A2A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for Vietnamese farms 🇻🇳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903720" y="292608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10–50 head family farms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hot &amp; humid climates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smartphone monitoring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bolus installation, lifetime use per bolus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return on investment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1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real Korean farm experience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VIETNAM APPLICATION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FOR VIETNAM · HỢP TÁC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this farm to Vietnamese dairy — a shared 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502152" cy="2606040"/>
          </a:xfrm>
          <a:prstGeom prst="roundRect">
            <a:avLst>
              <a:gd name="adj" fmla="val 386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B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06324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3520440"/>
            <a:ext cx="2999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demonstration herd with sensors, welfare housing and circular manure management — proof on Vietnamese soil.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502152" cy="2606040"/>
          </a:xfrm>
          <a:prstGeom prst="roundRect">
            <a:avLst>
              <a:gd name="adj" fmla="val 386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306324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3520440"/>
            <a:ext cx="2999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tropical climate, local feed and herd size; train veterinarians &amp; farmers; build the data baseline.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36992" y="2194560"/>
            <a:ext cx="3502152" cy="2606040"/>
          </a:xfrm>
          <a:prstGeom prst="roundRect">
            <a:avLst>
              <a:gd name="adj" fmla="val 386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11312" y="306324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11312" y="3520440"/>
            <a:ext cx="2999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cooperatives and provinces — a national platform for eco-friendly, data-driven dairy.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9565"/>
            </a:avLst>
          </a:prstGeom>
          <a:solidFill>
            <a:srgbClr val="12291D"/>
          </a:solidFill>
          <a:ln/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5193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offer </a:t>
            </a:r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exchange, training and technology partnership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bringing eco-friendly livestock, circular agriculture, sustainable dairy and smart-farm practice together for Vietnam.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FOR VIETNAM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0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8120D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554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PHILOSOPHY · 농민의 세상은 무궁무진합니다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farmer holds the key to</a:t>
            </a:r>
            <a:endParaRPr lang="en-US" sz="3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humanity's eternal life vault."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566928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Yun Bong-gil, </a:t>
            </a:r>
            <a:pPr indent="0" marL="0">
              <a:buNone/>
            </a:pPr>
            <a:r>
              <a:rPr lang="en-US" sz="1500" dirty="0">
                <a:solidFill>
                  <a:srgbClr val="C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Farmer's Reader</a:t>
            </a:r>
            <a:pPr indent="0" marL="0">
              <a:buNone/>
            </a:pPr>
            <a:r>
              <a:rPr lang="en-US" sz="1500" i="1" dirty="0">
                <a:solidFill>
                  <a:srgbClr val="C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1927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663440"/>
            <a:ext cx="745236" cy="384048"/>
          </a:xfrm>
          <a:prstGeom prst="roundRect">
            <a:avLst>
              <a:gd name="adj" fmla="val 50000"/>
            </a:avLst>
          </a:prstGeom>
          <a:ln w="19050">
            <a:solidFill>
              <a:srgbClr val="9BC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663440"/>
            <a:ext cx="74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건강한 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03604" y="4663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3C4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15084" y="4663440"/>
            <a:ext cx="745236" cy="384048"/>
          </a:xfrm>
          <a:prstGeom prst="roundRect">
            <a:avLst>
              <a:gd name="adj" fmla="val 50000"/>
            </a:avLst>
          </a:prstGeom>
          <a:ln w="19050">
            <a:solidFill>
              <a:srgbClr val="9BC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5084" y="4663440"/>
            <a:ext cx="74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행복한 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4663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3C4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63240" y="4663440"/>
            <a:ext cx="745236" cy="384048"/>
          </a:xfrm>
          <a:prstGeom prst="roundRect">
            <a:avLst>
              <a:gd name="adj" fmla="val 50000"/>
            </a:avLst>
          </a:prstGeom>
          <a:ln w="19050">
            <a:solidFill>
              <a:srgbClr val="9BC5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4663440"/>
            <a:ext cx="74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우유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37076" y="4663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to Soul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0" y="2971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vị · Thank you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honor to share our work with you. May our farms grow together.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3904" y="4434840"/>
            <a:ext cx="4572000" cy="1417320"/>
          </a:xfrm>
          <a:prstGeom prst="roundRect">
            <a:avLst>
              <a:gd name="adj" fmla="val 7097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88900" dist="25400" dir="5400000">
              <a:srgbClr val="0B140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03904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Hyunjae Ha, DVM</a:t>
            </a:r>
            <a:pPr algn="ctr" indent="0" marL="0">
              <a:buNone/>
            </a:pPr>
            <a:r>
              <a:rPr lang="en-US" sz="150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하현제 수의사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803904" y="5120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3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Goryeo VET Clinic · L&amp;H Institute of Biotechnology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03904" y="5413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3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Young Shin Farm · D2O = Dung to Origin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D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2026-07-23T08:09:59Z</dcterms:created>
  <dcterms:modified xsi:type="dcterms:W3CDTF">2026-07-23T08:09:59Z</dcterms:modified>
</cp:coreProperties>
</file>
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0D">
              <a:alpha val="6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8120D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965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DAIRY FARM  ·  REPUBLIC OF KOREA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Sustainable</a:t>
            </a:r>
            <a:endParaRPr lang="en-US" sz="58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Dairy Farming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(IT · BT) &amp; Circular Agriculture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47731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스마트팜과 순환농업으로 만드는 지속가능한 낙농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3492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 chào</a:t>
            </a:r>
            <a:pPr indent="0" marL="0">
              <a:buNone/>
            </a:pPr>
            <a:r>
              <a:rPr lang="en-US" sz="1500" b="1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베트남 대표단을 환영합니다 · Chào mừng đoàn Việt Nam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Hyunjae Ha, DVM</a:t>
            </a:r>
            <a:pPr indent="0" marL="0">
              <a:buNone/>
            </a:pPr>
            <a:r>
              <a:rPr lang="en-US" sz="1700" dirty="0">
                <a:solidFill>
                  <a:srgbClr val="A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하현제 수의사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63093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 · Song Young Shin Farm · Farm Study Visit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· 환영합니다 · CHÀO MỪNG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 welcome to our friends from Vietnam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honor to host public officials of Vietnam at our farm. We share one mission — </a:t>
            </a:r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livestock industry that is profitable for farmers, kind to animals, and gentle on the land.</a:t>
            </a:r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Today we show how a Korean family dairy turned that mission into daily practice.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송영신목장을 찾아주신 베트남 공무원 여러분을 진심으로 환영합니다.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114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YOUR FOUR AREAS OF INTEREST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4636008"/>
            <a:ext cx="64008" cy="1335024"/>
          </a:xfrm>
          <a:prstGeom prst="rect">
            <a:avLst/>
          </a:prstGeom>
          <a:solidFill>
            <a:srgbClr val="4F7D2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5528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친환경축산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46704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46704" y="4636008"/>
            <a:ext cx="64008" cy="1335024"/>
          </a:xfrm>
          <a:prstGeom prst="rect">
            <a:avLst/>
          </a:prstGeom>
          <a:solidFill>
            <a:srgbClr val="9A6B3A"/>
          </a:solidFill>
          <a:ln/>
        </p:spPr>
      </p:sp>
      <p:sp>
        <p:nvSpPr>
          <p:cNvPr id="14" name="Text 12"/>
          <p:cNvSpPr/>
          <p:nvPr/>
        </p:nvSpPr>
        <p:spPr>
          <a:xfrm>
            <a:off x="3575304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♻️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75304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575304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 · Nông nghiệp tuần hoàn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4636008"/>
            <a:ext cx="64008" cy="1335024"/>
          </a:xfrm>
          <a:prstGeom prst="rect">
            <a:avLst/>
          </a:prstGeom>
          <a:solidFill>
            <a:srgbClr val="1285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🥛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355080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355080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지속가능한 낙농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06256" y="4526280"/>
            <a:ext cx="2615184" cy="155448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06256" y="4636008"/>
            <a:ext cx="64008" cy="1335024"/>
          </a:xfrm>
          <a:prstGeom prst="rect">
            <a:avLst/>
          </a:prstGeom>
          <a:solidFill>
            <a:srgbClr val="3B5F22"/>
          </a:solidFill>
          <a:ln/>
        </p:spPr>
      </p:sp>
      <p:sp>
        <p:nvSpPr>
          <p:cNvPr id="24" name="Text 22"/>
          <p:cNvSpPr/>
          <p:nvPr/>
        </p:nvSpPr>
        <p:spPr>
          <a:xfrm>
            <a:off x="9134856" y="4709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134856" y="5239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134856" y="55869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스마트팜 · IT &amp; BT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FARMING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발표 순서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walk through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81328" y="23317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81328" y="27432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D2O ecosystem — farm, clinic, research, platform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73368" y="23317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287768" y="23317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287768" y="27432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 — the manure-to-soil nutrient loop &amp; D2O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356616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356616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481328" y="39776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— welfare, low-carbon, grass-fed A2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73368" y="356616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87768" y="356616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(IT · BT)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287768" y="39776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smaXtec rumen sensors &amp; genetics / embryo transfer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70148" y="48006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384548" y="48006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 &amp; Q&amp;A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384548" y="5212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transfers to Vietnamese dairy — and open discussion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FARMING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 · D2O &amp;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integrated ecosystem for smart, sustainable dairy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368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L&amp;H Research Center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86207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Sexed embryo transfer (MOET)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IVF &amp; embryo culture (BT)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34072" y="214884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08392" y="2368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08392" y="286207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/ AI &amp; smart vet system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&amp; feeding consulting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4379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" y="487375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Animal-welfare &amp; low-carbon certified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hay milk — Jersey &amp; Holstein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34072" y="4160520"/>
            <a:ext cx="4206240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08392" y="4379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8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D2O Co., Ltd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08392" y="4873752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platform for dairy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Smart-farming solutions (dairy &amp; pig)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230368" y="2697480"/>
            <a:ext cx="1737360" cy="1737360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7" name="Text 15"/>
          <p:cNvSpPr/>
          <p:nvPr/>
        </p:nvSpPr>
        <p:spPr>
          <a:xfrm>
            <a:off x="5230368" y="269748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30368" y="269748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000" b="1" dirty="0">
                <a:solidFill>
                  <a:srgbClr val="04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D2O
</a:t>
            </a:r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63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Dung to Origin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→ Veterinary care → Farm → Platform — a single closed loop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PHILOSOPHY · 지속가능한 농업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forces shaping sustainable agriculture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42032"/>
            <a:ext cx="201168" cy="201168"/>
          </a:xfrm>
          <a:prstGeom prst="ellipse">
            <a:avLst/>
          </a:prstGeom>
          <a:solidFill>
            <a:srgbClr val="C08A4E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33856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수익성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 must earn to endure.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33672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2542032"/>
            <a:ext cx="201168" cy="201168"/>
          </a:xfrm>
          <a:prstGeom prst="ellipse">
            <a:avLst/>
          </a:prstGeom>
          <a:solidFill>
            <a:srgbClr val="4FA05F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800600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탄소 · 메탄 · 농업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07992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livestock is now the standard.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00416" y="228600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2542032"/>
            <a:ext cx="201168" cy="201168"/>
          </a:xfrm>
          <a:prstGeom prst="ellipse">
            <a:avLst/>
          </a:prstGeom>
          <a:solidFill>
            <a:srgbClr val="E58A6B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46888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67344" y="283464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동물 · 자연 · 인간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74736" y="32004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environment &amp; human health are one.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279392"/>
            <a:ext cx="201168" cy="201168"/>
          </a:xfrm>
          <a:prstGeom prst="ellipse">
            <a:avLst/>
          </a:prstGeom>
          <a:solidFill>
            <a:srgbClr val="31B7A7"/>
          </a:solidFill>
          <a:ln/>
        </p:spPr>
      </p:sp>
      <p:sp>
        <p:nvSpPr>
          <p:cNvPr id="21" name="Text 19"/>
          <p:cNvSpPr/>
          <p:nvPr/>
        </p:nvSpPr>
        <p:spPr>
          <a:xfrm>
            <a:off x="1133856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33856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노동력 · 승계 · 삶의 질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keeps the next generation on the farm.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33672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07992" y="4279392"/>
            <a:ext cx="201168" cy="201168"/>
          </a:xfrm>
          <a:prstGeom prst="ellipse">
            <a:avLst/>
          </a:prstGeom>
          <a:solidFill>
            <a:srgbClr val="E0714E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welfare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800600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세계적 이슈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07992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cows are productive cows.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900416" y="40233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4279392"/>
            <a:ext cx="201168" cy="201168"/>
          </a:xfrm>
          <a:prstGeom prst="ellipse">
            <a:avLst/>
          </a:prstGeom>
          <a:solidFill>
            <a:srgbClr val="9BC53D"/>
          </a:solidFill>
          <a:ln/>
        </p:spPr>
      </p:sp>
      <p:sp>
        <p:nvSpPr>
          <p:cNvPr id="31" name="Text 29"/>
          <p:cNvSpPr/>
          <p:nvPr/>
        </p:nvSpPr>
        <p:spPr>
          <a:xfrm>
            <a:off x="8467344" y="4206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Humanity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467344" y="457200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· 사명감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74736" y="49377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as a calling, not only a business.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AGRICULTURE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 · 순환농업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Waste is not waste — it is a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in the wrong place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2331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순환농업이란 무엇인가?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Manure → Compost → Feed crops → Cattle feed — a closed nutrient loop</a:t>
            </a:r>
            <a:endParaRPr lang="en-US" sz="16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eco-economic system that turns a cost into an input</a:t>
            </a:r>
            <a:endParaRPr lang="en-US" sz="16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direct, practical response to climate change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1353312" cy="384048"/>
          </a:xfrm>
          <a:prstGeom prst="roundRect">
            <a:avLst>
              <a:gd name="adj" fmla="val 50000"/>
            </a:avLst>
          </a:prstGeom>
          <a:ln w="19050">
            <a:solidFill>
              <a:srgbClr val="9A6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548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Feed costs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52928" y="4754880"/>
            <a:ext cx="2048256" cy="384048"/>
          </a:xfrm>
          <a:prstGeom prst="roundRect">
            <a:avLst>
              <a:gd name="adj" fmla="val 50000"/>
            </a:avLst>
          </a:prstGeom>
          <a:ln w="19050">
            <a:solidFill>
              <a:srgbClr val="4F7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475488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Pollution &amp; carbon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1463040"/>
            <a:ext cx="4709160" cy="4023360"/>
          </a:xfrm>
          <a:prstGeom prst="roundRect">
            <a:avLst>
              <a:gd name="adj" fmla="val 2045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1" name="Image 0" descr="/tmp/claude-0/-home-user-Dr-Ha--agent/6665ef24-eca8-582e-bc7a-8ce8fc2f76de/scratchpad/opt/wildflow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22008" y="1481328"/>
            <a:ext cx="4672584" cy="398678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86600" y="5074920"/>
            <a:ext cx="3070555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5074920"/>
            <a:ext cx="30705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MARGINS RESTORED FOR BIODIVERSITY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AGRICULTURE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DAIRY FARMING · 순환형 낙농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livestock–crop nutrient cycle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474720" cy="3474720"/>
          </a:xfrm>
          <a:prstGeom prst="roundRect">
            <a:avLst>
              <a:gd name="adj" fmla="val 2368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5" name="Image 0" descr="/tmp/claude-0/-home-user-Dr-Ha--agent/6665ef24-eca8-582e-bc7a-8ce8fc2f76de/scratchpad/opt/cyc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" y="2212848"/>
            <a:ext cx="3438144" cy="34381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80560" y="2286000"/>
            <a:ext cx="566928" cy="566928"/>
          </a:xfrm>
          <a:prstGeom prst="ellipse">
            <a:avLst/>
          </a:prstGeom>
          <a:solidFill>
            <a:srgbClr val="4F7D2E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257800" y="22677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→ Livestock → Manure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257800" y="26517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Nutrients circulate instead of leaking out of the system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3456432"/>
            <a:ext cx="566928" cy="566928"/>
          </a:xfrm>
          <a:prstGeom prst="ellipse">
            <a:avLst/>
          </a:prstGeom>
          <a:solidFill>
            <a:srgbClr val="9A6B3A"/>
          </a:solidFill>
          <a:ln/>
        </p:spPr>
      </p:sp>
      <p:sp>
        <p:nvSpPr>
          <p:cNvPr id="11" name="Text 8"/>
          <p:cNvSpPr/>
          <p:nvPr/>
        </p:nvSpPr>
        <p:spPr>
          <a:xfrm>
            <a:off x="4480560" y="34564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257800" y="34381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Manure = organic fertilizer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257800" y="38221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the grassland that grows the herd's own feed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480560" y="4626864"/>
            <a:ext cx="566928" cy="56692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5" name="Text 12"/>
          <p:cNvSpPr/>
          <p:nvPr/>
        </p:nvSpPr>
        <p:spPr>
          <a:xfrm>
            <a:off x="4480560" y="4626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25780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emission &amp; sustainable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257800" y="49926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inputs bought, less pollution released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480560" y="5532120"/>
            <a:ext cx="4023360" cy="960120"/>
          </a:xfrm>
          <a:prstGeom prst="roundRect">
            <a:avLst>
              <a:gd name="adj" fmla="val 857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9" name="Image 1" descr="/tmp/claude-0/-home-user-Dr-Ha--agent/6665ef24-eca8-582e-bc7a-8ce8fc2f76de/scratchpad/opt/he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8848" y="5550408"/>
            <a:ext cx="3986784" cy="92354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617720" y="5669280"/>
            <a:ext cx="2995574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4617720" y="5669280"/>
            <a:ext cx="2995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— GYEONGGI, KOREA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DAIRY FARMING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 · 친환경축산의 핵심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D2O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returning dung to its origin, the soil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eco-friendly livestock is what you do with manure. D2O is our barn-and-bedding management approach that treats manure as the starting point of the next harvest — not a disposal problem.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🌾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Odor reduction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 barn for animals, workers and neighbours — critical near communities.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51960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🦠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26280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Healthier bedding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Drier, better-managed bedding supports udder health and animal comfort.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36992" y="2926080"/>
            <a:ext cx="3502152" cy="1783080"/>
          </a:xfrm>
          <a:prstGeom prst="roundRect">
            <a:avLst>
              <a:gd name="adj" fmla="val 5641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11312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11312" y="36758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compost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11312" y="402336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controlled composting returns stable organic matter to the grassland.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000"/>
            </a:avLst>
          </a:prstGeom>
          <a:solidFill>
            <a:srgbClr val="1A2E17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Vietnam: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hot, humid climates manure &amp; odor management is the first bottleneck to scaling dairy near towns. Solve it, and welfare, environment and community acceptance all improve together.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D2O · DUNG TO ORIGIN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ECO-FRIENDLY LIVESTOCK · 피트모스 HBP 시스템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HBP — a peat-moss bedding that feeds the soil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HBP system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barn floor the first step of the nutrient loop. A peat-moss bedding absorbs moisture and odour, keeps cows dry and healthy, then composts quickly into organic fertiliser for the grassland — closing the D2O circle.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907792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High absorption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8096" y="3264408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Peat moss locks in moisture &amp; ammonia — a dry floor, far less odour.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2761488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53128" y="2907792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🐄 Animal welfare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53128" y="3264408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dry bedding → cleaner udders, healthier hooves &amp; skin.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8096" y="435254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🦠 Pathogen control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470916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dry, low-pH bed discourages harmful bacteria in the barn.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51960" y="4206240"/>
            <a:ext cx="3502152" cy="128016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53128" y="4352544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Closes the 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53128" y="470916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bedding + manure compost fast → back to the soil as fertiliser.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5532120"/>
            <a:ext cx="7187184" cy="822960"/>
          </a:xfrm>
          <a:prstGeom prst="roundRect">
            <a:avLst>
              <a:gd name="adj" fmla="val 12222"/>
            </a:avLst>
          </a:prstGeom>
          <a:solidFill>
            <a:srgbClr val="F1E9DD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5528" y="562356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Vietnam: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hot, humid climate moisture &amp; odour are the barn's first problem — HBP improves welfare and the environment together.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280160"/>
            <a:ext cx="3456432" cy="5029200"/>
          </a:xfrm>
          <a:prstGeom prst="roundRect">
            <a:avLst>
              <a:gd name="adj" fmla="val 238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0" name="Image 0" descr="/tmp/claude-0/-home-user-Dr-Ha--agent/6665ef24-eca8-582e-bc7a-8ce8fc2f76de/scratchpad/opt/syjers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02168" y="1298448"/>
            <a:ext cx="3419856" cy="499262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321040" y="1417320"/>
            <a:ext cx="2470709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8321040" y="1417320"/>
            <a:ext cx="24707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PEAT-MOSS BEDDING · JERSEY BARN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HBP · PEAT-MOSS BEDDING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 · 송영신목장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Song Young Shin Farm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Korea's 1st animal-welfare &amp; low-carbon certified dairy farm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F7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92808" y="2286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Animal-welfare &amp;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low-carbon certified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32461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30ha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92808" y="3246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grassland for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home-grown feed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4206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85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892808" y="4206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Grass-fed hay milk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Jersey &amp; Holstein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🤖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892808" y="5166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milking —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cows choose their time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224028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4" name="Image 0" descr="/tmp/claude-0/-home-user-Dr-Ha--agent/6665ef24-eca8-582e-bc7a-8ce8fc2f76de/scratchpad/opt/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78808" y="2258568"/>
            <a:ext cx="3602736" cy="192938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297680" y="2377440"/>
            <a:ext cx="74615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0" y="2377440"/>
            <a:ext cx="7461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982712" y="224028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8" name="Image 1" descr="/tmp/claude-0/-home-user-Dr-Ha--agent/6665ef24-eca8-582e-bc7a-8ce8fc2f76de/scratchpad/opt/syjerse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01000" y="2258568"/>
            <a:ext cx="3602736" cy="1929384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119872" y="2377440"/>
            <a:ext cx="1720901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0" name="Text 16"/>
          <p:cNvSpPr/>
          <p:nvPr/>
        </p:nvSpPr>
        <p:spPr>
          <a:xfrm>
            <a:off x="8119872" y="2377440"/>
            <a:ext cx="17209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GRASS-FED JERSEY HERD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160520" y="438912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2" name="Image 2" descr="/tmp/claude-0/-home-user-Dr-Ha--agent/6665ef24-eca8-582e-bc7a-8ce8fc2f76de/scratchpad/opt/grassland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178808" y="4407408"/>
            <a:ext cx="3602736" cy="192938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297680" y="4526280"/>
            <a:ext cx="1271016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4" name="Text 19"/>
          <p:cNvSpPr/>
          <p:nvPr/>
        </p:nvSpPr>
        <p:spPr>
          <a:xfrm>
            <a:off x="4297680" y="4526280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HA GRASSLAND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982712" y="4389120"/>
            <a:ext cx="3639312" cy="1965960"/>
          </a:xfrm>
          <a:prstGeom prst="roundRect">
            <a:avLst>
              <a:gd name="adj" fmla="val 4186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6" name="Image 3" descr="/tmp/claude-0/-home-user-Dr-Ha--agent/6665ef24-eca8-582e-bc7a-8ce8fc2f76de/scratchpad/opt/sylineup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001000" y="4407408"/>
            <a:ext cx="3602736" cy="1929384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119872" y="4526280"/>
            <a:ext cx="1420978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8" name="Text 22"/>
          <p:cNvSpPr/>
          <p:nvPr/>
        </p:nvSpPr>
        <p:spPr>
          <a:xfrm>
            <a:off x="8119872" y="4526280"/>
            <a:ext cx="1420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HAY MILK RANGE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OF THE SYSTEM · A2 HAY MILK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corn. No grain.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grass.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sustainable farm produces a distinctive product. Cows grazed and fed on the farm's own grassland give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β-casein milk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sold as a premium, traceable brand that funds the farm's continued investment in welfare and technology.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397764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grass-fed — no corn, no grain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Jersey &amp; Holstein hay milk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Welfare-first: robotic milking, freedom of movement</a:t>
            </a:r>
            <a:endParaRPr lang="en-US" sz="15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Farm-to-brand traceability that consumers trust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0" y="1234440"/>
            <a:ext cx="3913632" cy="2926080"/>
          </a:xfrm>
          <a:prstGeom prst="roundRect">
            <a:avLst>
              <a:gd name="adj" fmla="val 2813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7" name="Image 0" descr="/tmp/claude-0/-home-user-Dr-Ha--agent/6665ef24-eca8-582e-bc7a-8ce8fc2f76de/scratchpad/opt/syline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688" y="1252728"/>
            <a:ext cx="3877056" cy="2889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09560" y="1371600"/>
            <a:ext cx="1945843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7909560" y="1371600"/>
            <a:ext cx="19458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A2 RANGE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772400" y="4297680"/>
            <a:ext cx="1874520" cy="1920240"/>
          </a:xfrm>
          <a:prstGeom prst="roundRect">
            <a:avLst>
              <a:gd name="adj" fmla="val 4390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1" name="Image 1" descr="/tmp/claude-0/-home-user-Dr-Ha--agent/6665ef24-eca8-582e-bc7a-8ce8fc2f76de/scratchpad/opt/syicecrea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90688" y="4315968"/>
            <a:ext cx="1837944" cy="18836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882128" y="4407408"/>
            <a:ext cx="1046074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7882128" y="4407408"/>
            <a:ext cx="10460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ICE CREAM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9802368" y="4297680"/>
            <a:ext cx="1883664" cy="1920240"/>
          </a:xfrm>
          <a:prstGeom prst="roundRect">
            <a:avLst>
              <a:gd name="adj" fmla="val 4369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15" name="Image 2" descr="/tmp/claude-0/-home-user-Dr-Ha--agent/6665ef24-eca8-582e-bc7a-8ce8fc2f76de/scratchpad/opt/sybott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820656" y="4315968"/>
            <a:ext cx="1847088" cy="188366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912096" y="4407408"/>
            <a:ext cx="74615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9912096" y="4407408"/>
            <a:ext cx="7461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MILK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7772400" y="63093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milk · Yogurt · Ice cream — value added on the farm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DAIRY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BT · 유전 · 수정란이식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Biotechnology: better cows, faster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L&amp;H Research Center we use embryo transfer (MOET) and IVF to multiply the best dairy genetics — cows that give more milk, breed reliably, and cope with a changing climate.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30632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Oocyte recovery from selected donor cows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3630168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36301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&amp; in-vitro fertilization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4197096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41970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to blastocyst, quality selected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" y="4764024"/>
            <a:ext cx="384048" cy="384048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47640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recipient — or freeze at −196 °C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486400"/>
            <a:ext cx="5943600" cy="822960"/>
          </a:xfrm>
          <a:prstGeom prst="roundRect">
            <a:avLst>
              <a:gd name="adj" fmla="val 12222"/>
            </a:avLst>
          </a:prstGeom>
          <a:solidFill>
            <a:srgbClr val="E8EFE3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5528" y="5596128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</a:t>
            </a:r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Holstein sexed dairy embryos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improving milk herds sustainably.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20840" y="1965960"/>
            <a:ext cx="4892040" cy="2148840"/>
          </a:xfrm>
          <a:prstGeom prst="roundRect">
            <a:avLst>
              <a:gd name="adj" fmla="val 3830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0" name="Image 0" descr="/tmp/claude-0/-home-user-Dr-Ha--agent/6665ef24-eca8-582e-bc7a-8ce8fc2f76de/scratchpad/opt/embry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9128" y="1984248"/>
            <a:ext cx="4855464" cy="211226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858000" y="2103120"/>
            <a:ext cx="2395728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210312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IVF EMBRYOS — BLASTOCYST STAGE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720840" y="4206240"/>
            <a:ext cx="4892040" cy="2103120"/>
          </a:xfrm>
          <a:prstGeom prst="roundRect">
            <a:avLst>
              <a:gd name="adj" fmla="val 3913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24" name="Image 1" descr="/tmp/claude-0/-home-user-Dr-Ha--agent/6665ef24-eca8-582e-bc7a-8ce8fc2f76de/scratchpad/opt/calf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39128" y="4224528"/>
            <a:ext cx="4855464" cy="206654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858000" y="4343400"/>
            <a:ext cx="2620670" cy="310896"/>
          </a:xfrm>
          <a:prstGeom prst="roundRect">
            <a:avLst>
              <a:gd name="adj" fmla="val 17647"/>
            </a:avLst>
          </a:prstGeom>
          <a:solidFill>
            <a:srgbClr val="0E1F18">
              <a:alpha val="86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6858000" y="43434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F6F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CALF FROM EMBRYO TRANSFER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BIOTECHNOLOGY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737360"/>
            <a:ext cx="3200400" cy="4206240"/>
          </a:xfrm>
          <a:prstGeom prst="roundRect">
            <a:avLst>
              <a:gd name="adj" fmla="val 2571"/>
            </a:avLst>
          </a:prstGeom>
          <a:solidFill>
            <a:srgbClr val="ECE7DA"/>
          </a:solidFill>
          <a:ln/>
          <a:effectLst>
            <a:outerShdw sx="100000" sy="100000" kx="0" ky="0" algn="bl" rotWithShape="0" blurRad="101600" dist="25400" dir="5400000">
              <a:srgbClr val="0B140F">
                <a:alpha val="22000"/>
              </a:srgbClr>
            </a:outerShdw>
          </a:effectLst>
        </p:spPr>
      </p:sp>
      <p:pic>
        <p:nvPicPr>
          <p:cNvPr id="3" name="Image 0" descr="/tmp/claude-0/-home-user-Dr-Ha--agent/6665ef24-eca8-582e-bc7a-8ce8fc2f76de/scratchpad/opt/smaxte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" y="1755648"/>
            <a:ext cx="3163824" cy="41696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IT · SMAXTEC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4114800" y="96012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sensor. Three jobs. 24/7.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114800" y="18745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bolus rests in the cow's rumen and continuously measures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body temperature (±0.01 °C)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rumination and drinking — the earliest, most reliable signals of what a cow needs.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114800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343400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❤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34340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rumination &amp; water intake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56832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🐄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885432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85432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window &amp; calving prediction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198864" y="3017520"/>
            <a:ext cx="2377440" cy="1737360"/>
          </a:xfrm>
          <a:prstGeom prst="roundRect">
            <a:avLst>
              <a:gd name="adj" fmla="val 5789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427464" y="32186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🌾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27464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27464" y="4078224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Ration-group rumination &amp; pH option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114800" y="5029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TruDrinking™ · TruRumi™ · TruAdvice™ — with automatic work lists &amp; SOPs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SMAXTEC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EARLY DETECTION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illness days before you could see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body temperature is the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health signal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cow gives. Mastitis and metritis show short fever bouts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 days before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clinical sign — enough time to act before the animal is sick.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3977640"/>
            <a:ext cx="28346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160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04088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early warning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84448" y="3977640"/>
            <a:ext cx="28346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4160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40–70%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721608" y="4846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savings via early care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103120"/>
            <a:ext cx="4754880" cy="3337560"/>
          </a:xfrm>
          <a:prstGeom prst="roundRect">
            <a:avLst>
              <a:gd name="adj" fmla="val 3014"/>
            </a:avLst>
          </a:prstGeom>
          <a:solidFill>
            <a:srgbClr val="1B3227"/>
          </a:solidFill>
          <a:ln w="12700">
            <a:solidFill>
              <a:srgbClr val="3A2E44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B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TruAdvice™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0" y="2788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doesn't just show data — it flags likely conditions: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32320" y="3611880"/>
            <a:ext cx="1005840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Mastitis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3611880"/>
            <a:ext cx="918972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3611880"/>
            <a:ext cx="9189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Ketosis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422892" y="3611880"/>
            <a:ext cx="1179576" cy="384048"/>
          </a:xfrm>
          <a:prstGeom prst="roundRect">
            <a:avLst>
              <a:gd name="adj" fmla="val 50000"/>
            </a:avLst>
          </a:prstGeom>
          <a:ln w="19050">
            <a:solidFill>
              <a:srgbClr val="B57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22892" y="3611880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7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fever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232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C9B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before yield, fertility or welfare are ever affected.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EARLY DETECTION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REPRODUCTION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pregnancy, on time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detection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41248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activity, rumination, temperature &amp; drinking together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index shows how strong the heat is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Per-cow ideal insemination — 12-hour window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51960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🐮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26280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Calving prediction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Calving alert 15–30 hours in advance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for hard births — save cow &amp; calf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alerts flag raised milk-fever risk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936992" y="2194560"/>
            <a:ext cx="3502152" cy="3703320"/>
          </a:xfrm>
          <a:prstGeom prst="roundRect">
            <a:avLst>
              <a:gd name="adj" fmla="val 2872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11312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11312" y="29718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11312" y="3520440"/>
            <a:ext cx="29992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missed heats, shorter calving interval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reproduction rate = more milk &amp; calves</a:t>
            </a:r>
            <a:endParaRPr lang="en-US" sz="13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hormone use, less guesswork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REPRODUCTION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HEALTH AT A GLANCE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transition-period diseases, caught early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riskiest window is right after calving. Each disease has a temperature &amp; rumination fingerprint the sensor reads before the cow looks ill.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807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Mastitis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224528" y="2843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 early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22783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short temperature spikes lasting only hours — before milk yield or conductivity change.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260604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6248" y="2807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Metritis / Endometritis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939528" y="2843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14 days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56248" y="322783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fever periods early in lactation, days before clinical symptoms appear.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449884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fever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224528" y="4535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calving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491947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drop after calving; missed drinking &amp; poor rumination flag cows at risk.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81928" y="429768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56248" y="449884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Ketosis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939528" y="4535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+ rumination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56248" y="491947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rumination both fall = clinical; often avoided if the earlier disease was caught.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HEALTH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FEEDING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622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Feeding, judged by the cow's own rumen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0574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Rumination time is the truest measure of whether a ration is working. The system tracks </a:t>
            </a:r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rumination and daily deviation for every ration group</a:t>
            </a:r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fresh cows, high performers, dry cows, heifers.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66928" y="379476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a feeding problem the day it starts, not weeks later</a:t>
            </a:r>
            <a:endParaRPr lang="en-US" sz="15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rations by real digestion, not by eye</a:t>
            </a:r>
            <a:endParaRPr lang="en-US" sz="150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rumen = steady health, fertility &amp; milk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011680"/>
            <a:ext cx="5212080" cy="356616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4E0D2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194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rumination — daily deviation by group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3154680"/>
            <a:ext cx="713232" cy="1737360"/>
          </a:xfrm>
          <a:prstGeom prst="rect">
            <a:avLst/>
          </a:prstGeom>
          <a:solidFill>
            <a:srgbClr val="4F7D2E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20840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7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827264" y="3474720"/>
            <a:ext cx="713232" cy="1417320"/>
          </a:xfrm>
          <a:prstGeom prst="rect">
            <a:avLst/>
          </a:prstGeom>
          <a:solidFill>
            <a:srgbClr val="6E7A6E"/>
          </a:solidFill>
          <a:ln/>
        </p:spPr>
      </p:sp>
      <p:sp>
        <p:nvSpPr>
          <p:cNvPr id="12" name="Text 10"/>
          <p:cNvSpPr/>
          <p:nvPr/>
        </p:nvSpPr>
        <p:spPr>
          <a:xfrm>
            <a:off x="7690104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90104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96528" y="3611880"/>
            <a:ext cx="713232" cy="1280160"/>
          </a:xfrm>
          <a:prstGeom prst="rect">
            <a:avLst/>
          </a:prstGeom>
          <a:solidFill>
            <a:srgbClr val="9A6B3A"/>
          </a:solidFill>
          <a:ln/>
        </p:spPr>
      </p:sp>
      <p:sp>
        <p:nvSpPr>
          <p:cNvPr id="15" name="Text 13"/>
          <p:cNvSpPr/>
          <p:nvPr/>
        </p:nvSpPr>
        <p:spPr>
          <a:xfrm>
            <a:off x="8659368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perf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59368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765792" y="3410712"/>
            <a:ext cx="713232" cy="1481328"/>
          </a:xfrm>
          <a:prstGeom prst="rect">
            <a:avLst/>
          </a:prstGeom>
          <a:solidFill>
            <a:srgbClr val="6E7A6E"/>
          </a:solidFill>
          <a:ln/>
        </p:spPr>
      </p:sp>
      <p:sp>
        <p:nvSpPr>
          <p:cNvPr id="18" name="Text 16"/>
          <p:cNvSpPr/>
          <p:nvPr/>
        </p:nvSpPr>
        <p:spPr>
          <a:xfrm>
            <a:off x="9628632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28632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735056" y="3246120"/>
            <a:ext cx="713232" cy="1645920"/>
          </a:xfrm>
          <a:prstGeom prst="rect">
            <a:avLst/>
          </a:prstGeom>
          <a:solidFill>
            <a:srgbClr val="12857A"/>
          </a:solidFill>
          <a:ln/>
        </p:spPr>
      </p:sp>
      <p:sp>
        <p:nvSpPr>
          <p:cNvPr id="21" name="Text 19"/>
          <p:cNvSpPr/>
          <p:nvPr/>
        </p:nvSpPr>
        <p:spPr>
          <a:xfrm>
            <a:off x="10597896" y="493776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94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597896" y="518464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8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of the smaXtec feeding dashboard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FARMING · FEEDING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F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· BENEFITS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smart farming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457200" cy="457200"/>
          </a:xfrm>
          <a:prstGeom prst="ellipse">
            <a:avLst/>
          </a:prstGeom>
          <a:solidFill>
            <a:srgbClr val="12857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2331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detection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lower treatment cost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6928" y="3264408"/>
            <a:ext cx="457200" cy="457200"/>
          </a:xfrm>
          <a:prstGeom prst="ellipse">
            <a:avLst/>
          </a:prstGeom>
          <a:solidFill>
            <a:srgbClr val="E0714E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32644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reproduction rate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productivity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6928" y="4197096"/>
            <a:ext cx="457200" cy="457200"/>
          </a:xfrm>
          <a:prstGeom prst="ellipse">
            <a:avLst/>
          </a:prstGeom>
          <a:solidFill>
            <a:srgbClr val="9BC53D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41970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saving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24/7 automatic monitoring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66928" y="5129784"/>
            <a:ext cx="457200" cy="457200"/>
          </a:xfrm>
          <a:prstGeom prst="ellipse">
            <a:avLst/>
          </a:prstGeom>
          <a:solidFill>
            <a:srgbClr val="9E8BE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51297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</a:t>
            </a:r>
            <a:pPr indent="0" marL="0">
              <a:buNone/>
            </a:pPr>
            <a:r>
              <a:rPr lang="en-US" sz="1350" dirty="0">
                <a:solidFill>
                  <a:srgbClr val="C7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scientific management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583680" y="2103120"/>
            <a:ext cx="5029200" cy="4114800"/>
          </a:xfrm>
          <a:prstGeom prst="roundRect">
            <a:avLst>
              <a:gd name="adj" fmla="val 2444"/>
            </a:avLst>
          </a:prstGeom>
          <a:solidFill>
            <a:srgbClr val="17301C"/>
          </a:solidFill>
          <a:ln w="12700">
            <a:solidFill>
              <a:srgbClr val="3A5A2A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2331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for Vietnamese farms 🇻🇳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903720" y="2926080"/>
            <a:ext cx="4480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10–50 head family farms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hot &amp; humid climates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smartphone monitoring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bolus installation, lifetime use per bolus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return on investment</a:t>
            </a:r>
            <a:endParaRPr lang="en-US" sz="1450" dirty="0"/>
          </a:p>
          <a:p>
            <a:pPr algn="l"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1E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real Korean farm experience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VIETNAM APPLICATION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 · HỢP TÁC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this farm to Vietnamese dairy — a shared path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B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41248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demonstration herd with sensors, welfare housing and circular manure management — proof on Vietnamese soil.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C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to tropical climate, local feed and herd size; train veterinarians &amp; farmers; build the data baseline.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6992" y="2194560"/>
            <a:ext cx="3502152" cy="2606040"/>
          </a:xfrm>
          <a:prstGeom prst="roundRect">
            <a:avLst>
              <a:gd name="adj" fmla="val 3860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11312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1312" y="30632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11312" y="352044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CBD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cooperatives and provinces — a national platform for eco-friendly, data-driven dairy.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9565"/>
            </a:avLst>
          </a:prstGeom>
          <a:solidFill>
            <a:srgbClr val="12291D"/>
          </a:solidFill>
          <a:ln/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5193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offer </a:t>
            </a:r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1B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exchange, training and technology partnership</a:t>
            </a:r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bringing eco-friendly livestock, circular agriculture, sustainable dairy and smart-farm practice together for Vietnam.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 VIETNAM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20D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8120D">
              <a:alpha val="8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554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40" kern="0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PHILOSOPHY · 농민의 세상은 무궁무진합니다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farmer holds the key to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humanity's eternal life vault."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566928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Yun Bong-gil, </a:t>
            </a:r>
            <a:pPr indent="0" marL="0">
              <a:buNone/>
            </a:pPr>
            <a:r>
              <a:rPr lang="en-US" sz="1500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Farmer's Reader</a:t>
            </a:r>
            <a:pPr indent="0" marL="0">
              <a:buNone/>
            </a:pPr>
            <a:r>
              <a:rPr lang="en-US" sz="1500" i="1" dirty="0">
                <a:solidFill>
                  <a:srgbClr val="C9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1927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건강한 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03604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4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15084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5084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행복한 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4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63240" y="4663440"/>
            <a:ext cx="745236" cy="384048"/>
          </a:xfrm>
          <a:prstGeom prst="roundRect">
            <a:avLst>
              <a:gd name="adj" fmla="val 50000"/>
            </a:avLst>
          </a:prstGeom>
          <a:ln w="19050">
            <a:solidFill>
              <a:srgbClr val="9BC5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4663440"/>
            <a:ext cx="745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좋은 우유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37076" y="4663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to Soul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9BC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ơn quý vị · Thank you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0" y="35661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honor to share our work with you. May our farms grow together.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3904" y="4434840"/>
            <a:ext cx="4572000" cy="1417320"/>
          </a:xfrm>
          <a:prstGeom prst="roundRect">
            <a:avLst>
              <a:gd name="adj" fmla="val 7097"/>
            </a:avLst>
          </a:prstGeom>
          <a:solidFill>
            <a:srgbClr val="1B3227"/>
          </a:solidFill>
          <a:ln w="12700">
            <a:solidFill>
              <a:srgbClr val="24382D"/>
            </a:solidFill>
            <a:prstDash val="solid"/>
          </a:ln>
          <a:effectLst>
            <a:outerShdw sx="100000" sy="100000" kx="0" ky="0" algn="bl" rotWithShape="0" blurRad="88900" dist="25400" dir="5400000">
              <a:srgbClr val="0B140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03904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Hyunjae Ha, DVM</a:t>
            </a:r>
            <a:pPr algn="ctr" indent="0" marL="0">
              <a:buNone/>
            </a:pPr>
            <a:r>
              <a:rPr lang="en-US" sz="150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하현제 수의사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803904" y="51206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3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Goryeo VET Clinic · L&amp;H Institute of Biotechnology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03904" y="54132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3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Young Shin Farm · D2O = Dung to Origin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D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2026-07-28T00:52:22Z</dcterms:created>
  <dcterms:modified xsi:type="dcterms:W3CDTF">2026-07-28T00:52:22Z</dcterms:modified>
</cp:coreProperties>
</file>
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[0~2분] 인사 및 자기소개(수의사·낙농 현장·유전/환경 사업 경험). 오늘은 듣기 좋은 이야기만 하지 않겠다고 예고 — 대신 끝나고 나가실 때 '우리 목장은 무엇을 해야 하는가'가 손에 잡히도록 하겠다는 약속으로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[2~3분] 전체 구성 안내. '위기 이야기가 절반, 대응 이야기가 절반. 마지막에는 실제로 그 길을 가고 있는 목장 사례를 보여드린다'고 프레이밍.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'먼저 우리가 서 있는 자리를 정확히 보자'로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[3~6분] 숫자 하나씩 설명. 농가 감소는 고령화·후계 부재로 가속(은퇴 절벽). 자급률 44%는 '국민이 먹는 유제품의 절반 이상이 이미 수입'이라는 뜻임을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[6~9분] 'EU산 무관세가 이번 달부터'라는 사실로 체감도 올리기. 다만 관세 2.4~11%가 사라진 것 자체보다, 그동안 가려져 있던 원가 격차가 본질임을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[9~12분] 격차의 원인이 구조적임을 인정해 방어심리 낮추기. 핵심 전환: '그렇다면 가격으로 못 이기는 싸움을 계속할 것인가?' 질문 던지기.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[12~15분] 오늘 강의에서 가장 중요한 슬라이드. '낙농이 망해가는 것이 아니라, 성장하는 시장에서 우리가 빠져 있는 것'이라는 재정의. 여기서 분위기를 위기→기회로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[15분] '우리 얘기만 보면 답이 안 나온다. 세계 판을 보자'로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[15~18분] 저가 공세가 '한국만 겨냥한 것'이 아니라 글로벌 과잉의 결과임을 설명. 냉정하지만 시한이 있는 파도라는 점을 미리 심어두기.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[18~21분] 수출 강국들의 발밑(환경 규제)을 보여주며 '장기적으로는 공급이 줄어드는 판'임을 설명. 버틴 농가가 남은 시장을 가져간다는 메시지의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[21~25분] 일본 사례로 '양극화 생존'을 구체화. 청중 각자에게 '나는 어느 쪽으로 갈 것인가'라는 질문을 처음으로 던지고 Part 3로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[25분] 본론 전환. 여기서부터 20분, 실행 이야기.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[25~28분] 두 모델을 나란히 제시. '규모가 작다고 끝이 아니다, 작으면 ②의 길이 있다'로 소규모 조합원들의 희망 경로를 열어주기.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[28~32분] '데이터 낙농'을 거창한 4차산업이 아니라 '새는 돈 막기'로 설명. 필요 시 위내센서(스마스텍 등) 실제 화면·사례 시연. 과장 없이 '목표치' 표현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[32~36분] '내일 아침 바로 써먹을 것' 코너. 체감 높은 실전 팁 위주로 속도감 있게. 폭염→번식 손실 연결고리를 강조해 무기1(데이터)과 자연스럽게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[36~39분] 프리미엄 전략의 조건(스토리의 진위, 직판 역량)을 현실적으로 짚기. '아무나 다 하라는 얘기가 아니라, 갈 사람은 제대로 가라'는 톤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[39~42분] '자급률 2%'를 수치스러운 숫자가 아니라 기회의 숫자로 재해석. 일본도 실패한 영역이라 어렵지만, 그래서 남아 있는 기회라는 균형 잡기.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[42~45분] '남의 돈으로 전환하라'는 메시지. 홍성낙협 차원에서 함께할 수 있는 공동사업(지원사업 공동신청, 공동 브랜드) 화두를 던져 조합 집행부와의 접점 마련.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[45분] '지금까지 말씀드린 전략이 이론이 아니라는 걸 보여드리겠다'로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[45~48분] 차별화가 '마케팅'이 아니라 유전(선발)·품종·사양의 결합임을 설명. A2 효능은 절제된 표현 유지(과학적 논쟁 여지 인정) — 오히려 신뢰를 얻는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[48~50분] 스토리의 진정성이 프리미엄의 방어벽임을 강조. 환경 관리(무기3)와 브랜드(무기2)가 한 목장 안에서 만나는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[50~53분] 성공 사례 자랑이 아니라 '진행 중인 실험'으로 정직하게 소개 — 조합원 신뢰 확보. '같은 길을 고민하는 조합원이 있다면 언제든 목장에 와서 보시라'로 개방적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[53~55분] 3줄 요약 후 마지막 문장은 천천히, 힘 있게. '10년 뒤에도 착유하고 계실 여러분과 오늘 이 자리에서 다시 만나고 싶다'로 정서적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[55~60분] Q&amp;A. 예상 질문 대비: ① 센서 비용과 회수 기간 ② 목장형 유가공 인허가 절차 ③ 저지종 도입 방법 ④ 무관세 이후 원유가격 전망 ⑤ 지원사업 신청 창구.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B7791F"/>
                </a:solidFill>
                <a:latin typeface="맑은 고딕"/>
              </a:rPr>
              <a:t>홍성낙농축산업협동조합 조합원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무관세 시대,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대한민국 낙농이 사는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CFDDD5"/>
                </a:solidFill>
                <a:latin typeface="맑은 고딕"/>
              </a:rPr>
              <a:t>— 현황 진단과 생존 전략, 그리고 한 목장의 실험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2026. 7. 14  |  하현제 박사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오늘 드릴 네 가지 이야기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8872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2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200" b="1">
                <a:solidFill>
                  <a:srgbClr val="212121"/>
                </a:solidFill>
                <a:latin typeface="맑은 고딕"/>
              </a:rPr>
              <a:t>① 현실 직시 — 숫자로 보는 2026년 대한민국 낙농  (15분)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2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200" b="1">
                <a:solidFill>
                  <a:srgbClr val="212121"/>
                </a:solidFill>
                <a:latin typeface="맑은 고딕"/>
              </a:rPr>
              <a:t>② 세계의 판 — 글로벌 낙농은 어디로 가는가  (10분)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2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200" b="1">
                <a:solidFill>
                  <a:srgbClr val="212121"/>
                </a:solidFill>
                <a:latin typeface="맑은 고딕"/>
              </a:rPr>
              <a:t>③ 생존 전략 — 살아남는 농가의 3가지 무기  (20분)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2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200" b="1">
                <a:solidFill>
                  <a:srgbClr val="212121"/>
                </a:solidFill>
                <a:latin typeface="맑은 고딕"/>
              </a:rPr>
              <a:t>④ 사례 — 송영신목장의 실험, 그리고 질의응답  (15분)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" cy="20116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11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B7791F"/>
                </a:solidFill>
                <a:latin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6060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현실 직시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94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FDDD5"/>
                </a:solidFill>
                <a:latin typeface="맑은 고딕"/>
              </a:rPr>
              <a:t>숫자는 거짓말을 하지 않습니다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1  현실 직시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2026년, 우리가 서 있는 자리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23818" cy="237744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23818" cy="50800"/>
          </a:xfrm>
          <a:prstGeom prst="rect">
            <a:avLst/>
          </a:prstGeom>
          <a:solidFill>
            <a:srgbClr val="B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02020"/>
                </a:solidFill>
                <a:latin typeface="맑은 고딕"/>
              </a:rPr>
              <a:t>4,100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 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4238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전국 낙농가 수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연 4.9% 감소 — 10년 내 2,000~2,500호 전망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1920240"/>
            <a:ext cx="3423818" cy="237744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920240"/>
            <a:ext cx="3423818" cy="50800"/>
          </a:xfrm>
          <a:prstGeom prst="rect">
            <a:avLst/>
          </a:prstGeom>
          <a:solidFill>
            <a:srgbClr val="B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224028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02020"/>
                </a:solidFill>
                <a:latin typeface="맑은 고딕"/>
              </a:rPr>
              <a:t>44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3337560"/>
            <a:ext cx="34238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유제품 자급률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정부 목표조차 2030년 48%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920240"/>
            <a:ext cx="3423818" cy="237744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920240"/>
            <a:ext cx="3423818" cy="508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7796" y="224028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7791F"/>
                </a:solidFill>
                <a:latin typeface="맑은 고딕"/>
              </a:rPr>
              <a:t>30.1</a:t>
            </a:r>
            <a:r>
              <a:rPr sz="2000" b="1">
                <a:solidFill>
                  <a:srgbClr val="B7791F"/>
                </a:solidFill>
                <a:latin typeface="맑은 고딕"/>
              </a:rPr>
              <a:t>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3337560"/>
            <a:ext cx="34238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1인당 흰 우유 소비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10년간 약 7%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1B4332"/>
                </a:solidFill>
                <a:latin typeface="맑은 고딕"/>
              </a:rPr>
              <a:t>세 숫자가 말하는 것 — 농가는 줄고, 자급률은 떨어지고, 주력 시장(음용유)은 축소 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1  현실 직시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올해, 관세의 벽이 완전히 사라졌습니다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미국산 유제품 — 2026년 1월 1일부터 관세 0% (한·미 FTA)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EU산 유제품 — 2026년 7월 1일부터 관세 0% (한·EU FTA) → 바로 이번 달입니다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낙농가 설문: 95.9%가 "관세 철폐 후 전망 어둡다"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연간 소득 감소 추정: 664억 ~ 최대 2,243억 원 (업계 추산)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1B4332"/>
                </a:solidFill>
                <a:latin typeface="맑은 고딕"/>
              </a:rPr>
              <a:t>무관세는 위기의 '원인'이 아니라, 이미 있던 격차가 '드러나는 계기'입니다.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1  현실 직시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폴란드 멸균우유의 공습 — 격차의 실체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3818" cy="228600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423818" cy="50800"/>
          </a:xfrm>
          <a:prstGeom prst="rect">
            <a:avLst/>
          </a:prstGeom>
          <a:solidFill>
            <a:srgbClr val="B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02020"/>
                </a:solidFill>
                <a:latin typeface="맑은 고딕"/>
              </a:rPr>
              <a:t>5배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4238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멸균우유 수입 증가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5년 만에 연 4.9만 톤 (전년비 +30%)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1783080"/>
            <a:ext cx="3423818" cy="228600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783080"/>
            <a:ext cx="3423818" cy="50800"/>
          </a:xfrm>
          <a:prstGeom prst="rect">
            <a:avLst/>
          </a:prstGeom>
          <a:solidFill>
            <a:srgbClr val="B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210312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02020"/>
                </a:solidFill>
                <a:latin typeface="맑은 고딕"/>
              </a:rPr>
              <a:t>90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3200400"/>
            <a:ext cx="34238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폴란드산 비중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수입 멸균우유 10개 중 9개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783080"/>
            <a:ext cx="3423818" cy="228600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783080"/>
            <a:ext cx="3423818" cy="508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7796" y="210312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7791F"/>
                </a:solidFill>
                <a:latin typeface="맑은 고딕"/>
              </a:rPr>
              <a:t>2배+</a:t>
            </a:r>
            <a:r>
              <a:rPr sz="2000" b="1">
                <a:solidFill>
                  <a:srgbClr val="B7791F"/>
                </a:solidFill>
                <a:latin typeface="맑은 고딕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3200400"/>
            <a:ext cx="34238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원유 생산비 격차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한국 1,100원대/L vs 유럽·미국 400~600원/L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1155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12121"/>
                </a:solidFill>
                <a:latin typeface="맑은 고딕"/>
              </a:rPr>
              <a:t>소매가: 폴란드산 멸균유 1,300~1,900원/L  vs  국산 신선유 3,000원대/L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이 격차는 사료 수입 의존·토지 비용 등 구조에서 온 것 — 농가의 노력 부족이 아닙니다.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>
                <a:solidFill>
                  <a:srgbClr val="B02020"/>
                </a:solidFill>
                <a:latin typeface="맑은 고딕"/>
              </a:rPr>
              <a:t>그러나 소비자는 사정을 기다려주지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1  현실 직시 ·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그러나 — 소비는 죽지 않았습니다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212121"/>
                </a:solidFill>
                <a:latin typeface="맑은 고딕"/>
              </a:rPr>
              <a:t>총 유제품 소비(원유 환산)는 역대 최고 수준 — 시장 자체는 살아 있다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치즈 1인당 소비 3.7kg — 5년간 68% 증가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그런데 자연치즈 시장의 96%가 수입산, 국산 자급률은 단 2%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006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한국 낙농의 문제는 '수요 소멸'이 아니라,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B7791F"/>
                </a:solidFill>
                <a:latin typeface="맑은 고딕"/>
              </a:rPr>
              <a:t>성장하는 시장(가공)은 수입에 내주고, 축소되는 시장(음용유)에만 묶여 있는 구조입니다.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" cy="20116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11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B7791F"/>
                </a:solidFill>
                <a:latin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6060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세계의 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94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FDDD5"/>
                </a:solidFill>
                <a:latin typeface="맑은 고딕"/>
              </a:rPr>
              <a:t>글로벌 낙농은 어디로 가는가 — 단기와 장기는 정반대입니다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2  세계의 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단기(~2028): 공급 과잉의 파도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미국·EU·오세아니아 생산량, 10년래 최고 수준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중국의 자급률 70% → 85%: 세계 최대 수입국의 수요가 시장에서 증발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700" b="0">
                <a:solidFill>
                  <a:srgbClr val="5A5A5A"/>
                </a:solidFill>
                <a:latin typeface="맑은 고딕"/>
              </a:rPr>
              <a:t>중국조차 원유값이 생산비 아래로 떨어진 공급 과잉 상태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갈 곳 잃은 잉여 물량이 아시아로 유입 — 폴란드 멸균유 공습은 이 파도의 한 자락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1B4332"/>
                </a:solidFill>
                <a:latin typeface="맑은 고딕"/>
              </a:rPr>
              <a:t>결론: 앞으로 3~5년이 한국 낙농에 가장 힘든 시기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2  세계의 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장기(2030~): 공급이 조여드는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네덜란드 — 질소 규제로 국가가 돈을 주고 축산 감축 (1조 원+ 매입, 사육밀도 상한 도입)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아일랜드 — 우유 많이 짜는 소일수록 무거운 질소 배출 규제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뉴질랜드 — 메탄 감축 목표는 완화돼도 '상수'로 정착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2D6A4F"/>
                </a:solidFill>
                <a:latin typeface="맑은 고딕"/>
              </a:rPr>
              <a:t>반면 수요는 인도·동남아·중동·아프리카에서 인구·소득 따라 구조적 성장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1B4332"/>
                </a:solidFill>
                <a:latin typeface="맑은 고딕"/>
              </a:rPr>
              <a:t>→ 세계 낙농의 무게중심은 아시아로 이동 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235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B4332"/>
                </a:solidFill>
                <a:latin typeface="맑은 고딕"/>
              </a:rPr>
              <a:t>지금의 저가 공세는 영원하지 않습니다. 문제는 그때까지 버틸 체력이 있느냐입니다.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2  세계의 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일본이 20년 먼저 걸어간 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같은 제도(쿼터·가격 지지), 같은 인구 축소를 우리보다 먼저 경험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1B4332"/>
                </a:solidFill>
                <a:latin typeface="맑은 고딕"/>
              </a:rPr>
              <a:t>살아남은 것은 양극단 — 대규모 전업농  vs  브랜드를 가진 목장형 6차산업 농가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02020"/>
                </a:solidFill>
                <a:latin typeface="맑은 고딕"/>
              </a:rPr>
              <a:t>'평균적인 농가'가 가장 먼저 사라졌다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600" b="0">
                <a:solidFill>
                  <a:srgbClr val="5A5A5A"/>
                </a:solidFill>
                <a:latin typeface="맑은 고딕"/>
              </a:rPr>
              <a:t>홋카이도 곤센 지역: 저투입·순환형(방목+장수 착유)으로 원가를 낮춘 농가군 생존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600" b="0">
                <a:solidFill>
                  <a:srgbClr val="5A5A5A"/>
                </a:solidFill>
                <a:latin typeface="맑은 고딕"/>
              </a:rPr>
              <a:t>품종 다양화(저지종 등)로 유질·혹서기 대응·분뇨 저감을 잡는 흐름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7791F"/>
                </a:solidFill>
                <a:latin typeface="맑은 고딕"/>
              </a:rPr>
              <a:t>치즈 시장은 일본도 수입에 내줬다 — 우리에게는 아직 남아 있는 기회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" cy="20116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11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B7791F"/>
                </a:solidFill>
                <a:latin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6060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생존 전략 — 3가지 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94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FDDD5"/>
                </a:solidFill>
                <a:latin typeface="맑은 고딕"/>
              </a:rPr>
              <a:t>"어느 쪽에 설 것인가" — 평균이 가장 위험합니다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3  생존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갈림길 — 평균이 가장 위험합니다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310896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1">
                <a:solidFill>
                  <a:srgbClr val="1B4332"/>
                </a:solidFill>
                <a:latin typeface="맑은 고딕"/>
              </a:rPr>
              <a:t>길 ①  규모화 + 데이터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  <a:latin typeface="맑은 고딕"/>
              </a:rPr>
              <a:t>원가로 버티는 전업농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맑은 고딕"/>
              </a:rPr>
              <a:t>센서·AI로 번식/질병 손실을 줄여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맑은 고딕"/>
              </a:rPr>
              <a:t>리터당 원가를 깎는 300두+ 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310896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212080" cy="508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1">
                <a:solidFill>
                  <a:srgbClr val="B7791F"/>
                </a:solidFill>
                <a:latin typeface="맑은 고딕"/>
              </a:rPr>
              <a:t>길 ②  브랜드 + 가공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  <a:latin typeface="맑은 고딕"/>
              </a:rPr>
              <a:t>가치로 파는 목장형 농가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맑은 고딕"/>
              </a:rPr>
              <a:t>프리미엄 원유 + 유가공 + 직판으로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212121"/>
                </a:solidFill>
                <a:latin typeface="맑은 고딕"/>
              </a:rPr>
              <a:t>소비자가격 전체를 가져오는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1B4332"/>
                </a:solidFill>
                <a:latin typeface="맑은 고딕"/>
              </a:rPr>
              <a:t>10년 후 2,000~2,500호 시대 — 축소 시장에서는 살아남은 농가가 남은 수요를 전부 가져갑니다.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B02020"/>
                </a:solidFill>
                <a:latin typeface="맑은 고딕"/>
              </a:rPr>
              <a:t>둘 다 못 가는 '어중간한 중간'이 가장 먼저 사라집니다.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3  생존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무기 1 — 데이터: 숨은 손실부터 잡아라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1B4332"/>
                </a:solidFill>
                <a:latin typeface="맑은 고딕"/>
              </a:rPr>
              <a:t>사료값은 우리가 못 바꾸지만, 번식 실패·질병 손실은 바꿀 수 있다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공태일수 하루 지연 = 통상 1만 원 안팎의 손실 — 1년이면 소 한 마리 값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무발정·잠재발정·아급성 질병은 사람 눈으로는 놓치기 쉽다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위내센서·활동량계 + AI: 발정·질병·분만 조기 감지 → 공태일수 20~30일 단축 목표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600" b="0">
                <a:solidFill>
                  <a:srgbClr val="5A5A5A"/>
                </a:solidFill>
                <a:latin typeface="맑은 고딕"/>
              </a:rPr>
              <a:t>(국내외 파일럿에서의 목표치 — 목장별 결과는 다를 수 있음)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7791F"/>
                </a:solidFill>
                <a:latin typeface="맑은 고딕"/>
              </a:rPr>
              <a:t>스마트축산 ICT 지원사업 활용 시 자부담 크게 절감 — 조합 단위 공동 신청도 방법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3  생존 전략 · 실전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당장 이번 여름 — 폭염은 번식까지 무너뜨립니다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THI(더위스트레스지수) 단계별 대응 — 축산과학원 폭염 예보를 매일 확인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600" b="0">
                <a:solidFill>
                  <a:srgbClr val="5A5A5A"/>
                </a:solidFill>
                <a:latin typeface="맑은 고딕"/>
              </a:rPr>
              <a:t>송풍·환기팬 → 차광막 → 안개분무 순서로 보강, 착유·급이 시간대 조정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1B4332"/>
                </a:solidFill>
                <a:latin typeface="맑은 고딕"/>
              </a:rPr>
              <a:t>시원한 물 무제한 급여 — 유량 방어의 최우선 (수조 청소·그늘 배치 점검)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02020"/>
                </a:solidFill>
                <a:latin typeface="맑은 고딕"/>
              </a:rPr>
              <a:t>놓치기 쉬운 것: 여름 번식 관리 — 무발정·수태율 저하가 가을 공태 장기화로 이어짐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600" b="0">
                <a:solidFill>
                  <a:srgbClr val="5A5A5A"/>
                </a:solidFill>
                <a:latin typeface="맑은 고딕"/>
              </a:rPr>
              <a:t>혹서기야말로 센서 기반 발정 감지의 효과가 가장 큰 계절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B7791F"/>
                </a:solidFill>
                <a:latin typeface="맑은 고딕"/>
              </a:rPr>
              <a:t>농진청 현장기술지원단 무료 컨설팅 활용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3  생존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무기 2 — 가치: 수입산이 못 넘는 벽 뒤에서 팔아라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1B4332"/>
                </a:solidFill>
                <a:latin typeface="맑은 고딕"/>
              </a:rPr>
              <a:t>신선함 · 목장 직송 · 얼굴 있는 생산자 = 멸균 수입유가 침범할 수 없는 영역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프리미엄 차별화 축: A2 · 저지종 · 유기농 · 동물복지 · 건초급여 · 목장형 유가공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0">
                <a:solidFill>
                  <a:srgbClr val="212121"/>
                </a:solidFill>
                <a:latin typeface="맑은 고딕"/>
              </a:rPr>
              <a:t>6차산업 전환은 만능이 아니다 — 브랜드·유통(온라인 직판)을 만들 수 있어야 성립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000" b="1">
                <a:solidFill>
                  <a:srgbClr val="B7791F"/>
                </a:solidFill>
                <a:latin typeface="맑은 고딕"/>
              </a:rPr>
              <a:t>질문은 하나: 원유를 1,100원/L에 넘길 것인가, 소비자가격 전체를 가져올 것인가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3  생존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가장 큰 빈자리 — 자연치즈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3818" cy="237744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423818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2D6A4F"/>
                </a:solidFill>
                <a:latin typeface="맑은 고딕"/>
              </a:rPr>
              <a:t>19만</a:t>
            </a:r>
            <a:r>
              <a:rPr sz="2000" b="1">
                <a:solidFill>
                  <a:srgbClr val="2D6A4F"/>
                </a:solidFill>
                <a:latin typeface="맑은 고딕"/>
              </a:rPr>
              <a:t> 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4238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국내 치즈 소비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1인당 3.7kg, 계속 성장 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1783080"/>
            <a:ext cx="3423818" cy="237744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783080"/>
            <a:ext cx="3423818" cy="50800"/>
          </a:xfrm>
          <a:prstGeom prst="rect">
            <a:avLst/>
          </a:prstGeom>
          <a:solidFill>
            <a:srgbClr val="B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210312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02020"/>
                </a:solidFill>
                <a:latin typeface="맑은 고딕"/>
              </a:rPr>
              <a:t>2</a:t>
            </a:r>
            <a:r>
              <a:rPr sz="2000" b="1">
                <a:solidFill>
                  <a:srgbClr val="B02020"/>
                </a:solidFill>
                <a:latin typeface="맑은 고딕"/>
              </a:rPr>
              <a:t>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3200400"/>
            <a:ext cx="34238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자연치즈 자급률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시장의 96%가 수입산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783080"/>
            <a:ext cx="3423818" cy="237744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783080"/>
            <a:ext cx="3423818" cy="508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7796" y="2103120"/>
            <a:ext cx="342381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B7791F"/>
                </a:solidFill>
                <a:latin typeface="맑은 고딕"/>
              </a:rPr>
              <a:t>자산</a:t>
            </a:r>
            <a:r>
              <a:rPr sz="2000" b="1">
                <a:solidFill>
                  <a:srgbClr val="B7791F"/>
                </a:solidFill>
                <a:latin typeface="맑은 고딕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3200400"/>
            <a:ext cx="34238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맑은 고딕"/>
              </a:rPr>
              <a:t>숙성치즈의 성격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맑은 고딕"/>
              </a:rPr>
              <a:t>재고가 아니라 저장 가능한 자산 — 수급 완충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1">
                <a:solidFill>
                  <a:srgbClr val="1B4332"/>
                </a:solidFill>
                <a:latin typeface="맑은 고딕"/>
              </a:rPr>
              <a:t>성장하는 19만 톤 시장이 통째로 비어 있습니다.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고형분 높은 원유(저지 등)일수록 치즈 수율에서 유리 — 목장형 유가공의 다음 단계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3  생존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무기 3 — 정책과 환경: 전환 비용은 나눠서 치러라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낙농은 식량안보 산업 — 공적 자금은 계속 들어온다 (스마트축산·시설 현대화·직불)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1B4332"/>
                </a:solidFill>
                <a:latin typeface="맑은 고딕"/>
              </a:rPr>
              <a:t>정책의 방향(데이터·환경·후계농)과 내 투자를 일치시키는 농가가 전환 비용을 아낀다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02020"/>
                </a:solidFill>
                <a:latin typeface="맑은 고딕"/>
              </a:rPr>
              <a:t>악취·분뇨·탄소는 이제 비용이 아니라 '존속 면허' — 민원 한 건이 폐업 사유가 되는 시대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깔짚·퇴비화 관리 = 냄새 · 비용 · 탄소를 동시에 잡는 출발점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7791F"/>
                </a:solidFill>
                <a:latin typeface="맑은 고딕"/>
              </a:rPr>
              <a:t>조합의 역할: 공동 신청 · 공동 교육 · 공동 브랜드로 개별 농가의 한계를 보완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" cy="20116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011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B7791F"/>
                </a:solidFill>
                <a:latin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6060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한 목장의 실험 — 송영신목장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94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FDDD5"/>
                </a:solidFill>
                <a:latin typeface="맑은 고딕"/>
              </a:rPr>
              <a:t>말이 아니라, 실제로 그 길을 가고 있는 사례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4 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송영신목장 — 3중 차별화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1B4332"/>
                </a:solidFill>
                <a:latin typeface="맑은 고딕"/>
              </a:rPr>
              <a:t>A2 (β-카제인 A2 유전형 소만 선발)  ×  저지종  ×  건초 중심 급여(Hay Milk)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프리미엄을 주장하는 시장에서, 차별화 축 3개를 동시에 가진 목장은 국내에 드물다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저지종의 실리: 유질(고형분)↑ · 혹서기 유량 감소 완화 · 분뇨 발생↓ — 구호가 아닌 원가 구조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600" b="0">
                <a:solidFill>
                  <a:srgbClr val="5A5A5A"/>
                </a:solidFill>
                <a:latin typeface="맑은 고딕"/>
              </a:rPr>
              <a:t>A2 표현 원칙: "소화가 편하다고 느껴 찾는 소비자들의 선택" — 의학적 효능 주장은 하지 않음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4 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Soil to Soul — 흙에서 시작하는 순환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1B4332"/>
                </a:solidFill>
                <a:latin typeface="맑은 고딕"/>
              </a:rPr>
              <a:t>건강한 흙 → 건강한 풀 → 건강한 소 → 좋은 우유 → 퇴비 → 다시 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저탄소·동물복지·순환농업이 마케팅 구호가 아니라 실제 운영 체계(퇴비화·깔짚 관리)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7791F"/>
                </a:solidFill>
                <a:latin typeface="맑은 고딕"/>
              </a:rPr>
              <a:t>프리미엄 브랜드의 전제 — 검증을 두려워하지 않는 '진짜' 스토리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맑은 고딕"/>
              </a:rPr>
              <a:t>      – </a:t>
            </a:r>
            <a:r>
              <a:rPr sz="1600" b="0">
                <a:solidFill>
                  <a:srgbClr val="5A5A5A"/>
                </a:solidFill>
                <a:latin typeface="맑은 고딕"/>
              </a:rPr>
              <a:t>소비자가 목장에 와서 확인할 수 있는 것만 말한다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B7791F"/>
                </a:solidFill>
                <a:latin typeface="맑은 고딕"/>
              </a:rPr>
              <a:t>PART 4 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원유가 아니라 브랜드를 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제품군: A2 저지 하이밀크 · 요거트 · 그릭요거트 · 카이막 · 밀크티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212121"/>
                </a:solidFill>
                <a:latin typeface="맑은 고딕"/>
              </a:rPr>
              <a:t>채널: 자사몰 shop.a2jerseymilk.com — D2C 정기구독 중심 설계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1B4332"/>
                </a:solidFill>
                <a:latin typeface="맑은 고딕"/>
              </a:rPr>
              <a:t>구조의 차이: 원유 리터당 납유 → 소비자가격 전체 + 고객 데이터 확보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1">
                <a:solidFill>
                  <a:srgbClr val="B7791F"/>
                </a:solidFill>
                <a:latin typeface="맑은 고딕"/>
              </a:rPr>
              <a:t>다음 단계: 첫 1,000명의 구독 고객 확보, 그리고 저지 A2 자연치즈 도전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1900" b="0">
                <a:solidFill>
                  <a:srgbClr val="B02020"/>
                </a:solidFill>
                <a:latin typeface="맑은 고딕"/>
              </a:rPr>
              <a:t>정직한 현재 위치: 이제 출발선 — 결과는 앞으로 시장에서 증명해야 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B4332"/>
                </a:solidFill>
                <a:latin typeface="맑은 고딕"/>
              </a:rPr>
              <a:t>오늘의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88720"/>
            <a:ext cx="14630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1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100" b="1">
                <a:solidFill>
                  <a:srgbClr val="212121"/>
                </a:solidFill>
                <a:latin typeface="맑은 고딕"/>
              </a:rPr>
              <a:t>축소는 확정입니다. 그러나 그것이 모두의 운명은 아닙니다 — 양극화가 옵니다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1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100" b="0">
                <a:solidFill>
                  <a:srgbClr val="212121"/>
                </a:solidFill>
                <a:latin typeface="맑은 고딕"/>
              </a:rPr>
              <a:t>지킬 시장(신선·프리미엄)과 내줄 시장(범용 가공)을 구분하십시오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100" b="1">
                <a:solidFill>
                  <a:srgbClr val="2D6A4F"/>
                </a:solidFill>
                <a:latin typeface="맑은 고딕"/>
              </a:rPr>
              <a:t>▪  </a:t>
            </a:r>
            <a:r>
              <a:rPr sz="2100" b="0">
                <a:solidFill>
                  <a:srgbClr val="212121"/>
                </a:solidFill>
                <a:latin typeface="맑은 고딕"/>
              </a:rPr>
              <a:t>데이터로 원가를, 브랜드로 가격을, 정책 자금으로 전환 비용을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질문은 "버틸 수 있는가"가 아니라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B7791F"/>
                </a:solidFill>
                <a:latin typeface="맑은 고딕"/>
              </a:rPr>
              <a:t>"무엇으로 다시 태어날 것인가"입니다.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FDDD5"/>
                </a:solidFill>
                <a:latin typeface="맑은 고딕"/>
              </a:rPr>
              <a:t>질의응답 — 우리 목장 상황에 맞는 질문, 무엇이든 좋습니다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B7791F"/>
                </a:solidFill>
                <a:latin typeface="맑은 고딕"/>
              </a:rPr>
              <a:t>하현제 박사  |  hhj3150@hanmail.net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
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1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charts/chart2.xml" ContentType="application/vnd.openxmlformats-officedocument.drawingml.chart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</p:sldIdLst>
  <p:notesMasterIdLst>
    <p:notesMasterId r:id="rId5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notesMaster" Target="notesMasters/notesMaster1.xml"/><Relationship Id="rId59" Type="http://schemas.openxmlformats.org/officeDocument/2006/relationships/presProps" Target="presProps.xml"/><Relationship Id="rId60" Type="http://schemas.openxmlformats.org/officeDocument/2006/relationships/viewProps" Target="viewProps.xml"/><Relationship Id="rId61" Type="http://schemas.openxmlformats.org/officeDocument/2006/relationships/theme" Target="theme/theme1.xml"/><Relationship Id="rId6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4420"/>
                </a:solidFill>
                <a:latin typeface="Malgun Gothic"/>
              </a:defRPr>
            </a:pPr>
            <a:r>
              <a:rPr sz="1300" b="0" i="0" u="none" strike="noStrike">
                <a:solidFill>
                  <a:srgbClr val="1E4420"/>
                </a:solidFill>
                <a:latin typeface="Malgun Gothic"/>
              </a:rPr>
              <a:t>주요 유성분 비교 (문헌 참고 범위의 대표값)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저지</c:v>
                </c:pt>
              </c:strCache>
            </c:strRef>
          </c:tx>
          <c:spPr>
            <a:solidFill>
              <a:srgbClr val="B87333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F2A20"/>
                    </a:solidFill>
                    <a:latin typeface="Malgun Gothic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유지방(%)</c:v>
                  </c:pt>
                  <c:pt idx="1">
                    <c:v>유단백(%)</c:v>
                  </c:pt>
                  <c:pt idx="2">
                    <c:v>무지고형분(%)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4.8</c:v>
                </c:pt>
                <c:pt idx="1">
                  <c:v>3.8</c:v>
                </c:pt>
                <c:pt idx="2">
                  <c:v>9.6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홀스타인</c:v>
                </c:pt>
              </c:strCache>
            </c:strRef>
          </c:tx>
          <c:spPr>
            <a:solidFill>
              <a:srgbClr val="97BC62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F2A20"/>
                    </a:solidFill>
                    <a:latin typeface="Malgun Gothic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유지방(%)</c:v>
                  </c:pt>
                  <c:pt idx="1">
                    <c:v>유단백(%)</c:v>
                  </c:pt>
                  <c:pt idx="2">
                    <c:v>무지고형분(%)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3.7</c:v>
                </c:pt>
                <c:pt idx="1">
                  <c:v>3.2</c:v>
                </c:pt>
                <c:pt idx="2">
                  <c:v>8.7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100" u="none">
                  <a:solidFill>
                    <a:srgbClr val="1F2A20"/>
                  </a:solidFill>
                  <a:latin typeface="Malgun Gothic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E6B5F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2"/>
        </c:scaling>
        <c:delete val="0"/>
        <c:axPos val="l"/>
        <c:majorGridlines>
          <c:spPr>
            <a:ln w="12700" cap="flat">
              <a:solidFill>
                <a:srgbClr val="E6EBE3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E6B5F"/>
                </a:solidFill>
                <a:latin typeface="Malgun Gothic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1F2A20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4420"/>
                </a:solidFill>
                <a:latin typeface="Malgun Gothic"/>
              </a:defRPr>
            </a:pPr>
            <a:r>
              <a:rPr sz="1200" b="0" i="0" u="none" strike="noStrike">
                <a:solidFill>
                  <a:srgbClr val="1E4420"/>
                </a:solidFill>
                <a:latin typeface="Malgun Gothic"/>
              </a:rPr>
              <a:t>가공 단계별 부가가치 개념도 (원유 판매를 100으로 둔 상대 비교)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부가가치 (원유 판매 = 100 기준)</c:v>
                </c:pt>
              </c:strCache>
            </c:strRef>
          </c:tx>
          <c:spPr>
            <a:solidFill>
              <a:srgbClr val="97BC6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F2A20"/>
                    </a:solidFill>
                    <a:latin typeface="Malgun Gothic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7BC62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C5F2D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B87333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8A5A22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원유 판매</c:v>
                  </c:pt>
                  <c:pt idx="1">
                    <c:v>우유 제품</c:v>
                  </c:pt>
                  <c:pt idx="2">
                    <c:v>요거트·그릭</c:v>
                  </c:pt>
                  <c:pt idx="3">
                    <c:v>카이막·아이스크림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100</c:v>
                </c:pt>
                <c:pt idx="1">
                  <c:v>180</c:v>
                </c:pt>
                <c:pt idx="2">
                  <c:v>260</c:v>
                </c:pt>
                <c:pt idx="3">
                  <c:v>340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F2A20"/>
                  </a:solidFill>
                  <a:latin typeface="Malgun Gothic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E6B5F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00"/>
        </c:scaling>
        <c:delete val="0"/>
        <c:axPos val="l"/>
        <c:majorGridlines>
          <c:spPr>
            <a:ln w="12700" cap="flat">
              <a:solidFill>
                <a:srgbClr val="E6EBE3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E6B5F"/>
                </a:solidFill>
                <a:latin typeface="Malgun Gothic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인사. 오늘은 '잘 되는 목장 자랑'이 아니라, 기술보급 담당자 관점에서 '무엇을 시범사업으로 만들 수 있는가'를 남기는 것이 목적이라고 먼저 밝힌다. 마지막 20분은 질의응답.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자기소개는 길게 하지 않는다. 핵심은 '한 목장 안에서 유전-환경-데이터-가공이 모두 검증 가능하다'는 것. 기술보급 입장에서는 실증 사이트로서의 가치가 여기에 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6개 파트. 앞의 5개는 사례, 마지막 6번이 오늘 세미나의 목적인 시범사업 발굴 부분. 시간이 모자라면 앞을 줄이고 6번은 반드시 다룬다.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장이 발표 전체의 지도. 청중이 뒤에서 길을 잃으면 이 장으로 돌아온다. 네 기술이 따로 논 것이 아니라 하나로 묶였다는 점을 강조.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5분. 규모 자랑이 아니라 '실증 조건을 갖춘 사이트'라는 점을 설명한다.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착유 35두 소규모임을 먼저 인정하고 시작한다. 규모가 작아서 오히려 유가공·직판이 필수였다는 논리로 연결. 두당 유량·유성분 검정 성적을 말할 수 있으면 여기서 구두로 덧붙인다.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장이 오늘 발표의 '영업 포인트'. 뒤의 시범사업 제안이 여기서 근거를 얻는다. 특히 3번(데이터 신뢰도)과 4번(전시포)은 지도직 청중에게 설득력이 크다.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15분. 품종 선택은 취향이 아니라 사업 구조의 선택이었다는 논리로 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여기서 청중이 가장 궁금해하는 것은 '수익이 나느냐'. 저지는 원유 판매만으로는 불리할 수 있고, 가공을 붙였을 때 성립한다는 것을 솔직하게 말한다. 이 솔직함이 뒤의 신뢰를 만든다.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연구직 청중이므로 출처 구분을 반드시 말한다. '문헌 참고값'과 '우리 목장 실측'을 섞지 않는다. 마지막 열(현장 해석)이 이 표의 핵심.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차트는 '대표값'임을 반드시 언급. 이 장의 메시지는 하나 — 저지의 약점(유량)은 가공을 붙이는 순간 강점(고형분)으로 뒤집힌다.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연구기관 앞에서 A2를 건강기능성으로 과장하면 즉시 신뢰를 잃는다. '검증 가능한 사실만 표시한다'는 원칙을 먼저 밝히는 것이 오히려 설득력이 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장이 지도직 청중에게 가장 유용한 장. 시범사업 설계 시 리스크 항목으로 그대로 쓸 수 있다고 말해준다.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Genetics 실적 수치는 실제 값. 이 장은 뒤의 시범사업 제안 1번(저지·A2A2 실증)의 근거가 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오늘 청중은 농촌진흥청 소속이다. 우즈베키스탄 성과가 이미 농진청과 함께 만든 것이라는 점을 반드시 짚는다 — 새로 부탁하는 것이 아니라 이미 같이 해온 일의 확장이라는 프레임. 성적 수치는 정리 중이라고 정직하게 말하고, 확정 수치를 요구받으면 후속 제출을 약속한다. 한우 유전자원 수출은 언급하지 않는다.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20분. 오늘 청중이 가장 관심 있을 파트. 악취·분뇨는 모든 지자체의 민원 1순위.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친환경을 막연한 구호가 아니라 '먹는 것 / 사는 곳 / 나오는 것' 3축으로 분해해 보여준다. 지도 현장에서 농가에게 설명할 때 그대로 쓸 수 있는 프레임이라고 말해준다.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HBP의 핵심은 '깔짚을 갈아주는 것'이 아니라 '발효를 관리하는 것'. 교반과 수분이 전부라고 강조. 실패하는 농가는 대부분 교반을 안 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지도 담당자에게 가장 실무적인 장. 자재만 지원하고 관리를 안 알려주면 반드시 실패한다는 점을 강하게 말한다. 시범사업 설계 시 교육·기록 항목을 예산에 넣어야 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앞 SOP 슬라이드와 반드시 이어서 말한다. '교반이 제일 중요하다'고 해놓고 '그런데 사람이 못 한다'로 넘어가야 로봇의 필요성이 설득된다. 과제번호는 굳이 읽지 말고 각주로 두되, 질문 나오면 답할 수 있게 준비.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D2O의 역할이 '실증과 확산'이라는 점을 분명히 한다 — 국립축산과학원 입장에서는 실증·보급 파트너로 바로 이어붙일 수 있는 지점이다. 양산·판가는 GMW/충남대 소관이므로 사업화 수치는 언급하지 않는다.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오늘 발표에서 실제로 얻어내야 할 요청. R&amp;D와 보급을 순차가 아니라 병행으로 돌리자는 제안. 담당자 입장에서는 '완성품을 기다리지 않고 3년 먼저 준비할 수 있다'는 점이 실익. 저희 과제에서 D2O 역할이 확산·교육이므로 접점이 이미 있다는 점을 덧붙인다.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장에서 신뢰가 결정된다. 효과를 단정하지 않고 '체감'과 '검증 대상'을 나눠 말한다. 국립축산과학원의 측정 역량이 필요하다는 요청으로 자연스럽게 연결.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퇴비 품질이 좋아야 순환이 완성된다. 부숙도 미달 퇴비는 경종농가가 안 받는다는 현실을 언급하면 공감을 얻는다.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여기서 첫 번째 정책 제안을 씨앗으로 뿌린다. 우리만 이득 보자는 게 아니라 산업 공통 기준이 필요하다는 톤으로.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20분. 정밀낙농 파트. 기술 자랑보다 '사람이 못 보는 것을 본다'는 실무 효용 중심으로.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현장 경험담을 하나 붙일 것 — 놓친 발정 한 번의 손실(21일 × 사료비 + 유량 손실)을 금액으로 환산해 말하면 설득력이 크다.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센서를 팔러 온 것처럼 보이면 안 된다. 한계와 유의점을 먼저 말하는 것이 오히려 신뢰를 만든다. 알림 피로(alert fatigue)는 실제로 가장 큰 실패 원인.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④→⑤의 되먹임이 핵심. 그리고 오른쪽 카드(수의사·지도사 화면)가 오늘 청중에게 직접 관련된 부분 — 지도 업무에 쓸 수 있다는 점을 강조.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각 시나리오마다 실제 겪은 사례를 한 문장씩 붙인다. 특히 02(분만)는 저지 송아지 폐사 감소와 직결되므로 앞 파트와 연결해서 설명.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가격은 공개 가능한 범위만 말한다. 원가·마진 구조는 절대 언급하지 않는다. 마지막 '지원사업+판독 지원' 문장이 시범사업 제안 3번으로 이어진다.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장은 국립축산과학원 입장에서 가장 흥미로울 부분. '지도사업 성과를 데이터로 보고할 수 있다'는 점을 강조 — 담당자들의 실제 고충이다.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20분. 유가공 실무. 하려는 농가가 가장 궁금해하는 인허가·설비·판로를 구체적으로.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개념도임을 반드시 밝힌다. 오른쪽 '정직하게 말씀드리면' 박스가 이 장의 진짜 메시지 — 가공을 권하되 환상을 심지 않는다.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라인업 확장의 진짜 이유는 원유 수급 변동 흡수. 우유가 안 팔린 날 요거트로 돌린다. 이 운영 논리가 소규모 유가공의 핵심 노하우다.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제품 라벨 표시값이므로 자신 있게 말한다. 지방 4.5g·단백질 3.8g이 저지 원유의 강점이 제품에 그대로 남았다는 근거. 다만 로트 변동은 인정. 표시·광고 원칙은 유가공을 시작하는 농가에게 가장 필요한 조언.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살균 조건은 실제 운영값. CIP(세척) 이야기를 강조 — 소규모 유가공 사고의 대부분이 여기서 난다. 지도 현장에서 농가에게 꼭 전해달라고 부탁.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법령 세부 요건은 단정하지 말고 '관할 기관 사전 협의'로 안내. 1번(판로 먼저)이 가장 중요한 조언 — 설비부터 지어 실패한 농가를 많이 봤다고 말한다.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실패 이유 4가지가 이 장의 핵심. 6차산업 지원사업이 시설에만 집중되고 판매 역량 지원이 없다는 점을 부드럽게 지적 — 시범사업 제안 4번의 근거.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6차산업 실패 사례를 솔직히 말하는 것이 지도직 청중에게 가장 유용하다. 시설비 중심 지원의 한계를 지적 — 정책 제언으로 자연스럽게 연결.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20분. 오늘 세미나의 목적 지점. 반드시 시간을 남겨서 이 파트를 다 다룬다.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숫자 하나씩 짚는다. 자급률 44%는 '국민이 먹는 유제품의 절반 이상이 이미 수입'이라는 뜻. EU산 무관세가 지난달부터라는 점으로 체감도를 올린다. 다만 관세 자체보다 가려져 있던 원가 격차가 본질임을 예고하고 다음 장으로 넘어간다.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격차의 원인이 구조적임을 먼저 인정해 방어심리를 낮춘다. 그 다음 '가격 싸움을 계속할 것인가'라는 질문을 던지고 다음 장에서 판을 뒤집는다.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장이 진단 파트에서 가장 중요하다. 분위기를 위기에서 기회로 전환시키는 지점. '낙농이 망해가는 것이 아니라, 성장하는 시장에서 우리가 빠져 있는 것'이라는 재정의를 천천히 말한다.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규모가 작다고 끝이 아니라 작으면 ②의 길이 있다는 점을 열어준다. 무기 3개는 앞의 파트 03·04·05와 각각 대응한다. 공태일수 1만 원은 청중이 가장 크게 반응하는 숫자.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세 번째 칸이 오늘 발표의 요청 목록과 그대로 일치한다는 점을 짚는다. 낙농가 앞에서는 첫 칸을 길게 말했지만, 오늘은 세 번째 칸에 시간을 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네 전환이 각각 앞의 파트 02~05와 1:1로 대응한다는 점을 짚어준다. 발표 전체가 이 한 장으로 요약된다.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여기서 톤을 바꾼다 — 부탁이 아니라 제안. 공통 원칙 ③(실패도 공개)과 ④(매뉴얼)가 진정성을 보여주는 부분.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각 과제는 '목장이 낼 것 / 연구기관이 해주실 것'을 명확히 나눴다는 점을 강조. 일방적 요청이 아니라 역할 분담이라는 인상을 준다.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마지막 요청 문장이 발표 전체의 결론. 천천히, 힘주어 말한다.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우리 목장이 이미 데이터를 쌓고 있다는 점이 핵심 근거. 새로 만들자는 게 아니라 '이미 돌고 있는 것을 시험 설계로 정리하자'는 제안이라는 톤으로.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우리 목장의 미완성 지점을 먼저 드러내는 장. 자랑이 아니라 '여기가 비어 있으니 같이 채우자'는 제안. 소규모 유가공장이라 오히려 스마트팩토리 실증 모델로 만들기 쉽다는 점을 덧붙인다.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로드맵은 '안'임을 명시. 협의로 바꿀 수 있다는 열린 자세를 보인다. 3년 뒤 남는 것 5가지가 기술보급 부서의 성과 지표와 맞물린다.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가장 중요한 장. 주고받는 관계를 명확히 제시. '데이터를 열겠다'는 약속이 이 제안의 무게를 만든다.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질의응답 20분. 예상 질문: ① 저지로 수익이 나는가 ② HBP 초기 비용과 회수기간 ③ 센서 투자 대비 효과 ④ 유가공 인허가에서 가장 막히는 지점 ⑤ 소규모 농가도 따라 할 수 있는가. 각각 숫자로 답할 준비를 해둘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발표 시에는 넘기고, 질의응답에서 필요 시 열람.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330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03920" y="-1463040"/>
            <a:ext cx="5669280" cy="5669280"/>
          </a:xfrm>
          <a:prstGeom prst="ellipse">
            <a:avLst/>
          </a:prstGeom>
          <a:solidFill>
            <a:srgbClr val="1C4028"/>
          </a:solidFill>
          <a:ln/>
        </p:spPr>
      </p:sp>
      <p:sp>
        <p:nvSpPr>
          <p:cNvPr id="3" name="Shape 1"/>
          <p:cNvSpPr/>
          <p:nvPr/>
        </p:nvSpPr>
        <p:spPr>
          <a:xfrm>
            <a:off x="10104120" y="4160520"/>
            <a:ext cx="2926080" cy="2926080"/>
          </a:xfrm>
          <a:prstGeom prst="ellipse">
            <a:avLst/>
          </a:prstGeom>
          <a:solidFill>
            <a:srgbClr val="1E4420"/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123444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20" kern="0" dirty="0">
                <a:solidFill>
                  <a:srgbClr val="97BC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현장중심 기술보급 강화를 위한 외부전문가 초청 세미나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685800" y="1783080"/>
            <a:ext cx="859536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6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저지종 유가공목장</a:t>
            </a:r>
            <a:endParaRPr lang="en-US" sz="4600" dirty="0"/>
          </a:p>
          <a:p>
            <a:pPr indent="0" marL="0">
              <a:lnSpc>
                <a:spcPts val="56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현장사례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685800" y="3749040"/>
            <a:ext cx="8595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9C7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친환경 스마트 사양관리 · 유가공 · 현장에서 보는 낙농산업 방향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85800" y="4617720"/>
            <a:ext cx="5074920" cy="1097280"/>
          </a:xfrm>
          <a:prstGeom prst="roundRect">
            <a:avLst>
              <a:gd name="adj" fmla="val 8333"/>
            </a:avLst>
          </a:prstGeom>
          <a:solidFill>
            <a:srgbClr val="1C4028"/>
          </a:solidFill>
          <a:ln/>
        </p:spPr>
      </p:sp>
      <p:sp>
        <p:nvSpPr>
          <p:cNvPr id="8" name="Text 6"/>
          <p:cNvSpPr/>
          <p:nvPr/>
        </p:nvSpPr>
        <p:spPr>
          <a:xfrm>
            <a:off x="960120" y="475488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송영신목장 대표 하현제</a:t>
            </a:r>
            <a:endParaRPr lang="en-US" sz="17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C8DDA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수의사 · 현장명예지도관 | 2026. 8. 10.(월) 14:00~16:00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6035040" y="504748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국립축산과학원 소회의실(5층)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SPEAKER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사람이 아니라, 네 개의 현장이 한 목장에서 만납니다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17043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저는 수의사이자 목장주이며, 동시에 육종·환경·데이터 회사를 함께 운영합니다.</a:t>
            </a:r>
            <a:endParaRPr lang="en-US" sz="1400" dirty="0"/>
          </a:p>
          <a:p>
            <a:pPr algn="l"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사례는 이 네 축이 한 목장에서 동시에 돌아간 결과입니다.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66928" y="2011680"/>
            <a:ext cx="2560320" cy="2103120"/>
          </a:xfrm>
          <a:prstGeom prst="roundRect">
            <a:avLst>
              <a:gd name="adj" fmla="val 4348"/>
            </a:avLst>
          </a:prstGeom>
          <a:solidFill>
            <a:srgbClr val="EEF4E9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66928" y="2011680"/>
            <a:ext cx="2560320" cy="566928"/>
          </a:xfrm>
          <a:prstGeom prst="roundRect">
            <a:avLst>
              <a:gd name="adj" fmla="val 16129"/>
            </a:avLst>
          </a:prstGeom>
          <a:solidFill>
            <a:srgbClr val="B87333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2011680"/>
            <a:ext cx="22311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송영신목장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68096" y="2697480"/>
            <a:ext cx="2157984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저지종 단일 품종 사육</a:t>
            </a:r>
            <a:endParaRPr lang="en-US" sz="12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A2 저지 건초우유 생산</a:t>
            </a:r>
            <a:endParaRPr lang="en-US" sz="12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자체 유가공·직판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3328416" y="2011680"/>
            <a:ext cx="2560320" cy="2103120"/>
          </a:xfrm>
          <a:prstGeom prst="roundRect">
            <a:avLst>
              <a:gd name="adj" fmla="val 4348"/>
            </a:avLst>
          </a:prstGeom>
          <a:solidFill>
            <a:srgbClr val="EEF4E9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328416" y="2011680"/>
            <a:ext cx="2560320" cy="566928"/>
          </a:xfrm>
          <a:prstGeom prst="roundRect">
            <a:avLst>
              <a:gd name="adj" fmla="val 16129"/>
            </a:avLst>
          </a:prstGeom>
          <a:solidFill>
            <a:srgbClr val="2C5F2D"/>
          </a:solidFill>
          <a:ln/>
        </p:spPr>
      </p:sp>
      <p:sp>
        <p:nvSpPr>
          <p:cNvPr id="11" name="Text 9"/>
          <p:cNvSpPr/>
          <p:nvPr/>
        </p:nvSpPr>
        <p:spPr>
          <a:xfrm>
            <a:off x="3493008" y="2011680"/>
            <a:ext cx="22311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Genetics (주)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3529584" y="2697480"/>
            <a:ext cx="2157984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수정란 생산·이식</a:t>
            </a:r>
            <a:endParaRPr lang="en-US" sz="12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유전체 선발, A2A2 개량</a:t>
            </a:r>
            <a:endParaRPr lang="en-US" sz="12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 3,000회 이식 규모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089904" y="2011680"/>
            <a:ext cx="2560320" cy="2103120"/>
          </a:xfrm>
          <a:prstGeom prst="roundRect">
            <a:avLst>
              <a:gd name="adj" fmla="val 4348"/>
            </a:avLst>
          </a:prstGeom>
          <a:solidFill>
            <a:srgbClr val="EEF4E9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089904" y="2011680"/>
            <a:ext cx="2560320" cy="566928"/>
          </a:xfrm>
          <a:prstGeom prst="roundRect">
            <a:avLst>
              <a:gd name="adj" fmla="val 16129"/>
            </a:avLst>
          </a:prstGeom>
          <a:solidFill>
            <a:srgbClr val="2C5F2D"/>
          </a:solidFill>
          <a:ln/>
        </p:spPr>
      </p:sp>
      <p:sp>
        <p:nvSpPr>
          <p:cNvPr id="15" name="Text 13"/>
          <p:cNvSpPr/>
          <p:nvPr/>
        </p:nvSpPr>
        <p:spPr>
          <a:xfrm>
            <a:off x="6254496" y="2011680"/>
            <a:ext cx="22311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고려동물병원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291072" y="2697480"/>
            <a:ext cx="2157984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수정란이식 전문 진료</a:t>
            </a:r>
            <a:endParaRPr lang="en-US" sz="12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번식·수정란·송아지 관리</a:t>
            </a:r>
            <a:endParaRPr lang="en-US" sz="12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수의사 4인 체제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8851392" y="2011680"/>
            <a:ext cx="2560320" cy="2103120"/>
          </a:xfrm>
          <a:prstGeom prst="roundRect">
            <a:avLst>
              <a:gd name="adj" fmla="val 4348"/>
            </a:avLst>
          </a:prstGeom>
          <a:solidFill>
            <a:srgbClr val="EEF4E9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8851392" y="2011680"/>
            <a:ext cx="2560320" cy="566928"/>
          </a:xfrm>
          <a:prstGeom prst="roundRect">
            <a:avLst>
              <a:gd name="adj" fmla="val 16129"/>
            </a:avLst>
          </a:prstGeom>
          <a:solidFill>
            <a:srgbClr val="B87333"/>
          </a:solidFill>
          <a:ln/>
        </p:spPr>
      </p:sp>
      <p:sp>
        <p:nvSpPr>
          <p:cNvPr id="19" name="Text 17"/>
          <p:cNvSpPr/>
          <p:nvPr/>
        </p:nvSpPr>
        <p:spPr>
          <a:xfrm>
            <a:off x="9015984" y="2011680"/>
            <a:ext cx="22311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D2O (주)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9052560" y="2697480"/>
            <a:ext cx="2157984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축사환경·악취 저감</a:t>
            </a:r>
            <a:endParaRPr lang="en-US" sz="12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피트모스 베딩(HBP)</a:t>
            </a:r>
            <a:endParaRPr lang="en-US" sz="12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산자부 축산로봇 과제 참여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4572000"/>
            <a:ext cx="11064240" cy="1005840"/>
          </a:xfrm>
          <a:prstGeom prst="roundRect">
            <a:avLst>
              <a:gd name="adj" fmla="val 9091"/>
            </a:avLst>
          </a:prstGeom>
          <a:solidFill>
            <a:srgbClr val="13301F"/>
          </a:solidFill>
          <a:ln/>
        </p:spPr>
      </p:sp>
      <p:sp>
        <p:nvSpPr>
          <p:cNvPr id="22" name="Text 20"/>
          <p:cNvSpPr/>
          <p:nvPr/>
        </p:nvSpPr>
        <p:spPr>
          <a:xfrm>
            <a:off x="822960" y="457200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현장의 문제를 진료로 보고 → 유전으로 고치고 → 환경으로 받쳐주고 → 제품으로 값을 받는다</a:t>
            </a:r>
            <a:endParaRPr lang="en-US" sz="1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CONTENTS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말씀드릴 것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298448"/>
            <a:ext cx="11064240" cy="694944"/>
          </a:xfrm>
          <a:prstGeom prst="roundRect">
            <a:avLst>
              <a:gd name="adj" fmla="val 13158"/>
            </a:avLst>
          </a:prstGeom>
          <a:solidFill>
            <a:srgbClr val="F3F6F1"/>
          </a:solidFill>
          <a:ln/>
        </p:spPr>
      </p:sp>
      <p:sp>
        <p:nvSpPr>
          <p:cNvPr id="5" name="Shape 3"/>
          <p:cNvSpPr/>
          <p:nvPr/>
        </p:nvSpPr>
        <p:spPr>
          <a:xfrm>
            <a:off x="786384" y="1435608"/>
            <a:ext cx="420624" cy="420624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6" name="Text 4"/>
          <p:cNvSpPr/>
          <p:nvPr/>
        </p:nvSpPr>
        <p:spPr>
          <a:xfrm>
            <a:off x="786384" y="14356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389888" y="1298448"/>
            <a:ext cx="32004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목장 개요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4617720" y="1298448"/>
            <a:ext cx="67665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이 사례가 기술보급에 의미가 있는가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66928" y="2103120"/>
            <a:ext cx="11064240" cy="694944"/>
          </a:xfrm>
          <a:prstGeom prst="roundRect">
            <a:avLst>
              <a:gd name="adj" fmla="val 13158"/>
            </a:avLst>
          </a:prstGeom>
          <a:solidFill>
            <a:srgbClr val="F3F6F1"/>
          </a:solidFill>
          <a:ln/>
        </p:spPr>
      </p:sp>
      <p:sp>
        <p:nvSpPr>
          <p:cNvPr id="10" name="Shape 8"/>
          <p:cNvSpPr/>
          <p:nvPr/>
        </p:nvSpPr>
        <p:spPr>
          <a:xfrm>
            <a:off x="786384" y="2240280"/>
            <a:ext cx="420624" cy="420624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11" name="Text 9"/>
          <p:cNvSpPr/>
          <p:nvPr/>
        </p:nvSpPr>
        <p:spPr>
          <a:xfrm>
            <a:off x="786384" y="22402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389888" y="2103120"/>
            <a:ext cx="32004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저지종인가</a:t>
            </a:r>
            <a:endParaRPr lang="en-US" sz="1550" dirty="0"/>
          </a:p>
        </p:txBody>
      </p:sp>
      <p:sp>
        <p:nvSpPr>
          <p:cNvPr id="13" name="Text 11"/>
          <p:cNvSpPr/>
          <p:nvPr/>
        </p:nvSpPr>
        <p:spPr>
          <a:xfrm>
            <a:off x="4617720" y="2103120"/>
            <a:ext cx="67665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품종 선택의 의사결정, 수정란 기술과 홀스타인 수정란 수출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66928" y="2907792"/>
            <a:ext cx="11064240" cy="694944"/>
          </a:xfrm>
          <a:prstGeom prst="roundRect">
            <a:avLst>
              <a:gd name="adj" fmla="val 13158"/>
            </a:avLst>
          </a:prstGeom>
          <a:solidFill>
            <a:srgbClr val="F3F6F1"/>
          </a:solidFill>
          <a:ln/>
        </p:spPr>
      </p:sp>
      <p:sp>
        <p:nvSpPr>
          <p:cNvPr id="15" name="Shape 13"/>
          <p:cNvSpPr/>
          <p:nvPr/>
        </p:nvSpPr>
        <p:spPr>
          <a:xfrm>
            <a:off x="786384" y="3044952"/>
            <a:ext cx="420624" cy="420624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16" name="Text 14"/>
          <p:cNvSpPr/>
          <p:nvPr/>
        </p:nvSpPr>
        <p:spPr>
          <a:xfrm>
            <a:off x="786384" y="304495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389888" y="2907792"/>
            <a:ext cx="32004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친환경 사양관리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4617720" y="2907792"/>
            <a:ext cx="67665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피트모스 베딩(HBP) · 로봇소똥구리(산자부 과제) · 순환농업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66928" y="3712464"/>
            <a:ext cx="11064240" cy="694944"/>
          </a:xfrm>
          <a:prstGeom prst="roundRect">
            <a:avLst>
              <a:gd name="adj" fmla="val 13158"/>
            </a:avLst>
          </a:prstGeom>
          <a:solidFill>
            <a:srgbClr val="F3F6F1"/>
          </a:solidFill>
          <a:ln/>
        </p:spPr>
      </p:sp>
      <p:sp>
        <p:nvSpPr>
          <p:cNvPr id="20" name="Shape 18"/>
          <p:cNvSpPr/>
          <p:nvPr/>
        </p:nvSpPr>
        <p:spPr>
          <a:xfrm>
            <a:off x="786384" y="3849624"/>
            <a:ext cx="420624" cy="420624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21" name="Text 19"/>
          <p:cNvSpPr/>
          <p:nvPr/>
        </p:nvSpPr>
        <p:spPr>
          <a:xfrm>
            <a:off x="786384" y="384962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389888" y="3712464"/>
            <a:ext cx="32004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스마트 사양관리</a:t>
            </a:r>
            <a:endParaRPr lang="en-US" sz="1550" dirty="0"/>
          </a:p>
        </p:txBody>
      </p:sp>
      <p:sp>
        <p:nvSpPr>
          <p:cNvPr id="23" name="Text 21"/>
          <p:cNvSpPr/>
          <p:nvPr/>
        </p:nvSpPr>
        <p:spPr>
          <a:xfrm>
            <a:off x="4617720" y="3712464"/>
            <a:ext cx="67665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위내센서 · CowTalk AI · 데이터 기반 번식/질병 관리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566928" y="4517136"/>
            <a:ext cx="11064240" cy="694944"/>
          </a:xfrm>
          <a:prstGeom prst="roundRect">
            <a:avLst>
              <a:gd name="adj" fmla="val 13158"/>
            </a:avLst>
          </a:prstGeom>
          <a:solidFill>
            <a:srgbClr val="F3F6F1"/>
          </a:solidFill>
          <a:ln/>
        </p:spPr>
      </p:sp>
      <p:sp>
        <p:nvSpPr>
          <p:cNvPr id="25" name="Shape 23"/>
          <p:cNvSpPr/>
          <p:nvPr/>
        </p:nvSpPr>
        <p:spPr>
          <a:xfrm>
            <a:off x="786384" y="4654296"/>
            <a:ext cx="420624" cy="420624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26" name="Text 24"/>
          <p:cNvSpPr/>
          <p:nvPr/>
        </p:nvSpPr>
        <p:spPr>
          <a:xfrm>
            <a:off x="786384" y="465429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1389888" y="4517136"/>
            <a:ext cx="32004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유가공과 판매</a:t>
            </a:r>
            <a:endParaRPr lang="en-US" sz="1550" dirty="0"/>
          </a:p>
        </p:txBody>
      </p:sp>
      <p:sp>
        <p:nvSpPr>
          <p:cNvPr id="28" name="Text 26"/>
          <p:cNvSpPr/>
          <p:nvPr/>
        </p:nvSpPr>
        <p:spPr>
          <a:xfrm>
            <a:off x="4617720" y="4517136"/>
            <a:ext cx="67665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A2 저지 건초우유 제품화, 소규모 유가공 실무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566928" y="5321808"/>
            <a:ext cx="11064240" cy="694944"/>
          </a:xfrm>
          <a:prstGeom prst="roundRect">
            <a:avLst>
              <a:gd name="adj" fmla="val 13158"/>
            </a:avLst>
          </a:prstGeom>
          <a:solidFill>
            <a:srgbClr val="C8DDA9"/>
          </a:solidFill>
          <a:ln/>
        </p:spPr>
      </p:sp>
      <p:sp>
        <p:nvSpPr>
          <p:cNvPr id="30" name="Shape 28"/>
          <p:cNvSpPr/>
          <p:nvPr/>
        </p:nvSpPr>
        <p:spPr>
          <a:xfrm>
            <a:off x="786384" y="5458968"/>
            <a:ext cx="420624" cy="420624"/>
          </a:xfrm>
          <a:prstGeom prst="ellipse">
            <a:avLst/>
          </a:prstGeom>
          <a:solidFill>
            <a:srgbClr val="B87333"/>
          </a:solidFill>
          <a:ln/>
        </p:spPr>
      </p:sp>
      <p:sp>
        <p:nvSpPr>
          <p:cNvPr id="31" name="Text 29"/>
          <p:cNvSpPr/>
          <p:nvPr/>
        </p:nvSpPr>
        <p:spPr>
          <a:xfrm>
            <a:off x="786384" y="54589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1389888" y="5321808"/>
            <a:ext cx="32004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낙농산업 방향과 시범사업 제안</a:t>
            </a:r>
            <a:endParaRPr lang="en-US" sz="1550" dirty="0"/>
          </a:p>
        </p:txBody>
      </p:sp>
      <p:sp>
        <p:nvSpPr>
          <p:cNvPr id="33" name="Text 31"/>
          <p:cNvSpPr/>
          <p:nvPr/>
        </p:nvSpPr>
        <p:spPr>
          <a:xfrm>
            <a:off x="4617720" y="5321808"/>
            <a:ext cx="67665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현장에서 본 방향 4가지 + 제안과제 5건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566928" y="63276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발표 100분 · 질의응답 20분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330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97BC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ONE-PAGE SUMMARY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송영신목장은 '순환'이 실제로 도는 것을 확인하는 현장입니다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600200"/>
            <a:ext cx="2011680" cy="960120"/>
          </a:xfrm>
          <a:prstGeom prst="roundRect">
            <a:avLst>
              <a:gd name="adj" fmla="val 9524"/>
            </a:avLst>
          </a:prstGeom>
          <a:solidFill>
            <a:srgbClr val="1C4028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600200"/>
            <a:ext cx="2011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건강한 흙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2688336" y="1956816"/>
            <a:ext cx="310896" cy="237744"/>
          </a:xfrm>
          <a:prstGeom prst="rightArrow">
            <a:avLst/>
          </a:prstGeom>
          <a:solidFill>
            <a:srgbClr val="97BC62"/>
          </a:solidFill>
          <a:ln/>
        </p:spPr>
      </p:sp>
      <p:sp>
        <p:nvSpPr>
          <p:cNvPr id="7" name="Shape 5"/>
          <p:cNvSpPr/>
          <p:nvPr/>
        </p:nvSpPr>
        <p:spPr>
          <a:xfrm>
            <a:off x="2871216" y="1600200"/>
            <a:ext cx="2011680" cy="960120"/>
          </a:xfrm>
          <a:prstGeom prst="roundRect">
            <a:avLst>
              <a:gd name="adj" fmla="val 9524"/>
            </a:avLst>
          </a:prstGeom>
          <a:solidFill>
            <a:srgbClr val="1C4028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871216" y="1600200"/>
            <a:ext cx="2011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건강한 풀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992624" y="1956816"/>
            <a:ext cx="310896" cy="237744"/>
          </a:xfrm>
          <a:prstGeom prst="rightArrow">
            <a:avLst/>
          </a:prstGeom>
          <a:solidFill>
            <a:srgbClr val="97BC62"/>
          </a:solidFill>
          <a:ln/>
        </p:spPr>
      </p:sp>
      <p:sp>
        <p:nvSpPr>
          <p:cNvPr id="10" name="Shape 8"/>
          <p:cNvSpPr/>
          <p:nvPr/>
        </p:nvSpPr>
        <p:spPr>
          <a:xfrm>
            <a:off x="5175504" y="1600200"/>
            <a:ext cx="2011680" cy="960120"/>
          </a:xfrm>
          <a:prstGeom prst="roundRect">
            <a:avLst>
              <a:gd name="adj" fmla="val 9524"/>
            </a:avLst>
          </a:prstGeom>
          <a:solidFill>
            <a:srgbClr val="1C4028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175504" y="1600200"/>
            <a:ext cx="2011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건강한 소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296912" y="1956816"/>
            <a:ext cx="310896" cy="237744"/>
          </a:xfrm>
          <a:prstGeom prst="rightArrow">
            <a:avLst/>
          </a:prstGeom>
          <a:solidFill>
            <a:srgbClr val="97BC62"/>
          </a:solidFill>
          <a:ln/>
        </p:spPr>
      </p:sp>
      <p:sp>
        <p:nvSpPr>
          <p:cNvPr id="13" name="Shape 11"/>
          <p:cNvSpPr/>
          <p:nvPr/>
        </p:nvSpPr>
        <p:spPr>
          <a:xfrm>
            <a:off x="7479792" y="1600200"/>
            <a:ext cx="2011680" cy="960120"/>
          </a:xfrm>
          <a:prstGeom prst="roundRect">
            <a:avLst>
              <a:gd name="adj" fmla="val 9524"/>
            </a:avLst>
          </a:prstGeom>
          <a:solidFill>
            <a:srgbClr val="1C4028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479792" y="1600200"/>
            <a:ext cx="2011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좋은 우유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9601200" y="1956816"/>
            <a:ext cx="310896" cy="237744"/>
          </a:xfrm>
          <a:prstGeom prst="rightArrow">
            <a:avLst/>
          </a:prstGeom>
          <a:solidFill>
            <a:srgbClr val="97BC62"/>
          </a:solidFill>
          <a:ln/>
        </p:spPr>
      </p:sp>
      <p:sp>
        <p:nvSpPr>
          <p:cNvPr id="16" name="Shape 14"/>
          <p:cNvSpPr/>
          <p:nvPr/>
        </p:nvSpPr>
        <p:spPr>
          <a:xfrm>
            <a:off x="9784080" y="1600200"/>
            <a:ext cx="2011680" cy="960120"/>
          </a:xfrm>
          <a:prstGeom prst="roundRect">
            <a:avLst>
              <a:gd name="adj" fmla="val 9524"/>
            </a:avLst>
          </a:prstGeom>
          <a:solidFill>
            <a:srgbClr val="B87333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784080" y="1600200"/>
            <a:ext cx="2011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퇴비 환원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566928" y="269748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8DDA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↺  퇴비는 다시 초지로 — 사료·베딩·분뇨가 목장 안에서 닫힙니다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66928" y="3383280"/>
            <a:ext cx="2633472" cy="1874520"/>
          </a:xfrm>
          <a:prstGeom prst="roundRect">
            <a:avLst>
              <a:gd name="adj" fmla="val 4878"/>
            </a:avLst>
          </a:prstGeom>
          <a:solidFill>
            <a:srgbClr val="1C4028"/>
          </a:solidFill>
          <a:ln/>
        </p:spPr>
      </p:sp>
      <p:sp>
        <p:nvSpPr>
          <p:cNvPr id="20" name="Text 18"/>
          <p:cNvSpPr/>
          <p:nvPr/>
        </p:nvSpPr>
        <p:spPr>
          <a:xfrm>
            <a:off x="731520" y="3566160"/>
            <a:ext cx="23042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9C7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저지 + A2A2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731520" y="4114800"/>
            <a:ext cx="23042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품종·유전형 선택으로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원유의 값 자체를 바꿈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3401568" y="3383280"/>
            <a:ext cx="2633472" cy="1874520"/>
          </a:xfrm>
          <a:prstGeom prst="roundRect">
            <a:avLst>
              <a:gd name="adj" fmla="val 4878"/>
            </a:avLst>
          </a:prstGeom>
          <a:solidFill>
            <a:srgbClr val="1C4028"/>
          </a:solidFill>
          <a:ln/>
        </p:spPr>
      </p:sp>
      <p:sp>
        <p:nvSpPr>
          <p:cNvPr id="23" name="Text 21"/>
          <p:cNvSpPr/>
          <p:nvPr/>
        </p:nvSpPr>
        <p:spPr>
          <a:xfrm>
            <a:off x="3566160" y="3566160"/>
            <a:ext cx="23042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9C7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HBP 베딩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3566160" y="4114800"/>
            <a:ext cx="23042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피트모스 기반 발효 깔짚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악취·환경 부담 저감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6236208" y="3383280"/>
            <a:ext cx="2633472" cy="1874520"/>
          </a:xfrm>
          <a:prstGeom prst="roundRect">
            <a:avLst>
              <a:gd name="adj" fmla="val 4878"/>
            </a:avLst>
          </a:prstGeom>
          <a:solidFill>
            <a:srgbClr val="1C4028"/>
          </a:solidFill>
          <a:ln/>
        </p:spPr>
      </p:sp>
      <p:sp>
        <p:nvSpPr>
          <p:cNvPr id="26" name="Text 24"/>
          <p:cNvSpPr/>
          <p:nvPr/>
        </p:nvSpPr>
        <p:spPr>
          <a:xfrm>
            <a:off x="6400800" y="3566160"/>
            <a:ext cx="23042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9C7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위내센서 AI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6400800" y="4114800"/>
            <a:ext cx="23042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발정·분만·질병을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 대신 24시간 감시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9070848" y="3383280"/>
            <a:ext cx="2633472" cy="1874520"/>
          </a:xfrm>
          <a:prstGeom prst="roundRect">
            <a:avLst>
              <a:gd name="adj" fmla="val 4878"/>
            </a:avLst>
          </a:prstGeom>
          <a:solidFill>
            <a:srgbClr val="1C4028"/>
          </a:solidFill>
          <a:ln/>
        </p:spPr>
      </p:sp>
      <p:sp>
        <p:nvSpPr>
          <p:cNvPr id="29" name="Text 27"/>
          <p:cNvSpPr/>
          <p:nvPr/>
        </p:nvSpPr>
        <p:spPr>
          <a:xfrm>
            <a:off x="9235440" y="3566160"/>
            <a:ext cx="23042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9C7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자체 유가공</a:t>
            </a:r>
            <a:endParaRPr lang="en-US" sz="1700" dirty="0"/>
          </a:p>
        </p:txBody>
      </p:sp>
      <p:sp>
        <p:nvSpPr>
          <p:cNvPr id="30" name="Text 28"/>
          <p:cNvSpPr/>
          <p:nvPr/>
        </p:nvSpPr>
        <p:spPr>
          <a:xfrm>
            <a:off x="9235440" y="4114800"/>
            <a:ext cx="23042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원유가 아니라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브랜드로 판매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566928" y="553212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7BC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네 가지는 각각 독립된 기술이 아니라, 서로를 필요로 하는 하나의 운영체계입니다.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330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0"/>
            <a:ext cx="1188720" cy="1188720"/>
          </a:xfrm>
          <a:prstGeom prst="ellipse">
            <a:avLst/>
          </a:prstGeom>
          <a:solidFill>
            <a:srgbClr val="B87333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01168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2103120" y="2103120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목장 개요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2103120" y="2926080"/>
            <a:ext cx="9418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20" kern="0" dirty="0">
                <a:solidFill>
                  <a:srgbClr val="97BC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SONG YOUNG SHIN FARM — OVERVIEW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 목장 개요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목장 개요 — 저지종 단일 품종, 총 70두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298448"/>
            <a:ext cx="2633472" cy="1600200"/>
          </a:xfrm>
          <a:prstGeom prst="roundRect">
            <a:avLst>
              <a:gd name="adj" fmla="val 5714"/>
            </a:avLst>
          </a:prstGeom>
          <a:solidFill>
            <a:srgbClr val="EEF4E9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463040"/>
            <a:ext cx="26334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70두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658368" y="2139696"/>
            <a:ext cx="2450592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총 사육두수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저지종 단일 품종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3401568" y="1298448"/>
            <a:ext cx="2633472" cy="1600200"/>
          </a:xfrm>
          <a:prstGeom prst="roundRect">
            <a:avLst>
              <a:gd name="adj" fmla="val 5714"/>
            </a:avLst>
          </a:prstGeom>
          <a:solidFill>
            <a:srgbClr val="EEF4E9"/>
          </a:solidFill>
          <a:ln/>
        </p:spPr>
      </p:sp>
      <p:sp>
        <p:nvSpPr>
          <p:cNvPr id="8" name="Text 6"/>
          <p:cNvSpPr/>
          <p:nvPr/>
        </p:nvSpPr>
        <p:spPr>
          <a:xfrm>
            <a:off x="3401568" y="1463040"/>
            <a:ext cx="26334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35두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3493008" y="2139696"/>
            <a:ext cx="2450592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착유우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236208" y="1298448"/>
            <a:ext cx="2633472" cy="1600200"/>
          </a:xfrm>
          <a:prstGeom prst="roundRect">
            <a:avLst>
              <a:gd name="adj" fmla="val 5714"/>
            </a:avLst>
          </a:prstGeom>
          <a:solidFill>
            <a:srgbClr val="EEF4E9"/>
          </a:solidFill>
          <a:ln/>
        </p:spPr>
      </p:sp>
      <p:sp>
        <p:nvSpPr>
          <p:cNvPr id="11" name="Text 9"/>
          <p:cNvSpPr/>
          <p:nvPr/>
        </p:nvSpPr>
        <p:spPr>
          <a:xfrm>
            <a:off x="6236208" y="1463040"/>
            <a:ext cx="26334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10두</a:t>
            </a:r>
            <a:endParaRPr lang="en-US" sz="3200" dirty="0"/>
          </a:p>
        </p:txBody>
      </p:sp>
      <p:sp>
        <p:nvSpPr>
          <p:cNvPr id="12" name="Text 10"/>
          <p:cNvSpPr/>
          <p:nvPr/>
        </p:nvSpPr>
        <p:spPr>
          <a:xfrm>
            <a:off x="6327648" y="2139696"/>
            <a:ext cx="2450592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건유우 · 초임만삭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9070848" y="1298448"/>
            <a:ext cx="2633472" cy="1600200"/>
          </a:xfrm>
          <a:prstGeom prst="roundRect">
            <a:avLst>
              <a:gd name="adj" fmla="val 5714"/>
            </a:avLst>
          </a:prstGeom>
          <a:solidFill>
            <a:srgbClr val="EEF4E9"/>
          </a:solidFill>
          <a:ln/>
        </p:spPr>
      </p:sp>
      <p:sp>
        <p:nvSpPr>
          <p:cNvPr id="14" name="Text 12"/>
          <p:cNvSpPr/>
          <p:nvPr/>
        </p:nvSpPr>
        <p:spPr>
          <a:xfrm>
            <a:off x="9070848" y="1463040"/>
            <a:ext cx="26334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25두</a:t>
            </a:r>
            <a:endParaRPr lang="en-US" sz="3200" dirty="0"/>
          </a:p>
        </p:txBody>
      </p:sp>
      <p:sp>
        <p:nvSpPr>
          <p:cNvPr id="15" name="Text 13"/>
          <p:cNvSpPr/>
          <p:nvPr/>
        </p:nvSpPr>
        <p:spPr>
          <a:xfrm>
            <a:off x="9162288" y="2139696"/>
            <a:ext cx="2450592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송아지 · 육성우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66928" y="3127248"/>
            <a:ext cx="3547872" cy="1600200"/>
          </a:xfrm>
          <a:prstGeom prst="roundRect">
            <a:avLst>
              <a:gd name="adj" fmla="val 5714"/>
            </a:avLst>
          </a:prstGeom>
          <a:solidFill>
            <a:srgbClr val="F3F6F1"/>
          </a:solidFill>
          <a:ln/>
        </p:spPr>
      </p:sp>
      <p:sp>
        <p:nvSpPr>
          <p:cNvPr id="17" name="Text 15"/>
          <p:cNvSpPr/>
          <p:nvPr/>
        </p:nvSpPr>
        <p:spPr>
          <a:xfrm>
            <a:off x="566928" y="3291840"/>
            <a:ext cx="35478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2,000㎡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658368" y="3968496"/>
            <a:ext cx="3364992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축사 면적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315968" y="3127248"/>
            <a:ext cx="3547872" cy="1600200"/>
          </a:xfrm>
          <a:prstGeom prst="roundRect">
            <a:avLst>
              <a:gd name="adj" fmla="val 5714"/>
            </a:avLst>
          </a:prstGeom>
          <a:solidFill>
            <a:srgbClr val="F3F6F1"/>
          </a:solidFill>
          <a:ln/>
        </p:spPr>
      </p:sp>
      <p:sp>
        <p:nvSpPr>
          <p:cNvPr id="20" name="Text 18"/>
          <p:cNvSpPr/>
          <p:nvPr/>
        </p:nvSpPr>
        <p:spPr>
          <a:xfrm>
            <a:off x="4315968" y="3291840"/>
            <a:ext cx="35478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450㎡</a:t>
            </a:r>
            <a:endParaRPr lang="en-US" sz="3000" dirty="0"/>
          </a:p>
        </p:txBody>
      </p:sp>
      <p:sp>
        <p:nvSpPr>
          <p:cNvPr id="21" name="Text 19"/>
          <p:cNvSpPr/>
          <p:nvPr/>
        </p:nvSpPr>
        <p:spPr>
          <a:xfrm>
            <a:off x="4407408" y="3968496"/>
            <a:ext cx="3364992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퇴비장 면적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8065008" y="3127248"/>
            <a:ext cx="3547872" cy="1600200"/>
          </a:xfrm>
          <a:prstGeom prst="roundRect">
            <a:avLst>
              <a:gd name="adj" fmla="val 5714"/>
            </a:avLst>
          </a:prstGeom>
          <a:solidFill>
            <a:srgbClr val="F3F6F1"/>
          </a:solidFill>
          <a:ln/>
        </p:spPr>
      </p:sp>
      <p:sp>
        <p:nvSpPr>
          <p:cNvPr id="23" name="Text 21"/>
          <p:cNvSpPr/>
          <p:nvPr/>
        </p:nvSpPr>
        <p:spPr>
          <a:xfrm>
            <a:off x="8065008" y="3291840"/>
            <a:ext cx="35478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시간당 500L</a:t>
            </a:r>
            <a:endParaRPr lang="en-US" sz="3000" dirty="0"/>
          </a:p>
        </p:txBody>
      </p:sp>
      <p:sp>
        <p:nvSpPr>
          <p:cNvPr id="24" name="Text 22"/>
          <p:cNvSpPr/>
          <p:nvPr/>
        </p:nvSpPr>
        <p:spPr>
          <a:xfrm>
            <a:off x="8156448" y="3968496"/>
            <a:ext cx="3364992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유가공장 처리 용량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956048"/>
            <a:ext cx="11064240" cy="1188720"/>
          </a:xfrm>
          <a:prstGeom prst="roundRect">
            <a:avLst>
              <a:gd name="adj" fmla="val 7692"/>
            </a:avLst>
          </a:prstGeom>
          <a:solidFill>
            <a:srgbClr val="13301F"/>
          </a:solidFill>
          <a:ln/>
        </p:spPr>
      </p:sp>
      <p:sp>
        <p:nvSpPr>
          <p:cNvPr id="26" name="Text 24"/>
          <p:cNvSpPr/>
          <p:nvPr/>
        </p:nvSpPr>
        <p:spPr>
          <a:xfrm>
            <a:off x="868680" y="5102352"/>
            <a:ext cx="10424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E9C7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규모로 읽지 마시고, 구조로 봐주십시오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868680" y="5449824"/>
            <a:ext cx="10424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착유 35두 규모입니다. 이 두수로 원유 납품만 해서는 성립하기 어렵습니다.</a:t>
            </a:r>
            <a:endParaRPr lang="en-US" sz="125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저지 단일 품종 + 자체 유가공(시간당 500L) + 퇴비장 450㎡의 순환 구조가 함께 있어야 돌아가는 모델입니다.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 목장 개요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이 목장이 '기술보급' 관점에서 쓸모가 있는가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298448"/>
            <a:ext cx="11064240" cy="1097280"/>
          </a:xfrm>
          <a:prstGeom prst="roundRect">
            <a:avLst>
              <a:gd name="adj" fmla="val 8333"/>
            </a:avLst>
          </a:prstGeom>
          <a:solidFill>
            <a:srgbClr val="EEF4E9"/>
          </a:solidFill>
          <a:ln/>
        </p:spPr>
      </p:sp>
      <p:sp>
        <p:nvSpPr>
          <p:cNvPr id="5" name="Shape 3"/>
          <p:cNvSpPr/>
          <p:nvPr/>
        </p:nvSpPr>
        <p:spPr>
          <a:xfrm>
            <a:off x="822960" y="1627632"/>
            <a:ext cx="457200" cy="457200"/>
          </a:xfrm>
          <a:prstGeom prst="ellipse">
            <a:avLst/>
          </a:prstGeom>
          <a:solidFill>
            <a:srgbClr val="B87333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6276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463040" y="1389888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사이트에서 세 기술을 동시에 검증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463040" y="1773936"/>
            <a:ext cx="9875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품종·유전(저지 A2A2), 축사환경(HBP 피트모스 베딩), 정밀낙농(위내센서 AI)이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소, 같은 축사, 같은 기간에 돌아갑니다. 기술 간 간섭·상승효과를 볼 수 있는 조건입니다.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66928" y="2532888"/>
            <a:ext cx="11064240" cy="1097280"/>
          </a:xfrm>
          <a:prstGeom prst="roundRect">
            <a:avLst>
              <a:gd name="adj" fmla="val 8333"/>
            </a:avLst>
          </a:prstGeom>
          <a:solidFill>
            <a:srgbClr val="F3F6F1"/>
          </a:solidFill>
          <a:ln/>
        </p:spPr>
      </p:sp>
      <p:sp>
        <p:nvSpPr>
          <p:cNvPr id="10" name="Shape 8"/>
          <p:cNvSpPr/>
          <p:nvPr/>
        </p:nvSpPr>
        <p:spPr>
          <a:xfrm>
            <a:off x="822960" y="2862072"/>
            <a:ext cx="457200" cy="457200"/>
          </a:xfrm>
          <a:prstGeom prst="ellipse">
            <a:avLst/>
          </a:prstGeom>
          <a:solidFill>
            <a:srgbClr val="B87333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28620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463040" y="2624328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기술이 '소득'까지 연결된 것을 확인 가능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463040" y="3008376"/>
            <a:ext cx="9875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대부분의 시범사업은 기술 효과에서 끝납니다. 여기는 유가공·직판이 붙어 있어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 → 원유 품질 → 제품 → 매출까지 한 줄로 추적할 수 있습니다.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66928" y="3767328"/>
            <a:ext cx="11064240" cy="1097280"/>
          </a:xfrm>
          <a:prstGeom prst="roundRect">
            <a:avLst>
              <a:gd name="adj" fmla="val 8333"/>
            </a:avLst>
          </a:prstGeom>
          <a:solidFill>
            <a:srgbClr val="EEF4E9"/>
          </a:solidFill>
          <a:ln/>
        </p:spPr>
      </p:sp>
      <p:sp>
        <p:nvSpPr>
          <p:cNvPr id="15" name="Shape 13"/>
          <p:cNvSpPr/>
          <p:nvPr/>
        </p:nvSpPr>
        <p:spPr>
          <a:xfrm>
            <a:off x="822960" y="4096512"/>
            <a:ext cx="457200" cy="457200"/>
          </a:xfrm>
          <a:prstGeom prst="ellipse">
            <a:avLst/>
          </a:prstGeom>
          <a:solidFill>
            <a:srgbClr val="B87333"/>
          </a:solidFill>
          <a:ln/>
        </p:spPr>
      </p:sp>
      <p:sp>
        <p:nvSpPr>
          <p:cNvPr id="16" name="Text 14"/>
          <p:cNvSpPr/>
          <p:nvPr/>
        </p:nvSpPr>
        <p:spPr>
          <a:xfrm>
            <a:off x="822960" y="40965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463040" y="3858768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수의사·육종가가 상주하는 현장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463040" y="4242816"/>
            <a:ext cx="9875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번식·질병 데이터를 수의사가 직접 기록·판독합니다. 데이터 신뢰도가 확보되고,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실패 사례도 원인까지 정리되어 남습니다.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66928" y="5001768"/>
            <a:ext cx="11064240" cy="1097280"/>
          </a:xfrm>
          <a:prstGeom prst="roundRect">
            <a:avLst>
              <a:gd name="adj" fmla="val 8333"/>
            </a:avLst>
          </a:prstGeom>
          <a:solidFill>
            <a:srgbClr val="F3F6F1"/>
          </a:solidFill>
          <a:ln/>
        </p:spPr>
      </p:sp>
      <p:sp>
        <p:nvSpPr>
          <p:cNvPr id="20" name="Shape 18"/>
          <p:cNvSpPr/>
          <p:nvPr/>
        </p:nvSpPr>
        <p:spPr>
          <a:xfrm>
            <a:off x="822960" y="5330952"/>
            <a:ext cx="457200" cy="457200"/>
          </a:xfrm>
          <a:prstGeom prst="ellipse">
            <a:avLst/>
          </a:prstGeom>
          <a:solidFill>
            <a:srgbClr val="B87333"/>
          </a:solidFill>
          <a:ln/>
        </p:spPr>
      </p:sp>
      <p:sp>
        <p:nvSpPr>
          <p:cNvPr id="21" name="Text 19"/>
          <p:cNvSpPr/>
          <p:nvPr/>
        </p:nvSpPr>
        <p:spPr>
          <a:xfrm>
            <a:off x="822960" y="53309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1463040" y="5093208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농가 교육·견학 수용이 가능한 구조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463040" y="5477256"/>
            <a:ext cx="9875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이미 견학·체험 동선이 있어, 시범사업 성과를 다른 농가에 보여주는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'전시포(展示圃)' 역할을 그대로 할 수 있습니다.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330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0"/>
            <a:ext cx="1188720" cy="1188720"/>
          </a:xfrm>
          <a:prstGeom prst="ellipse">
            <a:avLst/>
          </a:prstGeom>
          <a:solidFill>
            <a:srgbClr val="B87333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01168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2103120" y="2103120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저지종인가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2103120" y="2926080"/>
            <a:ext cx="9418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20" kern="0" dirty="0">
                <a:solidFill>
                  <a:srgbClr val="97BC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WHY JERSEY — BREED DECISION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 왜 저지종인가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'더 많이'로는 이길 수 없다면, '다르게'로 갑니다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280160"/>
            <a:ext cx="5394960" cy="3017520"/>
          </a:xfrm>
          <a:prstGeom prst="roundRect">
            <a:avLst>
              <a:gd name="adj" fmla="val 3030"/>
            </a:avLst>
          </a:prstGeom>
          <a:solidFill>
            <a:srgbClr val="F3F6F1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481328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규모의 경쟁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68680" y="1965960"/>
            <a:ext cx="480060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쿼터 확보 경쟁 — 자본이 큰 쪽이 이깁니다</a:t>
            </a:r>
            <a:endParaRPr lang="en-US" sz="13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두당 유량 극대화 → 사료비·수의비 동반 상승</a:t>
            </a:r>
            <a:endParaRPr lang="en-US" sz="13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원유는 규격품, 우리 목장 이름이 남지 않습니다</a:t>
            </a:r>
            <a:endParaRPr lang="en-US" sz="13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유대는 협상 대상이지 우리가 정하는 값이 아닙니다</a:t>
            </a:r>
            <a:endParaRPr lang="en-US" sz="13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환경 규제가 강해질수록 두수는 부담이 됩니다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236208" y="1280160"/>
            <a:ext cx="5394960" cy="3017520"/>
          </a:xfrm>
          <a:prstGeom prst="roundRect">
            <a:avLst>
              <a:gd name="adj" fmla="val 3030"/>
            </a:avLst>
          </a:prstGeom>
          <a:solidFill>
            <a:srgbClr val="C8DDA9"/>
          </a:solidFill>
          <a:ln/>
        </p:spPr>
      </p:sp>
      <p:sp>
        <p:nvSpPr>
          <p:cNvPr id="8" name="Text 6"/>
          <p:cNvSpPr/>
          <p:nvPr/>
        </p:nvSpPr>
        <p:spPr>
          <a:xfrm>
            <a:off x="6537960" y="1481328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가치의 경쟁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537960" y="1965960"/>
            <a:ext cx="480060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적은 두수로도 성립하는 단가 구조를 만듭니다</a:t>
            </a:r>
            <a:endParaRPr lang="en-US" sz="13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유지방·유단백이 높은 원유 = 가공 적성이 좋음</a:t>
            </a:r>
            <a:endParaRPr lang="en-US" sz="13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A2A2 유전형이라는 '설명 가능한 차별점'</a:t>
            </a:r>
            <a:endParaRPr lang="en-US" sz="13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자체 가공·직판으로 값을 우리가 정합니다</a:t>
            </a:r>
            <a:endParaRPr lang="en-US" sz="13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체구가 작아 분뇨량·사료요구량 부담이 낮습니다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66928" y="4709160"/>
            <a:ext cx="11064240" cy="868680"/>
          </a:xfrm>
          <a:prstGeom prst="roundRect">
            <a:avLst>
              <a:gd name="adj" fmla="val 10526"/>
            </a:avLst>
          </a:prstGeom>
          <a:solidFill>
            <a:srgbClr val="13301F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4709160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저지 선택은 '품종 취향'이 아니라, 유가공·직판을 전제로 한 사업구조의 선택이었습니다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 왜 저지종인가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저지 vs 홀스타인 — 무엇을 얻고 무엇을 내주는가</a:t>
            </a:r>
            <a:endParaRPr lang="en-US" sz="3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261872"/>
          <a:ext cx="1106424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2377440"/>
                <a:gridCol w="2377440"/>
                <a:gridCol w="4206240"/>
              </a:tblGrid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구분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저지 (Jersey)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홀스타인 (Holstein)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현장 해석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성우 체중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약 400~450 kg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약 650~700 kg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B873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축사 면적·사료량 부담 낮음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연간 산유량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낮음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높음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B873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총량 경쟁에서는 불리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유지방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높음 (4.6~5.0%)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보통 (3.6~3.9%)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B873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버터·카이막·아이스크림에 유리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유단백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높음 (3.7~3.9%)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보통 (3.1~3.3%)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B873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요거트·치즈 수율 유리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체중당 사료효율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우수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보통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B873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적은 사료로 고형분 생산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분뇨 배출량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적음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많음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B873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환경 규제 대응에 유리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분만 난이도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낮은 편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보통~높음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B873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난산·산후질병 관리 부담 감소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A2 대립유전자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품종 내 빈도 높음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개체별 편차 큼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B873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A2A2 집단 구성이 상대적으로 용이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1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66928" y="539496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13301F"/>
          </a:solidFill>
          <a:ln/>
        </p:spPr>
      </p:sp>
      <p:sp>
        <p:nvSpPr>
          <p:cNvPr id="6" name="Text 3"/>
          <p:cNvSpPr/>
          <p:nvPr/>
        </p:nvSpPr>
        <p:spPr>
          <a:xfrm>
            <a:off x="822960" y="539496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저지는 '적게 짜고 진하게 짜는 소'입니다 — 총량으로 경쟁하지 않는 목장에 맞는 품종입니다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566928" y="63276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체중·유성분·산유량은 일반 문헌 및 품종 특성 기준의 참고 범위이며, 목장 실측치가 아닙니다. 실제 성적은 사양·개체에 따라 달라집니다.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 왜 저지종인가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가공을 하면, 유량이 아니라 '고형분'이 돈이 됩니다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66928" y="1325880"/>
          <a:ext cx="667512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7498080" y="1325880"/>
            <a:ext cx="4133088" cy="3977640"/>
          </a:xfrm>
          <a:prstGeom prst="roundRect">
            <a:avLst>
              <a:gd name="adj" fmla="val 2299"/>
            </a:avLst>
          </a:prstGeom>
          <a:solidFill>
            <a:srgbClr val="EEF4E9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0" y="1536192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고형분이 높으면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7772400" y="2011680"/>
            <a:ext cx="36118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요거트·그릭요거트 수율이 올라갑니다</a:t>
            </a:r>
            <a:endParaRPr lang="en-US" sz="13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카이막·아이스크림의 질감이 살아납니다</a:t>
            </a:r>
            <a:endParaRPr lang="en-US" sz="13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원유량으로 더 많은 제품이 나옵니다</a:t>
            </a:r>
            <a:endParaRPr lang="en-US" sz="13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'진하다'는 맛의 차이를 소비자가 바로 느낍니다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7772400" y="4160520"/>
            <a:ext cx="3584448" cy="960120"/>
          </a:xfrm>
          <a:prstGeom prst="roundRect">
            <a:avLst>
              <a:gd name="adj" fmla="val 9524"/>
            </a:avLst>
          </a:prstGeom>
          <a:solidFill>
            <a:srgbClr val="B87333"/>
          </a:solidFill>
          <a:ln/>
        </p:spPr>
      </p:sp>
      <p:sp>
        <p:nvSpPr>
          <p:cNvPr id="9" name="Text 6"/>
          <p:cNvSpPr/>
          <p:nvPr/>
        </p:nvSpPr>
        <p:spPr>
          <a:xfrm>
            <a:off x="7772400" y="4160520"/>
            <a:ext cx="358444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원유로 팔면 손해,</a:t>
            </a:r>
            <a:endParaRPr lang="en-US" sz="140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가공하면 강점이 됩니다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566928" y="63276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문헌 참고 범위의 대표값을 도식화한 것이며 특정 개체·목장의 검정 성적이 아닙니다.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 왜 저지종인가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A2A2 — 눈에 보이지 않는 차별점을 '검사'로 증명합니다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143000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우유 단백질 중 베타카제인의 유전형 차이입니다. A1/A2 대립유전자 조합에 따라 A1A1·A1A2·A2A2로 나뉘며,</a:t>
            </a:r>
            <a:endParaRPr lang="en-US" sz="1350" dirty="0"/>
          </a:p>
          <a:p>
            <a:pPr algn="l"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A2A2 개체의 원유에만 A2형 베타카제인이 들어갑니다.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66928" y="2011680"/>
            <a:ext cx="2048256" cy="2011680"/>
          </a:xfrm>
          <a:prstGeom prst="roundRect">
            <a:avLst>
              <a:gd name="adj" fmla="val 4545"/>
            </a:avLst>
          </a:prstGeom>
          <a:solidFill>
            <a:srgbClr val="EEF4E9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371600" y="2176272"/>
            <a:ext cx="438912" cy="438912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7" name="Text 5"/>
          <p:cNvSpPr/>
          <p:nvPr/>
        </p:nvSpPr>
        <p:spPr>
          <a:xfrm>
            <a:off x="1371600" y="217627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58368" y="2697480"/>
            <a:ext cx="18653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유전자 검사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94944" y="3108960"/>
            <a:ext cx="17922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개체별 시료 채취</a:t>
            </a:r>
            <a:endParaRPr lang="en-US" sz="11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A1/A2 유전형 판정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2670048" y="2907792"/>
            <a:ext cx="310896" cy="237744"/>
          </a:xfrm>
          <a:prstGeom prst="rightArrow">
            <a:avLst/>
          </a:prstGeom>
          <a:solidFill>
            <a:srgbClr val="97BC62"/>
          </a:solidFill>
          <a:ln/>
        </p:spPr>
      </p:sp>
      <p:sp>
        <p:nvSpPr>
          <p:cNvPr id="11" name="Shape 9"/>
          <p:cNvSpPr/>
          <p:nvPr/>
        </p:nvSpPr>
        <p:spPr>
          <a:xfrm>
            <a:off x="2825496" y="2011680"/>
            <a:ext cx="2048256" cy="2011680"/>
          </a:xfrm>
          <a:prstGeom prst="roundRect">
            <a:avLst>
              <a:gd name="adj" fmla="val 4545"/>
            </a:avLst>
          </a:prstGeom>
          <a:solidFill>
            <a:srgbClr val="EEF4E9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30168" y="2176272"/>
            <a:ext cx="438912" cy="438912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13" name="Text 11"/>
          <p:cNvSpPr/>
          <p:nvPr/>
        </p:nvSpPr>
        <p:spPr>
          <a:xfrm>
            <a:off x="3630168" y="217627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2916936" y="2697480"/>
            <a:ext cx="18653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선발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2953512" y="3108960"/>
            <a:ext cx="17922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A2A2 암소 선발</a:t>
            </a:r>
            <a:endParaRPr lang="en-US" sz="11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A1 보유 개체 도태·교배 제한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928616" y="2907792"/>
            <a:ext cx="310896" cy="237744"/>
          </a:xfrm>
          <a:prstGeom prst="rightArrow">
            <a:avLst/>
          </a:prstGeom>
          <a:solidFill>
            <a:srgbClr val="97BC62"/>
          </a:solidFill>
          <a:ln/>
        </p:spPr>
      </p:sp>
      <p:sp>
        <p:nvSpPr>
          <p:cNvPr id="17" name="Shape 15"/>
          <p:cNvSpPr/>
          <p:nvPr/>
        </p:nvSpPr>
        <p:spPr>
          <a:xfrm>
            <a:off x="5084064" y="2011680"/>
            <a:ext cx="2048256" cy="2011680"/>
          </a:xfrm>
          <a:prstGeom prst="roundRect">
            <a:avLst>
              <a:gd name="adj" fmla="val 4545"/>
            </a:avLst>
          </a:prstGeom>
          <a:solidFill>
            <a:srgbClr val="EEF4E9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5888736" y="2176272"/>
            <a:ext cx="438912" cy="438912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19" name="Text 17"/>
          <p:cNvSpPr/>
          <p:nvPr/>
        </p:nvSpPr>
        <p:spPr>
          <a:xfrm>
            <a:off x="5888736" y="217627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5175504" y="2697480"/>
            <a:ext cx="18653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교배 설계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5212080" y="3108960"/>
            <a:ext cx="17922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A2A2 정액·수정란 활용</a:t>
            </a:r>
            <a:endParaRPr lang="en-US" sz="11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세대별 A2 고정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187184" y="2907792"/>
            <a:ext cx="310896" cy="237744"/>
          </a:xfrm>
          <a:prstGeom prst="rightArrow">
            <a:avLst/>
          </a:prstGeom>
          <a:solidFill>
            <a:srgbClr val="97BC62"/>
          </a:solidFill>
          <a:ln/>
        </p:spPr>
      </p:sp>
      <p:sp>
        <p:nvSpPr>
          <p:cNvPr id="23" name="Shape 21"/>
          <p:cNvSpPr/>
          <p:nvPr/>
        </p:nvSpPr>
        <p:spPr>
          <a:xfrm>
            <a:off x="7342632" y="2011680"/>
            <a:ext cx="2048256" cy="2011680"/>
          </a:xfrm>
          <a:prstGeom prst="roundRect">
            <a:avLst>
              <a:gd name="adj" fmla="val 4545"/>
            </a:avLst>
          </a:prstGeom>
          <a:solidFill>
            <a:srgbClr val="EEF4E9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8147304" y="2176272"/>
            <a:ext cx="438912" cy="438912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25" name="Text 23"/>
          <p:cNvSpPr/>
          <p:nvPr/>
        </p:nvSpPr>
        <p:spPr>
          <a:xfrm>
            <a:off x="8147304" y="217627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7434072" y="2697480"/>
            <a:ext cx="18653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집유 분리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7470648" y="3108960"/>
            <a:ext cx="17922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A2A2 개체 원유만</a:t>
            </a:r>
            <a:endParaRPr lang="en-US" sz="11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별도 라인으로 분리 집유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9445752" y="2907792"/>
            <a:ext cx="310896" cy="237744"/>
          </a:xfrm>
          <a:prstGeom prst="rightArrow">
            <a:avLst/>
          </a:prstGeom>
          <a:solidFill>
            <a:srgbClr val="97BC62"/>
          </a:solidFill>
          <a:ln/>
        </p:spPr>
      </p:sp>
      <p:sp>
        <p:nvSpPr>
          <p:cNvPr id="29" name="Shape 27"/>
          <p:cNvSpPr/>
          <p:nvPr/>
        </p:nvSpPr>
        <p:spPr>
          <a:xfrm>
            <a:off x="9601200" y="2011680"/>
            <a:ext cx="2048256" cy="2011680"/>
          </a:xfrm>
          <a:prstGeom prst="roundRect">
            <a:avLst>
              <a:gd name="adj" fmla="val 4545"/>
            </a:avLst>
          </a:prstGeom>
          <a:solidFill>
            <a:srgbClr val="EEF4E9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10405872" y="2176272"/>
            <a:ext cx="438912" cy="438912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1" name="Text 29"/>
          <p:cNvSpPr/>
          <p:nvPr/>
        </p:nvSpPr>
        <p:spPr>
          <a:xfrm>
            <a:off x="10405872" y="217627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9692640" y="2697480"/>
            <a:ext cx="18653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 표시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9729216" y="3108960"/>
            <a:ext cx="17922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A2 원료 사용을</a:t>
            </a:r>
            <a:endParaRPr lang="en-US" sz="11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제품에 명확히 표기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566928" y="4315968"/>
            <a:ext cx="11064240" cy="1536192"/>
          </a:xfrm>
          <a:prstGeom prst="roundRect">
            <a:avLst>
              <a:gd name="adj" fmla="val 5952"/>
            </a:avLst>
          </a:prstGeom>
          <a:solidFill>
            <a:srgbClr val="F3F6F1"/>
          </a:solidFill>
          <a:ln w="12700">
            <a:solidFill>
              <a:srgbClr val="D8E0D2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68680" y="4498848"/>
            <a:ext cx="10424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표현 원칙 — 과장하지 않는 것이 결국 브랜드를 지킵니다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868680" y="4846320"/>
            <a:ext cx="10424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A2 우유의 소화 관련 효과는 아직 연구가 진행 중인 영역입니다. 저희는 질병 예방·치료 효과를 주장하지 않습니다.</a:t>
            </a:r>
            <a:endParaRPr lang="en-US" sz="1200" dirty="0"/>
          </a:p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'소화가 편하다고 느껴 찾는 소비자들의 선택' — 딱 여기까지만 말하고, 'A2A2 개체의 원유만 사용한다'는 검증 가능한 사실을 표시합니다.</a:t>
            </a:r>
            <a:endParaRPr lang="en-US" sz="1200" dirty="0"/>
          </a:p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검사 성적서로 언제든 확인 가능한 범위 안에서만 말하는 것이 오히려 신뢰를 얻는 지점입니다.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 왜 저지종인가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솔직하게 — 저지 도입에서 실제로 막혔던 것들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280160"/>
            <a:ext cx="5468112" cy="1874520"/>
          </a:xfrm>
          <a:prstGeom prst="roundRect">
            <a:avLst>
              <a:gd name="adj" fmla="val 4878"/>
            </a:avLst>
          </a:prstGeom>
          <a:solidFill>
            <a:srgbClr val="F3F6F1"/>
          </a:solidFill>
          <a:ln w="12700">
            <a:solidFill>
              <a:srgbClr val="E0E6D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66928" y="1280160"/>
            <a:ext cx="5468112" cy="566928"/>
          </a:xfrm>
          <a:prstGeom prst="roundRect">
            <a:avLst>
              <a:gd name="adj" fmla="val 16129"/>
            </a:avLst>
          </a:prstGeom>
          <a:solidFill>
            <a:srgbClr val="2C5F2D"/>
          </a:solidFill>
          <a:ln/>
        </p:spPr>
      </p:sp>
      <p:sp>
        <p:nvSpPr>
          <p:cNvPr id="6" name="Text 4"/>
          <p:cNvSpPr/>
          <p:nvPr/>
        </p:nvSpPr>
        <p:spPr>
          <a:xfrm>
            <a:off x="768096" y="1280160"/>
            <a:ext cx="50657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 1.  국내 저지 개체 확보가 어렵다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04672" y="1938528"/>
            <a:ext cx="4992624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국내 저지 사육 기반이 얇아 우량 암소를 시장에서 사 모으는 방식으로는 한계가 있습니다.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수정란이식 기반 증식으로 방향을 바꿨습니다.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309360" y="1280160"/>
            <a:ext cx="5468112" cy="1874520"/>
          </a:xfrm>
          <a:prstGeom prst="roundRect">
            <a:avLst>
              <a:gd name="adj" fmla="val 4878"/>
            </a:avLst>
          </a:prstGeom>
          <a:solidFill>
            <a:srgbClr val="F3F6F1"/>
          </a:solidFill>
          <a:ln w="12700">
            <a:solidFill>
              <a:srgbClr val="E0E6D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309360" y="1280160"/>
            <a:ext cx="5468112" cy="566928"/>
          </a:xfrm>
          <a:prstGeom prst="roundRect">
            <a:avLst>
              <a:gd name="adj" fmla="val 16129"/>
            </a:avLst>
          </a:prstGeom>
          <a:solidFill>
            <a:srgbClr val="B87333"/>
          </a:solidFill>
          <a:ln/>
        </p:spPr>
      </p:sp>
      <p:sp>
        <p:nvSpPr>
          <p:cNvPr id="10" name="Text 8"/>
          <p:cNvSpPr/>
          <p:nvPr/>
        </p:nvSpPr>
        <p:spPr>
          <a:xfrm>
            <a:off x="6510528" y="1280160"/>
            <a:ext cx="50657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 2.  유대 체계가 유량 중심이다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547104" y="1938528"/>
            <a:ext cx="4992624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고형분이 높아도 그 값을 원유 판매에서 온전히 받기 어려운 구조입니다.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자체 가공·직판으로 값을 받는 경로를 직접 만들었습니다.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66928" y="3383280"/>
            <a:ext cx="5468112" cy="1874520"/>
          </a:xfrm>
          <a:prstGeom prst="roundRect">
            <a:avLst>
              <a:gd name="adj" fmla="val 4878"/>
            </a:avLst>
          </a:prstGeom>
          <a:solidFill>
            <a:srgbClr val="F3F6F1"/>
          </a:solidFill>
          <a:ln w="12700">
            <a:solidFill>
              <a:srgbClr val="E0E6D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66928" y="3383280"/>
            <a:ext cx="5468112" cy="566928"/>
          </a:xfrm>
          <a:prstGeom prst="roundRect">
            <a:avLst>
              <a:gd name="adj" fmla="val 16129"/>
            </a:avLst>
          </a:prstGeom>
          <a:solidFill>
            <a:srgbClr val="2C5F2D"/>
          </a:solidFill>
          <a:ln/>
        </p:spPr>
      </p:sp>
      <p:sp>
        <p:nvSpPr>
          <p:cNvPr id="14" name="Text 12"/>
          <p:cNvSpPr/>
          <p:nvPr/>
        </p:nvSpPr>
        <p:spPr>
          <a:xfrm>
            <a:off x="768096" y="3383280"/>
            <a:ext cx="50657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 3.  체구가 작아 기존 시설과 안 맞는다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04672" y="4041648"/>
            <a:ext cx="4992624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스톨·급이대·착유기 세팅이 홀스타인 기준이면 저지에게는 크고 헐겁습니다.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스톨 규격·목걸이·착유 유닛 조정이 필요했습니다.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309360" y="3383280"/>
            <a:ext cx="5468112" cy="1874520"/>
          </a:xfrm>
          <a:prstGeom prst="roundRect">
            <a:avLst>
              <a:gd name="adj" fmla="val 4878"/>
            </a:avLst>
          </a:prstGeom>
          <a:solidFill>
            <a:srgbClr val="F3F6F1"/>
          </a:solidFill>
          <a:ln w="12700">
            <a:solidFill>
              <a:srgbClr val="E0E6D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309360" y="3383280"/>
            <a:ext cx="5468112" cy="566928"/>
          </a:xfrm>
          <a:prstGeom prst="roundRect">
            <a:avLst>
              <a:gd name="adj" fmla="val 16129"/>
            </a:avLst>
          </a:prstGeom>
          <a:solidFill>
            <a:srgbClr val="B87333"/>
          </a:solidFill>
          <a:ln/>
        </p:spPr>
      </p:sp>
      <p:sp>
        <p:nvSpPr>
          <p:cNvPr id="18" name="Text 16"/>
          <p:cNvSpPr/>
          <p:nvPr/>
        </p:nvSpPr>
        <p:spPr>
          <a:xfrm>
            <a:off x="6510528" y="3383280"/>
            <a:ext cx="50657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 4.  송아지 관리가 더 예민하다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547104" y="4041648"/>
            <a:ext cx="4992624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초생아 체중이 작아 저체온·초유 관리 실패에 취약합니다.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분만 감지와 초유 프로토콜을 표준화해야 했습니다.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566928" y="5623560"/>
            <a:ext cx="11064240" cy="685800"/>
          </a:xfrm>
          <a:prstGeom prst="roundRect">
            <a:avLst>
              <a:gd name="adj" fmla="val 13333"/>
            </a:avLst>
          </a:prstGeom>
          <a:solidFill>
            <a:srgbClr val="13301F"/>
          </a:solidFill>
          <a:ln/>
        </p:spPr>
      </p:sp>
      <p:sp>
        <p:nvSpPr>
          <p:cNvPr id="21" name="Text 19"/>
          <p:cNvSpPr/>
          <p:nvPr/>
        </p:nvSpPr>
        <p:spPr>
          <a:xfrm>
            <a:off x="822960" y="562356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DDA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성공 사례만 보급하면 농가는 실패합니다 — 실패 지점을 같이 보급해야 기술이 정착합니다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 왜 저지종인가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해결책 — 사 모으는 대신, 수정란이식으로 증식했습니다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298448"/>
            <a:ext cx="2633472" cy="1600200"/>
          </a:xfrm>
          <a:prstGeom prst="roundRect">
            <a:avLst>
              <a:gd name="adj" fmla="val 5714"/>
            </a:avLst>
          </a:prstGeom>
          <a:solidFill>
            <a:srgbClr val="EEF4E9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463040"/>
            <a:ext cx="26334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18년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58368" y="2139696"/>
            <a:ext cx="2450592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수정란이식 현장 경험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3401568" y="1298448"/>
            <a:ext cx="2633472" cy="1600200"/>
          </a:xfrm>
          <a:prstGeom prst="roundRect">
            <a:avLst>
              <a:gd name="adj" fmla="val 5714"/>
            </a:avLst>
          </a:prstGeom>
          <a:solidFill>
            <a:srgbClr val="EEF4E9"/>
          </a:solidFill>
          <a:ln/>
        </p:spPr>
      </p:sp>
      <p:sp>
        <p:nvSpPr>
          <p:cNvPr id="8" name="Text 6"/>
          <p:cNvSpPr/>
          <p:nvPr/>
        </p:nvSpPr>
        <p:spPr>
          <a:xfrm>
            <a:off x="3401568" y="1463040"/>
            <a:ext cx="26334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3,000회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3493008" y="2139696"/>
            <a:ext cx="2450592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연간 수정란이식 규모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236208" y="1298448"/>
            <a:ext cx="2633472" cy="1600200"/>
          </a:xfrm>
          <a:prstGeom prst="roundRect">
            <a:avLst>
              <a:gd name="adj" fmla="val 5714"/>
            </a:avLst>
          </a:prstGeom>
          <a:solidFill>
            <a:srgbClr val="EEF4E9"/>
          </a:solidFill>
          <a:ln/>
        </p:spPr>
      </p:sp>
      <p:sp>
        <p:nvSpPr>
          <p:cNvPr id="11" name="Text 9"/>
          <p:cNvSpPr/>
          <p:nvPr/>
        </p:nvSpPr>
        <p:spPr>
          <a:xfrm>
            <a:off x="6236208" y="1463040"/>
            <a:ext cx="26334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4,000개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6327648" y="2139696"/>
            <a:ext cx="2450592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연간 수정란 공급 규모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9070848" y="1298448"/>
            <a:ext cx="2633472" cy="1600200"/>
          </a:xfrm>
          <a:prstGeom prst="roundRect">
            <a:avLst>
              <a:gd name="adj" fmla="val 5714"/>
            </a:avLst>
          </a:prstGeom>
          <a:solidFill>
            <a:srgbClr val="EEF4E9"/>
          </a:solidFill>
          <a:ln/>
        </p:spPr>
      </p:sp>
      <p:sp>
        <p:nvSpPr>
          <p:cNvPr id="14" name="Text 12"/>
          <p:cNvSpPr/>
          <p:nvPr/>
        </p:nvSpPr>
        <p:spPr>
          <a:xfrm>
            <a:off x="9070848" y="1463040"/>
            <a:ext cx="26334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약 60%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9162288" y="2139696"/>
            <a:ext cx="2450592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평균 수태율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66928" y="3127248"/>
            <a:ext cx="11064240" cy="1874520"/>
          </a:xfrm>
          <a:prstGeom prst="roundRect">
            <a:avLst>
              <a:gd name="adj" fmla="val 4878"/>
            </a:avLst>
          </a:prstGeom>
          <a:solidFill>
            <a:srgbClr val="F3F6F1"/>
          </a:solidFill>
          <a:ln/>
        </p:spPr>
      </p:sp>
      <p:sp>
        <p:nvSpPr>
          <p:cNvPr id="17" name="Text 15"/>
          <p:cNvSpPr/>
          <p:nvPr/>
        </p:nvSpPr>
        <p:spPr>
          <a:xfrm>
            <a:off x="868680" y="3310128"/>
            <a:ext cx="10424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수정란이식 기반 증식의 이점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68680" y="3730752"/>
            <a:ext cx="10424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우량 공란우 1두에서 다수의 후대를 확보 — 개체 구매보다 빠르고 값싼 증식</a:t>
            </a:r>
            <a:endParaRPr lang="en-US" sz="13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수란우를 활용하므로 기존 축군을 그대로 증식 자원으로 씁니다</a:t>
            </a:r>
            <a:endParaRPr lang="en-US" sz="13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A2A2·유성분 등 목표 형질을 처음부터 설계해 넣을 수 있습니다</a:t>
            </a:r>
            <a:endParaRPr lang="en-US" sz="13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질병 유입 위험이 생체 도입보다 낮습니다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566928" y="5230368"/>
            <a:ext cx="11064240" cy="1051560"/>
          </a:xfrm>
          <a:prstGeom prst="roundRect">
            <a:avLst>
              <a:gd name="adj" fmla="val 8696"/>
            </a:avLst>
          </a:prstGeom>
          <a:solidFill>
            <a:srgbClr val="C8DDA9"/>
          </a:solidFill>
          <a:ln/>
        </p:spPr>
      </p:sp>
      <p:sp>
        <p:nvSpPr>
          <p:cNvPr id="20" name="Text 18"/>
          <p:cNvSpPr/>
          <p:nvPr/>
        </p:nvSpPr>
        <p:spPr>
          <a:xfrm>
            <a:off x="868680" y="5230368"/>
            <a:ext cx="10515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3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기술보급 시사점 — 특정 형질(A2A2·고유지방)을 목표로 한 '설계형 증식'은 개별 농가가 혼자 하기 어렵습니다.</a:t>
            </a:r>
            <a:endParaRPr lang="en-US" sz="1300" dirty="0"/>
          </a:p>
          <a:p>
            <a:pPr algn="l" indent="0" marL="0">
              <a:lnSpc>
                <a:spcPts val="2000"/>
              </a:lnSpc>
              <a:buNone/>
            </a:pPr>
            <a:r>
              <a:rPr lang="en-US" sz="13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단위 수정란 공급 + 이식 지원이 붙으면, 농가는 자본 없이도 축군의 방향을 바꿀 수 있습니다.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 왜 저지종인가 · 확장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기술이 이미 밖으로 나가고 있습니다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133856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앞에서 말씀드린 수정란이식 기술은 국내 축군 개량에만 쓰이는 것이 아닙니다.</a:t>
            </a:r>
            <a:endParaRPr lang="en-US" sz="1350" dirty="0"/>
          </a:p>
          <a:p>
            <a:pPr algn="l"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한국 홀스타인 성감별(암) 체외수정란이 지금 해외로 나가고 있습니다.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66928" y="1847088"/>
            <a:ext cx="3547872" cy="3520440"/>
          </a:xfrm>
          <a:prstGeom prst="roundRect">
            <a:avLst>
              <a:gd name="adj" fmla="val 2597"/>
            </a:avLst>
          </a:prstGeom>
          <a:solidFill>
            <a:srgbClr val="F3F6F1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66928" y="1847088"/>
            <a:ext cx="3547872" cy="603504"/>
          </a:xfrm>
          <a:prstGeom prst="roundRect">
            <a:avLst>
              <a:gd name="adj" fmla="val 15152"/>
            </a:avLst>
          </a:prstGeom>
          <a:solidFill>
            <a:srgbClr val="2C5F2D"/>
          </a:solidFill>
          <a:ln/>
        </p:spPr>
      </p:sp>
      <p:sp>
        <p:nvSpPr>
          <p:cNvPr id="7" name="Text 5"/>
          <p:cNvSpPr/>
          <p:nvPr/>
        </p:nvSpPr>
        <p:spPr>
          <a:xfrm>
            <a:off x="749808" y="1847088"/>
            <a:ext cx="31821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무엇을 수출하는가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786384" y="2578608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한국 홀스타인 성감별(암) 체외수정란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86384" y="2980944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수정란만 파는 방식이 아니라 패키지로 나갑니다.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86384" y="3328416"/>
            <a:ext cx="3108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수정란 공급</a:t>
            </a:r>
            <a:endParaRPr lang="en-US" sz="12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현지 이식 시술 · 기술 이전</a:t>
            </a:r>
            <a:endParaRPr lang="en-US" sz="12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현지 수의사 교육</a:t>
            </a:r>
            <a:endParaRPr lang="en-US" sz="12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수란우 선발 · 관리 컨설팅</a:t>
            </a:r>
            <a:endParaRPr lang="en-US" sz="12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이식 성적 데이터 후속관리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315968" y="1847088"/>
            <a:ext cx="3547872" cy="3520440"/>
          </a:xfrm>
          <a:prstGeom prst="roundRect">
            <a:avLst>
              <a:gd name="adj" fmla="val 2597"/>
            </a:avLst>
          </a:prstGeom>
          <a:solidFill>
            <a:srgbClr val="F3F6F1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315968" y="1847088"/>
            <a:ext cx="3547872" cy="603504"/>
          </a:xfrm>
          <a:prstGeom prst="roundRect">
            <a:avLst>
              <a:gd name="adj" fmla="val 15152"/>
            </a:avLst>
          </a:prstGeom>
          <a:solidFill>
            <a:srgbClr val="B87333"/>
          </a:solidFill>
          <a:ln/>
        </p:spPr>
      </p:sp>
      <p:sp>
        <p:nvSpPr>
          <p:cNvPr id="13" name="Text 11"/>
          <p:cNvSpPr/>
          <p:nvPr/>
        </p:nvSpPr>
        <p:spPr>
          <a:xfrm>
            <a:off x="4498848" y="1847088"/>
            <a:ext cx="31821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어디로 나가는가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4535424" y="2560320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중앙아시아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4535424" y="2798064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우즈베키스탄 · 카자흐스탄 등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4535424" y="3127248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동남아시아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4535424" y="3364992"/>
            <a:ext cx="3108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말레이시아 · 인도네시아 · 태국</a:t>
            </a:r>
            <a:endParaRPr lang="en-US" sz="1150" dirty="0"/>
          </a:p>
          <a:p>
            <a:pPr algn="l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필리핀 · 베트남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4535424" y="3877056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두바이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4535424" y="4114800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글로벌 허브 (기획 단계)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4498848" y="4443984"/>
            <a:ext cx="3182112" cy="804672"/>
          </a:xfrm>
          <a:prstGeom prst="roundRect">
            <a:avLst>
              <a:gd name="adj" fmla="val 9091"/>
            </a:avLst>
          </a:prstGeom>
          <a:solidFill>
            <a:srgbClr val="C8DDA9"/>
          </a:solidFill>
          <a:ln/>
        </p:spPr>
      </p:sp>
      <p:sp>
        <p:nvSpPr>
          <p:cNvPr id="21" name="Text 19"/>
          <p:cNvSpPr/>
          <p:nvPr/>
        </p:nvSpPr>
        <p:spPr>
          <a:xfrm>
            <a:off x="4645152" y="4535424"/>
            <a:ext cx="28895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 — 우즈베키스탄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645152" y="4773168"/>
            <a:ext cx="28895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농촌진흥청과 함께 약 3년간 성과 확인</a:t>
            </a:r>
            <a:endParaRPr lang="en-US" sz="1050" dirty="0"/>
          </a:p>
          <a:p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(세부 성적 수치는 정리 중)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8065008" y="1847088"/>
            <a:ext cx="3547872" cy="3520440"/>
          </a:xfrm>
          <a:prstGeom prst="roundRect">
            <a:avLst>
              <a:gd name="adj" fmla="val 2597"/>
            </a:avLst>
          </a:prstGeom>
          <a:solidFill>
            <a:srgbClr val="F3F6F1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8065008" y="1847088"/>
            <a:ext cx="3547872" cy="603504"/>
          </a:xfrm>
          <a:prstGeom prst="roundRect">
            <a:avLst>
              <a:gd name="adj" fmla="val 15152"/>
            </a:avLst>
          </a:prstGeom>
          <a:solidFill>
            <a:srgbClr val="13301F"/>
          </a:solidFill>
          <a:ln/>
        </p:spPr>
      </p:sp>
      <p:sp>
        <p:nvSpPr>
          <p:cNvPr id="25" name="Text 23"/>
          <p:cNvSpPr/>
          <p:nvPr/>
        </p:nvSpPr>
        <p:spPr>
          <a:xfrm>
            <a:off x="8247888" y="1847088"/>
            <a:ext cx="31821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농진청 · 농업기술진흥원에 요청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8284464" y="2578608"/>
            <a:ext cx="31089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수입국 검역·수출 위생조건 협의 — 정부 간 사안입니다</a:t>
            </a:r>
            <a:endParaRPr lang="en-US" sz="12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ODA · KOICA · 국제협력 사업과의 연계</a:t>
            </a:r>
            <a:endParaRPr lang="en-US" sz="12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해외 이식 성적의 객관적 검증과 기록</a:t>
            </a:r>
            <a:endParaRPr lang="en-US" sz="12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농업기술진흥원 기술사업화·수출지원 프로그램 연계</a:t>
            </a:r>
            <a:endParaRPr lang="en-US" sz="12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국가 단위 'K-낙농 유전자원' 브랜딩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566928" y="5532120"/>
            <a:ext cx="11064240" cy="841248"/>
          </a:xfrm>
          <a:prstGeom prst="roundRect">
            <a:avLst>
              <a:gd name="adj" fmla="val 10870"/>
            </a:avLst>
          </a:prstGeom>
          <a:solidFill>
            <a:srgbClr val="13301F"/>
          </a:solidFill>
          <a:ln/>
        </p:spPr>
      </p:sp>
      <p:sp>
        <p:nvSpPr>
          <p:cNvPr id="28" name="Text 26"/>
          <p:cNvSpPr/>
          <p:nvPr/>
        </p:nvSpPr>
        <p:spPr>
          <a:xfrm>
            <a:off x="822960" y="5532120"/>
            <a:ext cx="10515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8DDA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낙농 유전자원은 수입만 하는 것이 아닙니다 — 한국 홀스타인은 이미 수출되고 있고, 국가기관이 함께 가면 산업이 됩니다</a:t>
            </a:r>
            <a:endParaRPr lang="en-US" sz="14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330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0"/>
            <a:ext cx="1188720" cy="1188720"/>
          </a:xfrm>
          <a:prstGeom prst="ellipse">
            <a:avLst/>
          </a:prstGeom>
          <a:solidFill>
            <a:srgbClr val="B87333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01168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2103120" y="2103120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친환경 스마트 사양관리 ①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2103120" y="2926080"/>
            <a:ext cx="9418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20" kern="0" dirty="0">
                <a:solidFill>
                  <a:srgbClr val="97BC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ENVIRONMENT — HUMUS BEDDED PACK</a:t>
            </a:r>
            <a:endParaRPr 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 친환경 사양관리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'친환경'을 세 가지 축으로 나눠서 관리합니다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25880"/>
            <a:ext cx="3547872" cy="2971800"/>
          </a:xfrm>
          <a:prstGeom prst="roundRect">
            <a:avLst>
              <a:gd name="adj" fmla="val 3077"/>
            </a:avLst>
          </a:prstGeom>
          <a:solidFill>
            <a:srgbClr val="F3F6F1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66928" y="1325880"/>
            <a:ext cx="3547872" cy="621792"/>
          </a:xfrm>
          <a:prstGeom prst="roundRect">
            <a:avLst>
              <a:gd name="adj" fmla="val 14706"/>
            </a:avLst>
          </a:prstGeom>
          <a:solidFill>
            <a:srgbClr val="97BC62"/>
          </a:solidFill>
          <a:ln/>
        </p:spPr>
      </p:sp>
      <p:sp>
        <p:nvSpPr>
          <p:cNvPr id="6" name="Text 4"/>
          <p:cNvSpPr/>
          <p:nvPr/>
        </p:nvSpPr>
        <p:spPr>
          <a:xfrm>
            <a:off x="749808" y="1325880"/>
            <a:ext cx="318211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사양 (먹는 것)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786384" y="2121408"/>
            <a:ext cx="3127248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조사료 중심 급여 — Hay Milk의 근거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자가 조사료·초지 연계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정밀 급여로 사료 손실 최소화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반추위 건강을 데이터로 확인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315968" y="1325880"/>
            <a:ext cx="3547872" cy="2971800"/>
          </a:xfrm>
          <a:prstGeom prst="roundRect">
            <a:avLst>
              <a:gd name="adj" fmla="val 3077"/>
            </a:avLst>
          </a:prstGeom>
          <a:solidFill>
            <a:srgbClr val="F3F6F1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315968" y="1325880"/>
            <a:ext cx="3547872" cy="621792"/>
          </a:xfrm>
          <a:prstGeom prst="roundRect">
            <a:avLst>
              <a:gd name="adj" fmla="val 14706"/>
            </a:avLst>
          </a:prstGeom>
          <a:solidFill>
            <a:srgbClr val="2C5F2D"/>
          </a:solidFill>
          <a:ln/>
        </p:spPr>
      </p:sp>
      <p:sp>
        <p:nvSpPr>
          <p:cNvPr id="10" name="Text 8"/>
          <p:cNvSpPr/>
          <p:nvPr/>
        </p:nvSpPr>
        <p:spPr>
          <a:xfrm>
            <a:off x="4498848" y="1325880"/>
            <a:ext cx="318211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축사환경 (사는 곳)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4535424" y="2121408"/>
            <a:ext cx="3127248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피트모스 기반 HBP 깔짚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미생물 발효로 수분·악취 관리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우상 청결 → 유방염·체세포 관리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발굽·관절 부담이 낮은 바닥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065008" y="1325880"/>
            <a:ext cx="3547872" cy="2971800"/>
          </a:xfrm>
          <a:prstGeom prst="roundRect">
            <a:avLst>
              <a:gd name="adj" fmla="val 3077"/>
            </a:avLst>
          </a:prstGeom>
          <a:solidFill>
            <a:srgbClr val="F3F6F1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8065008" y="1325880"/>
            <a:ext cx="3547872" cy="621792"/>
          </a:xfrm>
          <a:prstGeom prst="roundRect">
            <a:avLst>
              <a:gd name="adj" fmla="val 14706"/>
            </a:avLst>
          </a:prstGeom>
          <a:solidFill>
            <a:srgbClr val="B87333"/>
          </a:solidFill>
          <a:ln/>
        </p:spPr>
      </p:sp>
      <p:sp>
        <p:nvSpPr>
          <p:cNvPr id="14" name="Text 12"/>
          <p:cNvSpPr/>
          <p:nvPr/>
        </p:nvSpPr>
        <p:spPr>
          <a:xfrm>
            <a:off x="8247888" y="1325880"/>
            <a:ext cx="318211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분뇨 (나오는 것)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8284464" y="2121408"/>
            <a:ext cx="3127248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깔짚이 그대로 퇴비 원료가 됨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Healing Compost로 부숙·제품화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초지·경종농가로 환원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악취 민원과 처리비를 동시에 줄임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66928" y="4617720"/>
            <a:ext cx="11064240" cy="1005840"/>
          </a:xfrm>
          <a:prstGeom prst="roundRect">
            <a:avLst>
              <a:gd name="adj" fmla="val 9091"/>
            </a:avLst>
          </a:prstGeom>
          <a:solidFill>
            <a:srgbClr val="13301F"/>
          </a:solidFill>
          <a:ln/>
        </p:spPr>
      </p:sp>
      <p:sp>
        <p:nvSpPr>
          <p:cNvPr id="17" name="Text 15"/>
          <p:cNvSpPr/>
          <p:nvPr/>
        </p:nvSpPr>
        <p:spPr>
          <a:xfrm>
            <a:off x="822960" y="461772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 축은 하나입니다 — 깔짚을 바꾸면 소가 편해지고, 소가 편해지면 유질이 오르고, 그 깔짚이 다시 퇴비가 됩니다</a:t>
            </a:r>
            <a:endParaRPr lang="en-US" sz="15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 친환경 사양관리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HBP — 깔짚을 '바닥재'가 아니라 '살아있는 발효조'로 씁니다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14300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Humus Bedded Pack : 피트모스와 톱밥 등 유기물 깔짚 위에서 소를 사육하면서, 깔짚층 안의 호기성 미생물이</a:t>
            </a:r>
            <a:endParaRPr lang="en-US" sz="1350" dirty="0"/>
          </a:p>
          <a:p>
            <a:pPr algn="l"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분뇨를 실시간으로 분해하도록 관리하는 방식입니다. 축사 바닥 자체가 1차 퇴비화 공간이 됩니다.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66928" y="1965960"/>
            <a:ext cx="6766560" cy="777240"/>
          </a:xfrm>
          <a:prstGeom prst="roundRect">
            <a:avLst>
              <a:gd name="adj" fmla="val 11765"/>
            </a:avLst>
          </a:prstGeom>
          <a:solidFill>
            <a:srgbClr val="E9C79A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96596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 (Cow)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3520440" y="1965960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휴식·반추 시간 증가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66928" y="2862072"/>
            <a:ext cx="6766560" cy="777240"/>
          </a:xfrm>
          <a:prstGeom prst="roundRect">
            <a:avLst>
              <a:gd name="adj" fmla="val 11765"/>
            </a:avLst>
          </a:prstGeom>
          <a:solidFill>
            <a:srgbClr val="C8DDA9"/>
          </a:solidFill>
          <a:ln/>
        </p:spPr>
      </p:sp>
      <p:sp>
        <p:nvSpPr>
          <p:cNvPr id="9" name="Text 7"/>
          <p:cNvSpPr/>
          <p:nvPr/>
        </p:nvSpPr>
        <p:spPr>
          <a:xfrm>
            <a:off x="822960" y="2862072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깔짚 표층 — 건조·흡습층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3520440" y="2862072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피트모스의 높은 보수력이 표면 수분을 잡아 우체 오염을 줄입니다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66928" y="3758184"/>
            <a:ext cx="6766560" cy="777240"/>
          </a:xfrm>
          <a:prstGeom prst="roundRect">
            <a:avLst>
              <a:gd name="adj" fmla="val 11765"/>
            </a:avLst>
          </a:prstGeom>
          <a:solidFill>
            <a:srgbClr val="97BC62"/>
          </a:solidFill>
          <a:ln/>
        </p:spPr>
      </p:sp>
      <p:sp>
        <p:nvSpPr>
          <p:cNvPr id="12" name="Text 10"/>
          <p:cNvSpPr/>
          <p:nvPr/>
        </p:nvSpPr>
        <p:spPr>
          <a:xfrm>
            <a:off x="822960" y="3758184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발효층 — 호기성 미생물 활동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3520440" y="3758184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교반으로 산소 공급 → 유기물 분해 → 발효열 발생 → 수분 증발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66928" y="4654296"/>
            <a:ext cx="6766560" cy="777240"/>
          </a:xfrm>
          <a:prstGeom prst="roundRect">
            <a:avLst>
              <a:gd name="adj" fmla="val 11765"/>
            </a:avLst>
          </a:prstGeom>
          <a:solidFill>
            <a:srgbClr val="2C5F2D"/>
          </a:solidFill>
          <a:ln/>
        </p:spPr>
      </p:sp>
      <p:sp>
        <p:nvSpPr>
          <p:cNvPr id="15" name="Text 13"/>
          <p:cNvSpPr/>
          <p:nvPr/>
        </p:nvSpPr>
        <p:spPr>
          <a:xfrm>
            <a:off x="822960" y="4654296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기층 — 배수·구조 유지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3520440" y="4654296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과습 방지, 혐기 발효(악취 원인) 억제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7607808" y="1965960"/>
            <a:ext cx="4023360" cy="3502152"/>
          </a:xfrm>
          <a:prstGeom prst="roundRect">
            <a:avLst>
              <a:gd name="adj" fmla="val 2611"/>
            </a:avLst>
          </a:prstGeom>
          <a:solidFill>
            <a:srgbClr val="EEF4E9"/>
          </a:solidFill>
          <a:ln/>
        </p:spPr>
      </p:sp>
      <p:sp>
        <p:nvSpPr>
          <p:cNvPr id="18" name="Text 16"/>
          <p:cNvSpPr/>
          <p:nvPr/>
        </p:nvSpPr>
        <p:spPr>
          <a:xfrm>
            <a:off x="7882128" y="2148840"/>
            <a:ext cx="3474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피트모스인가</a:t>
            </a:r>
            <a:endParaRPr lang="en-US" sz="1550" dirty="0"/>
          </a:p>
        </p:txBody>
      </p:sp>
      <p:sp>
        <p:nvSpPr>
          <p:cNvPr id="19" name="Text 17"/>
          <p:cNvSpPr/>
          <p:nvPr/>
        </p:nvSpPr>
        <p:spPr>
          <a:xfrm>
            <a:off x="7882128" y="2606040"/>
            <a:ext cx="35204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보수력이 커서 분뇨 수분을 빠르게 잡습니다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입자 구조가 살아 있어 통기가 유지됩니다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탄소원이 풍부해 발효 균형(C/N)에 유리합니다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약산성 환경이 암모니아 휘산을 억제하는 방향으로 작용합니다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 후 그대로 고품질 퇴비 원료가 됩니다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566928" y="63276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위 작용은 기술 원리 설명이며, 정량 효과는 축사 조건별 실증이 필요합니다.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 친환경 사양관리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HBP 운영 포인트 — 실패는 대부분 '관리'에서 납니다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298448"/>
            <a:ext cx="3547872" cy="2148840"/>
          </a:xfrm>
          <a:prstGeom prst="roundRect">
            <a:avLst>
              <a:gd name="adj" fmla="val 4255"/>
            </a:avLst>
          </a:prstGeom>
          <a:solidFill>
            <a:srgbClr val="EEF4E9"/>
          </a:solidFill>
          <a:ln w="12700">
            <a:solidFill>
              <a:srgbClr val="E0E6D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86384" y="1517904"/>
            <a:ext cx="420624" cy="420624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6" name="Text 4"/>
          <p:cNvSpPr/>
          <p:nvPr/>
        </p:nvSpPr>
        <p:spPr>
          <a:xfrm>
            <a:off x="786384" y="151790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86384" y="151790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수분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316736" y="1499616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발효층 수분 관리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04672" y="2084832"/>
            <a:ext cx="3090672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너무 젖으면 혐기 발효로 악취가 나고, 너무 마르면 미생물이 멈춥니다.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손으로 쥐었을 때 뭉치되 물이 배지 않는 상태를 기준으로 잡습니다.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15968" y="1298448"/>
            <a:ext cx="3547872" cy="2148840"/>
          </a:xfrm>
          <a:prstGeom prst="roundRect">
            <a:avLst>
              <a:gd name="adj" fmla="val 4255"/>
            </a:avLst>
          </a:prstGeom>
          <a:solidFill>
            <a:srgbClr val="EEF4E9"/>
          </a:solidFill>
          <a:ln w="12700">
            <a:solidFill>
              <a:srgbClr val="E0E6D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35424" y="1517904"/>
            <a:ext cx="420624" cy="420624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12" name="Text 10"/>
          <p:cNvSpPr/>
          <p:nvPr/>
        </p:nvSpPr>
        <p:spPr>
          <a:xfrm>
            <a:off x="4535424" y="151790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535424" y="151790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교반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065776" y="1499616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정기 교반(로터리)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553712" y="2084832"/>
            <a:ext cx="3090672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산소를 넣어 호기 발효를 유지하는 가장 중요한 작업입니다.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1일 1~2회 기본. 이 작업의 자동화가 다음 장의 로봇 과제입니다.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065008" y="1298448"/>
            <a:ext cx="3547872" cy="2148840"/>
          </a:xfrm>
          <a:prstGeom prst="roundRect">
            <a:avLst>
              <a:gd name="adj" fmla="val 4255"/>
            </a:avLst>
          </a:prstGeom>
          <a:solidFill>
            <a:srgbClr val="EEF4E9"/>
          </a:solidFill>
          <a:ln w="12700">
            <a:solidFill>
              <a:srgbClr val="E0E6D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84464" y="1517904"/>
            <a:ext cx="420624" cy="420624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18" name="Text 16"/>
          <p:cNvSpPr/>
          <p:nvPr/>
        </p:nvSpPr>
        <p:spPr>
          <a:xfrm>
            <a:off x="8284464" y="151790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8284464" y="151790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면적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8814816" y="1499616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두당 소요 면적 확보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302752" y="2084832"/>
            <a:ext cx="3090672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면적이 좁으면 분뇨 부하가 발효 능력을 넘어섭니다.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두당 면적은 HBP 성패를 가르는 첫 번째 설계 변수입니다.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66928" y="3630168"/>
            <a:ext cx="3547872" cy="2148840"/>
          </a:xfrm>
          <a:prstGeom prst="roundRect">
            <a:avLst>
              <a:gd name="adj" fmla="val 4255"/>
            </a:avLst>
          </a:prstGeom>
          <a:solidFill>
            <a:srgbClr val="F3F6F1"/>
          </a:solidFill>
          <a:ln w="12700">
            <a:solidFill>
              <a:srgbClr val="E0E6D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86384" y="3849624"/>
            <a:ext cx="420624" cy="420624"/>
          </a:xfrm>
          <a:prstGeom prst="ellipse">
            <a:avLst/>
          </a:prstGeom>
          <a:solidFill>
            <a:srgbClr val="B87333"/>
          </a:solidFill>
          <a:ln/>
        </p:spPr>
      </p:sp>
      <p:sp>
        <p:nvSpPr>
          <p:cNvPr id="24" name="Text 22"/>
          <p:cNvSpPr/>
          <p:nvPr/>
        </p:nvSpPr>
        <p:spPr>
          <a:xfrm>
            <a:off x="786384" y="384962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786384" y="384962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보충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1316736" y="3831336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깔짚 보충 주기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804672" y="4416552"/>
            <a:ext cx="3090672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발효로 유기물이 소모되므로 주기적 보충이 필요합니다.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전면 교체가 아니라 '보충하며 계속 쓰는' 운영이 원칙입니다.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4315968" y="3630168"/>
            <a:ext cx="3547872" cy="2148840"/>
          </a:xfrm>
          <a:prstGeom prst="roundRect">
            <a:avLst>
              <a:gd name="adj" fmla="val 4255"/>
            </a:avLst>
          </a:prstGeom>
          <a:solidFill>
            <a:srgbClr val="F3F6F1"/>
          </a:solidFill>
          <a:ln w="12700">
            <a:solidFill>
              <a:srgbClr val="E0E6D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535424" y="3849624"/>
            <a:ext cx="420624" cy="420624"/>
          </a:xfrm>
          <a:prstGeom prst="ellipse">
            <a:avLst/>
          </a:prstGeom>
          <a:solidFill>
            <a:srgbClr val="B87333"/>
          </a:solidFill>
          <a:ln/>
        </p:spPr>
      </p:sp>
      <p:sp>
        <p:nvSpPr>
          <p:cNvPr id="30" name="Text 28"/>
          <p:cNvSpPr/>
          <p:nvPr/>
        </p:nvSpPr>
        <p:spPr>
          <a:xfrm>
            <a:off x="4535424" y="384962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4535424" y="384962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계절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5065776" y="3831336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여름·장마 대응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553712" y="4416552"/>
            <a:ext cx="3090672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고온다습기에는 수분 증발이 느려집니다.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환기량 증대와 교반 빈도 상향으로 대응합니다.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8065008" y="3630168"/>
            <a:ext cx="3547872" cy="2148840"/>
          </a:xfrm>
          <a:prstGeom prst="roundRect">
            <a:avLst>
              <a:gd name="adj" fmla="val 4255"/>
            </a:avLst>
          </a:prstGeom>
          <a:solidFill>
            <a:srgbClr val="F3F6F1"/>
          </a:solidFill>
          <a:ln w="12700">
            <a:solidFill>
              <a:srgbClr val="E0E6D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284464" y="3849624"/>
            <a:ext cx="420624" cy="420624"/>
          </a:xfrm>
          <a:prstGeom prst="ellipse">
            <a:avLst/>
          </a:prstGeom>
          <a:solidFill>
            <a:srgbClr val="B87333"/>
          </a:solidFill>
          <a:ln/>
        </p:spPr>
      </p:sp>
      <p:sp>
        <p:nvSpPr>
          <p:cNvPr id="36" name="Text 34"/>
          <p:cNvSpPr/>
          <p:nvPr/>
        </p:nvSpPr>
        <p:spPr>
          <a:xfrm>
            <a:off x="8284464" y="384962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8284464" y="384962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기록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8814816" y="3831336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관리 기록의 표준화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8302752" y="4416552"/>
            <a:ext cx="3090672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교반 시각·보충량·바닥 온도를 기록해야 원인 분석이 가능합니다.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기록이 없으면 실패해도 왜 실패했는지 알 수 없습니다.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566928" y="5989320"/>
            <a:ext cx="11064240" cy="548640"/>
          </a:xfrm>
          <a:prstGeom prst="roundRect">
            <a:avLst>
              <a:gd name="adj" fmla="val 16667"/>
            </a:avLst>
          </a:prstGeom>
          <a:solidFill>
            <a:srgbClr val="B87333"/>
          </a:solidFill>
          <a:ln/>
        </p:spPr>
      </p:sp>
      <p:sp>
        <p:nvSpPr>
          <p:cNvPr id="41" name="Text 39"/>
          <p:cNvSpPr/>
          <p:nvPr/>
        </p:nvSpPr>
        <p:spPr>
          <a:xfrm>
            <a:off x="822960" y="598932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HBP는 '자재'가 아니라 '운영기술'입니다 — 보급할 때 반드시 관리 SOP와 함께 가야 합니다</a:t>
            </a:r>
            <a:endParaRPr lang="en-US" sz="14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 친환경 사양관리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로봇소똥구리 — 교반을 사람이 아니라 로봇이 합니다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앞에서 HBP의 성패는 교반이라고 말씀드렸습니다. 그런데 그 교반을 사람이 계속할 수 있느냐가 진짜 문제입니다.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66928" y="1664208"/>
            <a:ext cx="5440680" cy="2514600"/>
          </a:xfrm>
          <a:prstGeom prst="roundRect">
            <a:avLst>
              <a:gd name="adj" fmla="val 3636"/>
            </a:avLst>
          </a:prstGeom>
          <a:solidFill>
            <a:srgbClr val="F3F6F1"/>
          </a:solidFill>
          <a:ln w="12700">
            <a:solidFill>
              <a:srgbClr val="E0E6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1828800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사람이 하는 교반의 한계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868680" y="2267712"/>
            <a:ext cx="489204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1일 1~2회, 365일 — 빠지면 바로 혐기 발효와 악취로 돌아옵니다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축사 안 작업은 위험합니다 — 가스, 협착, 장비 전복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고령 경영주에게는 지속 가능한 작업이 아닙니다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결국 교반을 건너뛰게 되고, HBP 실패의 대부분이 여기서 납니다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190488" y="1664208"/>
            <a:ext cx="5440680" cy="2514600"/>
          </a:xfrm>
          <a:prstGeom prst="roundRect">
            <a:avLst>
              <a:gd name="adj" fmla="val 3636"/>
            </a:avLst>
          </a:prstGeom>
          <a:solidFill>
            <a:srgbClr val="C8DDA9"/>
          </a:solidFill>
          <a:ln/>
        </p:spPr>
      </p:sp>
      <p:sp>
        <p:nvSpPr>
          <p:cNvPr id="9" name="Text 7"/>
          <p:cNvSpPr/>
          <p:nvPr/>
        </p:nvSpPr>
        <p:spPr>
          <a:xfrm>
            <a:off x="6492240" y="1828800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자율주행 깔개 관리 로봇이 하는 일</a:t>
            </a:r>
            <a:endParaRPr lang="en-US" sz="1550" dirty="0"/>
          </a:p>
        </p:txBody>
      </p:sp>
      <p:sp>
        <p:nvSpPr>
          <p:cNvPr id="10" name="Text 8"/>
          <p:cNvSpPr/>
          <p:nvPr/>
        </p:nvSpPr>
        <p:spPr>
          <a:xfrm>
            <a:off x="6492240" y="2267712"/>
            <a:ext cx="489204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사람이 들어가지 않아도 정해진 주기로 교반이 유지됩니다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작업 이력이 자동 기록되어 관리 데이터가 남습니다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노동 강도와 재해 위험을 동시에 낮춥니다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관리가 안정되면 악취·온실가스 저감 효과도 일정해집니다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566928" y="4370832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산업통상자원부 10대 메가프로젝트 기술산업화 — 진행 중인 국가 R&amp;D 과제입니다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66928" y="4773168"/>
            <a:ext cx="2633472" cy="1481328"/>
          </a:xfrm>
          <a:prstGeom prst="roundRect">
            <a:avLst>
              <a:gd name="adj" fmla="val 6173"/>
            </a:avLst>
          </a:prstGeom>
          <a:solidFill>
            <a:srgbClr val="EEF4E9"/>
          </a:solidFill>
          <a:ln/>
        </p:spPr>
      </p:sp>
      <p:sp>
        <p:nvSpPr>
          <p:cNvPr id="13" name="Text 11"/>
          <p:cNvSpPr/>
          <p:nvPr/>
        </p:nvSpPr>
        <p:spPr>
          <a:xfrm>
            <a:off x="566928" y="4937760"/>
            <a:ext cx="26334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33개월</a:t>
            </a:r>
            <a:endParaRPr lang="en-US" sz="2500" dirty="0"/>
          </a:p>
        </p:txBody>
      </p:sp>
      <p:sp>
        <p:nvSpPr>
          <p:cNvPr id="14" name="Text 12"/>
          <p:cNvSpPr/>
          <p:nvPr/>
        </p:nvSpPr>
        <p:spPr>
          <a:xfrm>
            <a:off x="658368" y="5614416"/>
            <a:ext cx="24505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 4 ~ 2028. 12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3401568" y="4773168"/>
            <a:ext cx="2633472" cy="1481328"/>
          </a:xfrm>
          <a:prstGeom prst="roundRect">
            <a:avLst>
              <a:gd name="adj" fmla="val 6173"/>
            </a:avLst>
          </a:prstGeom>
          <a:solidFill>
            <a:srgbClr val="EEF4E9"/>
          </a:solidFill>
          <a:ln/>
        </p:spPr>
      </p:sp>
      <p:sp>
        <p:nvSpPr>
          <p:cNvPr id="16" name="Text 14"/>
          <p:cNvSpPr/>
          <p:nvPr/>
        </p:nvSpPr>
        <p:spPr>
          <a:xfrm>
            <a:off x="3401568" y="4937760"/>
            <a:ext cx="26334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49.7억원</a:t>
            </a:r>
            <a:endParaRPr lang="en-US" sz="2500" dirty="0"/>
          </a:p>
        </p:txBody>
      </p:sp>
      <p:sp>
        <p:nvSpPr>
          <p:cNvPr id="17" name="Text 15"/>
          <p:cNvSpPr/>
          <p:nvPr/>
        </p:nvSpPr>
        <p:spPr>
          <a:xfrm>
            <a:off x="3493008" y="5614416"/>
            <a:ext cx="24505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총 연구개발비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(정부지원 37억원)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236208" y="4773168"/>
            <a:ext cx="2633472" cy="1481328"/>
          </a:xfrm>
          <a:prstGeom prst="roundRect">
            <a:avLst>
              <a:gd name="adj" fmla="val 6173"/>
            </a:avLst>
          </a:prstGeom>
          <a:solidFill>
            <a:srgbClr val="EEF4E9"/>
          </a:solidFill>
          <a:ln/>
        </p:spPr>
      </p:sp>
      <p:sp>
        <p:nvSpPr>
          <p:cNvPr id="19" name="Text 17"/>
          <p:cNvSpPr/>
          <p:nvPr/>
        </p:nvSpPr>
        <p:spPr>
          <a:xfrm>
            <a:off x="6236208" y="4937760"/>
            <a:ext cx="26334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TRL 5 → 9</a:t>
            </a:r>
            <a:endParaRPr lang="en-US" sz="2500" dirty="0"/>
          </a:p>
        </p:txBody>
      </p:sp>
      <p:sp>
        <p:nvSpPr>
          <p:cNvPr id="20" name="Text 18"/>
          <p:cNvSpPr/>
          <p:nvPr/>
        </p:nvSpPr>
        <p:spPr>
          <a:xfrm>
            <a:off x="6327648" y="5614416"/>
            <a:ext cx="24505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착수 5단계 → 종료 9단계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9070848" y="4773168"/>
            <a:ext cx="2633472" cy="1481328"/>
          </a:xfrm>
          <a:prstGeom prst="roundRect">
            <a:avLst>
              <a:gd name="adj" fmla="val 6173"/>
            </a:avLst>
          </a:prstGeom>
          <a:solidFill>
            <a:srgbClr val="EEF4E9"/>
          </a:solidFill>
          <a:ln/>
        </p:spPr>
      </p:sp>
      <p:sp>
        <p:nvSpPr>
          <p:cNvPr id="22" name="Text 20"/>
          <p:cNvSpPr/>
          <p:nvPr/>
        </p:nvSpPr>
        <p:spPr>
          <a:xfrm>
            <a:off x="9070848" y="4937760"/>
            <a:ext cx="26334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3개 기관</a:t>
            </a:r>
            <a:endParaRPr lang="en-US" sz="2500" dirty="0"/>
          </a:p>
        </p:txBody>
      </p:sp>
      <p:sp>
        <p:nvSpPr>
          <p:cNvPr id="23" name="Text 21"/>
          <p:cNvSpPr/>
          <p:nvPr/>
        </p:nvSpPr>
        <p:spPr>
          <a:xfrm>
            <a:off x="9162288" y="5614416"/>
            <a:ext cx="24505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주관 1 · 공동 2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(D2O는 실증·확산 담당)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566928" y="63276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과제명: 축사 환경 개선을 위한 자율주행 깔개 관리 축산 로봇 개발 및 사업화 (RS-2026-25508014)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330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97BC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 친환경 사양관리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로봇소똥구리 — 추진 체계와 3년 로드맵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25880"/>
            <a:ext cx="3547872" cy="1920240"/>
          </a:xfrm>
          <a:prstGeom prst="roundRect">
            <a:avLst>
              <a:gd name="adj" fmla="val 4762"/>
            </a:avLst>
          </a:prstGeom>
          <a:solidFill>
            <a:srgbClr val="1C4028"/>
          </a:solidFill>
          <a:ln/>
        </p:spPr>
      </p:sp>
      <p:sp>
        <p:nvSpPr>
          <p:cNvPr id="5" name="Text 3"/>
          <p:cNvSpPr/>
          <p:nvPr/>
        </p:nvSpPr>
        <p:spPr>
          <a:xfrm>
            <a:off x="768096" y="1444752"/>
            <a:ext cx="3145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8DDA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주관연구개발기관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68096" y="1700784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㈜GMW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768096" y="2139696"/>
            <a:ext cx="314553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 · 부품 개발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조립 · 제작 · 검증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양산 체계 구축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315968" y="1325880"/>
            <a:ext cx="3547872" cy="1920240"/>
          </a:xfrm>
          <a:prstGeom prst="roundRect">
            <a:avLst>
              <a:gd name="adj" fmla="val 4762"/>
            </a:avLst>
          </a:prstGeom>
          <a:solidFill>
            <a:srgbClr val="2C5F2D"/>
          </a:solidFill>
          <a:ln/>
        </p:spPr>
      </p:sp>
      <p:sp>
        <p:nvSpPr>
          <p:cNvPr id="9" name="Text 7"/>
          <p:cNvSpPr/>
          <p:nvPr/>
        </p:nvSpPr>
        <p:spPr>
          <a:xfrm>
            <a:off x="4517136" y="1444752"/>
            <a:ext cx="3145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8DDA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공동 · 기술 공급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517136" y="1700784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충남대학교 산학협력단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4517136" y="2139696"/>
            <a:ext cx="314553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플랫폼 설계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자율주행 · 경로 생성/추종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객체 모니터링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065008" y="1325880"/>
            <a:ext cx="3547872" cy="1920240"/>
          </a:xfrm>
          <a:prstGeom prst="roundRect">
            <a:avLst>
              <a:gd name="adj" fmla="val 4762"/>
            </a:avLst>
          </a:prstGeom>
          <a:solidFill>
            <a:srgbClr val="B87333"/>
          </a:solidFill>
          <a:ln/>
        </p:spPr>
      </p:sp>
      <p:sp>
        <p:nvSpPr>
          <p:cNvPr id="13" name="Text 11"/>
          <p:cNvSpPr/>
          <p:nvPr/>
        </p:nvSpPr>
        <p:spPr>
          <a:xfrm>
            <a:off x="8266176" y="1444752"/>
            <a:ext cx="3145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공동 · 수요 · 실증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8266176" y="1700784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㈜D2O — 저희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8266176" y="2139696"/>
            <a:ext cx="314553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실증 환경 구축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 실증 지원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영업 · 교육 · 확산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66928" y="3429000"/>
            <a:ext cx="3547872" cy="1783080"/>
          </a:xfrm>
          <a:prstGeom prst="roundRect">
            <a:avLst>
              <a:gd name="adj" fmla="val 5128"/>
            </a:avLst>
          </a:prstGeom>
          <a:solidFill>
            <a:srgbClr val="1C4028"/>
          </a:solidFill>
          <a:ln/>
        </p:spPr>
      </p:sp>
      <p:sp>
        <p:nvSpPr>
          <p:cNvPr id="17" name="Shape 15"/>
          <p:cNvSpPr/>
          <p:nvPr/>
        </p:nvSpPr>
        <p:spPr>
          <a:xfrm>
            <a:off x="786384" y="3584448"/>
            <a:ext cx="402336" cy="402336"/>
          </a:xfrm>
          <a:prstGeom prst="ellipse">
            <a:avLst/>
          </a:prstGeom>
          <a:solidFill>
            <a:srgbClr val="97BC62"/>
          </a:solidFill>
          <a:ln/>
        </p:spPr>
      </p:sp>
      <p:sp>
        <p:nvSpPr>
          <p:cNvPr id="18" name="Text 16"/>
          <p:cNvSpPr/>
          <p:nvPr/>
        </p:nvSpPr>
        <p:spPr>
          <a:xfrm>
            <a:off x="786384" y="35844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298448" y="3566160"/>
            <a:ext cx="2651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9C7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1년차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804672" y="4096512"/>
            <a:ext cx="3090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핵심기술 확보(자율주행·작업기 제어)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1차 시제품 설계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실사용 환경 정의 · 1차 실증지 확보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4315968" y="3429000"/>
            <a:ext cx="3547872" cy="1783080"/>
          </a:xfrm>
          <a:prstGeom prst="roundRect">
            <a:avLst>
              <a:gd name="adj" fmla="val 5128"/>
            </a:avLst>
          </a:prstGeom>
          <a:solidFill>
            <a:srgbClr val="1C4028"/>
          </a:solidFill>
          <a:ln/>
        </p:spPr>
      </p:sp>
      <p:sp>
        <p:nvSpPr>
          <p:cNvPr id="22" name="Shape 20"/>
          <p:cNvSpPr/>
          <p:nvPr/>
        </p:nvSpPr>
        <p:spPr>
          <a:xfrm>
            <a:off x="4535424" y="3584448"/>
            <a:ext cx="402336" cy="402336"/>
          </a:xfrm>
          <a:prstGeom prst="ellipse">
            <a:avLst/>
          </a:prstGeom>
          <a:solidFill>
            <a:srgbClr val="97BC62"/>
          </a:solidFill>
          <a:ln/>
        </p:spPr>
      </p:sp>
      <p:sp>
        <p:nvSpPr>
          <p:cNvPr id="23" name="Text 21"/>
          <p:cNvSpPr/>
          <p:nvPr/>
        </p:nvSpPr>
        <p:spPr>
          <a:xfrm>
            <a:off x="4535424" y="35844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047488" y="3566160"/>
            <a:ext cx="2651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9C7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2년차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4553712" y="4096512"/>
            <a:ext cx="3090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1차 시제품 제작 · 현장 실증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자율주행·제어 성능 개선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2차 시제품 설계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8065008" y="3429000"/>
            <a:ext cx="3547872" cy="1783080"/>
          </a:xfrm>
          <a:prstGeom prst="roundRect">
            <a:avLst>
              <a:gd name="adj" fmla="val 5128"/>
            </a:avLst>
          </a:prstGeom>
          <a:solidFill>
            <a:srgbClr val="1C4028"/>
          </a:solidFill>
          <a:ln/>
        </p:spPr>
      </p:sp>
      <p:sp>
        <p:nvSpPr>
          <p:cNvPr id="27" name="Shape 25"/>
          <p:cNvSpPr/>
          <p:nvPr/>
        </p:nvSpPr>
        <p:spPr>
          <a:xfrm>
            <a:off x="8284464" y="3584448"/>
            <a:ext cx="402336" cy="402336"/>
          </a:xfrm>
          <a:prstGeom prst="ellipse">
            <a:avLst/>
          </a:prstGeom>
          <a:solidFill>
            <a:srgbClr val="97BC62"/>
          </a:solidFill>
          <a:ln/>
        </p:spPr>
      </p:sp>
      <p:sp>
        <p:nvSpPr>
          <p:cNvPr id="28" name="Text 26"/>
          <p:cNvSpPr/>
          <p:nvPr/>
        </p:nvSpPr>
        <p:spPr>
          <a:xfrm>
            <a:off x="8284464" y="35844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8796528" y="3566160"/>
            <a:ext cx="2651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9C7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3년차</a:t>
            </a:r>
            <a:endParaRPr lang="en-US" sz="1450" dirty="0"/>
          </a:p>
        </p:txBody>
      </p:sp>
      <p:sp>
        <p:nvSpPr>
          <p:cNvPr id="30" name="Text 28"/>
          <p:cNvSpPr/>
          <p:nvPr/>
        </p:nvSpPr>
        <p:spPr>
          <a:xfrm>
            <a:off x="8302752" y="4096512"/>
            <a:ext cx="3090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2차 시제품 제작 · 2차 실증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신뢰성 검증 · 기술 고도화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양산 설계·체계 구축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566928" y="5413248"/>
            <a:ext cx="11064240" cy="914400"/>
          </a:xfrm>
          <a:prstGeom prst="roundRect">
            <a:avLst>
              <a:gd name="adj" fmla="val 10000"/>
            </a:avLst>
          </a:prstGeom>
          <a:solidFill>
            <a:srgbClr val="B87333"/>
          </a:solidFill>
          <a:ln/>
        </p:spPr>
      </p:sp>
      <p:sp>
        <p:nvSpPr>
          <p:cNvPr id="32" name="Text 30"/>
          <p:cNvSpPr/>
          <p:nvPr/>
        </p:nvSpPr>
        <p:spPr>
          <a:xfrm>
            <a:off x="822960" y="5413248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기술보급 관점 — HBP 보급의 최대 병목은 '관리 노동'입니다. 로봇이 그 병목을 걷어내면, 따라 할 수 있는 농가의 범위가 넓어집니다</a:t>
            </a:r>
            <a:endParaRPr lang="en-US" sz="14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 친환경 사양관리 · 제안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개발이 끝난 뒤가 아니라, 개발하는 동안 같이 보급합시다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66928" y="1133856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보통은 R&amp;D 3년이 끝난 다음에 보급사업이 시작됩니다. 그 사이에 2~3년 공백이 생기고, 그동안 개발은 현장 피드백 없이 완성됩니다.</a:t>
            </a:r>
            <a:endParaRPr lang="en-US" sz="130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완성된 뒤에야 농가가 '이건 우리 축사에 안 맞는다'고 말하는 일이 반복됩니다.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2487168" y="1847088"/>
            <a:ext cx="29626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 · 1년차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559552" y="1847088"/>
            <a:ext cx="29626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2027 · 2년차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631936" y="1847088"/>
            <a:ext cx="29626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2028 · 3년차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66928" y="2231136"/>
            <a:ext cx="1783080" cy="1188720"/>
          </a:xfrm>
          <a:prstGeom prst="roundRect">
            <a:avLst>
              <a:gd name="adj" fmla="val 7692"/>
            </a:avLst>
          </a:prstGeom>
          <a:solidFill>
            <a:srgbClr val="13301F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2231136"/>
            <a:ext cx="1783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국가 R&amp;D</a:t>
            </a:r>
            <a:endParaRPr lang="en-US" sz="1300" dirty="0"/>
          </a:p>
          <a:p>
            <a:pPr algn="ctr"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(진행 중)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2487168" y="2231136"/>
            <a:ext cx="2962656" cy="1188720"/>
          </a:xfrm>
          <a:prstGeom prst="roundRect">
            <a:avLst>
              <a:gd name="adj" fmla="val 7692"/>
            </a:avLst>
          </a:prstGeom>
          <a:solidFill>
            <a:srgbClr val="2C5F2D"/>
          </a:solidFill>
          <a:ln/>
        </p:spPr>
      </p:sp>
      <p:sp>
        <p:nvSpPr>
          <p:cNvPr id="11" name="Text 9"/>
          <p:cNvSpPr/>
          <p:nvPr/>
        </p:nvSpPr>
        <p:spPr>
          <a:xfrm>
            <a:off x="2633472" y="2231136"/>
            <a:ext cx="26700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핵심기술 확보</a:t>
            </a:r>
            <a:endParaRPr lang="en-US" sz="12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1차 시제품 설계</a:t>
            </a:r>
            <a:endParaRPr lang="en-US" sz="12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실증지 확보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559552" y="2231136"/>
            <a:ext cx="2962656" cy="1188720"/>
          </a:xfrm>
          <a:prstGeom prst="roundRect">
            <a:avLst>
              <a:gd name="adj" fmla="val 7692"/>
            </a:avLst>
          </a:prstGeom>
          <a:solidFill>
            <a:srgbClr val="2C5F2D"/>
          </a:solidFill>
          <a:ln/>
        </p:spPr>
      </p:sp>
      <p:sp>
        <p:nvSpPr>
          <p:cNvPr id="13" name="Text 11"/>
          <p:cNvSpPr/>
          <p:nvPr/>
        </p:nvSpPr>
        <p:spPr>
          <a:xfrm>
            <a:off x="5705856" y="2231136"/>
            <a:ext cx="26700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1차 시제품 제작</a:t>
            </a:r>
            <a:endParaRPr lang="en-US" sz="12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 실증</a:t>
            </a:r>
            <a:endParaRPr lang="en-US" sz="12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성능 개선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631936" y="2231136"/>
            <a:ext cx="2962656" cy="1188720"/>
          </a:xfrm>
          <a:prstGeom prst="roundRect">
            <a:avLst>
              <a:gd name="adj" fmla="val 7692"/>
            </a:avLst>
          </a:prstGeom>
          <a:solidFill>
            <a:srgbClr val="2C5F2D"/>
          </a:solidFill>
          <a:ln/>
        </p:spPr>
      </p:sp>
      <p:sp>
        <p:nvSpPr>
          <p:cNvPr id="15" name="Text 13"/>
          <p:cNvSpPr/>
          <p:nvPr/>
        </p:nvSpPr>
        <p:spPr>
          <a:xfrm>
            <a:off x="8778240" y="2231136"/>
            <a:ext cx="26700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2차 시제품 · 실증</a:t>
            </a:r>
            <a:endParaRPr lang="en-US" sz="12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신뢰성 검증</a:t>
            </a:r>
            <a:endParaRPr lang="en-US" sz="12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양산 체계 구축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66928" y="3584448"/>
            <a:ext cx="1783080" cy="1325880"/>
          </a:xfrm>
          <a:prstGeom prst="roundRect">
            <a:avLst>
              <a:gd name="adj" fmla="val 6897"/>
            </a:avLst>
          </a:prstGeom>
          <a:solidFill>
            <a:srgbClr val="B87333"/>
          </a:solidFill>
          <a:ln/>
        </p:spPr>
      </p:sp>
      <p:sp>
        <p:nvSpPr>
          <p:cNvPr id="17" name="Text 15"/>
          <p:cNvSpPr/>
          <p:nvPr/>
        </p:nvSpPr>
        <p:spPr>
          <a:xfrm>
            <a:off x="566928" y="3584448"/>
            <a:ext cx="17830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기술보급</a:t>
            </a:r>
            <a:endParaRPr lang="en-US" sz="1300" dirty="0"/>
          </a:p>
          <a:p>
            <a:pPr algn="ctr"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(제안)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487168" y="3584448"/>
            <a:ext cx="2962656" cy="1325880"/>
          </a:xfrm>
          <a:prstGeom prst="roundRect">
            <a:avLst>
              <a:gd name="adj" fmla="val 6897"/>
            </a:avLst>
          </a:prstGeom>
          <a:solidFill>
            <a:srgbClr val="C8DDA9"/>
          </a:solidFill>
          <a:ln/>
        </p:spPr>
      </p:sp>
      <p:sp>
        <p:nvSpPr>
          <p:cNvPr id="19" name="Text 17"/>
          <p:cNvSpPr/>
          <p:nvPr/>
        </p:nvSpPr>
        <p:spPr>
          <a:xfrm>
            <a:off x="2633472" y="3584448"/>
            <a:ext cx="2670048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실증지를 현장 교육장으로</a:t>
            </a:r>
            <a:endParaRPr lang="en-US" sz="12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동시 개방</a:t>
            </a:r>
            <a:endParaRPr lang="en-US" sz="12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지도직 참관 · 교육과정 설계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559552" y="3584448"/>
            <a:ext cx="2962656" cy="1325880"/>
          </a:xfrm>
          <a:prstGeom prst="roundRect">
            <a:avLst>
              <a:gd name="adj" fmla="val 6897"/>
            </a:avLst>
          </a:prstGeom>
          <a:solidFill>
            <a:srgbClr val="C8DDA9"/>
          </a:solidFill>
          <a:ln/>
        </p:spPr>
      </p:sp>
      <p:sp>
        <p:nvSpPr>
          <p:cNvPr id="21" name="Text 19"/>
          <p:cNvSpPr/>
          <p:nvPr/>
        </p:nvSpPr>
        <p:spPr>
          <a:xfrm>
            <a:off x="5705856" y="3584448"/>
            <a:ext cx="2670048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시범농가 2~3호로 선행 보급</a:t>
            </a:r>
            <a:endParaRPr lang="en-US" sz="12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사용성 피드백을 개발에 반영</a:t>
            </a:r>
            <a:endParaRPr lang="en-US" sz="12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관리 SOP 초안 현장 검증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8631936" y="3584448"/>
            <a:ext cx="2962656" cy="1325880"/>
          </a:xfrm>
          <a:prstGeom prst="roundRect">
            <a:avLst>
              <a:gd name="adj" fmla="val 6897"/>
            </a:avLst>
          </a:prstGeom>
          <a:solidFill>
            <a:srgbClr val="C8DDA9"/>
          </a:solidFill>
          <a:ln/>
        </p:spPr>
      </p:sp>
      <p:sp>
        <p:nvSpPr>
          <p:cNvPr id="23" name="Text 21"/>
          <p:cNvSpPr/>
          <p:nvPr/>
        </p:nvSpPr>
        <p:spPr>
          <a:xfrm>
            <a:off x="8778240" y="3584448"/>
            <a:ext cx="2670048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보급사업 설계 확정</a:t>
            </a:r>
            <a:endParaRPr lang="en-US" sz="12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매뉴얼 · 교육과정 완성</a:t>
            </a:r>
            <a:endParaRPr lang="en-US" sz="12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양산 시점에 즉시 보급 착수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66928" y="5102352"/>
            <a:ext cx="11064240" cy="1188720"/>
          </a:xfrm>
          <a:prstGeom prst="roundRect">
            <a:avLst>
              <a:gd name="adj" fmla="val 7692"/>
            </a:avLst>
          </a:prstGeom>
          <a:solidFill>
            <a:srgbClr val="F3F6F1"/>
          </a:solidFill>
          <a:ln w="12700">
            <a:solidFill>
              <a:srgbClr val="D8E0D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68680" y="5248656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과제가 얻는 것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868680" y="5577840"/>
            <a:ext cx="5029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실제 농가 사용 데이터와 요구사항을 개발 중에 반영</a:t>
            </a:r>
            <a:endParaRPr lang="en-US" sz="1200" dirty="0"/>
          </a:p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실증 레퍼런스 확대 — 사업화 단계에서 그대로 근거가 됩니다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263640" y="5248656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보급사업이 얻는 것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6263640" y="5577840"/>
            <a:ext cx="5120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개발이 끝나기 전에 기술을 먼저 확보하고 준비할 수 있습니다</a:t>
            </a:r>
            <a:endParaRPr lang="en-US" sz="1200" dirty="0"/>
          </a:p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예산 편성과 교육과정 준비 시간을 3년 앞당길 수 있습니다</a:t>
            </a:r>
            <a:endParaRPr lang="en-US" sz="1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 친환경 사양관리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기대효과 — 어디까지가 확인된 것이고, 어디부터가 검증 대상인가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298448"/>
            <a:ext cx="5440680" cy="4114800"/>
          </a:xfrm>
          <a:prstGeom prst="roundRect">
            <a:avLst>
              <a:gd name="adj" fmla="val 2222"/>
            </a:avLst>
          </a:prstGeom>
          <a:solidFill>
            <a:srgbClr val="EEF4E9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481328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현장에서 체감하고 있는 것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68680" y="1965960"/>
            <a:ext cx="4892040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축사 내 암모니아성 냄새의 체감 감소</a:t>
            </a:r>
            <a:endParaRPr lang="en-US" sz="13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우상 표면이 건조하게 유지되어 우체 오염 감소</a:t>
            </a:r>
            <a:endParaRPr lang="en-US" sz="13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소의 눕는 시간(휴식 시간) 증가 — 육안 관찰</a:t>
            </a:r>
            <a:endParaRPr lang="en-US" sz="13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깔짚 교체 작업 빈도 감소로 노동 부담 완화</a:t>
            </a:r>
            <a:endParaRPr lang="en-US" sz="13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배출 깔짚이 이미 부숙이 진행된 상태로 나옴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868680" y="493776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정량 데이터 확보가 다음 과제입니다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190488" y="1298448"/>
            <a:ext cx="5440680" cy="4114800"/>
          </a:xfrm>
          <a:prstGeom prst="roundRect">
            <a:avLst>
              <a:gd name="adj" fmla="val 2222"/>
            </a:avLst>
          </a:prstGeom>
          <a:solidFill>
            <a:srgbClr val="F3F6F1"/>
          </a:solidFill>
          <a:ln w="12700">
            <a:solidFill>
              <a:srgbClr val="D8E0D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92240" y="1481328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실증으로 검증해야 할 것 (파일럿 목표)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492240" y="1965960"/>
            <a:ext cx="4892040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암모니아·황화수소 등 악취물질 농도 저감률 (정량 측정)</a:t>
            </a:r>
            <a:endParaRPr lang="en-US" sz="13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체세포수·유방염 발생률 변화 (검정 데이터 대조)</a:t>
            </a:r>
            <a:endParaRPr lang="en-US" sz="13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발굽질환·기립불능 발생 빈도 변화</a:t>
            </a:r>
            <a:endParaRPr lang="en-US" sz="13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배출 퇴비의 부숙도·비료성분 등급</a:t>
            </a:r>
            <a:endParaRPr lang="en-US" sz="13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깔짚·노동·분뇨처리 비용의 두당 경제성 분석</a:t>
            </a:r>
            <a:endParaRPr lang="en-US" sz="13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온실가스 배출 관점의 영향 평가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566928" y="5623560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13301F"/>
          </a:solidFill>
          <a:ln/>
        </p:spPr>
      </p:sp>
      <p:sp>
        <p:nvSpPr>
          <p:cNvPr id="12" name="Text 10"/>
          <p:cNvSpPr/>
          <p:nvPr/>
        </p:nvSpPr>
        <p:spPr>
          <a:xfrm>
            <a:off x="822960" y="5623560"/>
            <a:ext cx="10515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8DDA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저희가 원하는 것은 홍보가 아니라 공인된 측정입니다 — 이 오른쪽 칸이 시범사업 제안의 출발점입니다</a:t>
            </a:r>
            <a:endParaRPr lang="en-US" sz="14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 친환경 사양관리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쓰고 버리는 것이 아니라, 흙으로 되돌립니다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54480"/>
            <a:ext cx="2048256" cy="1417320"/>
          </a:xfrm>
          <a:prstGeom prst="roundRect">
            <a:avLst>
              <a:gd name="adj" fmla="val 6452"/>
            </a:avLst>
          </a:prstGeom>
          <a:solidFill>
            <a:srgbClr val="EEF4E9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76656" y="1719072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피트모스 깔짚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676656" y="2240280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축사 바닥에 투입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2670048" y="2148840"/>
            <a:ext cx="310896" cy="237744"/>
          </a:xfrm>
          <a:prstGeom prst="rightArrow">
            <a:avLst/>
          </a:prstGeom>
          <a:solidFill>
            <a:srgbClr val="97BC62"/>
          </a:solidFill>
          <a:ln/>
        </p:spPr>
      </p:sp>
      <p:sp>
        <p:nvSpPr>
          <p:cNvPr id="8" name="Shape 6"/>
          <p:cNvSpPr/>
          <p:nvPr/>
        </p:nvSpPr>
        <p:spPr>
          <a:xfrm>
            <a:off x="2825496" y="1554480"/>
            <a:ext cx="2048256" cy="1417320"/>
          </a:xfrm>
          <a:prstGeom prst="roundRect">
            <a:avLst>
              <a:gd name="adj" fmla="val 6452"/>
            </a:avLst>
          </a:prstGeom>
          <a:solidFill>
            <a:srgbClr val="EEF4E9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2935224" y="1719072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축사 내 발효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2935224" y="2240280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분뇨와 함께 1차 부숙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928616" y="2148840"/>
            <a:ext cx="310896" cy="237744"/>
          </a:xfrm>
          <a:prstGeom prst="rightArrow">
            <a:avLst/>
          </a:prstGeom>
          <a:solidFill>
            <a:srgbClr val="97BC62"/>
          </a:solidFill>
          <a:ln/>
        </p:spPr>
      </p:sp>
      <p:sp>
        <p:nvSpPr>
          <p:cNvPr id="12" name="Shape 10"/>
          <p:cNvSpPr/>
          <p:nvPr/>
        </p:nvSpPr>
        <p:spPr>
          <a:xfrm>
            <a:off x="5084064" y="1554480"/>
            <a:ext cx="2048256" cy="1417320"/>
          </a:xfrm>
          <a:prstGeom prst="roundRect">
            <a:avLst>
              <a:gd name="adj" fmla="val 6452"/>
            </a:avLst>
          </a:prstGeom>
          <a:solidFill>
            <a:srgbClr val="B87333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193792" y="1719072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Healing Compost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5193792" y="2240280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후숙·품질관리 후 제품화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7187184" y="2148840"/>
            <a:ext cx="310896" cy="237744"/>
          </a:xfrm>
          <a:prstGeom prst="rightArrow">
            <a:avLst/>
          </a:prstGeom>
          <a:solidFill>
            <a:srgbClr val="97BC62"/>
          </a:solidFill>
          <a:ln/>
        </p:spPr>
      </p:sp>
      <p:sp>
        <p:nvSpPr>
          <p:cNvPr id="16" name="Shape 14"/>
          <p:cNvSpPr/>
          <p:nvPr/>
        </p:nvSpPr>
        <p:spPr>
          <a:xfrm>
            <a:off x="7342632" y="1554480"/>
            <a:ext cx="2048256" cy="1417320"/>
          </a:xfrm>
          <a:prstGeom prst="roundRect">
            <a:avLst>
              <a:gd name="adj" fmla="val 6452"/>
            </a:avLst>
          </a:prstGeom>
          <a:solidFill>
            <a:srgbClr val="EEF4E9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7452360" y="1719072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초지·경종농가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7452360" y="2240280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토양 유기물 보충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9445752" y="2148840"/>
            <a:ext cx="310896" cy="237744"/>
          </a:xfrm>
          <a:prstGeom prst="rightArrow">
            <a:avLst/>
          </a:prstGeom>
          <a:solidFill>
            <a:srgbClr val="97BC62"/>
          </a:solidFill>
          <a:ln/>
        </p:spPr>
      </p:sp>
      <p:sp>
        <p:nvSpPr>
          <p:cNvPr id="20" name="Shape 18"/>
          <p:cNvSpPr/>
          <p:nvPr/>
        </p:nvSpPr>
        <p:spPr>
          <a:xfrm>
            <a:off x="9601200" y="1554480"/>
            <a:ext cx="2048256" cy="1417320"/>
          </a:xfrm>
          <a:prstGeom prst="roundRect">
            <a:avLst>
              <a:gd name="adj" fmla="val 6452"/>
            </a:avLst>
          </a:prstGeom>
          <a:solidFill>
            <a:srgbClr val="EEF4E9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9710928" y="1719072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조사료 생산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9710928" y="2240280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다시 소의 사료로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566928" y="3154680"/>
            <a:ext cx="11064240" cy="384048"/>
          </a:xfrm>
          <a:prstGeom prst="roundRect">
            <a:avLst>
              <a:gd name="adj" fmla="val 19048"/>
            </a:avLst>
          </a:prstGeom>
          <a:solidFill>
            <a:srgbClr val="C8DDA9"/>
          </a:solidFill>
          <a:ln/>
        </p:spPr>
      </p:sp>
      <p:sp>
        <p:nvSpPr>
          <p:cNvPr id="24" name="Text 22"/>
          <p:cNvSpPr/>
          <p:nvPr/>
        </p:nvSpPr>
        <p:spPr>
          <a:xfrm>
            <a:off x="566928" y="3154680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↺   순환 — 목장에서 나온 것이 목장으로 돌아옵니다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566928" y="3794760"/>
            <a:ext cx="2633472" cy="1737360"/>
          </a:xfrm>
          <a:prstGeom prst="roundRect">
            <a:avLst>
              <a:gd name="adj" fmla="val 5263"/>
            </a:avLst>
          </a:prstGeom>
          <a:solidFill>
            <a:srgbClr val="F3F6F1"/>
          </a:solidFill>
          <a:ln w="12700">
            <a:solidFill>
              <a:srgbClr val="E0E6D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13232" y="3977640"/>
            <a:ext cx="23408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비용 → 자원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713232" y="4462272"/>
            <a:ext cx="23408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분뇨 처리비 부담이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퇴비 판매 자원으로 전환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3401568" y="3794760"/>
            <a:ext cx="2633472" cy="1737360"/>
          </a:xfrm>
          <a:prstGeom prst="roundRect">
            <a:avLst>
              <a:gd name="adj" fmla="val 5263"/>
            </a:avLst>
          </a:prstGeom>
          <a:solidFill>
            <a:srgbClr val="F3F6F1"/>
          </a:solidFill>
          <a:ln w="12700">
            <a:solidFill>
              <a:srgbClr val="E0E6D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547872" y="3977640"/>
            <a:ext cx="23408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민원 → 신뢰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3547872" y="4462272"/>
            <a:ext cx="23408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악취 저감은 지역사회와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공존하기 위한 최소 조건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6236208" y="3794760"/>
            <a:ext cx="2633472" cy="1737360"/>
          </a:xfrm>
          <a:prstGeom prst="roundRect">
            <a:avLst>
              <a:gd name="adj" fmla="val 5263"/>
            </a:avLst>
          </a:prstGeom>
          <a:solidFill>
            <a:srgbClr val="F3F6F1"/>
          </a:solidFill>
          <a:ln w="12700">
            <a:solidFill>
              <a:srgbClr val="E0E6D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382512" y="3977640"/>
            <a:ext cx="23408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사료 → 자급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6382512" y="4462272"/>
            <a:ext cx="23408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초지 지력이 오르면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조사료 자급률이 오릅니다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9070848" y="3794760"/>
            <a:ext cx="2633472" cy="1737360"/>
          </a:xfrm>
          <a:prstGeom prst="roundRect">
            <a:avLst>
              <a:gd name="adj" fmla="val 5263"/>
            </a:avLst>
          </a:prstGeom>
          <a:solidFill>
            <a:srgbClr val="F3F6F1"/>
          </a:solidFill>
          <a:ln w="12700">
            <a:solidFill>
              <a:srgbClr val="E0E6D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217152" y="3977640"/>
            <a:ext cx="23408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탄소 → 지표</a:t>
            </a:r>
            <a:endParaRPr lang="en-US" sz="1500" dirty="0"/>
          </a:p>
        </p:txBody>
      </p:sp>
      <p:sp>
        <p:nvSpPr>
          <p:cNvPr id="36" name="Text 34"/>
          <p:cNvSpPr/>
          <p:nvPr/>
        </p:nvSpPr>
        <p:spPr>
          <a:xfrm>
            <a:off x="9217152" y="4462272"/>
            <a:ext cx="23408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유기물의 토양 환원은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탄소 관리의 출발점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566928" y="5742432"/>
            <a:ext cx="11064240" cy="566928"/>
          </a:xfrm>
          <a:prstGeom prst="roundRect">
            <a:avLst>
              <a:gd name="adj" fmla="val 16129"/>
            </a:avLst>
          </a:prstGeom>
          <a:solidFill>
            <a:srgbClr val="13301F"/>
          </a:solidFill>
          <a:ln/>
        </p:spPr>
      </p:sp>
      <p:sp>
        <p:nvSpPr>
          <p:cNvPr id="38" name="Text 36"/>
          <p:cNvSpPr/>
          <p:nvPr/>
        </p:nvSpPr>
        <p:spPr>
          <a:xfrm>
            <a:off x="822960" y="5742432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낙농의 환경 문제는 '처리'로 풀리지 않습니다 — '순환'으로 설계해야 풀립니다</a:t>
            </a:r>
            <a:endParaRPr lang="en-US" sz="14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 친환경 사양관리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사양관리가 곧 제품이 됩니다 — Hay Milk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25880"/>
            <a:ext cx="5532120" cy="2240280"/>
          </a:xfrm>
          <a:prstGeom prst="roundRect">
            <a:avLst>
              <a:gd name="adj" fmla="val 4082"/>
            </a:avLst>
          </a:prstGeom>
          <a:solidFill>
            <a:srgbClr val="EEF4E9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508760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Hay Milk 란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68680" y="1938528"/>
            <a:ext cx="49834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발효사료(사일리지) 의존을 낮추고 건초·생초 등 조사료 중심으로 사양한 젖소의 우유를 말합니다.</a:t>
            </a:r>
            <a:endParaRPr lang="en-US" sz="1300" dirty="0"/>
          </a:p>
          <a:p>
            <a:pPr algn="l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유럽에서는 전통 사양방식으로 별도 표시·인증 체계가 운영되고 있습니다.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281928" y="1325880"/>
            <a:ext cx="5349240" cy="2240280"/>
          </a:xfrm>
          <a:prstGeom prst="roundRect">
            <a:avLst>
              <a:gd name="adj" fmla="val 4082"/>
            </a:avLst>
          </a:prstGeom>
          <a:solidFill>
            <a:srgbClr val="C8DDA9"/>
          </a:solidFill>
          <a:ln/>
        </p:spPr>
      </p:sp>
      <p:sp>
        <p:nvSpPr>
          <p:cNvPr id="8" name="Text 6"/>
          <p:cNvSpPr/>
          <p:nvPr/>
        </p:nvSpPr>
        <p:spPr>
          <a:xfrm>
            <a:off x="6583680" y="1508760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저희에게 맞는가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583680" y="1920240"/>
            <a:ext cx="4800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저지 + 조사료 중심 = 진한 유성분과 잘 맞습니다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'무엇을 먹였는가'가 소비자에게 설명됩니다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초지·퇴비 순환과 이야기가 하나로 이어집니다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66928" y="3749040"/>
            <a:ext cx="11064240" cy="1600200"/>
          </a:xfrm>
          <a:prstGeom prst="roundRect">
            <a:avLst>
              <a:gd name="adj" fmla="val 5714"/>
            </a:avLst>
          </a:prstGeom>
          <a:solidFill>
            <a:srgbClr val="F3F6F1"/>
          </a:solidFill>
          <a:ln w="12700">
            <a:solidFill>
              <a:srgbClr val="D8E0D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68680" y="3931920"/>
            <a:ext cx="10424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표시 원칙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868680" y="4315968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국내에는 Hay Milk에 대한 별도 법정 인증 기준이 정립되어 있지 않습니다. 따라서 저희는 인증을 주장하지 않고,</a:t>
            </a:r>
            <a:endParaRPr lang="en-US" sz="125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'조사료 중심 사양'이라는 사양 방식 자체를 사실로 설명합니다. 급여 기록을 남겨 언제든 확인 가능하게 관리합니다.</a:t>
            </a:r>
            <a:endParaRPr lang="en-US" sz="125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오히려 이 지점이, 국가기관이 기준을 만들어 주면 산업 전체가 쓸 수 있는 영역이라고 생각합니다.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66928" y="5577840"/>
            <a:ext cx="11064240" cy="713232"/>
          </a:xfrm>
          <a:prstGeom prst="roundRect">
            <a:avLst>
              <a:gd name="adj" fmla="val 12821"/>
            </a:avLst>
          </a:prstGeom>
          <a:solidFill>
            <a:srgbClr val="13301F"/>
          </a:solidFill>
          <a:ln/>
        </p:spPr>
      </p:sp>
      <p:sp>
        <p:nvSpPr>
          <p:cNvPr id="14" name="Text 12"/>
          <p:cNvSpPr/>
          <p:nvPr/>
        </p:nvSpPr>
        <p:spPr>
          <a:xfrm>
            <a:off x="822960" y="5577840"/>
            <a:ext cx="10515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8DDA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제안 예고 — '조사료 중심 사양 우유'의 표시 기준 마련은 국가 연구기관이 해주실 수 있는 일입니다</a:t>
            </a:r>
            <a:endParaRPr lang="en-US" sz="14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330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0"/>
            <a:ext cx="1188720" cy="1188720"/>
          </a:xfrm>
          <a:prstGeom prst="ellipse">
            <a:avLst/>
          </a:prstGeom>
          <a:solidFill>
            <a:srgbClr val="B87333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01168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2103120" y="2103120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친환경 스마트 사양관리 ②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2103120" y="2926080"/>
            <a:ext cx="9418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20" kern="0" dirty="0">
                <a:solidFill>
                  <a:srgbClr val="97BC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PRECISION DAIRY — RUMEN SENSOR &amp; AI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 스마트 사양관리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사람은 하루 두 번 봅니다. 소는 24시간 변합니다.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298448"/>
            <a:ext cx="11064240" cy="960120"/>
          </a:xfrm>
          <a:prstGeom prst="roundRect">
            <a:avLst>
              <a:gd name="adj" fmla="val 9524"/>
            </a:avLst>
          </a:prstGeom>
          <a:solidFill>
            <a:srgbClr val="EEF4E9"/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298448"/>
            <a:ext cx="2834640" cy="960120"/>
          </a:xfrm>
          <a:prstGeom prst="roundRect">
            <a:avLst>
              <a:gd name="adj" fmla="val 9524"/>
            </a:avLst>
          </a:prstGeom>
          <a:solidFill>
            <a:srgbClr val="2C5F2D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298448"/>
            <a:ext cx="246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야간 발정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657600" y="1298448"/>
            <a:ext cx="7772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발정 징후의 상당 부분이 사람이 없는 시간대에 나타납니다.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놓치면 21일을 그대로 잃습니다.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66928" y="2414016"/>
            <a:ext cx="11064240" cy="960120"/>
          </a:xfrm>
          <a:prstGeom prst="roundRect">
            <a:avLst>
              <a:gd name="adj" fmla="val 9524"/>
            </a:avLst>
          </a:prstGeom>
          <a:solidFill>
            <a:srgbClr val="F3F6F1"/>
          </a:solidFill>
          <a:ln/>
        </p:spPr>
      </p:sp>
      <p:sp>
        <p:nvSpPr>
          <p:cNvPr id="9" name="Shape 7"/>
          <p:cNvSpPr/>
          <p:nvPr/>
        </p:nvSpPr>
        <p:spPr>
          <a:xfrm>
            <a:off x="566928" y="2414016"/>
            <a:ext cx="2834640" cy="960120"/>
          </a:xfrm>
          <a:prstGeom prst="roundRect">
            <a:avLst>
              <a:gd name="adj" fmla="val 9524"/>
            </a:avLst>
          </a:prstGeom>
          <a:solidFill>
            <a:srgbClr val="B87333"/>
          </a:solidFill>
          <a:ln/>
        </p:spPr>
      </p:sp>
      <p:sp>
        <p:nvSpPr>
          <p:cNvPr id="10" name="Text 8"/>
          <p:cNvSpPr/>
          <p:nvPr/>
        </p:nvSpPr>
        <p:spPr>
          <a:xfrm>
            <a:off x="777240" y="2414016"/>
            <a:ext cx="246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잠복 대사질병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3657600" y="2414016"/>
            <a:ext cx="7772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케토시스·산독증은 눈에 보일 때는 이미 진행된 뒤입니다.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음수·활동량·체온 변화가 먼저 옵니다.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66928" y="3529584"/>
            <a:ext cx="11064240" cy="960120"/>
          </a:xfrm>
          <a:prstGeom prst="roundRect">
            <a:avLst>
              <a:gd name="adj" fmla="val 9524"/>
            </a:avLst>
          </a:prstGeom>
          <a:solidFill>
            <a:srgbClr val="EEF4E9"/>
          </a:solidFill>
          <a:ln/>
        </p:spPr>
      </p:sp>
      <p:sp>
        <p:nvSpPr>
          <p:cNvPr id="13" name="Shape 11"/>
          <p:cNvSpPr/>
          <p:nvPr/>
        </p:nvSpPr>
        <p:spPr>
          <a:xfrm>
            <a:off x="566928" y="3529584"/>
            <a:ext cx="2834640" cy="960120"/>
          </a:xfrm>
          <a:prstGeom prst="roundRect">
            <a:avLst>
              <a:gd name="adj" fmla="val 9524"/>
            </a:avLst>
          </a:prstGeom>
          <a:solidFill>
            <a:srgbClr val="2C5F2D"/>
          </a:solidFill>
          <a:ln/>
        </p:spPr>
      </p:sp>
      <p:sp>
        <p:nvSpPr>
          <p:cNvPr id="14" name="Text 12"/>
          <p:cNvSpPr/>
          <p:nvPr/>
        </p:nvSpPr>
        <p:spPr>
          <a:xfrm>
            <a:off x="777240" y="3529584"/>
            <a:ext cx="246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분만 시점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657600" y="3529584"/>
            <a:ext cx="7772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분만 예정일과 실제 분만은 다릅니다.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입회 여부가 송아지 생사를 가르는 경우가 있습니다.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66928" y="4645152"/>
            <a:ext cx="11064240" cy="960120"/>
          </a:xfrm>
          <a:prstGeom prst="roundRect">
            <a:avLst>
              <a:gd name="adj" fmla="val 9524"/>
            </a:avLst>
          </a:prstGeom>
          <a:solidFill>
            <a:srgbClr val="F3F6F1"/>
          </a:solidFill>
          <a:ln/>
        </p:spPr>
      </p:sp>
      <p:sp>
        <p:nvSpPr>
          <p:cNvPr id="17" name="Shape 15"/>
          <p:cNvSpPr/>
          <p:nvPr/>
        </p:nvSpPr>
        <p:spPr>
          <a:xfrm>
            <a:off x="566928" y="4645152"/>
            <a:ext cx="2834640" cy="960120"/>
          </a:xfrm>
          <a:prstGeom prst="roundRect">
            <a:avLst>
              <a:gd name="adj" fmla="val 9524"/>
            </a:avLst>
          </a:prstGeom>
          <a:solidFill>
            <a:srgbClr val="B87333"/>
          </a:solidFill>
          <a:ln/>
        </p:spPr>
      </p:sp>
      <p:sp>
        <p:nvSpPr>
          <p:cNvPr id="18" name="Text 16"/>
          <p:cNvSpPr/>
          <p:nvPr/>
        </p:nvSpPr>
        <p:spPr>
          <a:xfrm>
            <a:off x="777240" y="4645152"/>
            <a:ext cx="246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개체 단위 관찰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3657600" y="4645152"/>
            <a:ext cx="7772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두수가 늘수록 '전체 평균'만 보이고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마리의 이상은 묻힙니다.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66928" y="5742432"/>
            <a:ext cx="11064240" cy="621792"/>
          </a:xfrm>
          <a:prstGeom prst="roundRect">
            <a:avLst>
              <a:gd name="adj" fmla="val 14706"/>
            </a:avLst>
          </a:prstGeom>
          <a:solidFill>
            <a:srgbClr val="13301F"/>
          </a:solidFill>
          <a:ln/>
        </p:spPr>
      </p:sp>
      <p:sp>
        <p:nvSpPr>
          <p:cNvPr id="21" name="Text 19"/>
          <p:cNvSpPr/>
          <p:nvPr/>
        </p:nvSpPr>
        <p:spPr>
          <a:xfrm>
            <a:off x="822960" y="5742432"/>
            <a:ext cx="10515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센서는 사람을 대체하는 것이 아니라, 사람이 봐야 할 소를 골라주는 장치입니다</a:t>
            </a:r>
            <a:endParaRPr lang="en-US" sz="15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 스마트 사양관리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위내센서(볼러스) — 소의 몸 안에서 직접 측정합니다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14300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캡슐형 센서를 경구 투여하면 제2위(벌집위)에 자리 잡아 사육 기간 동안 지속적으로 생체 신호를 측정하고,</a:t>
            </a:r>
            <a:endParaRPr lang="en-US" sz="1350" dirty="0"/>
          </a:p>
          <a:p>
            <a:pPr algn="l"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무선으로 데이터를 전송합니다. 목걸이·발목 센서와 달리 체내 지표를 직접 잡는다는 점이 다릅니다.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66928" y="2011680"/>
            <a:ext cx="2633472" cy="1737360"/>
          </a:xfrm>
          <a:prstGeom prst="roundRect">
            <a:avLst>
              <a:gd name="adj" fmla="val 5263"/>
            </a:avLst>
          </a:prstGeom>
          <a:solidFill>
            <a:srgbClr val="EEF4E9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31520" y="2194560"/>
            <a:ext cx="23042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반추위 온도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31520" y="2670048"/>
            <a:ext cx="23042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체온 변화 → 발열·염증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분만 전 체온 하강 감지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01568" y="2011680"/>
            <a:ext cx="2633472" cy="1737360"/>
          </a:xfrm>
          <a:prstGeom prst="roundRect">
            <a:avLst>
              <a:gd name="adj" fmla="val 5263"/>
            </a:avLst>
          </a:prstGeom>
          <a:solidFill>
            <a:srgbClr val="EEF4E9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566160" y="2194560"/>
            <a:ext cx="23042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음수 행동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3566160" y="2670048"/>
            <a:ext cx="23042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음수 횟수·음수량 급감은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질병의 조기 신호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36208" y="2011680"/>
            <a:ext cx="2633472" cy="1737360"/>
          </a:xfrm>
          <a:prstGeom prst="roundRect">
            <a:avLst>
              <a:gd name="adj" fmla="val 5263"/>
            </a:avLst>
          </a:prstGeom>
          <a:solidFill>
            <a:srgbClr val="EEF4E9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00800" y="2194560"/>
            <a:ext cx="23042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활동량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400800" y="2670048"/>
            <a:ext cx="23042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활동량 급증 → 발정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급감 → 통증·질병 의심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070848" y="2011680"/>
            <a:ext cx="2633472" cy="1737360"/>
          </a:xfrm>
          <a:prstGeom prst="roundRect">
            <a:avLst>
              <a:gd name="adj" fmla="val 5263"/>
            </a:avLst>
          </a:prstGeom>
          <a:solidFill>
            <a:srgbClr val="EEF4E9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35440" y="2194560"/>
            <a:ext cx="23042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반추위 pH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9235440" y="2670048"/>
            <a:ext cx="23042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산독증(SARA) 위험 판단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사료 급여 설계 검증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66928" y="3977640"/>
            <a:ext cx="11064240" cy="1600200"/>
          </a:xfrm>
          <a:prstGeom prst="roundRect">
            <a:avLst>
              <a:gd name="adj" fmla="val 5714"/>
            </a:avLst>
          </a:prstGeom>
          <a:solidFill>
            <a:srgbClr val="F3F6F1"/>
          </a:solidFill>
          <a:ln w="12700">
            <a:solidFill>
              <a:srgbClr val="D8E0D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68680" y="4160520"/>
            <a:ext cx="10424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 도입 시 유의점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868680" y="4553712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센서는 '진단'이 아니라 '위험 신호'를 줍니다. 최종 판단은 수의사와 관리자의 몫입니다.</a:t>
            </a:r>
            <a:endParaRPr lang="en-US" sz="1250" dirty="0"/>
          </a:p>
          <a:p>
            <a:pPr algn="l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알림이 너무 많으면 농가는 곧 무시하게 됩니다 — 알림 설계가 센서 성능만큼 중요합니다.</a:t>
            </a:r>
            <a:endParaRPr lang="en-US" sz="1250" dirty="0"/>
          </a:p>
          <a:p>
            <a:pPr algn="l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통신 환경(축사 내 게이트웨이·전원)이 확보되지 않으면 데이터가 끊깁니다. 설치 전 사전 점검이 필요합니다.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566928" y="5779008"/>
            <a:ext cx="11064240" cy="548640"/>
          </a:xfrm>
          <a:prstGeom prst="roundRect">
            <a:avLst>
              <a:gd name="adj" fmla="val 16667"/>
            </a:avLst>
          </a:prstGeom>
          <a:solidFill>
            <a:srgbClr val="13301F"/>
          </a:solidFill>
          <a:ln/>
        </p:spPr>
      </p:sp>
      <p:sp>
        <p:nvSpPr>
          <p:cNvPr id="21" name="Text 19"/>
          <p:cNvSpPr/>
          <p:nvPr/>
        </p:nvSpPr>
        <p:spPr>
          <a:xfrm>
            <a:off x="822960" y="5779008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DDA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측정은 기술이지만, 알림을 몇 개로 줄이느냐는 운영의 문제입니다</a:t>
            </a:r>
            <a:endParaRPr lang="en-US" sz="14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 스마트 사양관리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CowTalk AI — 데이터가 '할 일'로 바뀌는 구간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417320"/>
            <a:ext cx="2048256" cy="1783080"/>
          </a:xfrm>
          <a:prstGeom prst="roundRect">
            <a:avLst>
              <a:gd name="adj" fmla="val 5128"/>
            </a:avLst>
          </a:prstGeom>
          <a:solidFill>
            <a:srgbClr val="97BC62"/>
          </a:solidFill>
          <a:ln/>
        </p:spPr>
      </p:sp>
      <p:sp>
        <p:nvSpPr>
          <p:cNvPr id="5" name="Text 3"/>
          <p:cNvSpPr/>
          <p:nvPr/>
        </p:nvSpPr>
        <p:spPr>
          <a:xfrm>
            <a:off x="658368" y="1572768"/>
            <a:ext cx="186537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수집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676656" y="2057400"/>
            <a:ext cx="1828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위내센서</a:t>
            </a:r>
            <a:endParaRPr lang="en-US" sz="11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온도·음수·활동량·pH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2670048" y="2194560"/>
            <a:ext cx="310896" cy="237744"/>
          </a:xfrm>
          <a:prstGeom prst="rightArrow">
            <a:avLst/>
          </a:prstGeom>
          <a:solidFill>
            <a:srgbClr val="97BC62"/>
          </a:solidFill>
          <a:ln/>
        </p:spPr>
      </p:sp>
      <p:sp>
        <p:nvSpPr>
          <p:cNvPr id="8" name="Shape 6"/>
          <p:cNvSpPr/>
          <p:nvPr/>
        </p:nvSpPr>
        <p:spPr>
          <a:xfrm>
            <a:off x="2825496" y="1417320"/>
            <a:ext cx="2048256" cy="1783080"/>
          </a:xfrm>
          <a:prstGeom prst="roundRect">
            <a:avLst>
              <a:gd name="adj" fmla="val 5128"/>
            </a:avLst>
          </a:prstGeom>
          <a:solidFill>
            <a:srgbClr val="2C5F2D"/>
          </a:solidFill>
          <a:ln/>
        </p:spPr>
      </p:sp>
      <p:sp>
        <p:nvSpPr>
          <p:cNvPr id="9" name="Text 7"/>
          <p:cNvSpPr/>
          <p:nvPr/>
        </p:nvSpPr>
        <p:spPr>
          <a:xfrm>
            <a:off x="2916936" y="1572768"/>
            <a:ext cx="186537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해석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2935224" y="2057400"/>
            <a:ext cx="1828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개체별 기준선 대비</a:t>
            </a:r>
            <a:endParaRPr lang="en-US" sz="11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이상 패턴 탐지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928616" y="2194560"/>
            <a:ext cx="310896" cy="237744"/>
          </a:xfrm>
          <a:prstGeom prst="rightArrow">
            <a:avLst/>
          </a:prstGeom>
          <a:solidFill>
            <a:srgbClr val="97BC62"/>
          </a:solidFill>
          <a:ln/>
        </p:spPr>
      </p:sp>
      <p:sp>
        <p:nvSpPr>
          <p:cNvPr id="12" name="Shape 10"/>
          <p:cNvSpPr/>
          <p:nvPr/>
        </p:nvSpPr>
        <p:spPr>
          <a:xfrm>
            <a:off x="5084064" y="1417320"/>
            <a:ext cx="2048256" cy="1783080"/>
          </a:xfrm>
          <a:prstGeom prst="roundRect">
            <a:avLst>
              <a:gd name="adj" fmla="val 5128"/>
            </a:avLst>
          </a:prstGeom>
          <a:solidFill>
            <a:srgbClr val="1E4420"/>
          </a:solidFill>
          <a:ln/>
        </p:spPr>
      </p:sp>
      <p:sp>
        <p:nvSpPr>
          <p:cNvPr id="13" name="Text 11"/>
          <p:cNvSpPr/>
          <p:nvPr/>
        </p:nvSpPr>
        <p:spPr>
          <a:xfrm>
            <a:off x="5175504" y="1572768"/>
            <a:ext cx="186537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판단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5193792" y="2057400"/>
            <a:ext cx="1828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발정 / 분만 임박 /</a:t>
            </a:r>
            <a:endParaRPr lang="en-US" sz="11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질병 위험도 산출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7187184" y="2194560"/>
            <a:ext cx="310896" cy="237744"/>
          </a:xfrm>
          <a:prstGeom prst="rightArrow">
            <a:avLst/>
          </a:prstGeom>
          <a:solidFill>
            <a:srgbClr val="97BC62"/>
          </a:solidFill>
          <a:ln/>
        </p:spPr>
      </p:sp>
      <p:sp>
        <p:nvSpPr>
          <p:cNvPr id="16" name="Shape 14"/>
          <p:cNvSpPr/>
          <p:nvPr/>
        </p:nvSpPr>
        <p:spPr>
          <a:xfrm>
            <a:off x="7342632" y="1417320"/>
            <a:ext cx="2048256" cy="1783080"/>
          </a:xfrm>
          <a:prstGeom prst="roundRect">
            <a:avLst>
              <a:gd name="adj" fmla="val 5128"/>
            </a:avLst>
          </a:prstGeom>
          <a:solidFill>
            <a:srgbClr val="B87333"/>
          </a:solidFill>
          <a:ln/>
        </p:spPr>
      </p:sp>
      <p:sp>
        <p:nvSpPr>
          <p:cNvPr id="17" name="Text 15"/>
          <p:cNvSpPr/>
          <p:nvPr/>
        </p:nvSpPr>
        <p:spPr>
          <a:xfrm>
            <a:off x="7434072" y="1572768"/>
            <a:ext cx="186537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 알림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7452360" y="2057400"/>
            <a:ext cx="1828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관리자·수의사에게</a:t>
            </a:r>
            <a:endParaRPr lang="en-US" sz="11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우선순위로 전달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9445752" y="2194560"/>
            <a:ext cx="310896" cy="237744"/>
          </a:xfrm>
          <a:prstGeom prst="rightArrow">
            <a:avLst/>
          </a:prstGeom>
          <a:solidFill>
            <a:srgbClr val="97BC62"/>
          </a:solidFill>
          <a:ln/>
        </p:spPr>
      </p:sp>
      <p:sp>
        <p:nvSpPr>
          <p:cNvPr id="20" name="Shape 18"/>
          <p:cNvSpPr/>
          <p:nvPr/>
        </p:nvSpPr>
        <p:spPr>
          <a:xfrm>
            <a:off x="9601200" y="1417320"/>
            <a:ext cx="2048256" cy="1783080"/>
          </a:xfrm>
          <a:prstGeom prst="roundRect">
            <a:avLst>
              <a:gd name="adj" fmla="val 5128"/>
            </a:avLst>
          </a:prstGeom>
          <a:solidFill>
            <a:srgbClr val="8A5A22"/>
          </a:solidFill>
          <a:ln/>
        </p:spPr>
      </p:sp>
      <p:sp>
        <p:nvSpPr>
          <p:cNvPr id="21" name="Text 19"/>
          <p:cNvSpPr/>
          <p:nvPr/>
        </p:nvSpPr>
        <p:spPr>
          <a:xfrm>
            <a:off x="9692640" y="1572768"/>
            <a:ext cx="186537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⑤ 조치·기록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9710928" y="2057400"/>
            <a:ext cx="1828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수정·진료·처치 결과를</a:t>
            </a:r>
            <a:endParaRPr lang="en-US" sz="11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다시 입력 → 정확도 개선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566928" y="3364992"/>
            <a:ext cx="11064240" cy="384048"/>
          </a:xfrm>
          <a:prstGeom prst="roundRect">
            <a:avLst>
              <a:gd name="adj" fmla="val 19048"/>
            </a:avLst>
          </a:prstGeom>
          <a:solidFill>
            <a:srgbClr val="C8DDA9"/>
          </a:solidFill>
          <a:ln/>
        </p:spPr>
      </p:sp>
      <p:sp>
        <p:nvSpPr>
          <p:cNvPr id="24" name="Text 22"/>
          <p:cNvSpPr/>
          <p:nvPr/>
        </p:nvSpPr>
        <p:spPr>
          <a:xfrm>
            <a:off x="566928" y="3364992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↺   조치 결과가 다시 학습 데이터가 됩니다 — 쓸수록 그 목장에 맞아 갑니다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566928" y="4005072"/>
            <a:ext cx="5440680" cy="2057400"/>
          </a:xfrm>
          <a:prstGeom prst="roundRect">
            <a:avLst>
              <a:gd name="adj" fmla="val 4444"/>
            </a:avLst>
          </a:prstGeom>
          <a:solidFill>
            <a:srgbClr val="EEF4E9"/>
          </a:solidFill>
          <a:ln/>
        </p:spPr>
      </p:sp>
      <p:sp>
        <p:nvSpPr>
          <p:cNvPr id="26" name="Text 24"/>
          <p:cNvSpPr/>
          <p:nvPr/>
        </p:nvSpPr>
        <p:spPr>
          <a:xfrm>
            <a:off x="868680" y="4187952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농가가 받는 화면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868680" y="4590288"/>
            <a:ext cx="4892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봐야 할 소 목록 (우선순위)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수정 적기 알림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분만 임박 알림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개체별 이력 카드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6190488" y="4005072"/>
            <a:ext cx="5440680" cy="2057400"/>
          </a:xfrm>
          <a:prstGeom prst="roundRect">
            <a:avLst>
              <a:gd name="adj" fmla="val 4444"/>
            </a:avLst>
          </a:prstGeom>
          <a:solidFill>
            <a:srgbClr val="F3F6F1"/>
          </a:solidFill>
          <a:ln w="12700">
            <a:solidFill>
              <a:srgbClr val="E0E6D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92240" y="4187952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수의사·지도사가 받는 화면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6492240" y="4590288"/>
            <a:ext cx="4892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담당 농가 전체의 이상 개체 현황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번식 성적·공태일수 추이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질병 발생 패턴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방문 우선순위 자동 정렬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566928" y="63276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임상 결과는 확진이 아니라 위험도·확률로 제공됩니다.</a:t>
            </a:r>
            <a:endParaRPr lang="en-US" sz="1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 스마트 사양관리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현장에서 실제로 쓰는 네 가지 장면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298448"/>
            <a:ext cx="5468112" cy="2212848"/>
          </a:xfrm>
          <a:prstGeom prst="roundRect">
            <a:avLst>
              <a:gd name="adj" fmla="val 4132"/>
            </a:avLst>
          </a:prstGeom>
          <a:solidFill>
            <a:srgbClr val="F3F6F1"/>
          </a:solidFill>
          <a:ln w="12700">
            <a:solidFill>
              <a:srgbClr val="E0E6D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6" name="Text 4"/>
          <p:cNvSpPr/>
          <p:nvPr/>
        </p:nvSpPr>
        <p:spPr>
          <a:xfrm>
            <a:off x="804672" y="15361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371600" y="1499616"/>
            <a:ext cx="4480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발정 탐지 — 특히 미약발정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41248" y="2139696"/>
            <a:ext cx="493776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활동량 패턴 변화로 야간·미약 발정을 잡아냅니다.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수정 적기 알림 → 공태일수 단축 → 산차 간격 개선으로 이어지는 것을 기대합니다.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309360" y="1298448"/>
            <a:ext cx="5468112" cy="2212848"/>
          </a:xfrm>
          <a:prstGeom prst="roundRect">
            <a:avLst>
              <a:gd name="adj" fmla="val 4132"/>
            </a:avLst>
          </a:prstGeom>
          <a:solidFill>
            <a:srgbClr val="F3F6F1"/>
          </a:solidFill>
          <a:ln w="12700">
            <a:solidFill>
              <a:srgbClr val="E0E6D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47104" y="1536192"/>
            <a:ext cx="457200" cy="457200"/>
          </a:xfrm>
          <a:prstGeom prst="ellipse">
            <a:avLst/>
          </a:prstGeom>
          <a:solidFill>
            <a:srgbClr val="B87333"/>
          </a:solidFill>
          <a:ln/>
        </p:spPr>
      </p:sp>
      <p:sp>
        <p:nvSpPr>
          <p:cNvPr id="11" name="Text 9"/>
          <p:cNvSpPr/>
          <p:nvPr/>
        </p:nvSpPr>
        <p:spPr>
          <a:xfrm>
            <a:off x="6547104" y="15361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7114032" y="1499616"/>
            <a:ext cx="4480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분만 임박 감지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583680" y="2139696"/>
            <a:ext cx="493776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분만 전 체온 하강과 행동 변화를 신호로 활용합니다.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입회 분만이 가능해지면 난산 대응과 초유 급여 타이밍이 좋아집니다. 저지 송아지에게 특히 중요합니다.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66928" y="3694176"/>
            <a:ext cx="5468112" cy="2212848"/>
          </a:xfrm>
          <a:prstGeom prst="roundRect">
            <a:avLst>
              <a:gd name="adj" fmla="val 4132"/>
            </a:avLst>
          </a:prstGeom>
          <a:solidFill>
            <a:srgbClr val="F3F6F1"/>
          </a:solidFill>
          <a:ln w="12700">
            <a:solidFill>
              <a:srgbClr val="E0E6D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04672" y="3931920"/>
            <a:ext cx="457200" cy="457200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16" name="Text 14"/>
          <p:cNvSpPr/>
          <p:nvPr/>
        </p:nvSpPr>
        <p:spPr>
          <a:xfrm>
            <a:off x="804672" y="3931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371600" y="3895344"/>
            <a:ext cx="4480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질병 조기 신호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841248" y="4535424"/>
            <a:ext cx="493776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음수 급감·체온 상승·활동량 저하의 조합을 위험 신호로 봅니다.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증상이 보이기 전에 확인하러 가는 것 — 이것이 가장 큰 변화입니다.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309360" y="3694176"/>
            <a:ext cx="5468112" cy="2212848"/>
          </a:xfrm>
          <a:prstGeom prst="roundRect">
            <a:avLst>
              <a:gd name="adj" fmla="val 4132"/>
            </a:avLst>
          </a:prstGeom>
          <a:solidFill>
            <a:srgbClr val="F3F6F1"/>
          </a:solidFill>
          <a:ln w="12700">
            <a:solidFill>
              <a:srgbClr val="E0E6D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547104" y="3931920"/>
            <a:ext cx="457200" cy="457200"/>
          </a:xfrm>
          <a:prstGeom prst="ellipse">
            <a:avLst/>
          </a:prstGeom>
          <a:solidFill>
            <a:srgbClr val="B87333"/>
          </a:solidFill>
          <a:ln/>
        </p:spPr>
      </p:sp>
      <p:sp>
        <p:nvSpPr>
          <p:cNvPr id="21" name="Text 19"/>
          <p:cNvSpPr/>
          <p:nvPr/>
        </p:nvSpPr>
        <p:spPr>
          <a:xfrm>
            <a:off x="6547104" y="3931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7114032" y="3895344"/>
            <a:ext cx="4480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사료·급여 설계 검증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583680" y="4535424"/>
            <a:ext cx="493776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반추위 지표로 사료 변경의 영향을 확인합니다.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'바꿨더니 좋아진 것 같다'가 아니라 데이터로 확인하고 되돌릴 수 있습니다.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566928" y="63276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효과는 목장 여건에 따라 달라지며, 정량 성과는 실증을 통해 확인되어야 합니다.</a:t>
            </a:r>
            <a:endParaRPr lang="en-US" sz="1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 스마트 사양관리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농가가 가장 먼저 묻는 것 — '얼마입니까'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25880"/>
            <a:ext cx="3547872" cy="1783080"/>
          </a:xfrm>
          <a:prstGeom prst="roundRect">
            <a:avLst>
              <a:gd name="adj" fmla="val 5128"/>
            </a:avLst>
          </a:prstGeom>
          <a:solidFill>
            <a:srgbClr val="EEF4E9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490472"/>
            <a:ext cx="35478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500만원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658368" y="2167128"/>
            <a:ext cx="3364992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목장당 설치비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(게이트웨이 등 기반 설비 포함)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315968" y="1325880"/>
            <a:ext cx="3547872" cy="1783080"/>
          </a:xfrm>
          <a:prstGeom prst="roundRect">
            <a:avLst>
              <a:gd name="adj" fmla="val 5128"/>
            </a:avLst>
          </a:prstGeom>
          <a:solidFill>
            <a:srgbClr val="EEF4E9"/>
          </a:solidFill>
          <a:ln/>
        </p:spPr>
      </p:sp>
      <p:sp>
        <p:nvSpPr>
          <p:cNvPr id="8" name="Text 6"/>
          <p:cNvSpPr/>
          <p:nvPr/>
        </p:nvSpPr>
        <p:spPr>
          <a:xfrm>
            <a:off x="4315968" y="1490472"/>
            <a:ext cx="35478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 12,000원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4407408" y="2167128"/>
            <a:ext cx="3364992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두당 월 관리·구독료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065008" y="1325880"/>
            <a:ext cx="3547872" cy="1783080"/>
          </a:xfrm>
          <a:prstGeom prst="roundRect">
            <a:avLst>
              <a:gd name="adj" fmla="val 5128"/>
            </a:avLst>
          </a:prstGeom>
          <a:solidFill>
            <a:srgbClr val="EEF4E9"/>
          </a:solidFill>
          <a:ln/>
        </p:spPr>
      </p:sp>
      <p:sp>
        <p:nvSpPr>
          <p:cNvPr id="11" name="Text 9"/>
          <p:cNvSpPr/>
          <p:nvPr/>
        </p:nvSpPr>
        <p:spPr>
          <a:xfrm>
            <a:off x="8065008" y="1490472"/>
            <a:ext cx="35478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4년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8156448" y="2167128"/>
            <a:ext cx="3364992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센서 유지 기간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기간 내 고장 시 무상 교체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66928" y="3337560"/>
            <a:ext cx="5440680" cy="2331720"/>
          </a:xfrm>
          <a:prstGeom prst="roundRect">
            <a:avLst>
              <a:gd name="adj" fmla="val 3922"/>
            </a:avLst>
          </a:prstGeom>
          <a:solidFill>
            <a:srgbClr val="F3F6F1"/>
          </a:solidFill>
          <a:ln w="12700">
            <a:solidFill>
              <a:srgbClr val="E0E6D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68680" y="3520440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농가 판단 기준으로 바꾸면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68680" y="3931920"/>
            <a:ext cx="48920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공태일수 단축 → 1일 단축당 손실 회피액으로 환산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폐사·도태 1두 회피 시 회수되는 금액과 비교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치료비 절감보다 '조기 발견으로 인한 회복 속도'가 큽니다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노동시간 절감(관찰·발정 확인)도 비용입니다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190488" y="3337560"/>
            <a:ext cx="5440680" cy="2331720"/>
          </a:xfrm>
          <a:prstGeom prst="roundRect">
            <a:avLst>
              <a:gd name="adj" fmla="val 3922"/>
            </a:avLst>
          </a:prstGeom>
          <a:solidFill>
            <a:srgbClr val="C8DDA9"/>
          </a:solidFill>
          <a:ln/>
        </p:spPr>
      </p:sp>
      <p:sp>
        <p:nvSpPr>
          <p:cNvPr id="17" name="Text 15"/>
          <p:cNvSpPr/>
          <p:nvPr/>
        </p:nvSpPr>
        <p:spPr>
          <a:xfrm>
            <a:off x="6492240" y="3520440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보급 관점의 병목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492240" y="3931920"/>
            <a:ext cx="48920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초기 설치비가 소규모 농가에는 진입장벽입니다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효과가 6개월~1년 뒤에 나타나 체감이 늦습니다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데이터를 읽어줄 사람(수의사·지도사)이 옆에 있어야 정착합니다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지원사업 + 판독 지원이 함께 가야 성공률이 올라갑니다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566928" y="63276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국내 독점 공급 및 데이터 연동(API) 체계를 보유하고 있어, 지역 단위 일괄 도입·운영 지원이 가능합니다.</a:t>
            </a:r>
            <a:endParaRPr lang="en-US" sz="1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330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97BC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 스마트 사양관리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데이터가 목장 밖으로 나가면, 행정의 도구가 됩니다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C8DDA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개별 농가의 센서 데이터는 목장 관리용입니다. 그러나 이것이 지역 단위로 모이면 성격이 달라집니다.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66928" y="1627632"/>
            <a:ext cx="2633472" cy="1691640"/>
          </a:xfrm>
          <a:prstGeom prst="roundRect">
            <a:avLst>
              <a:gd name="adj" fmla="val 5405"/>
            </a:avLst>
          </a:prstGeom>
          <a:solidFill>
            <a:srgbClr val="1C4028"/>
          </a:solidFill>
          <a:ln/>
        </p:spPr>
      </p:sp>
      <p:sp>
        <p:nvSpPr>
          <p:cNvPr id="6" name="Text 4"/>
          <p:cNvSpPr/>
          <p:nvPr/>
        </p:nvSpPr>
        <p:spPr>
          <a:xfrm>
            <a:off x="713232" y="1783080"/>
            <a:ext cx="23408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농가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13232" y="2267712"/>
            <a:ext cx="234086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개체 관리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번식·질병·분만 알림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255264" y="2377440"/>
            <a:ext cx="310896" cy="237744"/>
          </a:xfrm>
          <a:prstGeom prst="rightArrow">
            <a:avLst/>
          </a:prstGeom>
          <a:solidFill>
            <a:srgbClr val="97BC62"/>
          </a:solidFill>
          <a:ln/>
        </p:spPr>
      </p:sp>
      <p:sp>
        <p:nvSpPr>
          <p:cNvPr id="9" name="Shape 7"/>
          <p:cNvSpPr/>
          <p:nvPr/>
        </p:nvSpPr>
        <p:spPr>
          <a:xfrm>
            <a:off x="3401568" y="1627632"/>
            <a:ext cx="2633472" cy="1691640"/>
          </a:xfrm>
          <a:prstGeom prst="roundRect">
            <a:avLst>
              <a:gd name="adj" fmla="val 5405"/>
            </a:avLst>
          </a:prstGeom>
          <a:solidFill>
            <a:srgbClr val="2C5F2D"/>
          </a:solidFill>
          <a:ln/>
        </p:spPr>
      </p:sp>
      <p:sp>
        <p:nvSpPr>
          <p:cNvPr id="10" name="Text 8"/>
          <p:cNvSpPr/>
          <p:nvPr/>
        </p:nvSpPr>
        <p:spPr>
          <a:xfrm>
            <a:off x="3547872" y="1783080"/>
            <a:ext cx="23408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수의사 · 지도기관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3547872" y="2267712"/>
            <a:ext cx="234086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담당 농가 전체 현황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방문 우선순위 판단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089904" y="2377440"/>
            <a:ext cx="310896" cy="237744"/>
          </a:xfrm>
          <a:prstGeom prst="rightArrow">
            <a:avLst/>
          </a:prstGeom>
          <a:solidFill>
            <a:srgbClr val="97BC62"/>
          </a:solidFill>
          <a:ln/>
        </p:spPr>
      </p:sp>
      <p:sp>
        <p:nvSpPr>
          <p:cNvPr id="13" name="Shape 11"/>
          <p:cNvSpPr/>
          <p:nvPr/>
        </p:nvSpPr>
        <p:spPr>
          <a:xfrm>
            <a:off x="6236208" y="1627632"/>
            <a:ext cx="2633472" cy="1691640"/>
          </a:xfrm>
          <a:prstGeom prst="roundRect">
            <a:avLst>
              <a:gd name="adj" fmla="val 5405"/>
            </a:avLst>
          </a:prstGeom>
          <a:solidFill>
            <a:srgbClr val="B87333"/>
          </a:solidFill>
          <a:ln/>
        </p:spPr>
      </p:sp>
      <p:sp>
        <p:nvSpPr>
          <p:cNvPr id="14" name="Text 12"/>
          <p:cNvSpPr/>
          <p:nvPr/>
        </p:nvSpPr>
        <p:spPr>
          <a:xfrm>
            <a:off x="6382512" y="1783080"/>
            <a:ext cx="23408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시·군 / 도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382512" y="2267712"/>
            <a:ext cx="234086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사육·번식·질병 통계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방역 의사결정 지원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924544" y="2377440"/>
            <a:ext cx="310896" cy="237744"/>
          </a:xfrm>
          <a:prstGeom prst="rightArrow">
            <a:avLst/>
          </a:prstGeom>
          <a:solidFill>
            <a:srgbClr val="97BC62"/>
          </a:solidFill>
          <a:ln/>
        </p:spPr>
      </p:sp>
      <p:sp>
        <p:nvSpPr>
          <p:cNvPr id="17" name="Shape 15"/>
          <p:cNvSpPr/>
          <p:nvPr/>
        </p:nvSpPr>
        <p:spPr>
          <a:xfrm>
            <a:off x="9070848" y="1627632"/>
            <a:ext cx="2633472" cy="1691640"/>
          </a:xfrm>
          <a:prstGeom prst="roundRect">
            <a:avLst>
              <a:gd name="adj" fmla="val 5405"/>
            </a:avLst>
          </a:prstGeom>
          <a:solidFill>
            <a:srgbClr val="8A5A22"/>
          </a:solidFill>
          <a:ln/>
        </p:spPr>
      </p:sp>
      <p:sp>
        <p:nvSpPr>
          <p:cNvPr id="18" name="Text 16"/>
          <p:cNvSpPr/>
          <p:nvPr/>
        </p:nvSpPr>
        <p:spPr>
          <a:xfrm>
            <a:off x="9217152" y="1783080"/>
            <a:ext cx="23408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국가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217152" y="2267712"/>
            <a:ext cx="234086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축산 데이터 표준화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생산성·탄소 지표 산출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66928" y="3547872"/>
            <a:ext cx="11064240" cy="2029968"/>
          </a:xfrm>
          <a:prstGeom prst="roundRect">
            <a:avLst>
              <a:gd name="adj" fmla="val 4505"/>
            </a:avLst>
          </a:prstGeom>
          <a:solidFill>
            <a:srgbClr val="1C4028"/>
          </a:solidFill>
          <a:ln/>
        </p:spPr>
      </p:sp>
      <p:sp>
        <p:nvSpPr>
          <p:cNvPr id="21" name="Text 19"/>
          <p:cNvSpPr/>
          <p:nvPr/>
        </p:nvSpPr>
        <p:spPr>
          <a:xfrm>
            <a:off x="868680" y="3712464"/>
            <a:ext cx="10424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E9C7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기술보급 관점에서 이 구조가 갖는 의미</a:t>
            </a:r>
            <a:endParaRPr lang="en-US" sz="1550" dirty="0"/>
          </a:p>
        </p:txBody>
      </p:sp>
      <p:sp>
        <p:nvSpPr>
          <p:cNvPr id="22" name="Text 20"/>
          <p:cNvSpPr/>
          <p:nvPr/>
        </p:nvSpPr>
        <p:spPr>
          <a:xfrm>
            <a:off x="868680" y="4133088"/>
            <a:ext cx="10424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지도사업의 성과를 '느낌'이 아니라 데이터로 보고할 수 있습니다 (사업 전/후 비교)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시범사업 참여 농가의 변화를 실시간으로 추적할 수 있어, 중도 이탈·실패를 조기에 잡습니다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축종·지역별 표준 성적을 축적하면, 다음 사업의 목표치를 근거 있게 설정할 수 있습니다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방역·질병 조기감지와 연결되면 공공 가치가 개별 농가 이익을 넘어섭니다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566928" y="5715000"/>
            <a:ext cx="11064240" cy="594360"/>
          </a:xfrm>
          <a:prstGeom prst="roundRect">
            <a:avLst>
              <a:gd name="adj" fmla="val 15385"/>
            </a:avLst>
          </a:prstGeom>
          <a:solidFill>
            <a:srgbClr val="B87333"/>
          </a:solidFill>
          <a:ln/>
        </p:spPr>
      </p:sp>
      <p:sp>
        <p:nvSpPr>
          <p:cNvPr id="24" name="Text 22"/>
          <p:cNvSpPr/>
          <p:nvPr/>
        </p:nvSpPr>
        <p:spPr>
          <a:xfrm>
            <a:off x="822960" y="5715000"/>
            <a:ext cx="10515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정밀낙농은 농가의 도구이면서, 동시에 축산행정의 인프라입니다</a:t>
            </a:r>
            <a:endParaRPr lang="en-US" sz="15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1330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0"/>
            <a:ext cx="1188720" cy="1188720"/>
          </a:xfrm>
          <a:prstGeom prst="ellipse">
            <a:avLst/>
          </a:prstGeom>
          <a:solidFill>
            <a:srgbClr val="B87333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01168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2103120" y="2103120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유가공과 판매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2103120" y="2926080"/>
            <a:ext cx="9418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20" kern="0" dirty="0">
                <a:solidFill>
                  <a:srgbClr val="97BC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PROCESSING &amp; DIRECT SALES</a:t>
            </a:r>
            <a:endParaRPr lang="en-US" sz="14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 유가공과 판매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원유를 팔면 값이 정해져 있고, 제품을 팔면 값을 정합니다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298448"/>
            <a:ext cx="5440680" cy="1920240"/>
          </a:xfrm>
          <a:prstGeom prst="roundRect">
            <a:avLst>
              <a:gd name="adj" fmla="val 4762"/>
            </a:avLst>
          </a:prstGeom>
          <a:solidFill>
            <a:srgbClr val="F3F6F1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4630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원유 판매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868680" y="1874520"/>
            <a:ext cx="4892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유대는 협상과 제도로 결정됩니다</a:t>
            </a:r>
            <a:endParaRPr lang="en-US" sz="1250" dirty="0"/>
          </a:p>
          <a:p>
            <a:pPr algn="l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품질 차이가 값에 온전히 반영되기 어렵습니다</a:t>
            </a:r>
            <a:endParaRPr lang="en-US" sz="1250" dirty="0"/>
          </a:p>
          <a:p>
            <a:pPr algn="l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우리 목장의 이름이 소비자에게 남지 않습니다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190488" y="1298448"/>
            <a:ext cx="5440680" cy="1920240"/>
          </a:xfrm>
          <a:prstGeom prst="roundRect">
            <a:avLst>
              <a:gd name="adj" fmla="val 4762"/>
            </a:avLst>
          </a:prstGeom>
          <a:solidFill>
            <a:srgbClr val="C8DDA9"/>
          </a:solidFill>
          <a:ln/>
        </p:spPr>
      </p:sp>
      <p:sp>
        <p:nvSpPr>
          <p:cNvPr id="8" name="Text 6"/>
          <p:cNvSpPr/>
          <p:nvPr/>
        </p:nvSpPr>
        <p:spPr>
          <a:xfrm>
            <a:off x="6492240" y="14630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 판매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6492240" y="1874520"/>
            <a:ext cx="4892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가격 결정권을 우리가 가집니다</a:t>
            </a:r>
            <a:endParaRPr lang="en-US" sz="1250" dirty="0"/>
          </a:p>
          <a:p>
            <a:pPr algn="l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유지방·유단백이 높을수록 유리합니다</a:t>
            </a:r>
            <a:endParaRPr lang="en-US" sz="1250" dirty="0"/>
          </a:p>
          <a:p>
            <a:pPr algn="l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브랜드와 재구매 고객이 자산으로 남습니다</a:t>
            </a:r>
            <a:endParaRPr lang="en-US" sz="1250" dirty="0"/>
          </a:p>
        </p:txBody>
      </p:sp>
      <p:graphicFrame>
        <p:nvGraphicFramePr>
          <p:cNvPr id="10" name="Chart 0" descr=""/>
          <p:cNvGraphicFramePr/>
          <p:nvPr/>
        </p:nvGraphicFramePr>
        <p:xfrm>
          <a:off x="566928" y="3401568"/>
          <a:ext cx="6675120" cy="2377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1" name="Shape 8"/>
          <p:cNvSpPr/>
          <p:nvPr/>
        </p:nvSpPr>
        <p:spPr>
          <a:xfrm>
            <a:off x="7498080" y="3401568"/>
            <a:ext cx="4133088" cy="2377440"/>
          </a:xfrm>
          <a:prstGeom prst="roundRect">
            <a:avLst>
              <a:gd name="adj" fmla="val 3846"/>
            </a:avLst>
          </a:prstGeom>
          <a:solidFill>
            <a:srgbClr val="EEF4E9"/>
          </a:solidFill>
          <a:ln/>
        </p:spPr>
      </p:sp>
      <p:sp>
        <p:nvSpPr>
          <p:cNvPr id="12" name="Text 9"/>
          <p:cNvSpPr/>
          <p:nvPr/>
        </p:nvSpPr>
        <p:spPr>
          <a:xfrm>
            <a:off x="7772400" y="3584448"/>
            <a:ext cx="3566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다만 정직하게 말씀드리면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7772400" y="3977640"/>
            <a:ext cx="3584448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가공은 부가가치만 오는 것이 아니라</a:t>
            </a:r>
            <a:endParaRPr lang="en-US" sz="120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설비 투자, 위생 관리, 인허가,</a:t>
            </a:r>
            <a:endParaRPr lang="en-US" sz="120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유통기한 관리, 재고와 반품,</a:t>
            </a:r>
            <a:endParaRPr lang="en-US" sz="120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그리고 무엇보다 '판매'라는</a:t>
            </a:r>
            <a:endParaRPr lang="en-US" sz="120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완전히 다른 일이 함께 옵니다.</a:t>
            </a:r>
            <a:endParaRPr lang="en-US" sz="1200" dirty="0"/>
          </a:p>
          <a:p>
            <a:pPr algn="l" indent="0" marL="0">
              <a:lnSpc>
                <a:spcPts val="1900"/>
              </a:lnSpc>
              <a:buNone/>
            </a:pPr>
            <a:endParaRPr lang="en-US" sz="120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목장 일과 가공 일은 다른 일입니다.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566928" y="63276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부가가치 그래프는 실제 회계 수치가 아니라 가공 단계에 따른 상대적 구조를 설명하기 위한 개념도입니다.</a:t>
            </a:r>
            <a:endParaRPr lang="en-US" sz="1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 유가공과 판매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 라인업 — 하나의 원유에서 여섯 갈래로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25880"/>
            <a:ext cx="3547872" cy="1874520"/>
          </a:xfrm>
          <a:prstGeom prst="roundRect">
            <a:avLst>
              <a:gd name="adj" fmla="val 4878"/>
            </a:avLst>
          </a:prstGeom>
          <a:solidFill>
            <a:srgbClr val="F3F6F1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66928" y="1325880"/>
            <a:ext cx="3547872" cy="566928"/>
          </a:xfrm>
          <a:prstGeom prst="roundRect">
            <a:avLst>
              <a:gd name="adj" fmla="val 16129"/>
            </a:avLst>
          </a:prstGeom>
          <a:solidFill>
            <a:srgbClr val="B87333"/>
          </a:solidFill>
          <a:ln/>
        </p:spPr>
      </p:sp>
      <p:sp>
        <p:nvSpPr>
          <p:cNvPr id="6" name="Text 4"/>
          <p:cNvSpPr/>
          <p:nvPr/>
        </p:nvSpPr>
        <p:spPr>
          <a:xfrm>
            <a:off x="749808" y="1325880"/>
            <a:ext cx="3182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A2 저지 건초우유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786384" y="2039112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라인업의 기준 제품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저지 원유의 진한 풍미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315968" y="1325880"/>
            <a:ext cx="3547872" cy="1874520"/>
          </a:xfrm>
          <a:prstGeom prst="roundRect">
            <a:avLst>
              <a:gd name="adj" fmla="val 4878"/>
            </a:avLst>
          </a:prstGeom>
          <a:solidFill>
            <a:srgbClr val="F3F6F1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315968" y="1325880"/>
            <a:ext cx="3547872" cy="566928"/>
          </a:xfrm>
          <a:prstGeom prst="roundRect">
            <a:avLst>
              <a:gd name="adj" fmla="val 16129"/>
            </a:avLst>
          </a:prstGeom>
          <a:solidFill>
            <a:srgbClr val="2C5F2D"/>
          </a:solidFill>
          <a:ln/>
        </p:spPr>
      </p:sp>
      <p:sp>
        <p:nvSpPr>
          <p:cNvPr id="10" name="Text 8"/>
          <p:cNvSpPr/>
          <p:nvPr/>
        </p:nvSpPr>
        <p:spPr>
          <a:xfrm>
            <a:off x="4498848" y="1325880"/>
            <a:ext cx="3182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A2 건초우유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4535424" y="2039112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대중 접점 제품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일상 소비·정기구독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065008" y="1325880"/>
            <a:ext cx="3547872" cy="1874520"/>
          </a:xfrm>
          <a:prstGeom prst="roundRect">
            <a:avLst>
              <a:gd name="adj" fmla="val 4878"/>
            </a:avLst>
          </a:prstGeom>
          <a:solidFill>
            <a:srgbClr val="F3F6F1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8065008" y="1325880"/>
            <a:ext cx="3547872" cy="566928"/>
          </a:xfrm>
          <a:prstGeom prst="roundRect">
            <a:avLst>
              <a:gd name="adj" fmla="val 16129"/>
            </a:avLst>
          </a:prstGeom>
          <a:solidFill>
            <a:srgbClr val="2C5F2D"/>
          </a:solidFill>
          <a:ln/>
        </p:spPr>
      </p:sp>
      <p:sp>
        <p:nvSpPr>
          <p:cNvPr id="14" name="Text 12"/>
          <p:cNvSpPr/>
          <p:nvPr/>
        </p:nvSpPr>
        <p:spPr>
          <a:xfrm>
            <a:off x="8247888" y="1325880"/>
            <a:ext cx="3182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요거트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8284464" y="2039112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유단백이 높아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조직감이 잘 잡힙니다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66928" y="3429000"/>
            <a:ext cx="3547872" cy="1874520"/>
          </a:xfrm>
          <a:prstGeom prst="roundRect">
            <a:avLst>
              <a:gd name="adj" fmla="val 4878"/>
            </a:avLst>
          </a:prstGeom>
          <a:solidFill>
            <a:srgbClr val="F3F6F1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66928" y="3429000"/>
            <a:ext cx="3547872" cy="566928"/>
          </a:xfrm>
          <a:prstGeom prst="roundRect">
            <a:avLst>
              <a:gd name="adj" fmla="val 16129"/>
            </a:avLst>
          </a:prstGeom>
          <a:solidFill>
            <a:srgbClr val="97BC62"/>
          </a:solidFill>
          <a:ln/>
        </p:spPr>
      </p:sp>
      <p:sp>
        <p:nvSpPr>
          <p:cNvPr id="18" name="Text 16"/>
          <p:cNvSpPr/>
          <p:nvPr/>
        </p:nvSpPr>
        <p:spPr>
          <a:xfrm>
            <a:off x="749808" y="3429000"/>
            <a:ext cx="3182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그릭요거트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786384" y="4142232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고형분이 높아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수율에서 유리합니다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315968" y="3429000"/>
            <a:ext cx="3547872" cy="1874520"/>
          </a:xfrm>
          <a:prstGeom prst="roundRect">
            <a:avLst>
              <a:gd name="adj" fmla="val 4878"/>
            </a:avLst>
          </a:prstGeom>
          <a:solidFill>
            <a:srgbClr val="F3F6F1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315968" y="3429000"/>
            <a:ext cx="3547872" cy="566928"/>
          </a:xfrm>
          <a:prstGeom prst="roundRect">
            <a:avLst>
              <a:gd name="adj" fmla="val 16129"/>
            </a:avLst>
          </a:prstGeom>
          <a:solidFill>
            <a:srgbClr val="B87333"/>
          </a:solidFill>
          <a:ln/>
        </p:spPr>
      </p:sp>
      <p:sp>
        <p:nvSpPr>
          <p:cNvPr id="22" name="Text 20"/>
          <p:cNvSpPr/>
          <p:nvPr/>
        </p:nvSpPr>
        <p:spPr>
          <a:xfrm>
            <a:off x="4498848" y="3429000"/>
            <a:ext cx="3182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카이막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4535424" y="4142232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유지방이 핵심인 제품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저지 원유의 강점 영역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8065008" y="3429000"/>
            <a:ext cx="3547872" cy="1874520"/>
          </a:xfrm>
          <a:prstGeom prst="roundRect">
            <a:avLst>
              <a:gd name="adj" fmla="val 4878"/>
            </a:avLst>
          </a:prstGeom>
          <a:solidFill>
            <a:srgbClr val="F3F6F1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8065008" y="3429000"/>
            <a:ext cx="3547872" cy="566928"/>
          </a:xfrm>
          <a:prstGeom prst="roundRect">
            <a:avLst>
              <a:gd name="adj" fmla="val 16129"/>
            </a:avLst>
          </a:prstGeom>
          <a:solidFill>
            <a:srgbClr val="97BC62"/>
          </a:solidFill>
          <a:ln/>
        </p:spPr>
      </p:sp>
      <p:sp>
        <p:nvSpPr>
          <p:cNvPr id="26" name="Text 24"/>
          <p:cNvSpPr/>
          <p:nvPr/>
        </p:nvSpPr>
        <p:spPr>
          <a:xfrm>
            <a:off x="8247888" y="3429000"/>
            <a:ext cx="3182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아이스크림 · 밀크티</a:t>
            </a:r>
            <a:endParaRPr lang="en-US" sz="1450" dirty="0"/>
          </a:p>
        </p:txBody>
      </p:sp>
      <p:sp>
        <p:nvSpPr>
          <p:cNvPr id="27" name="Text 25"/>
          <p:cNvSpPr/>
          <p:nvPr/>
        </p:nvSpPr>
        <p:spPr>
          <a:xfrm>
            <a:off x="8284464" y="4142232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카페·체험 연계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계절 수요 대응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566928" y="5504688"/>
            <a:ext cx="11064240" cy="822960"/>
          </a:xfrm>
          <a:prstGeom prst="roundRect">
            <a:avLst>
              <a:gd name="adj" fmla="val 11111"/>
            </a:avLst>
          </a:prstGeom>
          <a:solidFill>
            <a:srgbClr val="13301F"/>
          </a:solidFill>
          <a:ln/>
        </p:spPr>
      </p:sp>
      <p:sp>
        <p:nvSpPr>
          <p:cNvPr id="29" name="Text 27"/>
          <p:cNvSpPr/>
          <p:nvPr/>
        </p:nvSpPr>
        <p:spPr>
          <a:xfrm>
            <a:off x="822960" y="5504688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C8DDA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품목을 늘린 이유는 매출이 아니라 '원유를 남기지 않기 위해서'입니다 — 잉여 원유가 제품이 됩니다</a:t>
            </a:r>
            <a:endParaRPr lang="en-US" sz="13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E9C7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단계는 저지 A2 자연치즈입니다 — 국내 자연치즈 자급률 2%, 19만 톤 시장이 비어 있습니다</a:t>
            </a:r>
            <a:endParaRPr lang="en-US" sz="13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 유가공과 판매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대표 제품 규격 — A2 저지 건초우유</a:t>
            </a:r>
            <a:endParaRPr lang="en-US" sz="3000" dirty="0"/>
          </a:p>
        </p:txBody>
      </p:sp>
      <p:graphicFrame>
        <p:nvGraphicFramePr>
          <p:cNvPr id="3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325880"/>
          <a:ext cx="6675120" cy="914400"/>
        </p:xfrm>
        <a:graphic>
          <a:graphicData uri="http://schemas.openxmlformats.org/drawingml/2006/table">
            <a:tbl>
              <a:tblPr/>
              <a:tblGrid>
                <a:gridCol w="1783080"/>
                <a:gridCol w="1554480"/>
                <a:gridCol w="1783080"/>
                <a:gridCol w="1554480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100 mL 당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100 mL 당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열량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75 kcal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지방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4.5 g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탄수화물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4.8 g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트랜스지방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 g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1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당류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4.8 g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포화지방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3.0 g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단백질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3.8 g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콜레스테롤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15 mg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1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나트륨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40 mg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66928" y="3913632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총 내용량 750 mL</a:t>
            </a:r>
            <a:endParaRPr lang="en-US" sz="1150" dirty="0"/>
          </a:p>
        </p:txBody>
      </p:sp>
      <p:sp>
        <p:nvSpPr>
          <p:cNvPr id="6" name="Shape 3"/>
          <p:cNvSpPr/>
          <p:nvPr/>
        </p:nvSpPr>
        <p:spPr>
          <a:xfrm>
            <a:off x="7498080" y="1325880"/>
            <a:ext cx="4133088" cy="2926080"/>
          </a:xfrm>
          <a:prstGeom prst="roundRect">
            <a:avLst>
              <a:gd name="adj" fmla="val 3125"/>
            </a:avLst>
          </a:prstGeom>
          <a:solidFill>
            <a:srgbClr val="EEF4E9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0" y="1508760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숫자가 말하는 것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7772400" y="1965960"/>
            <a:ext cx="358444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지방 4.5 g — 일반 시유 통상 범위(약 3.4~4.0 g)보다 높습니다</a:t>
            </a:r>
            <a:endParaRPr lang="en-US" sz="12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단백질 3.8 g — 요거트·그릭요거트 수율에 유리한 구간</a:t>
            </a:r>
            <a:endParaRPr lang="en-US" sz="12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탄수화물·단백질·지방의 열량 합이 표시 열량 75 kcal와 일치합니다</a:t>
            </a:r>
            <a:endParaRPr lang="en-US" sz="12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진한 맛은 마케팅 문구가 아니라 성분표에 나옵니다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566928" y="4572000"/>
            <a:ext cx="11064240" cy="1371600"/>
          </a:xfrm>
          <a:prstGeom prst="roundRect">
            <a:avLst>
              <a:gd name="adj" fmla="val 6667"/>
            </a:avLst>
          </a:prstGeom>
          <a:solidFill>
            <a:srgbClr val="F3F6F1"/>
          </a:solidFill>
          <a:ln w="12700">
            <a:solidFill>
              <a:srgbClr val="D8E0D2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68680" y="473659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표시·광고 원칙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868680" y="5102352"/>
            <a:ext cx="10424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성분은 시험성적서 값만 표기하고, 질병 예방·치료를 연상시키는 표현은 사용하지 않습니다.</a:t>
            </a:r>
            <a:endParaRPr lang="en-US" sz="125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A2에 대해서는 '표시' 수준에서 사실만 말하며, 효능은 주장하지 않습니다. 소규모 유가공일수록 표시 위반 리스크 관리가 중요합니다.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566928" y="63276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제품 영양정보 표시값 기준(100 mL당)이며, 원유 성분 변동에 따라 로트별 차이가 있을 수 있습니다. 일반 시유 범위는 참고값입니다.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 유가공과 판매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제조 공정 — 소규모일수록 공정이 단순해야 안전합니다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08760"/>
            <a:ext cx="1700784" cy="1188720"/>
          </a:xfrm>
          <a:prstGeom prst="roundRect">
            <a:avLst>
              <a:gd name="adj" fmla="val 7692"/>
            </a:avLst>
          </a:prstGeom>
          <a:solidFill>
            <a:srgbClr val="EEF4E9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508760"/>
            <a:ext cx="1554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집유 · 원유검사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2304288" y="1984248"/>
            <a:ext cx="310896" cy="237744"/>
          </a:xfrm>
          <a:prstGeom prst="rightArrow">
            <a:avLst/>
          </a:prstGeom>
          <a:solidFill>
            <a:srgbClr val="97BC62"/>
          </a:solidFill>
          <a:ln/>
        </p:spPr>
      </p:sp>
      <p:sp>
        <p:nvSpPr>
          <p:cNvPr id="7" name="Shape 5"/>
          <p:cNvSpPr/>
          <p:nvPr/>
        </p:nvSpPr>
        <p:spPr>
          <a:xfrm>
            <a:off x="2450592" y="1508760"/>
            <a:ext cx="1700784" cy="1188720"/>
          </a:xfrm>
          <a:prstGeom prst="roundRect">
            <a:avLst>
              <a:gd name="adj" fmla="val 7692"/>
            </a:avLst>
          </a:prstGeom>
          <a:solidFill>
            <a:srgbClr val="EEF4E9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2523744" y="1508760"/>
            <a:ext cx="1554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판형 열교환기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187952" y="1984248"/>
            <a:ext cx="310896" cy="237744"/>
          </a:xfrm>
          <a:prstGeom prst="rightArrow">
            <a:avLst/>
          </a:prstGeom>
          <a:solidFill>
            <a:srgbClr val="97BC62"/>
          </a:solidFill>
          <a:ln/>
        </p:spPr>
      </p:sp>
      <p:sp>
        <p:nvSpPr>
          <p:cNvPr id="10" name="Shape 8"/>
          <p:cNvSpPr/>
          <p:nvPr/>
        </p:nvSpPr>
        <p:spPr>
          <a:xfrm>
            <a:off x="4334256" y="1508760"/>
            <a:ext cx="1700784" cy="1188720"/>
          </a:xfrm>
          <a:prstGeom prst="roundRect">
            <a:avLst>
              <a:gd name="adj" fmla="val 7692"/>
            </a:avLst>
          </a:prstGeom>
          <a:solidFill>
            <a:srgbClr val="EEF4E9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407408" y="1508760"/>
            <a:ext cx="1554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균질 (Homogenizer)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071616" y="1984248"/>
            <a:ext cx="310896" cy="237744"/>
          </a:xfrm>
          <a:prstGeom prst="rightArrow">
            <a:avLst/>
          </a:prstGeom>
          <a:solidFill>
            <a:srgbClr val="97BC62"/>
          </a:solidFill>
          <a:ln/>
        </p:spPr>
      </p:sp>
      <p:sp>
        <p:nvSpPr>
          <p:cNvPr id="13" name="Shape 11"/>
          <p:cNvSpPr/>
          <p:nvPr/>
        </p:nvSpPr>
        <p:spPr>
          <a:xfrm>
            <a:off x="6217920" y="1508760"/>
            <a:ext cx="1700784" cy="1188720"/>
          </a:xfrm>
          <a:prstGeom prst="roundRect">
            <a:avLst>
              <a:gd name="adj" fmla="val 7692"/>
            </a:avLst>
          </a:prstGeom>
          <a:solidFill>
            <a:srgbClr val="B87333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291072" y="1508760"/>
            <a:ext cx="1554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살균 75℃ / 20초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7955280" y="1984248"/>
            <a:ext cx="310896" cy="237744"/>
          </a:xfrm>
          <a:prstGeom prst="rightArrow">
            <a:avLst/>
          </a:prstGeom>
          <a:solidFill>
            <a:srgbClr val="97BC62"/>
          </a:solidFill>
          <a:ln/>
        </p:spPr>
      </p:sp>
      <p:sp>
        <p:nvSpPr>
          <p:cNvPr id="16" name="Shape 14"/>
          <p:cNvSpPr/>
          <p:nvPr/>
        </p:nvSpPr>
        <p:spPr>
          <a:xfrm>
            <a:off x="8101584" y="1508760"/>
            <a:ext cx="1700784" cy="1188720"/>
          </a:xfrm>
          <a:prstGeom prst="roundRect">
            <a:avLst>
              <a:gd name="adj" fmla="val 7692"/>
            </a:avLst>
          </a:prstGeom>
          <a:solidFill>
            <a:srgbClr val="EEF4E9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8174736" y="1508760"/>
            <a:ext cx="1554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냉각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9838944" y="1984248"/>
            <a:ext cx="310896" cy="237744"/>
          </a:xfrm>
          <a:prstGeom prst="rightArrow">
            <a:avLst/>
          </a:prstGeom>
          <a:solidFill>
            <a:srgbClr val="97BC62"/>
          </a:solidFill>
          <a:ln/>
        </p:spPr>
      </p:sp>
      <p:sp>
        <p:nvSpPr>
          <p:cNvPr id="19" name="Shape 17"/>
          <p:cNvSpPr/>
          <p:nvPr/>
        </p:nvSpPr>
        <p:spPr>
          <a:xfrm>
            <a:off x="9985248" y="1508760"/>
            <a:ext cx="1700784" cy="1188720"/>
          </a:xfrm>
          <a:prstGeom prst="roundRect">
            <a:avLst>
              <a:gd name="adj" fmla="val 7692"/>
            </a:avLst>
          </a:prstGeom>
          <a:solidFill>
            <a:srgbClr val="EEF4E9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10058400" y="1508760"/>
            <a:ext cx="1554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충전 · 포장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3017520"/>
            <a:ext cx="3547872" cy="1417320"/>
          </a:xfrm>
          <a:prstGeom prst="roundRect">
            <a:avLst>
              <a:gd name="adj" fmla="val 6452"/>
            </a:avLst>
          </a:prstGeom>
          <a:solidFill>
            <a:srgbClr val="F3F6F1"/>
          </a:solidFill>
          <a:ln w="12700">
            <a:solidFill>
              <a:srgbClr val="E0E6D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68096" y="3163824"/>
            <a:ext cx="31455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원유 관리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768096" y="3547872"/>
            <a:ext cx="314553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집유 즉시 냉각·검사. 원유 품질이 나쁘면 공정으로 되돌릴 수 없습니다.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315968" y="3017520"/>
            <a:ext cx="3547872" cy="1417320"/>
          </a:xfrm>
          <a:prstGeom prst="roundRect">
            <a:avLst>
              <a:gd name="adj" fmla="val 6452"/>
            </a:avLst>
          </a:prstGeom>
          <a:solidFill>
            <a:srgbClr val="F3F6F1"/>
          </a:solidFill>
          <a:ln w="12700">
            <a:solidFill>
              <a:srgbClr val="E0E6D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17136" y="3163824"/>
            <a:ext cx="31455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살균 조건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4517136" y="3547872"/>
            <a:ext cx="314553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75℃ / 20초 조건으로 운영합니다. 조건 기록은 매 배치 남깁니다.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8065008" y="3017520"/>
            <a:ext cx="3547872" cy="1417320"/>
          </a:xfrm>
          <a:prstGeom prst="roundRect">
            <a:avLst>
              <a:gd name="adj" fmla="val 6452"/>
            </a:avLst>
          </a:prstGeom>
          <a:solidFill>
            <a:srgbClr val="F3F6F1"/>
          </a:solidFill>
          <a:ln w="12700">
            <a:solidFill>
              <a:srgbClr val="E0E6D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266176" y="3163824"/>
            <a:ext cx="31455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세척(CIP)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8266176" y="3547872"/>
            <a:ext cx="314553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소규모 유가공에서 사고는 대부분 세척 불량에서 납니다. 세척이 곧 품질관리입니다.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566928" y="4590288"/>
            <a:ext cx="3547872" cy="1417320"/>
          </a:xfrm>
          <a:prstGeom prst="roundRect">
            <a:avLst>
              <a:gd name="adj" fmla="val 6452"/>
            </a:avLst>
          </a:prstGeom>
          <a:solidFill>
            <a:srgbClr val="F3F6F1"/>
          </a:solidFill>
          <a:ln w="12700">
            <a:solidFill>
              <a:srgbClr val="E0E6D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68096" y="4736592"/>
            <a:ext cx="31455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유통기한</a:t>
            </a:r>
            <a:endParaRPr lang="en-US" sz="1350" dirty="0"/>
          </a:p>
        </p:txBody>
      </p:sp>
      <p:sp>
        <p:nvSpPr>
          <p:cNvPr id="32" name="Text 30"/>
          <p:cNvSpPr/>
          <p:nvPr/>
        </p:nvSpPr>
        <p:spPr>
          <a:xfrm>
            <a:off x="768096" y="5120640"/>
            <a:ext cx="314553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냉장 체계가 소비자 손까지 이어지는지가 관건 — 배송 포장까지 공정으로 봅니다.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4315968" y="4590288"/>
            <a:ext cx="3547872" cy="1417320"/>
          </a:xfrm>
          <a:prstGeom prst="roundRect">
            <a:avLst>
              <a:gd name="adj" fmla="val 6452"/>
            </a:avLst>
          </a:prstGeom>
          <a:solidFill>
            <a:srgbClr val="F3F6F1"/>
          </a:solidFill>
          <a:ln w="12700">
            <a:solidFill>
              <a:srgbClr val="E0E6D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517136" y="4736592"/>
            <a:ext cx="31455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배치 기록</a:t>
            </a:r>
            <a:endParaRPr lang="en-US" sz="1350" dirty="0"/>
          </a:p>
        </p:txBody>
      </p:sp>
      <p:sp>
        <p:nvSpPr>
          <p:cNvPr id="35" name="Text 33"/>
          <p:cNvSpPr/>
          <p:nvPr/>
        </p:nvSpPr>
        <p:spPr>
          <a:xfrm>
            <a:off x="4517136" y="5120640"/>
            <a:ext cx="314553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로트별 원유·공정·검사 기록을 남겨야 문제 발생 시 범위를 좁힐 수 있습니다.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8065008" y="4590288"/>
            <a:ext cx="3547872" cy="1417320"/>
          </a:xfrm>
          <a:prstGeom prst="roundRect">
            <a:avLst>
              <a:gd name="adj" fmla="val 6452"/>
            </a:avLst>
          </a:prstGeom>
          <a:solidFill>
            <a:srgbClr val="F3F6F1"/>
          </a:solidFill>
          <a:ln w="12700">
            <a:solidFill>
              <a:srgbClr val="E0E6D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266176" y="4736592"/>
            <a:ext cx="31455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인력</a:t>
            </a:r>
            <a:endParaRPr lang="en-US" sz="1350" dirty="0"/>
          </a:p>
        </p:txBody>
      </p:sp>
      <p:sp>
        <p:nvSpPr>
          <p:cNvPr id="38" name="Text 36"/>
          <p:cNvSpPr/>
          <p:nvPr/>
        </p:nvSpPr>
        <p:spPr>
          <a:xfrm>
            <a:off x="8266176" y="5120640"/>
            <a:ext cx="314553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가공 전담 인력이 없으면 목장 일과 충돌합니다. 사람 문제가 설비 문제보다 큽니다.</a:t>
            </a:r>
            <a:endParaRPr lang="en-US" sz="115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 유가공과 판매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유가공을 시작하려는 농가에게 — 실무 순서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298448"/>
            <a:ext cx="5468112" cy="1481328"/>
          </a:xfrm>
          <a:prstGeom prst="roundRect">
            <a:avLst>
              <a:gd name="adj" fmla="val 6173"/>
            </a:avLst>
          </a:prstGeom>
          <a:solidFill>
            <a:srgbClr val="EEF4E9"/>
          </a:solidFill>
          <a:ln/>
        </p:spPr>
      </p:sp>
      <p:sp>
        <p:nvSpPr>
          <p:cNvPr id="5" name="Shape 3"/>
          <p:cNvSpPr/>
          <p:nvPr/>
        </p:nvSpPr>
        <p:spPr>
          <a:xfrm>
            <a:off x="804672" y="1517904"/>
            <a:ext cx="438912" cy="438912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6" name="Text 4"/>
          <p:cNvSpPr/>
          <p:nvPr/>
        </p:nvSpPr>
        <p:spPr>
          <a:xfrm>
            <a:off x="804672" y="151790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371600" y="1481328"/>
            <a:ext cx="4480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사업 타당성 먼저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41248" y="2029968"/>
            <a:ext cx="4937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설비보다 판로가 먼저입니다.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'월 몇 개를 어디에 팔 것인가'가 없으면 시작하지 않는 것이 낫습니다.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309360" y="1298448"/>
            <a:ext cx="5468112" cy="1481328"/>
          </a:xfrm>
          <a:prstGeom prst="roundRect">
            <a:avLst>
              <a:gd name="adj" fmla="val 6173"/>
            </a:avLst>
          </a:prstGeom>
          <a:solidFill>
            <a:srgbClr val="F3F6F1"/>
          </a:solidFill>
          <a:ln/>
        </p:spPr>
      </p:sp>
      <p:sp>
        <p:nvSpPr>
          <p:cNvPr id="10" name="Shape 8"/>
          <p:cNvSpPr/>
          <p:nvPr/>
        </p:nvSpPr>
        <p:spPr>
          <a:xfrm>
            <a:off x="6547104" y="1517904"/>
            <a:ext cx="438912" cy="438912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11" name="Text 9"/>
          <p:cNvSpPr/>
          <p:nvPr/>
        </p:nvSpPr>
        <p:spPr>
          <a:xfrm>
            <a:off x="6547104" y="151790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114032" y="1481328"/>
            <a:ext cx="4480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시설 기준 확인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583680" y="2029968"/>
            <a:ext cx="4937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축산물 가공업(유가공업) 시설 기준에 맞는 작업장·설비 배치를 사전에 확인합니다.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건축·용도 문제로 되돌아가는 경우가 많습니다.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66928" y="2926080"/>
            <a:ext cx="5468112" cy="1481328"/>
          </a:xfrm>
          <a:prstGeom prst="roundRect">
            <a:avLst>
              <a:gd name="adj" fmla="val 6173"/>
            </a:avLst>
          </a:prstGeom>
          <a:solidFill>
            <a:srgbClr val="EEF4E9"/>
          </a:solidFill>
          <a:ln/>
        </p:spPr>
      </p:sp>
      <p:sp>
        <p:nvSpPr>
          <p:cNvPr id="15" name="Shape 13"/>
          <p:cNvSpPr/>
          <p:nvPr/>
        </p:nvSpPr>
        <p:spPr>
          <a:xfrm>
            <a:off x="804672" y="3145536"/>
            <a:ext cx="438912" cy="438912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16" name="Text 14"/>
          <p:cNvSpPr/>
          <p:nvPr/>
        </p:nvSpPr>
        <p:spPr>
          <a:xfrm>
            <a:off x="804672" y="3145536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371600" y="3108960"/>
            <a:ext cx="4480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인허가 · 영업 등록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657600"/>
            <a:ext cx="4937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관할 기관과 사전 협의를 거쳐 진행합니다.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담당자와 미리 도면을 놓고 상의하는 것이 가장 빠릅니다.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309360" y="2926080"/>
            <a:ext cx="5468112" cy="1481328"/>
          </a:xfrm>
          <a:prstGeom prst="roundRect">
            <a:avLst>
              <a:gd name="adj" fmla="val 6173"/>
            </a:avLst>
          </a:prstGeom>
          <a:solidFill>
            <a:srgbClr val="F3F6F1"/>
          </a:solidFill>
          <a:ln/>
        </p:spPr>
      </p:sp>
      <p:sp>
        <p:nvSpPr>
          <p:cNvPr id="20" name="Shape 18"/>
          <p:cNvSpPr/>
          <p:nvPr/>
        </p:nvSpPr>
        <p:spPr>
          <a:xfrm>
            <a:off x="6547104" y="3145536"/>
            <a:ext cx="438912" cy="438912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21" name="Text 19"/>
          <p:cNvSpPr/>
          <p:nvPr/>
        </p:nvSpPr>
        <p:spPr>
          <a:xfrm>
            <a:off x="6547104" y="3145536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7114032" y="3108960"/>
            <a:ext cx="4480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품목 제조 신고 · 표시사항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583680" y="3657600"/>
            <a:ext cx="4937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품목별 신고와 표시사항(성분·유통기한·보관방법) 준비.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표시 오류는 나중에 전량 회수로 이어집니다.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566928" y="4553712"/>
            <a:ext cx="5468112" cy="1481328"/>
          </a:xfrm>
          <a:prstGeom prst="roundRect">
            <a:avLst>
              <a:gd name="adj" fmla="val 6173"/>
            </a:avLst>
          </a:prstGeom>
          <a:solidFill>
            <a:srgbClr val="EEF4E9"/>
          </a:solidFill>
          <a:ln/>
        </p:spPr>
      </p:sp>
      <p:sp>
        <p:nvSpPr>
          <p:cNvPr id="25" name="Shape 23"/>
          <p:cNvSpPr/>
          <p:nvPr/>
        </p:nvSpPr>
        <p:spPr>
          <a:xfrm>
            <a:off x="804672" y="4773168"/>
            <a:ext cx="438912" cy="438912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26" name="Text 24"/>
          <p:cNvSpPr/>
          <p:nvPr/>
        </p:nvSpPr>
        <p:spPr>
          <a:xfrm>
            <a:off x="804672" y="47731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1371600" y="4736592"/>
            <a:ext cx="4480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위생 · 검사 체계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841248" y="5285232"/>
            <a:ext cx="4937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자가품질검사 주기와 기록, 종사자 위생교육·건강진단을 체계로 만듭니다.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6309360" y="4553712"/>
            <a:ext cx="5468112" cy="1481328"/>
          </a:xfrm>
          <a:prstGeom prst="roundRect">
            <a:avLst>
              <a:gd name="adj" fmla="val 6173"/>
            </a:avLst>
          </a:prstGeom>
          <a:solidFill>
            <a:srgbClr val="F3F6F1"/>
          </a:solidFill>
          <a:ln/>
        </p:spPr>
      </p:sp>
      <p:sp>
        <p:nvSpPr>
          <p:cNvPr id="30" name="Shape 28"/>
          <p:cNvSpPr/>
          <p:nvPr/>
        </p:nvSpPr>
        <p:spPr>
          <a:xfrm>
            <a:off x="6547104" y="4773168"/>
            <a:ext cx="438912" cy="438912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1" name="Text 29"/>
          <p:cNvSpPr/>
          <p:nvPr/>
        </p:nvSpPr>
        <p:spPr>
          <a:xfrm>
            <a:off x="6547104" y="47731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7114032" y="4736592"/>
            <a:ext cx="4480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판로 · 물류 구축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583680" y="5285232"/>
            <a:ext cx="4937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냉장 배송, 포장재, 반품 처리까지 준비되어야 실제 판매가 시작됩니다.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566928" y="63276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인허가 요건은 관계 법령 개정 및 지자체 여건에 따라 달라질 수 있으므로, 반드시 관할 기관과 사전 협의가 필요합니다.</a:t>
            </a:r>
            <a:endParaRPr lang="en-US" sz="1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 유가공과 판매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판매 — 만드는 것보다 파는 것이 어렵습니다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25880"/>
            <a:ext cx="3547872" cy="2423160"/>
          </a:xfrm>
          <a:prstGeom prst="roundRect">
            <a:avLst>
              <a:gd name="adj" fmla="val 3774"/>
            </a:avLst>
          </a:prstGeom>
          <a:solidFill>
            <a:srgbClr val="B87333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53619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자사몰 (D2C)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822960" y="1965960"/>
            <a:ext cx="312724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shop.a2jerseymilk.com</a:t>
            </a:r>
            <a:endParaRPr lang="en-US" sz="1250" dirty="0"/>
          </a:p>
          <a:p>
            <a:pPr algn="l" indent="0" marL="0">
              <a:lnSpc>
                <a:spcPts val="1900"/>
              </a:lnSpc>
              <a:buNone/>
            </a:pPr>
            <a:endParaRPr lang="en-US" sz="125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가격 결정권 확보</a:t>
            </a:r>
            <a:endParaRPr lang="en-US" sz="125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고객 데이터가 남습니다</a:t>
            </a:r>
            <a:endParaRPr lang="en-US" sz="125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브랜드 이야기를 그대로 전달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325112" y="1325880"/>
            <a:ext cx="3547872" cy="2423160"/>
          </a:xfrm>
          <a:prstGeom prst="roundRect">
            <a:avLst>
              <a:gd name="adj" fmla="val 3774"/>
            </a:avLst>
          </a:prstGeom>
          <a:solidFill>
            <a:srgbClr val="2C5F2D"/>
          </a:solidFill>
          <a:ln/>
        </p:spPr>
      </p:sp>
      <p:sp>
        <p:nvSpPr>
          <p:cNvPr id="8" name="Text 6"/>
          <p:cNvSpPr/>
          <p:nvPr/>
        </p:nvSpPr>
        <p:spPr>
          <a:xfrm>
            <a:off x="4581144" y="153619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정기구독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4581144" y="1965960"/>
            <a:ext cx="312724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생산 계획을 세울 수 있습니다</a:t>
            </a:r>
            <a:endParaRPr lang="en-US" sz="125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신선식품은 재구매가 생명입니다</a:t>
            </a:r>
            <a:endParaRPr lang="en-US" sz="125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잉여 원유 리스크를 줄여줍니다</a:t>
            </a:r>
            <a:endParaRPr lang="en-US" sz="125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고객 이탈률 관리가 핵심 지표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083296" y="1325880"/>
            <a:ext cx="3547872" cy="2423160"/>
          </a:xfrm>
          <a:prstGeom prst="roundRect">
            <a:avLst>
              <a:gd name="adj" fmla="val 3774"/>
            </a:avLst>
          </a:prstGeom>
          <a:solidFill>
            <a:srgbClr val="97BC62"/>
          </a:solidFill>
          <a:ln/>
        </p:spPr>
      </p:sp>
      <p:sp>
        <p:nvSpPr>
          <p:cNvPr id="11" name="Text 9"/>
          <p:cNvSpPr/>
          <p:nvPr/>
        </p:nvSpPr>
        <p:spPr>
          <a:xfrm>
            <a:off x="8339328" y="153619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B2B · 오프라인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8339328" y="1965960"/>
            <a:ext cx="312724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카페·베이커리 납품</a:t>
            </a:r>
            <a:endParaRPr lang="en-US" sz="125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프리미엄 식품관·백화점</a:t>
            </a:r>
            <a:endParaRPr lang="en-US" sz="125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물량은 크지만 단가 압박</a:t>
            </a:r>
            <a:endParaRPr lang="en-US" sz="125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브랜드 노출 효과가 큽니다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66928" y="3886200"/>
            <a:ext cx="11064240" cy="2286000"/>
          </a:xfrm>
          <a:prstGeom prst="roundRect">
            <a:avLst>
              <a:gd name="adj" fmla="val 4000"/>
            </a:avLst>
          </a:prstGeom>
          <a:solidFill>
            <a:srgbClr val="F3F6F1"/>
          </a:solidFill>
          <a:ln w="12700">
            <a:solidFill>
              <a:srgbClr val="E0E6D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68680" y="4041648"/>
            <a:ext cx="10424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소규모 유가공이 판매에서 실패하는 전형적인 이유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68680" y="4462272"/>
            <a:ext cx="104241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제품은 좋은데 '왜 비싼지'를 설명하지 못합니다 — 값의 근거(사양·품종·공정)를 보여줘야 합니다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첫 구매는 일어나는데 재구매가 없습니다 — 신선식품은 재구매율이 전부입니다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판매 채널을 늘리기만 하고 관리하지 못합니다 — 채널 하나를 제대로 하는 것이 낫습니다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생산량과 판매량이 어긋납니다 — 정기구독이 이 문제의 가장 현실적인 해법입니다</a:t>
            </a:r>
            <a:endParaRPr lang="en-US" sz="125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 유가공과 판매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목장이 '가는 곳'이 되면, 우유는 기념품이 됩니다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417320"/>
            <a:ext cx="2633472" cy="2331720"/>
          </a:xfrm>
          <a:prstGeom prst="roundRect">
            <a:avLst>
              <a:gd name="adj" fmla="val 3922"/>
            </a:avLst>
          </a:prstGeom>
          <a:solidFill>
            <a:srgbClr val="F3F6F1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66928" y="1417320"/>
            <a:ext cx="2633472" cy="603504"/>
          </a:xfrm>
          <a:prstGeom prst="roundRect">
            <a:avLst>
              <a:gd name="adj" fmla="val 15152"/>
            </a:avLst>
          </a:prstGeom>
          <a:solidFill>
            <a:srgbClr val="B87333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417320"/>
            <a:ext cx="230428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카페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68096" y="2176272"/>
            <a:ext cx="223113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목장 우유로 만든 음료·디저트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제품을 '맛보게' 하는 가장 빠른 방법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3401568" y="1417320"/>
            <a:ext cx="2633472" cy="2331720"/>
          </a:xfrm>
          <a:prstGeom prst="roundRect">
            <a:avLst>
              <a:gd name="adj" fmla="val 3922"/>
            </a:avLst>
          </a:prstGeom>
          <a:solidFill>
            <a:srgbClr val="F3F6F1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401568" y="1417320"/>
            <a:ext cx="2633472" cy="603504"/>
          </a:xfrm>
          <a:prstGeom prst="roundRect">
            <a:avLst>
              <a:gd name="adj" fmla="val 15152"/>
            </a:avLst>
          </a:prstGeom>
          <a:solidFill>
            <a:srgbClr val="2C5F2D"/>
          </a:solidFill>
          <a:ln/>
        </p:spPr>
      </p:sp>
      <p:sp>
        <p:nvSpPr>
          <p:cNvPr id="10" name="Text 8"/>
          <p:cNvSpPr/>
          <p:nvPr/>
        </p:nvSpPr>
        <p:spPr>
          <a:xfrm>
            <a:off x="3566160" y="1417320"/>
            <a:ext cx="230428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체험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3602736" y="2176272"/>
            <a:ext cx="223113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송아지 우유주기, 유제품 만들기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아이가 오면 부모가 단골이 됩니다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236208" y="1417320"/>
            <a:ext cx="2633472" cy="2331720"/>
          </a:xfrm>
          <a:prstGeom prst="roundRect">
            <a:avLst>
              <a:gd name="adj" fmla="val 3922"/>
            </a:avLst>
          </a:prstGeom>
          <a:solidFill>
            <a:srgbClr val="F3F6F1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236208" y="1417320"/>
            <a:ext cx="2633472" cy="603504"/>
          </a:xfrm>
          <a:prstGeom prst="roundRect">
            <a:avLst>
              <a:gd name="adj" fmla="val 15152"/>
            </a:avLst>
          </a:prstGeom>
          <a:solidFill>
            <a:srgbClr val="97BC62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0" y="1417320"/>
            <a:ext cx="230428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견학 · 교육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437376" y="2176272"/>
            <a:ext cx="223113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농가·학생·연구자 대상 현장 교육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기술보급의 전시포 역할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9070848" y="1417320"/>
            <a:ext cx="2633472" cy="2331720"/>
          </a:xfrm>
          <a:prstGeom prst="roundRect">
            <a:avLst>
              <a:gd name="adj" fmla="val 3922"/>
            </a:avLst>
          </a:prstGeom>
          <a:solidFill>
            <a:srgbClr val="F3F6F1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9070848" y="1417320"/>
            <a:ext cx="2633472" cy="603504"/>
          </a:xfrm>
          <a:prstGeom prst="roundRect">
            <a:avLst>
              <a:gd name="adj" fmla="val 15152"/>
            </a:avLst>
          </a:prstGeom>
          <a:solidFill>
            <a:srgbClr val="8A5A22"/>
          </a:solidFill>
          <a:ln/>
        </p:spPr>
      </p:sp>
      <p:sp>
        <p:nvSpPr>
          <p:cNvPr id="18" name="Text 16"/>
          <p:cNvSpPr/>
          <p:nvPr/>
        </p:nvSpPr>
        <p:spPr>
          <a:xfrm>
            <a:off x="9235440" y="1417320"/>
            <a:ext cx="230428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팜투어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9272016" y="2176272"/>
            <a:ext cx="223113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초지·축사·유가공을 잇는 동선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'순환농업'을 눈으로 보여줍니다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566928" y="3977640"/>
            <a:ext cx="11064240" cy="1737360"/>
          </a:xfrm>
          <a:prstGeom prst="roundRect">
            <a:avLst>
              <a:gd name="adj" fmla="val 5263"/>
            </a:avLst>
          </a:prstGeom>
          <a:solidFill>
            <a:srgbClr val="C8DDA9"/>
          </a:solidFill>
          <a:ln/>
        </p:spPr>
      </p:sp>
      <p:sp>
        <p:nvSpPr>
          <p:cNvPr id="21" name="Text 19"/>
          <p:cNvSpPr/>
          <p:nvPr/>
        </p:nvSpPr>
        <p:spPr>
          <a:xfrm>
            <a:off x="868680" y="4160520"/>
            <a:ext cx="10424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다만 이것도 정직하게 — 6차산업은 '또 하나의 사업'입니다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868680" y="4572000"/>
            <a:ext cx="10424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카페와 체험은 접객업입니다. 목장 일과 성격이 완전히 다르고, 사람과 안전 관리가 추가로 필요합니다.</a:t>
            </a:r>
            <a:endParaRPr lang="en-US" sz="1250" dirty="0"/>
          </a:p>
          <a:p>
            <a:pPr algn="l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시설 지원만 받고 운영 인력을 준비하지 못한 농가는 대부분 1~2년 안에 문을 닫습니다.</a:t>
            </a:r>
            <a:endParaRPr lang="en-US" sz="1250" dirty="0"/>
          </a:p>
          <a:p>
            <a:pPr algn="l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지원사업 설계 시 '시설비'보다 '운영 역량 지원'이 성패를 가릅니다.</a:t>
            </a:r>
            <a:endParaRPr lang="en-US" sz="125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1330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0"/>
            <a:ext cx="1188720" cy="1188720"/>
          </a:xfrm>
          <a:prstGeom prst="ellipse">
            <a:avLst/>
          </a:prstGeom>
          <a:solidFill>
            <a:srgbClr val="B87333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01168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2103120" y="2103120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낙농산업 방향과 시범사업 제안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2103120" y="2926080"/>
            <a:ext cx="9418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20" kern="0" dirty="0">
                <a:solidFill>
                  <a:srgbClr val="97BC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OUTLOOK &amp; PROPOSED PILOT PROJECTS</a:t>
            </a:r>
            <a:endParaRPr lang="en-US" sz="14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1330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97BC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 산업 방향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2026년 — 관세의 벽이 완전히 사라졌습니다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298448"/>
            <a:ext cx="3547872" cy="1783080"/>
          </a:xfrm>
          <a:prstGeom prst="roundRect">
            <a:avLst>
              <a:gd name="adj" fmla="val 5128"/>
            </a:avLst>
          </a:prstGeom>
          <a:solidFill>
            <a:srgbClr val="1C4028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463040"/>
            <a:ext cx="35478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E9C7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4,100호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749808" y="2139696"/>
            <a:ext cx="31821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전국 낙농가 수</a:t>
            </a:r>
            <a:endParaRPr lang="en-US" sz="11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 4.9% 감소 — 10년 내 2,000~2,500호 전망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315968" y="1298448"/>
            <a:ext cx="3547872" cy="1783080"/>
          </a:xfrm>
          <a:prstGeom prst="roundRect">
            <a:avLst>
              <a:gd name="adj" fmla="val 5128"/>
            </a:avLst>
          </a:prstGeom>
          <a:solidFill>
            <a:srgbClr val="1C4028"/>
          </a:solidFill>
          <a:ln/>
        </p:spPr>
      </p:sp>
      <p:sp>
        <p:nvSpPr>
          <p:cNvPr id="8" name="Text 6"/>
          <p:cNvSpPr/>
          <p:nvPr/>
        </p:nvSpPr>
        <p:spPr>
          <a:xfrm>
            <a:off x="4315968" y="1463040"/>
            <a:ext cx="35478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E9C7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44%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4498848" y="2139696"/>
            <a:ext cx="31821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유제품 자급률</a:t>
            </a:r>
            <a:endParaRPr lang="en-US" sz="11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정부 목표조차 2030년 48%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065008" y="1298448"/>
            <a:ext cx="3547872" cy="1783080"/>
          </a:xfrm>
          <a:prstGeom prst="roundRect">
            <a:avLst>
              <a:gd name="adj" fmla="val 5128"/>
            </a:avLst>
          </a:prstGeom>
          <a:solidFill>
            <a:srgbClr val="1C4028"/>
          </a:solidFill>
          <a:ln/>
        </p:spPr>
      </p:sp>
      <p:sp>
        <p:nvSpPr>
          <p:cNvPr id="11" name="Text 9"/>
          <p:cNvSpPr/>
          <p:nvPr/>
        </p:nvSpPr>
        <p:spPr>
          <a:xfrm>
            <a:off x="8065008" y="1463040"/>
            <a:ext cx="35478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E9C7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30.1kg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8247888" y="2139696"/>
            <a:ext cx="31821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1인당 흰 우유 소비</a:t>
            </a:r>
            <a:endParaRPr lang="en-US" sz="11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10년간 약 7% 감소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66928" y="3291840"/>
            <a:ext cx="11064240" cy="1874520"/>
          </a:xfrm>
          <a:prstGeom prst="roundRect">
            <a:avLst>
              <a:gd name="adj" fmla="val 4878"/>
            </a:avLst>
          </a:prstGeom>
          <a:solidFill>
            <a:srgbClr val="1C4028"/>
          </a:solidFill>
          <a:ln/>
        </p:spPr>
      </p:sp>
      <p:sp>
        <p:nvSpPr>
          <p:cNvPr id="14" name="Text 12"/>
          <p:cNvSpPr/>
          <p:nvPr/>
        </p:nvSpPr>
        <p:spPr>
          <a:xfrm>
            <a:off x="868680" y="3456432"/>
            <a:ext cx="10424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E9C7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그리고 올해, 관세가 사라졌습니다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868680" y="3858768"/>
            <a:ext cx="10424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미국산 유제품 — 2026. 1. 1부터 관세 0% (한·미 FTA)</a:t>
            </a:r>
            <a:endParaRPr lang="en-US" sz="13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EU산 유제품 — 2026. 7. 1부터 관세 0% (한·EU FTA)</a:t>
            </a:r>
            <a:endParaRPr lang="en-US" sz="13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낙농가 설문 95.9%가 '관세 철폐 후 전망 어둡다'</a:t>
            </a:r>
            <a:endParaRPr lang="en-US" sz="13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연간 소득 감소 추정 664억 ~ 최대 2,243억 원 (업계 추산)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66928" y="5376672"/>
            <a:ext cx="11064240" cy="914400"/>
          </a:xfrm>
          <a:prstGeom prst="roundRect">
            <a:avLst>
              <a:gd name="adj" fmla="val 10000"/>
            </a:avLst>
          </a:prstGeom>
          <a:solidFill>
            <a:srgbClr val="B87333"/>
          </a:solidFill>
          <a:ln/>
        </p:spPr>
      </p:sp>
      <p:sp>
        <p:nvSpPr>
          <p:cNvPr id="17" name="Text 15"/>
          <p:cNvSpPr/>
          <p:nvPr/>
        </p:nvSpPr>
        <p:spPr>
          <a:xfrm>
            <a:off x="822960" y="5376672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무관세는 위기의 '원인'이 아니라, 이미 있던 격차가 '드러나는 계기'입니다</a:t>
            </a:r>
            <a:endParaRPr lang="en-US" sz="155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 산업 방향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격차의 실체 — 폴란드 멸균우유의 공습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25880"/>
            <a:ext cx="3547872" cy="1874520"/>
          </a:xfrm>
          <a:prstGeom prst="roundRect">
            <a:avLst>
              <a:gd name="adj" fmla="val 4878"/>
            </a:avLst>
          </a:prstGeom>
          <a:solidFill>
            <a:srgbClr val="EEF4E9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490472"/>
            <a:ext cx="35478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5배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658368" y="2167128"/>
            <a:ext cx="3364992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멸균우유 수입 증가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5년 만에 연 4.9만 톤 (전년비 +30%)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315968" y="1325880"/>
            <a:ext cx="3547872" cy="1874520"/>
          </a:xfrm>
          <a:prstGeom prst="roundRect">
            <a:avLst>
              <a:gd name="adj" fmla="val 4878"/>
            </a:avLst>
          </a:prstGeom>
          <a:solidFill>
            <a:srgbClr val="EEF4E9"/>
          </a:solidFill>
          <a:ln/>
        </p:spPr>
      </p:sp>
      <p:sp>
        <p:nvSpPr>
          <p:cNvPr id="8" name="Text 6"/>
          <p:cNvSpPr/>
          <p:nvPr/>
        </p:nvSpPr>
        <p:spPr>
          <a:xfrm>
            <a:off x="4315968" y="1490472"/>
            <a:ext cx="35478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90%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4407408" y="2167128"/>
            <a:ext cx="3364992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폴란드산 비중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수입 멸균우유 10개 중 9개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065008" y="1325880"/>
            <a:ext cx="3547872" cy="1874520"/>
          </a:xfrm>
          <a:prstGeom prst="roundRect">
            <a:avLst>
              <a:gd name="adj" fmla="val 4878"/>
            </a:avLst>
          </a:prstGeom>
          <a:solidFill>
            <a:srgbClr val="EEF4E9"/>
          </a:solidFill>
          <a:ln/>
        </p:spPr>
      </p:sp>
      <p:sp>
        <p:nvSpPr>
          <p:cNvPr id="11" name="Text 9"/>
          <p:cNvSpPr/>
          <p:nvPr/>
        </p:nvSpPr>
        <p:spPr>
          <a:xfrm>
            <a:off x="8065008" y="1490472"/>
            <a:ext cx="35478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2배 +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8156448" y="2167128"/>
            <a:ext cx="3364992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원유 생산비 격차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한국 1,100원대/L vs 유럽·미국 400~600원/L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66928" y="3401568"/>
            <a:ext cx="11064240" cy="841248"/>
          </a:xfrm>
          <a:prstGeom prst="roundRect">
            <a:avLst>
              <a:gd name="adj" fmla="val 10870"/>
            </a:avLst>
          </a:prstGeom>
          <a:solidFill>
            <a:srgbClr val="F3F6F1"/>
          </a:solidFill>
          <a:ln w="12700">
            <a:solidFill>
              <a:srgbClr val="D8E0D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" y="3401568"/>
            <a:ext cx="10515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소매가 —  폴란드산 멸균유 1,300~1,900원/L   vs   국산 신선유 3,000원대/L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66928" y="4434840"/>
            <a:ext cx="11064240" cy="1234440"/>
          </a:xfrm>
          <a:prstGeom prst="roundRect">
            <a:avLst>
              <a:gd name="adj" fmla="val 7407"/>
            </a:avLst>
          </a:prstGeom>
          <a:solidFill>
            <a:srgbClr val="C8DDA9"/>
          </a:solidFill>
          <a:ln/>
        </p:spPr>
      </p:sp>
      <p:sp>
        <p:nvSpPr>
          <p:cNvPr id="16" name="Text 14"/>
          <p:cNvSpPr/>
          <p:nvPr/>
        </p:nvSpPr>
        <p:spPr>
          <a:xfrm>
            <a:off x="868680" y="4590288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먼저 분명히 해둘 것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868680" y="4956048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격차는 사료 수입 의존·토지 비용 등 구조에서 온 것입니다 — 농가의 노력 부족이 아닙니다.</a:t>
            </a:r>
            <a:endParaRPr lang="en-US" sz="1300" dirty="0"/>
          </a:p>
          <a:p>
            <a:pPr algn="l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그러나 소비자는 우리 사정을 기다려주지 않습니다.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66928" y="5870448"/>
            <a:ext cx="11064240" cy="566928"/>
          </a:xfrm>
          <a:prstGeom prst="roundRect">
            <a:avLst>
              <a:gd name="adj" fmla="val 16129"/>
            </a:avLst>
          </a:prstGeom>
          <a:solidFill>
            <a:srgbClr val="13301F"/>
          </a:solidFill>
          <a:ln/>
        </p:spPr>
      </p:sp>
      <p:sp>
        <p:nvSpPr>
          <p:cNvPr id="19" name="Text 17"/>
          <p:cNvSpPr/>
          <p:nvPr/>
        </p:nvSpPr>
        <p:spPr>
          <a:xfrm>
            <a:off x="822960" y="5870448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8DDA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그렇다면 — 가격으로 못 이기는 싸움을 계속할 것인가</a:t>
            </a:r>
            <a:endParaRPr lang="en-US" sz="15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 산업 방향 · 핵심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그러나 — 소비는 죽지 않았습니다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25880"/>
            <a:ext cx="3547872" cy="1874520"/>
          </a:xfrm>
          <a:prstGeom prst="roundRect">
            <a:avLst>
              <a:gd name="adj" fmla="val 4878"/>
            </a:avLst>
          </a:prstGeom>
          <a:solidFill>
            <a:srgbClr val="EEF4E9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490472"/>
            <a:ext cx="35478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역대 최고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58368" y="2167128"/>
            <a:ext cx="3364992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총 유제품 소비 (원유 환산)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시장 자체는 살아 있습니다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315968" y="1325880"/>
            <a:ext cx="3547872" cy="1874520"/>
          </a:xfrm>
          <a:prstGeom prst="roundRect">
            <a:avLst>
              <a:gd name="adj" fmla="val 4878"/>
            </a:avLst>
          </a:prstGeom>
          <a:solidFill>
            <a:srgbClr val="EEF4E9"/>
          </a:solidFill>
          <a:ln/>
        </p:spPr>
      </p:sp>
      <p:sp>
        <p:nvSpPr>
          <p:cNvPr id="8" name="Text 6"/>
          <p:cNvSpPr/>
          <p:nvPr/>
        </p:nvSpPr>
        <p:spPr>
          <a:xfrm>
            <a:off x="4315968" y="1490472"/>
            <a:ext cx="35478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+68%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4407408" y="2167128"/>
            <a:ext cx="3364992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치즈 1인당 소비 3.7 kg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5년간 68% 증가, 국내 19만 톤 시장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065008" y="1325880"/>
            <a:ext cx="3547872" cy="1874520"/>
          </a:xfrm>
          <a:prstGeom prst="roundRect">
            <a:avLst>
              <a:gd name="adj" fmla="val 4878"/>
            </a:avLst>
          </a:prstGeom>
          <a:solidFill>
            <a:srgbClr val="F3F6F1"/>
          </a:solidFill>
          <a:ln/>
        </p:spPr>
      </p:sp>
      <p:sp>
        <p:nvSpPr>
          <p:cNvPr id="11" name="Text 9"/>
          <p:cNvSpPr/>
          <p:nvPr/>
        </p:nvSpPr>
        <p:spPr>
          <a:xfrm>
            <a:off x="8065008" y="1490472"/>
            <a:ext cx="35478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2%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8156448" y="2167128"/>
            <a:ext cx="3364992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자연치즈 자급률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시장의 96%가 수입산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66928" y="3401568"/>
            <a:ext cx="11064240" cy="1417320"/>
          </a:xfrm>
          <a:prstGeom prst="roundRect">
            <a:avLst>
              <a:gd name="adj" fmla="val 6452"/>
            </a:avLst>
          </a:prstGeom>
          <a:solidFill>
            <a:srgbClr val="13301F"/>
          </a:solidFill>
          <a:ln/>
        </p:spPr>
      </p:sp>
      <p:sp>
        <p:nvSpPr>
          <p:cNvPr id="14" name="Text 12"/>
          <p:cNvSpPr/>
          <p:nvPr/>
        </p:nvSpPr>
        <p:spPr>
          <a:xfrm>
            <a:off x="868680" y="3566160"/>
            <a:ext cx="10424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E9C7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한국 낙농의 문제를 다시 정의하면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868680" y="3950208"/>
            <a:ext cx="10424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'수요 소멸'이 아닙니다.</a:t>
            </a:r>
            <a:endParaRPr lang="en-US" sz="1600" dirty="0"/>
          </a:p>
          <a:p>
            <a:pPr algn="l" indent="0" marL="0">
              <a:lnSpc>
                <a:spcPts val="26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성장하는 시장(가공)은 수입에 내주고, 축소되는 시장(음용유)에만 묶여 있는 구조입니다.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66928" y="5010912"/>
            <a:ext cx="11064240" cy="1280160"/>
          </a:xfrm>
          <a:prstGeom prst="roundRect">
            <a:avLst>
              <a:gd name="adj" fmla="val 7143"/>
            </a:avLst>
          </a:prstGeom>
          <a:solidFill>
            <a:srgbClr val="C8DDA9"/>
          </a:solidFill>
          <a:ln/>
        </p:spPr>
      </p:sp>
      <p:sp>
        <p:nvSpPr>
          <p:cNvPr id="17" name="Text 15"/>
          <p:cNvSpPr/>
          <p:nvPr/>
        </p:nvSpPr>
        <p:spPr>
          <a:xfrm>
            <a:off x="868680" y="5175504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성장하는 19만 톤 시장이 통째로 비어 있습니다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868680" y="5522976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숙성치즈는 재고가 아니라 저장 가능한 자산입니다 — 수급 완충 기능을 합니다.</a:t>
            </a:r>
            <a:endParaRPr lang="en-US" sz="125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고형분이 높은 원유(저지 등)일수록 치즈 수율에서 유리합니다. 목장형 유가공의 다음 단계가 여기 있습니다.</a:t>
            </a:r>
            <a:endParaRPr lang="en-US" sz="125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 산업 방향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갈림길 — 평균이 가장 위험합니다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152144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일본이 20년 먼저 걸어간 길에서 살아남은 것은 양극단이었습니다. '평균적인 농가'가 가장 먼저 사라졌습니다.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609344"/>
            <a:ext cx="5440680" cy="1783080"/>
          </a:xfrm>
          <a:prstGeom prst="roundRect">
            <a:avLst>
              <a:gd name="adj" fmla="val 5128"/>
            </a:avLst>
          </a:prstGeom>
          <a:solidFill>
            <a:srgbClr val="F3F6F1"/>
          </a:solidFill>
          <a:ln w="12700">
            <a:solidFill>
              <a:srgbClr val="E0E6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1773936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길 ①  규모화 + 데이터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68680" y="2176272"/>
            <a:ext cx="4892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원가로 버티는 전업농</a:t>
            </a:r>
            <a:endParaRPr lang="en-US" sz="1250" dirty="0"/>
          </a:p>
          <a:p>
            <a:pPr algn="l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센서·AI로 번식·질병 손실을 줄여</a:t>
            </a:r>
            <a:endParaRPr lang="en-US" sz="1250" dirty="0"/>
          </a:p>
          <a:p>
            <a:pPr algn="l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리터당 원가를 깎는 300두+ 모델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190488" y="1609344"/>
            <a:ext cx="5440680" cy="1783080"/>
          </a:xfrm>
          <a:prstGeom prst="roundRect">
            <a:avLst>
              <a:gd name="adj" fmla="val 5128"/>
            </a:avLst>
          </a:prstGeom>
          <a:solidFill>
            <a:srgbClr val="C8DDA9"/>
          </a:solidFill>
          <a:ln/>
        </p:spPr>
      </p:sp>
      <p:sp>
        <p:nvSpPr>
          <p:cNvPr id="9" name="Text 7"/>
          <p:cNvSpPr/>
          <p:nvPr/>
        </p:nvSpPr>
        <p:spPr>
          <a:xfrm>
            <a:off x="6492240" y="1773936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길 ②  브랜드 + 가공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492240" y="2176272"/>
            <a:ext cx="4892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가치로 파는 목장형 농가</a:t>
            </a:r>
            <a:endParaRPr lang="en-US" sz="1250" dirty="0"/>
          </a:p>
          <a:p>
            <a:pPr algn="l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프리미엄 원유 + 유가공 + 직판으로</a:t>
            </a:r>
            <a:endParaRPr lang="en-US" sz="1250" dirty="0"/>
          </a:p>
          <a:p>
            <a:pPr algn="l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소비자가격 전체를 가져오는 모델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566928" y="3474720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둘 다 못 가는 '어중간한 중간'이 가장 먼저 사라집니다.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66928" y="3913632"/>
            <a:ext cx="3547872" cy="2148840"/>
          </a:xfrm>
          <a:prstGeom prst="roundRect">
            <a:avLst>
              <a:gd name="adj" fmla="val 4255"/>
            </a:avLst>
          </a:prstGeom>
          <a:solidFill>
            <a:srgbClr val="F3F6F1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66928" y="3913632"/>
            <a:ext cx="3547872" cy="640080"/>
          </a:xfrm>
          <a:prstGeom prst="roundRect">
            <a:avLst>
              <a:gd name="adj" fmla="val 14286"/>
            </a:avLst>
          </a:prstGeom>
          <a:solidFill>
            <a:srgbClr val="2C5F2D"/>
          </a:solidFill>
          <a:ln/>
        </p:spPr>
      </p:sp>
      <p:sp>
        <p:nvSpPr>
          <p:cNvPr id="14" name="Text 12"/>
          <p:cNvSpPr/>
          <p:nvPr/>
        </p:nvSpPr>
        <p:spPr>
          <a:xfrm>
            <a:off x="768096" y="3986784"/>
            <a:ext cx="31455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무기 1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68096" y="4206240"/>
            <a:ext cx="31455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04672" y="4663440"/>
            <a:ext cx="3090672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사료값은 못 바꾸지만 번식·질병 손실은 바꿉니다.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공태일수 1일 ≈ 1만 원 — 1년이면 소 한 마리 값.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센서+AI로 공태일수 20~30일 단축 목표.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4315968" y="3913632"/>
            <a:ext cx="3547872" cy="2148840"/>
          </a:xfrm>
          <a:prstGeom prst="roundRect">
            <a:avLst>
              <a:gd name="adj" fmla="val 4255"/>
            </a:avLst>
          </a:prstGeom>
          <a:solidFill>
            <a:srgbClr val="F3F6F1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315968" y="3913632"/>
            <a:ext cx="3547872" cy="640080"/>
          </a:xfrm>
          <a:prstGeom prst="roundRect">
            <a:avLst>
              <a:gd name="adj" fmla="val 14286"/>
            </a:avLst>
          </a:prstGeom>
          <a:solidFill>
            <a:srgbClr val="B87333"/>
          </a:solidFill>
          <a:ln/>
        </p:spPr>
      </p:sp>
      <p:sp>
        <p:nvSpPr>
          <p:cNvPr id="19" name="Text 17"/>
          <p:cNvSpPr/>
          <p:nvPr/>
        </p:nvSpPr>
        <p:spPr>
          <a:xfrm>
            <a:off x="4517136" y="3986784"/>
            <a:ext cx="31455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무기 2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4517136" y="4206240"/>
            <a:ext cx="31455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가치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4553712" y="4663440"/>
            <a:ext cx="3090672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신선함·목장 직송·얼굴 있는 생산자는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멸균 수입유가 침범할 수 없는 영역입니다.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A2·저지·건초급여·목장형 유가공.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8065008" y="3913632"/>
            <a:ext cx="3547872" cy="2148840"/>
          </a:xfrm>
          <a:prstGeom prst="roundRect">
            <a:avLst>
              <a:gd name="adj" fmla="val 4255"/>
            </a:avLst>
          </a:prstGeom>
          <a:solidFill>
            <a:srgbClr val="F3F6F1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8065008" y="3913632"/>
            <a:ext cx="3547872" cy="640080"/>
          </a:xfrm>
          <a:prstGeom prst="roundRect">
            <a:avLst>
              <a:gd name="adj" fmla="val 14286"/>
            </a:avLst>
          </a:prstGeom>
          <a:solidFill>
            <a:srgbClr val="97BC62"/>
          </a:solidFill>
          <a:ln/>
        </p:spPr>
      </p:sp>
      <p:sp>
        <p:nvSpPr>
          <p:cNvPr id="24" name="Text 22"/>
          <p:cNvSpPr/>
          <p:nvPr/>
        </p:nvSpPr>
        <p:spPr>
          <a:xfrm>
            <a:off x="8266176" y="3986784"/>
            <a:ext cx="31455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무기 3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8266176" y="4206240"/>
            <a:ext cx="31455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정책과 환경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8302752" y="4663440"/>
            <a:ext cx="3090672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낙농은 식량안보 산업 — 공적 자금은 계속 들어옵니다.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악취·분뇨·탄소는 비용이 아니라 '존속 면허'.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깔짚·퇴비 관리가 출발점입니다.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566928" y="63276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공태일수 단축 수치는 국내외 파일럿에서의 목표치이며 목장별 결과는 다를 수 있습니다.</a:t>
            </a:r>
            <a:endParaRPr lang="en-US" sz="10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1330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97BC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 산업 방향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다만 — 이 무기들은 농가 혼자 들 수 없습니다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152144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C8DDA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문제라도 농가가 할 일, 조합·지역이 할 일, 국가·연구기관이 할 일이 다릅니다. 층을 나누지 않으면 아무도 시작하지 못합니다.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627632"/>
            <a:ext cx="3547872" cy="3703320"/>
          </a:xfrm>
          <a:prstGeom prst="roundRect">
            <a:avLst>
              <a:gd name="adj" fmla="val 2577"/>
            </a:avLst>
          </a:prstGeom>
          <a:solidFill>
            <a:srgbClr val="1C4028"/>
          </a:solidFill>
          <a:ln/>
        </p:spPr>
      </p:sp>
      <p:sp>
        <p:nvSpPr>
          <p:cNvPr id="6" name="Shape 4"/>
          <p:cNvSpPr/>
          <p:nvPr/>
        </p:nvSpPr>
        <p:spPr>
          <a:xfrm>
            <a:off x="566928" y="1627632"/>
            <a:ext cx="3547872" cy="786384"/>
          </a:xfrm>
          <a:prstGeom prst="roundRect">
            <a:avLst>
              <a:gd name="adj" fmla="val 11628"/>
            </a:avLst>
          </a:prstGeom>
          <a:solidFill>
            <a:srgbClr val="2C5F2D"/>
          </a:solidFill>
          <a:ln/>
        </p:spPr>
      </p:sp>
      <p:sp>
        <p:nvSpPr>
          <p:cNvPr id="7" name="Text 5"/>
          <p:cNvSpPr/>
          <p:nvPr/>
        </p:nvSpPr>
        <p:spPr>
          <a:xfrm>
            <a:off x="768096" y="1682496"/>
            <a:ext cx="31455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농가가 할 일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768096" y="2066544"/>
            <a:ext cx="3145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8DDA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 당장, 내 목장에서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86384" y="2578608"/>
            <a:ext cx="3127248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원유의 성격을 바꾼다 — 품종·유전형·사양방식</a:t>
            </a:r>
            <a:endParaRPr lang="en-US" sz="1150" dirty="0"/>
          </a:p>
          <a:p>
            <a:pPr marL="342900" indent="-342900">
              <a:lnSpc>
                <a:spcPts val="2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잉여 원유를 제품으로 돌린다</a:t>
            </a:r>
            <a:endParaRPr lang="en-US" sz="1150" dirty="0"/>
          </a:p>
          <a:p>
            <a:pPr marL="342900" indent="-342900">
              <a:lnSpc>
                <a:spcPts val="2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깔짚·퇴비를 관리해 '존속 면허'를 지킨다</a:t>
            </a:r>
            <a:endParaRPr lang="en-US" sz="1150" dirty="0"/>
          </a:p>
          <a:p>
            <a:pPr marL="342900" indent="-342900">
              <a:lnSpc>
                <a:spcPts val="2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기록한다 — 기록 없이는 개선도 없습니다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15968" y="1627632"/>
            <a:ext cx="3547872" cy="3703320"/>
          </a:xfrm>
          <a:prstGeom prst="roundRect">
            <a:avLst>
              <a:gd name="adj" fmla="val 2577"/>
            </a:avLst>
          </a:prstGeom>
          <a:solidFill>
            <a:srgbClr val="1C4028"/>
          </a:solidFill>
          <a:ln/>
        </p:spPr>
      </p:sp>
      <p:sp>
        <p:nvSpPr>
          <p:cNvPr id="11" name="Shape 9"/>
          <p:cNvSpPr/>
          <p:nvPr/>
        </p:nvSpPr>
        <p:spPr>
          <a:xfrm>
            <a:off x="4315968" y="1627632"/>
            <a:ext cx="3547872" cy="786384"/>
          </a:xfrm>
          <a:prstGeom prst="roundRect">
            <a:avLst>
              <a:gd name="adj" fmla="val 11628"/>
            </a:avLst>
          </a:prstGeom>
          <a:solidFill>
            <a:srgbClr val="B87333"/>
          </a:solidFill>
          <a:ln/>
        </p:spPr>
      </p:sp>
      <p:sp>
        <p:nvSpPr>
          <p:cNvPr id="12" name="Text 10"/>
          <p:cNvSpPr/>
          <p:nvPr/>
        </p:nvSpPr>
        <p:spPr>
          <a:xfrm>
            <a:off x="4517136" y="1682496"/>
            <a:ext cx="31455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조합 · 지역이 할 일</a:t>
            </a:r>
            <a:endParaRPr lang="en-US" sz="1550" dirty="0"/>
          </a:p>
        </p:txBody>
      </p:sp>
      <p:sp>
        <p:nvSpPr>
          <p:cNvPr id="13" name="Text 11"/>
          <p:cNvSpPr/>
          <p:nvPr/>
        </p:nvSpPr>
        <p:spPr>
          <a:xfrm>
            <a:off x="4517136" y="2066544"/>
            <a:ext cx="3145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혼자서는 안 되는 것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35424" y="2578608"/>
            <a:ext cx="3127248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지원사업 공동 신청 — 자부담을 낮춘다</a:t>
            </a:r>
            <a:endParaRPr lang="en-US" sz="1150" dirty="0"/>
          </a:p>
          <a:p>
            <a:pPr marL="342900" indent="-342900">
              <a:lnSpc>
                <a:spcPts val="2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공동 브랜드와 공동 판로</a:t>
            </a:r>
            <a:endParaRPr lang="en-US" sz="1150" dirty="0"/>
          </a:p>
          <a:p>
            <a:pPr marL="342900" indent="-342900">
              <a:lnSpc>
                <a:spcPts val="2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센서 데이터를 읽어줄 인력의 공동 활용</a:t>
            </a:r>
            <a:endParaRPr lang="en-US" sz="1150" dirty="0"/>
          </a:p>
          <a:p>
            <a:pPr marL="342900" indent="-342900">
              <a:lnSpc>
                <a:spcPts val="2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성공과 실패 사례를 조합 안에서 공유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065008" y="1627632"/>
            <a:ext cx="3547872" cy="3703320"/>
          </a:xfrm>
          <a:prstGeom prst="roundRect">
            <a:avLst>
              <a:gd name="adj" fmla="val 2577"/>
            </a:avLst>
          </a:prstGeom>
          <a:solidFill>
            <a:srgbClr val="1C4028"/>
          </a:solidFill>
          <a:ln/>
        </p:spPr>
      </p:sp>
      <p:sp>
        <p:nvSpPr>
          <p:cNvPr id="16" name="Shape 14"/>
          <p:cNvSpPr/>
          <p:nvPr/>
        </p:nvSpPr>
        <p:spPr>
          <a:xfrm>
            <a:off x="8065008" y="1627632"/>
            <a:ext cx="3547872" cy="786384"/>
          </a:xfrm>
          <a:prstGeom prst="roundRect">
            <a:avLst>
              <a:gd name="adj" fmla="val 11628"/>
            </a:avLst>
          </a:prstGeom>
          <a:solidFill>
            <a:srgbClr val="8A5A22"/>
          </a:solidFill>
          <a:ln/>
        </p:spPr>
      </p:sp>
      <p:sp>
        <p:nvSpPr>
          <p:cNvPr id="17" name="Text 15"/>
          <p:cNvSpPr/>
          <p:nvPr/>
        </p:nvSpPr>
        <p:spPr>
          <a:xfrm>
            <a:off x="8266176" y="1682496"/>
            <a:ext cx="31455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국가 · 연구기관이 할 일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8266176" y="2066544"/>
            <a:ext cx="3145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이 자리의 몫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8284464" y="2578608"/>
            <a:ext cx="3127248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효과를 공인된 방법으로 측정하고 검증한다</a:t>
            </a:r>
            <a:endParaRPr lang="en-US" sz="1150" dirty="0"/>
          </a:p>
          <a:p>
            <a:pPr marL="342900" indent="-342900">
              <a:lnSpc>
                <a:spcPts val="2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농가가 따라 할 수 있는 표준과 매뉴얼을 만든다</a:t>
            </a:r>
            <a:endParaRPr lang="en-US" sz="1150" dirty="0"/>
          </a:p>
          <a:p>
            <a:pPr marL="342900" indent="-342900">
              <a:lnSpc>
                <a:spcPts val="2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 개발과 보급을 순차가 아니라 병행으로 돌린다</a:t>
            </a:r>
            <a:endParaRPr lang="en-US" sz="1150" dirty="0"/>
          </a:p>
          <a:p>
            <a:pPr marL="342900" indent="-342900">
              <a:lnSpc>
                <a:spcPts val="2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차별화 사양·표시 기준을 제도로 정리한다</a:t>
            </a:r>
            <a:endParaRPr lang="en-US" sz="1150" dirty="0"/>
          </a:p>
          <a:p>
            <a:pPr marL="342900" indent="-342900">
              <a:lnSpc>
                <a:spcPts val="2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비어 있는 시장(자연치즈)의 진입 기술을 지원한다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66928" y="553212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B87333"/>
          </a:solidFill>
          <a:ln/>
        </p:spPr>
      </p:sp>
      <p:sp>
        <p:nvSpPr>
          <p:cNvPr id="21" name="Text 19"/>
          <p:cNvSpPr/>
          <p:nvPr/>
        </p:nvSpPr>
        <p:spPr>
          <a:xfrm>
            <a:off x="822960" y="5532120"/>
            <a:ext cx="10515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지킬 시장과 내줄 시장을 구분하고 — 데이터로 원가를, 브랜드로 가격을, 정책 자금으로 전환 비용을</a:t>
            </a:r>
            <a:endParaRPr lang="en-US" sz="15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 산업 방향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저희는 ②의 길을 택했습니다 — 네 가지 전환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280160"/>
            <a:ext cx="11064240" cy="1097280"/>
          </a:xfrm>
          <a:prstGeom prst="roundRect">
            <a:avLst>
              <a:gd name="adj" fmla="val 8333"/>
            </a:avLst>
          </a:prstGeom>
          <a:solidFill>
            <a:srgbClr val="EEF4E9"/>
          </a:solidFill>
          <a:ln/>
        </p:spPr>
      </p:sp>
      <p:sp>
        <p:nvSpPr>
          <p:cNvPr id="5" name="Shape 3"/>
          <p:cNvSpPr/>
          <p:nvPr/>
        </p:nvSpPr>
        <p:spPr>
          <a:xfrm>
            <a:off x="804672" y="1609344"/>
            <a:ext cx="457200" cy="457200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6" name="Text 4"/>
          <p:cNvSpPr/>
          <p:nvPr/>
        </p:nvSpPr>
        <p:spPr>
          <a:xfrm>
            <a:off x="804672" y="16093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417320" y="1371600"/>
            <a:ext cx="1234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규모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2697480" y="1481328"/>
            <a:ext cx="310896" cy="237744"/>
          </a:xfrm>
          <a:prstGeom prst="rightArrow">
            <a:avLst/>
          </a:prstGeom>
          <a:solidFill>
            <a:srgbClr val="97BC62"/>
          </a:solidFill>
          <a:ln/>
        </p:spPr>
      </p:sp>
      <p:sp>
        <p:nvSpPr>
          <p:cNvPr id="9" name="Text 7"/>
          <p:cNvSpPr/>
          <p:nvPr/>
        </p:nvSpPr>
        <p:spPr>
          <a:xfrm>
            <a:off x="3108960" y="1371600"/>
            <a:ext cx="1234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가치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417320" y="1810512"/>
            <a:ext cx="9921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두수 경쟁 대신 품종·유전형·사양방식으로 원유의 성격 자체를 차별화합니다.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작은 목장이 살아남는 유일한 길은 '다른 우유'를 만드는 것입니다.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66928" y="2523744"/>
            <a:ext cx="11064240" cy="1097280"/>
          </a:xfrm>
          <a:prstGeom prst="roundRect">
            <a:avLst>
              <a:gd name="adj" fmla="val 8333"/>
            </a:avLst>
          </a:prstGeom>
          <a:solidFill>
            <a:srgbClr val="F3F6F1"/>
          </a:solidFill>
          <a:ln/>
        </p:spPr>
      </p:sp>
      <p:sp>
        <p:nvSpPr>
          <p:cNvPr id="12" name="Shape 10"/>
          <p:cNvSpPr/>
          <p:nvPr/>
        </p:nvSpPr>
        <p:spPr>
          <a:xfrm>
            <a:off x="804672" y="2852928"/>
            <a:ext cx="457200" cy="457200"/>
          </a:xfrm>
          <a:prstGeom prst="ellipse">
            <a:avLst/>
          </a:prstGeom>
          <a:solidFill>
            <a:srgbClr val="B87333"/>
          </a:solidFill>
          <a:ln/>
        </p:spPr>
      </p:sp>
      <p:sp>
        <p:nvSpPr>
          <p:cNvPr id="13" name="Text 11"/>
          <p:cNvSpPr/>
          <p:nvPr/>
        </p:nvSpPr>
        <p:spPr>
          <a:xfrm>
            <a:off x="804672" y="28529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417320" y="2615184"/>
            <a:ext cx="1234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비용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2697480" y="2724912"/>
            <a:ext cx="310896" cy="237744"/>
          </a:xfrm>
          <a:prstGeom prst="rightArrow">
            <a:avLst/>
          </a:prstGeom>
          <a:solidFill>
            <a:srgbClr val="97BC62"/>
          </a:solidFill>
          <a:ln/>
        </p:spPr>
      </p:sp>
      <p:sp>
        <p:nvSpPr>
          <p:cNvPr id="16" name="Text 14"/>
          <p:cNvSpPr/>
          <p:nvPr/>
        </p:nvSpPr>
        <p:spPr>
          <a:xfrm>
            <a:off x="3108960" y="2615184"/>
            <a:ext cx="1234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자산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417320" y="3054096"/>
            <a:ext cx="9921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분뇨와 악취를 처리 대상이 아니라 퇴비·탄소 자원으로 전환합니다.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환경 규제를 방어가 아니라 기회로 바꾸는 설계가 필요합니다.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566928" y="3767328"/>
            <a:ext cx="11064240" cy="1097280"/>
          </a:xfrm>
          <a:prstGeom prst="roundRect">
            <a:avLst>
              <a:gd name="adj" fmla="val 8333"/>
            </a:avLst>
          </a:prstGeom>
          <a:solidFill>
            <a:srgbClr val="EEF4E9"/>
          </a:solidFill>
          <a:ln/>
        </p:spPr>
      </p:sp>
      <p:sp>
        <p:nvSpPr>
          <p:cNvPr id="19" name="Shape 17"/>
          <p:cNvSpPr/>
          <p:nvPr/>
        </p:nvSpPr>
        <p:spPr>
          <a:xfrm>
            <a:off x="804672" y="4096512"/>
            <a:ext cx="457200" cy="457200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20" name="Text 18"/>
          <p:cNvSpPr/>
          <p:nvPr/>
        </p:nvSpPr>
        <p:spPr>
          <a:xfrm>
            <a:off x="804672" y="40965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417320" y="3858768"/>
            <a:ext cx="1234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경험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2697480" y="3968496"/>
            <a:ext cx="310896" cy="237744"/>
          </a:xfrm>
          <a:prstGeom prst="rightArrow">
            <a:avLst/>
          </a:prstGeom>
          <a:solidFill>
            <a:srgbClr val="97BC62"/>
          </a:solidFill>
          <a:ln/>
        </p:spPr>
      </p:sp>
      <p:sp>
        <p:nvSpPr>
          <p:cNvPr id="23" name="Text 21"/>
          <p:cNvSpPr/>
          <p:nvPr/>
        </p:nvSpPr>
        <p:spPr>
          <a:xfrm>
            <a:off x="3108960" y="3858768"/>
            <a:ext cx="1234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1417320" y="4297680"/>
            <a:ext cx="9921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숙련의 감(感)은 승계되지 않지만 데이터는 승계됩니다.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고령화·인력난 시대에 정밀낙농은 선택이 아니라 대응책입니다.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566928" y="5010912"/>
            <a:ext cx="11064240" cy="1097280"/>
          </a:xfrm>
          <a:prstGeom prst="roundRect">
            <a:avLst>
              <a:gd name="adj" fmla="val 8333"/>
            </a:avLst>
          </a:prstGeom>
          <a:solidFill>
            <a:srgbClr val="F3F6F1"/>
          </a:solidFill>
          <a:ln/>
        </p:spPr>
      </p:sp>
      <p:sp>
        <p:nvSpPr>
          <p:cNvPr id="26" name="Shape 24"/>
          <p:cNvSpPr/>
          <p:nvPr/>
        </p:nvSpPr>
        <p:spPr>
          <a:xfrm>
            <a:off x="804672" y="5340096"/>
            <a:ext cx="457200" cy="457200"/>
          </a:xfrm>
          <a:prstGeom prst="ellipse">
            <a:avLst/>
          </a:prstGeom>
          <a:solidFill>
            <a:srgbClr val="B87333"/>
          </a:solidFill>
          <a:ln/>
        </p:spPr>
      </p:sp>
      <p:sp>
        <p:nvSpPr>
          <p:cNvPr id="27" name="Text 25"/>
          <p:cNvSpPr/>
          <p:nvPr/>
        </p:nvSpPr>
        <p:spPr>
          <a:xfrm>
            <a:off x="804672" y="53400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1417320" y="5102352"/>
            <a:ext cx="1234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원유</a:t>
            </a:r>
            <a:endParaRPr lang="en-US" sz="1500" dirty="0"/>
          </a:p>
        </p:txBody>
      </p:sp>
      <p:sp>
        <p:nvSpPr>
          <p:cNvPr id="29" name="Shape 27"/>
          <p:cNvSpPr/>
          <p:nvPr/>
        </p:nvSpPr>
        <p:spPr>
          <a:xfrm>
            <a:off x="2697480" y="5212080"/>
            <a:ext cx="310896" cy="237744"/>
          </a:xfrm>
          <a:prstGeom prst="rightArrow">
            <a:avLst/>
          </a:prstGeom>
          <a:solidFill>
            <a:srgbClr val="97BC62"/>
          </a:solidFill>
          <a:ln/>
        </p:spPr>
      </p:sp>
      <p:sp>
        <p:nvSpPr>
          <p:cNvPr id="30" name="Text 28"/>
          <p:cNvSpPr/>
          <p:nvPr/>
        </p:nvSpPr>
        <p:spPr>
          <a:xfrm>
            <a:off x="3108960" y="5102352"/>
            <a:ext cx="1234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브랜드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1417320" y="5541264"/>
            <a:ext cx="9921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원유 납품만으로는 가격 결정권이 없습니다.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가공·직판으로 소비자와 직접 연결되는 농가가 늘어야 합니다.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566928" y="6263640"/>
            <a:ext cx="11064240" cy="914"/>
          </a:xfrm>
          <a:prstGeom prst="roundRect">
            <a:avLst>
              <a:gd name="adj" fmla="val 10004376"/>
            </a:avLst>
          </a:prstGeom>
          <a:solidFill>
            <a:srgbClr val="FFFFFF"/>
          </a:solidFill>
          <a:ln/>
        </p:spPr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1330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97BC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 시범사업 제안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제안 — 시범사업 5건, 그리고 확장 2건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152144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C8DDA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먼저 지금 바로 착수 가능한 5건입니다. 이어서 한 단계 더 나아간 확장 제안 2건을 말씀드리겠습니다.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66928" y="1691640"/>
            <a:ext cx="2048256" cy="3063240"/>
          </a:xfrm>
          <a:prstGeom prst="roundRect">
            <a:avLst>
              <a:gd name="adj" fmla="val 4464"/>
            </a:avLst>
          </a:prstGeom>
          <a:solidFill>
            <a:srgbClr val="B87333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1874520"/>
            <a:ext cx="20482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694944" y="2606040"/>
            <a:ext cx="179222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저지 · A2A2 축군 조성 실증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94944" y="3703320"/>
            <a:ext cx="17922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C8DDA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수정란이식 기반 증식 모델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825496" y="1691640"/>
            <a:ext cx="2048256" cy="3063240"/>
          </a:xfrm>
          <a:prstGeom prst="roundRect">
            <a:avLst>
              <a:gd name="adj" fmla="val 4464"/>
            </a:avLst>
          </a:prstGeom>
          <a:solidFill>
            <a:srgbClr val="2C5F2D"/>
          </a:solidFill>
          <a:ln/>
        </p:spPr>
      </p:sp>
      <p:sp>
        <p:nvSpPr>
          <p:cNvPr id="10" name="Text 8"/>
          <p:cNvSpPr/>
          <p:nvPr/>
        </p:nvSpPr>
        <p:spPr>
          <a:xfrm>
            <a:off x="2825496" y="1874520"/>
            <a:ext cx="20482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</a:t>
            </a:r>
            <a:endParaRPr lang="en-US" sz="3400" dirty="0"/>
          </a:p>
        </p:txBody>
      </p:sp>
      <p:sp>
        <p:nvSpPr>
          <p:cNvPr id="11" name="Text 9"/>
          <p:cNvSpPr/>
          <p:nvPr/>
        </p:nvSpPr>
        <p:spPr>
          <a:xfrm>
            <a:off x="2953512" y="2606040"/>
            <a:ext cx="179222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피트모스 HBP 악취저감 정량 실증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2953512" y="3703320"/>
            <a:ext cx="17922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C8DDA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악취물질·체세포·경제성 측정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084064" y="1691640"/>
            <a:ext cx="2048256" cy="3063240"/>
          </a:xfrm>
          <a:prstGeom prst="roundRect">
            <a:avLst>
              <a:gd name="adj" fmla="val 4464"/>
            </a:avLst>
          </a:prstGeom>
          <a:solidFill>
            <a:srgbClr val="97BC62"/>
          </a:solidFill>
          <a:ln/>
        </p:spPr>
      </p:sp>
      <p:sp>
        <p:nvSpPr>
          <p:cNvPr id="14" name="Text 12"/>
          <p:cNvSpPr/>
          <p:nvPr/>
        </p:nvSpPr>
        <p:spPr>
          <a:xfrm>
            <a:off x="5084064" y="1874520"/>
            <a:ext cx="20482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</a:t>
            </a:r>
            <a:endParaRPr lang="en-US" sz="3400" dirty="0"/>
          </a:p>
        </p:txBody>
      </p:sp>
      <p:sp>
        <p:nvSpPr>
          <p:cNvPr id="15" name="Text 13"/>
          <p:cNvSpPr/>
          <p:nvPr/>
        </p:nvSpPr>
        <p:spPr>
          <a:xfrm>
            <a:off x="5212080" y="2606040"/>
            <a:ext cx="179222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정밀낙농 센서 현장 실증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212080" y="3703320"/>
            <a:ext cx="17922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번식성적·질병 조기발견 효과 검증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342632" y="1691640"/>
            <a:ext cx="2048256" cy="3063240"/>
          </a:xfrm>
          <a:prstGeom prst="roundRect">
            <a:avLst>
              <a:gd name="adj" fmla="val 4464"/>
            </a:avLst>
          </a:prstGeom>
          <a:solidFill>
            <a:srgbClr val="8A5A22"/>
          </a:solidFill>
          <a:ln/>
        </p:spPr>
      </p:sp>
      <p:sp>
        <p:nvSpPr>
          <p:cNvPr id="18" name="Text 16"/>
          <p:cNvSpPr/>
          <p:nvPr/>
        </p:nvSpPr>
        <p:spPr>
          <a:xfrm>
            <a:off x="7342632" y="1874520"/>
            <a:ext cx="20482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</a:t>
            </a:r>
            <a:endParaRPr lang="en-US" sz="3400" dirty="0"/>
          </a:p>
        </p:txBody>
      </p:sp>
      <p:sp>
        <p:nvSpPr>
          <p:cNvPr id="19" name="Text 17"/>
          <p:cNvSpPr/>
          <p:nvPr/>
        </p:nvSpPr>
        <p:spPr>
          <a:xfrm>
            <a:off x="7470648" y="2606040"/>
            <a:ext cx="179222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소규모 유가공 표준모델 개발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7470648" y="3703320"/>
            <a:ext cx="17922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C8DDA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인허가~판로까지 농가 매뉴얼화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9601200" y="1691640"/>
            <a:ext cx="2048256" cy="3063240"/>
          </a:xfrm>
          <a:prstGeom prst="roundRect">
            <a:avLst>
              <a:gd name="adj" fmla="val 4464"/>
            </a:avLst>
          </a:prstGeom>
          <a:solidFill>
            <a:srgbClr val="1C4028"/>
          </a:solidFill>
          <a:ln/>
        </p:spPr>
      </p:sp>
      <p:sp>
        <p:nvSpPr>
          <p:cNvPr id="22" name="Text 20"/>
          <p:cNvSpPr/>
          <p:nvPr/>
        </p:nvSpPr>
        <p:spPr>
          <a:xfrm>
            <a:off x="9601200" y="1874520"/>
            <a:ext cx="20482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</a:t>
            </a:r>
            <a:endParaRPr lang="en-US" sz="3400" dirty="0"/>
          </a:p>
        </p:txBody>
      </p:sp>
      <p:sp>
        <p:nvSpPr>
          <p:cNvPr id="23" name="Text 21"/>
          <p:cNvSpPr/>
          <p:nvPr/>
        </p:nvSpPr>
        <p:spPr>
          <a:xfrm>
            <a:off x="9729216" y="2606040"/>
            <a:ext cx="179222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축산 순환농업 퇴비 품질 실증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9729216" y="3703320"/>
            <a:ext cx="17922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C8DDA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HBP 배출물의 비료 품질·환원 효과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66928" y="5029200"/>
            <a:ext cx="11064240" cy="1234440"/>
          </a:xfrm>
          <a:prstGeom prst="roundRect">
            <a:avLst>
              <a:gd name="adj" fmla="val 7407"/>
            </a:avLst>
          </a:prstGeom>
          <a:solidFill>
            <a:srgbClr val="1C4028"/>
          </a:solidFill>
          <a:ln/>
        </p:spPr>
      </p:sp>
      <p:sp>
        <p:nvSpPr>
          <p:cNvPr id="26" name="Text 24"/>
          <p:cNvSpPr/>
          <p:nvPr/>
        </p:nvSpPr>
        <p:spPr>
          <a:xfrm>
            <a:off x="868680" y="5166360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E9C7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공통 원칙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868680" y="5504688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대조구를 두고 측정합니다 ② 측정은 공인 방법으로 합니다 ③ 결과는 실패도 포함해 공개합니다</a:t>
            </a:r>
            <a:endParaRPr lang="en-US" sz="125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 마지막 산출물은 논문이 아니라 '농가가 따라 할 수 있는 매뉴얼'이어야 합니다</a:t>
            </a:r>
            <a:endParaRPr lang="en-US" sz="125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 시범사업 제안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제안 과제 상세 (1/2)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280160"/>
            <a:ext cx="3547872" cy="4800600"/>
          </a:xfrm>
          <a:prstGeom prst="roundRect">
            <a:avLst>
              <a:gd name="adj" fmla="val 2577"/>
            </a:avLst>
          </a:prstGeom>
          <a:solidFill>
            <a:srgbClr val="F3F6F1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66928" y="1280160"/>
            <a:ext cx="3547872" cy="777240"/>
          </a:xfrm>
          <a:prstGeom prst="roundRect">
            <a:avLst>
              <a:gd name="adj" fmla="val 11765"/>
            </a:avLst>
          </a:prstGeom>
          <a:solidFill>
            <a:srgbClr val="B87333"/>
          </a:solidFill>
          <a:ln/>
        </p:spPr>
      </p:sp>
      <p:sp>
        <p:nvSpPr>
          <p:cNvPr id="6" name="Text 4"/>
          <p:cNvSpPr/>
          <p:nvPr/>
        </p:nvSpPr>
        <p:spPr>
          <a:xfrm>
            <a:off x="749808" y="1280160"/>
            <a:ext cx="31821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A.  저지 · A2A2 축군 조성 실증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768096" y="2212848"/>
            <a:ext cx="3145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768096" y="2505456"/>
            <a:ext cx="31455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수정란이식으로 특정 형질(A2A2·고유지방) 축군을 조성하는 모델의 재현성 검증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768096" y="3511296"/>
            <a:ext cx="3145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목장이 제공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768096" y="3803904"/>
            <a:ext cx="31455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공란우 선발 · 수정란 공급 · 이식 시술 · 유전형 검사 · 후대 성적 추적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768096" y="4809744"/>
            <a:ext cx="3145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연구기관에 요청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768096" y="5102352"/>
            <a:ext cx="31455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유전형 검사 지원, 후대 유성분·산유 성적의 객관적 검정, 경제성 분석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315968" y="1280160"/>
            <a:ext cx="3547872" cy="4800600"/>
          </a:xfrm>
          <a:prstGeom prst="roundRect">
            <a:avLst>
              <a:gd name="adj" fmla="val 2577"/>
            </a:avLst>
          </a:prstGeom>
          <a:solidFill>
            <a:srgbClr val="F3F6F1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315968" y="1280160"/>
            <a:ext cx="3547872" cy="777240"/>
          </a:xfrm>
          <a:prstGeom prst="roundRect">
            <a:avLst>
              <a:gd name="adj" fmla="val 11765"/>
            </a:avLst>
          </a:prstGeom>
          <a:solidFill>
            <a:srgbClr val="2C5F2D"/>
          </a:solidFill>
          <a:ln/>
        </p:spPr>
      </p:sp>
      <p:sp>
        <p:nvSpPr>
          <p:cNvPr id="15" name="Text 13"/>
          <p:cNvSpPr/>
          <p:nvPr/>
        </p:nvSpPr>
        <p:spPr>
          <a:xfrm>
            <a:off x="4498848" y="1280160"/>
            <a:ext cx="31821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B.  피트모스 HBP 악취저감 정량 실증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4517136" y="2212848"/>
            <a:ext cx="3145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C5F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517136" y="2505456"/>
            <a:ext cx="31455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HBP 운영 구간과 대조 구간의 악취물질 농도 및 사육 성적 차이를 정량 측정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4517136" y="3511296"/>
            <a:ext cx="3145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C5F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목장이 제공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4517136" y="3803904"/>
            <a:ext cx="31455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HBP 구간 운영 · 관리 SOP 준수 · 교반/수분/보충 기록 제공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4517136" y="4809744"/>
            <a:ext cx="3145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C5F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연구기관에 요청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4517136" y="5102352"/>
            <a:ext cx="31455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암모니아·황화수소 등 악취물질 공인 측정, 체세포·유방염 데이터 대조 분석 (산자부 축산로봇 과제 실증과 연계 가능)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8065008" y="1280160"/>
            <a:ext cx="3547872" cy="4800600"/>
          </a:xfrm>
          <a:prstGeom prst="roundRect">
            <a:avLst>
              <a:gd name="adj" fmla="val 2577"/>
            </a:avLst>
          </a:prstGeom>
          <a:solidFill>
            <a:srgbClr val="F3F6F1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8065008" y="1280160"/>
            <a:ext cx="3547872" cy="777240"/>
          </a:xfrm>
          <a:prstGeom prst="roundRect">
            <a:avLst>
              <a:gd name="adj" fmla="val 11765"/>
            </a:avLst>
          </a:prstGeom>
          <a:solidFill>
            <a:srgbClr val="97BC62"/>
          </a:solidFill>
          <a:ln/>
        </p:spPr>
      </p:sp>
      <p:sp>
        <p:nvSpPr>
          <p:cNvPr id="24" name="Text 22"/>
          <p:cNvSpPr/>
          <p:nvPr/>
        </p:nvSpPr>
        <p:spPr>
          <a:xfrm>
            <a:off x="8247888" y="1280160"/>
            <a:ext cx="31821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C.  정밀낙농 센서 현장 실증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8266176" y="2212848"/>
            <a:ext cx="3145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8266176" y="2505456"/>
            <a:ext cx="31455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위내센서 도입 전후의 번식성적·질병 조기발견 효과를 수치로 확인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8266176" y="3511296"/>
            <a:ext cx="3145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목장이 제공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8266176" y="3803904"/>
            <a:ext cx="31455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센서 설치·운영, 알림 대응 기록, 수의사 판독 기록 제공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8266176" y="4809744"/>
            <a:ext cx="3145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연구기관에 요청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8266176" y="5102352"/>
            <a:ext cx="31455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도입 전후 공태일수·수태율·질병 발생률의 통계적 검증, 경제성 평가</a:t>
            </a:r>
            <a:endParaRPr lang="en-US" sz="115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 시범사업 제안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제안 과제 상세 (2/2)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280160"/>
            <a:ext cx="5468112" cy="3291840"/>
          </a:xfrm>
          <a:prstGeom prst="roundRect">
            <a:avLst>
              <a:gd name="adj" fmla="val 2778"/>
            </a:avLst>
          </a:prstGeom>
          <a:solidFill>
            <a:srgbClr val="F3F6F1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66928" y="1280160"/>
            <a:ext cx="5468112" cy="658368"/>
          </a:xfrm>
          <a:prstGeom prst="roundRect">
            <a:avLst>
              <a:gd name="adj" fmla="val 13889"/>
            </a:avLst>
          </a:prstGeom>
          <a:solidFill>
            <a:srgbClr val="8A5A22"/>
          </a:solidFill>
          <a:ln/>
        </p:spPr>
      </p:sp>
      <p:sp>
        <p:nvSpPr>
          <p:cNvPr id="6" name="Text 4"/>
          <p:cNvSpPr/>
          <p:nvPr/>
        </p:nvSpPr>
        <p:spPr>
          <a:xfrm>
            <a:off x="768096" y="1280160"/>
            <a:ext cx="506577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D.  소규모 유가공 표준모델 개발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786384" y="2084832"/>
            <a:ext cx="1417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8A5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2258568" y="2084832"/>
            <a:ext cx="3611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‘목장형 유가공’을 시작하려는 농가가 그대로 따라 할 수 있는 표준 절차와 실패 사례집 제작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786384" y="2889504"/>
            <a:ext cx="1417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8A5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목장이 제공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2258568" y="2889504"/>
            <a:ext cx="3611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인허가 경험, 설비 구성, 공정·위생 관리 기준, 판매 채널 운영 실무, 실패 사례 공개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786384" y="3694176"/>
            <a:ext cx="1417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8A5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연구기관에 요청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2258568" y="3694176"/>
            <a:ext cx="3611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표준 매뉴얼화, 위생·표시 기준 정리, 규모별 경제성 모델, 교육 프로그램 설계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309360" y="1280160"/>
            <a:ext cx="5468112" cy="3291840"/>
          </a:xfrm>
          <a:prstGeom prst="roundRect">
            <a:avLst>
              <a:gd name="adj" fmla="val 2778"/>
            </a:avLst>
          </a:prstGeom>
          <a:solidFill>
            <a:srgbClr val="F3F6F1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309360" y="1280160"/>
            <a:ext cx="5468112" cy="658368"/>
          </a:xfrm>
          <a:prstGeom prst="roundRect">
            <a:avLst>
              <a:gd name="adj" fmla="val 13889"/>
            </a:avLst>
          </a:prstGeom>
          <a:solidFill>
            <a:srgbClr val="1C4028"/>
          </a:solidFill>
          <a:ln/>
        </p:spPr>
      </p:sp>
      <p:sp>
        <p:nvSpPr>
          <p:cNvPr id="15" name="Text 13"/>
          <p:cNvSpPr/>
          <p:nvPr/>
        </p:nvSpPr>
        <p:spPr>
          <a:xfrm>
            <a:off x="6510528" y="1280160"/>
            <a:ext cx="506577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E.  축산 순환농업 퇴비 품질 실증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6528816" y="2084832"/>
            <a:ext cx="1417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C40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8001000" y="2084832"/>
            <a:ext cx="3611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HBP 배출 깔짚의 퇴비 품질과 토양·조사료 환원 효과를 검증하고 활용 기준을 마련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528816" y="2889504"/>
            <a:ext cx="1417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C40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목장이 제공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8001000" y="2889504"/>
            <a:ext cx="3611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배출 깔짚 시료 제공, 후숙 공정 운영, 초지 환원 시험포 운영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528816" y="3694176"/>
            <a:ext cx="1417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C40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연구기관에 요청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8001000" y="3694176"/>
            <a:ext cx="3611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부숙도·비료성분·유해성분 분석, 토양 개선 효과 평가, 활용 가이드라인 도출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566928" y="4800600"/>
            <a:ext cx="11064240" cy="1463040"/>
          </a:xfrm>
          <a:prstGeom prst="roundRect">
            <a:avLst>
              <a:gd name="adj" fmla="val 6250"/>
            </a:avLst>
          </a:prstGeom>
          <a:solidFill>
            <a:srgbClr val="C8DDA9"/>
          </a:solidFill>
          <a:ln/>
        </p:spPr>
      </p:sp>
      <p:sp>
        <p:nvSpPr>
          <p:cNvPr id="23" name="Text 21"/>
          <p:cNvSpPr/>
          <p:nvPr/>
        </p:nvSpPr>
        <p:spPr>
          <a:xfrm>
            <a:off x="868680" y="4983480"/>
            <a:ext cx="10424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다섯 과제를 관통하는 한 가지 요청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868680" y="5394960"/>
            <a:ext cx="10424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농가는 '해봤더니 좋더라'까지는 말할 수 있지만, '얼마나 좋아졌다'는 증명할 수 없습니다.</a:t>
            </a:r>
            <a:endParaRPr lang="en-US" sz="1300" dirty="0"/>
          </a:p>
          <a:p>
            <a:pPr algn="l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측정과 검증을 국가 연구기관이 해주시면, 저희 목장의 경험은 한 농가의 사례가 아니라 산업의 자산이 됩니다.</a:t>
            </a:r>
            <a:endParaRPr lang="en-US" sz="13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 시범사업 제안 · 확장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확장 제안 ① — 저지 사양실험목장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17043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국내에는 저지 사양 데이터가 사실상 없습니다. 홀스타인 기준 사양표준을 저지에 그대로 적용하고 있는 것이 현실이고,</a:t>
            </a:r>
            <a:endParaRPr lang="en-US" sz="1350" dirty="0"/>
          </a:p>
          <a:p>
            <a:pPr algn="l"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저희도 처음에는 그렇게 시작해서 시행착오를 겪었습니다. 저희 목장은 이미 그 데이터를 쌓고 있는 상태입니다.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66928" y="2011680"/>
            <a:ext cx="3547872" cy="3063240"/>
          </a:xfrm>
          <a:prstGeom prst="roundRect">
            <a:avLst>
              <a:gd name="adj" fmla="val 2985"/>
            </a:avLst>
          </a:prstGeom>
          <a:solidFill>
            <a:srgbClr val="F3F6F1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66928" y="2011680"/>
            <a:ext cx="3547872" cy="603504"/>
          </a:xfrm>
          <a:prstGeom prst="roundRect">
            <a:avLst>
              <a:gd name="adj" fmla="val 15152"/>
            </a:avLst>
          </a:prstGeom>
          <a:solidFill>
            <a:srgbClr val="B87333"/>
          </a:solidFill>
          <a:ln/>
        </p:spPr>
      </p:sp>
      <p:sp>
        <p:nvSpPr>
          <p:cNvPr id="7" name="Text 5"/>
          <p:cNvSpPr/>
          <p:nvPr/>
        </p:nvSpPr>
        <p:spPr>
          <a:xfrm>
            <a:off x="749808" y="2011680"/>
            <a:ext cx="31821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지금 가능한가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786384" y="2761488"/>
            <a:ext cx="312724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저지 단일 품종 70두 — 품종 교란요인이 없습니다</a:t>
            </a:r>
            <a:endParaRPr lang="en-US" sz="12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위내센서로 개체별 반추위·활동·음수 데이터가 이미 축적 중</a:t>
            </a:r>
            <a:endParaRPr lang="en-US" sz="12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급이·번식·진료 기록을 수의사가 직접 남기고 있습니다</a:t>
            </a:r>
            <a:endParaRPr lang="en-US" sz="12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시험구와 대조구를 나눌 수 있는 축사 구조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15968" y="2011680"/>
            <a:ext cx="3547872" cy="3063240"/>
          </a:xfrm>
          <a:prstGeom prst="roundRect">
            <a:avLst>
              <a:gd name="adj" fmla="val 2985"/>
            </a:avLst>
          </a:prstGeom>
          <a:solidFill>
            <a:srgbClr val="F3F6F1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15968" y="2011680"/>
            <a:ext cx="3547872" cy="603504"/>
          </a:xfrm>
          <a:prstGeom prst="roundRect">
            <a:avLst>
              <a:gd name="adj" fmla="val 15152"/>
            </a:avLst>
          </a:prstGeom>
          <a:solidFill>
            <a:srgbClr val="2C5F2D"/>
          </a:solidFill>
          <a:ln/>
        </p:spPr>
      </p:sp>
      <p:sp>
        <p:nvSpPr>
          <p:cNvPr id="11" name="Text 9"/>
          <p:cNvSpPr/>
          <p:nvPr/>
        </p:nvSpPr>
        <p:spPr>
          <a:xfrm>
            <a:off x="4498848" y="2011680"/>
            <a:ext cx="31821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목장이 제공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4535424" y="2761488"/>
            <a:ext cx="312724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사양시험 대상 축군과 시험·대조 구간</a:t>
            </a:r>
            <a:endParaRPr lang="en-US" sz="12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개체별 센서 원데이터와 급이 기록</a:t>
            </a:r>
            <a:endParaRPr lang="en-US" sz="12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착유량·유성분 검정 자료</a:t>
            </a:r>
            <a:endParaRPr lang="en-US" sz="12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장기 추적을 감당할 상주 관리 인력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065008" y="2011680"/>
            <a:ext cx="3547872" cy="3063240"/>
          </a:xfrm>
          <a:prstGeom prst="roundRect">
            <a:avLst>
              <a:gd name="adj" fmla="val 2985"/>
            </a:avLst>
          </a:prstGeom>
          <a:solidFill>
            <a:srgbClr val="F3F6F1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065008" y="2011680"/>
            <a:ext cx="3547872" cy="603504"/>
          </a:xfrm>
          <a:prstGeom prst="roundRect">
            <a:avLst>
              <a:gd name="adj" fmla="val 15152"/>
            </a:avLst>
          </a:prstGeom>
          <a:solidFill>
            <a:srgbClr val="97BC62"/>
          </a:solidFill>
          <a:ln/>
        </p:spPr>
      </p:sp>
      <p:sp>
        <p:nvSpPr>
          <p:cNvPr id="15" name="Text 13"/>
          <p:cNvSpPr/>
          <p:nvPr/>
        </p:nvSpPr>
        <p:spPr>
          <a:xfrm>
            <a:off x="8247888" y="2011680"/>
            <a:ext cx="31821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연구기관에 요청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8284464" y="2761488"/>
            <a:ext cx="312724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사양시험 설계 자문 — 처리구·표본수·기간</a:t>
            </a:r>
            <a:endParaRPr lang="en-US" sz="12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저지 기준 사료 배합·영양 요구량 설계</a:t>
            </a:r>
            <a:endParaRPr lang="en-US" sz="12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성적 검정과 통계 분석</a:t>
            </a:r>
            <a:endParaRPr lang="en-US" sz="12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저지 사양표준(안) 도출 및 보급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66928" y="5303520"/>
            <a:ext cx="11064240" cy="960120"/>
          </a:xfrm>
          <a:prstGeom prst="roundRect">
            <a:avLst>
              <a:gd name="adj" fmla="val 9524"/>
            </a:avLst>
          </a:prstGeom>
          <a:solidFill>
            <a:srgbClr val="13301F"/>
          </a:solidFill>
          <a:ln/>
        </p:spPr>
      </p:sp>
      <p:sp>
        <p:nvSpPr>
          <p:cNvPr id="18" name="Text 16"/>
          <p:cNvSpPr/>
          <p:nvPr/>
        </p:nvSpPr>
        <p:spPr>
          <a:xfrm>
            <a:off x="822960" y="5303520"/>
            <a:ext cx="10515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8DDA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저지 사양표준이 정리되면, 저희 한 목장이 아니라 앞으로 저지를 시작할 모든 농가가 시행착오를 건너뜁니다</a:t>
            </a:r>
            <a:endParaRPr lang="en-US" sz="15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1330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97BC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 시범사업 제안 · 확장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확장 제안 ② — 생산에서 소비자까지, 하나의 디지털 트윈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E9C7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목장은 스마트팜이 되었는데, 제조공장은 아직 스마트팩토리가 아닙니다. 데이터가 착유탱크에서 끊깁니다.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66928" y="1691640"/>
            <a:ext cx="1700784" cy="1371600"/>
          </a:xfrm>
          <a:prstGeom prst="roundRect">
            <a:avLst>
              <a:gd name="adj" fmla="val 6667"/>
            </a:avLst>
          </a:prstGeom>
          <a:solidFill>
            <a:srgbClr val="1C4028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801368"/>
            <a:ext cx="1554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사료 · 초지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640080" y="2395728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부분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304288" y="2258568"/>
            <a:ext cx="310896" cy="237744"/>
          </a:xfrm>
          <a:prstGeom prst="rightArrow">
            <a:avLst/>
          </a:prstGeom>
          <a:solidFill>
            <a:srgbClr val="97BC62"/>
          </a:solidFill>
          <a:ln/>
        </p:spPr>
      </p:sp>
      <p:sp>
        <p:nvSpPr>
          <p:cNvPr id="9" name="Shape 7"/>
          <p:cNvSpPr/>
          <p:nvPr/>
        </p:nvSpPr>
        <p:spPr>
          <a:xfrm>
            <a:off x="2450592" y="1691640"/>
            <a:ext cx="1700784" cy="1371600"/>
          </a:xfrm>
          <a:prstGeom prst="roundRect">
            <a:avLst>
              <a:gd name="adj" fmla="val 6667"/>
            </a:avLst>
          </a:prstGeom>
          <a:solidFill>
            <a:srgbClr val="2C5F2D"/>
          </a:solidFill>
          <a:ln/>
        </p:spPr>
      </p:sp>
      <p:sp>
        <p:nvSpPr>
          <p:cNvPr id="10" name="Text 8"/>
          <p:cNvSpPr/>
          <p:nvPr/>
        </p:nvSpPr>
        <p:spPr>
          <a:xfrm>
            <a:off x="2523744" y="1801368"/>
            <a:ext cx="1554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 (사양·번식)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2523744" y="2395728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8DDA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구축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187952" y="2258568"/>
            <a:ext cx="310896" cy="237744"/>
          </a:xfrm>
          <a:prstGeom prst="rightArrow">
            <a:avLst/>
          </a:prstGeom>
          <a:solidFill>
            <a:srgbClr val="97BC62"/>
          </a:solidFill>
          <a:ln/>
        </p:spPr>
      </p:sp>
      <p:sp>
        <p:nvSpPr>
          <p:cNvPr id="13" name="Shape 11"/>
          <p:cNvSpPr/>
          <p:nvPr/>
        </p:nvSpPr>
        <p:spPr>
          <a:xfrm>
            <a:off x="4334256" y="1691640"/>
            <a:ext cx="1700784" cy="1371600"/>
          </a:xfrm>
          <a:prstGeom prst="roundRect">
            <a:avLst>
              <a:gd name="adj" fmla="val 6667"/>
            </a:avLst>
          </a:prstGeom>
          <a:solidFill>
            <a:srgbClr val="2C5F2D"/>
          </a:solidFill>
          <a:ln/>
        </p:spPr>
      </p:sp>
      <p:sp>
        <p:nvSpPr>
          <p:cNvPr id="14" name="Text 12"/>
          <p:cNvSpPr/>
          <p:nvPr/>
        </p:nvSpPr>
        <p:spPr>
          <a:xfrm>
            <a:off x="4407408" y="1801368"/>
            <a:ext cx="1554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착유 · 집유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4407408" y="2395728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8DDA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구축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071616" y="2258568"/>
            <a:ext cx="310896" cy="237744"/>
          </a:xfrm>
          <a:prstGeom prst="rightArrow">
            <a:avLst/>
          </a:prstGeom>
          <a:solidFill>
            <a:srgbClr val="97BC62"/>
          </a:solidFill>
          <a:ln/>
        </p:spPr>
      </p:sp>
      <p:sp>
        <p:nvSpPr>
          <p:cNvPr id="17" name="Shape 15"/>
          <p:cNvSpPr/>
          <p:nvPr/>
        </p:nvSpPr>
        <p:spPr>
          <a:xfrm>
            <a:off x="6217920" y="1691640"/>
            <a:ext cx="1700784" cy="1371600"/>
          </a:xfrm>
          <a:prstGeom prst="roundRect">
            <a:avLst>
              <a:gd name="adj" fmla="val 6667"/>
            </a:avLst>
          </a:prstGeom>
          <a:solidFill>
            <a:srgbClr val="B87333"/>
          </a:solidFill>
          <a:ln/>
        </p:spPr>
      </p:sp>
      <p:sp>
        <p:nvSpPr>
          <p:cNvPr id="18" name="Text 16"/>
          <p:cNvSpPr/>
          <p:nvPr/>
        </p:nvSpPr>
        <p:spPr>
          <a:xfrm>
            <a:off x="6291072" y="1801368"/>
            <a:ext cx="1554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제조공장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6291072" y="2395728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미구축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7955280" y="2258568"/>
            <a:ext cx="310896" cy="237744"/>
          </a:xfrm>
          <a:prstGeom prst="rightArrow">
            <a:avLst/>
          </a:prstGeom>
          <a:solidFill>
            <a:srgbClr val="97BC62"/>
          </a:solidFill>
          <a:ln/>
        </p:spPr>
      </p:sp>
      <p:sp>
        <p:nvSpPr>
          <p:cNvPr id="21" name="Shape 19"/>
          <p:cNvSpPr/>
          <p:nvPr/>
        </p:nvSpPr>
        <p:spPr>
          <a:xfrm>
            <a:off x="8101584" y="1691640"/>
            <a:ext cx="1700784" cy="1371600"/>
          </a:xfrm>
          <a:prstGeom prst="roundRect">
            <a:avLst>
              <a:gd name="adj" fmla="val 6667"/>
            </a:avLst>
          </a:prstGeom>
          <a:solidFill>
            <a:srgbClr val="B87333"/>
          </a:solidFill>
          <a:ln/>
        </p:spPr>
      </p:sp>
      <p:sp>
        <p:nvSpPr>
          <p:cNvPr id="22" name="Text 20"/>
          <p:cNvSpPr/>
          <p:nvPr/>
        </p:nvSpPr>
        <p:spPr>
          <a:xfrm>
            <a:off x="8174736" y="1801368"/>
            <a:ext cx="1554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유통 · 물류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8174736" y="2395728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미구축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9838944" y="2258568"/>
            <a:ext cx="310896" cy="237744"/>
          </a:xfrm>
          <a:prstGeom prst="rightArrow">
            <a:avLst/>
          </a:prstGeom>
          <a:solidFill>
            <a:srgbClr val="97BC62"/>
          </a:solidFill>
          <a:ln/>
        </p:spPr>
      </p:sp>
      <p:sp>
        <p:nvSpPr>
          <p:cNvPr id="25" name="Shape 23"/>
          <p:cNvSpPr/>
          <p:nvPr/>
        </p:nvSpPr>
        <p:spPr>
          <a:xfrm>
            <a:off x="9985248" y="1691640"/>
            <a:ext cx="1700784" cy="1371600"/>
          </a:xfrm>
          <a:prstGeom prst="roundRect">
            <a:avLst>
              <a:gd name="adj" fmla="val 6667"/>
            </a:avLst>
          </a:prstGeom>
          <a:solidFill>
            <a:srgbClr val="B87333"/>
          </a:solidFill>
          <a:ln/>
        </p:spPr>
      </p:sp>
      <p:sp>
        <p:nvSpPr>
          <p:cNvPr id="26" name="Text 24"/>
          <p:cNvSpPr/>
          <p:nvPr/>
        </p:nvSpPr>
        <p:spPr>
          <a:xfrm>
            <a:off x="10058400" y="1801368"/>
            <a:ext cx="1554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소비자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10058400" y="2395728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미구축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080760" y="3127248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9C7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↑ 데이터가 여기서 끊깁니다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566928" y="3566160"/>
            <a:ext cx="3547872" cy="1874520"/>
          </a:xfrm>
          <a:prstGeom prst="roundRect">
            <a:avLst>
              <a:gd name="adj" fmla="val 4878"/>
            </a:avLst>
          </a:prstGeom>
          <a:solidFill>
            <a:srgbClr val="1C4028"/>
          </a:solidFill>
          <a:ln/>
        </p:spPr>
      </p:sp>
      <p:sp>
        <p:nvSpPr>
          <p:cNvPr id="30" name="Shape 28"/>
          <p:cNvSpPr/>
          <p:nvPr/>
        </p:nvSpPr>
        <p:spPr>
          <a:xfrm>
            <a:off x="786384" y="3730752"/>
            <a:ext cx="420624" cy="420624"/>
          </a:xfrm>
          <a:prstGeom prst="ellipse">
            <a:avLst/>
          </a:prstGeom>
          <a:solidFill>
            <a:srgbClr val="B87333"/>
          </a:solidFill>
          <a:ln/>
        </p:spPr>
      </p:sp>
      <p:sp>
        <p:nvSpPr>
          <p:cNvPr id="31" name="Text 29"/>
          <p:cNvSpPr/>
          <p:nvPr/>
        </p:nvSpPr>
        <p:spPr>
          <a:xfrm>
            <a:off x="786384" y="373075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1316736" y="3730752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스마트팩토리 구축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804672" y="4279392"/>
            <a:ext cx="309067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C8DDA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공정 센서·배치 자동 기록·품질 데이터 수집.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C8DDA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지금은 수기로 남기는 살균 조건·로트 정보를 자동화합니다.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4315968" y="3566160"/>
            <a:ext cx="3547872" cy="1874520"/>
          </a:xfrm>
          <a:prstGeom prst="roundRect">
            <a:avLst>
              <a:gd name="adj" fmla="val 4878"/>
            </a:avLst>
          </a:prstGeom>
          <a:solidFill>
            <a:srgbClr val="1C4028"/>
          </a:solidFill>
          <a:ln/>
        </p:spPr>
      </p:sp>
      <p:sp>
        <p:nvSpPr>
          <p:cNvPr id="35" name="Shape 33"/>
          <p:cNvSpPr/>
          <p:nvPr/>
        </p:nvSpPr>
        <p:spPr>
          <a:xfrm>
            <a:off x="4535424" y="3730752"/>
            <a:ext cx="420624" cy="420624"/>
          </a:xfrm>
          <a:prstGeom prst="ellipse">
            <a:avLst/>
          </a:prstGeom>
          <a:solidFill>
            <a:srgbClr val="B87333"/>
          </a:solidFill>
          <a:ln/>
        </p:spPr>
      </p:sp>
      <p:sp>
        <p:nvSpPr>
          <p:cNvPr id="36" name="Text 34"/>
          <p:cNvSpPr/>
          <p:nvPr/>
        </p:nvSpPr>
        <p:spPr>
          <a:xfrm>
            <a:off x="4535424" y="373075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5065776" y="3730752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농장–공장 데이터 연결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4553712" y="4279392"/>
            <a:ext cx="309067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C8DDA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어느 소의 원유가 어느 배치로 갔는지 이어붙입니다.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C8DDA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유질 이상이 생겼을 때 개체까지 역추적할 수 있게 됩니다.</a:t>
            </a:r>
            <a:endParaRPr lang="en-US" sz="1150" dirty="0"/>
          </a:p>
        </p:txBody>
      </p:sp>
      <p:sp>
        <p:nvSpPr>
          <p:cNvPr id="39" name="Shape 37"/>
          <p:cNvSpPr/>
          <p:nvPr/>
        </p:nvSpPr>
        <p:spPr>
          <a:xfrm>
            <a:off x="8065008" y="3566160"/>
            <a:ext cx="3547872" cy="1874520"/>
          </a:xfrm>
          <a:prstGeom prst="roundRect">
            <a:avLst>
              <a:gd name="adj" fmla="val 4878"/>
            </a:avLst>
          </a:prstGeom>
          <a:solidFill>
            <a:srgbClr val="1C4028"/>
          </a:solidFill>
          <a:ln/>
        </p:spPr>
      </p:sp>
      <p:sp>
        <p:nvSpPr>
          <p:cNvPr id="40" name="Shape 38"/>
          <p:cNvSpPr/>
          <p:nvPr/>
        </p:nvSpPr>
        <p:spPr>
          <a:xfrm>
            <a:off x="8284464" y="3730752"/>
            <a:ext cx="420624" cy="420624"/>
          </a:xfrm>
          <a:prstGeom prst="ellipse">
            <a:avLst/>
          </a:prstGeom>
          <a:solidFill>
            <a:srgbClr val="B87333"/>
          </a:solidFill>
          <a:ln/>
        </p:spPr>
      </p:sp>
      <p:sp>
        <p:nvSpPr>
          <p:cNvPr id="41" name="Text 39"/>
          <p:cNvSpPr/>
          <p:nvPr/>
        </p:nvSpPr>
        <p:spPr>
          <a:xfrm>
            <a:off x="8284464" y="373075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8814816" y="3730752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소비자까지 이력 개방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8302752" y="4279392"/>
            <a:ext cx="309067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C8DDA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 QR로 사양·유질·공정 이력을 소비자에게 엽니다.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C8DDA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'왜 비싼지'를 설명하는 가장 강력한 근거가 됩니다.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566928" y="5669280"/>
            <a:ext cx="11064240" cy="640080"/>
          </a:xfrm>
          <a:prstGeom prst="roundRect">
            <a:avLst>
              <a:gd name="adj" fmla="val 14286"/>
            </a:avLst>
          </a:prstGeom>
          <a:solidFill>
            <a:srgbClr val="B87333"/>
          </a:solidFill>
          <a:ln/>
        </p:spPr>
      </p:sp>
      <p:sp>
        <p:nvSpPr>
          <p:cNvPr id="45" name="Text 43"/>
          <p:cNvSpPr/>
          <p:nvPr/>
        </p:nvSpPr>
        <p:spPr>
          <a:xfrm>
            <a:off x="822960" y="566928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스마트팜에서 끝내지 말고 스마트팩토리까지 이어야, 축산이 '생산 데이터'가 아니라 '식품 데이터'가 됩니다</a:t>
            </a:r>
            <a:endParaRPr lang="en-US" sz="15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 시범사업 제안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추진 로드맵 (안) — 3년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71600"/>
            <a:ext cx="3547872" cy="3520440"/>
          </a:xfrm>
          <a:prstGeom prst="roundRect">
            <a:avLst>
              <a:gd name="adj" fmla="val 2597"/>
            </a:avLst>
          </a:prstGeom>
          <a:solidFill>
            <a:srgbClr val="F3F6F1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66928" y="1371600"/>
            <a:ext cx="3547872" cy="868680"/>
          </a:xfrm>
          <a:prstGeom prst="roundRect">
            <a:avLst>
              <a:gd name="adj" fmla="val 10526"/>
            </a:avLst>
          </a:prstGeom>
          <a:solidFill>
            <a:srgbClr val="97BC62"/>
          </a:solidFill>
          <a:ln/>
        </p:spPr>
      </p:sp>
      <p:sp>
        <p:nvSpPr>
          <p:cNvPr id="6" name="Text 4"/>
          <p:cNvSpPr/>
          <p:nvPr/>
        </p:nvSpPr>
        <p:spPr>
          <a:xfrm>
            <a:off x="768096" y="1444752"/>
            <a:ext cx="3145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1년차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68096" y="1783080"/>
            <a:ext cx="31455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실증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804672" y="2395728"/>
            <a:ext cx="3090672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대조구 설계 및 기초 데이터 확보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HBP·센서 구간 운영 개시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측정 항목·방법 표준 확정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사양시험 설계 및 공정 데이터 진단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169664" y="3017520"/>
            <a:ext cx="310896" cy="237744"/>
          </a:xfrm>
          <a:prstGeom prst="rightArrow">
            <a:avLst/>
          </a:prstGeom>
          <a:solidFill>
            <a:srgbClr val="97BC62"/>
          </a:solidFill>
          <a:ln/>
        </p:spPr>
      </p:sp>
      <p:sp>
        <p:nvSpPr>
          <p:cNvPr id="10" name="Shape 8"/>
          <p:cNvSpPr/>
          <p:nvPr/>
        </p:nvSpPr>
        <p:spPr>
          <a:xfrm>
            <a:off x="4315968" y="1371600"/>
            <a:ext cx="3547872" cy="3520440"/>
          </a:xfrm>
          <a:prstGeom prst="roundRect">
            <a:avLst>
              <a:gd name="adj" fmla="val 2597"/>
            </a:avLst>
          </a:prstGeom>
          <a:solidFill>
            <a:srgbClr val="F3F6F1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315968" y="1371600"/>
            <a:ext cx="3547872" cy="868680"/>
          </a:xfrm>
          <a:prstGeom prst="roundRect">
            <a:avLst>
              <a:gd name="adj" fmla="val 10526"/>
            </a:avLst>
          </a:prstGeom>
          <a:solidFill>
            <a:srgbClr val="2C5F2D"/>
          </a:solidFill>
          <a:ln/>
        </p:spPr>
      </p:sp>
      <p:sp>
        <p:nvSpPr>
          <p:cNvPr id="12" name="Text 10"/>
          <p:cNvSpPr/>
          <p:nvPr/>
        </p:nvSpPr>
        <p:spPr>
          <a:xfrm>
            <a:off x="4517136" y="1444752"/>
            <a:ext cx="3145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2년차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517136" y="1783080"/>
            <a:ext cx="31455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확산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553712" y="2395728"/>
            <a:ext cx="3090672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인근 희망 농가로 실증 확대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저지 사양시험 처리구 운영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스마트팩토리 구축·농장 데이터 연결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농가용 관리 SOP 초안 배포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7918704" y="3017520"/>
            <a:ext cx="310896" cy="237744"/>
          </a:xfrm>
          <a:prstGeom prst="rightArrow">
            <a:avLst/>
          </a:prstGeom>
          <a:solidFill>
            <a:srgbClr val="97BC62"/>
          </a:solidFill>
          <a:ln/>
        </p:spPr>
      </p:sp>
      <p:sp>
        <p:nvSpPr>
          <p:cNvPr id="16" name="Shape 14"/>
          <p:cNvSpPr/>
          <p:nvPr/>
        </p:nvSpPr>
        <p:spPr>
          <a:xfrm>
            <a:off x="8065008" y="1371600"/>
            <a:ext cx="3547872" cy="3520440"/>
          </a:xfrm>
          <a:prstGeom prst="roundRect">
            <a:avLst>
              <a:gd name="adj" fmla="val 2597"/>
            </a:avLst>
          </a:prstGeom>
          <a:solidFill>
            <a:srgbClr val="F3F6F1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065008" y="1371600"/>
            <a:ext cx="3547872" cy="868680"/>
          </a:xfrm>
          <a:prstGeom prst="roundRect">
            <a:avLst>
              <a:gd name="adj" fmla="val 10526"/>
            </a:avLst>
          </a:prstGeom>
          <a:solidFill>
            <a:srgbClr val="B87333"/>
          </a:solidFill>
          <a:ln/>
        </p:spPr>
      </p:sp>
      <p:sp>
        <p:nvSpPr>
          <p:cNvPr id="18" name="Text 16"/>
          <p:cNvSpPr/>
          <p:nvPr/>
        </p:nvSpPr>
        <p:spPr>
          <a:xfrm>
            <a:off x="8266176" y="1444752"/>
            <a:ext cx="3145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3년차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266176" y="1783080"/>
            <a:ext cx="31455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표준화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8302752" y="2395728"/>
            <a:ext cx="3090672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표준 매뉴얼·가이드라인 확정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저지 사양표준(안) 도출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생산–소비 디지털트윈 시연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전국 보급 사업 설계 근거 제공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5120640"/>
            <a:ext cx="11064240" cy="1170432"/>
          </a:xfrm>
          <a:prstGeom prst="roundRect">
            <a:avLst>
              <a:gd name="adj" fmla="val 7813"/>
            </a:avLst>
          </a:prstGeom>
          <a:solidFill>
            <a:srgbClr val="13301F"/>
          </a:solidFill>
          <a:ln/>
        </p:spPr>
      </p:sp>
      <p:sp>
        <p:nvSpPr>
          <p:cNvPr id="22" name="Text 20"/>
          <p:cNvSpPr/>
          <p:nvPr/>
        </p:nvSpPr>
        <p:spPr>
          <a:xfrm>
            <a:off x="868680" y="5257800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E9C7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3년 뒤 남는 것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868680" y="5596128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공인 측정으로 검증된 기술 효과 데이터  ② 농가가 따라 할 수 있는 표준 매뉴얼  ③ 규모별 경제성 모델</a:t>
            </a:r>
            <a:endParaRPr lang="en-US" sz="125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 실패 사례까지 담긴 보급 자료  ⑤ 다음 국가 보급사업의 설계 근거</a:t>
            </a:r>
            <a:endParaRPr lang="en-US" sz="125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 시범사업 제안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송영신목장을 '현장 실증 거점'으로 써주십시오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25880"/>
            <a:ext cx="5440680" cy="3931920"/>
          </a:xfrm>
          <a:prstGeom prst="roundRect">
            <a:avLst>
              <a:gd name="adj" fmla="val 2326"/>
            </a:avLst>
          </a:prstGeom>
          <a:solidFill>
            <a:srgbClr val="EEF4E9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50876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저희가 제공할 수 있는 것</a:t>
            </a:r>
            <a:endParaRPr lang="en-US" sz="1650" dirty="0"/>
          </a:p>
        </p:txBody>
      </p:sp>
      <p:sp>
        <p:nvSpPr>
          <p:cNvPr id="6" name="Text 4"/>
          <p:cNvSpPr/>
          <p:nvPr/>
        </p:nvSpPr>
        <p:spPr>
          <a:xfrm>
            <a:off x="868680" y="2011680"/>
            <a:ext cx="489204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실증 구간과 대조 구간을 나눈 축사 공간</a:t>
            </a:r>
            <a:endParaRPr lang="en-US" sz="13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저지종 단일 축군 70두의 개체별 사육·번식 이력</a:t>
            </a:r>
            <a:endParaRPr lang="en-US" sz="13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센서 기반 실시간 생체 데이터 (동의 범위 내)</a:t>
            </a:r>
            <a:endParaRPr lang="en-US" sz="13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HBP 운영 기록 — 교반·수분·보충·바닥 상태</a:t>
            </a:r>
            <a:endParaRPr lang="en-US" sz="13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유가공 공정·품질·판매 데이터</a:t>
            </a:r>
            <a:endParaRPr lang="en-US" sz="13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수의사가 직접 기록한 진료·번식 데이터</a:t>
            </a:r>
            <a:endParaRPr lang="en-US" sz="13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농가 견학·교육을 수용할 동선과 인력</a:t>
            </a:r>
            <a:endParaRPr lang="en-US" sz="13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성공뿐 아니라 실패 사례의 공개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190488" y="1325880"/>
            <a:ext cx="5440680" cy="3931920"/>
          </a:xfrm>
          <a:prstGeom prst="roundRect">
            <a:avLst>
              <a:gd name="adj" fmla="val 2326"/>
            </a:avLst>
          </a:prstGeom>
          <a:solidFill>
            <a:srgbClr val="C8DDA9"/>
          </a:solidFill>
          <a:ln/>
        </p:spPr>
      </p:sp>
      <p:sp>
        <p:nvSpPr>
          <p:cNvPr id="8" name="Text 6"/>
          <p:cNvSpPr/>
          <p:nvPr/>
        </p:nvSpPr>
        <p:spPr>
          <a:xfrm>
            <a:off x="6492240" y="150876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요청드리고 싶은 것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6492240" y="2011680"/>
            <a:ext cx="489204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공인된 측정과 분석 (악취·퇴비·유질·성적)</a:t>
            </a:r>
            <a:endParaRPr lang="en-US" sz="13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실증 설계 자문 — 대조구·표본수·기간 설계</a:t>
            </a:r>
            <a:endParaRPr lang="en-US" sz="13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시범사업 과제 편입 및 R&amp;D–보급 병행 추진 검토</a:t>
            </a:r>
            <a:endParaRPr lang="en-US" sz="13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결과의 매뉴얼화 및 보급 채널 연계</a:t>
            </a:r>
            <a:endParaRPr lang="en-US" sz="13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필요한 경우 관련 기준·표시 제도 검토</a:t>
            </a:r>
            <a:endParaRPr lang="en-US" sz="13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농진청 국제협력·농업기술진흥원 수출지원 연계 검토</a:t>
            </a:r>
            <a:endParaRPr lang="en-US" sz="13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지도직 대상 현장 교육의 장으로 활용</a:t>
            </a:r>
            <a:endParaRPr lang="en-US" sz="13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농가 대상 공개 성과 발표의 기회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66928" y="5468112"/>
            <a:ext cx="11064240" cy="822960"/>
          </a:xfrm>
          <a:prstGeom prst="roundRect">
            <a:avLst>
              <a:gd name="adj" fmla="val 11111"/>
            </a:avLst>
          </a:prstGeom>
          <a:solidFill>
            <a:srgbClr val="B87333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5468112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저희는 데이터를 열고, 실패까지 공개하겠습니다 — 대신 그 결과가 저희 목장이 아니라 산업에 남게 해주십시오</a:t>
            </a:r>
            <a:endParaRPr lang="en-US" sz="15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1330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235440" y="-1737360"/>
            <a:ext cx="5120640" cy="5120640"/>
          </a:xfrm>
          <a:prstGeom prst="ellipse">
            <a:avLst/>
          </a:prstGeom>
          <a:solidFill>
            <a:srgbClr val="1C4028"/>
          </a:solidFill>
          <a:ln/>
        </p:spPr>
      </p:sp>
      <p:sp>
        <p:nvSpPr>
          <p:cNvPr id="3" name="Shape 1"/>
          <p:cNvSpPr/>
          <p:nvPr/>
        </p:nvSpPr>
        <p:spPr>
          <a:xfrm>
            <a:off x="10607040" y="4480560"/>
            <a:ext cx="2560320" cy="2560320"/>
          </a:xfrm>
          <a:prstGeom prst="ellipse">
            <a:avLst/>
          </a:prstGeom>
          <a:solidFill>
            <a:srgbClr val="1E4420"/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12344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맺으며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685800" y="1783080"/>
            <a:ext cx="85039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건강한 흙이 건강한 풀을 만들고,</a:t>
            </a:r>
            <a:endParaRPr lang="en-US" sz="30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건강한 풀이 건강한 소를 만들고,</a:t>
            </a:r>
            <a:endParaRPr lang="en-US" sz="30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건강한 소가 좋은 우유를 만듭니다.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85800" y="3931920"/>
            <a:ext cx="8503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400" dirty="0">
                <a:solidFill>
                  <a:srgbClr val="C8DDA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저희 목장이 특별해서가 아니라, 이 순환이 실제로 도는지 확인할 수 있는 자리이기 때문에</a:t>
            </a:r>
            <a:endParaRPr lang="en-US" sz="14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400" dirty="0">
                <a:solidFill>
                  <a:srgbClr val="C8DDA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자료를 준비했습니다. 결과가 어떻게 나오든 열어두겠습니다.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85800" y="4983480"/>
            <a:ext cx="5669280" cy="1097280"/>
          </a:xfrm>
          <a:prstGeom prst="roundRect">
            <a:avLst>
              <a:gd name="adj" fmla="val 8333"/>
            </a:avLst>
          </a:prstGeom>
          <a:solidFill>
            <a:srgbClr val="B87333"/>
          </a:solidFill>
          <a:ln/>
        </p:spPr>
      </p:sp>
      <p:sp>
        <p:nvSpPr>
          <p:cNvPr id="8" name="Text 6"/>
          <p:cNvSpPr/>
          <p:nvPr/>
        </p:nvSpPr>
        <p:spPr>
          <a:xfrm>
            <a:off x="685800" y="4983480"/>
            <a:ext cx="5669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감사합니다.  질의응답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6720840" y="5074920"/>
            <a:ext cx="4114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송영신목장 대표 하현제</a:t>
            </a: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수의사 · 현장명예지도관</a:t>
            </a:r>
            <a:endParaRPr lang="en-US" sz="13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APPENDIX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예상 질의 대비 — 백업 자료 목록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298448"/>
            <a:ext cx="11064240" cy="713232"/>
          </a:xfrm>
          <a:prstGeom prst="roundRect">
            <a:avLst>
              <a:gd name="adj" fmla="val 12821"/>
            </a:avLst>
          </a:prstGeom>
          <a:solidFill>
            <a:srgbClr val="EEF4E9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298448"/>
            <a:ext cx="365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207008" y="1298448"/>
            <a:ext cx="3886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저지 사육으로 실제 수익이 납니까?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212080" y="1298448"/>
            <a:ext cx="6217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두당 유량은 낮지만 고형분·가공 수율·제품 단가로 상쇄. 원유 판매만으로는 불리하다는 점을 솔직히 답변.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66928" y="2121408"/>
            <a:ext cx="11064240" cy="713232"/>
          </a:xfrm>
          <a:prstGeom prst="roundRect">
            <a:avLst>
              <a:gd name="adj" fmla="val 12821"/>
            </a:avLst>
          </a:prstGeom>
          <a:solidFill>
            <a:srgbClr val="F3F6F1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2121408"/>
            <a:ext cx="365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207008" y="2121408"/>
            <a:ext cx="3886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HBP 초기 투자와 회수 기간은?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5212080" y="2121408"/>
            <a:ext cx="6217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깔짚 자재비 + 교반 장비 + 축사 개조. 절감되는 깔짚 교체·분뇨처리 비용과 노동시간으로 비교 제시.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66928" y="2944368"/>
            <a:ext cx="11064240" cy="713232"/>
          </a:xfrm>
          <a:prstGeom prst="roundRect">
            <a:avLst>
              <a:gd name="adj" fmla="val 12821"/>
            </a:avLst>
          </a:prstGeom>
          <a:solidFill>
            <a:srgbClr val="EEF4E9"/>
          </a:solidFill>
          <a:ln/>
        </p:spPr>
      </p:sp>
      <p:sp>
        <p:nvSpPr>
          <p:cNvPr id="13" name="Text 11"/>
          <p:cNvSpPr/>
          <p:nvPr/>
        </p:nvSpPr>
        <p:spPr>
          <a:xfrm>
            <a:off x="777240" y="2944368"/>
            <a:ext cx="365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207008" y="2944368"/>
            <a:ext cx="3886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센서 투자 대비 효과가 있습니까?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5212080" y="2944368"/>
            <a:ext cx="6217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공태일수 단축 1일당 손실회피액, 폐사 1두 회피액 기준으로 환산해 설명.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66928" y="3767328"/>
            <a:ext cx="11064240" cy="713232"/>
          </a:xfrm>
          <a:prstGeom prst="roundRect">
            <a:avLst>
              <a:gd name="adj" fmla="val 12821"/>
            </a:avLst>
          </a:prstGeom>
          <a:solidFill>
            <a:srgbClr val="F3F6F1"/>
          </a:solidFill>
          <a:ln/>
        </p:spPr>
      </p:sp>
      <p:sp>
        <p:nvSpPr>
          <p:cNvPr id="17" name="Text 15"/>
          <p:cNvSpPr/>
          <p:nvPr/>
        </p:nvSpPr>
        <p:spPr>
          <a:xfrm>
            <a:off x="777240" y="3767328"/>
            <a:ext cx="365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207008" y="3767328"/>
            <a:ext cx="3886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유가공 인허가에서 가장 막히는 지점은?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5212080" y="3767328"/>
            <a:ext cx="6217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건축·용도 문제와 작업장 동선 설계. 도면 단계에서 관할 기관과 사전 협의가 최선.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66928" y="4590288"/>
            <a:ext cx="11064240" cy="713232"/>
          </a:xfrm>
          <a:prstGeom prst="roundRect">
            <a:avLst>
              <a:gd name="adj" fmla="val 12821"/>
            </a:avLst>
          </a:prstGeom>
          <a:solidFill>
            <a:srgbClr val="EEF4E9"/>
          </a:solidFill>
          <a:ln/>
        </p:spPr>
      </p:sp>
      <p:sp>
        <p:nvSpPr>
          <p:cNvPr id="21" name="Text 19"/>
          <p:cNvSpPr/>
          <p:nvPr/>
        </p:nvSpPr>
        <p:spPr>
          <a:xfrm>
            <a:off x="777240" y="4590288"/>
            <a:ext cx="365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207008" y="4590288"/>
            <a:ext cx="3886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소규모·고령 농가도 따라 할 수 있습니까?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5212080" y="4590288"/>
            <a:ext cx="6217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전부는 어렵습니다. HBP는 가능, 유가공은 인력이 있어야 가능. 단계별 진입 경로를 제시.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566928" y="5413248"/>
            <a:ext cx="11064240" cy="713232"/>
          </a:xfrm>
          <a:prstGeom prst="roundRect">
            <a:avLst>
              <a:gd name="adj" fmla="val 12821"/>
            </a:avLst>
          </a:prstGeom>
          <a:solidFill>
            <a:srgbClr val="F3F6F1"/>
          </a:solidFill>
          <a:ln/>
        </p:spPr>
      </p:sp>
      <p:sp>
        <p:nvSpPr>
          <p:cNvPr id="25" name="Text 23"/>
          <p:cNvSpPr/>
          <p:nvPr/>
        </p:nvSpPr>
        <p:spPr>
          <a:xfrm>
            <a:off x="777240" y="5413248"/>
            <a:ext cx="365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1207008" y="5413248"/>
            <a:ext cx="3886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A2 우유의 건강 효과는 입증되었습니까?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5212080" y="5413248"/>
            <a:ext cx="6217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연구가 진행 중인 영역. 저희는 효능을 주장하지 않고 유전형 사실만 표시한다고 답변.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566928" y="63276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발표용이 아닌 준비용 백업 슬라이드입니다.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56</Slides>
  <Notes>56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56</vt:i4>
      </vt:variant>
    </vt:vector>
  </HeadingPairs>
  <TitlesOfParts>
    <vt:vector size="5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저지종 유가공목장 운영 현장사례</dc:title>
  <dc:subject>PptxGenJS Presentation</dc:subject>
  <dc:creator>송영신목장 하현제</dc:creator>
  <cp:lastModifiedBy>송영신목장 하현제</cp:lastModifiedBy>
  <cp:revision>1</cp:revision>
  <dcterms:created xsi:type="dcterms:W3CDTF">2026-07-31T01:37:18Z</dcterms:created>
  <dcterms:modified xsi:type="dcterms:W3CDTF">2026-07-31T01:37:18Z</dcterms:modified>
</cp:coreProperties>
</file>
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청중은 농촌진흥청 소속이다. 우즈베키스탄 성과가 이미 농진청과 함께 만든 것이라는 점을 반드시 짚는다 — 새로 부탁하는 것이 아니라 이미 같이 해온 일의 확장이라는 프레임. 성적 수치는 정리 중이라고 정직하게 말하고, 확정 수치를 요구받으면 후속 제출을 약속한다. 한우 유전자원 수출은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SOP 슬라이드와 반드시 이어서 말한다. '교반이 제일 중요하다'고 해놓고 '그런데 사람이 못 한다'로 넘어가야 로봇의 필요성이 설득된다. 과제번호는 굳이 읽지 말고 각주로 두되, 질문 나오면 답할 수 있게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D2O의 역할이 '실증과 확산'이라는 점을 분명히 한다 — 국립축산과학원 입장에서는 실증·보급 파트너로 바로 이어붙일 수 있는 지점이다. 양산·판가는 GMW/충남대 소관이므로 사업화 수치는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발표에서 실제로 얻어내야 할 요청. R&amp;D와 보급을 순차가 아니라 병행으로 돌리자는 제안. 담당자 입장에서는 '완성품을 기다리지 않고 3년 먼저 준비할 수 있다'는 점이 실익. 저희 과제에서 D2O 역할이 확산·교육이므로 접점이 이미 있다는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라벨 표시값이므로 자신 있게 말한다. 지방 4.5g·단백질 3.8g이 저지 원유의 강점이 제품에 그대로 남았다는 근거.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홍성낙협 발표에서 다뤘던 진단. 낙농가 앞에서는 공감의 장이었지만, 오늘 청중(지도기관) 앞에서는 '개별 농가로는 못 푼다 = 그래서 기관이 필요하다'는 논리로 쓴다. 다섯 개 모두 다음 장의 해법과 1:1로 대응한다.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칸(국가·연구기관)이 오늘 발표의 요청 목록과 그대로 일치한다는 점을 짚는다. 특히 3번 '개발과 보급을 병행'은 앞의 로봇 과제 슬라이드와 이어진다. 낙농가 앞에서는 1번 칸을 길게 말했지만, 오늘은 3번 칸에 시간을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목장이 이미 데이터를 쌓고 있다는 점이 핵심 근거. 새로 만들자는 게 아니라 '이미 돌고 있는 것을 시험 설계로 정리하자'는 제안이라는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목장의 미완성 지점을 먼저 드러내는 장. 자랑이 아니라 '여기가 비어 있으니 같이 채우자'는 제안. 소규모 유가공장이라 오히려 스마트팩토리 실증 모델로 만들기 쉽다는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산자부 축산로봇 과제 참여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의사결정, 수정란 기술과 홀스타인 수정란 수출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로봇소똥구리(산자부 과제)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 이미 밖으로 나가고 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말씀드린 수정란이식 기술은 국내 축군 개량에만 쓰이는 것이 아닙니다.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체외수정란이 지금 해외로 나가고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수출하는가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5786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수정란만 파는 방식이 아니라 패키지로 나갑니다.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32841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공급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이식 시술 · 기술 이전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수의사 교육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 선발 · 관리 컨설팅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 성적 데이터 후속관리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1596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어디로 나가는가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35424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중앙아시아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35424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우즈베키스탄 · 카자흐스탄 등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35424" y="31272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동남아시아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35424" y="336499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말레이시아 · 인도네시아 · 태국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필리핀 · 베트남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35424" y="387705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두바이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35424" y="41148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허브 (기획 단계)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98848" y="4443984"/>
            <a:ext cx="3182112" cy="804672"/>
          </a:xfrm>
          <a:prstGeom prst="roundRect">
            <a:avLst>
              <a:gd name="adj" fmla="val 9091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453542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— 우즈베키스탄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773168"/>
            <a:ext cx="2889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농촌진흥청과 함께 약 3년간 성과 확인</a:t>
            </a:r>
            <a:endParaRPr lang="en-US" sz="10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(세부 성적 수치는 정리 중)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6500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6500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13301F"/>
          </a:solidFill>
          <a:ln/>
        </p:spPr>
      </p:sp>
      <p:sp>
        <p:nvSpPr>
          <p:cNvPr id="25" name="Text 23"/>
          <p:cNvSpPr/>
          <p:nvPr/>
        </p:nvSpPr>
        <p:spPr>
          <a:xfrm>
            <a:off x="824788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· 농업기술진흥원에 요청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84464" y="2578608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수입국 검역·수출 위생조건 협의 — 정부 간 사안입니다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ODA · KOICA · 국제협력 사업과의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이식 성적의 객관적 검증과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농업기술진흥원 기술사업화·수출지원 프로그램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단위 'K-낙농 유전자원' 브랜딩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53212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13301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 유전자원은 수입만 하는 것이 아닙니다 — 한국 홀스타인은 이미 수출되고 있고, 국가기관이 함께 가면 산업이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 기본. 이 작업의 자동화가 다음 장의 로봇 과제입니다.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교반을 사람이 아니라 로봇이 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HBP의 성패는 교반이라고 말씀드렸습니다. 그런데 그 교반을 사람이 계속할 수 있느냐가 진짜 문제입니다.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하는 교반의 한계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1~2회, 365일 — 빠지면 바로 혐기 발효와 악취로 돌아옵니다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안 작업은 위험합니다 — 가스, 협착, 장비 전복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경영주에게는 지속 가능한 작업이 아닙니다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교반을 건너뛰게 되고, HBP 실패의 대부분이 여기서 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깔개 관리 로봇이 하는 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9224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들어가지 않아도 정해진 주기로 교반이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이력이 자동 기록되어 관리 데이터가 남습니다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 강도와 재해 위험을 동시에 낮춥니다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관리가 안정되면 악취·온실가스 저감 효과도 일정해집니다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43708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산업통상자원부 10대 메가프로젝트 기술산업화 — 진행 중인 국가 R&amp;D 과제입니다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33개월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5836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4 ~ 2028. 12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0156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6" name="Text 14"/>
          <p:cNvSpPr/>
          <p:nvPr/>
        </p:nvSpPr>
        <p:spPr>
          <a:xfrm>
            <a:off x="340156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49.7억원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349300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연구개발비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(정부지원 37억원)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620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TRL 5 → 9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632764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5단계 → 종료 9단계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7084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2" name="Text 20"/>
          <p:cNvSpPr/>
          <p:nvPr/>
        </p:nvSpPr>
        <p:spPr>
          <a:xfrm>
            <a:off x="907084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기관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916228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 1 · 공동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(D2O는 실증·확산 담당)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과제명: 축사 환경 개선을 위한 자율주행 깔개 관리 축산 로봇 개발 및 사업화 (RS-2026-25508014)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추진 체계와 3년 로드맵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주관연구개발기관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㈜GMW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부품 개발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· 제작 · 검증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451713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기술 공급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1713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충남대학교 산학협력단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713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설계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· 경로 생성/추종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수요 · 실증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6617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㈜D2O — 저희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6617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환경 구축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 지원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· 교육 · 확산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9844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467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확보(자율주행·작업기 제어)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 환경 정의 · 1차 실증지 확보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1596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3542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4748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55371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 · 현장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자율주행·제어 성능 개선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설계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6500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7" name="Shape 25"/>
          <p:cNvSpPr/>
          <p:nvPr/>
        </p:nvSpPr>
        <p:spPr>
          <a:xfrm>
            <a:off x="828446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828446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79652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30275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제작 · 2차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 · 기술 고도화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설계·체계 구축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41324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 — HBP 보급의 최대 병목은 '관리 노동'입니다. 로봇이 그 병목을 걷어내면, 따라 할 수 있는 농가의 범위가 넓어집니다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 ·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개발이 끝난 뒤가 아니라, 개발하는 동안 같이 보급합시다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보통은 R&amp;D 3년이 끝난 다음에 보급사업이 시작됩니다. 그 사이에 2~3년 공백이 생기고, 그동안 개발은 현장 피드백 없이 완성됩니다.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뒤에야 농가가 '이건 우리 축사에 안 맞는다'고 말하는 일이 반복됩니다.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87168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· 1년차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559552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· 2년차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31936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 · 3년차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31136"/>
            <a:ext cx="178308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31136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R&amp;D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(진행 중)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87168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 확보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59552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5705856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31936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0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·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1783080" cy="1325880"/>
          </a:xfrm>
          <a:prstGeom prst="roundRect">
            <a:avLst>
              <a:gd name="adj" fmla="val 6897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584448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(제안)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87168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19" name="Text 17"/>
          <p:cNvSpPr/>
          <p:nvPr/>
        </p:nvSpPr>
        <p:spPr>
          <a:xfrm>
            <a:off x="2633472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실증지를 현장 교육장으로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개방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참관 · 교육과정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59552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5705856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시범농가 2~3호로 선행 보급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피드백을 개발에 반영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SOP 초안 현장 검증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31936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0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보급사업 설계 확정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· 교육과정 완성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시점에 즉시 보급 착수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102352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과제가 얻는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68680" y="557784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농가 사용 데이터와 요구사항을 개발 중에 반영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실증 레퍼런스 확대 — 사업화 단계에서 그대로 근거가 됩니다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6364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보급사업이 얻는 것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55778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개발이 끝나기 전에 기술을 먼저 확보하고 준비할 수 있습니다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예산 편성과 교육과정 준비 시간을 3년 앞당길 수 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9136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내용량 750 mL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4.5 g — 일반 시유 통상 범위(약 3.4~4.0 g)보다 높습니다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3.8 g — 요거트·그릭요거트 수율에 유리한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탄수화물·단백질·지방의 열량 합이 표시 열량 75 kcal와 일치합니다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제품 영양정보 표시값 기준(100 mL당)이며, 원유 성분 변동에 따라 로트별 차이가 있을 수 있습니다. 일반 시유 범위는 참고값입니다.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한국에서 낙농을 계속하려면 — 다섯 가지 구조적 고민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홍성낙협에서 낙농가분들께 말씀드렸던 내용입니다. 개별 농가의 노력으로는 풀리지 않는 것들을 먼저 정리했습니다.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EF4E9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81965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19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1645920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남습니다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1609344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소비는 줄고 생산은 쿼터로 묶여 있습니다. 잉여 원유는 값을 제대로 받지 못하고,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부담은 결국 농가로 돌아옵니다. 용도별 가격 체계 아래에서는 더 뚜렷해집니다.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42032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3F6F1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275234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752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08176" y="2578608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 유제품과 같은 링에 섰습니다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2542032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FTA 관세 철폐 일정이 진행되면서 가격만으로 겨루기 어려운 국면입니다.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값으로 이길 수 없다면, 값이 아닌 것으로 겨뤄야 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47472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EF4E9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368503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08176" y="3511296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사료비를 우리가 통제하지 못합니다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3474720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낮아 국제 곡물가와 환율이 그대로 경영비가 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초지·자가 조사료 기반이 없으면 외부 충격을 그대로 맞습니다.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40740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3F6F1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4617720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617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08176" y="4443984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경영 조건이 되었습니다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00600" y="4407408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부숙도, 악취, 탄소 — 예전에는 부수적 문제였지만 지금은 사육 지속 여부를 가릅니다.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한 건이 축사를 멈추게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340096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EF4E9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5504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08176" y="5376672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이어받을 사람이 없습니다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00600" y="5340096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고령화와 승계 단절, 그리고 쿼터가 자산이 되어 청년의 진입 자체가 막혔습니다.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 강도가 높은 채로는 사람이 들어오지 않습니다.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327648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제도·관세 일정은 시점에 따라 달라질 수 있으므로 발표 시 최신 내용을 확인하시기 바랍니다.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해법은 있습니다 — 다만 혼자 할 수 있는 일이 아닙니다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문제라도 농가가 할 일, 조합·지역이 할 일, 국가가 할 일이 다릅니다. 층을 나누지 않으면 아무도 시작하지 못합니다.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47872" cy="379476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할 일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6809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당장, 내 목장에서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578608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성격을 바꾼다 — 품종·유전형·사양방식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잉여 원유를 제품으로 돌린다 (소규모 유가공)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자급률을 올려 사료비 방어선을 만든다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퇴비를 폐기물이 아니라 상품으로 관리한다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 — 기록 없이는 개선도 없습니다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627632"/>
            <a:ext cx="3547872" cy="379476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11" name="Shape 9"/>
          <p:cNvSpPr/>
          <p:nvPr/>
        </p:nvSpPr>
        <p:spPr>
          <a:xfrm>
            <a:off x="431596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지역이 할 일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1713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혼자서는 안 되는 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5424" y="2578608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가공시설 — 개별 농가가 짓기 어려운 규모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브랜드와 공동 판로 개척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구매로 사료·자재 원가를 낮춘다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센서·데이터를 읽어줄 전문 인력의 공동 활용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성공·실패 사례를 조합 안에서 공유한다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1627632"/>
            <a:ext cx="3547872" cy="379476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8A5A22"/>
          </a:solidFill>
          <a:ln/>
        </p:spPr>
      </p:sp>
      <p:sp>
        <p:nvSpPr>
          <p:cNvPr id="17" name="Text 15"/>
          <p:cNvSpPr/>
          <p:nvPr/>
        </p:nvSpPr>
        <p:spPr>
          <a:xfrm>
            <a:off x="826617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· 연구기관이 할 일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6617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이 자리의 몫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4464" y="2578608"/>
            <a:ext cx="3127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공인된 방법으로 측정하고 검증한다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따라 할 수 있는 표준과 매뉴얼을 만든다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개발과 보급을 순차가 아니라 병행으로 돌린다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사양·표시 기준을 제도로 정리한다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청년이 들어올 수 있는 진입 경로를 설계한다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지속가능한 낙농은 농가의 각오로 되는 것이 아니라, 세 층이 같은 방향을 볼 때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시범사업 5건, 그리고 확장 2건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지금 바로 착수 가능한 5건입니다. 이어서 한 단계 더 나아간 확장 제안 2건을 말씀드리겠습니다.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 (산자부 축산로봇 과제 실증과 연계 가능)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① — 저지 사양실험목장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저지 사양 데이터가 사실상 없습니다. 홀스타인 기준 사양표준을 저지에 그대로 적용하고 있는 것이 현실이고,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저희도 처음에는 그렇게 시작해서 시행착오를 겪었습니다. 저희 목장은 이미 그 데이터를 쌓고 있는 상태입니다.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가능한가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70두 — 품종 교란요인이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위내센서로 개체별 반추위·활동·음수 데이터가 이미 축적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급이·번식·진료 기록을 수의사가 직접 남기고 있습니다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시험구와 대조구를 나눌 수 있는 축사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3542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대상 축군과 시험·대조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센서 원데이터와 급이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착유량·유성분 검정 자료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추적을 감당할 상주 관리 인력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500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자문 — 처리구·표본수·기간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기준 사료 배합·영양 요구량 설계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검정과 통계 분석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 및 보급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035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3301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03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사양표준이 정리되면, 저희 한 목장이 아니라 앞으로 저지를 시작할 모든 농가가 시행착오를 건너뜁니다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② — 생산에서 소비자까지, 하나의 디지털 트윈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목장은 스마트팜이 되었는데, 제조공장은 아직 스마트팩토리가 아닙니다. 데이터가 착유탱크에서 끊깁니다.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· 초지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450592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523744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(사양·번식)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2374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4256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· 집유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07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제조공장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1584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174736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· 물류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17473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38944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8524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5840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3127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데이터가 여기서 끊깁니다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1673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센서·배치 자동 기록·품질 데이터 수집.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수기로 남기는 살균 조건·로트 정보를 자동화합니다.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1596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542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453542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6577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농장–공장 데이터 연결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5371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소의 원유가 어느 배치로 갔는지 이어붙입니다.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유질 이상이 생겼을 때 개체까지 역추적할 수 있게 됩니다.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6500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8446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8446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81481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소비자까지 이력 개방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0275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QR로 사양·유질·공정 이력을 소비자에게 엽니다.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비싼지'를 설명하는 가장 강력한 근거가 됩니다.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스마트팜에서 끝내지 말고 스마트팩토리까지 이어야, 축산이 '생산 데이터'가 아니라 '식품 데이터'가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및 공정 데이터 진단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사양시험 처리구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구축·농장 데이터 연결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생산–소비 디지털트윈 시연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 편입 및 R&amp;D–보급 병행 추진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국제협력·농업기술진흥원 수출지원 연계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2026-07-31T01:29:01Z</dcterms:created>
  <dcterms:modified xsi:type="dcterms:W3CDTF">2026-07-31T01:29:01Z</dcterms:modified>
</cp:coreProperties>
</file>